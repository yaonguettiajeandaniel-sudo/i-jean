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9"/>
  </p:notesMasterIdLst>
  <p:handoutMasterIdLst>
    <p:handoutMasterId r:id="rId200"/>
  </p:handoutMasterIdLst>
  <p:sldIdLst>
    <p:sldId id="256" r:id="rId2"/>
    <p:sldId id="257" r:id="rId3"/>
    <p:sldId id="258" r:id="rId4"/>
    <p:sldId id="259" r:id="rId5"/>
    <p:sldId id="260" r:id="rId6"/>
    <p:sldId id="261" r:id="rId7"/>
    <p:sldId id="262" r:id="rId8"/>
    <p:sldId id="263" r:id="rId9"/>
    <p:sldId id="264" r:id="rId10"/>
    <p:sldId id="425" r:id="rId11"/>
    <p:sldId id="265" r:id="rId12"/>
    <p:sldId id="426" r:id="rId13"/>
    <p:sldId id="270" r:id="rId14"/>
    <p:sldId id="266" r:id="rId15"/>
    <p:sldId id="271" r:id="rId16"/>
    <p:sldId id="427" r:id="rId17"/>
    <p:sldId id="267" r:id="rId18"/>
    <p:sldId id="268" r:id="rId19"/>
    <p:sldId id="269" r:id="rId20"/>
    <p:sldId id="272" r:id="rId21"/>
    <p:sldId id="301" r:id="rId22"/>
    <p:sldId id="448" r:id="rId23"/>
    <p:sldId id="447" r:id="rId24"/>
    <p:sldId id="274" r:id="rId25"/>
    <p:sldId id="275" r:id="rId26"/>
    <p:sldId id="273" r:id="rId27"/>
    <p:sldId id="276" r:id="rId28"/>
    <p:sldId id="277" r:id="rId29"/>
    <p:sldId id="278" r:id="rId30"/>
    <p:sldId id="279" r:id="rId31"/>
    <p:sldId id="280" r:id="rId32"/>
    <p:sldId id="439" r:id="rId33"/>
    <p:sldId id="281" r:id="rId34"/>
    <p:sldId id="441" r:id="rId35"/>
    <p:sldId id="282" r:id="rId36"/>
    <p:sldId id="283" r:id="rId37"/>
    <p:sldId id="284" r:id="rId38"/>
    <p:sldId id="443" r:id="rId39"/>
    <p:sldId id="285" r:id="rId40"/>
    <p:sldId id="286" r:id="rId41"/>
    <p:sldId id="287" r:id="rId42"/>
    <p:sldId id="442" r:id="rId43"/>
    <p:sldId id="288" r:id="rId44"/>
    <p:sldId id="289" r:id="rId45"/>
    <p:sldId id="290" r:id="rId46"/>
    <p:sldId id="440" r:id="rId47"/>
    <p:sldId id="291" r:id="rId48"/>
    <p:sldId id="292" r:id="rId49"/>
    <p:sldId id="293" r:id="rId50"/>
    <p:sldId id="338" r:id="rId51"/>
    <p:sldId id="294" r:id="rId52"/>
    <p:sldId id="295" r:id="rId53"/>
    <p:sldId id="296" r:id="rId54"/>
    <p:sldId id="298" r:id="rId55"/>
    <p:sldId id="297" r:id="rId56"/>
    <p:sldId id="299" r:id="rId57"/>
    <p:sldId id="300" r:id="rId58"/>
    <p:sldId id="312" r:id="rId59"/>
    <p:sldId id="302" r:id="rId60"/>
    <p:sldId id="303" r:id="rId61"/>
    <p:sldId id="444" r:id="rId62"/>
    <p:sldId id="304" r:id="rId63"/>
    <p:sldId id="305" r:id="rId64"/>
    <p:sldId id="306" r:id="rId65"/>
    <p:sldId id="307" r:id="rId66"/>
    <p:sldId id="308" r:id="rId67"/>
    <p:sldId id="309" r:id="rId68"/>
    <p:sldId id="310" r:id="rId69"/>
    <p:sldId id="311" r:id="rId70"/>
    <p:sldId id="313" r:id="rId71"/>
    <p:sldId id="445" r:id="rId72"/>
    <p:sldId id="314" r:id="rId73"/>
    <p:sldId id="315" r:id="rId74"/>
    <p:sldId id="316" r:id="rId75"/>
    <p:sldId id="317" r:id="rId76"/>
    <p:sldId id="318" r:id="rId77"/>
    <p:sldId id="319" r:id="rId78"/>
    <p:sldId id="320" r:id="rId79"/>
    <p:sldId id="321" r:id="rId80"/>
    <p:sldId id="322" r:id="rId81"/>
    <p:sldId id="449" r:id="rId82"/>
    <p:sldId id="323" r:id="rId83"/>
    <p:sldId id="324" r:id="rId84"/>
    <p:sldId id="325" r:id="rId85"/>
    <p:sldId id="326" r:id="rId86"/>
    <p:sldId id="327" r:id="rId87"/>
    <p:sldId id="328" r:id="rId88"/>
    <p:sldId id="329" r:id="rId89"/>
    <p:sldId id="330" r:id="rId90"/>
    <p:sldId id="331" r:id="rId91"/>
    <p:sldId id="332" r:id="rId92"/>
    <p:sldId id="333" r:id="rId93"/>
    <p:sldId id="334" r:id="rId94"/>
    <p:sldId id="335" r:id="rId95"/>
    <p:sldId id="336" r:id="rId96"/>
    <p:sldId id="351" r:id="rId97"/>
    <p:sldId id="337" r:id="rId98"/>
    <p:sldId id="446" r:id="rId99"/>
    <p:sldId id="339" r:id="rId100"/>
    <p:sldId id="340" r:id="rId101"/>
    <p:sldId id="341" r:id="rId102"/>
    <p:sldId id="342" r:id="rId103"/>
    <p:sldId id="343" r:id="rId104"/>
    <p:sldId id="344" r:id="rId105"/>
    <p:sldId id="413" r:id="rId106"/>
    <p:sldId id="345" r:id="rId107"/>
    <p:sldId id="414" r:id="rId108"/>
    <p:sldId id="346" r:id="rId109"/>
    <p:sldId id="347" r:id="rId110"/>
    <p:sldId id="348" r:id="rId111"/>
    <p:sldId id="349" r:id="rId112"/>
    <p:sldId id="350" r:id="rId113"/>
    <p:sldId id="428" r:id="rId114"/>
    <p:sldId id="352" r:id="rId115"/>
    <p:sldId id="429" r:id="rId116"/>
    <p:sldId id="353" r:id="rId117"/>
    <p:sldId id="432" r:id="rId118"/>
    <p:sldId id="354" r:id="rId119"/>
    <p:sldId id="382" r:id="rId120"/>
    <p:sldId id="355" r:id="rId121"/>
    <p:sldId id="381" r:id="rId122"/>
    <p:sldId id="356" r:id="rId123"/>
    <p:sldId id="357" r:id="rId124"/>
    <p:sldId id="383" r:id="rId125"/>
    <p:sldId id="358" r:id="rId126"/>
    <p:sldId id="359" r:id="rId127"/>
    <p:sldId id="423" r:id="rId128"/>
    <p:sldId id="360" r:id="rId129"/>
    <p:sldId id="415" r:id="rId130"/>
    <p:sldId id="417" r:id="rId131"/>
    <p:sldId id="450" r:id="rId132"/>
    <p:sldId id="361" r:id="rId133"/>
    <p:sldId id="362" r:id="rId134"/>
    <p:sldId id="416" r:id="rId135"/>
    <p:sldId id="363" r:id="rId136"/>
    <p:sldId id="364" r:id="rId137"/>
    <p:sldId id="365" r:id="rId138"/>
    <p:sldId id="366" r:id="rId139"/>
    <p:sldId id="367" r:id="rId140"/>
    <p:sldId id="368" r:id="rId141"/>
    <p:sldId id="369" r:id="rId142"/>
    <p:sldId id="370" r:id="rId143"/>
    <p:sldId id="451" r:id="rId144"/>
    <p:sldId id="371" r:id="rId145"/>
    <p:sldId id="424" r:id="rId146"/>
    <p:sldId id="372" r:id="rId147"/>
    <p:sldId id="373" r:id="rId148"/>
    <p:sldId id="374" r:id="rId149"/>
    <p:sldId id="431" r:id="rId150"/>
    <p:sldId id="375" r:id="rId151"/>
    <p:sldId id="452" r:id="rId152"/>
    <p:sldId id="376" r:id="rId153"/>
    <p:sldId id="377" r:id="rId154"/>
    <p:sldId id="379" r:id="rId155"/>
    <p:sldId id="378" r:id="rId156"/>
    <p:sldId id="430" r:id="rId157"/>
    <p:sldId id="380" r:id="rId158"/>
    <p:sldId id="384" r:id="rId159"/>
    <p:sldId id="435" r:id="rId160"/>
    <p:sldId id="418" r:id="rId161"/>
    <p:sldId id="385" r:id="rId162"/>
    <p:sldId id="419" r:id="rId163"/>
    <p:sldId id="386" r:id="rId164"/>
    <p:sldId id="387" r:id="rId165"/>
    <p:sldId id="388" r:id="rId166"/>
    <p:sldId id="389" r:id="rId167"/>
    <p:sldId id="390" r:id="rId168"/>
    <p:sldId id="391" r:id="rId169"/>
    <p:sldId id="392" r:id="rId170"/>
    <p:sldId id="393" r:id="rId171"/>
    <p:sldId id="436" r:id="rId172"/>
    <p:sldId id="394" r:id="rId173"/>
    <p:sldId id="395" r:id="rId174"/>
    <p:sldId id="396" r:id="rId175"/>
    <p:sldId id="437" r:id="rId176"/>
    <p:sldId id="397" r:id="rId177"/>
    <p:sldId id="398" r:id="rId178"/>
    <p:sldId id="453" r:id="rId179"/>
    <p:sldId id="420" r:id="rId180"/>
    <p:sldId id="399" r:id="rId181"/>
    <p:sldId id="421" r:id="rId182"/>
    <p:sldId id="400" r:id="rId183"/>
    <p:sldId id="401" r:id="rId184"/>
    <p:sldId id="402" r:id="rId185"/>
    <p:sldId id="403" r:id="rId186"/>
    <p:sldId id="404" r:id="rId187"/>
    <p:sldId id="405" r:id="rId188"/>
    <p:sldId id="406" r:id="rId189"/>
    <p:sldId id="454" r:id="rId190"/>
    <p:sldId id="407" r:id="rId191"/>
    <p:sldId id="408" r:id="rId192"/>
    <p:sldId id="409" r:id="rId193"/>
    <p:sldId id="410" r:id="rId194"/>
    <p:sldId id="411" r:id="rId195"/>
    <p:sldId id="412" r:id="rId196"/>
    <p:sldId id="422" r:id="rId197"/>
    <p:sldId id="438" r:id="rId198"/>
  </p:sldIdLst>
  <p:sldSz cx="12192000" cy="6858000"/>
  <p:notesSz cx="9144000" cy="6858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88" autoAdjust="0"/>
    <p:restoredTop sz="94434" autoAdjust="0"/>
  </p:normalViewPr>
  <p:slideViewPr>
    <p:cSldViewPr snapToGrid="0">
      <p:cViewPr varScale="1">
        <p:scale>
          <a:sx n="69" d="100"/>
          <a:sy n="69" d="100"/>
        </p:scale>
        <p:origin x="444" y="72"/>
      </p:cViewPr>
      <p:guideLst/>
    </p:cSldViewPr>
  </p:slideViewPr>
  <p:outlineViewPr>
    <p:cViewPr>
      <p:scale>
        <a:sx n="33" d="100"/>
        <a:sy n="33" d="100"/>
      </p:scale>
      <p:origin x="0" y="-180822"/>
    </p:cViewPr>
  </p:outlineViewPr>
  <p:notesTextViewPr>
    <p:cViewPr>
      <p:scale>
        <a:sx n="1" d="1"/>
        <a:sy n="1" d="1"/>
      </p:scale>
      <p:origin x="0" y="0"/>
    </p:cViewPr>
  </p:notesTextViewPr>
  <p:sorterViewPr>
    <p:cViewPr varScale="1">
      <p:scale>
        <a:sx n="100" d="100"/>
        <a:sy n="100" d="100"/>
      </p:scale>
      <p:origin x="0" y="-44316"/>
    </p:cViewPr>
  </p:sorterViewPr>
  <p:notesViewPr>
    <p:cSldViewPr snapToGrid="0">
      <p:cViewPr varScale="1">
        <p:scale>
          <a:sx n="57" d="100"/>
          <a:sy n="57" d="100"/>
        </p:scale>
        <p:origin x="2808" y="4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notesMaster" Target="notesMasters/notesMaster1.xml"/><Relationship Id="rId20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handoutMaster" Target="handoutMasters/handout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B04F0556-0BB6-4A73-901F-0B0273B51DFE}" type="datetimeFigureOut">
              <a:rPr lang="fr-FR" smtClean="0"/>
              <a:t>06/05/2022</a:t>
            </a:fld>
            <a:endParaRPr lang="fr-FR"/>
          </a:p>
        </p:txBody>
      </p:sp>
      <p:sp>
        <p:nvSpPr>
          <p:cNvPr id="4" name="Espace réservé du pied de page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B418A02A-1257-4BB6-B3BA-096C83FF7F12}" type="slidenum">
              <a:rPr lang="fr-FR" smtClean="0"/>
              <a:t>‹N°›</a:t>
            </a:fld>
            <a:endParaRPr lang="fr-FR"/>
          </a:p>
        </p:txBody>
      </p:sp>
    </p:spTree>
    <p:extLst>
      <p:ext uri="{BB962C8B-B14F-4D97-AF65-F5344CB8AC3E}">
        <p14:creationId xmlns:p14="http://schemas.microsoft.com/office/powerpoint/2010/main" val="23921494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BE4363D-EA8B-46F3-9582-1473651E7226}" type="datetimeFigureOut">
              <a:rPr lang="fr-FR" smtClean="0"/>
              <a:t>06/05/2022</a:t>
            </a:fld>
            <a:endParaRPr lang="fr-FR"/>
          </a:p>
        </p:txBody>
      </p:sp>
      <p:sp>
        <p:nvSpPr>
          <p:cNvPr id="4" name="Espace réservé de l'image des diapositives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D6F0D4D6-8343-4DD4-BE05-188EF14CA111}" type="slidenum">
              <a:rPr lang="fr-FR" smtClean="0"/>
              <a:t>‹N°›</a:t>
            </a:fld>
            <a:endParaRPr lang="fr-FR"/>
          </a:p>
        </p:txBody>
      </p:sp>
    </p:spTree>
    <p:extLst>
      <p:ext uri="{BB962C8B-B14F-4D97-AF65-F5344CB8AC3E}">
        <p14:creationId xmlns:p14="http://schemas.microsoft.com/office/powerpoint/2010/main" val="2210721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D6F0D4D6-8343-4DD4-BE05-188EF14CA111}" type="slidenum">
              <a:rPr lang="fr-FR" smtClean="0"/>
              <a:t>1</a:t>
            </a:fld>
            <a:endParaRPr lang="fr-FR"/>
          </a:p>
        </p:txBody>
      </p:sp>
    </p:spTree>
    <p:extLst>
      <p:ext uri="{BB962C8B-B14F-4D97-AF65-F5344CB8AC3E}">
        <p14:creationId xmlns:p14="http://schemas.microsoft.com/office/powerpoint/2010/main" val="1797611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p:txBody>
          <a:bodyPr/>
          <a:lstStyle/>
          <a:p>
            <a:fld id="{2DF0C3A0-742F-44F5-9474-0A90D0A474CB}" type="datetimeFigureOut">
              <a:rPr lang="fr-FR" smtClean="0"/>
              <a:t>06/05/2022</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1320885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smtClean="0"/>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2DF0C3A0-742F-44F5-9474-0A90D0A474CB}" type="datetimeFigureOut">
              <a:rPr lang="fr-FR" smtClean="0"/>
              <a:t>06/05/2022</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1770612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2DF0C3A0-742F-44F5-9474-0A90D0A474CB}" type="datetimeFigureOut">
              <a:rPr lang="fr-FR" smtClean="0"/>
              <a:t>06/05/2022</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225296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2DF0C3A0-742F-44F5-9474-0A90D0A474CB}" type="datetimeFigureOut">
              <a:rPr lang="fr-FR" smtClean="0"/>
              <a:t>06/05/2022</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3898720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2DF0C3A0-742F-44F5-9474-0A90D0A474CB}" type="datetimeFigureOut">
              <a:rPr lang="fr-FR" smtClean="0"/>
              <a:t>06/05/2022</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3416950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2DF0C3A0-742F-44F5-9474-0A90D0A474CB}" type="datetimeFigureOut">
              <a:rPr lang="fr-FR" smtClean="0"/>
              <a:t>06/05/2022</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2967876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0C3A0-742F-44F5-9474-0A90D0A474CB}" type="datetimeFigureOut">
              <a:rPr lang="fr-FR" smtClean="0"/>
              <a:t>06/05/2022</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4247767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smtClean="0"/>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2DF0C3A0-742F-44F5-9474-0A90D0A474CB}" type="datetimeFigureOut">
              <a:rPr lang="fr-FR" smtClean="0"/>
              <a:t>06/05/2022</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310987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2DF0C3A0-742F-44F5-9474-0A90D0A474CB}" type="datetimeFigureOut">
              <a:rPr lang="fr-FR" smtClean="0"/>
              <a:t>06/05/2022</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329674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smtClean="0"/>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2DF0C3A0-742F-44F5-9474-0A90D0A474CB}" type="datetimeFigureOut">
              <a:rPr lang="fr-FR" smtClean="0"/>
              <a:t>06/05/2022</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1213748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2DF0C3A0-742F-44F5-9474-0A90D0A474CB}" type="datetimeFigureOut">
              <a:rPr lang="fr-FR" smtClean="0"/>
              <a:t>06/05/2022</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35327FD-9527-470A-875A-CA0612DBB2B5}"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12635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smtClean="0"/>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Modifiez les styles du texte du masque</a:t>
            </a:r>
          </a:p>
        </p:txBody>
      </p:sp>
      <p:sp>
        <p:nvSpPr>
          <p:cNvPr id="5" name="Date Placeholder 4"/>
          <p:cNvSpPr>
            <a:spLocks noGrp="1"/>
          </p:cNvSpPr>
          <p:nvPr>
            <p:ph type="dt" sz="half" idx="10"/>
          </p:nvPr>
        </p:nvSpPr>
        <p:spPr/>
        <p:txBody>
          <a:bodyPr/>
          <a:lstStyle/>
          <a:p>
            <a:fld id="{2DF0C3A0-742F-44F5-9474-0A90D0A474CB}" type="datetimeFigureOut">
              <a:rPr lang="fr-FR" smtClean="0"/>
              <a:t>06/05/2022</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2971453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Modifiez les styles du texte du masque</a:t>
            </a:r>
          </a:p>
        </p:txBody>
      </p:sp>
      <p:sp>
        <p:nvSpPr>
          <p:cNvPr id="5" name="Date Placeholder 4"/>
          <p:cNvSpPr>
            <a:spLocks noGrp="1"/>
          </p:cNvSpPr>
          <p:nvPr>
            <p:ph type="dt" sz="half" idx="10"/>
          </p:nvPr>
        </p:nvSpPr>
        <p:spPr/>
        <p:txBody>
          <a:bodyPr/>
          <a:lstStyle/>
          <a:p>
            <a:fld id="{2DF0C3A0-742F-44F5-9474-0A90D0A474CB}" type="datetimeFigureOut">
              <a:rPr lang="fr-FR" smtClean="0"/>
              <a:t>06/05/2022</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35327FD-9527-470A-875A-CA0612DBB2B5}"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77531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smtClean="0"/>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smtClean="0"/>
              <a:t>Modifiez les styles du texte du masque</a:t>
            </a:r>
          </a:p>
        </p:txBody>
      </p:sp>
      <p:sp>
        <p:nvSpPr>
          <p:cNvPr id="5" name="Date Placeholder 4"/>
          <p:cNvSpPr>
            <a:spLocks noGrp="1"/>
          </p:cNvSpPr>
          <p:nvPr>
            <p:ph type="dt" sz="half" idx="10"/>
          </p:nvPr>
        </p:nvSpPr>
        <p:spPr/>
        <p:txBody>
          <a:bodyPr/>
          <a:lstStyle/>
          <a:p>
            <a:fld id="{2DF0C3A0-742F-44F5-9474-0A90D0A474CB}" type="datetimeFigureOut">
              <a:rPr lang="fr-FR" smtClean="0"/>
              <a:t>06/05/2022</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3160791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2DF0C3A0-742F-44F5-9474-0A90D0A474CB}" type="datetimeFigureOut">
              <a:rPr lang="fr-FR" smtClean="0"/>
              <a:t>06/05/2022</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877998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2DF0C3A0-742F-44F5-9474-0A90D0A474CB}" type="datetimeFigureOut">
              <a:rPr lang="fr-FR" smtClean="0"/>
              <a:t>06/05/2022</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35327FD-9527-470A-875A-CA0612DBB2B5}" type="slidenum">
              <a:rPr lang="fr-FR" smtClean="0"/>
              <a:t>‹N°›</a:t>
            </a:fld>
            <a:endParaRPr lang="fr-FR"/>
          </a:p>
        </p:txBody>
      </p:sp>
    </p:spTree>
    <p:extLst>
      <p:ext uri="{BB962C8B-B14F-4D97-AF65-F5344CB8AC3E}">
        <p14:creationId xmlns:p14="http://schemas.microsoft.com/office/powerpoint/2010/main" val="225345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DF0C3A0-742F-44F5-9474-0A90D0A474CB}" type="datetimeFigureOut">
              <a:rPr lang="fr-FR" smtClean="0"/>
              <a:t>06/05/2022</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35327FD-9527-470A-875A-CA0612DBB2B5}" type="slidenum">
              <a:rPr lang="fr-FR" smtClean="0"/>
              <a:t>‹N°›</a:t>
            </a:fld>
            <a:endParaRPr lang="fr-FR"/>
          </a:p>
        </p:txBody>
      </p:sp>
    </p:spTree>
    <p:extLst>
      <p:ext uri="{BB962C8B-B14F-4D97-AF65-F5344CB8AC3E}">
        <p14:creationId xmlns:p14="http://schemas.microsoft.com/office/powerpoint/2010/main" val="27529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pPr algn="ctr"/>
            <a:r>
              <a:rPr lang="fr-FR" b="1" dirty="0">
                <a:latin typeface="Tahoma" panose="020B0604030504040204" pitchFamily="34" charset="0"/>
              </a:rPr>
              <a:t>SOINS INFIRMIERS DANS LES PATHOLOGIES </a:t>
            </a:r>
            <a:r>
              <a:rPr lang="fr-FR" dirty="0"/>
              <a:t/>
            </a:r>
            <a:br>
              <a:rPr lang="fr-FR" dirty="0"/>
            </a:br>
            <a:r>
              <a:rPr lang="fr-FR" b="1" dirty="0">
                <a:solidFill>
                  <a:srgbClr val="000000"/>
                </a:solidFill>
                <a:latin typeface="Tahoma" panose="020B0604030504040204" pitchFamily="34" charset="0"/>
                <a:ea typeface="Courier New" panose="02070309020205020404" pitchFamily="49" charset="0"/>
              </a:rPr>
              <a:t>TROPICALES</a:t>
            </a:r>
            <a:endParaRPr lang="fr-FR" dirty="0"/>
          </a:p>
        </p:txBody>
      </p:sp>
      <p:sp>
        <p:nvSpPr>
          <p:cNvPr id="3" name="Sous-titre 2"/>
          <p:cNvSpPr>
            <a:spLocks noGrp="1"/>
          </p:cNvSpPr>
          <p:nvPr>
            <p:ph type="subTitle" idx="1"/>
          </p:nvPr>
        </p:nvSpPr>
        <p:spPr>
          <a:xfrm>
            <a:off x="2148840" y="4950640"/>
            <a:ext cx="8336280" cy="1114880"/>
          </a:xfrm>
        </p:spPr>
        <p:txBody>
          <a:bodyPr>
            <a:normAutofit fontScale="32500" lnSpcReduction="20000"/>
          </a:bodyPr>
          <a:lstStyle/>
          <a:p>
            <a:endParaRPr lang="fr-FR" dirty="0" smtClean="0"/>
          </a:p>
          <a:p>
            <a:pPr algn="ctr"/>
            <a:r>
              <a:rPr lang="fr-FR" sz="7200" b="1" i="1" dirty="0" smtClean="0">
                <a:solidFill>
                  <a:srgbClr val="FF0000"/>
                </a:solidFill>
              </a:rPr>
              <a:t>UNITE PEDAGOGIQUE DE MEDECINE</a:t>
            </a:r>
          </a:p>
          <a:p>
            <a:pPr algn="ctr"/>
            <a:r>
              <a:rPr lang="fr-FR" sz="7200" b="1" i="1" dirty="0" smtClean="0">
                <a:solidFill>
                  <a:srgbClr val="0070C0"/>
                </a:solidFill>
              </a:rPr>
              <a:t>Maitre Bernard ZOH, Formateur Santé et Travail Social</a:t>
            </a:r>
            <a:endParaRPr lang="fr-FR" sz="7200" b="1" i="1" dirty="0">
              <a:solidFill>
                <a:srgbClr val="0070C0"/>
              </a:solidFill>
            </a:endParaRPr>
          </a:p>
        </p:txBody>
      </p:sp>
    </p:spTree>
    <p:extLst>
      <p:ext uri="{BB962C8B-B14F-4D97-AF65-F5344CB8AC3E}">
        <p14:creationId xmlns:p14="http://schemas.microsoft.com/office/powerpoint/2010/main" val="35563521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83081" y="624110"/>
            <a:ext cx="9721532" cy="1280890"/>
          </a:xfrm>
        </p:spPr>
        <p:txBody>
          <a:bodyPr>
            <a:normAutofit fontScale="90000"/>
          </a:bodyPr>
          <a:lstStyle/>
          <a:p>
            <a:r>
              <a:rPr lang="fr-FR" b="1" dirty="0">
                <a:latin typeface="Tahoma" panose="020B0604030504040204" pitchFamily="34" charset="0"/>
              </a:rPr>
              <a:t>BILHARZIOSES</a:t>
            </a:r>
            <a:r>
              <a:rPr lang="fr-FR" dirty="0"/>
              <a:t/>
            </a:r>
            <a:br>
              <a:rPr lang="fr-FR" dirty="0"/>
            </a:br>
            <a:r>
              <a:rPr lang="fr-FR" b="1" dirty="0">
                <a:latin typeface="Tahoma" panose="020B0604030504040204" pitchFamily="34" charset="0"/>
              </a:rPr>
              <a:t>(SYN. </a:t>
            </a:r>
            <a:r>
              <a:rPr lang="fr-FR" b="1" dirty="0" smtClean="0">
                <a:latin typeface="Tahoma" panose="020B0604030504040204" pitchFamily="34" charset="0"/>
              </a:rPr>
              <a:t>SCHISTOSOMIASES-SCHISTOSOMOSES)</a:t>
            </a:r>
            <a:r>
              <a:rPr lang="fr-FR" dirty="0"/>
              <a:t/>
            </a:r>
            <a:br>
              <a:rPr lang="fr-FR" dirty="0"/>
            </a:br>
            <a:endParaRPr lang="fr-FR" dirty="0"/>
          </a:p>
        </p:txBody>
      </p:sp>
      <p:sp>
        <p:nvSpPr>
          <p:cNvPr id="3" name="Espace réservé du contenu 2"/>
          <p:cNvSpPr>
            <a:spLocks noGrp="1"/>
          </p:cNvSpPr>
          <p:nvPr>
            <p:ph idx="1"/>
          </p:nvPr>
        </p:nvSpPr>
        <p:spPr>
          <a:xfrm>
            <a:off x="1783082" y="1905000"/>
            <a:ext cx="9434418" cy="4267200"/>
          </a:xfrm>
        </p:spPr>
        <p:txBody>
          <a:bodyPr>
            <a:normAutofit/>
          </a:bodyPr>
          <a:lstStyle/>
          <a:p>
            <a:pPr>
              <a:lnSpc>
                <a:spcPct val="150000"/>
              </a:lnSpc>
            </a:pPr>
            <a:r>
              <a:rPr lang="fr-FR" sz="2800" b="1" dirty="0" smtClean="0"/>
              <a:t>DEFINITION</a:t>
            </a:r>
          </a:p>
          <a:p>
            <a:pPr algn="just">
              <a:lnSpc>
                <a:spcPct val="150000"/>
              </a:lnSpc>
              <a:buFont typeface="Wingdings" panose="05000000000000000000" pitchFamily="2" charset="2"/>
              <a:buChar char="Ø"/>
            </a:pPr>
            <a:r>
              <a:rPr lang="fr-FR" sz="2800" dirty="0" smtClean="0"/>
              <a:t>Les </a:t>
            </a:r>
            <a:r>
              <a:rPr lang="fr-FR" sz="2800" dirty="0"/>
              <a:t>bilharzioses sont des affections parasitaires dues à des vers plats, appelés bilharzies ou schistosomes. </a:t>
            </a:r>
            <a:endParaRPr lang="fr-FR" sz="2800" dirty="0" smtClean="0"/>
          </a:p>
          <a:p>
            <a:pPr algn="just">
              <a:lnSpc>
                <a:spcPct val="150000"/>
              </a:lnSpc>
              <a:buFont typeface="Wingdings" panose="05000000000000000000" pitchFamily="2" charset="2"/>
              <a:buChar char="Ø"/>
            </a:pPr>
            <a:r>
              <a:rPr lang="fr-FR" sz="2800" dirty="0" smtClean="0"/>
              <a:t>Ce </a:t>
            </a:r>
            <a:r>
              <a:rPr lang="fr-FR" sz="2800" dirty="0"/>
              <a:t>sont des </a:t>
            </a:r>
            <a:r>
              <a:rPr lang="fr-FR" sz="2800" dirty="0">
                <a:solidFill>
                  <a:schemeClr val="tx1"/>
                </a:solidFill>
              </a:rPr>
              <a:t>trématodes </a:t>
            </a:r>
            <a:r>
              <a:rPr lang="fr-FR" sz="2800" dirty="0" smtClean="0"/>
              <a:t>hématophages à </a:t>
            </a:r>
            <a:r>
              <a:rPr lang="fr-FR" sz="2800" dirty="0"/>
              <a:t>sexes séparés</a:t>
            </a:r>
            <a:r>
              <a:rPr lang="fr-FR" sz="2800" dirty="0" smtClean="0"/>
              <a:t>, </a:t>
            </a:r>
            <a:r>
              <a:rPr lang="fr-FR" sz="2800" dirty="0"/>
              <a:t>vivant dans le système circulatoire.</a:t>
            </a:r>
          </a:p>
        </p:txBody>
      </p:sp>
    </p:spTree>
    <p:extLst>
      <p:ext uri="{BB962C8B-B14F-4D97-AF65-F5344CB8AC3E}">
        <p14:creationId xmlns:p14="http://schemas.microsoft.com/office/powerpoint/2010/main" val="39172066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14353" y="430926"/>
            <a:ext cx="9652953" cy="701770"/>
          </a:xfrm>
        </p:spPr>
        <p:txBody>
          <a:bodyPr>
            <a:normAutofit fontScale="90000"/>
          </a:bodyPr>
          <a:lstStyle/>
          <a:p>
            <a:pPr lvl="0"/>
            <a:r>
              <a:rPr lang="fr-FR"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HISTORIQUE</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394460" y="1004552"/>
            <a:ext cx="10492740" cy="5281948"/>
          </a:xfrm>
        </p:spPr>
        <p:txBody>
          <a:bodyPr>
            <a:normAutofit fontScale="85000" lnSpcReduction="20000"/>
          </a:bodyPr>
          <a:lstStyle/>
          <a:p>
            <a:pPr algn="just">
              <a:lnSpc>
                <a:spcPct val="120000"/>
              </a:lnSpc>
              <a:buFont typeface="Wingdings" panose="05000000000000000000" pitchFamily="2" charset="2"/>
              <a:buChar char="Ø"/>
            </a:pPr>
            <a:r>
              <a:rPr lang="fr-FR" sz="2800" spc="30" dirty="0" smtClean="0">
                <a:solidFill>
                  <a:srgbClr val="000000"/>
                </a:solidFill>
                <a:latin typeface="Tahoma" panose="020B0604030504040204" pitchFamily="34" charset="0"/>
                <a:ea typeface="Times New Roman" panose="02020603050405020304" pitchFamily="18" charset="0"/>
              </a:rPr>
              <a:t> </a:t>
            </a:r>
            <a:r>
              <a:rPr lang="fr-FR" sz="3400" spc="30" dirty="0" smtClean="0">
                <a:solidFill>
                  <a:srgbClr val="000000"/>
                </a:solidFill>
                <a:latin typeface="Tahoma" panose="020B0604030504040204" pitchFamily="34" charset="0"/>
                <a:ea typeface="Times New Roman" panose="02020603050405020304" pitchFamily="18" charset="0"/>
              </a:rPr>
              <a:t>L'existence de </a:t>
            </a:r>
            <a:r>
              <a:rPr lang="fr-FR" sz="3400" spc="30" dirty="0">
                <a:solidFill>
                  <a:srgbClr val="000000"/>
                </a:solidFill>
                <a:latin typeface="Tahoma" panose="020B0604030504040204" pitchFamily="34" charset="0"/>
                <a:ea typeface="Times New Roman" panose="02020603050405020304" pitchFamily="18" charset="0"/>
              </a:rPr>
              <a:t>la </a:t>
            </a:r>
            <a:r>
              <a:rPr lang="fr-FR" sz="3400" spc="30" dirty="0" smtClean="0">
                <a:solidFill>
                  <a:srgbClr val="000000"/>
                </a:solidFill>
                <a:latin typeface="Tahoma" panose="020B0604030504040204" pitchFamily="34" charset="0"/>
                <a:ea typeface="Times New Roman" panose="02020603050405020304" pitchFamily="18" charset="0"/>
              </a:rPr>
              <a:t>bilharziose est établie par la découverte </a:t>
            </a:r>
            <a:r>
              <a:rPr lang="fr-FR" sz="3400" spc="30" dirty="0">
                <a:solidFill>
                  <a:srgbClr val="000000"/>
                </a:solidFill>
                <a:latin typeface="Tahoma" panose="020B0604030504040204" pitchFamily="34" charset="0"/>
                <a:ea typeface="Times New Roman" panose="02020603050405020304" pitchFamily="18" charset="0"/>
              </a:rPr>
              <a:t>d'œufs calcifiés </a:t>
            </a:r>
            <a:r>
              <a:rPr lang="fr-FR" sz="3400" spc="30" dirty="0" smtClean="0">
                <a:solidFill>
                  <a:srgbClr val="000000"/>
                </a:solidFill>
                <a:latin typeface="Tahoma" panose="020B0604030504040204" pitchFamily="34" charset="0"/>
                <a:ea typeface="Times New Roman" panose="02020603050405020304" pitchFamily="18" charset="0"/>
              </a:rPr>
              <a:t>de </a:t>
            </a:r>
            <a:r>
              <a:rPr lang="fr-FR" sz="3400" spc="30" dirty="0">
                <a:solidFill>
                  <a:srgbClr val="000000"/>
                </a:solidFill>
                <a:latin typeface="Tahoma" panose="020B0604030504040204" pitchFamily="34" charset="0"/>
                <a:ea typeface="Times New Roman" panose="02020603050405020304" pitchFamily="18" charset="0"/>
              </a:rPr>
              <a:t>S. </a:t>
            </a:r>
            <a:r>
              <a:rPr lang="fr-FR" sz="3400" spc="30" dirty="0" err="1">
                <a:solidFill>
                  <a:srgbClr val="000000"/>
                </a:solidFill>
                <a:latin typeface="Tahoma" panose="020B0604030504040204" pitchFamily="34" charset="0"/>
                <a:ea typeface="Times New Roman" panose="02020603050405020304" pitchFamily="18" charset="0"/>
              </a:rPr>
              <a:t>Haematobium</a:t>
            </a:r>
            <a:r>
              <a:rPr lang="fr-FR" sz="3400" spc="30" dirty="0">
                <a:solidFill>
                  <a:srgbClr val="000000"/>
                </a:solidFill>
                <a:latin typeface="Tahoma" panose="020B0604030504040204" pitchFamily="34" charset="0"/>
                <a:ea typeface="Times New Roman" panose="02020603050405020304" pitchFamily="18" charset="0"/>
              </a:rPr>
              <a:t> </a:t>
            </a:r>
            <a:r>
              <a:rPr lang="fr-FR" sz="3400" spc="30" dirty="0" smtClean="0">
                <a:solidFill>
                  <a:srgbClr val="000000"/>
                </a:solidFill>
                <a:latin typeface="Tahoma" panose="020B0604030504040204" pitchFamily="34" charset="0"/>
                <a:ea typeface="Times New Roman" panose="02020603050405020304" pitchFamily="18" charset="0"/>
              </a:rPr>
              <a:t>chez une </a:t>
            </a:r>
            <a:r>
              <a:rPr lang="fr-FR" sz="3400" spc="30" dirty="0">
                <a:solidFill>
                  <a:srgbClr val="000000"/>
                </a:solidFill>
                <a:latin typeface="Tahoma" panose="020B0604030504040204" pitchFamily="34" charset="0"/>
                <a:ea typeface="Times New Roman" panose="02020603050405020304" pitchFamily="18" charset="0"/>
              </a:rPr>
              <a:t>momie Egyptienne de la XX</a:t>
            </a:r>
            <a:r>
              <a:rPr lang="fr-FR" sz="3400" spc="30" baseline="30000" dirty="0">
                <a:solidFill>
                  <a:srgbClr val="000000"/>
                </a:solidFill>
                <a:latin typeface="Tahoma" panose="020B0604030504040204" pitchFamily="34" charset="0"/>
                <a:ea typeface="Times New Roman" panose="02020603050405020304" pitchFamily="18" charset="0"/>
              </a:rPr>
              <a:t>ème </a:t>
            </a:r>
            <a:r>
              <a:rPr lang="fr-FR" sz="3400" spc="30" dirty="0" smtClean="0">
                <a:solidFill>
                  <a:srgbClr val="000000"/>
                </a:solidFill>
                <a:latin typeface="Tahoma" panose="020B0604030504040204" pitchFamily="34" charset="0"/>
                <a:ea typeface="Times New Roman" panose="02020603050405020304" pitchFamily="18" charset="0"/>
              </a:rPr>
              <a:t>dynastie. </a:t>
            </a:r>
          </a:p>
          <a:p>
            <a:pPr algn="just">
              <a:lnSpc>
                <a:spcPct val="120000"/>
              </a:lnSpc>
              <a:buFont typeface="Wingdings" panose="05000000000000000000" pitchFamily="2" charset="2"/>
              <a:buChar char="Ø"/>
            </a:pPr>
            <a:r>
              <a:rPr lang="fr-FR" sz="3400" spc="30" dirty="0" smtClean="0">
                <a:solidFill>
                  <a:srgbClr val="000000"/>
                </a:solidFill>
                <a:latin typeface="Tahoma" panose="020B0604030504040204" pitchFamily="34" charset="0"/>
                <a:ea typeface="Times New Roman" panose="02020603050405020304" pitchFamily="18" charset="0"/>
              </a:rPr>
              <a:t>Au </a:t>
            </a:r>
            <a:r>
              <a:rPr lang="fr-FR" sz="3400" spc="30" dirty="0">
                <a:solidFill>
                  <a:srgbClr val="000000"/>
                </a:solidFill>
                <a:latin typeface="Tahoma" panose="020B0604030504040204" pitchFamily="34" charset="0"/>
                <a:ea typeface="Times New Roman" panose="02020603050405020304" pitchFamily="18" charset="0"/>
              </a:rPr>
              <a:t>moyen-âge, les médecins arabes parlent de « pissement de sang » des caravaniers revenant de Tombouctou. </a:t>
            </a:r>
            <a:endParaRPr lang="fr-FR" sz="3400" spc="30" dirty="0" smtClean="0">
              <a:solidFill>
                <a:srgbClr val="000000"/>
              </a:solidFill>
              <a:latin typeface="Tahoma" panose="020B0604030504040204" pitchFamily="34" charset="0"/>
              <a:ea typeface="Times New Roman" panose="02020603050405020304" pitchFamily="18" charset="0"/>
            </a:endParaRPr>
          </a:p>
          <a:p>
            <a:pPr algn="just">
              <a:lnSpc>
                <a:spcPct val="120000"/>
              </a:lnSpc>
              <a:buFont typeface="Wingdings" panose="05000000000000000000" pitchFamily="2" charset="2"/>
              <a:buChar char="Ø"/>
            </a:pPr>
            <a:r>
              <a:rPr lang="fr-FR" sz="3400" spc="30" dirty="0" smtClean="0">
                <a:solidFill>
                  <a:srgbClr val="000000"/>
                </a:solidFill>
                <a:latin typeface="Tahoma" panose="020B0604030504040204" pitchFamily="34" charset="0"/>
                <a:ea typeface="Times New Roman" panose="02020603050405020304" pitchFamily="18" charset="0"/>
              </a:rPr>
              <a:t>Des </a:t>
            </a:r>
            <a:r>
              <a:rPr lang="fr-FR" sz="3400" spc="30" dirty="0">
                <a:solidFill>
                  <a:srgbClr val="000000"/>
                </a:solidFill>
                <a:latin typeface="Tahoma" panose="020B0604030504040204" pitchFamily="34" charset="0"/>
                <a:ea typeface="Times New Roman" panose="02020603050405020304" pitchFamily="18" charset="0"/>
              </a:rPr>
              <a:t>hématuries sont également signalées par les chirurgiens qui accompagnent Bonaparte en Egypte. </a:t>
            </a:r>
            <a:endParaRPr lang="fr-FR" sz="3400" spc="30" dirty="0" smtClean="0">
              <a:solidFill>
                <a:srgbClr val="000000"/>
              </a:solidFill>
              <a:latin typeface="Tahoma" panose="020B0604030504040204" pitchFamily="34" charset="0"/>
              <a:ea typeface="Times New Roman" panose="02020603050405020304" pitchFamily="18" charset="0"/>
            </a:endParaRPr>
          </a:p>
          <a:p>
            <a:pPr algn="just">
              <a:lnSpc>
                <a:spcPct val="120000"/>
              </a:lnSpc>
              <a:buFont typeface="Wingdings" panose="05000000000000000000" pitchFamily="2" charset="2"/>
              <a:buChar char="Ø"/>
            </a:pPr>
            <a:r>
              <a:rPr lang="fr-FR" sz="3400" spc="30" dirty="0" smtClean="0">
                <a:solidFill>
                  <a:srgbClr val="000000"/>
                </a:solidFill>
                <a:latin typeface="Tahoma" panose="020B0604030504040204" pitchFamily="34" charset="0"/>
                <a:ea typeface="Times New Roman" panose="02020603050405020304" pitchFamily="18" charset="0"/>
              </a:rPr>
              <a:t>Au </a:t>
            </a:r>
            <a:r>
              <a:rPr lang="fr-FR" sz="3400" spc="30" dirty="0">
                <a:solidFill>
                  <a:srgbClr val="000000"/>
                </a:solidFill>
                <a:latin typeface="Tahoma" panose="020B0604030504040204" pitchFamily="34" charset="0"/>
                <a:ea typeface="Times New Roman" panose="02020603050405020304" pitchFamily="18" charset="0"/>
              </a:rPr>
              <a:t>17</a:t>
            </a:r>
            <a:r>
              <a:rPr lang="fr-FR" sz="3400" spc="30" baseline="30000" dirty="0">
                <a:solidFill>
                  <a:srgbClr val="000000"/>
                </a:solidFill>
                <a:latin typeface="Tahoma" panose="020B0604030504040204" pitchFamily="34" charset="0"/>
                <a:ea typeface="Times New Roman" panose="02020603050405020304" pitchFamily="18" charset="0"/>
              </a:rPr>
              <a:t>eme</a:t>
            </a:r>
            <a:r>
              <a:rPr lang="fr-FR" sz="3400" spc="30" dirty="0">
                <a:solidFill>
                  <a:srgbClr val="000000"/>
                </a:solidFill>
                <a:latin typeface="Tahoma" panose="020B0604030504040204" pitchFamily="34" charset="0"/>
                <a:ea typeface="Times New Roman" panose="02020603050405020304" pitchFamily="18" charset="0"/>
              </a:rPr>
              <a:t> siècle, </a:t>
            </a:r>
            <a:r>
              <a:rPr lang="fr-FR" sz="3400" spc="30" dirty="0" smtClean="0">
                <a:solidFill>
                  <a:srgbClr val="000000"/>
                </a:solidFill>
                <a:latin typeface="Tahoma" panose="020B0604030504040204" pitchFamily="34" charset="0"/>
                <a:ea typeface="Times New Roman" panose="02020603050405020304" pitchFamily="18" charset="0"/>
              </a:rPr>
              <a:t>le </a:t>
            </a:r>
            <a:r>
              <a:rPr lang="fr-FR" sz="3400" spc="30" dirty="0" err="1" smtClean="0">
                <a:solidFill>
                  <a:srgbClr val="000000"/>
                </a:solidFill>
                <a:latin typeface="Tahoma" panose="020B0604030504040204" pitchFamily="34" charset="0"/>
                <a:ea typeface="Times New Roman" panose="02020603050405020304" pitchFamily="18" charset="0"/>
              </a:rPr>
              <a:t>Schistosoma</a:t>
            </a:r>
            <a:r>
              <a:rPr lang="fr-FR" sz="3400" spc="30" dirty="0" smtClean="0">
                <a:solidFill>
                  <a:srgbClr val="000000"/>
                </a:solidFill>
                <a:latin typeface="Tahoma" panose="020B0604030504040204" pitchFamily="34" charset="0"/>
                <a:ea typeface="Times New Roman" panose="02020603050405020304" pitchFamily="18" charset="0"/>
              </a:rPr>
              <a:t> </a:t>
            </a:r>
            <a:r>
              <a:rPr lang="fr-FR" sz="3400" spc="30" dirty="0" err="1">
                <a:solidFill>
                  <a:srgbClr val="000000"/>
                </a:solidFill>
                <a:latin typeface="Tahoma" panose="020B0604030504040204" pitchFamily="34" charset="0"/>
                <a:ea typeface="Times New Roman" panose="02020603050405020304" pitchFamily="18" charset="0"/>
              </a:rPr>
              <a:t>Mansoni</a:t>
            </a:r>
            <a:r>
              <a:rPr lang="fr-FR" sz="3400" spc="30" dirty="0">
                <a:solidFill>
                  <a:srgbClr val="000000"/>
                </a:solidFill>
                <a:latin typeface="Tahoma" panose="020B0604030504040204" pitchFamily="34" charset="0"/>
                <a:ea typeface="Times New Roman" panose="02020603050405020304" pitchFamily="18" charset="0"/>
              </a:rPr>
              <a:t> </a:t>
            </a:r>
            <a:r>
              <a:rPr lang="fr-FR" sz="3400" spc="30" dirty="0" smtClean="0">
                <a:solidFill>
                  <a:srgbClr val="000000"/>
                </a:solidFill>
                <a:latin typeface="Tahoma" panose="020B0604030504040204" pitchFamily="34" charset="0"/>
                <a:ea typeface="Times New Roman" panose="02020603050405020304" pitchFamily="18" charset="0"/>
              </a:rPr>
              <a:t>est transféré vers </a:t>
            </a:r>
            <a:r>
              <a:rPr lang="fr-FR" sz="3400" spc="30" dirty="0">
                <a:solidFill>
                  <a:srgbClr val="000000"/>
                </a:solidFill>
                <a:latin typeface="Tahoma" panose="020B0604030504040204" pitchFamily="34" charset="0"/>
                <a:ea typeface="Times New Roman" panose="02020603050405020304" pitchFamily="18" charset="0"/>
              </a:rPr>
              <a:t>les colonies espagnoles et portugaises d’Amérique</a:t>
            </a:r>
            <a:r>
              <a:rPr lang="fr-FR" sz="3400" spc="30" dirty="0" smtClean="0">
                <a:solidFill>
                  <a:srgbClr val="000000"/>
                </a:solidFill>
                <a:latin typeface="Tahoma" panose="020B0604030504040204" pitchFamily="34" charset="0"/>
                <a:ea typeface="Times New Roman" panose="02020603050405020304" pitchFamily="18" charset="0"/>
              </a:rPr>
              <a:t> à partir de la </a:t>
            </a:r>
            <a:r>
              <a:rPr lang="fr-FR" sz="3400" spc="30" dirty="0">
                <a:solidFill>
                  <a:srgbClr val="000000"/>
                </a:solidFill>
                <a:latin typeface="Tahoma" panose="020B0604030504040204" pitchFamily="34" charset="0"/>
                <a:ea typeface="Times New Roman" panose="02020603050405020304" pitchFamily="18" charset="0"/>
              </a:rPr>
              <a:t>traite des </a:t>
            </a:r>
            <a:r>
              <a:rPr lang="fr-FR" sz="3400" spc="30" dirty="0" smtClean="0">
                <a:solidFill>
                  <a:srgbClr val="000000"/>
                </a:solidFill>
                <a:latin typeface="Tahoma" panose="020B0604030504040204" pitchFamily="34" charset="0"/>
                <a:ea typeface="Times New Roman" panose="02020603050405020304" pitchFamily="18" charset="0"/>
              </a:rPr>
              <a:t>noirs.</a:t>
            </a:r>
            <a:endParaRPr lang="fr-FR" sz="3400" spc="30" dirty="0">
              <a:latin typeface="Times New Roman" panose="02020603050405020304" pitchFamily="18" charset="0"/>
              <a:ea typeface="Times New Roman" panose="02020603050405020304" pitchFamily="18" charset="0"/>
            </a:endParaRPr>
          </a:p>
          <a:p>
            <a:pPr algn="just">
              <a:lnSpc>
                <a:spcPct val="120000"/>
              </a:lnSpc>
            </a:pPr>
            <a:endParaRPr lang="fr-FR" dirty="0"/>
          </a:p>
        </p:txBody>
      </p:sp>
    </p:spTree>
    <p:extLst>
      <p:ext uri="{BB962C8B-B14F-4D97-AF65-F5344CB8AC3E}">
        <p14:creationId xmlns:p14="http://schemas.microsoft.com/office/powerpoint/2010/main" val="3007722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564610"/>
          </a:xfrm>
        </p:spPr>
        <p:txBody>
          <a:bodyPr>
            <a:normAutofit fontScale="90000"/>
          </a:bodyPr>
          <a:lstStyle/>
          <a:p>
            <a:r>
              <a:rPr lang="fr-FR" b="1" u="sng"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HISTORIQUE </a:t>
            </a:r>
            <a:r>
              <a:rPr lang="fr-FR" sz="1800" b="1" u="sng" spc="25" dirty="0" smtClean="0">
                <a:solidFill>
                  <a:srgbClr val="FF0000"/>
                </a:solidFill>
                <a:latin typeface="Tahoma" panose="020B0604030504040204" pitchFamily="34" charset="0"/>
                <a:ea typeface="Calibri" panose="020F0502020204030204" pitchFamily="34" charset="0"/>
                <a:cs typeface="Times New Roman" panose="02020603050405020304" pitchFamily="18" charset="0"/>
              </a:rPr>
              <a:t>(SUITE)</a:t>
            </a:r>
            <a:endParaRPr lang="fr-FR" sz="1800" dirty="0">
              <a:solidFill>
                <a:srgbClr val="FF0000"/>
              </a:solidFill>
            </a:endParaRPr>
          </a:p>
        </p:txBody>
      </p:sp>
      <p:sp>
        <p:nvSpPr>
          <p:cNvPr id="3" name="Espace réservé du contenu 2"/>
          <p:cNvSpPr>
            <a:spLocks noGrp="1"/>
          </p:cNvSpPr>
          <p:nvPr>
            <p:ph idx="1"/>
          </p:nvPr>
        </p:nvSpPr>
        <p:spPr>
          <a:xfrm>
            <a:off x="1600200" y="1554479"/>
            <a:ext cx="9904412" cy="4884957"/>
          </a:xfrm>
        </p:spPr>
        <p:txBody>
          <a:bodyPr>
            <a:normAutofit fontScale="92500"/>
          </a:bodyPr>
          <a:lstStyle/>
          <a:p>
            <a:pPr algn="just">
              <a:lnSpc>
                <a:spcPct val="150000"/>
              </a:lnSpc>
            </a:pPr>
            <a:r>
              <a:rPr lang="fr-FR" sz="2800" spc="30" dirty="0">
                <a:solidFill>
                  <a:srgbClr val="000000"/>
                </a:solidFill>
                <a:latin typeface="Tahoma" panose="020B0604030504040204" pitchFamily="34" charset="0"/>
                <a:ea typeface="Times New Roman" panose="02020603050405020304" pitchFamily="18" charset="0"/>
              </a:rPr>
              <a:t>En 1852, Théodore </a:t>
            </a:r>
            <a:r>
              <a:rPr lang="fr-FR" sz="2800" spc="30" dirty="0" err="1">
                <a:solidFill>
                  <a:srgbClr val="000000"/>
                </a:solidFill>
                <a:latin typeface="Tahoma" panose="020B0604030504040204" pitchFamily="34" charset="0"/>
                <a:ea typeface="Times New Roman" panose="02020603050405020304" pitchFamily="18" charset="0"/>
              </a:rPr>
              <a:t>Bilharz</a:t>
            </a:r>
            <a:r>
              <a:rPr lang="fr-FR" sz="2800" spc="30" dirty="0">
                <a:solidFill>
                  <a:srgbClr val="000000"/>
                </a:solidFill>
                <a:latin typeface="Tahoma" panose="020B0604030504040204" pitchFamily="34" charset="0"/>
                <a:ea typeface="Times New Roman" panose="02020603050405020304" pitchFamily="18" charset="0"/>
              </a:rPr>
              <a:t> découvre et décrit le </a:t>
            </a:r>
            <a:r>
              <a:rPr lang="fr-FR" sz="2800" spc="30" dirty="0" err="1" smtClean="0">
                <a:solidFill>
                  <a:srgbClr val="0070C0"/>
                </a:solidFill>
                <a:latin typeface="Tahoma" panose="020B0604030504040204" pitchFamily="34" charset="0"/>
                <a:ea typeface="Times New Roman" panose="02020603050405020304" pitchFamily="18" charset="0"/>
              </a:rPr>
              <a:t>Schistosoma</a:t>
            </a:r>
            <a:r>
              <a:rPr lang="fr-FR" sz="2800" spc="30" dirty="0" smtClean="0">
                <a:solidFill>
                  <a:srgbClr val="0070C0"/>
                </a:solidFill>
                <a:latin typeface="Tahoma" panose="020B0604030504040204" pitchFamily="34" charset="0"/>
                <a:ea typeface="Times New Roman" panose="02020603050405020304" pitchFamily="18" charset="0"/>
              </a:rPr>
              <a:t> </a:t>
            </a:r>
            <a:r>
              <a:rPr lang="fr-FR" sz="2800" spc="30" dirty="0" err="1" smtClean="0">
                <a:solidFill>
                  <a:srgbClr val="0070C0"/>
                </a:solidFill>
                <a:latin typeface="Tahoma" panose="020B0604030504040204" pitchFamily="34" charset="0"/>
                <a:ea typeface="Times New Roman" panose="02020603050405020304" pitchFamily="18" charset="0"/>
              </a:rPr>
              <a:t>Haematobium</a:t>
            </a:r>
            <a:r>
              <a:rPr lang="fr-FR" sz="2800" spc="30" dirty="0">
                <a:solidFill>
                  <a:srgbClr val="0070C0"/>
                </a:solidFill>
                <a:latin typeface="Tahoma" panose="020B0604030504040204" pitchFamily="34" charset="0"/>
                <a:ea typeface="Times New Roman" panose="02020603050405020304" pitchFamily="18" charset="0"/>
              </a:rPr>
              <a:t>. </a:t>
            </a:r>
            <a:endParaRPr lang="fr-FR" sz="2800" spc="30" dirty="0" smtClean="0">
              <a:solidFill>
                <a:srgbClr val="0070C0"/>
              </a:solidFill>
              <a:latin typeface="Tahoma" panose="020B0604030504040204" pitchFamily="34" charset="0"/>
              <a:ea typeface="Times New Roman" panose="02020603050405020304" pitchFamily="18" charset="0"/>
            </a:endParaRPr>
          </a:p>
          <a:p>
            <a:pPr algn="just">
              <a:lnSpc>
                <a:spcPct val="150000"/>
              </a:lnSpc>
            </a:pPr>
            <a:r>
              <a:rPr lang="fr-FR" sz="2800" spc="30" dirty="0" smtClean="0">
                <a:solidFill>
                  <a:srgbClr val="000000"/>
                </a:solidFill>
                <a:latin typeface="Tahoma" panose="020B0604030504040204" pitchFamily="34" charset="0"/>
                <a:ea typeface="Times New Roman" panose="02020603050405020304" pitchFamily="18" charset="0"/>
              </a:rPr>
              <a:t>En </a:t>
            </a:r>
            <a:r>
              <a:rPr lang="fr-FR" sz="2800" spc="30" dirty="0">
                <a:solidFill>
                  <a:srgbClr val="000000"/>
                </a:solidFill>
                <a:latin typeface="Tahoma" panose="020B0604030504040204" pitchFamily="34" charset="0"/>
                <a:ea typeface="Times New Roman" panose="02020603050405020304" pitchFamily="18" charset="0"/>
              </a:rPr>
              <a:t>1904, </a:t>
            </a:r>
            <a:r>
              <a:rPr lang="fr-FR" sz="2800" spc="30" dirty="0" err="1">
                <a:solidFill>
                  <a:srgbClr val="000000"/>
                </a:solidFill>
                <a:latin typeface="Tahoma" panose="020B0604030504040204" pitchFamily="34" charset="0"/>
                <a:ea typeface="Times New Roman" panose="02020603050405020304" pitchFamily="18" charset="0"/>
              </a:rPr>
              <a:t>Manson</a:t>
            </a:r>
            <a:r>
              <a:rPr lang="fr-FR" sz="2800" spc="30" dirty="0">
                <a:solidFill>
                  <a:srgbClr val="000000"/>
                </a:solidFill>
                <a:latin typeface="Tahoma" panose="020B0604030504040204" pitchFamily="34" charset="0"/>
                <a:ea typeface="Times New Roman" panose="02020603050405020304" pitchFamily="18" charset="0"/>
              </a:rPr>
              <a:t> décrit les œufs de le </a:t>
            </a:r>
            <a:r>
              <a:rPr lang="fr-FR" sz="2800" spc="30" dirty="0" err="1" smtClean="0">
                <a:solidFill>
                  <a:srgbClr val="0070C0"/>
                </a:solidFill>
                <a:latin typeface="Tahoma" panose="020B0604030504040204" pitchFamily="34" charset="0"/>
                <a:ea typeface="Times New Roman" panose="02020603050405020304" pitchFamily="18" charset="0"/>
              </a:rPr>
              <a:t>Schistosoma</a:t>
            </a:r>
            <a:r>
              <a:rPr lang="fr-FR" sz="2800" spc="30" dirty="0" smtClean="0">
                <a:solidFill>
                  <a:srgbClr val="0070C0"/>
                </a:solidFill>
                <a:latin typeface="Tahoma" panose="020B0604030504040204" pitchFamily="34" charset="0"/>
                <a:ea typeface="Times New Roman" panose="02020603050405020304" pitchFamily="18" charset="0"/>
              </a:rPr>
              <a:t> </a:t>
            </a:r>
            <a:r>
              <a:rPr lang="fr-FR" sz="2800" spc="30" dirty="0" err="1" smtClean="0">
                <a:solidFill>
                  <a:srgbClr val="0070C0"/>
                </a:solidFill>
                <a:latin typeface="Tahoma" panose="020B0604030504040204" pitchFamily="34" charset="0"/>
                <a:ea typeface="Times New Roman" panose="02020603050405020304" pitchFamily="18" charset="0"/>
              </a:rPr>
              <a:t>Mansoni</a:t>
            </a:r>
            <a:r>
              <a:rPr lang="fr-FR" sz="2800" spc="30" dirty="0" smtClean="0">
                <a:solidFill>
                  <a:srgbClr val="0070C0"/>
                </a:solidFill>
                <a:latin typeface="Tahoma" panose="020B0604030504040204" pitchFamily="34" charset="0"/>
                <a:ea typeface="Times New Roman" panose="02020603050405020304" pitchFamily="18" charset="0"/>
              </a:rPr>
              <a:t> </a:t>
            </a:r>
            <a:r>
              <a:rPr lang="fr-FR" sz="2800" spc="30" dirty="0">
                <a:solidFill>
                  <a:srgbClr val="000000"/>
                </a:solidFill>
                <a:latin typeface="Tahoma" panose="020B0604030504040204" pitchFamily="34" charset="0"/>
                <a:ea typeface="Times New Roman" panose="02020603050405020304" pitchFamily="18" charset="0"/>
              </a:rPr>
              <a:t>tandis que Katsura-da, au Japon découvre </a:t>
            </a:r>
            <a:r>
              <a:rPr lang="fr-FR" sz="2800" spc="30" dirty="0">
                <a:solidFill>
                  <a:srgbClr val="0070C0"/>
                </a:solidFill>
                <a:latin typeface="Tahoma" panose="020B0604030504040204" pitchFamily="34" charset="0"/>
                <a:ea typeface="Times New Roman" panose="02020603050405020304" pitchFamily="18" charset="0"/>
              </a:rPr>
              <a:t>S. </a:t>
            </a:r>
            <a:r>
              <a:rPr lang="fr-FR" sz="2800" spc="30" dirty="0" err="1">
                <a:solidFill>
                  <a:srgbClr val="0070C0"/>
                </a:solidFill>
                <a:latin typeface="Tahoma" panose="020B0604030504040204" pitchFamily="34" charset="0"/>
                <a:ea typeface="Times New Roman" panose="02020603050405020304" pitchFamily="18" charset="0"/>
              </a:rPr>
              <a:t>Japonicum</a:t>
            </a:r>
            <a:r>
              <a:rPr lang="fr-FR" sz="2800" spc="30" dirty="0">
                <a:solidFill>
                  <a:srgbClr val="000000"/>
                </a:solidFill>
                <a:latin typeface="Tahoma" panose="020B0604030504040204" pitchFamily="34" charset="0"/>
                <a:ea typeface="Times New Roman" panose="02020603050405020304" pitchFamily="18" charset="0"/>
              </a:rPr>
              <a:t>. </a:t>
            </a:r>
            <a:endParaRPr lang="fr-FR" sz="2800" spc="3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30" dirty="0" smtClean="0">
                <a:solidFill>
                  <a:srgbClr val="000000"/>
                </a:solidFill>
                <a:latin typeface="Tahoma" panose="020B0604030504040204" pitchFamily="34" charset="0"/>
                <a:ea typeface="Times New Roman" panose="02020603050405020304" pitchFamily="18" charset="0"/>
              </a:rPr>
              <a:t>Enfin</a:t>
            </a:r>
            <a:r>
              <a:rPr lang="fr-FR" sz="2800" spc="30" dirty="0">
                <a:solidFill>
                  <a:srgbClr val="000000"/>
                </a:solidFill>
                <a:latin typeface="Tahoma" panose="020B0604030504040204" pitchFamily="34" charset="0"/>
                <a:ea typeface="Times New Roman" panose="02020603050405020304" pitchFamily="18" charset="0"/>
              </a:rPr>
              <a:t>, en 1934, </a:t>
            </a:r>
            <a:r>
              <a:rPr lang="fr-FR" sz="2800" spc="30" dirty="0" smtClean="0">
                <a:solidFill>
                  <a:srgbClr val="000000"/>
                </a:solidFill>
                <a:latin typeface="Tahoma" panose="020B0604030504040204" pitchFamily="34" charset="0"/>
                <a:ea typeface="Times New Roman" panose="02020603050405020304" pitchFamily="18" charset="0"/>
              </a:rPr>
              <a:t>Fisher identifie </a:t>
            </a:r>
            <a:r>
              <a:rPr lang="fr-FR" sz="2800" spc="30" dirty="0">
                <a:solidFill>
                  <a:srgbClr val="000000"/>
                </a:solidFill>
                <a:latin typeface="Tahoma" panose="020B0604030504040204" pitchFamily="34" charset="0"/>
                <a:ea typeface="Times New Roman" panose="02020603050405020304" pitchFamily="18" charset="0"/>
              </a:rPr>
              <a:t>le </a:t>
            </a:r>
            <a:r>
              <a:rPr lang="fr-FR" sz="2800" spc="30" dirty="0" err="1" smtClean="0">
                <a:solidFill>
                  <a:srgbClr val="0070C0"/>
                </a:solidFill>
                <a:latin typeface="Tahoma" panose="020B0604030504040204" pitchFamily="34" charset="0"/>
                <a:ea typeface="Times New Roman" panose="02020603050405020304" pitchFamily="18" charset="0"/>
              </a:rPr>
              <a:t>Schistosoma</a:t>
            </a:r>
            <a:r>
              <a:rPr lang="fr-FR" sz="2800" spc="30" dirty="0" smtClean="0">
                <a:solidFill>
                  <a:srgbClr val="0070C0"/>
                </a:solidFill>
                <a:latin typeface="Tahoma" panose="020B0604030504040204" pitchFamily="34" charset="0"/>
                <a:ea typeface="Times New Roman" panose="02020603050405020304" pitchFamily="18" charset="0"/>
              </a:rPr>
              <a:t> </a:t>
            </a:r>
            <a:r>
              <a:rPr lang="fr-FR" sz="2800" spc="30" dirty="0" err="1" smtClean="0">
                <a:solidFill>
                  <a:srgbClr val="0070C0"/>
                </a:solidFill>
                <a:latin typeface="Tahoma" panose="020B0604030504040204" pitchFamily="34" charset="0"/>
                <a:ea typeface="Times New Roman" panose="02020603050405020304" pitchFamily="18" charset="0"/>
              </a:rPr>
              <a:t>Intercalatum</a:t>
            </a:r>
            <a:r>
              <a:rPr lang="fr-FR" sz="2800" spc="30" dirty="0">
                <a:solidFill>
                  <a:srgbClr val="000000"/>
                </a:solidFill>
                <a:latin typeface="Tahoma" panose="020B0604030504040204" pitchFamily="34" charset="0"/>
                <a:ea typeface="Times New Roman" panose="02020603050405020304" pitchFamily="18" charset="0"/>
              </a:rPr>
              <a:t>. </a:t>
            </a:r>
            <a:endParaRPr lang="fr-FR" sz="2800" spc="3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30" dirty="0" smtClean="0">
                <a:solidFill>
                  <a:srgbClr val="0070C0"/>
                </a:solidFill>
                <a:latin typeface="Tahoma" panose="020B0604030504040204" pitchFamily="34" charset="0"/>
                <a:ea typeface="Times New Roman" panose="02020603050405020304" pitchFamily="18" charset="0"/>
              </a:rPr>
              <a:t>S. </a:t>
            </a:r>
            <a:r>
              <a:rPr lang="fr-FR" sz="2800" spc="30" dirty="0" err="1">
                <a:solidFill>
                  <a:srgbClr val="0070C0"/>
                </a:solidFill>
                <a:latin typeface="Tahoma" panose="020B0604030504040204" pitchFamily="34" charset="0"/>
                <a:ea typeface="Times New Roman" panose="02020603050405020304" pitchFamily="18" charset="0"/>
              </a:rPr>
              <a:t>Mekongi</a:t>
            </a:r>
            <a:r>
              <a:rPr lang="fr-FR" sz="2800" spc="30" dirty="0">
                <a:solidFill>
                  <a:srgbClr val="0070C0"/>
                </a:solidFill>
                <a:latin typeface="Tahoma" panose="020B0604030504040204" pitchFamily="34" charset="0"/>
                <a:ea typeface="Times New Roman" panose="02020603050405020304" pitchFamily="18" charset="0"/>
              </a:rPr>
              <a:t> </a:t>
            </a:r>
            <a:r>
              <a:rPr lang="fr-FR" sz="2800" spc="30" dirty="0">
                <a:solidFill>
                  <a:srgbClr val="000000"/>
                </a:solidFill>
                <a:latin typeface="Tahoma" panose="020B0604030504040204" pitchFamily="34" charset="0"/>
                <a:ea typeface="Times New Roman" panose="02020603050405020304" pitchFamily="18" charset="0"/>
              </a:rPr>
              <a:t>est isolé au Laos en 1978.</a:t>
            </a:r>
            <a:endParaRPr lang="fr-FR" sz="2800" spc="3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42012578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288" y="237744"/>
            <a:ext cx="8911687" cy="496352"/>
          </a:xfrm>
        </p:spPr>
        <p:txBody>
          <a:bodyPr>
            <a:normAutofit fontScale="90000"/>
          </a:bodyPr>
          <a:lstStyle/>
          <a:p>
            <a:pPr lvl="1" algn="ctr" defTabSz="457200" rtl="0">
              <a:spcBef>
                <a:spcPct val="0"/>
              </a:spcBef>
            </a:pPr>
            <a:r>
              <a:rPr lang="fr-FR" sz="3600" b="1" spc="10" dirty="0" smtClean="0">
                <a:solidFill>
                  <a:srgbClr val="000000"/>
                </a:solidFill>
                <a:latin typeface="Tahoma" panose="020B0604030504040204" pitchFamily="34" charset="0"/>
                <a:ea typeface="Times New Roman" panose="02020603050405020304" pitchFamily="18" charset="0"/>
              </a:rPr>
              <a:t>RÉPARTITION GÉOGRAPHIQUE</a:t>
            </a:r>
            <a:r>
              <a:rPr lang="fr-FR" sz="2800" spc="10" dirty="0" smtClean="0">
                <a:latin typeface="Times New Roman" panose="02020603050405020304" pitchFamily="18" charset="0"/>
                <a:ea typeface="Times New Roman" panose="02020603050405020304" pitchFamily="18" charset="0"/>
              </a:rPr>
              <a:t/>
            </a:r>
            <a:br>
              <a:rPr lang="fr-FR" sz="2800" spc="10" dirty="0" smtClean="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914400" y="850007"/>
            <a:ext cx="10995660" cy="5573654"/>
          </a:xfrm>
        </p:spPr>
        <p:txBody>
          <a:bodyPr>
            <a:normAutofit fontScale="62500" lnSpcReduction="20000"/>
          </a:bodyPr>
          <a:lstStyle/>
          <a:p>
            <a:pPr lvl="0" algn="just">
              <a:lnSpc>
                <a:spcPct val="170000"/>
              </a:lnSpc>
              <a:buFont typeface="Symbol" panose="05050102010706020507" pitchFamily="18" charset="2"/>
              <a:buChar char=""/>
            </a:pP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B. à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3700"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Haematobium</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sévit principalement dans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 vallée du Nil,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en Afrique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 l'Ouest et du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Sud</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ainsi qu’au Maghreb avec d’autres foyers au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Yémen au Moyen Orient et en Inde.</a:t>
            </a:r>
            <a:endParaRPr lang="fr-FR" sz="3700" dirty="0">
              <a:ea typeface="Times New Roman" panose="02020603050405020304" pitchFamily="18" charset="0"/>
              <a:cs typeface="Times New Roman" panose="02020603050405020304" pitchFamily="18" charset="0"/>
            </a:endParaRPr>
          </a:p>
          <a:p>
            <a:pPr lvl="0" algn="just">
              <a:lnSpc>
                <a:spcPct val="170000"/>
              </a:lnSpc>
              <a:buFont typeface="Symbol" panose="05050102010706020507" pitchFamily="18" charset="2"/>
              <a:buChar char=""/>
            </a:pP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B. à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3700"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Mansoni</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est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répandue en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Egypte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au Brésil,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au Venezuela et dans les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Antilles</a:t>
            </a:r>
            <a:endParaRPr lang="fr-FR" sz="3700" dirty="0">
              <a:ea typeface="Times New Roman" panose="02020603050405020304" pitchFamily="18" charset="0"/>
              <a:cs typeface="Times New Roman" panose="02020603050405020304" pitchFamily="18" charset="0"/>
            </a:endParaRPr>
          </a:p>
          <a:p>
            <a:pPr lvl="0" algn="just">
              <a:lnSpc>
                <a:spcPct val="170000"/>
              </a:lnSpc>
              <a:buFont typeface="Symbol" panose="05050102010706020507" pitchFamily="18" charset="2"/>
              <a:buChar char=""/>
            </a:pP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B. à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3700"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Intercalatum</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est uniquement </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africaine et sévit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essentiellement au Gabon, a</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Congo en RDC en RCA et en Angola.</a:t>
            </a:r>
            <a:endParaRPr lang="fr-FR" sz="3700" dirty="0">
              <a:ea typeface="Times New Roman" panose="02020603050405020304" pitchFamily="18" charset="0"/>
              <a:cs typeface="Times New Roman" panose="02020603050405020304" pitchFamily="18" charset="0"/>
            </a:endParaRPr>
          </a:p>
          <a:p>
            <a:pPr lvl="0" algn="just">
              <a:lnSpc>
                <a:spcPct val="170000"/>
              </a:lnSpc>
              <a:buFont typeface="Symbol" panose="05050102010706020507" pitchFamily="18" charset="2"/>
              <a:buChar char=""/>
            </a:pP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 bilharziose à </a:t>
            </a:r>
            <a:r>
              <a:rPr lang="fr-FR" sz="37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Schistosoma</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7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Japonicum</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sévit en Chine</a:t>
            </a:r>
            <a:r>
              <a:rPr lang="fr-FR" sz="37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Corée</a:t>
            </a:r>
            <a:r>
              <a:rPr lang="fr-FR" sz="37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au Japon et aux philippines.</a:t>
            </a:r>
            <a:endParaRPr lang="fr-FR" sz="3700" dirty="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4351302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1" algn="l" defTabSz="457200" rtl="0">
              <a:spcBef>
                <a:spcPct val="0"/>
              </a:spcBef>
            </a:pPr>
            <a:r>
              <a:rPr lang="fr-FR" sz="2800" b="1" spc="10" dirty="0" smtClean="0">
                <a:solidFill>
                  <a:srgbClr val="000000"/>
                </a:solidFill>
                <a:latin typeface="Tahoma" panose="020B0604030504040204" pitchFamily="34" charset="0"/>
                <a:ea typeface="Times New Roman" panose="02020603050405020304" pitchFamily="18" charset="0"/>
              </a:rPr>
              <a:t>AGENTS PATHOGÈNES</a:t>
            </a:r>
            <a:r>
              <a:rPr lang="fr-FR" sz="2800" spc="10" dirty="0" smtClean="0">
                <a:latin typeface="Times New Roman" panose="02020603050405020304" pitchFamily="18" charset="0"/>
                <a:ea typeface="Times New Roman" panose="02020603050405020304" pitchFamily="18" charset="0"/>
              </a:rPr>
              <a:t/>
            </a:r>
            <a:br>
              <a:rPr lang="fr-FR" sz="2800" spc="10" dirty="0" smtClean="0">
                <a:latin typeface="Times New Roman" panose="02020603050405020304" pitchFamily="18" charset="0"/>
                <a:ea typeface="Times New Roman" panose="02020603050405020304" pitchFamily="18" charset="0"/>
              </a:rPr>
            </a:br>
            <a:endParaRPr lang="fr-FR" sz="2800" dirty="0"/>
          </a:p>
        </p:txBody>
      </p:sp>
      <p:sp>
        <p:nvSpPr>
          <p:cNvPr id="3" name="Espace réservé du contenu 2"/>
          <p:cNvSpPr>
            <a:spLocks noGrp="1"/>
          </p:cNvSpPr>
          <p:nvPr>
            <p:ph idx="1"/>
          </p:nvPr>
        </p:nvSpPr>
        <p:spPr>
          <a:xfrm>
            <a:off x="1339403" y="1442433"/>
            <a:ext cx="10496282" cy="4649273"/>
          </a:xfrm>
        </p:spPr>
        <p:txBody>
          <a:bodyPr>
            <a:normAutofit fontScale="92500"/>
          </a:bodyPr>
          <a:lstStyle/>
          <a:p>
            <a:pPr>
              <a:lnSpc>
                <a:spcPct val="150000"/>
              </a:lnSpc>
            </a:pPr>
            <a:r>
              <a:rPr lang="fr-FR" sz="2400" b="1" dirty="0" smtClean="0">
                <a:solidFill>
                  <a:schemeClr val="accent1"/>
                </a:solidFill>
                <a:latin typeface="Tahoma" panose="020B0604030504040204" pitchFamily="34" charset="0"/>
              </a:rPr>
              <a:t>5 </a:t>
            </a:r>
            <a:r>
              <a:rPr lang="fr-FR" sz="2400" b="1" dirty="0">
                <a:solidFill>
                  <a:schemeClr val="accent1"/>
                </a:solidFill>
                <a:latin typeface="Tahoma" panose="020B0604030504040204" pitchFamily="34" charset="0"/>
              </a:rPr>
              <a:t>espèces sont pathogènes pour l'homme :</a:t>
            </a:r>
            <a:endParaRPr lang="fr-FR" sz="2400" b="1" dirty="0">
              <a:solidFill>
                <a:schemeClr val="accent1"/>
              </a:solidFill>
            </a:endParaRPr>
          </a:p>
          <a:p>
            <a:pPr lvl="0">
              <a:lnSpc>
                <a:spcPct val="150000"/>
              </a:lnSpc>
              <a:buFont typeface="Symbol" panose="05050102010706020507" pitchFamily="18" charset="2"/>
              <a:buChar char=""/>
            </a:pPr>
            <a:r>
              <a:rPr lang="fr-FR" sz="2400" b="1"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Schistosoma</a:t>
            </a:r>
            <a:r>
              <a:rPr lang="fr-FR" sz="2400" b="1"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b="1"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Haematobium</a:t>
            </a:r>
            <a:r>
              <a:rPr lang="fr-FR" sz="2400" b="1"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est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l'agen</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t</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pathogène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 la bilharziose uro-génitale ;</a:t>
            </a:r>
            <a:endParaRPr lang="fr-FR" sz="24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2400" b="1"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Schistosoma</a:t>
            </a:r>
            <a:r>
              <a:rPr lang="fr-FR" sz="2400" b="1"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b="1"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Mansoni</a:t>
            </a:r>
            <a:r>
              <a:rPr lang="fr-FR" sz="2400" b="1"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est responsable d'une bilharziose intestinale et parfois hépatosplénique ;</a:t>
            </a:r>
            <a:endParaRPr lang="fr-FR" sz="24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2400" b="1"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Schistosoma</a:t>
            </a:r>
            <a:r>
              <a:rPr lang="fr-FR" sz="2400" b="1"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b="1"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Japonicum</a:t>
            </a:r>
            <a:r>
              <a:rPr lang="fr-FR" sz="2400" b="1"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et </a:t>
            </a:r>
            <a:r>
              <a:rPr lang="fr-FR" sz="2400" b="1"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2400" b="1"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Mekongi</a:t>
            </a:r>
            <a:r>
              <a:rPr lang="fr-FR" sz="2400" b="1"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déterminent une redoutable bilharziose intestinale avec complications hépatiques ;</a:t>
            </a:r>
            <a:endParaRPr lang="fr-FR" sz="24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2400" b="1"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Schistosoma</a:t>
            </a:r>
            <a:r>
              <a:rPr lang="fr-FR" sz="2400" b="1"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b="1"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Intercalatum</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provoque une bilharziose rectale et génitale.</a:t>
            </a:r>
            <a:endParaRPr lang="fr-FR" sz="2400" dirty="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00342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37893" y="624110"/>
            <a:ext cx="9366719" cy="818324"/>
          </a:xfrm>
        </p:spPr>
        <p:txBody>
          <a:bodyPr>
            <a:noAutofit/>
          </a:bodyPr>
          <a:lstStyle/>
          <a:p>
            <a:pPr lvl="1" algn="l" defTabSz="457200" rtl="0">
              <a:spcBef>
                <a:spcPct val="0"/>
              </a:spcBef>
            </a:pPr>
            <a:r>
              <a:rPr lang="fr-FR" sz="2800" b="1" dirty="0">
                <a:solidFill>
                  <a:srgbClr val="000000"/>
                </a:solidFill>
                <a:latin typeface="Tahoma" panose="020B0604030504040204" pitchFamily="34" charset="0"/>
              </a:rPr>
              <a:t>Réservoir de </a:t>
            </a:r>
            <a:r>
              <a:rPr lang="fr-FR" sz="2800" b="1" dirty="0" smtClean="0">
                <a:solidFill>
                  <a:srgbClr val="000000"/>
                </a:solidFill>
                <a:latin typeface="Tahoma" panose="020B0604030504040204" pitchFamily="34" charset="0"/>
              </a:rPr>
              <a:t>germes et Hôtes </a:t>
            </a:r>
            <a:r>
              <a:rPr lang="fr-FR" sz="2800" b="1" dirty="0">
                <a:solidFill>
                  <a:srgbClr val="000000"/>
                </a:solidFill>
                <a:latin typeface="Tahoma" panose="020B0604030504040204" pitchFamily="34" charset="0"/>
              </a:rPr>
              <a:t>Intermédiaires (HI)</a:t>
            </a:r>
            <a:r>
              <a:rPr lang="fr-FR" sz="2800" dirty="0"/>
              <a:t/>
            </a:r>
            <a:br>
              <a:rPr lang="fr-FR" sz="2800" dirty="0"/>
            </a:br>
            <a:r>
              <a:rPr lang="fr-FR" sz="2800" dirty="0"/>
              <a:t/>
            </a:r>
            <a:br>
              <a:rPr lang="fr-FR" sz="2800" dirty="0"/>
            </a:br>
            <a:endParaRPr lang="fr-FR" sz="2800" dirty="0"/>
          </a:p>
        </p:txBody>
      </p:sp>
      <p:sp>
        <p:nvSpPr>
          <p:cNvPr id="3" name="Espace réservé du contenu 2"/>
          <p:cNvSpPr>
            <a:spLocks noGrp="1"/>
          </p:cNvSpPr>
          <p:nvPr>
            <p:ph idx="1"/>
          </p:nvPr>
        </p:nvSpPr>
        <p:spPr>
          <a:xfrm>
            <a:off x="1635617" y="1442433"/>
            <a:ext cx="9868995" cy="5241701"/>
          </a:xfrm>
        </p:spPr>
        <p:txBody>
          <a:bodyPr>
            <a:normAutofit/>
          </a:bodyPr>
          <a:lstStyle/>
          <a:p>
            <a:pPr>
              <a:lnSpc>
                <a:spcPct val="150000"/>
              </a:lnSpc>
            </a:pPr>
            <a:r>
              <a:rPr lang="fr-FR" b="1" dirty="0" smtClean="0">
                <a:solidFill>
                  <a:srgbClr val="000000"/>
                </a:solidFill>
                <a:latin typeface="Tahoma" panose="020B0604030504040204" pitchFamily="34" charset="0"/>
              </a:rPr>
              <a:t>L'homme </a:t>
            </a:r>
            <a:r>
              <a:rPr lang="fr-FR" b="1" dirty="0">
                <a:solidFill>
                  <a:srgbClr val="000000"/>
                </a:solidFill>
                <a:latin typeface="Tahoma" panose="020B0604030504040204" pitchFamily="34" charset="0"/>
              </a:rPr>
              <a:t>malade ou non et certains animaux </a:t>
            </a:r>
            <a:r>
              <a:rPr lang="fr-FR" dirty="0" smtClean="0">
                <a:solidFill>
                  <a:srgbClr val="000000"/>
                </a:solidFill>
                <a:latin typeface="Tahoma" panose="020B0604030504040204" pitchFamily="34" charset="0"/>
              </a:rPr>
              <a:t>(sauvages ou domestiques comme </a:t>
            </a:r>
            <a:r>
              <a:rPr lang="fr-FR" dirty="0">
                <a:solidFill>
                  <a:srgbClr val="000000"/>
                </a:solidFill>
                <a:latin typeface="Tahoma" panose="020B0604030504040204" pitchFamily="34" charset="0"/>
              </a:rPr>
              <a:t>les chiens, les chats, les </a:t>
            </a:r>
            <a:r>
              <a:rPr lang="fr-FR" dirty="0" smtClean="0">
                <a:solidFill>
                  <a:srgbClr val="000000"/>
                </a:solidFill>
                <a:latin typeface="Tahoma" panose="020B0604030504040204" pitchFamily="34" charset="0"/>
              </a:rPr>
              <a:t>porcs</a:t>
            </a:r>
            <a:r>
              <a:rPr lang="fr-FR" dirty="0">
                <a:solidFill>
                  <a:srgbClr val="000000"/>
                </a:solidFill>
                <a:latin typeface="Tahoma" panose="020B0604030504040204" pitchFamily="34" charset="0"/>
              </a:rPr>
              <a:t>) </a:t>
            </a:r>
            <a:r>
              <a:rPr lang="fr-FR" dirty="0" smtClean="0">
                <a:solidFill>
                  <a:srgbClr val="000000"/>
                </a:solidFill>
                <a:latin typeface="Tahoma" panose="020B0604030504040204" pitchFamily="34" charset="0"/>
              </a:rPr>
              <a:t> </a:t>
            </a:r>
            <a:r>
              <a:rPr lang="fr-FR" b="1" dirty="0">
                <a:solidFill>
                  <a:srgbClr val="000000"/>
                </a:solidFill>
                <a:latin typeface="Tahoma" panose="020B0604030504040204" pitchFamily="34" charset="0"/>
              </a:rPr>
              <a:t>constituent les réservoirs de germes</a:t>
            </a:r>
            <a:r>
              <a:rPr lang="fr-FR" dirty="0" smtClean="0">
                <a:solidFill>
                  <a:srgbClr val="000000"/>
                </a:solidFill>
                <a:latin typeface="Tahoma" panose="020B0604030504040204" pitchFamily="34" charset="0"/>
              </a:rPr>
              <a:t>.</a:t>
            </a:r>
            <a:endParaRPr lang="fr-FR" dirty="0"/>
          </a:p>
          <a:p>
            <a:pPr>
              <a:lnSpc>
                <a:spcPct val="150000"/>
              </a:lnSpc>
            </a:pPr>
            <a:r>
              <a:rPr lang="fr-FR" b="1" dirty="0" smtClean="0">
                <a:solidFill>
                  <a:srgbClr val="000000"/>
                </a:solidFill>
                <a:latin typeface="Tahoma" panose="020B0604030504040204" pitchFamily="34" charset="0"/>
              </a:rPr>
              <a:t>Les Hôtes Intermédiaires </a:t>
            </a:r>
            <a:r>
              <a:rPr lang="fr-FR" b="1" dirty="0">
                <a:solidFill>
                  <a:srgbClr val="000000"/>
                </a:solidFill>
                <a:latin typeface="Tahoma" panose="020B0604030504040204" pitchFamily="34" charset="0"/>
              </a:rPr>
              <a:t>indispensables à l'évolution et à la propagation </a:t>
            </a:r>
            <a:r>
              <a:rPr lang="fr-FR" dirty="0">
                <a:solidFill>
                  <a:srgbClr val="000000"/>
                </a:solidFill>
                <a:latin typeface="Tahoma" panose="020B0604030504040204" pitchFamily="34" charset="0"/>
              </a:rPr>
              <a:t>de la maladie </a:t>
            </a:r>
            <a:r>
              <a:rPr lang="fr-FR" b="1" dirty="0">
                <a:solidFill>
                  <a:srgbClr val="000000"/>
                </a:solidFill>
                <a:latin typeface="Tahoma" panose="020B0604030504040204" pitchFamily="34" charset="0"/>
              </a:rPr>
              <a:t>sont des mollusques d'eau douce </a:t>
            </a:r>
            <a:r>
              <a:rPr lang="fr-FR" dirty="0">
                <a:solidFill>
                  <a:srgbClr val="000000"/>
                </a:solidFill>
                <a:latin typeface="Tahoma" panose="020B0604030504040204" pitchFamily="34" charset="0"/>
              </a:rPr>
              <a:t>spécifiques à chaque agent pathogène</a:t>
            </a:r>
            <a:r>
              <a:rPr lang="fr-FR" dirty="0" smtClean="0">
                <a:solidFill>
                  <a:srgbClr val="000000"/>
                </a:solidFill>
                <a:latin typeface="Tahoma" panose="020B0604030504040204" pitchFamily="34" charset="0"/>
              </a:rPr>
              <a:t>:</a:t>
            </a:r>
          </a:p>
          <a:p>
            <a:pPr>
              <a:lnSpc>
                <a:spcPct val="150000"/>
              </a:lnSpc>
            </a:pPr>
            <a:endParaRPr lang="fr-FR" dirty="0" smtClean="0"/>
          </a:p>
          <a:p>
            <a:pPr>
              <a:lnSpc>
                <a:spcPct val="150000"/>
              </a:lnSpc>
            </a:pPr>
            <a:endParaRPr lang="fr-FR" dirty="0"/>
          </a:p>
          <a:p>
            <a:pPr>
              <a:lnSpc>
                <a:spcPct val="150000"/>
              </a:lnSpc>
            </a:pPr>
            <a:endParaRPr lang="fr-FR" dirty="0" smtClean="0"/>
          </a:p>
          <a:p>
            <a:pPr marL="0" lvl="0" indent="0">
              <a:lnSpc>
                <a:spcPct val="110000"/>
              </a:lnSpc>
              <a:buNone/>
            </a:pPr>
            <a:r>
              <a:rPr lang="fr-FR" sz="1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val="1626818820"/>
              </p:ext>
            </p:extLst>
          </p:nvPr>
        </p:nvGraphicFramePr>
        <p:xfrm>
          <a:off x="1996226" y="3521857"/>
          <a:ext cx="8128000" cy="26517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lgn="ctr"/>
                      <a:r>
                        <a:rPr lang="fr-FR" sz="2400" dirty="0" smtClean="0">
                          <a:solidFill>
                            <a:schemeClr val="bg1"/>
                          </a:solidFill>
                          <a:latin typeface="Tahoma" panose="020B0604030504040204" pitchFamily="34" charset="0"/>
                        </a:rPr>
                        <a:t>Agents pathogènes</a:t>
                      </a:r>
                      <a:endParaRPr lang="fr-FR" sz="2400" dirty="0">
                        <a:solidFill>
                          <a:schemeClr val="bg1"/>
                        </a:solidFill>
                      </a:endParaRPr>
                    </a:p>
                  </a:txBody>
                  <a:tcPr/>
                </a:tc>
                <a:tc>
                  <a:txBody>
                    <a:bodyPr/>
                    <a:lstStyle/>
                    <a:p>
                      <a:pPr algn="ctr"/>
                      <a:r>
                        <a:rPr lang="fr-FR" sz="2400" b="1" dirty="0" smtClean="0">
                          <a:solidFill>
                            <a:schemeClr val="bg1"/>
                          </a:solidFill>
                          <a:latin typeface="Tahoma" panose="020B0604030504040204" pitchFamily="34" charset="0"/>
                        </a:rPr>
                        <a:t>Hôtes Intermédiaires</a:t>
                      </a:r>
                      <a:endParaRPr lang="fr-FR" sz="2400" dirty="0">
                        <a:solidFill>
                          <a:schemeClr val="bg1"/>
                        </a:solidFill>
                      </a:endParaRP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24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Haematobium</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&amp;</a:t>
                      </a:r>
                    </a:p>
                    <a:p>
                      <a:pPr marL="0" marR="0" indent="0" algn="l" defTabSz="457200" rtl="0" eaLnBrk="1" fontAlgn="auto" latinLnBrk="0" hangingPunct="1">
                        <a:lnSpc>
                          <a:spcPct val="100000"/>
                        </a:lnSpc>
                        <a:spcBef>
                          <a:spcPts val="0"/>
                        </a:spcBef>
                        <a:spcAft>
                          <a:spcPts val="0"/>
                        </a:spcAft>
                        <a:buClrTx/>
                        <a:buSzTx/>
                        <a:buFontTx/>
                        <a:buNone/>
                        <a:tabLst/>
                        <a:defRPr/>
                      </a:pP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24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Intercalatum</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endParaRPr lang="fr-FR" sz="2400" dirty="0" smtClean="0"/>
                    </a:p>
                  </a:txBody>
                  <a:tcPr/>
                </a:tc>
                <a:tc>
                  <a:txBody>
                    <a:bodyPr/>
                    <a:lstStyle/>
                    <a:p>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le </a:t>
                      </a:r>
                      <a:r>
                        <a:rPr lang="fr-FR" sz="24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Bullin</a:t>
                      </a:r>
                      <a:endParaRPr lang="fr-FR" sz="2400" dirty="0"/>
                    </a:p>
                  </a:txBody>
                  <a:tcPr anchor="ct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24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Manson</a:t>
                      </a:r>
                      <a:endParaRPr lang="fr-FR" sz="2400" dirty="0" smtClean="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Le planorbe</a:t>
                      </a:r>
                      <a:endParaRPr lang="fr-FR" sz="2400" dirty="0" smtClean="0"/>
                    </a:p>
                  </a:txBody>
                  <a:tcPr/>
                </a:tc>
                <a:extLst>
                  <a:ext uri="{0D108BD9-81ED-4DB2-BD59-A6C34878D82A}">
                    <a16:rowId xmlns:a16="http://schemas.microsoft.com/office/drawing/2014/main" val="10002"/>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24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Japonicum</a:t>
                      </a:r>
                      <a:endParaRPr lang="fr-FR" sz="2400" dirty="0" smtClean="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t>
                      </a:r>
                      <a:r>
                        <a:rPr lang="fr-FR" sz="24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onchomelania</a:t>
                      </a:r>
                      <a:endParaRPr lang="fr-FR" sz="2400" dirty="0" smtClean="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 </a:t>
                      </a:r>
                      <a:r>
                        <a:rPr lang="fr-FR" sz="24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Mekongi</a:t>
                      </a:r>
                      <a:endParaRPr lang="fr-FR"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24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Lithoglyphopsisaperta</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t>
                      </a:r>
                      <a:endParaRPr lang="fr-FR" sz="2400" dirty="0" smtClean="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822360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482443"/>
            <a:ext cx="8911687" cy="534989"/>
          </a:xfrm>
        </p:spPr>
        <p:txBody>
          <a:bodyPr>
            <a:normAutofit fontScale="90000"/>
          </a:bodyPr>
          <a:lstStyle/>
          <a:p>
            <a:pPr lvl="1" algn="l" defTabSz="457200" rtl="0">
              <a:spcBef>
                <a:spcPct val="0"/>
              </a:spcBef>
            </a:pPr>
            <a:r>
              <a:rPr lang="fr-FR" sz="3600" b="1" spc="10" dirty="0" smtClean="0">
                <a:solidFill>
                  <a:srgbClr val="000000"/>
                </a:solidFill>
                <a:latin typeface="Tahoma" panose="020B0604030504040204" pitchFamily="34" charset="0"/>
                <a:ea typeface="Times New Roman" panose="02020603050405020304" pitchFamily="18" charset="0"/>
              </a:rPr>
              <a:t>FACTEURS FAVORISANT</a:t>
            </a:r>
            <a:r>
              <a:rPr lang="fr-FR" sz="2800" spc="10" dirty="0" smtClean="0">
                <a:latin typeface="Times New Roman" panose="02020603050405020304" pitchFamily="18" charset="0"/>
                <a:ea typeface="Times New Roman" panose="02020603050405020304" pitchFamily="18" charset="0"/>
              </a:rPr>
              <a:t/>
            </a:r>
            <a:br>
              <a:rPr lang="fr-FR" sz="2800" spc="10" dirty="0" smtClean="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759854" y="1017432"/>
            <a:ext cx="10744758" cy="5291928"/>
          </a:xfrm>
        </p:spPr>
        <p:txBody>
          <a:bodyPr>
            <a:normAutofit fontScale="85000" lnSpcReduction="20000"/>
          </a:bodyPr>
          <a:lstStyle/>
          <a:p>
            <a:pPr algn="just">
              <a:lnSpc>
                <a:spcPct val="150000"/>
              </a:lnSpc>
            </a:pPr>
            <a:r>
              <a:rPr lang="fr-FR" sz="2600" dirty="0" smtClean="0">
                <a:solidFill>
                  <a:srgbClr val="000000"/>
                </a:solidFill>
                <a:latin typeface="Tahoma" panose="020B0604030504040204" pitchFamily="34" charset="0"/>
              </a:rPr>
              <a:t>Certaines </a:t>
            </a:r>
            <a:r>
              <a:rPr lang="fr-FR" sz="2600" dirty="0">
                <a:solidFill>
                  <a:srgbClr val="000000"/>
                </a:solidFill>
                <a:latin typeface="Tahoma" panose="020B0604030504040204" pitchFamily="34" charset="0"/>
              </a:rPr>
              <a:t>professions multiplient le risque de contamination: </a:t>
            </a:r>
            <a:r>
              <a:rPr lang="fr-FR" sz="2600" dirty="0" smtClean="0">
                <a:solidFill>
                  <a:srgbClr val="000000"/>
                </a:solidFill>
                <a:latin typeface="Tahoma" panose="020B0604030504040204" pitchFamily="34" charset="0"/>
              </a:rPr>
              <a:t>les </a:t>
            </a:r>
            <a:r>
              <a:rPr lang="fr-FR" sz="2600" dirty="0">
                <a:solidFill>
                  <a:srgbClr val="000000"/>
                </a:solidFill>
                <a:latin typeface="Tahoma" panose="020B0604030504040204" pitchFamily="34" charset="0"/>
              </a:rPr>
              <a:t>pécheurs, les cultivateurs, les riziculteurs et les ouvriers entretenant les canaux d'irrigation </a:t>
            </a:r>
            <a:endParaRPr lang="fr-FR" sz="2600" dirty="0" smtClean="0">
              <a:solidFill>
                <a:srgbClr val="000000"/>
              </a:solidFill>
              <a:latin typeface="Tahoma" panose="020B0604030504040204" pitchFamily="34" charset="0"/>
            </a:endParaRPr>
          </a:p>
          <a:p>
            <a:pPr algn="just">
              <a:lnSpc>
                <a:spcPct val="150000"/>
              </a:lnSpc>
            </a:pPr>
            <a:r>
              <a:rPr lang="fr-FR" sz="2600" dirty="0" smtClean="0">
                <a:solidFill>
                  <a:srgbClr val="000000"/>
                </a:solidFill>
                <a:latin typeface="Tahoma" panose="020B0604030504040204" pitchFamily="34" charset="0"/>
              </a:rPr>
              <a:t>Les </a:t>
            </a:r>
            <a:r>
              <a:rPr lang="fr-FR" sz="2600" dirty="0">
                <a:solidFill>
                  <a:srgbClr val="000000"/>
                </a:solidFill>
                <a:latin typeface="Tahoma" panose="020B0604030504040204" pitchFamily="34" charset="0"/>
              </a:rPr>
              <a:t>femmes constamment au marigot pour leurs besognes ménagères sont un peu plus fréquemment atteintes que les hommes.</a:t>
            </a:r>
            <a:endParaRPr lang="fr-FR" sz="2600" dirty="0"/>
          </a:p>
          <a:p>
            <a:pPr algn="just">
              <a:lnSpc>
                <a:spcPct val="150000"/>
              </a:lnSpc>
            </a:pPr>
            <a:r>
              <a:rPr lang="fr-FR" sz="2600" dirty="0">
                <a:solidFill>
                  <a:srgbClr val="000000"/>
                </a:solidFill>
                <a:latin typeface="Tahoma" panose="020B0604030504040204" pitchFamily="34" charset="0"/>
              </a:rPr>
              <a:t>Les enfants </a:t>
            </a:r>
            <a:r>
              <a:rPr lang="fr-FR" sz="2600" dirty="0" smtClean="0">
                <a:solidFill>
                  <a:srgbClr val="000000"/>
                </a:solidFill>
                <a:latin typeface="Tahoma" panose="020B0604030504040204" pitchFamily="34" charset="0"/>
              </a:rPr>
              <a:t>qui barbotent </a:t>
            </a:r>
            <a:r>
              <a:rPr lang="fr-FR" sz="2600" dirty="0">
                <a:solidFill>
                  <a:srgbClr val="000000"/>
                </a:solidFill>
                <a:latin typeface="Tahoma" panose="020B0604030504040204" pitchFamily="34" charset="0"/>
              </a:rPr>
              <a:t>dans </a:t>
            </a:r>
            <a:r>
              <a:rPr lang="fr-FR" sz="2600" dirty="0" smtClean="0">
                <a:solidFill>
                  <a:srgbClr val="000000"/>
                </a:solidFill>
                <a:latin typeface="Tahoma" panose="020B0604030504040204" pitchFamily="34" charset="0"/>
              </a:rPr>
              <a:t>l'eau, </a:t>
            </a:r>
            <a:r>
              <a:rPr lang="fr-FR" sz="2600" dirty="0">
                <a:solidFill>
                  <a:srgbClr val="000000"/>
                </a:solidFill>
                <a:latin typeface="Tahoma" panose="020B0604030504040204" pitchFamily="34" charset="0"/>
              </a:rPr>
              <a:t>notamment aux heures </a:t>
            </a:r>
            <a:r>
              <a:rPr lang="fr-FR" sz="2600" dirty="0" smtClean="0">
                <a:solidFill>
                  <a:srgbClr val="000000"/>
                </a:solidFill>
                <a:latin typeface="Tahoma" panose="020B0604030504040204" pitchFamily="34" charset="0"/>
              </a:rPr>
              <a:t>chaudes </a:t>
            </a:r>
            <a:r>
              <a:rPr lang="fr-FR" sz="2600" dirty="0">
                <a:solidFill>
                  <a:srgbClr val="000000"/>
                </a:solidFill>
                <a:latin typeface="Tahoma" panose="020B0604030504040204" pitchFamily="34" charset="0"/>
              </a:rPr>
              <a:t>sont </a:t>
            </a:r>
            <a:r>
              <a:rPr lang="fr-FR" sz="2600" dirty="0" smtClean="0">
                <a:solidFill>
                  <a:srgbClr val="000000"/>
                </a:solidFill>
                <a:latin typeface="Tahoma" panose="020B0604030504040204" pitchFamily="34" charset="0"/>
              </a:rPr>
              <a:t>les </a:t>
            </a:r>
            <a:r>
              <a:rPr lang="fr-FR" sz="2600" dirty="0">
                <a:solidFill>
                  <a:srgbClr val="000000"/>
                </a:solidFill>
                <a:latin typeface="Tahoma" panose="020B0604030504040204" pitchFamily="34" charset="0"/>
              </a:rPr>
              <a:t>principaux responsables de l'infestation des mollusques</a:t>
            </a:r>
            <a:r>
              <a:rPr lang="fr-FR" sz="2600" dirty="0" smtClean="0">
                <a:solidFill>
                  <a:srgbClr val="000000"/>
                </a:solidFill>
                <a:latin typeface="Tahoma" panose="020B0604030504040204" pitchFamily="34" charset="0"/>
              </a:rPr>
              <a:t>.</a:t>
            </a:r>
          </a:p>
          <a:p>
            <a:pPr algn="just">
              <a:lnSpc>
                <a:spcPct val="150000"/>
              </a:lnSpc>
            </a:pPr>
            <a:r>
              <a:rPr lang="fr-FR" sz="2600" dirty="0" smtClean="0">
                <a:solidFill>
                  <a:srgbClr val="000000"/>
                </a:solidFill>
                <a:latin typeface="Tahoma" panose="020B0604030504040204" pitchFamily="34" charset="0"/>
              </a:rPr>
              <a:t> L'absence </a:t>
            </a:r>
            <a:r>
              <a:rPr lang="fr-FR" sz="2600" dirty="0">
                <a:solidFill>
                  <a:srgbClr val="000000"/>
                </a:solidFill>
                <a:latin typeface="Tahoma" panose="020B0604030504040204" pitchFamily="34" charset="0"/>
              </a:rPr>
              <a:t>d'hygiène fécale et urinaire favorisent évidemment l'endémie </a:t>
            </a:r>
            <a:r>
              <a:rPr lang="fr-FR" sz="2600" dirty="0" err="1">
                <a:solidFill>
                  <a:srgbClr val="000000"/>
                </a:solidFill>
                <a:latin typeface="Tahoma" panose="020B0604030504040204" pitchFamily="34" charset="0"/>
              </a:rPr>
              <a:t>Bilharzienne</a:t>
            </a:r>
            <a:r>
              <a:rPr lang="fr-FR" sz="2600" dirty="0" smtClean="0">
                <a:solidFill>
                  <a:srgbClr val="000000"/>
                </a:solidFill>
                <a:latin typeface="Tahoma" panose="020B0604030504040204" pitchFamily="34" charset="0"/>
              </a:rPr>
              <a:t>.</a:t>
            </a:r>
          </a:p>
          <a:p>
            <a:pPr algn="just">
              <a:lnSpc>
                <a:spcPct val="150000"/>
              </a:lnSpc>
            </a:pPr>
            <a:r>
              <a:rPr lang="fr-FR" sz="2600" dirty="0" smtClean="0">
                <a:solidFill>
                  <a:srgbClr val="000000"/>
                </a:solidFill>
                <a:latin typeface="Tahoma" panose="020B0604030504040204" pitchFamily="34" charset="0"/>
              </a:rPr>
              <a:t> L'extension des </a:t>
            </a:r>
            <a:r>
              <a:rPr lang="fr-FR" sz="2600" dirty="0">
                <a:solidFill>
                  <a:srgbClr val="000000"/>
                </a:solidFill>
                <a:latin typeface="Tahoma" panose="020B0604030504040204" pitchFamily="34" charset="0"/>
              </a:rPr>
              <a:t>cultures irriguées, les grands lacs de retenue des barrages hydro-électriques multiplient </a:t>
            </a:r>
            <a:r>
              <a:rPr lang="fr-FR" sz="2600" dirty="0" smtClean="0">
                <a:solidFill>
                  <a:srgbClr val="000000"/>
                </a:solidFill>
                <a:latin typeface="Tahoma" panose="020B0604030504040204" pitchFamily="34" charset="0"/>
              </a:rPr>
              <a:t>les gîtes </a:t>
            </a:r>
            <a:r>
              <a:rPr lang="fr-FR" sz="2600" dirty="0">
                <a:solidFill>
                  <a:srgbClr val="000000"/>
                </a:solidFill>
                <a:latin typeface="Tahoma" panose="020B0604030504040204" pitchFamily="34" charset="0"/>
              </a:rPr>
              <a:t>des mollusques.</a:t>
            </a:r>
            <a:endParaRPr lang="fr-FR" sz="2600" dirty="0"/>
          </a:p>
          <a:p>
            <a:endParaRPr lang="fr-FR" dirty="0"/>
          </a:p>
        </p:txBody>
      </p:sp>
    </p:spTree>
    <p:extLst>
      <p:ext uri="{BB962C8B-B14F-4D97-AF65-F5344CB8AC3E}">
        <p14:creationId xmlns:p14="http://schemas.microsoft.com/office/powerpoint/2010/main" val="40312337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7965" y="392290"/>
            <a:ext cx="9786648" cy="444836"/>
          </a:xfrm>
        </p:spPr>
        <p:txBody>
          <a:bodyPr>
            <a:noAutofit/>
          </a:bodyPr>
          <a:lstStyle/>
          <a:p>
            <a:pPr lvl="1" algn="l" defTabSz="457200" rtl="0">
              <a:spcBef>
                <a:spcPct val="0"/>
              </a:spcBef>
            </a:pPr>
            <a:r>
              <a:rPr lang="fr-FR" sz="2800" b="1" spc="10" dirty="0" smtClean="0">
                <a:solidFill>
                  <a:srgbClr val="000000"/>
                </a:solidFill>
                <a:latin typeface="Tahoma" panose="020B0604030504040204" pitchFamily="34" charset="0"/>
                <a:ea typeface="Times New Roman" panose="02020603050405020304" pitchFamily="18" charset="0"/>
              </a:rPr>
              <a:t>MODE DE CONTAMINATION / CYCLE PARASITAIRE</a:t>
            </a:r>
            <a:r>
              <a:rPr lang="fr-FR" sz="2800" spc="10" dirty="0" smtClean="0">
                <a:latin typeface="Times New Roman" panose="02020603050405020304" pitchFamily="18" charset="0"/>
                <a:ea typeface="Times New Roman" panose="02020603050405020304" pitchFamily="18" charset="0"/>
              </a:rPr>
              <a:t/>
            </a:r>
            <a:br>
              <a:rPr lang="fr-FR" sz="2800" spc="10" dirty="0" smtClean="0">
                <a:latin typeface="Times New Roman" panose="02020603050405020304" pitchFamily="18" charset="0"/>
                <a:ea typeface="Times New Roman" panose="02020603050405020304" pitchFamily="18" charset="0"/>
              </a:rPr>
            </a:br>
            <a:endParaRPr lang="fr-FR" sz="2800" dirty="0"/>
          </a:p>
        </p:txBody>
      </p:sp>
      <p:sp>
        <p:nvSpPr>
          <p:cNvPr id="3" name="Espace réservé du contenu 2"/>
          <p:cNvSpPr>
            <a:spLocks noGrp="1"/>
          </p:cNvSpPr>
          <p:nvPr>
            <p:ph idx="1"/>
          </p:nvPr>
        </p:nvSpPr>
        <p:spPr>
          <a:xfrm>
            <a:off x="1043189" y="940158"/>
            <a:ext cx="10612191" cy="5550793"/>
          </a:xfrm>
        </p:spPr>
        <p:txBody>
          <a:bodyPr>
            <a:noAutofit/>
          </a:bodyPr>
          <a:lstStyle/>
          <a:p>
            <a:pPr algn="just">
              <a:lnSpc>
                <a:spcPct val="150000"/>
              </a:lnSpc>
            </a:pPr>
            <a:r>
              <a:rPr lang="fr-FR" sz="3000" dirty="0">
                <a:solidFill>
                  <a:srgbClr val="000000"/>
                </a:solidFill>
                <a:latin typeface="Tahoma" panose="020B0604030504040204" pitchFamily="34" charset="0"/>
              </a:rPr>
              <a:t>Les œufs de bilharzies rejetés dans le milieu extérieur avec les selles ou les urines vont éclore dans l'eau douce, si les conditions favorables sont réunies (température de 25 à 30°C, ensoleillement, PH neutre).</a:t>
            </a:r>
            <a:endParaRPr lang="fr-FR" sz="3000" dirty="0"/>
          </a:p>
          <a:p>
            <a:pPr algn="just">
              <a:lnSpc>
                <a:spcPct val="150000"/>
              </a:lnSpc>
            </a:pPr>
            <a:r>
              <a:rPr lang="fr-FR" sz="3000" dirty="0">
                <a:solidFill>
                  <a:srgbClr val="000000"/>
                </a:solidFill>
                <a:latin typeface="Tahoma" panose="020B0604030504040204" pitchFamily="34" charset="0"/>
              </a:rPr>
              <a:t>Ils libèrent le miracidium qui va nager à la recherche de son </a:t>
            </a:r>
            <a:r>
              <a:rPr lang="fr-FR" sz="3000" dirty="0" smtClean="0">
                <a:solidFill>
                  <a:srgbClr val="000000"/>
                </a:solidFill>
                <a:latin typeface="Tahoma" panose="020B0604030504040204" pitchFamily="34" charset="0"/>
              </a:rPr>
              <a:t>Hôte Intermédiaire </a:t>
            </a:r>
            <a:r>
              <a:rPr lang="fr-FR" sz="3000" dirty="0">
                <a:solidFill>
                  <a:srgbClr val="000000"/>
                </a:solidFill>
                <a:latin typeface="Tahoma" panose="020B0604030504040204" pitchFamily="34" charset="0"/>
              </a:rPr>
              <a:t>spécifique. </a:t>
            </a:r>
            <a:r>
              <a:rPr lang="fr-FR" sz="3000" dirty="0" smtClean="0">
                <a:solidFill>
                  <a:srgbClr val="000000"/>
                </a:solidFill>
                <a:latin typeface="Tahoma" panose="020B0604030504040204" pitchFamily="34" charset="0"/>
              </a:rPr>
              <a:t>Celui-ci </a:t>
            </a:r>
            <a:r>
              <a:rPr lang="fr-FR" sz="3000" dirty="0">
                <a:solidFill>
                  <a:srgbClr val="000000"/>
                </a:solidFill>
                <a:latin typeface="Tahoma" panose="020B0604030504040204" pitchFamily="34" charset="0"/>
              </a:rPr>
              <a:t>après avoir pénétré dans le mollusque, </a:t>
            </a:r>
            <a:r>
              <a:rPr lang="fr-FR" sz="3000" dirty="0" smtClean="0">
                <a:solidFill>
                  <a:srgbClr val="000000"/>
                </a:solidFill>
                <a:latin typeface="Tahoma" panose="020B0604030504040204" pitchFamily="34" charset="0"/>
              </a:rPr>
              <a:t>bourgeonne et donne </a:t>
            </a:r>
            <a:r>
              <a:rPr lang="fr-FR" sz="3000" dirty="0">
                <a:solidFill>
                  <a:srgbClr val="000000"/>
                </a:solidFill>
                <a:latin typeface="Tahoma" panose="020B0604030504040204" pitchFamily="34" charset="0"/>
              </a:rPr>
              <a:t>des sporocystes </a:t>
            </a:r>
            <a:r>
              <a:rPr lang="fr-FR" sz="3000" dirty="0">
                <a:solidFill>
                  <a:schemeClr val="accent1"/>
                </a:solidFill>
                <a:latin typeface="Tahoma" panose="020B0604030504040204" pitchFamily="34" charset="0"/>
              </a:rPr>
              <a:t>(le miracidium ne survit pas dans l'eau au-delà de </a:t>
            </a:r>
            <a:r>
              <a:rPr lang="fr-FR" sz="3000" dirty="0" smtClean="0">
                <a:solidFill>
                  <a:schemeClr val="accent1"/>
                </a:solidFill>
                <a:latin typeface="Tahoma" panose="020B0604030504040204" pitchFamily="34" charset="0"/>
              </a:rPr>
              <a:t>48 H).</a:t>
            </a:r>
            <a:endParaRPr lang="fr-FR" sz="3000" dirty="0">
              <a:solidFill>
                <a:schemeClr val="accent1"/>
              </a:solidFill>
            </a:endParaRPr>
          </a:p>
        </p:txBody>
      </p:sp>
    </p:spTree>
    <p:extLst>
      <p:ext uri="{BB962C8B-B14F-4D97-AF65-F5344CB8AC3E}">
        <p14:creationId xmlns:p14="http://schemas.microsoft.com/office/powerpoint/2010/main" val="42540820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37855" y="624110"/>
            <a:ext cx="9966757" cy="844472"/>
          </a:xfrm>
        </p:spPr>
        <p:txBody>
          <a:bodyPr>
            <a:normAutofit/>
          </a:bodyPr>
          <a:lstStyle/>
          <a:p>
            <a:r>
              <a:rPr lang="fr-FR" sz="2400" b="1" spc="10" dirty="0">
                <a:solidFill>
                  <a:srgbClr val="000000"/>
                </a:solidFill>
                <a:latin typeface="Tahoma" panose="020B0604030504040204" pitchFamily="34" charset="0"/>
                <a:ea typeface="Times New Roman" panose="02020603050405020304" pitchFamily="18" charset="0"/>
              </a:rPr>
              <a:t>MODE DE CONTAMINATION / CYCLE </a:t>
            </a:r>
            <a:r>
              <a:rPr lang="fr-FR" sz="2400" b="1" spc="10" dirty="0" smtClean="0">
                <a:solidFill>
                  <a:srgbClr val="000000"/>
                </a:solidFill>
                <a:latin typeface="Tahoma" panose="020B0604030504040204" pitchFamily="34" charset="0"/>
                <a:ea typeface="Times New Roman" panose="02020603050405020304" pitchFamily="18" charset="0"/>
              </a:rPr>
              <a:t>PARASITAIRE (</a:t>
            </a:r>
            <a:r>
              <a:rPr lang="fr-FR" sz="2400" b="1" spc="10" dirty="0" smtClean="0">
                <a:solidFill>
                  <a:srgbClr val="FF0000"/>
                </a:solidFill>
                <a:latin typeface="Tahoma" panose="020B0604030504040204" pitchFamily="34" charset="0"/>
                <a:ea typeface="Times New Roman" panose="02020603050405020304" pitchFamily="18" charset="0"/>
              </a:rPr>
              <a:t>suite</a:t>
            </a:r>
            <a:r>
              <a:rPr lang="fr-FR" sz="2400" b="1" spc="10" dirty="0" smtClean="0">
                <a:solidFill>
                  <a:srgbClr val="000000"/>
                </a:solidFill>
                <a:latin typeface="Tahoma" panose="020B0604030504040204" pitchFamily="34" charset="0"/>
                <a:ea typeface="Times New Roman" panose="02020603050405020304" pitchFamily="18" charset="0"/>
              </a:rPr>
              <a:t>)</a:t>
            </a:r>
            <a:endParaRPr lang="fr-FR" sz="2400" dirty="0"/>
          </a:p>
        </p:txBody>
      </p:sp>
      <p:sp>
        <p:nvSpPr>
          <p:cNvPr id="3" name="Espace réservé du contenu 2"/>
          <p:cNvSpPr>
            <a:spLocks noGrp="1"/>
          </p:cNvSpPr>
          <p:nvPr>
            <p:ph idx="1"/>
          </p:nvPr>
        </p:nvSpPr>
        <p:spPr>
          <a:xfrm>
            <a:off x="1537855" y="1607127"/>
            <a:ext cx="9966757" cy="4682837"/>
          </a:xfrm>
        </p:spPr>
        <p:txBody>
          <a:bodyPr>
            <a:normAutofit fontScale="92500" lnSpcReduction="20000"/>
          </a:bodyPr>
          <a:lstStyle/>
          <a:p>
            <a:pPr algn="just">
              <a:lnSpc>
                <a:spcPct val="150000"/>
              </a:lnSpc>
            </a:pPr>
            <a:r>
              <a:rPr lang="fr-FR" sz="3200" dirty="0">
                <a:solidFill>
                  <a:srgbClr val="000000"/>
                </a:solidFill>
                <a:latin typeface="Tahoma" panose="020B0604030504040204" pitchFamily="34" charset="0"/>
              </a:rPr>
              <a:t>La suite du développement s'effectue dans </a:t>
            </a:r>
            <a:r>
              <a:rPr lang="fr-FR" sz="3200" dirty="0" smtClean="0">
                <a:solidFill>
                  <a:srgbClr val="000000"/>
                </a:solidFill>
                <a:latin typeface="Tahoma" panose="020B0604030504040204" pitchFamily="34" charset="0"/>
              </a:rPr>
              <a:t>l'hépatopancréas du </a:t>
            </a:r>
            <a:r>
              <a:rPr lang="fr-FR" sz="3200" dirty="0" err="1" smtClean="0">
                <a:solidFill>
                  <a:srgbClr val="000000"/>
                </a:solidFill>
                <a:latin typeface="Tahoma" panose="020B0604030504040204" pitchFamily="34" charset="0"/>
              </a:rPr>
              <a:t>molusque</a:t>
            </a:r>
            <a:r>
              <a:rPr lang="fr-FR" sz="3200" dirty="0" smtClean="0">
                <a:solidFill>
                  <a:srgbClr val="000000"/>
                </a:solidFill>
                <a:latin typeface="Tahoma" panose="020B0604030504040204" pitchFamily="34" charset="0"/>
              </a:rPr>
              <a:t> </a:t>
            </a:r>
            <a:r>
              <a:rPr lang="fr-FR" sz="3200" dirty="0">
                <a:solidFill>
                  <a:srgbClr val="000000"/>
                </a:solidFill>
                <a:latin typeface="Tahoma" panose="020B0604030504040204" pitchFamily="34" charset="0"/>
              </a:rPr>
              <a:t>et aboutit à la formation des </a:t>
            </a:r>
            <a:r>
              <a:rPr lang="fr-FR" sz="3200" dirty="0" err="1">
                <a:solidFill>
                  <a:srgbClr val="000000"/>
                </a:solidFill>
                <a:latin typeface="Tahoma" panose="020B0604030504040204" pitchFamily="34" charset="0"/>
              </a:rPr>
              <a:t>furcocecaires</a:t>
            </a:r>
            <a:r>
              <a:rPr lang="fr-FR" sz="3200" dirty="0">
                <a:solidFill>
                  <a:srgbClr val="000000"/>
                </a:solidFill>
                <a:latin typeface="Tahoma" panose="020B0604030504040204" pitchFamily="34" charset="0"/>
              </a:rPr>
              <a:t>, larves à queue fourchue.</a:t>
            </a:r>
          </a:p>
          <a:p>
            <a:pPr algn="just">
              <a:lnSpc>
                <a:spcPct val="150000"/>
              </a:lnSpc>
            </a:pPr>
            <a:r>
              <a:rPr lang="fr-FR" sz="3200" dirty="0">
                <a:solidFill>
                  <a:srgbClr val="000000"/>
                </a:solidFill>
                <a:latin typeface="Tahoma" panose="020B0604030504040204" pitchFamily="34" charset="0"/>
              </a:rPr>
              <a:t>Celles-ci s'échappent du mollusque pour passer dans l'eau avant de pénétrer chez l'hôte définitif par la peau.</a:t>
            </a:r>
            <a:endParaRPr lang="fr-FR" sz="3200" dirty="0"/>
          </a:p>
          <a:p>
            <a:pPr algn="just">
              <a:lnSpc>
                <a:spcPct val="150000"/>
              </a:lnSpc>
            </a:pPr>
            <a:r>
              <a:rPr lang="fr-FR" sz="3200" dirty="0">
                <a:solidFill>
                  <a:srgbClr val="000000"/>
                </a:solidFill>
                <a:latin typeface="Tahoma" panose="020B0604030504040204" pitchFamily="34" charset="0"/>
              </a:rPr>
              <a:t>La </a:t>
            </a:r>
            <a:r>
              <a:rPr lang="fr-FR" sz="3200" dirty="0">
                <a:solidFill>
                  <a:schemeClr val="accent1"/>
                </a:solidFill>
                <a:latin typeface="Tahoma" panose="020B0604030504040204" pitchFamily="34" charset="0"/>
              </a:rPr>
              <a:t>durée totale du cycle chez le mollusque est d'un mois</a:t>
            </a:r>
            <a:r>
              <a:rPr lang="fr-FR" sz="3200" dirty="0">
                <a:solidFill>
                  <a:srgbClr val="000000"/>
                </a:solidFill>
                <a:latin typeface="Tahoma" panose="020B0604030504040204" pitchFamily="34" charset="0"/>
              </a:rPr>
              <a:t>.</a:t>
            </a:r>
            <a:endParaRPr lang="fr-FR" sz="3200" dirty="0"/>
          </a:p>
          <a:p>
            <a:endParaRPr lang="fr-FR" sz="3200" dirty="0"/>
          </a:p>
          <a:p>
            <a:endParaRPr lang="fr-FR" dirty="0"/>
          </a:p>
        </p:txBody>
      </p:sp>
    </p:spTree>
    <p:extLst>
      <p:ext uri="{BB962C8B-B14F-4D97-AF65-F5344CB8AC3E}">
        <p14:creationId xmlns:p14="http://schemas.microsoft.com/office/powerpoint/2010/main" val="36837617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62884" y="679937"/>
            <a:ext cx="10882647" cy="609601"/>
          </a:xfrm>
        </p:spPr>
        <p:txBody>
          <a:bodyPr>
            <a:noAutofit/>
          </a:bodyPr>
          <a:lstStyle/>
          <a:p>
            <a:pPr lvl="1" algn="l" defTabSz="457200" rtl="0">
              <a:spcBef>
                <a:spcPct val="0"/>
              </a:spcBef>
            </a:pPr>
            <a:r>
              <a:rPr lang="fr-FR" sz="28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LES DIFFÉRENTES PHASES DE LA SYMPTOMATOLOGIE DE LA BILHARZIOSE</a:t>
            </a:r>
            <a:r>
              <a:rPr lang="fr-FR" sz="2800" dirty="0" smtClean="0">
                <a:solidFill>
                  <a:srgbClr val="000000"/>
                </a:solidFill>
                <a:latin typeface="Courier New" panose="02070309020205020404" pitchFamily="49" charset="0"/>
                <a:ea typeface="Calibri" panose="020F0502020204030204" pitchFamily="34" charset="0"/>
              </a:rPr>
              <a:t/>
            </a:r>
            <a:br>
              <a:rPr lang="fr-FR" sz="2800" dirty="0" smtClean="0">
                <a:solidFill>
                  <a:srgbClr val="000000"/>
                </a:solidFill>
                <a:latin typeface="Courier New" panose="02070309020205020404" pitchFamily="49" charset="0"/>
                <a:ea typeface="Calibri" panose="020F0502020204030204" pitchFamily="34" charset="0"/>
              </a:rPr>
            </a:br>
            <a:endParaRPr lang="fr-FR" sz="2800" dirty="0"/>
          </a:p>
        </p:txBody>
      </p:sp>
      <p:sp>
        <p:nvSpPr>
          <p:cNvPr id="3" name="Espace réservé du contenu 2"/>
          <p:cNvSpPr>
            <a:spLocks noGrp="1"/>
          </p:cNvSpPr>
          <p:nvPr>
            <p:ph idx="1"/>
          </p:nvPr>
        </p:nvSpPr>
        <p:spPr>
          <a:xfrm>
            <a:off x="862884" y="1635901"/>
            <a:ext cx="10882647" cy="4778754"/>
          </a:xfrm>
        </p:spPr>
        <p:txBody>
          <a:bodyPr>
            <a:noAutofit/>
          </a:bodyPr>
          <a:lstStyle/>
          <a:p>
            <a:pPr algn="just">
              <a:lnSpc>
                <a:spcPct val="170000"/>
              </a:lnSpc>
              <a:buFont typeface="Wingdings" panose="05000000000000000000" pitchFamily="2" charset="2"/>
              <a:buChar char="Ø"/>
            </a:pPr>
            <a:r>
              <a:rPr lang="fr-FR" sz="3200" dirty="0" smtClean="0">
                <a:solidFill>
                  <a:srgbClr val="000000"/>
                </a:solidFill>
                <a:latin typeface="Articulate" panose="02000503040000020004" pitchFamily="2" charset="0"/>
              </a:rPr>
              <a:t>La première phase </a:t>
            </a:r>
            <a:r>
              <a:rPr lang="fr-FR" sz="3200" dirty="0">
                <a:solidFill>
                  <a:srgbClr val="000000"/>
                </a:solidFill>
                <a:latin typeface="Articulate" panose="02000503040000020004" pitchFamily="2" charset="0"/>
              </a:rPr>
              <a:t>appelée </a:t>
            </a:r>
            <a:r>
              <a:rPr lang="fr-FR" sz="3200" dirty="0" smtClean="0">
                <a:solidFill>
                  <a:srgbClr val="000000"/>
                </a:solidFill>
                <a:latin typeface="Articulate" panose="02000503040000020004" pitchFamily="2" charset="0"/>
              </a:rPr>
              <a:t>P. </a:t>
            </a:r>
            <a:r>
              <a:rPr lang="fr-FR" sz="3200" dirty="0">
                <a:solidFill>
                  <a:srgbClr val="000000"/>
                </a:solidFill>
                <a:latin typeface="Articulate" panose="02000503040000020004" pitchFamily="2" charset="0"/>
              </a:rPr>
              <a:t>de pénétration ou </a:t>
            </a:r>
            <a:r>
              <a:rPr lang="fr-FR" sz="3200" dirty="0" smtClean="0">
                <a:solidFill>
                  <a:srgbClr val="000000"/>
                </a:solidFill>
                <a:latin typeface="Articulate" panose="02000503040000020004" pitchFamily="2" charset="0"/>
              </a:rPr>
              <a:t>P. initiale </a:t>
            </a:r>
            <a:r>
              <a:rPr lang="fr-FR" sz="3200" spc="25" dirty="0" smtClean="0">
                <a:solidFill>
                  <a:srgbClr val="000000"/>
                </a:solidFill>
                <a:latin typeface="Articulate" panose="02000503040000020004" pitchFamily="2" charset="0"/>
                <a:ea typeface="Calibri" panose="020F0502020204030204" pitchFamily="34" charset="0"/>
                <a:cs typeface="Times New Roman" panose="02020603050405020304" pitchFamily="18" charset="0"/>
              </a:rPr>
              <a:t>ou encore P. d'incubation</a:t>
            </a:r>
            <a:r>
              <a:rPr lang="fr-FR" sz="3200" dirty="0" smtClean="0">
                <a:solidFill>
                  <a:srgbClr val="000000"/>
                </a:solidFill>
                <a:latin typeface="Articulate" panose="02000503040000020004" pitchFamily="2" charset="0"/>
              </a:rPr>
              <a:t> correspond </a:t>
            </a:r>
            <a:r>
              <a:rPr lang="fr-FR" sz="3200" dirty="0">
                <a:solidFill>
                  <a:srgbClr val="000000"/>
                </a:solidFill>
                <a:latin typeface="Articulate" panose="02000503040000020004" pitchFamily="2" charset="0"/>
              </a:rPr>
              <a:t>à la pénétration transcutanée des </a:t>
            </a:r>
            <a:r>
              <a:rPr lang="fr-FR" sz="3200" dirty="0" err="1">
                <a:solidFill>
                  <a:srgbClr val="000000"/>
                </a:solidFill>
                <a:latin typeface="Articulate" panose="02000503040000020004" pitchFamily="2" charset="0"/>
              </a:rPr>
              <a:t>furcocecaires</a:t>
            </a:r>
            <a:r>
              <a:rPr lang="fr-FR" sz="3200" dirty="0">
                <a:solidFill>
                  <a:srgbClr val="000000"/>
                </a:solidFill>
                <a:latin typeface="Articulate" panose="02000503040000020004" pitchFamily="2" charset="0"/>
              </a:rPr>
              <a:t>, c'est la </a:t>
            </a:r>
            <a:r>
              <a:rPr lang="fr-FR" sz="3200" dirty="0" smtClean="0">
                <a:solidFill>
                  <a:srgbClr val="000000"/>
                </a:solidFill>
                <a:latin typeface="Articulate" panose="02000503040000020004" pitchFamily="2" charset="0"/>
              </a:rPr>
              <a:t>dermatite </a:t>
            </a:r>
            <a:r>
              <a:rPr lang="fr-FR" sz="3200" dirty="0" err="1" smtClean="0">
                <a:solidFill>
                  <a:srgbClr val="000000"/>
                </a:solidFill>
                <a:latin typeface="Articulate" panose="02000503040000020004" pitchFamily="2" charset="0"/>
              </a:rPr>
              <a:t>cercarienne</a:t>
            </a:r>
            <a:r>
              <a:rPr lang="fr-FR" sz="3200" dirty="0" smtClean="0">
                <a:solidFill>
                  <a:srgbClr val="000000"/>
                </a:solidFill>
                <a:latin typeface="Articulate" panose="02000503040000020004" pitchFamily="2" charset="0"/>
              </a:rPr>
              <a:t> </a:t>
            </a:r>
            <a:r>
              <a:rPr lang="fr-FR" sz="3200" dirty="0">
                <a:solidFill>
                  <a:srgbClr val="000000"/>
                </a:solidFill>
                <a:latin typeface="Articulate" panose="02000503040000020004" pitchFamily="2" charset="0"/>
              </a:rPr>
              <a:t>le plus souvent discrète, voire inapparente</a:t>
            </a:r>
            <a:r>
              <a:rPr lang="fr-FR" sz="3200" dirty="0" smtClean="0">
                <a:solidFill>
                  <a:srgbClr val="000000"/>
                </a:solidFill>
                <a:latin typeface="Articulate" panose="02000503040000020004" pitchFamily="2" charset="0"/>
              </a:rPr>
              <a:t>.</a:t>
            </a:r>
            <a:endParaRPr lang="fr-FR" sz="3200" dirty="0">
              <a:latin typeface="Articulate" panose="02000503040000020004" pitchFamily="2" charset="0"/>
            </a:endParaRPr>
          </a:p>
          <a:p>
            <a:endParaRPr lang="fr-FR" sz="800" dirty="0"/>
          </a:p>
        </p:txBody>
      </p:sp>
    </p:spTree>
    <p:extLst>
      <p:ext uri="{BB962C8B-B14F-4D97-AF65-F5344CB8AC3E}">
        <p14:creationId xmlns:p14="http://schemas.microsoft.com/office/powerpoint/2010/main" val="32738804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43891" y="624111"/>
            <a:ext cx="10160722" cy="553526"/>
          </a:xfrm>
        </p:spPr>
        <p:txBody>
          <a:bodyPr>
            <a:noAutofit/>
          </a:bodyPr>
          <a:lstStyle/>
          <a:p>
            <a:r>
              <a:rPr lang="fr-FR" sz="2000" b="1" spc="25" dirty="0">
                <a:solidFill>
                  <a:srgbClr val="FF0000"/>
                </a:solidFill>
                <a:latin typeface="Tahoma" panose="020B0604030504040204" pitchFamily="34" charset="0"/>
                <a:ea typeface="Calibri" panose="020F0502020204030204" pitchFamily="34" charset="0"/>
                <a:cs typeface="Times New Roman" panose="02020603050405020304" pitchFamily="18" charset="0"/>
              </a:rPr>
              <a:t>LES DIFFÉRENTES PHASES DE LA SYMPTOMATOLOGIE DE LA BILHARZIOSE</a:t>
            </a:r>
            <a:r>
              <a:rPr lang="fr-FR" sz="2800" dirty="0">
                <a:solidFill>
                  <a:srgbClr val="FF0000"/>
                </a:solidFill>
                <a:latin typeface="Courier New" panose="02070309020205020404" pitchFamily="49" charset="0"/>
                <a:ea typeface="Calibri" panose="020F0502020204030204" pitchFamily="34" charset="0"/>
              </a:rPr>
              <a:t/>
            </a:r>
            <a:br>
              <a:rPr lang="fr-FR" sz="2800" dirty="0">
                <a:solidFill>
                  <a:srgbClr val="FF0000"/>
                </a:solidFill>
                <a:latin typeface="Courier New" panose="02070309020205020404" pitchFamily="49" charset="0"/>
                <a:ea typeface="Calibri" panose="020F0502020204030204" pitchFamily="34" charset="0"/>
              </a:rPr>
            </a:br>
            <a:endParaRPr lang="fr-FR" sz="2800" dirty="0">
              <a:solidFill>
                <a:srgbClr val="FF0000"/>
              </a:solidFill>
            </a:endParaRPr>
          </a:p>
        </p:txBody>
      </p:sp>
      <p:sp>
        <p:nvSpPr>
          <p:cNvPr id="3" name="Espace réservé du contenu 2"/>
          <p:cNvSpPr>
            <a:spLocks noGrp="1"/>
          </p:cNvSpPr>
          <p:nvPr>
            <p:ph idx="1"/>
          </p:nvPr>
        </p:nvSpPr>
        <p:spPr>
          <a:xfrm>
            <a:off x="1066801" y="1177637"/>
            <a:ext cx="10437812" cy="5140036"/>
          </a:xfrm>
        </p:spPr>
        <p:txBody>
          <a:bodyPr>
            <a:noAutofit/>
          </a:bodyPr>
          <a:lstStyle/>
          <a:p>
            <a:pPr algn="just">
              <a:lnSpc>
                <a:spcPct val="170000"/>
              </a:lnSpc>
              <a:buFont typeface="Wingdings" panose="05000000000000000000" pitchFamily="2" charset="2"/>
              <a:buChar char="Ø"/>
            </a:pPr>
            <a:r>
              <a:rPr lang="fr-FR" sz="2700" dirty="0">
                <a:solidFill>
                  <a:srgbClr val="000000"/>
                </a:solidFill>
                <a:latin typeface="Articulate" panose="02000503040000020004" pitchFamily="2" charset="0"/>
              </a:rPr>
              <a:t>La seconde phase appelée phase d’invasion est contemporaine de la migration et </a:t>
            </a:r>
            <a:r>
              <a:rPr lang="fr-FR" sz="2700" dirty="0" smtClean="0">
                <a:solidFill>
                  <a:srgbClr val="000000"/>
                </a:solidFill>
                <a:latin typeface="Articulate" panose="02000503040000020004" pitchFamily="2" charset="0"/>
              </a:rPr>
              <a:t>des transformations </a:t>
            </a:r>
            <a:r>
              <a:rPr lang="fr-FR" sz="2700" dirty="0">
                <a:solidFill>
                  <a:srgbClr val="000000"/>
                </a:solidFill>
                <a:latin typeface="Articulate" panose="02000503040000020004" pitchFamily="2" charset="0"/>
              </a:rPr>
              <a:t>de la </a:t>
            </a:r>
            <a:r>
              <a:rPr lang="fr-FR" sz="2700" dirty="0" err="1">
                <a:solidFill>
                  <a:srgbClr val="000000"/>
                </a:solidFill>
                <a:latin typeface="Articulate" panose="02000503040000020004" pitchFamily="2" charset="0"/>
              </a:rPr>
              <a:t>Schistosomule</a:t>
            </a:r>
            <a:r>
              <a:rPr lang="fr-FR" sz="2700" dirty="0">
                <a:solidFill>
                  <a:srgbClr val="000000"/>
                </a:solidFill>
                <a:latin typeface="Articulate" panose="02000503040000020004" pitchFamily="2" charset="0"/>
              </a:rPr>
              <a:t>. Elle correspond aux réactions de l'organisme mis en contact avec les substances antigéniques et toxiques des vers. </a:t>
            </a:r>
            <a:r>
              <a:rPr lang="fr-FR" sz="2700" dirty="0">
                <a:latin typeface="Articulate" panose="02000503040000020004" pitchFamily="2" charset="0"/>
              </a:rPr>
              <a:t>Six</a:t>
            </a:r>
            <a:r>
              <a:rPr lang="fr-FR" sz="2700" dirty="0">
                <a:solidFill>
                  <a:srgbClr val="000000"/>
                </a:solidFill>
                <a:latin typeface="Articulate" panose="02000503040000020004" pitchFamily="2" charset="0"/>
              </a:rPr>
              <a:t> (06) semaines après l'incubation, l'on observe :des phénomènes allergies avec de la fièvre, des sueurs, et des céphalées. On peut noter également des </a:t>
            </a:r>
            <a:r>
              <a:rPr lang="fr-FR" sz="2400" dirty="0">
                <a:solidFill>
                  <a:srgbClr val="FF0000"/>
                </a:solidFill>
                <a:latin typeface="Articulate" panose="02000503040000020004" pitchFamily="2" charset="0"/>
              </a:rPr>
              <a:t>arthralgies</a:t>
            </a:r>
            <a:r>
              <a:rPr lang="fr-FR" sz="2400" dirty="0">
                <a:solidFill>
                  <a:srgbClr val="000000"/>
                </a:solidFill>
                <a:latin typeface="Articulate" panose="02000503040000020004" pitchFamily="2" charset="0"/>
              </a:rPr>
              <a:t>, des </a:t>
            </a:r>
            <a:r>
              <a:rPr lang="fr-FR" sz="2400" dirty="0">
                <a:solidFill>
                  <a:srgbClr val="FF0000"/>
                </a:solidFill>
                <a:latin typeface="Articulate" panose="02000503040000020004" pitchFamily="2" charset="0"/>
              </a:rPr>
              <a:t>myalgies</a:t>
            </a:r>
            <a:r>
              <a:rPr lang="fr-FR" sz="2400" dirty="0">
                <a:solidFill>
                  <a:srgbClr val="000000"/>
                </a:solidFill>
                <a:latin typeface="Articulate" panose="02000503040000020004" pitchFamily="2" charset="0"/>
              </a:rPr>
              <a:t>, de la toux, de la </a:t>
            </a:r>
            <a:r>
              <a:rPr lang="fr-FR" sz="2400" dirty="0">
                <a:solidFill>
                  <a:srgbClr val="FF0000"/>
                </a:solidFill>
                <a:latin typeface="Articulate" panose="02000503040000020004" pitchFamily="2" charset="0"/>
              </a:rPr>
              <a:t>dyspnée </a:t>
            </a:r>
            <a:r>
              <a:rPr lang="fr-FR" sz="2400" dirty="0">
                <a:solidFill>
                  <a:srgbClr val="000000"/>
                </a:solidFill>
                <a:latin typeface="Articulate" panose="02000503040000020004" pitchFamily="2" charset="0"/>
              </a:rPr>
              <a:t>et de la diarrhée.</a:t>
            </a:r>
            <a:endParaRPr lang="fr-FR" sz="2400" dirty="0">
              <a:latin typeface="Articulate" panose="02000503040000020004" pitchFamily="2" charset="0"/>
            </a:endParaRPr>
          </a:p>
        </p:txBody>
      </p:sp>
    </p:spTree>
    <p:extLst>
      <p:ext uri="{BB962C8B-B14F-4D97-AF65-F5344CB8AC3E}">
        <p14:creationId xmlns:p14="http://schemas.microsoft.com/office/powerpoint/2010/main" val="13439918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92037" y="624110"/>
            <a:ext cx="9412576" cy="676656"/>
          </a:xfrm>
        </p:spPr>
        <p:txBody>
          <a:bodyPr>
            <a:normAutofit fontScale="90000"/>
          </a:bodyPr>
          <a:lstStyle/>
          <a:p>
            <a:pPr lvl="2" algn="l" defTabSz="457200" rtl="0">
              <a:spcBef>
                <a:spcPct val="0"/>
              </a:spcBef>
            </a:pPr>
            <a:r>
              <a:rPr lang="fr-FR" sz="3200" b="1" dirty="0" smtClean="0">
                <a:solidFill>
                  <a:srgbClr val="000000"/>
                </a:solidFill>
                <a:latin typeface="Tahoma" panose="020B0604030504040204" pitchFamily="34" charset="0"/>
                <a:ea typeface="Calibri" panose="020F0502020204030204" pitchFamily="34" charset="0"/>
              </a:rPr>
              <a:t>BILHARZIOSE À SCHISTOSOMA HAEMATOBIUM</a:t>
            </a:r>
            <a:r>
              <a:rPr lang="fr-FR" sz="3200" b="1" dirty="0" smtClean="0">
                <a:solidFill>
                  <a:srgbClr val="000000"/>
                </a:solidFill>
                <a:latin typeface="Courier New" panose="02070309020205020404" pitchFamily="49" charset="0"/>
                <a:ea typeface="Calibri" panose="020F0502020204030204" pitchFamily="34" charset="0"/>
              </a:rPr>
              <a:t/>
            </a:r>
            <a:br>
              <a:rPr lang="fr-FR" sz="3200" b="1" dirty="0" smtClean="0">
                <a:solidFill>
                  <a:srgbClr val="000000"/>
                </a:solidFill>
                <a:latin typeface="Courier New" panose="02070309020205020404" pitchFamily="49" charset="0"/>
                <a:ea typeface="Calibri" panose="020F0502020204030204" pitchFamily="34" charset="0"/>
              </a:rPr>
            </a:br>
            <a:endParaRPr lang="fr-FR" b="1" dirty="0"/>
          </a:p>
        </p:txBody>
      </p:sp>
      <p:sp>
        <p:nvSpPr>
          <p:cNvPr id="3" name="Espace réservé du contenu 2"/>
          <p:cNvSpPr>
            <a:spLocks noGrp="1"/>
          </p:cNvSpPr>
          <p:nvPr>
            <p:ph idx="1"/>
          </p:nvPr>
        </p:nvSpPr>
        <p:spPr>
          <a:xfrm>
            <a:off x="695459" y="1455313"/>
            <a:ext cx="10809153" cy="4687910"/>
          </a:xfrm>
        </p:spPr>
        <p:txBody>
          <a:bodyPr>
            <a:normAutofit fontScale="25000" lnSpcReduction="20000"/>
          </a:bodyPr>
          <a:lstStyle/>
          <a:p>
            <a:pPr marL="457200" lvl="1" indent="0" algn="just">
              <a:lnSpc>
                <a:spcPct val="150000"/>
              </a:lnSpc>
              <a:buNone/>
            </a:pPr>
            <a:r>
              <a:rPr lang="fr-FR" sz="9600"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Phase d'état</a:t>
            </a:r>
            <a:endParaRPr lang="fr-FR" sz="9600" dirty="0">
              <a:solidFill>
                <a:srgbClr val="000000"/>
              </a:solidFill>
              <a:latin typeface="Courier New" panose="02070309020205020404" pitchFamily="49" charset="0"/>
              <a:ea typeface="Calibri" panose="020F0502020204030204" pitchFamily="34" charset="0"/>
            </a:endParaRPr>
          </a:p>
          <a:p>
            <a:pPr algn="just">
              <a:lnSpc>
                <a:spcPct val="170000"/>
              </a:lnSpc>
            </a:pPr>
            <a:r>
              <a:rPr lang="fr-FR" sz="11200" dirty="0" smtClean="0">
                <a:solidFill>
                  <a:srgbClr val="000000"/>
                </a:solidFill>
                <a:latin typeface="Tahoma" panose="020B0604030504040204" pitchFamily="34" charset="0"/>
              </a:rPr>
              <a:t>Le </a:t>
            </a:r>
            <a:r>
              <a:rPr lang="fr-FR" sz="11200" dirty="0">
                <a:solidFill>
                  <a:srgbClr val="000000"/>
                </a:solidFill>
                <a:latin typeface="Tahoma" panose="020B0604030504040204" pitchFamily="34" charset="0"/>
              </a:rPr>
              <a:t>signe évocateur est </a:t>
            </a:r>
            <a:r>
              <a:rPr lang="fr-FR" sz="11200" dirty="0">
                <a:solidFill>
                  <a:srgbClr val="FF0000"/>
                </a:solidFill>
                <a:latin typeface="Tahoma" panose="020B0604030504040204" pitchFamily="34" charset="0"/>
              </a:rPr>
              <a:t>l’hématurie macroscopique </a:t>
            </a:r>
            <a:r>
              <a:rPr lang="fr-FR" sz="11200" dirty="0">
                <a:solidFill>
                  <a:srgbClr val="000000"/>
                </a:solidFill>
                <a:latin typeface="Tahoma" panose="020B0604030504040204" pitchFamily="34" charset="0"/>
              </a:rPr>
              <a:t>avec des caractéristiques particulières : Il s'agit d'une </a:t>
            </a:r>
            <a:r>
              <a:rPr lang="fr-FR" sz="11200" dirty="0">
                <a:solidFill>
                  <a:srgbClr val="FF0000"/>
                </a:solidFill>
                <a:latin typeface="Tahoma" panose="020B0604030504040204" pitchFamily="34" charset="0"/>
              </a:rPr>
              <a:t>hématurie terminale</a:t>
            </a:r>
            <a:r>
              <a:rPr lang="fr-FR" sz="11200" dirty="0">
                <a:solidFill>
                  <a:srgbClr val="000000"/>
                </a:solidFill>
                <a:latin typeface="Tahoma" panose="020B0604030504040204" pitchFamily="34" charset="0"/>
              </a:rPr>
              <a:t>, capricieuse, douloureuse, intermittente, récidivante, pouvant évoluer pendant plusieurs mois.</a:t>
            </a:r>
            <a:endParaRPr lang="fr-FR" sz="11200" dirty="0"/>
          </a:p>
          <a:p>
            <a:pPr algn="just">
              <a:lnSpc>
                <a:spcPct val="170000"/>
              </a:lnSpc>
            </a:pPr>
            <a:r>
              <a:rPr lang="fr-FR" sz="11200" dirty="0">
                <a:solidFill>
                  <a:srgbClr val="000000"/>
                </a:solidFill>
                <a:latin typeface="Tahoma" panose="020B0604030504040204" pitchFamily="34" charset="0"/>
              </a:rPr>
              <a:t>Les signes d'une </a:t>
            </a:r>
            <a:r>
              <a:rPr lang="fr-FR" sz="11200" dirty="0">
                <a:solidFill>
                  <a:srgbClr val="FF0000"/>
                </a:solidFill>
                <a:latin typeface="Tahoma" panose="020B0604030504040204" pitchFamily="34" charset="0"/>
              </a:rPr>
              <a:t>cystite </a:t>
            </a:r>
            <a:r>
              <a:rPr lang="fr-FR" sz="11200" dirty="0">
                <a:solidFill>
                  <a:srgbClr val="000000"/>
                </a:solidFill>
                <a:latin typeface="Tahoma" panose="020B0604030504040204" pitchFamily="34" charset="0"/>
              </a:rPr>
              <a:t>: dysurie, </a:t>
            </a:r>
            <a:r>
              <a:rPr lang="fr-FR" sz="11200" dirty="0">
                <a:solidFill>
                  <a:srgbClr val="0070C0"/>
                </a:solidFill>
                <a:latin typeface="Tahoma" panose="020B0604030504040204" pitchFamily="34" charset="0"/>
              </a:rPr>
              <a:t>pollakiurie</a:t>
            </a:r>
            <a:r>
              <a:rPr lang="fr-FR" sz="11200" dirty="0">
                <a:solidFill>
                  <a:srgbClr val="000000"/>
                </a:solidFill>
                <a:latin typeface="Tahoma" panose="020B0604030504040204" pitchFamily="34" charset="0"/>
              </a:rPr>
              <a:t>, des douleurs sus-pelviennes, </a:t>
            </a:r>
            <a:r>
              <a:rPr lang="fr-FR" sz="11200" dirty="0" smtClean="0">
                <a:solidFill>
                  <a:srgbClr val="000000"/>
                </a:solidFill>
                <a:latin typeface="Tahoma" panose="020B0604030504040204" pitchFamily="34" charset="0"/>
              </a:rPr>
              <a:t>exacerbées </a:t>
            </a:r>
            <a:r>
              <a:rPr lang="fr-FR" sz="11200" dirty="0">
                <a:solidFill>
                  <a:srgbClr val="000000"/>
                </a:solidFill>
                <a:latin typeface="Tahoma" panose="020B0604030504040204" pitchFamily="34" charset="0"/>
              </a:rPr>
              <a:t>par la miction obligent parfois le malade à se courber en deux.</a:t>
            </a:r>
            <a:endParaRPr lang="fr-FR" sz="11200" dirty="0"/>
          </a:p>
          <a:p>
            <a:endParaRPr lang="fr-FR" dirty="0"/>
          </a:p>
        </p:txBody>
      </p:sp>
    </p:spTree>
    <p:extLst>
      <p:ext uri="{BB962C8B-B14F-4D97-AF65-F5344CB8AC3E}">
        <p14:creationId xmlns:p14="http://schemas.microsoft.com/office/powerpoint/2010/main" val="6922895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63777"/>
          </a:xfrm>
        </p:spPr>
        <p:txBody>
          <a:bodyPr>
            <a:normAutofit/>
          </a:bodyPr>
          <a:lstStyle/>
          <a:p>
            <a:pPr lvl="2" algn="l" defTabSz="457200" rtl="0">
              <a:spcBef>
                <a:spcPct val="0"/>
              </a:spcBef>
            </a:pPr>
            <a:r>
              <a:rPr lang="fr-FR" sz="3200" b="1" dirty="0" smtClean="0">
                <a:solidFill>
                  <a:srgbClr val="000000"/>
                </a:solidFill>
                <a:latin typeface="Tahoma" panose="020B0604030504040204" pitchFamily="34" charset="0"/>
                <a:ea typeface="Calibri" panose="020F0502020204030204" pitchFamily="34" charset="0"/>
              </a:rPr>
              <a:t>BILHARZIOSE À SCHISTOSOMA MANSONI</a:t>
            </a:r>
            <a:endParaRPr lang="fr-FR" sz="3200" b="1" dirty="0"/>
          </a:p>
        </p:txBody>
      </p:sp>
      <p:sp>
        <p:nvSpPr>
          <p:cNvPr id="3" name="Espace réservé du contenu 2"/>
          <p:cNvSpPr>
            <a:spLocks noGrp="1"/>
          </p:cNvSpPr>
          <p:nvPr>
            <p:ph idx="1"/>
          </p:nvPr>
        </p:nvSpPr>
        <p:spPr>
          <a:xfrm>
            <a:off x="824248" y="1455313"/>
            <a:ext cx="10972800" cy="4752304"/>
          </a:xfrm>
        </p:spPr>
        <p:txBody>
          <a:bodyPr>
            <a:noAutofit/>
          </a:bodyPr>
          <a:lstStyle/>
          <a:p>
            <a:pPr algn="just">
              <a:lnSpc>
                <a:spcPct val="150000"/>
              </a:lnSpc>
            </a:pPr>
            <a:r>
              <a:rPr lang="fr-FR" sz="2800" dirty="0" smtClean="0">
                <a:solidFill>
                  <a:srgbClr val="000000"/>
                </a:solidFill>
                <a:latin typeface="Tahoma" panose="020B0604030504040204" pitchFamily="34" charset="0"/>
              </a:rPr>
              <a:t>La </a:t>
            </a:r>
            <a:r>
              <a:rPr lang="fr-FR" sz="2800" dirty="0">
                <a:solidFill>
                  <a:srgbClr val="000000"/>
                </a:solidFill>
                <a:latin typeface="Tahoma" panose="020B0604030504040204" pitchFamily="34" charset="0"/>
              </a:rPr>
              <a:t>phase d'état est dominée par les manifestations intestinales et </a:t>
            </a:r>
            <a:r>
              <a:rPr lang="fr-FR" sz="2800" dirty="0">
                <a:solidFill>
                  <a:schemeClr val="accent1"/>
                </a:solidFill>
                <a:latin typeface="Tahoma" panose="020B0604030504040204" pitchFamily="34" charset="0"/>
              </a:rPr>
              <a:t>hépatospléniques.</a:t>
            </a:r>
            <a:endParaRPr lang="fr-FR" sz="2800" dirty="0">
              <a:solidFill>
                <a:schemeClr val="accent1"/>
              </a:solidFill>
            </a:endParaRPr>
          </a:p>
          <a:p>
            <a:pPr algn="just">
              <a:lnSpc>
                <a:spcPct val="150000"/>
              </a:lnSpc>
            </a:pPr>
            <a:r>
              <a:rPr lang="fr-FR" sz="2800" dirty="0">
                <a:solidFill>
                  <a:srgbClr val="000000"/>
                </a:solidFill>
                <a:latin typeface="Tahoma" panose="020B0604030504040204" pitchFamily="34" charset="0"/>
              </a:rPr>
              <a:t>Trois (03) mois après un bain infestant, le patient </a:t>
            </a:r>
            <a:r>
              <a:rPr lang="fr-FR" sz="2800" dirty="0" smtClean="0">
                <a:solidFill>
                  <a:srgbClr val="000000"/>
                </a:solidFill>
                <a:latin typeface="Tahoma" panose="020B0604030504040204" pitchFamily="34" charset="0"/>
              </a:rPr>
              <a:t>présente:</a:t>
            </a:r>
            <a:endParaRPr lang="fr-FR" sz="2800" dirty="0"/>
          </a:p>
          <a:p>
            <a:pPr lvl="0" algn="just">
              <a:lnSpc>
                <a:spcPct val="150000"/>
              </a:lnSpc>
              <a:buFont typeface="Symbol" panose="05050102010706020507" pitchFamily="18" charset="2"/>
              <a:buChar char=""/>
            </a:pPr>
            <a:r>
              <a:rPr lang="fr-FR" sz="28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a:t>
            </a:r>
            <a:r>
              <a:rPr lang="fr-FR" sz="28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selles </a:t>
            </a:r>
            <a:r>
              <a:rPr lang="fr-FR" sz="28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molles ou franchement liquides, parfois glaireuses et sanguinolentes</a:t>
            </a: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8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voire dysentériformes</a:t>
            </a: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endParaRPr lang="fr-FR" sz="2800" dirty="0">
              <a:ea typeface="Times New Roman" panose="02020603050405020304" pitchFamily="18" charset="0"/>
              <a:cs typeface="Times New Roman" panose="02020603050405020304" pitchFamily="18" charset="0"/>
            </a:endParaRPr>
          </a:p>
          <a:p>
            <a:pPr algn="just">
              <a:lnSpc>
                <a:spcPct val="150000"/>
              </a:lnSpc>
              <a:buFont typeface="Symbol" panose="05050102010706020507" pitchFamily="18" charset="2"/>
              <a:buChar char=""/>
            </a:pPr>
            <a:r>
              <a:rPr lang="fr-FR" sz="28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 </a:t>
            </a:r>
            <a:r>
              <a:rPr lang="fr-FR" sz="28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gros </a:t>
            </a:r>
            <a:r>
              <a:rPr lang="fr-FR" sz="28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foie, ferme, lisse et sensible </a:t>
            </a: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et une </a:t>
            </a:r>
            <a:r>
              <a:rPr lang="fr-FR" sz="28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rate également </a:t>
            </a:r>
            <a:r>
              <a:rPr lang="fr-FR" sz="26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augmentée de volume</a:t>
            </a:r>
            <a:r>
              <a:rPr lang="fr-FR" sz="2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avec un </a:t>
            </a:r>
            <a:r>
              <a:rPr lang="fr-FR" sz="26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état général </a:t>
            </a:r>
            <a:r>
              <a:rPr lang="fr-FR" sz="2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habituellement </a:t>
            </a:r>
            <a:r>
              <a:rPr lang="fr-FR" sz="26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conservé.</a:t>
            </a:r>
            <a:endParaRPr lang="fr-FR" sz="2600" dirty="0">
              <a:solidFill>
                <a:srgbClr val="0070C0"/>
              </a:solidFill>
            </a:endParaRPr>
          </a:p>
          <a:p>
            <a:pPr lvl="0">
              <a:lnSpc>
                <a:spcPct val="150000"/>
              </a:lnSpc>
              <a:buFont typeface="Symbol" panose="05050102010706020507" pitchFamily="18" charset="2"/>
              <a:buChar char=""/>
            </a:pPr>
            <a:endParaRPr lang="fr-FR" sz="2400" dirty="0">
              <a:ea typeface="Times New Roman" panose="02020603050405020304" pitchFamily="18" charset="0"/>
              <a:cs typeface="Times New Roman" panose="02020603050405020304" pitchFamily="18" charset="0"/>
            </a:endParaRPr>
          </a:p>
          <a:p>
            <a:pPr marL="0" indent="0">
              <a:lnSpc>
                <a:spcPct val="150000"/>
              </a:lnSpc>
              <a:buNone/>
            </a:pPr>
            <a:r>
              <a:rPr lang="fr-FR" sz="2400" dirty="0">
                <a:latin typeface="Tahoma" panose="020B0604030504040204" pitchFamily="34" charset="0"/>
              </a:rPr>
              <a:t> </a:t>
            </a:r>
            <a:endParaRPr lang="fr-FR" sz="2400" dirty="0"/>
          </a:p>
          <a:p>
            <a:endParaRPr lang="fr-FR" sz="2400" dirty="0"/>
          </a:p>
        </p:txBody>
      </p:sp>
    </p:spTree>
    <p:extLst>
      <p:ext uri="{BB962C8B-B14F-4D97-AF65-F5344CB8AC3E}">
        <p14:creationId xmlns:p14="http://schemas.microsoft.com/office/powerpoint/2010/main" val="41521356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74619" y="624110"/>
            <a:ext cx="10229994" cy="678217"/>
          </a:xfrm>
        </p:spPr>
        <p:style>
          <a:lnRef idx="1">
            <a:schemeClr val="accent2"/>
          </a:lnRef>
          <a:fillRef idx="2">
            <a:schemeClr val="accent2"/>
          </a:fillRef>
          <a:effectRef idx="1">
            <a:schemeClr val="accent2"/>
          </a:effectRef>
          <a:fontRef idx="minor">
            <a:schemeClr val="dk1"/>
          </a:fontRef>
        </p:style>
        <p:txBody>
          <a:bodyPr>
            <a:noAutofit/>
          </a:bodyPr>
          <a:lstStyle/>
          <a:p>
            <a:pPr lvl="2" algn="l" defTabSz="457200" rtl="0">
              <a:spcBef>
                <a:spcPct val="0"/>
              </a:spcBef>
            </a:pPr>
            <a:r>
              <a:rPr lang="fr-FR" sz="2400" b="1" dirty="0" smtClean="0">
                <a:solidFill>
                  <a:srgbClr val="000000"/>
                </a:solidFill>
                <a:effectLst>
                  <a:outerShdw blurRad="38100" dist="38100" dir="2700000" algn="tl">
                    <a:srgbClr val="000000">
                      <a:alpha val="43137"/>
                    </a:srgbClr>
                  </a:outerShdw>
                </a:effectLst>
                <a:latin typeface="Tahoma" panose="020B0604030504040204" pitchFamily="34" charset="0"/>
                <a:ea typeface="Calibri" panose="020F0502020204030204" pitchFamily="34" charset="0"/>
              </a:rPr>
              <a:t>BILHARZIOSE À SCHISTOSOMA JAPONICUM &amp; B. À .S. MEKONGI</a:t>
            </a:r>
            <a:r>
              <a:rPr lang="fr-FR" sz="2800" dirty="0" smtClean="0">
                <a:solidFill>
                  <a:srgbClr val="000000"/>
                </a:solidFill>
                <a:effectLst>
                  <a:outerShdw blurRad="38100" dist="38100" dir="2700000" algn="tl">
                    <a:srgbClr val="000000">
                      <a:alpha val="43137"/>
                    </a:srgbClr>
                  </a:outerShdw>
                </a:effectLst>
                <a:latin typeface="Courier New" panose="02070309020205020404" pitchFamily="49" charset="0"/>
                <a:ea typeface="Calibri" panose="020F0502020204030204" pitchFamily="34" charset="0"/>
              </a:rPr>
              <a:t/>
            </a:r>
            <a:br>
              <a:rPr lang="fr-FR" sz="2800" dirty="0" smtClean="0">
                <a:solidFill>
                  <a:srgbClr val="000000"/>
                </a:solidFill>
                <a:effectLst>
                  <a:outerShdw blurRad="38100" dist="38100" dir="2700000" algn="tl">
                    <a:srgbClr val="000000">
                      <a:alpha val="43137"/>
                    </a:srgbClr>
                  </a:outerShdw>
                </a:effectLst>
                <a:latin typeface="Courier New" panose="02070309020205020404" pitchFamily="49" charset="0"/>
                <a:ea typeface="Calibri" panose="020F0502020204030204" pitchFamily="34" charset="0"/>
              </a:rPr>
            </a:br>
            <a:endParaRPr lang="fr-FR" sz="2000" dirty="0">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1146220" y="1302327"/>
            <a:ext cx="10358392" cy="5072715"/>
          </a:xfrm>
        </p:spPr>
        <p:txBody>
          <a:bodyPr>
            <a:noAutofit/>
          </a:bodyPr>
          <a:lstStyle/>
          <a:p>
            <a:pPr algn="just">
              <a:lnSpc>
                <a:spcPct val="150000"/>
              </a:lnSpc>
            </a:pPr>
            <a:r>
              <a:rPr lang="fr-FR" sz="2800" dirty="0" smtClean="0">
                <a:solidFill>
                  <a:srgbClr val="000000"/>
                </a:solidFill>
                <a:latin typeface="Articulate" panose="02000503040000020004" pitchFamily="2" charset="0"/>
              </a:rPr>
              <a:t>La </a:t>
            </a:r>
            <a:r>
              <a:rPr lang="fr-FR" sz="2800" dirty="0">
                <a:solidFill>
                  <a:srgbClr val="000000"/>
                </a:solidFill>
                <a:latin typeface="Articulate" panose="02000503040000020004" pitchFamily="2" charset="0"/>
              </a:rPr>
              <a:t>période d'état </a:t>
            </a:r>
            <a:r>
              <a:rPr lang="fr-FR" sz="2800" dirty="0" smtClean="0">
                <a:solidFill>
                  <a:srgbClr val="000000"/>
                </a:solidFill>
                <a:latin typeface="Articulate" panose="02000503040000020004" pitchFamily="2" charset="0"/>
              </a:rPr>
              <a:t>de la </a:t>
            </a:r>
            <a:r>
              <a:rPr lang="fr-FR" sz="2800" b="1" dirty="0">
                <a:solidFill>
                  <a:srgbClr val="000000"/>
                </a:solidFill>
                <a:latin typeface="Articulate" panose="02000503040000020004" pitchFamily="2" charset="0"/>
                <a:ea typeface="Calibri" panose="020F0502020204030204" pitchFamily="34" charset="0"/>
              </a:rPr>
              <a:t>Bilharziose à </a:t>
            </a:r>
            <a:r>
              <a:rPr lang="fr-FR" sz="2800" b="1" dirty="0" err="1">
                <a:solidFill>
                  <a:srgbClr val="000000"/>
                </a:solidFill>
                <a:latin typeface="Articulate" panose="02000503040000020004" pitchFamily="2" charset="0"/>
                <a:ea typeface="Calibri" panose="020F0502020204030204" pitchFamily="34" charset="0"/>
              </a:rPr>
              <a:t>Schistosoma</a:t>
            </a:r>
            <a:r>
              <a:rPr lang="fr-FR" sz="2800" b="1" dirty="0">
                <a:solidFill>
                  <a:srgbClr val="000000"/>
                </a:solidFill>
                <a:latin typeface="Articulate" panose="02000503040000020004" pitchFamily="2" charset="0"/>
                <a:ea typeface="Calibri" panose="020F0502020204030204" pitchFamily="34" charset="0"/>
              </a:rPr>
              <a:t> </a:t>
            </a:r>
            <a:r>
              <a:rPr lang="fr-FR" sz="2800" b="1" dirty="0" err="1" smtClean="0">
                <a:solidFill>
                  <a:srgbClr val="000000"/>
                </a:solidFill>
                <a:effectLst>
                  <a:outerShdw blurRad="38100" dist="38100" dir="2700000" algn="tl">
                    <a:srgbClr val="000000">
                      <a:alpha val="43137"/>
                    </a:srgbClr>
                  </a:outerShdw>
                </a:effectLst>
                <a:latin typeface="Tahoma" panose="020B0604030504040204" pitchFamily="34" charset="0"/>
                <a:ea typeface="Calibri" panose="020F0502020204030204" pitchFamily="34" charset="0"/>
              </a:rPr>
              <a:t>Japonicum</a:t>
            </a:r>
            <a:r>
              <a:rPr lang="fr-FR" sz="2800" b="1" dirty="0" smtClean="0">
                <a:solidFill>
                  <a:srgbClr val="000000"/>
                </a:solidFill>
                <a:effectLst>
                  <a:outerShdw blurRad="38100" dist="38100" dir="2700000" algn="tl">
                    <a:srgbClr val="000000">
                      <a:alpha val="43137"/>
                    </a:srgbClr>
                  </a:outerShdw>
                </a:effectLst>
                <a:latin typeface="Tahoma" panose="020B0604030504040204" pitchFamily="34" charset="0"/>
                <a:ea typeface="Calibri" panose="020F0502020204030204" pitchFamily="34" charset="0"/>
              </a:rPr>
              <a:t> </a:t>
            </a:r>
            <a:r>
              <a:rPr lang="fr-FR" sz="2800" dirty="0" smtClean="0">
                <a:solidFill>
                  <a:srgbClr val="000000"/>
                </a:solidFill>
                <a:latin typeface="Articulate" panose="02000503040000020004" pitchFamily="2" charset="0"/>
              </a:rPr>
              <a:t>est </a:t>
            </a:r>
            <a:r>
              <a:rPr lang="fr-FR" sz="2800" dirty="0">
                <a:solidFill>
                  <a:srgbClr val="000000"/>
                </a:solidFill>
                <a:latin typeface="Articulate" panose="02000503040000020004" pitchFamily="2" charset="0"/>
              </a:rPr>
              <a:t>dominée par </a:t>
            </a:r>
            <a:r>
              <a:rPr lang="fr-FR" sz="2800" b="1" dirty="0">
                <a:solidFill>
                  <a:srgbClr val="000000"/>
                </a:solidFill>
                <a:latin typeface="Articulate" panose="02000503040000020004" pitchFamily="2" charset="0"/>
              </a:rPr>
              <a:t>l'atteinte hépatosplénique</a:t>
            </a:r>
            <a:r>
              <a:rPr lang="fr-FR" sz="2800" dirty="0">
                <a:solidFill>
                  <a:srgbClr val="000000"/>
                </a:solidFill>
                <a:latin typeface="Articulate" panose="02000503040000020004" pitchFamily="2" charset="0"/>
              </a:rPr>
              <a:t>. </a:t>
            </a:r>
            <a:endParaRPr lang="fr-FR" sz="2800" dirty="0" smtClean="0">
              <a:solidFill>
                <a:srgbClr val="000000"/>
              </a:solidFill>
              <a:latin typeface="Articulate" panose="02000503040000020004" pitchFamily="2" charset="0"/>
            </a:endParaRPr>
          </a:p>
          <a:p>
            <a:pPr algn="just">
              <a:lnSpc>
                <a:spcPct val="150000"/>
              </a:lnSpc>
            </a:pPr>
            <a:r>
              <a:rPr lang="fr-FR" sz="2800" dirty="0" smtClean="0">
                <a:solidFill>
                  <a:srgbClr val="000000"/>
                </a:solidFill>
                <a:latin typeface="Articulate" panose="02000503040000020004" pitchFamily="2" charset="0"/>
              </a:rPr>
              <a:t>Celle-ci </a:t>
            </a:r>
            <a:r>
              <a:rPr lang="fr-FR" sz="2800" dirty="0">
                <a:solidFill>
                  <a:srgbClr val="000000"/>
                </a:solidFill>
                <a:latin typeface="Articulate" panose="02000503040000020004" pitchFamily="2" charset="0"/>
              </a:rPr>
              <a:t>est précoce et rapidement grave: </a:t>
            </a:r>
            <a:r>
              <a:rPr lang="fr-FR" sz="2800" dirty="0">
                <a:solidFill>
                  <a:srgbClr val="0070C0"/>
                </a:solidFill>
                <a:latin typeface="Articulate" panose="02000503040000020004" pitchFamily="2" charset="0"/>
              </a:rPr>
              <a:t>à l'hépatosplénomégalie s'ajoute souvent un ictère</a:t>
            </a:r>
            <a:r>
              <a:rPr lang="fr-FR" sz="2800" dirty="0">
                <a:solidFill>
                  <a:srgbClr val="000000"/>
                </a:solidFill>
                <a:latin typeface="Articulate" panose="02000503040000020004" pitchFamily="2" charset="0"/>
              </a:rPr>
              <a:t>, des hémorragies digestives par </a:t>
            </a:r>
            <a:r>
              <a:rPr lang="fr-FR" sz="2800" dirty="0" smtClean="0">
                <a:solidFill>
                  <a:srgbClr val="000000"/>
                </a:solidFill>
                <a:latin typeface="Articulate" panose="02000503040000020004" pitchFamily="2" charset="0"/>
              </a:rPr>
              <a:t>hypertension </a:t>
            </a:r>
            <a:r>
              <a:rPr lang="fr-FR" sz="2800" dirty="0">
                <a:solidFill>
                  <a:srgbClr val="000000"/>
                </a:solidFill>
                <a:latin typeface="Articulate" panose="02000503040000020004" pitchFamily="2" charset="0"/>
              </a:rPr>
              <a:t>portale, de l'ascite, des œdèmes, des phénomènes </a:t>
            </a:r>
            <a:r>
              <a:rPr lang="fr-FR" sz="2800" dirty="0">
                <a:solidFill>
                  <a:srgbClr val="0070C0"/>
                </a:solidFill>
                <a:latin typeface="Articulate" panose="02000503040000020004" pitchFamily="2" charset="0"/>
              </a:rPr>
              <a:t>d'hypersplénisme</a:t>
            </a:r>
            <a:r>
              <a:rPr lang="fr-FR" sz="2800" dirty="0">
                <a:solidFill>
                  <a:srgbClr val="000000"/>
                </a:solidFill>
                <a:latin typeface="Articulate" panose="02000503040000020004" pitchFamily="2" charset="0"/>
              </a:rPr>
              <a:t>.</a:t>
            </a:r>
            <a:endParaRPr lang="fr-FR" sz="2800" dirty="0">
              <a:latin typeface="Articulate" panose="02000503040000020004" pitchFamily="2" charset="0"/>
            </a:endParaRPr>
          </a:p>
          <a:p>
            <a:pPr algn="just">
              <a:lnSpc>
                <a:spcPct val="150000"/>
              </a:lnSpc>
            </a:pPr>
            <a:r>
              <a:rPr lang="fr-FR" sz="2800" dirty="0">
                <a:solidFill>
                  <a:srgbClr val="000000"/>
                </a:solidFill>
                <a:latin typeface="Articulate" panose="02000503040000020004" pitchFamily="2" charset="0"/>
              </a:rPr>
              <a:t>Parallèlement, on note une altération de l'état général : amaigrissement, fièvre, </a:t>
            </a:r>
            <a:r>
              <a:rPr lang="fr-FR" sz="2800" dirty="0" smtClean="0">
                <a:solidFill>
                  <a:srgbClr val="000000"/>
                </a:solidFill>
                <a:latin typeface="Articulate" panose="02000503040000020004" pitchFamily="2" charset="0"/>
              </a:rPr>
              <a:t>anémie.</a:t>
            </a:r>
            <a:endParaRPr lang="fr-FR" sz="2800" dirty="0">
              <a:latin typeface="Articulate" panose="02000503040000020004" pitchFamily="2" charset="0"/>
            </a:endParaRPr>
          </a:p>
        </p:txBody>
      </p:sp>
    </p:spTree>
    <p:extLst>
      <p:ext uri="{BB962C8B-B14F-4D97-AF65-F5344CB8AC3E}">
        <p14:creationId xmlns:p14="http://schemas.microsoft.com/office/powerpoint/2010/main" val="25224316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40873" y="804219"/>
            <a:ext cx="10063739" cy="650508"/>
          </a:xfrm>
        </p:spPr>
        <p:txBody>
          <a:bodyPr>
            <a:normAutofit fontScale="90000"/>
          </a:bodyPr>
          <a:lstStyle/>
          <a:p>
            <a:pPr algn="ctr"/>
            <a:r>
              <a:rPr lang="fr-FR" sz="2800" b="1" dirty="0" smtClean="0">
                <a:solidFill>
                  <a:srgbClr val="000000"/>
                </a:solidFill>
                <a:latin typeface="Tahoma" panose="020B0604030504040204" pitchFamily="34" charset="0"/>
                <a:ea typeface="Calibri" panose="020F0502020204030204" pitchFamily="34" charset="0"/>
              </a:rPr>
              <a:t>BILHARZIOSE À SCHISTOSOMA INTERCALATUM</a:t>
            </a:r>
            <a:r>
              <a:rPr lang="fr-FR" sz="2800" b="1" dirty="0" smtClean="0">
                <a:solidFill>
                  <a:srgbClr val="000000"/>
                </a:solidFill>
                <a:latin typeface="Courier New" panose="02070309020205020404" pitchFamily="49" charset="0"/>
                <a:ea typeface="Calibri" panose="020F0502020204030204" pitchFamily="34" charset="0"/>
              </a:rPr>
              <a:t/>
            </a:r>
            <a:br>
              <a:rPr lang="fr-FR" sz="2800" b="1" dirty="0" smtClean="0">
                <a:solidFill>
                  <a:srgbClr val="000000"/>
                </a:solidFill>
                <a:latin typeface="Courier New" panose="02070309020205020404" pitchFamily="49" charset="0"/>
                <a:ea typeface="Calibri" panose="020F0502020204030204" pitchFamily="34" charset="0"/>
              </a:rPr>
            </a:br>
            <a:endParaRPr lang="fr-FR" sz="2800" b="1" dirty="0"/>
          </a:p>
        </p:txBody>
      </p:sp>
      <p:sp>
        <p:nvSpPr>
          <p:cNvPr id="3" name="Espace réservé du contenu 2"/>
          <p:cNvSpPr>
            <a:spLocks noGrp="1"/>
          </p:cNvSpPr>
          <p:nvPr>
            <p:ph idx="1"/>
          </p:nvPr>
        </p:nvSpPr>
        <p:spPr>
          <a:xfrm>
            <a:off x="1440873" y="1648691"/>
            <a:ext cx="10063739" cy="4262531"/>
          </a:xfrm>
        </p:spPr>
        <p:txBody>
          <a:bodyPr/>
          <a:lstStyle/>
          <a:p>
            <a:pPr indent="-635000" algn="just">
              <a:lnSpc>
                <a:spcPct val="150000"/>
              </a:lnSpc>
              <a:spcBef>
                <a:spcPts val="1200"/>
              </a:spcBef>
            </a:pPr>
            <a:r>
              <a:rPr lang="fr-FR" sz="3200" b="1" spc="30" dirty="0" smtClean="0">
                <a:solidFill>
                  <a:srgbClr val="000000"/>
                </a:solidFill>
                <a:latin typeface="Tahoma" panose="020B0604030504040204" pitchFamily="34" charset="0"/>
                <a:ea typeface="Times New Roman" panose="02020603050405020304" pitchFamily="18" charset="0"/>
              </a:rPr>
              <a:t>A </a:t>
            </a:r>
            <a:r>
              <a:rPr lang="fr-FR" sz="3200" b="1" spc="30" dirty="0">
                <a:solidFill>
                  <a:srgbClr val="000000"/>
                </a:solidFill>
                <a:latin typeface="Tahoma" panose="020B0604030504040204" pitchFamily="34" charset="0"/>
                <a:ea typeface="Times New Roman" panose="02020603050405020304" pitchFamily="18" charset="0"/>
              </a:rPr>
              <a:t>la période d'état</a:t>
            </a:r>
            <a:r>
              <a:rPr lang="fr-FR" sz="3200" spc="30" dirty="0">
                <a:solidFill>
                  <a:srgbClr val="000000"/>
                </a:solidFill>
                <a:latin typeface="Tahoma" panose="020B0604030504040204" pitchFamily="34" charset="0"/>
                <a:ea typeface="Times New Roman" panose="02020603050405020304" pitchFamily="18" charset="0"/>
              </a:rPr>
              <a:t>, la symptomatologie est dominée par les manifestations rectales à type de </a:t>
            </a:r>
            <a:r>
              <a:rPr lang="fr-FR" sz="3200" spc="30" dirty="0">
                <a:solidFill>
                  <a:srgbClr val="FF0000"/>
                </a:solidFill>
                <a:latin typeface="Tahoma" panose="020B0604030504040204" pitchFamily="34" charset="0"/>
                <a:ea typeface="Times New Roman" panose="02020603050405020304" pitchFamily="18" charset="0"/>
              </a:rPr>
              <a:t>diarrhée </a:t>
            </a:r>
            <a:r>
              <a:rPr lang="fr-FR" sz="3200" spc="30" dirty="0">
                <a:solidFill>
                  <a:srgbClr val="000000"/>
                </a:solidFill>
                <a:latin typeface="Tahoma" panose="020B0604030504040204" pitchFamily="34" charset="0"/>
                <a:ea typeface="Times New Roman" panose="02020603050405020304" pitchFamily="18" charset="0"/>
              </a:rPr>
              <a:t>souvent </a:t>
            </a:r>
            <a:r>
              <a:rPr lang="fr-FR" sz="3200" spc="30" dirty="0" err="1">
                <a:solidFill>
                  <a:srgbClr val="000000"/>
                </a:solidFill>
                <a:latin typeface="Tahoma" panose="020B0604030504040204" pitchFamily="34" charset="0"/>
                <a:ea typeface="Times New Roman" panose="02020603050405020304" pitchFamily="18" charset="0"/>
              </a:rPr>
              <a:t>glairo</a:t>
            </a:r>
            <a:r>
              <a:rPr lang="fr-FR" sz="3200" spc="30" dirty="0">
                <a:solidFill>
                  <a:srgbClr val="000000"/>
                </a:solidFill>
                <a:latin typeface="Tahoma" panose="020B0604030504040204" pitchFamily="34" charset="0"/>
                <a:ea typeface="Times New Roman" panose="02020603050405020304" pitchFamily="18" charset="0"/>
              </a:rPr>
              <a:t>-sanglante, de </a:t>
            </a:r>
            <a:r>
              <a:rPr lang="fr-FR" sz="3200" spc="30" dirty="0">
                <a:solidFill>
                  <a:srgbClr val="FF0000"/>
                </a:solidFill>
                <a:latin typeface="Tahoma" panose="020B0604030504040204" pitchFamily="34" charset="0"/>
                <a:ea typeface="Times New Roman" panose="02020603050405020304" pitchFamily="18" charset="0"/>
              </a:rPr>
              <a:t>douleurs rectales</a:t>
            </a:r>
            <a:r>
              <a:rPr lang="fr-FR" sz="3200" spc="30" dirty="0">
                <a:solidFill>
                  <a:srgbClr val="000000"/>
                </a:solidFill>
                <a:latin typeface="Tahoma" panose="020B0604030504040204" pitchFamily="34" charset="0"/>
                <a:ea typeface="Times New Roman" panose="02020603050405020304" pitchFamily="18" charset="0"/>
              </a:rPr>
              <a:t>, de  coliques, de </a:t>
            </a:r>
            <a:r>
              <a:rPr lang="fr-FR" sz="3200" spc="30" dirty="0">
                <a:solidFill>
                  <a:schemeClr val="accent1"/>
                </a:solidFill>
                <a:latin typeface="Tahoma" panose="020B0604030504040204" pitchFamily="34" charset="0"/>
                <a:ea typeface="Times New Roman" panose="02020603050405020304" pitchFamily="18" charset="0"/>
              </a:rPr>
              <a:t>ténesmes</a:t>
            </a:r>
            <a:r>
              <a:rPr lang="fr-FR" sz="3200" spc="30" dirty="0">
                <a:solidFill>
                  <a:schemeClr val="tx1"/>
                </a:solidFill>
                <a:latin typeface="Tahoma" panose="020B0604030504040204" pitchFamily="34" charset="0"/>
                <a:ea typeface="Times New Roman" panose="02020603050405020304" pitchFamily="18" charset="0"/>
              </a:rPr>
              <a:t> </a:t>
            </a:r>
            <a:r>
              <a:rPr lang="fr-FR" sz="3200" spc="30" dirty="0" smtClean="0">
                <a:solidFill>
                  <a:schemeClr val="tx1"/>
                </a:solidFill>
                <a:latin typeface="Tahoma" panose="020B0604030504040204" pitchFamily="34" charset="0"/>
                <a:ea typeface="Times New Roman" panose="02020603050405020304" pitchFamily="18" charset="0"/>
              </a:rPr>
              <a:t>(tensions douloureuses) </a:t>
            </a:r>
            <a:r>
              <a:rPr lang="fr-FR" sz="3200" spc="30" dirty="0" smtClean="0">
                <a:solidFill>
                  <a:srgbClr val="000000"/>
                </a:solidFill>
                <a:latin typeface="Tahoma" panose="020B0604030504040204" pitchFamily="34" charset="0"/>
                <a:ea typeface="Times New Roman" panose="02020603050405020304" pitchFamily="18" charset="0"/>
              </a:rPr>
              <a:t>et </a:t>
            </a:r>
            <a:r>
              <a:rPr lang="fr-FR" sz="3200" spc="30" dirty="0">
                <a:solidFill>
                  <a:srgbClr val="000000"/>
                </a:solidFill>
                <a:latin typeface="Tahoma" panose="020B0604030504040204" pitchFamily="34" charset="0"/>
                <a:ea typeface="Times New Roman" panose="02020603050405020304" pitchFamily="18" charset="0"/>
              </a:rPr>
              <a:t>de </a:t>
            </a:r>
            <a:r>
              <a:rPr lang="fr-FR" sz="3200" spc="30" dirty="0">
                <a:solidFill>
                  <a:srgbClr val="FF0000"/>
                </a:solidFill>
                <a:latin typeface="Tahoma" panose="020B0604030504040204" pitchFamily="34" charset="0"/>
                <a:ea typeface="Times New Roman" panose="02020603050405020304" pitchFamily="18" charset="0"/>
              </a:rPr>
              <a:t>prolapsus.</a:t>
            </a:r>
            <a:endParaRPr lang="fr-FR" sz="3200" spc="30" dirty="0">
              <a:solidFill>
                <a:srgbClr val="FF0000"/>
              </a:solidFill>
              <a:latin typeface="Times New Roman" panose="02020603050405020304" pitchFamily="18" charset="0"/>
              <a:ea typeface="Times New Roman" panose="02020603050405020304" pitchFamily="18" charset="0"/>
            </a:endParaRPr>
          </a:p>
          <a:p>
            <a:endParaRPr lang="fr-FR" sz="1400" dirty="0"/>
          </a:p>
          <a:p>
            <a:endParaRPr lang="fr-FR" dirty="0"/>
          </a:p>
        </p:txBody>
      </p:sp>
    </p:spTree>
    <p:extLst>
      <p:ext uri="{BB962C8B-B14F-4D97-AF65-F5344CB8AC3E}">
        <p14:creationId xmlns:p14="http://schemas.microsoft.com/office/powerpoint/2010/main" val="18019828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DIAGNOSTIC</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184856" y="1300766"/>
            <a:ext cx="10319756" cy="4610456"/>
          </a:xfrm>
        </p:spPr>
        <p:txBody>
          <a:bodyPr>
            <a:normAutofit lnSpcReduction="10000"/>
          </a:bodyPr>
          <a:lstStyle/>
          <a:p>
            <a:pPr algn="just">
              <a:lnSpc>
                <a:spcPct val="150000"/>
              </a:lnSpc>
            </a:pPr>
            <a:r>
              <a:rPr lang="fr-FR" sz="2800" dirty="0">
                <a:solidFill>
                  <a:srgbClr val="000000"/>
                </a:solidFill>
                <a:latin typeface="Tahoma" panose="020B0604030504040204" pitchFamily="34" charset="0"/>
              </a:rPr>
              <a:t>Il se fait par :</a:t>
            </a:r>
            <a:endParaRPr lang="fr-FR" sz="2800" dirty="0"/>
          </a:p>
          <a:p>
            <a:pPr lvl="0" algn="just">
              <a:lnSpc>
                <a:spcPct val="150000"/>
              </a:lnSpc>
              <a:buFont typeface="Times New Roman" panose="02020603050405020304" pitchFamily="18" charset="0"/>
              <a:buChar char="-"/>
              <a:tabLst>
                <a:tab pos="457200" algn="l"/>
              </a:tabLst>
            </a:pPr>
            <a:r>
              <a:rPr lang="fr-FR" sz="2800" dirty="0">
                <a:solidFill>
                  <a:srgbClr val="000000"/>
                </a:solidFill>
                <a:latin typeface="Tahoma" panose="020B0604030504040204" pitchFamily="34" charset="0"/>
                <a:ea typeface="Times New Roman" panose="02020603050405020304" pitchFamily="18" charset="0"/>
              </a:rPr>
              <a:t>la </a:t>
            </a:r>
            <a:r>
              <a:rPr lang="fr-FR" sz="2800" b="1" dirty="0">
                <a:solidFill>
                  <a:srgbClr val="0070C0"/>
                </a:solidFill>
                <a:latin typeface="Tahoma" panose="020B0604030504040204" pitchFamily="34" charset="0"/>
                <a:ea typeface="Times New Roman" panose="02020603050405020304" pitchFamily="18" charset="0"/>
              </a:rPr>
              <a:t>découverte des œufs de bilharzies </a:t>
            </a:r>
            <a:r>
              <a:rPr lang="fr-FR" sz="2800" dirty="0">
                <a:solidFill>
                  <a:srgbClr val="000000"/>
                </a:solidFill>
                <a:latin typeface="Tahoma" panose="020B0604030504040204" pitchFamily="34" charset="0"/>
                <a:ea typeface="Times New Roman" panose="02020603050405020304" pitchFamily="18" charset="0"/>
              </a:rPr>
              <a:t>dans les selles et les urines ou dans le grattage des biopsies rectales.</a:t>
            </a:r>
            <a:endParaRPr lang="fr-FR" sz="2800" dirty="0">
              <a:ea typeface="Times New Roman" panose="02020603050405020304" pitchFamily="18" charset="0"/>
            </a:endParaRPr>
          </a:p>
          <a:p>
            <a:pPr lvl="0" algn="just">
              <a:lnSpc>
                <a:spcPct val="150000"/>
              </a:lnSpc>
              <a:buFont typeface="Times New Roman" panose="02020603050405020304" pitchFamily="18" charset="0"/>
              <a:buChar char="-"/>
              <a:tabLst>
                <a:tab pos="457200" algn="l"/>
              </a:tabLst>
            </a:pPr>
            <a:r>
              <a:rPr lang="fr-FR" sz="2800" dirty="0">
                <a:solidFill>
                  <a:srgbClr val="000000"/>
                </a:solidFill>
                <a:latin typeface="Tahoma" panose="020B0604030504040204" pitchFamily="34" charset="0"/>
                <a:ea typeface="Times New Roman" panose="02020603050405020304" pitchFamily="18" charset="0"/>
              </a:rPr>
              <a:t>la mise en </a:t>
            </a:r>
            <a:r>
              <a:rPr lang="fr-FR" sz="2800" b="1" dirty="0">
                <a:solidFill>
                  <a:srgbClr val="0070C0"/>
                </a:solidFill>
                <a:latin typeface="Tahoma" panose="020B0604030504040204" pitchFamily="34" charset="0"/>
                <a:ea typeface="Times New Roman" panose="02020603050405020304" pitchFamily="18" charset="0"/>
              </a:rPr>
              <a:t>évidence d'une hyper éosinophilie sanguine </a:t>
            </a:r>
            <a:r>
              <a:rPr lang="fr-FR" sz="2800" dirty="0">
                <a:solidFill>
                  <a:srgbClr val="000000"/>
                </a:solidFill>
                <a:latin typeface="Tahoma" panose="020B0604030504040204" pitchFamily="34" charset="0"/>
                <a:ea typeface="Times New Roman" panose="02020603050405020304" pitchFamily="18" charset="0"/>
              </a:rPr>
              <a:t>obéissant aux lois de </a:t>
            </a:r>
            <a:r>
              <a:rPr lang="fr-FR" sz="2800" dirty="0" err="1">
                <a:solidFill>
                  <a:srgbClr val="000000"/>
                </a:solidFill>
                <a:latin typeface="Tahoma" panose="020B0604030504040204" pitchFamily="34" charset="0"/>
                <a:ea typeface="Times New Roman" panose="02020603050405020304" pitchFamily="18" charset="0"/>
              </a:rPr>
              <a:t>Lavier</a:t>
            </a:r>
            <a:r>
              <a:rPr lang="fr-FR" sz="2800" dirty="0">
                <a:solidFill>
                  <a:srgbClr val="000000"/>
                </a:solidFill>
                <a:latin typeface="Tahoma" panose="020B0604030504040204" pitchFamily="34" charset="0"/>
                <a:ea typeface="Times New Roman" panose="02020603050405020304" pitchFamily="18" charset="0"/>
              </a:rPr>
              <a:t> (c'est-à-dire élevé à</a:t>
            </a:r>
            <a:r>
              <a:rPr lang="fr-FR" sz="2800" dirty="0" smtClean="0">
                <a:solidFill>
                  <a:srgbClr val="000000"/>
                </a:solidFill>
                <a:latin typeface="Tahoma" panose="020B0604030504040204" pitchFamily="34" charset="0"/>
                <a:ea typeface="Times New Roman" panose="02020603050405020304" pitchFamily="18" charset="0"/>
              </a:rPr>
              <a:t> la </a:t>
            </a:r>
            <a:r>
              <a:rPr lang="fr-FR" sz="2800" dirty="0">
                <a:solidFill>
                  <a:srgbClr val="000000"/>
                </a:solidFill>
                <a:latin typeface="Tahoma" panose="020B0604030504040204" pitchFamily="34" charset="0"/>
                <a:ea typeface="Times New Roman" panose="02020603050405020304" pitchFamily="18" charset="0"/>
              </a:rPr>
              <a:t>massive au début de la maladie, régressive par la suite et persistant à des taux modérés.</a:t>
            </a:r>
            <a:endParaRPr lang="fr-FR" sz="2800" dirty="0">
              <a:ea typeface="Times New Roman" panose="02020603050405020304" pitchFamily="18" charset="0"/>
            </a:endParaRPr>
          </a:p>
          <a:p>
            <a:pPr algn="just">
              <a:lnSpc>
                <a:spcPct val="150000"/>
              </a:lnSpc>
            </a:pPr>
            <a:endParaRPr lang="fr-FR" dirty="0"/>
          </a:p>
          <a:p>
            <a:endParaRPr lang="fr-FR" dirty="0"/>
          </a:p>
        </p:txBody>
      </p:sp>
    </p:spTree>
    <p:extLst>
      <p:ext uri="{BB962C8B-B14F-4D97-AF65-F5344CB8AC3E}">
        <p14:creationId xmlns:p14="http://schemas.microsoft.com/office/powerpoint/2010/main" val="29332631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08945"/>
          </a:xfrm>
        </p:spPr>
        <p:txBody>
          <a:bodyPr>
            <a:normAutofit fontScale="90000"/>
          </a:bodyPr>
          <a:lstStyle/>
          <a:p>
            <a:pPr lvl="0"/>
            <a:r>
              <a:rPr lang="fr-FR"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COMPLICATIONS</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789709" y="1233055"/>
            <a:ext cx="10986655" cy="5070763"/>
          </a:xfrm>
        </p:spPr>
        <p:txBody>
          <a:bodyPr>
            <a:noAutofit/>
          </a:bodyPr>
          <a:lstStyle/>
          <a:p>
            <a:pPr algn="just"/>
            <a:r>
              <a:rPr lang="fr-FR" sz="2800" dirty="0">
                <a:solidFill>
                  <a:srgbClr val="000000"/>
                </a:solidFill>
                <a:latin typeface="Tahoma" panose="020B0604030504040204" pitchFamily="34" charset="0"/>
              </a:rPr>
              <a:t>Elles sont nombreuses et vont des plus simples aux plus complexes:</a:t>
            </a:r>
            <a:endParaRPr lang="fr-FR" sz="2800" dirty="0"/>
          </a:p>
          <a:p>
            <a:pPr algn="just">
              <a:lnSpc>
                <a:spcPct val="150000"/>
              </a:lnSpc>
            </a:pPr>
            <a:r>
              <a:rPr lang="fr-FR" sz="28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Vésicales </a:t>
            </a:r>
            <a:r>
              <a:rPr lang="fr-FR" sz="2800" dirty="0">
                <a:solidFill>
                  <a:srgbClr val="000000"/>
                </a:solidFill>
                <a:latin typeface="Tahoma" panose="020B0604030504040204" pitchFamily="34" charset="0"/>
              </a:rPr>
              <a:t>: surinfection, pyurie, </a:t>
            </a:r>
            <a:r>
              <a:rPr lang="fr-FR" sz="2800" dirty="0">
                <a:solidFill>
                  <a:schemeClr val="tx1"/>
                </a:solidFill>
                <a:latin typeface="Tahoma" panose="020B0604030504040204" pitchFamily="34" charset="0"/>
              </a:rPr>
              <a:t>dystasie </a:t>
            </a:r>
            <a:r>
              <a:rPr lang="fr-FR" sz="2800" dirty="0">
                <a:solidFill>
                  <a:srgbClr val="000000"/>
                </a:solidFill>
                <a:latin typeface="Tahoma" panose="020B0604030504040204" pitchFamily="34" charset="0"/>
              </a:rPr>
              <a:t>du col, rarement </a:t>
            </a:r>
            <a:r>
              <a:rPr lang="fr-FR" sz="2400" dirty="0">
                <a:solidFill>
                  <a:srgbClr val="000000"/>
                </a:solidFill>
                <a:latin typeface="Tahoma" panose="020B0604030504040204" pitchFamily="34" charset="0"/>
              </a:rPr>
              <a:t>dégénérescence</a:t>
            </a:r>
            <a:r>
              <a:rPr lang="fr-FR" sz="2800" dirty="0">
                <a:solidFill>
                  <a:srgbClr val="000000"/>
                </a:solidFill>
                <a:latin typeface="Tahoma" panose="020B0604030504040204" pitchFamily="34" charset="0"/>
              </a:rPr>
              <a:t> </a:t>
            </a:r>
            <a:r>
              <a:rPr lang="fr-FR" sz="2800" dirty="0" err="1">
                <a:solidFill>
                  <a:srgbClr val="000000"/>
                </a:solidFill>
                <a:latin typeface="Tahoma" panose="020B0604030504040204" pitchFamily="34" charset="0"/>
              </a:rPr>
              <a:t>épithéliomateuse</a:t>
            </a:r>
            <a:r>
              <a:rPr lang="fr-FR" sz="2800" dirty="0">
                <a:solidFill>
                  <a:srgbClr val="000000"/>
                </a:solidFill>
                <a:latin typeface="Tahoma" panose="020B0604030504040204" pitchFamily="34" charset="0"/>
              </a:rPr>
              <a:t> ;</a:t>
            </a:r>
            <a:endParaRPr lang="fr-FR" sz="2800" dirty="0"/>
          </a:p>
          <a:p>
            <a:pPr algn="just">
              <a:lnSpc>
                <a:spcPct val="150000"/>
              </a:lnSpc>
            </a:pPr>
            <a:r>
              <a:rPr lang="fr-FR" sz="28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Urétrales </a:t>
            </a:r>
            <a:r>
              <a:rPr lang="fr-FR" sz="2800" dirty="0">
                <a:solidFill>
                  <a:srgbClr val="000000"/>
                </a:solidFill>
                <a:latin typeface="Tahoma" panose="020B0604030504040204" pitchFamily="34" charset="0"/>
              </a:rPr>
              <a:t>: envahissement du bas uretère, sténose ou incontinence du méat ;</a:t>
            </a:r>
            <a:endParaRPr lang="fr-FR" sz="2800" dirty="0"/>
          </a:p>
          <a:p>
            <a:pPr algn="just">
              <a:lnSpc>
                <a:spcPct val="150000"/>
              </a:lnSpc>
            </a:pP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Rénales</a:t>
            </a:r>
            <a:r>
              <a:rPr lang="fr-FR" sz="2800" dirty="0">
                <a:solidFill>
                  <a:srgbClr val="000000"/>
                </a:solidFill>
                <a:latin typeface="Tahoma" panose="020B0604030504040204" pitchFamily="34" charset="0"/>
              </a:rPr>
              <a:t>: néphrite ascendante ou hydronéphrose, mort du rein ;</a:t>
            </a:r>
            <a:endParaRPr lang="fr-FR" sz="2800" dirty="0"/>
          </a:p>
          <a:p>
            <a:pPr algn="just">
              <a:lnSpc>
                <a:spcPct val="150000"/>
              </a:lnSpc>
            </a:pPr>
            <a:r>
              <a:rPr lang="fr-FR" sz="26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Génitales</a:t>
            </a:r>
            <a:r>
              <a:rPr lang="fr-FR" sz="26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 </a:t>
            </a:r>
            <a:r>
              <a:rPr lang="fr-FR" sz="2600" dirty="0">
                <a:solidFill>
                  <a:srgbClr val="000000"/>
                </a:solidFill>
                <a:latin typeface="Tahoma" panose="020B0604030504040204" pitchFamily="34" charset="0"/>
              </a:rPr>
              <a:t>épididymite, cervicite, métrite, annexite, tumeur du vagin.</a:t>
            </a:r>
            <a:endParaRPr lang="fr-FR" sz="2600" dirty="0"/>
          </a:p>
          <a:p>
            <a:endParaRPr lang="fr-FR" sz="1600" dirty="0"/>
          </a:p>
        </p:txBody>
      </p:sp>
    </p:spTree>
    <p:extLst>
      <p:ext uri="{BB962C8B-B14F-4D97-AF65-F5344CB8AC3E}">
        <p14:creationId xmlns:p14="http://schemas.microsoft.com/office/powerpoint/2010/main" val="26701698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9894" y="392290"/>
            <a:ext cx="8911687" cy="770349"/>
          </a:xfrm>
        </p:spPr>
        <p:txBody>
          <a:bodyPr>
            <a:noAutofit/>
          </a:bodyPr>
          <a:lstStyle/>
          <a:p>
            <a:pPr lvl="0"/>
            <a:r>
              <a:rPr lang="fr-FR" sz="28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TRAITEMENTS </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sz="2800" dirty="0"/>
          </a:p>
        </p:txBody>
      </p:sp>
      <p:sp>
        <p:nvSpPr>
          <p:cNvPr id="3" name="Espace réservé du contenu 2"/>
          <p:cNvSpPr>
            <a:spLocks noGrp="1"/>
          </p:cNvSpPr>
          <p:nvPr>
            <p:ph idx="1"/>
          </p:nvPr>
        </p:nvSpPr>
        <p:spPr>
          <a:xfrm>
            <a:off x="1184856" y="1162639"/>
            <a:ext cx="10319756" cy="5251039"/>
          </a:xfrm>
        </p:spPr>
        <p:txBody>
          <a:bodyPr>
            <a:normAutofit fontScale="92500" lnSpcReduction="10000"/>
          </a:bodyPr>
          <a:lstStyle/>
          <a:p>
            <a:pPr marL="12700" algn="just">
              <a:lnSpc>
                <a:spcPct val="150000"/>
              </a:lnSpc>
            </a:pPr>
            <a:r>
              <a:rPr lang="en-US" sz="2000" b="1" dirty="0" err="1" smtClean="0">
                <a:solidFill>
                  <a:srgbClr val="000000"/>
                </a:solidFill>
                <a:latin typeface="Tahoma" panose="020B0604030504040204" pitchFamily="34" charset="0"/>
                <a:ea typeface="Courier New" panose="02070309020205020404" pitchFamily="49" charset="0"/>
              </a:rPr>
              <a:t>Praziquantel</a:t>
            </a:r>
            <a:r>
              <a:rPr lang="en-US" sz="2000" b="1" dirty="0" smtClean="0">
                <a:solidFill>
                  <a:srgbClr val="000000"/>
                </a:solidFill>
                <a:latin typeface="Tahoma" panose="020B0604030504040204" pitchFamily="34" charset="0"/>
                <a:ea typeface="Courier New" panose="02070309020205020404" pitchFamily="49" charset="0"/>
              </a:rPr>
              <a:t> </a:t>
            </a:r>
            <a:r>
              <a:rPr lang="fr-FR" sz="2000" b="1" spc="10" dirty="0" smtClean="0">
                <a:solidFill>
                  <a:schemeClr val="accent1"/>
                </a:solidFill>
                <a:latin typeface="Tahoma" panose="020B0604030504040204" pitchFamily="34" charset="0"/>
                <a:ea typeface="Calibri" panose="020F0502020204030204" pitchFamily="34" charset="0"/>
                <a:cs typeface="Times New Roman" panose="02020603050405020304" pitchFamily="18" charset="0"/>
              </a:rPr>
              <a:t>(</a:t>
            </a:r>
            <a:r>
              <a:rPr lang="fr-FR" sz="2000" b="1" spc="10" dirty="0">
                <a:solidFill>
                  <a:schemeClr val="accent1"/>
                </a:solidFill>
                <a:latin typeface="Tahoma" panose="020B0604030504040204" pitchFamily="34" charset="0"/>
                <a:ea typeface="Calibri" panose="020F0502020204030204" pitchFamily="34" charset="0"/>
                <a:cs typeface="Times New Roman" panose="02020603050405020304" pitchFamily="18" charset="0"/>
              </a:rPr>
              <a:t>BILTRICIDE</a:t>
            </a:r>
            <a:r>
              <a:rPr lang="fr-FR" sz="2000" b="1" spc="10" dirty="0" smtClean="0">
                <a:solidFill>
                  <a:schemeClr val="accent1"/>
                </a:solidFill>
                <a:latin typeface="Tahoma" panose="020B0604030504040204" pitchFamily="34" charset="0"/>
                <a:ea typeface="Calibri" panose="020F0502020204030204" pitchFamily="34" charset="0"/>
                <a:cs typeface="Times New Roman" panose="02020603050405020304" pitchFamily="18" charset="0"/>
              </a:rPr>
              <a:t>)</a:t>
            </a:r>
            <a:r>
              <a:rPr lang="fr-FR" sz="2400" spc="10" dirty="0" smtClean="0">
                <a:solidFill>
                  <a:srgbClr val="000000"/>
                </a:solidFill>
                <a:latin typeface="Tahoma" panose="020B0604030504040204" pitchFamily="34" charset="0"/>
                <a:ea typeface="Times New Roman" panose="02020603050405020304" pitchFamily="18" charset="0"/>
              </a:rPr>
              <a:t> en </a:t>
            </a:r>
            <a:r>
              <a:rPr lang="fr-FR" sz="2400" spc="10" dirty="0">
                <a:solidFill>
                  <a:srgbClr val="000000"/>
                </a:solidFill>
                <a:latin typeface="Tahoma" panose="020B0604030504040204" pitchFamily="34" charset="0"/>
                <a:ea typeface="Times New Roman" panose="02020603050405020304" pitchFamily="18" charset="0"/>
              </a:rPr>
              <a:t>comprimé </a:t>
            </a:r>
            <a:r>
              <a:rPr lang="fr-FR" sz="2400" spc="10" dirty="0" smtClean="0">
                <a:solidFill>
                  <a:srgbClr val="000000"/>
                </a:solidFill>
                <a:latin typeface="Tahoma" panose="020B0604030504040204" pitchFamily="34" charset="0"/>
                <a:ea typeface="Times New Roman" panose="02020603050405020304" pitchFamily="18" charset="0"/>
              </a:rPr>
              <a:t>de </a:t>
            </a:r>
            <a:r>
              <a:rPr lang="fr-FR" sz="2400" spc="10" dirty="0">
                <a:solidFill>
                  <a:srgbClr val="000000"/>
                </a:solidFill>
                <a:latin typeface="Tahoma" panose="020B0604030504040204" pitchFamily="34" charset="0"/>
                <a:ea typeface="Times New Roman" panose="02020603050405020304" pitchFamily="18" charset="0"/>
              </a:rPr>
              <a:t>600 mg </a:t>
            </a:r>
            <a:r>
              <a:rPr lang="fr-FR" sz="2400" spc="10" dirty="0" smtClean="0">
                <a:solidFill>
                  <a:srgbClr val="000000"/>
                </a:solidFill>
                <a:latin typeface="Tahoma" panose="020B0604030504040204" pitchFamily="34" charset="0"/>
                <a:ea typeface="Times New Roman" panose="02020603050405020304" pitchFamily="18" charset="0"/>
              </a:rPr>
              <a:t>à la </a:t>
            </a:r>
            <a:r>
              <a:rPr lang="fr-FR" sz="2400" spc="10" dirty="0">
                <a:solidFill>
                  <a:srgbClr val="000000"/>
                </a:solidFill>
                <a:latin typeface="Tahoma" panose="020B0604030504040204" pitchFamily="34" charset="0"/>
                <a:ea typeface="Times New Roman" panose="02020603050405020304" pitchFamily="18" charset="0"/>
              </a:rPr>
              <a:t>p</a:t>
            </a:r>
            <a:r>
              <a:rPr lang="fr-FR" sz="2400" spc="10" dirty="0" smtClean="0">
                <a:solidFill>
                  <a:srgbClr val="000000"/>
                </a:solidFill>
                <a:latin typeface="Tahoma" panose="020B0604030504040204" pitchFamily="34" charset="0"/>
                <a:ea typeface="Times New Roman" panose="02020603050405020304" pitchFamily="18" charset="0"/>
              </a:rPr>
              <a:t>osologie de 40 </a:t>
            </a:r>
            <a:r>
              <a:rPr lang="fr-FR" sz="2400" spc="10" dirty="0">
                <a:solidFill>
                  <a:srgbClr val="000000"/>
                </a:solidFill>
                <a:latin typeface="Tahoma" panose="020B0604030504040204" pitchFamily="34" charset="0"/>
                <a:ea typeface="Times New Roman" panose="02020603050405020304" pitchFamily="18" charset="0"/>
              </a:rPr>
              <a:t>mg/kg </a:t>
            </a:r>
            <a:r>
              <a:rPr lang="fr-FR" sz="2400" spc="10" dirty="0" smtClean="0">
                <a:solidFill>
                  <a:srgbClr val="000000"/>
                </a:solidFill>
                <a:latin typeface="Tahoma" panose="020B0604030504040204" pitchFamily="34" charset="0"/>
                <a:ea typeface="Times New Roman" panose="02020603050405020304" pitchFamily="18" charset="0"/>
              </a:rPr>
              <a:t>en </a:t>
            </a:r>
            <a:r>
              <a:rPr lang="fr-FR" sz="2400" spc="10" dirty="0">
                <a:solidFill>
                  <a:srgbClr val="000000"/>
                </a:solidFill>
                <a:latin typeface="Tahoma" panose="020B0604030504040204" pitchFamily="34" charset="0"/>
                <a:ea typeface="Times New Roman" panose="02020603050405020304" pitchFamily="18" charset="0"/>
              </a:rPr>
              <a:t>01 ou 02 prises en une seule </a:t>
            </a:r>
            <a:r>
              <a:rPr lang="fr-FR" sz="2400" spc="10" dirty="0" smtClean="0">
                <a:solidFill>
                  <a:srgbClr val="000000"/>
                </a:solidFill>
                <a:latin typeface="Tahoma" panose="020B0604030504040204" pitchFamily="34" charset="0"/>
                <a:ea typeface="Times New Roman" panose="02020603050405020304" pitchFamily="18" charset="0"/>
              </a:rPr>
              <a:t>cure.</a:t>
            </a:r>
            <a:r>
              <a:rPr lang="fr-FR" sz="2400" dirty="0"/>
              <a:t> </a:t>
            </a:r>
            <a:r>
              <a:rPr lang="fr-FR" sz="2600" u="sng" spc="25" dirty="0" smtClean="0">
                <a:solidFill>
                  <a:srgbClr val="0070C0"/>
                </a:solidFill>
                <a:latin typeface="Tahoma" panose="020B0604030504040204" pitchFamily="34" charset="0"/>
                <a:ea typeface="Calibri" panose="020F0502020204030204" pitchFamily="34" charset="0"/>
                <a:cs typeface="Times New Roman" panose="02020603050405020304" pitchFamily="18" charset="0"/>
              </a:rPr>
              <a:t>N.B</a:t>
            </a:r>
            <a:r>
              <a:rPr lang="fr-FR" sz="2600" dirty="0" smtClean="0">
                <a:solidFill>
                  <a:srgbClr val="0070C0"/>
                </a:solidFill>
                <a:latin typeface="Tahoma" panose="020B0604030504040204" pitchFamily="34" charset="0"/>
              </a:rPr>
              <a:t>: Très actif sur les vers femelles et les </a:t>
            </a:r>
            <a:r>
              <a:rPr lang="fr-FR" sz="2600" dirty="0" err="1" smtClean="0">
                <a:solidFill>
                  <a:srgbClr val="0070C0"/>
                </a:solidFill>
                <a:latin typeface="Tahoma" panose="020B0604030504040204" pitchFamily="34" charset="0"/>
              </a:rPr>
              <a:t>schistosomules</a:t>
            </a:r>
            <a:r>
              <a:rPr lang="fr-FR" sz="2600" dirty="0" smtClean="0">
                <a:solidFill>
                  <a:srgbClr val="0070C0"/>
                </a:solidFill>
                <a:latin typeface="Tahoma" panose="020B0604030504040204" pitchFamily="34" charset="0"/>
              </a:rPr>
              <a:t> de moins de 15 jours, et les 5 bilharzioses humaines</a:t>
            </a:r>
            <a:r>
              <a:rPr lang="fr-FR" sz="2600" b="1" i="1" dirty="0" smtClean="0">
                <a:solidFill>
                  <a:srgbClr val="0070C0"/>
                </a:solidFill>
                <a:latin typeface="Tahoma" panose="020B0604030504040204" pitchFamily="34" charset="0"/>
              </a:rPr>
              <a:t>.</a:t>
            </a:r>
            <a:r>
              <a:rPr lang="fr-FR" sz="2600" b="1" i="1" dirty="0" smtClean="0">
                <a:latin typeface="Tahoma" panose="020B0604030504040204" pitchFamily="34" charset="0"/>
              </a:rPr>
              <a:t> </a:t>
            </a:r>
          </a:p>
          <a:p>
            <a:pPr marL="0" indent="0" algn="just">
              <a:lnSpc>
                <a:spcPct val="150000"/>
              </a:lnSpc>
              <a:buNone/>
            </a:pPr>
            <a:r>
              <a:rPr lang="fr-FR" sz="2400" b="1" u="sng"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PROPHYLAXIE</a:t>
            </a:r>
            <a:endParaRPr lang="fr-FR" sz="2400" dirty="0">
              <a:solidFill>
                <a:srgbClr val="000000"/>
              </a:solidFill>
              <a:latin typeface="Courier New" panose="02070309020205020404" pitchFamily="49" charset="0"/>
              <a:ea typeface="Calibri" panose="020F0502020204030204" pitchFamily="34" charset="0"/>
            </a:endParaRPr>
          </a:p>
          <a:p>
            <a:pPr algn="just">
              <a:lnSpc>
                <a:spcPct val="150000"/>
              </a:lnSpc>
            </a:pPr>
            <a:r>
              <a:rPr lang="fr-FR" sz="2400" dirty="0">
                <a:solidFill>
                  <a:srgbClr val="000000"/>
                </a:solidFill>
                <a:latin typeface="Tahoma" panose="020B0604030504040204" pitchFamily="34" charset="0"/>
              </a:rPr>
              <a:t>Elle repose sur la communication pour le changement de </a:t>
            </a:r>
            <a:r>
              <a:rPr lang="fr-FR" sz="2400" dirty="0" smtClean="0">
                <a:solidFill>
                  <a:srgbClr val="000000"/>
                </a:solidFill>
                <a:latin typeface="Tahoma" panose="020B0604030504040204" pitchFamily="34" charset="0"/>
              </a:rPr>
              <a:t>comportement, </a:t>
            </a:r>
            <a:r>
              <a:rPr lang="fr-FR" sz="2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assainissement du milieu,</a:t>
            </a:r>
            <a:r>
              <a:rPr lang="fr-FR" sz="2400" spc="30" dirty="0">
                <a:ea typeface="Calibri" panose="020F0502020204030204" pitchFamily="34" charset="0"/>
                <a:cs typeface="Times New Roman" panose="02020603050405020304" pitchFamily="18" charset="0"/>
              </a:rPr>
              <a:t> </a:t>
            </a: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a</a:t>
            </a:r>
            <a:r>
              <a:rPr lang="fr-FR" sz="2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pprovisionnement </a:t>
            </a: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des zones rurales en eau potable, interdiction des baignades dans les cours d'eaux et </a:t>
            </a:r>
            <a:r>
              <a:rPr lang="fr-FR" sz="2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marigots,</a:t>
            </a:r>
            <a:r>
              <a:rPr lang="fr-FR" sz="2400" spc="30" dirty="0">
                <a:ea typeface="Calibri" panose="020F0502020204030204" pitchFamily="34" charset="0"/>
                <a:cs typeface="Times New Roman" panose="02020603050405020304" pitchFamily="18" charset="0"/>
              </a:rPr>
              <a:t> </a:t>
            </a: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p</a:t>
            </a:r>
            <a:r>
              <a:rPr lang="fr-FR" sz="2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ort </a:t>
            </a: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de bottes aux pêcheurs, aux cultivateurs, aux riziculteurs, aux ouvriers travaillant dans les canaux d'irrigation.</a:t>
            </a:r>
            <a:endParaRPr lang="fr-FR" sz="2400" spc="3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1383725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35767"/>
          </a:xfrm>
        </p:spPr>
        <p:txBody>
          <a:bodyPr>
            <a:normAutofit/>
          </a:bodyPr>
          <a:lstStyle/>
          <a:p>
            <a:r>
              <a:rPr lang="fr-FR" sz="3200" b="1" dirty="0" smtClean="0">
                <a:solidFill>
                  <a:srgbClr val="000000"/>
                </a:solidFill>
                <a:latin typeface="Tahoma" panose="020B0604030504040204" pitchFamily="34" charset="0"/>
                <a:ea typeface="Courier New" panose="02070309020205020404" pitchFamily="49" charset="0"/>
              </a:rPr>
              <a:t>SERPENTS ET MORSURES </a:t>
            </a:r>
            <a:r>
              <a:rPr lang="fr-FR" sz="3200" b="1" dirty="0">
                <a:solidFill>
                  <a:srgbClr val="000000"/>
                </a:solidFill>
                <a:latin typeface="Tahoma" panose="020B0604030504040204" pitchFamily="34" charset="0"/>
                <a:ea typeface="Courier New" panose="02070309020205020404" pitchFamily="49" charset="0"/>
              </a:rPr>
              <a:t>DE SERPENTS </a:t>
            </a:r>
            <a:endParaRPr lang="fr-FR" sz="3200" dirty="0"/>
          </a:p>
        </p:txBody>
      </p:sp>
      <p:sp>
        <p:nvSpPr>
          <p:cNvPr id="3" name="Espace réservé du contenu 2"/>
          <p:cNvSpPr>
            <a:spLocks noGrp="1"/>
          </p:cNvSpPr>
          <p:nvPr>
            <p:ph idx="1"/>
          </p:nvPr>
        </p:nvSpPr>
        <p:spPr>
          <a:xfrm>
            <a:off x="1453662" y="1258957"/>
            <a:ext cx="10050950" cy="5049077"/>
          </a:xfrm>
        </p:spPr>
        <p:txBody>
          <a:bodyPr>
            <a:normAutofit/>
          </a:bodyPr>
          <a:lstStyle/>
          <a:p>
            <a:pPr algn="just">
              <a:lnSpc>
                <a:spcPct val="150000"/>
              </a:lnSpc>
            </a:pPr>
            <a:r>
              <a:rPr lang="fr-FR" sz="2800" dirty="0">
                <a:solidFill>
                  <a:srgbClr val="000000"/>
                </a:solidFill>
                <a:latin typeface="Tahoma" panose="020B0604030504040204" pitchFamily="34" charset="0"/>
                <a:ea typeface="Courier New" panose="02070309020205020404" pitchFamily="49" charset="0"/>
              </a:rPr>
              <a:t>les serpents provoquent chaque année environ </a:t>
            </a:r>
            <a:r>
              <a:rPr lang="fr-FR" sz="2800" dirty="0" smtClean="0">
                <a:solidFill>
                  <a:srgbClr val="000000"/>
                </a:solidFill>
                <a:latin typeface="Tahoma" panose="020B0604030504040204" pitchFamily="34" charset="0"/>
                <a:ea typeface="Courier New" panose="02070309020205020404" pitchFamily="49" charset="0"/>
              </a:rPr>
              <a:t>500.000 morsures pour 40.000 décès</a:t>
            </a:r>
          </a:p>
          <a:p>
            <a:pPr algn="just">
              <a:lnSpc>
                <a:spcPct val="150000"/>
              </a:lnSpc>
            </a:pPr>
            <a:r>
              <a:rPr lang="fr-FR" sz="2800" dirty="0" smtClean="0">
                <a:solidFill>
                  <a:srgbClr val="000000"/>
                </a:solidFill>
                <a:latin typeface="Tahoma" panose="020B0604030504040204" pitchFamily="34" charset="0"/>
                <a:ea typeface="Courier New" panose="02070309020205020404" pitchFamily="49" charset="0"/>
              </a:rPr>
              <a:t> </a:t>
            </a:r>
            <a:r>
              <a:rPr lang="fr-FR" sz="2800" dirty="0">
                <a:solidFill>
                  <a:srgbClr val="000000"/>
                </a:solidFill>
                <a:latin typeface="Tahoma" panose="020B0604030504040204" pitchFamily="34" charset="0"/>
                <a:ea typeface="Courier New" panose="02070309020205020404" pitchFamily="49" charset="0"/>
              </a:rPr>
              <a:t>Les serpents sont répandus, dans le monde </a:t>
            </a:r>
            <a:r>
              <a:rPr lang="fr-FR" sz="2800" dirty="0" smtClean="0">
                <a:solidFill>
                  <a:srgbClr val="000000"/>
                </a:solidFill>
                <a:latin typeface="Tahoma" panose="020B0604030504040204" pitchFamily="34" charset="0"/>
                <a:ea typeface="Courier New" panose="02070309020205020404" pitchFamily="49" charset="0"/>
              </a:rPr>
              <a:t>entier et composés de  </a:t>
            </a:r>
            <a:r>
              <a:rPr lang="fr-FR" sz="2800" dirty="0">
                <a:solidFill>
                  <a:srgbClr val="000000"/>
                </a:solidFill>
                <a:latin typeface="Tahoma" panose="020B0604030504040204" pitchFamily="34" charset="0"/>
                <a:ea typeface="Courier New" panose="02070309020205020404" pitchFamily="49" charset="0"/>
              </a:rPr>
              <a:t>2500 </a:t>
            </a:r>
            <a:r>
              <a:rPr lang="fr-FR" sz="2800" dirty="0" smtClean="0">
                <a:solidFill>
                  <a:srgbClr val="000000"/>
                </a:solidFill>
                <a:latin typeface="Tahoma" panose="020B0604030504040204" pitchFamily="34" charset="0"/>
                <a:ea typeface="Courier New" panose="02070309020205020404" pitchFamily="49" charset="0"/>
              </a:rPr>
              <a:t>espèces dont </a:t>
            </a:r>
            <a:r>
              <a:rPr lang="fr-FR" sz="2800" dirty="0">
                <a:solidFill>
                  <a:srgbClr val="000000"/>
                </a:solidFill>
                <a:latin typeface="Tahoma" panose="020B0604030504040204" pitchFamily="34" charset="0"/>
                <a:ea typeface="Courier New" panose="02070309020205020404" pitchFamily="49" charset="0"/>
              </a:rPr>
              <a:t>7% seulement sont dangereux pour l'homme</a:t>
            </a:r>
            <a:endParaRPr lang="fr-FR" sz="2800" dirty="0" smtClean="0">
              <a:solidFill>
                <a:srgbClr val="000000"/>
              </a:solidFill>
              <a:latin typeface="Tahoma" panose="020B0604030504040204" pitchFamily="34" charset="0"/>
              <a:ea typeface="Courier New" panose="02070309020205020404" pitchFamily="49" charset="0"/>
            </a:endParaRPr>
          </a:p>
          <a:p>
            <a:pPr algn="just">
              <a:lnSpc>
                <a:spcPct val="150000"/>
              </a:lnSpc>
            </a:pPr>
            <a:r>
              <a:rPr lang="fr-FR" sz="2800" dirty="0">
                <a:solidFill>
                  <a:srgbClr val="000000"/>
                </a:solidFill>
                <a:latin typeface="Tahoma" panose="020B0604030504040204" pitchFamily="34" charset="0"/>
                <a:ea typeface="Courier New" panose="02070309020205020404" pitchFamily="49" charset="0"/>
              </a:rPr>
              <a:t>On les regroupe selon la forme de leur appareil </a:t>
            </a:r>
            <a:r>
              <a:rPr lang="fr-FR" sz="2800" dirty="0" smtClean="0">
                <a:solidFill>
                  <a:srgbClr val="000000"/>
                </a:solidFill>
                <a:latin typeface="Tahoma" panose="020B0604030504040204" pitchFamily="34" charset="0"/>
                <a:ea typeface="Courier New" panose="02070309020205020404" pitchFamily="49" charset="0"/>
              </a:rPr>
              <a:t>venimeux</a:t>
            </a:r>
          </a:p>
          <a:p>
            <a:pPr lvl="0" algn="just">
              <a:lnSpc>
                <a:spcPct val="150000"/>
              </a:lnSpc>
              <a:buFont typeface="Symbol" panose="05050102010706020507" pitchFamily="18" charset="2"/>
              <a:buChar char=""/>
            </a:pP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Aglyphes </a:t>
            </a: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(couleuvres, boa, python) : absence de crochets.</a:t>
            </a:r>
            <a:endParaRPr lang="fr-FR" sz="28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endParaRPr lang="fr-FR" dirty="0"/>
          </a:p>
          <a:p>
            <a:endParaRPr lang="fr-FR" dirty="0"/>
          </a:p>
        </p:txBody>
      </p:sp>
    </p:spTree>
    <p:extLst>
      <p:ext uri="{BB962C8B-B14F-4D97-AF65-F5344CB8AC3E}">
        <p14:creationId xmlns:p14="http://schemas.microsoft.com/office/powerpoint/2010/main" val="15969054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590260" y="490331"/>
            <a:ext cx="9821586" cy="4943813"/>
          </a:xfrm>
        </p:spPr>
        <p:txBody>
          <a:bodyPr>
            <a:noAutofit/>
          </a:bodyPr>
          <a:lstStyle/>
          <a:p>
            <a:pPr algn="just">
              <a:lnSpc>
                <a:spcPct val="150000"/>
              </a:lnSpc>
              <a:buFont typeface="Symbol" panose="05050102010706020507" pitchFamily="18" charset="2"/>
              <a:buChar char=""/>
            </a:pPr>
            <a:r>
              <a:rPr lang="fr-FR" sz="24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Opisthoglyphes</a:t>
            </a: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possèdent des crochets de chaque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coté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du maxillaire postéro-supérieur (difficilement accessibles et donc peu dangereux pour l'homme</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t>
            </a:r>
            <a:endPar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endParaRPr>
          </a:p>
          <a:p>
            <a:pPr lvl="0" algn="just">
              <a:lnSpc>
                <a:spcPct val="150000"/>
              </a:lnSpc>
              <a:buFont typeface="Symbol" panose="05050102010706020507" pitchFamily="18" charset="2"/>
              <a:buChar char=""/>
            </a:pPr>
            <a:r>
              <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Protéroglyphes</a:t>
            </a: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ont des crochets fixés sur le maxillaire antéro-supérieur, ils sont marins ou terrestres.</a:t>
            </a:r>
            <a:endParaRPr lang="fr-FR" sz="2400" dirty="0">
              <a:ea typeface="Times New Roman" panose="02020603050405020304" pitchFamily="18" charset="0"/>
              <a:cs typeface="Times New Roman" panose="02020603050405020304" pitchFamily="18" charset="0"/>
            </a:endParaRPr>
          </a:p>
          <a:p>
            <a:pPr lvl="0" algn="just">
              <a:lnSpc>
                <a:spcPct val="150000"/>
              </a:lnSpc>
              <a:buFont typeface="Symbol" panose="05050102010706020507" pitchFamily="18" charset="2"/>
              <a:buChar char=""/>
            </a:pP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Solénoglyphes: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possèdent des crochets mobiles, relevés en avant au moment de la morsure, situés sur le maxillaire antéro-supérieur. Ils se composent de vipéridés et de colubridés.</a:t>
            </a:r>
            <a:endParaRPr lang="fr-FR" sz="2400" dirty="0">
              <a:ea typeface="Times New Roman" panose="02020603050405020304" pitchFamily="18" charset="0"/>
              <a:cs typeface="Times New Roman" panose="02020603050405020304" pitchFamily="18" charset="0"/>
            </a:endParaRPr>
          </a:p>
          <a:p>
            <a:pPr algn="just">
              <a:lnSpc>
                <a:spcPct val="150000"/>
              </a:lnSpc>
            </a:pPr>
            <a:r>
              <a:rPr lang="fr-FR" sz="2400" dirty="0">
                <a:solidFill>
                  <a:srgbClr val="000000"/>
                </a:solidFill>
                <a:latin typeface="Tahoma" panose="020B0604030504040204" pitchFamily="34" charset="0"/>
              </a:rPr>
              <a:t>Les Protéroglyphes et les Solénoglyphes sont les groupes les plus </a:t>
            </a:r>
            <a:r>
              <a:rPr lang="fr-FR" sz="2400" dirty="0" smtClean="0">
                <a:solidFill>
                  <a:srgbClr val="000000"/>
                </a:solidFill>
                <a:latin typeface="Tahoma" panose="020B0604030504040204" pitchFamily="34" charset="0"/>
              </a:rPr>
              <a:t>présents </a:t>
            </a:r>
            <a:r>
              <a:rPr lang="fr-FR" sz="2400" dirty="0">
                <a:solidFill>
                  <a:srgbClr val="000000"/>
                </a:solidFill>
                <a:latin typeface="Tahoma" panose="020B0604030504040204" pitchFamily="34" charset="0"/>
              </a:rPr>
              <a:t>en Afrique en général, et en Côte d'ivoire en particulier</a:t>
            </a:r>
            <a:endParaRPr lang="fr-FR" sz="2400" dirty="0"/>
          </a:p>
        </p:txBody>
      </p:sp>
    </p:spTree>
    <p:extLst>
      <p:ext uri="{BB962C8B-B14F-4D97-AF65-F5344CB8AC3E}">
        <p14:creationId xmlns:p14="http://schemas.microsoft.com/office/powerpoint/2010/main" val="36345099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http://ekladata.com/Qn32bk5eT_Hyks6GjE5LTnuxFg0@550x403.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79418" y="581891"/>
            <a:ext cx="9712037" cy="5888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6269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581235"/>
          </a:xfrm>
        </p:spPr>
        <p:txBody>
          <a:bodyPr>
            <a:normAutofit fontScale="90000"/>
          </a:bodyPr>
          <a:lstStyle/>
          <a:p>
            <a:pPr algn="ctr"/>
            <a:r>
              <a:rPr lang="fr-FR" b="1" smtClean="0"/>
              <a:t>SOLENOGLYPHE</a:t>
            </a:r>
            <a:endParaRPr lang="fr-FR" b="1" dirty="0"/>
          </a:p>
        </p:txBody>
      </p:sp>
      <p:pic>
        <p:nvPicPr>
          <p:cNvPr id="7172" name="Picture 4" descr="https://www.asian-pitvipers.com/wp-content/uploads/2017/08/fucata-pahang-province-malaisie-crochet-Credit-Manuel-Ebert.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4" y="1205345"/>
            <a:ext cx="8911687" cy="4706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6224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VENIN PATHOLOGIE</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149927" y="1274618"/>
            <a:ext cx="10354685" cy="4973782"/>
          </a:xfrm>
        </p:spPr>
        <p:txBody>
          <a:bodyPr>
            <a:normAutofit lnSpcReduction="10000"/>
          </a:bodyPr>
          <a:lstStyle/>
          <a:p>
            <a:pPr algn="just">
              <a:lnSpc>
                <a:spcPct val="150000"/>
              </a:lnSpc>
            </a:pPr>
            <a:r>
              <a:rPr lang="fr-FR" sz="2400" dirty="0" smtClean="0">
                <a:solidFill>
                  <a:srgbClr val="000000"/>
                </a:solidFill>
                <a:latin typeface="Tahoma" panose="020B0604030504040204" pitchFamily="34" charset="0"/>
              </a:rPr>
              <a:t>Il </a:t>
            </a:r>
            <a:r>
              <a:rPr lang="fr-FR" sz="2400" dirty="0">
                <a:solidFill>
                  <a:srgbClr val="000000"/>
                </a:solidFill>
                <a:latin typeface="Tahoma" panose="020B0604030504040204" pitchFamily="34" charset="0"/>
              </a:rPr>
              <a:t>se présente comme un liquide jaunâtre et huileux, à l'origine il est sécrété par les glandes salivaires du serpent et sert à la digestion de l'animal.</a:t>
            </a:r>
            <a:endParaRPr lang="fr-FR" sz="2400" dirty="0"/>
          </a:p>
          <a:p>
            <a:pPr algn="just">
              <a:lnSpc>
                <a:spcPct val="150000"/>
              </a:lnSpc>
            </a:pPr>
            <a:r>
              <a:rPr lang="fr-FR" sz="2400" dirty="0">
                <a:solidFill>
                  <a:srgbClr val="000000"/>
                </a:solidFill>
                <a:latin typeface="Tahoma" panose="020B0604030504040204" pitchFamily="34" charset="0"/>
              </a:rPr>
              <a:t>Mais selon les circonstances, il peut s'agir d'une arme destinée à l'attaque ou d'un signe de défense.</a:t>
            </a:r>
            <a:endParaRPr lang="fr-FR" sz="2400" dirty="0"/>
          </a:p>
          <a:p>
            <a:pPr algn="just">
              <a:lnSpc>
                <a:spcPct val="150000"/>
              </a:lnSpc>
            </a:pPr>
            <a:r>
              <a:rPr lang="fr-FR" sz="2400" dirty="0">
                <a:solidFill>
                  <a:srgbClr val="0070C0"/>
                </a:solidFill>
                <a:latin typeface="Tahoma" panose="020B0604030504040204" pitchFamily="34" charset="0"/>
              </a:rPr>
              <a:t>Le venin agit de deux façons selon les catégories de serpent : le venin des élapidés (Naja) est neurotoxique entraînant les paralysies généralisées; le venin des vipéridés est hémolytique et nécrosant entraînant des troubles de la coagulation.</a:t>
            </a:r>
            <a:endParaRPr lang="fr-FR" sz="2400" dirty="0">
              <a:solidFill>
                <a:srgbClr val="0070C0"/>
              </a:solidFill>
            </a:endParaRPr>
          </a:p>
          <a:p>
            <a:pPr>
              <a:lnSpc>
                <a:spcPct val="150000"/>
              </a:lnSpc>
            </a:pPr>
            <a:endParaRPr lang="fr-FR" sz="2400" dirty="0"/>
          </a:p>
          <a:p>
            <a:endParaRPr lang="fr-FR" dirty="0"/>
          </a:p>
        </p:txBody>
      </p:sp>
    </p:spTree>
    <p:extLst>
      <p:ext uri="{BB962C8B-B14F-4D97-AF65-F5344CB8AC3E}">
        <p14:creationId xmlns:p14="http://schemas.microsoft.com/office/powerpoint/2010/main" val="40625556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36430" y="319310"/>
            <a:ext cx="10168181" cy="806105"/>
          </a:xfrm>
        </p:spPr>
        <p:txBody>
          <a:bodyPr/>
          <a:lstStyle/>
          <a:p>
            <a:r>
              <a:rPr lang="fr-FR" b="1" u="sng"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Morsure </a:t>
            </a:r>
            <a:r>
              <a:rPr lang="fr-FR"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par les élapidés</a:t>
            </a:r>
            <a:endParaRPr lang="fr-FR" dirty="0"/>
          </a:p>
        </p:txBody>
      </p:sp>
      <p:sp>
        <p:nvSpPr>
          <p:cNvPr id="3" name="Espace réservé du contenu 2"/>
          <p:cNvSpPr>
            <a:spLocks noGrp="1"/>
          </p:cNvSpPr>
          <p:nvPr>
            <p:ph idx="1"/>
          </p:nvPr>
        </p:nvSpPr>
        <p:spPr>
          <a:xfrm>
            <a:off x="1336431" y="1232453"/>
            <a:ext cx="10168181" cy="4678770"/>
          </a:xfrm>
        </p:spPr>
        <p:txBody>
          <a:bodyPr>
            <a:noAutofit/>
          </a:bodyPr>
          <a:lstStyle/>
          <a:p>
            <a:pPr marL="914400" lvl="2" indent="0" algn="just">
              <a:lnSpc>
                <a:spcPct val="150000"/>
              </a:lnSpc>
              <a:buNone/>
            </a:pPr>
            <a:r>
              <a:rPr lang="fr-FR" sz="24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Signes locaux marqués par:</a:t>
            </a:r>
            <a:r>
              <a:rPr lang="fr-FR" sz="2400" dirty="0">
                <a:solidFill>
                  <a:srgbClr val="000000"/>
                </a:solidFill>
                <a:latin typeface="Courier New" panose="02070309020205020404" pitchFamily="49" charset="0"/>
                <a:ea typeface="Calibri" panose="020F0502020204030204" pitchFamily="34" charset="0"/>
              </a:rPr>
              <a:t> </a:t>
            </a:r>
            <a:r>
              <a:rPr lang="fr-FR" sz="2400" dirty="0" smtClean="0">
                <a:solidFill>
                  <a:srgbClr val="000000"/>
                </a:solidFill>
                <a:latin typeface="Tahoma" panose="020B0604030504040204" pitchFamily="34" charset="0"/>
                <a:ea typeface="Tahoma" panose="020B0604030504040204" pitchFamily="34" charset="0"/>
                <a:cs typeface="Tahoma" panose="020B0604030504040204" pitchFamily="34" charset="0"/>
              </a:rPr>
              <a:t>Des </a:t>
            </a:r>
            <a:r>
              <a:rPr lang="fr-FR" sz="24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douleurs </a:t>
            </a:r>
            <a:r>
              <a:rPr lang="fr-FR" sz="24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au point de </a:t>
            </a:r>
            <a:r>
              <a:rPr lang="fr-FR" sz="24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morsures</a:t>
            </a:r>
            <a:r>
              <a:rPr lang="fr-FR" sz="2400" dirty="0" smtClean="0">
                <a:solidFill>
                  <a:srgbClr val="0070C0"/>
                </a:solidFill>
                <a:ea typeface="Times New Roman" panose="02020603050405020304" pitchFamily="18" charset="0"/>
                <a:cs typeface="Times New Roman" panose="02020603050405020304" pitchFamily="18" charset="0"/>
              </a:rPr>
              <a:t>, </a:t>
            </a:r>
            <a:r>
              <a:rPr lang="fr-FR" sz="24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tremblements </a:t>
            </a:r>
            <a:r>
              <a:rPr lang="fr-FR" sz="24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musculaires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à type de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crampes</a:t>
            </a:r>
            <a:r>
              <a:rPr lang="fr-FR" sz="2400" dirty="0" smtClean="0">
                <a:ea typeface="Times New Roman" panose="02020603050405020304" pitchFamily="18" charset="0"/>
                <a:cs typeface="Times New Roman" panose="02020603050405020304" pitchFamily="18" charset="0"/>
              </a:rPr>
              <a:t>, </a:t>
            </a:r>
            <a:r>
              <a:rPr lang="fr-FR" sz="24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traces </a:t>
            </a:r>
            <a:r>
              <a:rPr lang="fr-FR" sz="24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de </a:t>
            </a:r>
            <a:r>
              <a:rPr lang="fr-FR" sz="24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crochets</a:t>
            </a:r>
            <a:r>
              <a:rPr lang="fr-FR" sz="1050" dirty="0">
                <a:solidFill>
                  <a:srgbClr val="0070C0"/>
                </a:solidFill>
                <a:latin typeface="Tahoma" panose="020B0604030504040204" pitchFamily="34" charset="0"/>
                <a:ea typeface="Courier New" panose="02070309020205020404" pitchFamily="49" charset="0"/>
              </a:rPr>
              <a:t> </a:t>
            </a:r>
            <a:endParaRPr lang="fr-FR" sz="4400" dirty="0">
              <a:solidFill>
                <a:srgbClr val="0070C0"/>
              </a:solidFill>
              <a:latin typeface="Courier New" panose="02070309020205020404" pitchFamily="49" charset="0"/>
              <a:ea typeface="Courier New" panose="02070309020205020404" pitchFamily="49" charset="0"/>
            </a:endParaRPr>
          </a:p>
          <a:p>
            <a:pPr marL="914400" lvl="2" indent="0" algn="just">
              <a:lnSpc>
                <a:spcPct val="150000"/>
              </a:lnSpc>
              <a:buNone/>
            </a:pPr>
            <a:r>
              <a:rPr lang="fr-FR" sz="2000"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Signes généraux</a:t>
            </a:r>
            <a:endParaRPr lang="fr-FR" sz="2000" dirty="0">
              <a:solidFill>
                <a:srgbClr val="000000"/>
              </a:solidFill>
              <a:latin typeface="Courier New" panose="02070309020205020404" pitchFamily="49" charset="0"/>
              <a:ea typeface="Calibri" panose="020F0502020204030204" pitchFamily="34" charset="0"/>
            </a:endParaRPr>
          </a:p>
          <a:p>
            <a:pPr lvl="0" algn="just">
              <a:lnSpc>
                <a:spcPct val="150000"/>
              </a:lnSpc>
              <a:buFont typeface="Symbol" panose="05050102010706020507" pitchFamily="18" charset="2"/>
              <a:buChar char=""/>
            </a:pP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lassitude angoissante et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invincible,</a:t>
            </a:r>
            <a:r>
              <a:rPr lang="fr-FR" sz="2400" dirty="0" smtClean="0">
                <a:ea typeface="Times New Roman" panose="02020603050405020304" pitchFamily="18" charset="0"/>
                <a:cs typeface="Times New Roman" panose="02020603050405020304" pitchFamily="18" charset="0"/>
              </a:rPr>
              <a:t>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frissons,</a:t>
            </a:r>
            <a:r>
              <a:rPr lang="fr-FR" sz="2400" dirty="0" smtClean="0">
                <a:ea typeface="Times New Roman" panose="02020603050405020304" pitchFamily="18" charset="0"/>
                <a:cs typeface="Times New Roman" panose="02020603050405020304" pitchFamily="18" charset="0"/>
              </a:rPr>
              <a:t>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soif intense avec sensation de gorge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brûlante,</a:t>
            </a:r>
            <a:r>
              <a:rPr lang="fr-FR" sz="2400" dirty="0" smtClean="0">
                <a:ea typeface="Times New Roman" panose="02020603050405020304" pitchFamily="18" charset="0"/>
                <a:cs typeface="Times New Roman" panose="02020603050405020304" pitchFamily="18" charset="0"/>
              </a:rPr>
              <a:t>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déglutition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difficile,</a:t>
            </a:r>
            <a:r>
              <a:rPr lang="fr-FR" sz="2400" dirty="0" smtClean="0">
                <a:ea typeface="Times New Roman" panose="02020603050405020304" pitchFamily="18" charset="0"/>
                <a:cs typeface="Times New Roman" panose="02020603050405020304" pitchFamily="18" charset="0"/>
              </a:rPr>
              <a:t>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 ptôsis (chute de la paupière supérieur),</a:t>
            </a:r>
            <a:r>
              <a:rPr lang="fr-FR" sz="2400" dirty="0" smtClean="0">
                <a:ea typeface="Times New Roman" panose="02020603050405020304" pitchFamily="18" charset="0"/>
                <a:cs typeface="Times New Roman" panose="02020603050405020304" pitchFamily="18" charset="0"/>
              </a:rPr>
              <a:t>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troubles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sphinctériens,</a:t>
            </a:r>
            <a:r>
              <a:rPr lang="fr-FR" sz="2400" dirty="0" smtClean="0">
                <a:ea typeface="Times New Roman" panose="02020603050405020304" pitchFamily="18" charset="0"/>
                <a:cs typeface="Times New Roman" panose="02020603050405020304" pitchFamily="18" charset="0"/>
              </a:rPr>
              <a:t>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a:t>
            </a:r>
            <a:r>
              <a:rPr lang="fr-FR" sz="24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paralysie des muscles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respiratoires. Sans</a:t>
            </a:r>
            <a:r>
              <a:rPr lang="fr-FR" sz="2400" spc="10" dirty="0" smtClean="0">
                <a:solidFill>
                  <a:srgbClr val="000000"/>
                </a:solidFill>
                <a:latin typeface="Tahoma" panose="020B0604030504040204" pitchFamily="34" charset="0"/>
                <a:ea typeface="Times New Roman" panose="02020603050405020304" pitchFamily="18" charset="0"/>
              </a:rPr>
              <a:t> traitement le </a:t>
            </a:r>
            <a:r>
              <a:rPr lang="fr-FR" sz="2400" spc="10" dirty="0">
                <a:solidFill>
                  <a:srgbClr val="000000"/>
                </a:solidFill>
                <a:latin typeface="Tahoma" panose="020B0604030504040204" pitchFamily="34" charset="0"/>
                <a:ea typeface="Times New Roman" panose="02020603050405020304" pitchFamily="18" charset="0"/>
              </a:rPr>
              <a:t>sujet </a:t>
            </a:r>
            <a:r>
              <a:rPr lang="fr-FR" sz="2400" spc="10" dirty="0" smtClean="0">
                <a:solidFill>
                  <a:srgbClr val="000000"/>
                </a:solidFill>
                <a:latin typeface="Tahoma" panose="020B0604030504040204" pitchFamily="34" charset="0"/>
                <a:ea typeface="Times New Roman" panose="02020603050405020304" pitchFamily="18" charset="0"/>
              </a:rPr>
              <a:t>meurt dans </a:t>
            </a:r>
            <a:r>
              <a:rPr lang="fr-FR" sz="2400" spc="10" dirty="0">
                <a:solidFill>
                  <a:srgbClr val="000000"/>
                </a:solidFill>
                <a:latin typeface="Tahoma" panose="020B0604030504040204" pitchFamily="34" charset="0"/>
                <a:ea typeface="Times New Roman" panose="02020603050405020304" pitchFamily="18" charset="0"/>
              </a:rPr>
              <a:t>les six </a:t>
            </a:r>
            <a:r>
              <a:rPr lang="fr-FR" sz="2400" spc="30"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(06) </a:t>
            </a:r>
            <a:r>
              <a:rPr lang="fr-FR" sz="2400" spc="10" dirty="0">
                <a:solidFill>
                  <a:srgbClr val="000000"/>
                </a:solidFill>
                <a:latin typeface="Tahoma" panose="020B0604030504040204" pitchFamily="34" charset="0"/>
                <a:ea typeface="Times New Roman" panose="02020603050405020304" pitchFamily="18" charset="0"/>
              </a:rPr>
              <a:t>heures qui suivent</a:t>
            </a:r>
            <a:r>
              <a:rPr lang="fr-FR" sz="2400" spc="10" dirty="0" smtClean="0">
                <a:solidFill>
                  <a:srgbClr val="000000"/>
                </a:solidFill>
                <a:latin typeface="Tahoma" panose="020B0604030504040204" pitchFamily="34" charset="0"/>
                <a:ea typeface="Times New Roman" panose="02020603050405020304" pitchFamily="18" charset="0"/>
              </a:rPr>
              <a:t>, </a:t>
            </a:r>
            <a:r>
              <a:rPr lang="fr-FR" sz="2400" spc="10" dirty="0">
                <a:solidFill>
                  <a:srgbClr val="000000"/>
                </a:solidFill>
                <a:latin typeface="Tahoma" panose="020B0604030504040204" pitchFamily="34" charset="0"/>
                <a:ea typeface="Times New Roman" panose="02020603050405020304" pitchFamily="18" charset="0"/>
              </a:rPr>
              <a:t>dans </a:t>
            </a:r>
            <a:r>
              <a:rPr lang="fr-FR" sz="2400" spc="30"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80% </a:t>
            </a:r>
            <a:r>
              <a:rPr lang="fr-FR" sz="2400" spc="10" dirty="0">
                <a:solidFill>
                  <a:srgbClr val="000000"/>
                </a:solidFill>
                <a:latin typeface="Tahoma" panose="020B0604030504040204" pitchFamily="34" charset="0"/>
                <a:ea typeface="Times New Roman" panose="02020603050405020304" pitchFamily="18" charset="0"/>
              </a:rPr>
              <a:t>des cas.</a:t>
            </a:r>
            <a:endParaRPr lang="fr-FR" sz="1600" spc="10" dirty="0">
              <a:latin typeface="Times New Roman" panose="02020603050405020304" pitchFamily="18" charset="0"/>
              <a:ea typeface="Times New Roman" panose="02020603050405020304" pitchFamily="18" charset="0"/>
            </a:endParaRPr>
          </a:p>
          <a:p>
            <a:pPr marL="0" indent="0" algn="just">
              <a:buNone/>
            </a:pPr>
            <a:endParaRPr lang="fr-FR" sz="2400" dirty="0"/>
          </a:p>
        </p:txBody>
      </p:sp>
    </p:spTree>
    <p:extLst>
      <p:ext uri="{BB962C8B-B14F-4D97-AF65-F5344CB8AC3E}">
        <p14:creationId xmlns:p14="http://schemas.microsoft.com/office/powerpoint/2010/main" val="2419571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595090"/>
          </a:xfrm>
        </p:spPr>
        <p:txBody>
          <a:bodyPr>
            <a:normAutofit fontScale="90000"/>
          </a:bodyPr>
          <a:lstStyle/>
          <a:p>
            <a:pPr lvl="1" algn="l" defTabSz="457200" rtl="0">
              <a:spcBef>
                <a:spcPct val="0"/>
              </a:spcBef>
            </a:pPr>
            <a:r>
              <a:rPr lang="fr-FR" sz="28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MORSURES PAR VIPÉRIDÉS</a:t>
            </a:r>
            <a:r>
              <a:rPr lang="fr-FR" sz="2400" dirty="0" smtClean="0">
                <a:solidFill>
                  <a:srgbClr val="000000"/>
                </a:solidFill>
                <a:latin typeface="Courier New" panose="02070309020205020404" pitchFamily="49" charset="0"/>
                <a:ea typeface="Calibri" panose="020F0502020204030204" pitchFamily="34" charset="0"/>
              </a:rPr>
              <a:t/>
            </a:r>
            <a:br>
              <a:rPr lang="fr-FR" sz="2400" dirty="0" smtClean="0">
                <a:solidFill>
                  <a:srgbClr val="000000"/>
                </a:solidFill>
                <a:latin typeface="Courier New" panose="02070309020205020404" pitchFamily="49" charset="0"/>
                <a:ea typeface="Calibri" panose="020F0502020204030204" pitchFamily="34" charset="0"/>
              </a:rPr>
            </a:br>
            <a:endParaRPr lang="fr-FR" sz="2800" dirty="0"/>
          </a:p>
        </p:txBody>
      </p:sp>
      <p:sp>
        <p:nvSpPr>
          <p:cNvPr id="3" name="Espace réservé du contenu 2"/>
          <p:cNvSpPr>
            <a:spLocks noGrp="1"/>
          </p:cNvSpPr>
          <p:nvPr>
            <p:ph idx="1"/>
          </p:nvPr>
        </p:nvSpPr>
        <p:spPr>
          <a:xfrm>
            <a:off x="1336431" y="1219200"/>
            <a:ext cx="10168181" cy="5251938"/>
          </a:xfrm>
        </p:spPr>
        <p:txBody>
          <a:bodyPr>
            <a:normAutofit fontScale="92500"/>
          </a:bodyPr>
          <a:lstStyle/>
          <a:p>
            <a:pPr marL="914400" lvl="2" indent="0" algn="just">
              <a:lnSpc>
                <a:spcPct val="150000"/>
              </a:lnSpc>
              <a:buNone/>
            </a:pPr>
            <a:r>
              <a:rPr lang="fr-FR" sz="2600" b="1" dirty="0">
                <a:solidFill>
                  <a:srgbClr val="000000"/>
                </a:solidFill>
                <a:latin typeface="Tahoma" panose="020B0604030504040204" pitchFamily="34" charset="0"/>
                <a:ea typeface="Calibri" panose="020F0502020204030204" pitchFamily="34" charset="0"/>
              </a:rPr>
              <a:t>Signes </a:t>
            </a:r>
            <a:r>
              <a:rPr lang="fr-FR" sz="2600" b="1" dirty="0" smtClean="0">
                <a:solidFill>
                  <a:srgbClr val="000000"/>
                </a:solidFill>
                <a:latin typeface="Tahoma" panose="020B0604030504040204" pitchFamily="34" charset="0"/>
                <a:ea typeface="Calibri" panose="020F0502020204030204" pitchFamily="34" charset="0"/>
              </a:rPr>
              <a:t>locaux marqués par:</a:t>
            </a:r>
            <a:r>
              <a:rPr lang="fr-FR" sz="2600" b="1" dirty="0" smtClean="0">
                <a:solidFill>
                  <a:srgbClr val="000000"/>
                </a:solidFill>
                <a:latin typeface="Courier New" panose="02070309020205020404" pitchFamily="49" charset="0"/>
                <a:ea typeface="Calibri" panose="020F0502020204030204" pitchFamily="34" charset="0"/>
              </a:rPr>
              <a:t> </a:t>
            </a:r>
            <a:r>
              <a:rPr lang="fr-FR" sz="2600" b="1"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Des douleurs </a:t>
            </a:r>
            <a:r>
              <a:rPr lang="fr-FR" sz="2600" b="1"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intenses au point de </a:t>
            </a:r>
            <a:r>
              <a:rPr lang="fr-FR" sz="2600" b="1"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morsure</a:t>
            </a:r>
            <a:r>
              <a:rPr lang="fr-FR" sz="2600" dirty="0" smtClean="0">
                <a:solidFill>
                  <a:srgbClr val="0070C0"/>
                </a:solidFill>
                <a:ea typeface="Times New Roman" panose="02020603050405020304" pitchFamily="18" charset="0"/>
                <a:cs typeface="Times New Roman" panose="02020603050405020304" pitchFamily="18" charset="0"/>
              </a:rPr>
              <a:t>, </a:t>
            </a:r>
            <a:r>
              <a:rPr lang="fr-FR" sz="26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des </a:t>
            </a:r>
            <a:r>
              <a:rPr lang="fr-FR" sz="26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traces de crochets sous forme </a:t>
            </a:r>
            <a:r>
              <a:rPr lang="fr-FR" sz="26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d'éraflures</a:t>
            </a:r>
            <a:r>
              <a:rPr lang="fr-FR" sz="2600" dirty="0" smtClean="0">
                <a:solidFill>
                  <a:srgbClr val="0070C0"/>
                </a:solidFill>
                <a:ea typeface="Times New Roman" panose="02020603050405020304" pitchFamily="18" charset="0"/>
                <a:cs typeface="Times New Roman" panose="02020603050405020304" pitchFamily="18" charset="0"/>
              </a:rPr>
              <a:t>  et </a:t>
            </a:r>
            <a:r>
              <a:rPr lang="fr-FR" sz="26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des œdèmes </a:t>
            </a:r>
            <a:r>
              <a:rPr lang="fr-FR" sz="2600" dirty="0">
                <a:solidFill>
                  <a:srgbClr val="0070C0"/>
                </a:solidFill>
                <a:latin typeface="Tahoma" panose="020B0604030504040204" pitchFamily="34" charset="0"/>
                <a:ea typeface="Times New Roman" panose="02020603050405020304" pitchFamily="18" charset="0"/>
                <a:cs typeface="Times New Roman" panose="02020603050405020304" pitchFamily="18" charset="0"/>
              </a:rPr>
              <a:t>du membre mordu avec </a:t>
            </a:r>
            <a:r>
              <a:rPr lang="fr-FR" sz="2600" dirty="0" smtClean="0">
                <a:solidFill>
                  <a:srgbClr val="0070C0"/>
                </a:solidFill>
                <a:latin typeface="Tahoma" panose="020B0604030504040204" pitchFamily="34" charset="0"/>
                <a:ea typeface="Times New Roman" panose="02020603050405020304" pitchFamily="18" charset="0"/>
                <a:cs typeface="Times New Roman" panose="02020603050405020304" pitchFamily="18" charset="0"/>
              </a:rPr>
              <a:t>ecchymose.</a:t>
            </a:r>
            <a:endParaRPr lang="fr-FR" sz="2600" dirty="0" smtClean="0">
              <a:solidFill>
                <a:srgbClr val="0070C0"/>
              </a:solidFill>
            </a:endParaRPr>
          </a:p>
          <a:p>
            <a:pPr>
              <a:lnSpc>
                <a:spcPct val="150000"/>
              </a:lnSpc>
              <a:buFont typeface="Symbol" panose="05050102010706020507" pitchFamily="18" charset="2"/>
              <a:buChar char=""/>
            </a:pPr>
            <a:r>
              <a:rPr lang="fr-FR" sz="2600" b="1" u="sng" dirty="0" smtClean="0">
                <a:solidFill>
                  <a:srgbClr val="000000"/>
                </a:solidFill>
                <a:latin typeface="Tahoma" panose="020B0604030504040204" pitchFamily="34" charset="0"/>
                <a:ea typeface="Calibri" panose="020F0502020204030204" pitchFamily="34" charset="0"/>
              </a:rPr>
              <a:t>Signes </a:t>
            </a:r>
            <a:r>
              <a:rPr lang="fr-FR" sz="2600" b="1" u="sng" dirty="0">
                <a:solidFill>
                  <a:srgbClr val="000000"/>
                </a:solidFill>
                <a:latin typeface="Tahoma" panose="020B0604030504040204" pitchFamily="34" charset="0"/>
                <a:ea typeface="Calibri" panose="020F0502020204030204" pitchFamily="34" charset="0"/>
              </a:rPr>
              <a:t>généraux</a:t>
            </a:r>
            <a:endParaRPr lang="fr-FR" sz="2600" b="1" dirty="0">
              <a:solidFill>
                <a:srgbClr val="000000"/>
              </a:solidFill>
              <a:latin typeface="Courier New" panose="02070309020205020404" pitchFamily="49" charset="0"/>
              <a:ea typeface="Calibri" panose="020F0502020204030204" pitchFamily="34" charset="0"/>
            </a:endParaRPr>
          </a:p>
          <a:p>
            <a:pPr>
              <a:lnSpc>
                <a:spcPct val="150000"/>
              </a:lnSpc>
              <a:buFont typeface="Symbol" panose="05050102010706020507" pitchFamily="18" charset="2"/>
              <a:buChar char=""/>
            </a:pPr>
            <a:r>
              <a:rPr lang="fr-FR" sz="2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a:t>
            </a:r>
            <a:r>
              <a:rPr lang="fr-FR" sz="2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hypotension avec tachycardie et angoisse</a:t>
            </a:r>
            <a:endParaRPr lang="fr-FR" sz="26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2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vomissements/diarrhées avec une hypersudation</a:t>
            </a:r>
            <a:endParaRPr lang="fr-FR" sz="2600" dirty="0"/>
          </a:p>
          <a:p>
            <a:pPr>
              <a:lnSpc>
                <a:spcPct val="150000"/>
              </a:lnSpc>
            </a:pPr>
            <a:r>
              <a:rPr lang="fr-FR" sz="2600" dirty="0">
                <a:solidFill>
                  <a:srgbClr val="000000"/>
                </a:solidFill>
                <a:latin typeface="Tahoma" panose="020B0604030504040204" pitchFamily="34" charset="0"/>
              </a:rPr>
              <a:t>Si le sujet n'est pas traité dans les six </a:t>
            </a:r>
            <a:r>
              <a:rPr lang="fr-FR" sz="2600" spc="30"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(06) </a:t>
            </a:r>
            <a:r>
              <a:rPr lang="fr-FR" sz="2600" dirty="0">
                <a:solidFill>
                  <a:srgbClr val="000000"/>
                </a:solidFill>
                <a:latin typeface="Tahoma" panose="020B0604030504040204" pitchFamily="34" charset="0"/>
              </a:rPr>
              <a:t>heures qui suivent, la mort survient dans </a:t>
            </a:r>
            <a:r>
              <a:rPr lang="fr-FR" sz="2600" spc="30"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30% </a:t>
            </a:r>
            <a:r>
              <a:rPr lang="fr-FR" sz="2600" dirty="0">
                <a:solidFill>
                  <a:srgbClr val="000000"/>
                </a:solidFill>
                <a:latin typeface="Tahoma" panose="020B0604030504040204" pitchFamily="34" charset="0"/>
              </a:rPr>
              <a:t>des cas.</a:t>
            </a:r>
            <a:endParaRPr lang="fr-FR" sz="2600" dirty="0"/>
          </a:p>
          <a:p>
            <a:endParaRPr lang="fr-FR" dirty="0"/>
          </a:p>
        </p:txBody>
      </p:sp>
    </p:spTree>
    <p:extLst>
      <p:ext uri="{BB962C8B-B14F-4D97-AF65-F5344CB8AC3E}">
        <p14:creationId xmlns:p14="http://schemas.microsoft.com/office/powerpoint/2010/main" val="39969354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36431" y="624110"/>
            <a:ext cx="10168181" cy="641982"/>
          </a:xfrm>
        </p:spPr>
        <p:txBody>
          <a:bodyPr>
            <a:normAutofit fontScale="90000"/>
          </a:bodyPr>
          <a:lstStyle/>
          <a:p>
            <a:pPr lvl="0"/>
            <a:r>
              <a:rPr lang="fr-FR"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COMPLICATIONS</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336431" y="1477107"/>
            <a:ext cx="10168181" cy="4829907"/>
          </a:xfrm>
        </p:spPr>
        <p:txBody>
          <a:bodyPr>
            <a:normAutofit fontScale="47500" lnSpcReduction="20000"/>
          </a:bodyPr>
          <a:lstStyle/>
          <a:p>
            <a:pPr marL="457200" lvl="1" indent="0" algn="just">
              <a:lnSpc>
                <a:spcPct val="150000"/>
              </a:lnSpc>
              <a:buNone/>
            </a:pPr>
            <a:r>
              <a:rPr lang="fr-FR" sz="51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Les complications Immédiates</a:t>
            </a:r>
            <a:r>
              <a:rPr lang="fr-FR" sz="5100" dirty="0" smtClean="0">
                <a:solidFill>
                  <a:srgbClr val="000000"/>
                </a:solidFill>
                <a:latin typeface="Courier New" panose="02070309020205020404" pitchFamily="49" charset="0"/>
                <a:ea typeface="Calibri" panose="020F0502020204030204" pitchFamily="34" charset="0"/>
              </a:rPr>
              <a:t> </a:t>
            </a:r>
            <a:r>
              <a:rPr lang="fr-FR" sz="5100" dirty="0" smtClean="0">
                <a:solidFill>
                  <a:srgbClr val="000000"/>
                </a:solidFill>
                <a:latin typeface="Tahoma" panose="020B0604030504040204" pitchFamily="34" charset="0"/>
              </a:rPr>
              <a:t>sont </a:t>
            </a:r>
            <a:r>
              <a:rPr lang="fr-FR" sz="5100" dirty="0">
                <a:solidFill>
                  <a:srgbClr val="000000"/>
                </a:solidFill>
                <a:latin typeface="Tahoma" panose="020B0604030504040204" pitchFamily="34" charset="0"/>
              </a:rPr>
              <a:t>constituées par les signes cliniques généraux quel que soit le type de </a:t>
            </a:r>
            <a:r>
              <a:rPr lang="fr-FR" sz="5100" dirty="0" smtClean="0">
                <a:solidFill>
                  <a:srgbClr val="000000"/>
                </a:solidFill>
                <a:latin typeface="Tahoma" panose="020B0604030504040204" pitchFamily="34" charset="0"/>
              </a:rPr>
              <a:t>serpent</a:t>
            </a:r>
            <a:r>
              <a:rPr lang="fr-FR" sz="4400" dirty="0" smtClean="0">
                <a:solidFill>
                  <a:srgbClr val="000000"/>
                </a:solidFill>
                <a:latin typeface="Tahoma" panose="020B0604030504040204" pitchFamily="34" charset="0"/>
              </a:rPr>
              <a:t>.</a:t>
            </a:r>
            <a:endParaRPr lang="fr-FR" sz="4400" dirty="0" smtClean="0"/>
          </a:p>
          <a:p>
            <a:pPr>
              <a:lnSpc>
                <a:spcPct val="150000"/>
              </a:lnSpc>
            </a:pPr>
            <a:r>
              <a:rPr lang="fr-FR" sz="4000" b="1" u="sng"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Tardives</a:t>
            </a:r>
            <a:endParaRPr lang="fr-FR" sz="4000" dirty="0" smtClean="0">
              <a:solidFill>
                <a:srgbClr val="000000"/>
              </a:solidFill>
              <a:latin typeface="Courier New" panose="02070309020205020404" pitchFamily="49" charset="0"/>
              <a:ea typeface="Calibri" panose="020F0502020204030204" pitchFamily="34" charset="0"/>
            </a:endParaRPr>
          </a:p>
          <a:p>
            <a:pPr marL="0" indent="0">
              <a:lnSpc>
                <a:spcPct val="150000"/>
              </a:lnSpc>
              <a:buNone/>
            </a:pPr>
            <a:r>
              <a:rPr lang="fr-FR" sz="4000" b="1" dirty="0" smtClean="0">
                <a:solidFill>
                  <a:srgbClr val="000000"/>
                </a:solidFill>
                <a:latin typeface="Tahoma" panose="020B0604030504040204" pitchFamily="34" charset="0"/>
                <a:ea typeface="Courier New" panose="02070309020205020404" pitchFamily="49" charset="0"/>
              </a:rPr>
              <a:t>Les </a:t>
            </a:r>
            <a:r>
              <a:rPr lang="fr-FR" sz="4000" b="1" dirty="0">
                <a:solidFill>
                  <a:srgbClr val="000000"/>
                </a:solidFill>
                <a:latin typeface="Tahoma" panose="020B0604030504040204" pitchFamily="34" charset="0"/>
                <a:ea typeface="Courier New" panose="02070309020205020404" pitchFamily="49" charset="0"/>
              </a:rPr>
              <a:t>élapidés</a:t>
            </a:r>
            <a:endParaRPr lang="fr-FR" sz="4000" b="1" dirty="0">
              <a:solidFill>
                <a:srgbClr val="000000"/>
              </a:solidFill>
              <a:latin typeface="Courier New" panose="02070309020205020404" pitchFamily="49" charset="0"/>
              <a:ea typeface="Courier New" panose="02070309020205020404" pitchFamily="49" charset="0"/>
            </a:endParaRPr>
          </a:p>
          <a:p>
            <a:pPr lvl="0">
              <a:lnSpc>
                <a:spcPct val="150000"/>
              </a:lnSpc>
              <a:buFont typeface="Symbol" panose="05050102010706020507" pitchFamily="18" charset="2"/>
              <a:buChar char=""/>
            </a:pPr>
            <a:r>
              <a:rPr lang="fr-FR" sz="5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dysphonie due à la paralysie de la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langue</a:t>
            </a:r>
            <a:r>
              <a:rPr lang="fr-FR" sz="5100" dirty="0" smtClean="0">
                <a:ea typeface="Times New Roman" panose="02020603050405020304" pitchFamily="18" charset="0"/>
                <a:cs typeface="Times New Roman" panose="02020603050405020304" pitchFamily="18" charset="0"/>
              </a:rPr>
              <a:t>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a:t>
            </a:r>
            <a:r>
              <a:rPr lang="fr-FR" sz="5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suffocation due à la paralysie du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pharynx</a:t>
            </a:r>
            <a:r>
              <a:rPr lang="fr-FR" sz="5100" dirty="0" smtClean="0">
                <a:ea typeface="Times New Roman" panose="02020603050405020304" pitchFamily="18" charset="0"/>
                <a:cs typeface="Times New Roman" panose="02020603050405020304" pitchFamily="18" charset="0"/>
              </a:rPr>
              <a:t>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sialorrhée</a:t>
            </a:r>
            <a:endParaRPr lang="fr-FR" sz="5100" spc="10" dirty="0" smtClean="0">
              <a:latin typeface="Times New Roman" panose="02020603050405020304" pitchFamily="18" charset="0"/>
              <a:ea typeface="Times New Roman" panose="02020603050405020304" pitchFamily="18" charset="0"/>
            </a:endParaRPr>
          </a:p>
          <a:p>
            <a:pPr marL="0" lvl="0" indent="0">
              <a:lnSpc>
                <a:spcPct val="150000"/>
              </a:lnSpc>
              <a:buNone/>
            </a:pPr>
            <a:r>
              <a:rPr lang="fr-FR" sz="4000" b="1" dirty="0" smtClean="0">
                <a:solidFill>
                  <a:srgbClr val="000000"/>
                </a:solidFill>
                <a:latin typeface="Tahoma" panose="020B0604030504040204" pitchFamily="34" charset="0"/>
                <a:ea typeface="Courier New" panose="02070309020205020404" pitchFamily="49" charset="0"/>
              </a:rPr>
              <a:t>Les </a:t>
            </a:r>
            <a:r>
              <a:rPr lang="fr-FR" sz="4000" b="1" dirty="0">
                <a:solidFill>
                  <a:srgbClr val="000000"/>
                </a:solidFill>
                <a:latin typeface="Tahoma" panose="020B0604030504040204" pitchFamily="34" charset="0"/>
                <a:ea typeface="Courier New" panose="02070309020205020404" pitchFamily="49" charset="0"/>
              </a:rPr>
              <a:t>vipéridés</a:t>
            </a:r>
            <a:endParaRPr lang="fr-FR" sz="4000" b="1" dirty="0">
              <a:solidFill>
                <a:srgbClr val="000000"/>
              </a:solidFill>
              <a:latin typeface="Courier New" panose="02070309020205020404" pitchFamily="49" charset="0"/>
              <a:ea typeface="Courier New" panose="02070309020205020404" pitchFamily="49" charset="0"/>
            </a:endParaRPr>
          </a:p>
          <a:p>
            <a:pPr lvl="0">
              <a:lnSpc>
                <a:spcPct val="150000"/>
              </a:lnSpc>
              <a:buFont typeface="Symbol" panose="05050102010706020507" pitchFamily="18" charset="2"/>
              <a:buChar char=""/>
            </a:pP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surinfections,</a:t>
            </a:r>
            <a:r>
              <a:rPr lang="fr-FR" sz="5100" dirty="0" smtClean="0">
                <a:ea typeface="Times New Roman" panose="02020603050405020304" pitchFamily="18" charset="0"/>
                <a:cs typeface="Times New Roman" panose="02020603050405020304" pitchFamily="18" charset="0"/>
              </a:rPr>
              <a:t>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a:t>
            </a:r>
            <a:r>
              <a:rPr lang="fr-FR" sz="5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nécroses sous-cutanées et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cutanées,</a:t>
            </a:r>
            <a:r>
              <a:rPr lang="fr-FR" sz="5100" dirty="0" smtClean="0">
                <a:ea typeface="Times New Roman" panose="02020603050405020304" pitchFamily="18" charset="0"/>
                <a:cs typeface="Times New Roman" panose="02020603050405020304" pitchFamily="18" charset="0"/>
              </a:rPr>
              <a:t>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a:t>
            </a:r>
            <a:r>
              <a:rPr lang="fr-FR" sz="5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hémorragies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internes</a:t>
            </a:r>
            <a:r>
              <a:rPr lang="fr-FR" sz="5100" dirty="0" smtClean="0">
                <a:ea typeface="Times New Roman" panose="02020603050405020304" pitchFamily="18" charset="0"/>
                <a:cs typeface="Times New Roman" panose="02020603050405020304" pitchFamily="18" charset="0"/>
              </a:rPr>
              <a:t> </a:t>
            </a:r>
            <a:r>
              <a:rPr lang="fr-FR" sz="51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a:t>
            </a:r>
            <a:r>
              <a:rPr lang="fr-FR" sz="5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épistaxis</a:t>
            </a:r>
            <a:endParaRPr lang="fr-FR" sz="5100" dirty="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2658661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p:txBody>
          <a:bodyPr/>
          <a:lstStyle/>
          <a:p>
            <a:pPr lvl="1" algn="just">
              <a:lnSpc>
                <a:spcPct val="150000"/>
              </a:lnSpc>
              <a:buFont typeface="+mj-lt"/>
              <a:buAutoNum type="arabicPeriod"/>
            </a:pPr>
            <a:r>
              <a:rPr lang="fr-FR" b="1" u="sng" dirty="0">
                <a:solidFill>
                  <a:srgbClr val="000000"/>
                </a:solidFill>
                <a:latin typeface="Tahoma" panose="020B0604030504040204" pitchFamily="34" charset="0"/>
                <a:ea typeface="Courier New" panose="02070309020205020404" pitchFamily="49" charset="0"/>
              </a:rPr>
              <a:t>Principes</a:t>
            </a:r>
            <a:endParaRPr lang="fr-FR" sz="1400" dirty="0">
              <a:solidFill>
                <a:srgbClr val="000000"/>
              </a:solidFill>
              <a:latin typeface="Courier New" panose="02070309020205020404" pitchFamily="49" charset="0"/>
              <a:ea typeface="Courier New" panose="02070309020205020404" pitchFamily="49" charset="0"/>
            </a:endParaRPr>
          </a:p>
          <a:p>
            <a:pPr lvl="0">
              <a:lnSpc>
                <a:spcPct val="150000"/>
              </a:lnSpc>
              <a:buFont typeface="Symbol" panose="05050102010706020507" pitchFamily="18" charset="2"/>
              <a:buChar char=""/>
            </a:pPr>
            <a:r>
              <a:rPr lang="fr-FR" sz="32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éviter la diffusion du venin,</a:t>
            </a:r>
            <a:endParaRPr lang="fr-FR" sz="32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32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neutraliser le venin,</a:t>
            </a:r>
            <a:endParaRPr lang="fr-FR" sz="32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32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éviter les réactions généralisées,</a:t>
            </a:r>
            <a:endParaRPr lang="fr-FR" sz="3200" dirty="0">
              <a:ea typeface="Times New Roman" panose="02020603050405020304" pitchFamily="18" charset="0"/>
              <a:cs typeface="Times New Roman" panose="02020603050405020304" pitchFamily="18" charset="0"/>
            </a:endParaRPr>
          </a:p>
          <a:p>
            <a:r>
              <a:rPr lang="fr-FR" sz="3200" b="1" dirty="0">
                <a:solidFill>
                  <a:srgbClr val="000000"/>
                </a:solidFill>
                <a:latin typeface="Tahoma" panose="020B0604030504040204" pitchFamily="34" charset="0"/>
                <a:ea typeface="Courier New" panose="02070309020205020404" pitchFamily="49" charset="0"/>
              </a:rPr>
              <a:t>éviter les complications</a:t>
            </a:r>
            <a:endParaRPr lang="fr-FR" sz="3200" b="1" dirty="0"/>
          </a:p>
        </p:txBody>
      </p:sp>
    </p:spTree>
    <p:extLst>
      <p:ext uri="{BB962C8B-B14F-4D97-AF65-F5344CB8AC3E}">
        <p14:creationId xmlns:p14="http://schemas.microsoft.com/office/powerpoint/2010/main" val="25033016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94339" y="624110"/>
            <a:ext cx="9910274" cy="1280890"/>
          </a:xfrm>
        </p:spPr>
        <p:txBody>
          <a:bodyPr>
            <a:normAutofit/>
          </a:bodyPr>
          <a:lstStyle/>
          <a:p>
            <a:r>
              <a:rPr lang="fr-FR" sz="2800" b="1" dirty="0">
                <a:solidFill>
                  <a:srgbClr val="000000"/>
                </a:solidFill>
                <a:latin typeface="Tahoma" panose="020B0604030504040204" pitchFamily="34" charset="0"/>
                <a:ea typeface="Courier New" panose="02070309020205020404" pitchFamily="49" charset="0"/>
              </a:rPr>
              <a:t>Rôle de l'infirmier devant une morsure de serpent</a:t>
            </a:r>
            <a:endParaRPr lang="fr-FR" sz="2800" dirty="0"/>
          </a:p>
        </p:txBody>
      </p:sp>
      <p:sp>
        <p:nvSpPr>
          <p:cNvPr id="3" name="Espace réservé du contenu 2"/>
          <p:cNvSpPr>
            <a:spLocks noGrp="1"/>
          </p:cNvSpPr>
          <p:nvPr>
            <p:ph idx="1"/>
          </p:nvPr>
        </p:nvSpPr>
        <p:spPr>
          <a:xfrm>
            <a:off x="1312985" y="1266092"/>
            <a:ext cx="10191627" cy="5134708"/>
          </a:xfrm>
        </p:spPr>
        <p:txBody>
          <a:bodyPr>
            <a:normAutofit/>
          </a:bodyPr>
          <a:lstStyle/>
          <a:p>
            <a:pPr lvl="0">
              <a:lnSpc>
                <a:spcPct val="150000"/>
              </a:lnSpc>
              <a:buFont typeface="Symbol" panose="05050102010706020507" pitchFamily="18" charset="2"/>
              <a:buChar char=""/>
            </a:pP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Allonger le sujet mordu et le laisser au repos;</a:t>
            </a:r>
            <a:endParaRPr lang="fr-FR" sz="28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le </a:t>
            </a:r>
            <a:r>
              <a:rPr lang="fr-FR" sz="28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Calmer et désinfecter le point de </a:t>
            </a: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morsure et faire un bandage au niveau de la lésion;</a:t>
            </a:r>
            <a:endParaRPr lang="fr-FR" sz="28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Injecter 10 à 20 ml de gluconate de calcium en I.V lente;</a:t>
            </a:r>
            <a:endParaRPr lang="fr-FR" sz="28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Instaurer une corticothérapie;</a:t>
            </a:r>
            <a:endParaRPr lang="fr-FR" sz="28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Si le serpent a été identifié, injecter un sérum antivenimeux monovalent pour neutraliser le venin ;</a:t>
            </a:r>
            <a:endParaRPr lang="fr-FR" sz="2800" dirty="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3176063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83323" y="624110"/>
            <a:ext cx="10121289" cy="782659"/>
          </a:xfrm>
        </p:spPr>
        <p:txBody>
          <a:bodyPr>
            <a:normAutofit/>
          </a:bodyPr>
          <a:lstStyle/>
          <a:p>
            <a:r>
              <a:rPr lang="fr-FR" sz="2800" b="1" dirty="0">
                <a:solidFill>
                  <a:srgbClr val="000000"/>
                </a:solidFill>
                <a:latin typeface="Tahoma" panose="020B0604030504040204" pitchFamily="34" charset="0"/>
                <a:ea typeface="Courier New" panose="02070309020205020404" pitchFamily="49" charset="0"/>
              </a:rPr>
              <a:t>Rôle de l'infirmier devant une morsure de serpent</a:t>
            </a:r>
            <a:endParaRPr lang="fr-FR" sz="2800" dirty="0"/>
          </a:p>
        </p:txBody>
      </p:sp>
      <p:sp>
        <p:nvSpPr>
          <p:cNvPr id="3" name="Espace réservé du contenu 2"/>
          <p:cNvSpPr>
            <a:spLocks noGrp="1"/>
          </p:cNvSpPr>
          <p:nvPr>
            <p:ph idx="1"/>
          </p:nvPr>
        </p:nvSpPr>
        <p:spPr>
          <a:xfrm>
            <a:off x="845127" y="1219200"/>
            <a:ext cx="10659486" cy="5064369"/>
          </a:xfrm>
        </p:spPr>
        <p:txBody>
          <a:bodyPr>
            <a:normAutofit fontScale="77500" lnSpcReduction="20000"/>
          </a:bodyPr>
          <a:lstStyle/>
          <a:p>
            <a:pPr lvl="0">
              <a:lnSpc>
                <a:spcPct val="150000"/>
              </a:lnSpc>
              <a:buFont typeface="Symbol" panose="05050102010706020507" pitchFamily="18" charset="2"/>
              <a:buChar char=""/>
            </a:pPr>
            <a:r>
              <a:rPr lang="fr-FR" sz="3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Si le serpent n'a pas été identifié, injecter en S/C un sérum antivenimeux polyvalent ;</a:t>
            </a:r>
            <a:endParaRPr lang="fr-FR" sz="31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3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Cette injection se fait selon la technique de BESREDKA</a:t>
            </a:r>
            <a:endParaRPr lang="fr-FR" sz="31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3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Prévenir les infections par une antibiothérapie</a:t>
            </a:r>
            <a:r>
              <a:rPr lang="fr-FR" sz="2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a:t>
            </a:r>
            <a:endParaRPr lang="fr-FR" sz="26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31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Si le sujet n'est pas vacciné, faire un S.A.T. pour prévenir un tétanos</a:t>
            </a:r>
            <a:r>
              <a:rPr lang="fr-FR" sz="2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a:t>
            </a:r>
            <a:endParaRPr lang="fr-FR" sz="2600" dirty="0"/>
          </a:p>
          <a:p>
            <a:pPr>
              <a:lnSpc>
                <a:spcPct val="150000"/>
              </a:lnSpc>
            </a:pPr>
            <a:r>
              <a:rPr lang="fr-FR" sz="2600" b="1" u="sng" dirty="0">
                <a:solidFill>
                  <a:srgbClr val="000000"/>
                </a:solidFill>
                <a:latin typeface="Tahoma" panose="020B0604030504040204" pitchFamily="34" charset="0"/>
              </a:rPr>
              <a:t>NB</a:t>
            </a:r>
            <a:r>
              <a:rPr lang="fr-FR" sz="2600" b="1" dirty="0">
                <a:solidFill>
                  <a:srgbClr val="000000"/>
                </a:solidFill>
                <a:latin typeface="Tahoma" panose="020B0604030504040204" pitchFamily="34" charset="0"/>
              </a:rPr>
              <a:t> </a:t>
            </a:r>
            <a:r>
              <a:rPr lang="fr-FR" sz="3100" b="1" dirty="0">
                <a:solidFill>
                  <a:srgbClr val="000000"/>
                </a:solidFill>
                <a:latin typeface="Tahoma" panose="020B0604030504040204" pitchFamily="34" charset="0"/>
              </a:rPr>
              <a:t>:</a:t>
            </a:r>
            <a:r>
              <a:rPr lang="fr-FR" sz="3100" dirty="0">
                <a:solidFill>
                  <a:srgbClr val="000000"/>
                </a:solidFill>
                <a:latin typeface="Tahoma" panose="020B0604030504040204" pitchFamily="34" charset="0"/>
              </a:rPr>
              <a:t> Dans la mesure du possible, il faut éviter de faire marcher le sujet mordu.</a:t>
            </a:r>
            <a:endParaRPr lang="fr-FR" sz="3100" dirty="0"/>
          </a:p>
          <a:p>
            <a:pPr>
              <a:lnSpc>
                <a:spcPct val="150000"/>
              </a:lnSpc>
            </a:pPr>
            <a:r>
              <a:rPr lang="fr-FR" sz="3100" dirty="0">
                <a:solidFill>
                  <a:srgbClr val="000000"/>
                </a:solidFill>
                <a:latin typeface="Tahoma" panose="020B0604030504040204" pitchFamily="34" charset="0"/>
              </a:rPr>
              <a:t>La pause du garrot au-dessus et en dessous de la plaie est </a:t>
            </a:r>
            <a:r>
              <a:rPr lang="fr-FR" sz="3100" dirty="0" smtClean="0">
                <a:solidFill>
                  <a:srgbClr val="000000"/>
                </a:solidFill>
                <a:latin typeface="Tahoma" panose="020B0604030504040204" pitchFamily="34" charset="0"/>
              </a:rPr>
              <a:t>déconseillée: </a:t>
            </a:r>
            <a:r>
              <a:rPr lang="fr-FR" sz="3100" dirty="0" smtClean="0">
                <a:solidFill>
                  <a:schemeClr val="accent1"/>
                </a:solidFill>
                <a:latin typeface="Tahoma" panose="020B0604030504040204" pitchFamily="34" charset="0"/>
              </a:rPr>
              <a:t>le </a:t>
            </a:r>
            <a:r>
              <a:rPr lang="fr-FR" sz="3100" dirty="0">
                <a:solidFill>
                  <a:schemeClr val="accent1"/>
                </a:solidFill>
                <a:latin typeface="Tahoma" panose="020B0604030504040204" pitchFamily="34" charset="0"/>
              </a:rPr>
              <a:t>garrot ne doit pas empêcher la circulation </a:t>
            </a:r>
            <a:r>
              <a:rPr lang="fr-FR" sz="3100" dirty="0" smtClean="0">
                <a:solidFill>
                  <a:schemeClr val="accent1"/>
                </a:solidFill>
                <a:latin typeface="Tahoma" panose="020B0604030504040204" pitchFamily="34" charset="0"/>
              </a:rPr>
              <a:t>artérielle.</a:t>
            </a:r>
            <a:endParaRPr lang="fr-FR" sz="3100" dirty="0">
              <a:solidFill>
                <a:schemeClr val="accent1"/>
              </a:solidFill>
            </a:endParaRPr>
          </a:p>
          <a:p>
            <a:endParaRPr lang="fr-FR" sz="2600" dirty="0">
              <a:solidFill>
                <a:schemeClr val="accent1"/>
              </a:solidFill>
            </a:endParaRPr>
          </a:p>
        </p:txBody>
      </p:sp>
    </p:spTree>
    <p:extLst>
      <p:ext uri="{BB962C8B-B14F-4D97-AF65-F5344CB8AC3E}">
        <p14:creationId xmlns:p14="http://schemas.microsoft.com/office/powerpoint/2010/main" val="40446818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47446" y="624110"/>
            <a:ext cx="9957166" cy="829552"/>
          </a:xfrm>
        </p:spPr>
        <p:txBody>
          <a:bodyPr>
            <a:normAutofit fontScale="90000"/>
          </a:bodyPr>
          <a:lstStyle/>
          <a:p>
            <a:pPr lvl="0"/>
            <a:r>
              <a:rPr lang="fr-FR" b="1" dirty="0"/>
              <a:t>PATHOLOGIE DUE AU SERPENT CRACHEUR</a:t>
            </a:r>
            <a:r>
              <a:rPr lang="fr-FR" dirty="0"/>
              <a:t/>
            </a:r>
            <a:br>
              <a:rPr lang="fr-FR" dirty="0"/>
            </a:br>
            <a:endParaRPr lang="fr-FR" dirty="0"/>
          </a:p>
        </p:txBody>
      </p:sp>
      <p:sp>
        <p:nvSpPr>
          <p:cNvPr id="3" name="Espace réservé du contenu 2"/>
          <p:cNvSpPr>
            <a:spLocks noGrp="1"/>
          </p:cNvSpPr>
          <p:nvPr>
            <p:ph idx="1"/>
          </p:nvPr>
        </p:nvSpPr>
        <p:spPr>
          <a:xfrm>
            <a:off x="1055077" y="1453661"/>
            <a:ext cx="10449535" cy="4806461"/>
          </a:xfrm>
        </p:spPr>
        <p:txBody>
          <a:bodyPr>
            <a:normAutofit fontScale="92500" lnSpcReduction="10000"/>
          </a:bodyPr>
          <a:lstStyle/>
          <a:p>
            <a:pPr marL="0" lvl="0" indent="0" algn="just">
              <a:lnSpc>
                <a:spcPct val="150000"/>
              </a:lnSpc>
              <a:buNone/>
              <a:tabLst>
                <a:tab pos="450215" algn="l"/>
                <a:tab pos="540385" algn="l"/>
              </a:tabLst>
            </a:pPr>
            <a:r>
              <a:rPr lang="fr-FR"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PATHOLOGIE DUE AU SERPENT CRACHEUR</a:t>
            </a:r>
            <a:endParaRPr lang="fr-FR" dirty="0">
              <a:solidFill>
                <a:srgbClr val="000000"/>
              </a:solidFill>
              <a:latin typeface="Courier New" panose="02070309020205020404" pitchFamily="49" charset="0"/>
              <a:ea typeface="Calibri" panose="020F0502020204030204" pitchFamily="34" charset="0"/>
            </a:endParaRPr>
          </a:p>
          <a:p>
            <a:pPr>
              <a:lnSpc>
                <a:spcPct val="150000"/>
              </a:lnSpc>
            </a:pPr>
            <a:r>
              <a:rPr lang="fr-FR" sz="2600" dirty="0">
                <a:solidFill>
                  <a:srgbClr val="000000"/>
                </a:solidFill>
                <a:latin typeface="Tahoma" panose="020B0604030504040204" pitchFamily="34" charset="0"/>
              </a:rPr>
              <a:t>Le serpent projette son venin à distance choisissant une cible </a:t>
            </a:r>
            <a:r>
              <a:rPr lang="fr-FR" sz="2600" dirty="0" smtClean="0">
                <a:solidFill>
                  <a:srgbClr val="000000"/>
                </a:solidFill>
                <a:latin typeface="Tahoma" panose="020B0604030504040204" pitchFamily="34" charset="0"/>
              </a:rPr>
              <a:t>brillante.  Les yeux </a:t>
            </a:r>
            <a:r>
              <a:rPr lang="fr-FR" sz="2600" dirty="0">
                <a:solidFill>
                  <a:srgbClr val="000000"/>
                </a:solidFill>
                <a:latin typeface="Tahoma" panose="020B0604030504040204" pitchFamily="34" charset="0"/>
              </a:rPr>
              <a:t>sont </a:t>
            </a:r>
            <a:r>
              <a:rPr lang="fr-FR" sz="2600" dirty="0" smtClean="0">
                <a:solidFill>
                  <a:srgbClr val="000000"/>
                </a:solidFill>
                <a:latin typeface="Tahoma" panose="020B0604030504040204" pitchFamily="34" charset="0"/>
              </a:rPr>
              <a:t>le plus souvent </a:t>
            </a:r>
            <a:r>
              <a:rPr lang="fr-FR" sz="2600" dirty="0">
                <a:solidFill>
                  <a:srgbClr val="000000"/>
                </a:solidFill>
                <a:latin typeface="Tahoma" panose="020B0604030504040204" pitchFamily="34" charset="0"/>
              </a:rPr>
              <a:t>atteints. </a:t>
            </a:r>
            <a:r>
              <a:rPr lang="fr-FR" sz="2600" dirty="0" smtClean="0">
                <a:solidFill>
                  <a:srgbClr val="000000"/>
                </a:solidFill>
                <a:latin typeface="Tahoma" panose="020B0604030504040204" pitchFamily="34" charset="0"/>
              </a:rPr>
              <a:t>Ce qui provoque </a:t>
            </a:r>
            <a:r>
              <a:rPr lang="fr-FR" sz="2600" dirty="0">
                <a:solidFill>
                  <a:srgbClr val="000000"/>
                </a:solidFill>
                <a:latin typeface="Tahoma" panose="020B0604030504040204" pitchFamily="34" charset="0"/>
              </a:rPr>
              <a:t>une </a:t>
            </a:r>
            <a:r>
              <a:rPr lang="fr-FR" sz="2600" dirty="0" err="1">
                <a:solidFill>
                  <a:srgbClr val="000000"/>
                </a:solidFill>
                <a:latin typeface="Tahoma" panose="020B0604030504040204" pitchFamily="34" charset="0"/>
              </a:rPr>
              <a:t>kérato</a:t>
            </a:r>
            <a:r>
              <a:rPr lang="fr-FR" sz="2600" dirty="0">
                <a:solidFill>
                  <a:srgbClr val="000000"/>
                </a:solidFill>
                <a:latin typeface="Tahoma" panose="020B0604030504040204" pitchFamily="34" charset="0"/>
              </a:rPr>
              <a:t>-conjonctivite </a:t>
            </a:r>
            <a:r>
              <a:rPr lang="fr-FR" sz="2600" dirty="0" err="1">
                <a:solidFill>
                  <a:srgbClr val="000000"/>
                </a:solidFill>
                <a:latin typeface="Tahoma" panose="020B0604030504040204" pitchFamily="34" charset="0"/>
              </a:rPr>
              <a:t>ulcérante</a:t>
            </a:r>
            <a:r>
              <a:rPr lang="fr-FR" sz="2600" dirty="0">
                <a:solidFill>
                  <a:srgbClr val="000000"/>
                </a:solidFill>
                <a:latin typeface="Tahoma" panose="020B0604030504040204" pitchFamily="34" charset="0"/>
              </a:rPr>
              <a:t>.</a:t>
            </a:r>
            <a:endParaRPr lang="fr-FR" sz="2600" dirty="0"/>
          </a:p>
          <a:p>
            <a:pPr>
              <a:lnSpc>
                <a:spcPct val="150000"/>
              </a:lnSpc>
            </a:pPr>
            <a:r>
              <a:rPr lang="fr-FR" sz="2600" dirty="0">
                <a:solidFill>
                  <a:srgbClr val="000000"/>
                </a:solidFill>
                <a:latin typeface="Tahoma" panose="020B0604030504040204" pitchFamily="34" charset="0"/>
              </a:rPr>
              <a:t>Le traitement repose sur :</a:t>
            </a:r>
            <a:endParaRPr lang="fr-FR" sz="2600" dirty="0"/>
          </a:p>
          <a:p>
            <a:pPr lvl="0">
              <a:lnSpc>
                <a:spcPct val="150000"/>
              </a:lnSpc>
              <a:buFont typeface="Calibri" panose="020F0502020204030204" pitchFamily="34" charset="0"/>
              <a:buChar char="-"/>
            </a:pPr>
            <a:r>
              <a:rPr lang="fr-FR" sz="26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 lavage immédiat des yeux par du sérum salé isotonique,</a:t>
            </a:r>
            <a:endParaRPr lang="fr-FR" sz="26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6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L’instillation de </a:t>
            </a:r>
            <a:r>
              <a:rPr lang="fr-FR" sz="2600" dirty="0">
                <a:solidFill>
                  <a:srgbClr val="000000"/>
                </a:solidFill>
                <a:latin typeface="Tahoma" panose="020B0604030504040204" pitchFamily="34" charset="0"/>
                <a:ea typeface="Calibri" panose="020F0502020204030204" pitchFamily="34" charset="0"/>
                <a:cs typeface="Times New Roman" panose="02020603050405020304" pitchFamily="18" charset="0"/>
              </a:rPr>
              <a:t>collyre mydriatique et pommade antibiotique,</a:t>
            </a:r>
            <a:endParaRPr lang="fr-FR" sz="26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6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ET </a:t>
            </a:r>
            <a:r>
              <a:rPr lang="fr-FR" sz="26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 pansement occlusif</a:t>
            </a:r>
            <a:endParaRPr lang="fr-FR" sz="2600" dirty="0">
              <a:ea typeface="Calibri" panose="020F0502020204030204" pitchFamily="34" charset="0"/>
              <a:cs typeface="Times New Roman" panose="02020603050405020304" pitchFamily="18" charset="0"/>
            </a:endParaRPr>
          </a:p>
          <a:p>
            <a:endParaRPr lang="fr-FR" sz="2600" dirty="0"/>
          </a:p>
        </p:txBody>
      </p:sp>
    </p:spTree>
    <p:extLst>
      <p:ext uri="{BB962C8B-B14F-4D97-AF65-F5344CB8AC3E}">
        <p14:creationId xmlns:p14="http://schemas.microsoft.com/office/powerpoint/2010/main" val="14386771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743855"/>
            <a:ext cx="8911687" cy="1280890"/>
          </a:xfrm>
        </p:spPr>
        <p:style>
          <a:lnRef idx="1">
            <a:schemeClr val="accent2"/>
          </a:lnRef>
          <a:fillRef idx="2">
            <a:schemeClr val="accent2"/>
          </a:fillRef>
          <a:effectRef idx="1">
            <a:schemeClr val="accent2"/>
          </a:effectRef>
          <a:fontRef idx="minor">
            <a:schemeClr val="dk1"/>
          </a:fontRef>
        </p:style>
        <p:txBody>
          <a:bodyPr>
            <a:noAutofit/>
          </a:bodyPr>
          <a:lstStyle/>
          <a:p>
            <a:r>
              <a:rPr lang="fr-FR" sz="5400" b="1" dirty="0">
                <a:latin typeface="Tahoma" panose="020B0604030504040204" pitchFamily="34" charset="0"/>
              </a:rPr>
              <a:t>TREPONEMATOSES</a:t>
            </a:r>
            <a:r>
              <a:rPr lang="fr-FR" sz="5400" dirty="0"/>
              <a:t/>
            </a:r>
            <a:br>
              <a:rPr lang="fr-FR" sz="5400" dirty="0"/>
            </a:br>
            <a:endParaRPr lang="fr-FR" sz="5400" dirty="0"/>
          </a:p>
        </p:txBody>
      </p:sp>
    </p:spTree>
    <p:extLst>
      <p:ext uri="{BB962C8B-B14F-4D97-AF65-F5344CB8AC3E}">
        <p14:creationId xmlns:p14="http://schemas.microsoft.com/office/powerpoint/2010/main" val="24442528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1040567"/>
          </a:xfrm>
        </p:spPr>
        <p:txBody>
          <a:bodyPr>
            <a:normAutofit fontScale="90000"/>
          </a:bodyPr>
          <a:lstStyle/>
          <a:p>
            <a:r>
              <a:rPr lang="fr-FR" b="1" dirty="0">
                <a:latin typeface="Tahoma" panose="020B0604030504040204" pitchFamily="34" charset="0"/>
              </a:rPr>
              <a:t>TREPONEMATOSES</a:t>
            </a:r>
            <a:r>
              <a:rPr lang="fr-FR" dirty="0"/>
              <a:t/>
            </a:r>
            <a:br>
              <a:rPr lang="fr-FR" dirty="0"/>
            </a:br>
            <a:endParaRPr lang="fr-FR" dirty="0"/>
          </a:p>
        </p:txBody>
      </p:sp>
      <p:sp>
        <p:nvSpPr>
          <p:cNvPr id="3" name="Espace réservé du contenu 2"/>
          <p:cNvSpPr>
            <a:spLocks noGrp="1"/>
          </p:cNvSpPr>
          <p:nvPr>
            <p:ph idx="1"/>
          </p:nvPr>
        </p:nvSpPr>
        <p:spPr>
          <a:xfrm>
            <a:off x="1242645" y="1664677"/>
            <a:ext cx="10480431" cy="4642337"/>
          </a:xfrm>
        </p:spPr>
        <p:txBody>
          <a:bodyPr>
            <a:normAutofit/>
          </a:bodyPr>
          <a:lstStyle/>
          <a:p>
            <a:r>
              <a:rPr lang="fr-FR" sz="2800" b="1" dirty="0" smtClean="0"/>
              <a:t>Définition</a:t>
            </a:r>
            <a:r>
              <a:rPr lang="fr-FR" dirty="0" smtClean="0"/>
              <a:t>:</a:t>
            </a:r>
          </a:p>
          <a:p>
            <a:pPr algn="just">
              <a:lnSpc>
                <a:spcPct val="150000"/>
              </a:lnSpc>
            </a:pPr>
            <a:r>
              <a:rPr lang="fr-FR" sz="2800" spc="30" dirty="0" smtClean="0">
                <a:solidFill>
                  <a:srgbClr val="000000"/>
                </a:solidFill>
                <a:latin typeface="Tahoma" panose="020B0604030504040204" pitchFamily="34" charset="0"/>
                <a:ea typeface="Arial Unicode MS" panose="020B0604020202020204" pitchFamily="34" charset="-128"/>
              </a:rPr>
              <a:t>Les </a:t>
            </a:r>
            <a:r>
              <a:rPr lang="fr-FR" sz="2800" spc="30" dirty="0">
                <a:solidFill>
                  <a:srgbClr val="000000"/>
                </a:solidFill>
                <a:latin typeface="Tahoma" panose="020B0604030504040204" pitchFamily="34" charset="0"/>
                <a:ea typeface="Arial Unicode MS" panose="020B0604020202020204" pitchFamily="34" charset="-128"/>
              </a:rPr>
              <a:t>tréponématoses sont un groupe </a:t>
            </a:r>
            <a:r>
              <a:rPr lang="fr-FR" sz="2800" spc="30" dirty="0" smtClean="0">
                <a:solidFill>
                  <a:srgbClr val="000000"/>
                </a:solidFill>
                <a:latin typeface="Tahoma" panose="020B0604030504040204" pitchFamily="34" charset="0"/>
                <a:ea typeface="Arial Unicode MS" panose="020B0604020202020204" pitchFamily="34" charset="-128"/>
              </a:rPr>
              <a:t>d'infections bactériennes causées </a:t>
            </a:r>
            <a:r>
              <a:rPr lang="fr-FR" sz="2800" spc="30" dirty="0">
                <a:solidFill>
                  <a:srgbClr val="000000"/>
                </a:solidFill>
                <a:latin typeface="Tahoma" panose="020B0604030504040204" pitchFamily="34" charset="0"/>
                <a:ea typeface="Arial Unicode MS" panose="020B0604020202020204" pitchFamily="34" charset="-128"/>
              </a:rPr>
              <a:t>par des tréponèmes appartenant à la famille des treponemaceae et du genre des </a:t>
            </a:r>
            <a:r>
              <a:rPr lang="fr-FR" sz="2800" spc="30" dirty="0" err="1">
                <a:solidFill>
                  <a:srgbClr val="000000"/>
                </a:solidFill>
                <a:latin typeface="Tahoma" panose="020B0604030504040204" pitchFamily="34" charset="0"/>
                <a:ea typeface="Arial Unicode MS" panose="020B0604020202020204" pitchFamily="34" charset="-128"/>
              </a:rPr>
              <a:t>treponema</a:t>
            </a:r>
            <a:r>
              <a:rPr lang="fr-FR" sz="2800" spc="30" dirty="0" smtClean="0">
                <a:solidFill>
                  <a:srgbClr val="000000"/>
                </a:solidFill>
                <a:latin typeface="Tahoma" panose="020B0604030504040204" pitchFamily="34" charset="0"/>
                <a:ea typeface="Arial Unicode MS" panose="020B0604020202020204" pitchFamily="34" charset="-128"/>
              </a:rPr>
              <a:t>.</a:t>
            </a:r>
          </a:p>
          <a:p>
            <a:pPr algn="just">
              <a:lnSpc>
                <a:spcPct val="150000"/>
              </a:lnSpc>
            </a:pPr>
            <a:r>
              <a:rPr lang="fr-FR" sz="2800" spc="30" dirty="0" smtClean="0">
                <a:solidFill>
                  <a:srgbClr val="000000"/>
                </a:solidFill>
                <a:latin typeface="Tahoma" panose="020B0604030504040204" pitchFamily="34" charset="0"/>
                <a:ea typeface="Arial Unicode MS" panose="020B0604020202020204" pitchFamily="34" charset="-128"/>
              </a:rPr>
              <a:t> </a:t>
            </a:r>
            <a:r>
              <a:rPr lang="fr-FR" sz="2800" spc="30" dirty="0">
                <a:solidFill>
                  <a:srgbClr val="000000"/>
                </a:solidFill>
                <a:latin typeface="Tahoma" panose="020B0604030504040204" pitchFamily="34" charset="0"/>
                <a:ea typeface="Arial Unicode MS" panose="020B0604020202020204" pitchFamily="34" charset="-128"/>
              </a:rPr>
              <a:t>Les tréponèmes causent essentiellement quatre (4) maladies qui sont: la syphilis endémique </a:t>
            </a:r>
            <a:r>
              <a:rPr lang="fr-FR" sz="2800" spc="30" dirty="0" smtClean="0">
                <a:solidFill>
                  <a:srgbClr val="000000"/>
                </a:solidFill>
                <a:latin typeface="Tahoma" panose="020B0604030504040204" pitchFamily="34" charset="0"/>
                <a:ea typeface="Arial Unicode MS" panose="020B0604020202020204" pitchFamily="34" charset="-128"/>
              </a:rPr>
              <a:t>vénérienne; </a:t>
            </a:r>
            <a:r>
              <a:rPr lang="fr-FR" sz="2800" spc="30" dirty="0">
                <a:solidFill>
                  <a:srgbClr val="000000"/>
                </a:solidFill>
                <a:latin typeface="Tahoma" panose="020B0604030504040204" pitchFamily="34" charset="0"/>
                <a:ea typeface="Arial Unicode MS" panose="020B0604020202020204" pitchFamily="34" charset="-128"/>
              </a:rPr>
              <a:t>le pian, le </a:t>
            </a:r>
            <a:r>
              <a:rPr lang="fr-FR" sz="2800" spc="30" dirty="0" err="1" smtClean="0">
                <a:solidFill>
                  <a:srgbClr val="000000"/>
                </a:solidFill>
                <a:latin typeface="Tahoma" panose="020B0604030504040204" pitchFamily="34" charset="0"/>
                <a:ea typeface="Arial Unicode MS" panose="020B0604020202020204" pitchFamily="34" charset="-128"/>
              </a:rPr>
              <a:t>bejel</a:t>
            </a:r>
            <a:r>
              <a:rPr lang="fr-FR" sz="2800" spc="30" dirty="0" smtClean="0">
                <a:solidFill>
                  <a:srgbClr val="000000"/>
                </a:solidFill>
                <a:latin typeface="Tahoma" panose="020B0604030504040204" pitchFamily="34" charset="0"/>
                <a:ea typeface="Arial Unicode MS" panose="020B0604020202020204" pitchFamily="34" charset="-128"/>
              </a:rPr>
              <a:t>; </a:t>
            </a:r>
            <a:r>
              <a:rPr lang="fr-FR" sz="2800" spc="30" dirty="0">
                <a:solidFill>
                  <a:srgbClr val="000000"/>
                </a:solidFill>
                <a:latin typeface="Tahoma" panose="020B0604030504040204" pitchFamily="34" charset="0"/>
                <a:ea typeface="Arial Unicode MS" panose="020B0604020202020204" pitchFamily="34" charset="-128"/>
              </a:rPr>
              <a:t>la pinta ou carate.</a:t>
            </a:r>
            <a:endParaRPr lang="fr-FR" sz="2800" spc="30" dirty="0">
              <a:latin typeface="Arial Unicode MS" panose="020B0604020202020204" pitchFamily="34" charset="-128"/>
              <a:ea typeface="Arial Unicode MS" panose="020B0604020202020204" pitchFamily="34" charset="-128"/>
            </a:endParaRPr>
          </a:p>
          <a:p>
            <a:pPr algn="just">
              <a:lnSpc>
                <a:spcPct val="150000"/>
              </a:lnSpc>
            </a:pPr>
            <a:endParaRPr lang="fr-FR" sz="2800" dirty="0"/>
          </a:p>
        </p:txBody>
      </p:sp>
    </p:spTree>
    <p:extLst>
      <p:ext uri="{BB962C8B-B14F-4D97-AF65-F5344CB8AC3E}">
        <p14:creationId xmlns:p14="http://schemas.microsoft.com/office/powerpoint/2010/main" val="39742393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a syphilis, le sida du XIXème siècle | La vie au XIXe siècle"/>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72843" b="17704"/>
          <a:stretch/>
        </p:blipFill>
        <p:spPr bwMode="auto">
          <a:xfrm rot="16200000">
            <a:off x="381701" y="981823"/>
            <a:ext cx="4968000" cy="573140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ohn Libbey Eurotext - Dermato Mag - « Les fleurs du mal » : la syphil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1403" y="1316120"/>
            <a:ext cx="5760000" cy="5062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19657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829552"/>
          </a:xfrm>
        </p:spPr>
        <p:txBody>
          <a:bodyPr>
            <a:normAutofit fontScale="90000"/>
          </a:bodyPr>
          <a:lstStyle/>
          <a:p>
            <a:r>
              <a:rPr lang="fr-FR" b="1" u="sng" spc="25"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LA SYPHILIS VENERIENNE</a:t>
            </a:r>
            <a:r>
              <a:rPr lang="fr-FR" dirty="0"/>
              <a:t/>
            </a:r>
            <a:br>
              <a:rPr lang="fr-FR" dirty="0"/>
            </a:br>
            <a:endParaRPr lang="fr-FR" dirty="0"/>
          </a:p>
        </p:txBody>
      </p:sp>
      <p:sp>
        <p:nvSpPr>
          <p:cNvPr id="3" name="Espace réservé du contenu 2"/>
          <p:cNvSpPr>
            <a:spLocks noGrp="1"/>
          </p:cNvSpPr>
          <p:nvPr>
            <p:ph idx="1"/>
          </p:nvPr>
        </p:nvSpPr>
        <p:spPr>
          <a:xfrm>
            <a:off x="1312985" y="1453661"/>
            <a:ext cx="10191627" cy="5040923"/>
          </a:xfrm>
        </p:spPr>
        <p:txBody>
          <a:bodyPr>
            <a:normAutofit lnSpcReduction="10000"/>
          </a:bodyPr>
          <a:lstStyle/>
          <a:p>
            <a:pPr marL="0" lvl="0" indent="0" algn="just">
              <a:lnSpc>
                <a:spcPct val="150000"/>
              </a:lnSpc>
              <a:buNone/>
              <a:tabLst>
                <a:tab pos="540385" algn="l"/>
              </a:tabLst>
            </a:pPr>
            <a:r>
              <a:rPr lang="fr-FR" b="1" u="sng" spc="25" dirty="0" smtClean="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DEFINITION</a:t>
            </a:r>
            <a:r>
              <a:rPr lang="fr-FR" dirty="0" smtClean="0">
                <a:solidFill>
                  <a:srgbClr val="000000"/>
                </a:solidFill>
                <a:latin typeface="Courier New" panose="02070309020205020404" pitchFamily="49" charset="0"/>
                <a:ea typeface="Arial Unicode MS" panose="020B0604020202020204" pitchFamily="34" charset="-128"/>
              </a:rPr>
              <a:t>: </a:t>
            </a:r>
            <a:r>
              <a:rPr lang="fr-FR" sz="2400" spc="30" dirty="0" smtClean="0">
                <a:solidFill>
                  <a:srgbClr val="000000"/>
                </a:solidFill>
                <a:latin typeface="Tahoma" panose="020B0604030504040204" pitchFamily="34" charset="0"/>
                <a:ea typeface="Arial Unicode MS" panose="020B0604020202020204" pitchFamily="34" charset="-128"/>
              </a:rPr>
              <a:t>C'est </a:t>
            </a:r>
            <a:r>
              <a:rPr lang="fr-FR" sz="2400" spc="30" dirty="0">
                <a:solidFill>
                  <a:srgbClr val="000000"/>
                </a:solidFill>
                <a:latin typeface="Tahoma" panose="020B0604030504040204" pitchFamily="34" charset="0"/>
                <a:ea typeface="Arial Unicode MS" panose="020B0604020202020204" pitchFamily="34" charset="-128"/>
              </a:rPr>
              <a:t>une infection chronique causée par le </a:t>
            </a:r>
            <a:r>
              <a:rPr lang="fr-FR" sz="2400" spc="30" dirty="0" err="1">
                <a:solidFill>
                  <a:srgbClr val="000000"/>
                </a:solidFill>
                <a:latin typeface="Tahoma" panose="020B0604030504040204" pitchFamily="34" charset="0"/>
                <a:ea typeface="Arial Unicode MS" panose="020B0604020202020204" pitchFamily="34" charset="-128"/>
              </a:rPr>
              <a:t>tréponèma</a:t>
            </a:r>
            <a:r>
              <a:rPr lang="fr-FR" sz="2400" spc="30" dirty="0">
                <a:solidFill>
                  <a:srgbClr val="000000"/>
                </a:solidFill>
                <a:latin typeface="Tahoma" panose="020B0604030504040204" pitchFamily="34" charset="0"/>
                <a:ea typeface="Arial Unicode MS" panose="020B0604020202020204" pitchFamily="34" charset="-128"/>
              </a:rPr>
              <a:t> pallidum, transmise par contact sexuel et évoluant par phases successives entrecoupées de périodes de latence.</a:t>
            </a:r>
            <a:endParaRPr lang="fr-FR" sz="2400" spc="30" dirty="0">
              <a:latin typeface="Arial Unicode MS" panose="020B0604020202020204" pitchFamily="34" charset="-128"/>
              <a:ea typeface="Arial Unicode MS" panose="020B0604020202020204" pitchFamily="34" charset="-128"/>
            </a:endParaRPr>
          </a:p>
          <a:p>
            <a:pPr algn="just">
              <a:lnSpc>
                <a:spcPct val="150000"/>
              </a:lnSpc>
            </a:pPr>
            <a:r>
              <a:rPr lang="fr-FR" sz="2400" spc="30" dirty="0">
                <a:solidFill>
                  <a:srgbClr val="0070C0"/>
                </a:solidFill>
                <a:latin typeface="Tahoma" panose="020B0604030504040204" pitchFamily="34" charset="0"/>
                <a:ea typeface="Arial Unicode MS" panose="020B0604020202020204" pitchFamily="34" charset="-128"/>
              </a:rPr>
              <a:t>Le réservoir de germes est constitué par les adultes des deux sexes en période d'activité sexuelle et plus spécialement les prostituées et les homosexuels de sexe masculin.</a:t>
            </a:r>
            <a:endParaRPr lang="fr-FR" sz="2400" spc="30" dirty="0">
              <a:solidFill>
                <a:srgbClr val="0070C0"/>
              </a:solidFill>
              <a:latin typeface="Arial Unicode MS" panose="020B0604020202020204" pitchFamily="34" charset="-128"/>
              <a:ea typeface="Arial Unicode MS" panose="020B0604020202020204" pitchFamily="34" charset="-128"/>
            </a:endParaRPr>
          </a:p>
          <a:p>
            <a:pPr algn="just">
              <a:lnSpc>
                <a:spcPct val="150000"/>
              </a:lnSpc>
            </a:pPr>
            <a:r>
              <a:rPr lang="fr-FR" sz="2400" spc="30" dirty="0">
                <a:solidFill>
                  <a:srgbClr val="000000"/>
                </a:solidFill>
                <a:latin typeface="Tahoma" panose="020B0604030504040204" pitchFamily="34" charset="0"/>
                <a:ea typeface="Arial Unicode MS" panose="020B0604020202020204" pitchFamily="34" charset="-128"/>
              </a:rPr>
              <a:t>La transmission s'effectue en général au cours des rapports sexuels non protégés et exceptionnellement par l'intermédiaire du cordon ombilical et enfin à l'occasion d'une transfusion sanguine.</a:t>
            </a:r>
            <a:endParaRPr lang="fr-FR" sz="2400" spc="30" dirty="0">
              <a:latin typeface="Arial Unicode MS" panose="020B0604020202020204" pitchFamily="34" charset="-128"/>
              <a:ea typeface="Arial Unicode MS" panose="020B0604020202020204" pitchFamily="34" charset="-128"/>
            </a:endParaRPr>
          </a:p>
          <a:p>
            <a:endParaRPr lang="fr-FR" dirty="0"/>
          </a:p>
        </p:txBody>
      </p:sp>
    </p:spTree>
    <p:extLst>
      <p:ext uri="{BB962C8B-B14F-4D97-AF65-F5344CB8AC3E}">
        <p14:creationId xmlns:p14="http://schemas.microsoft.com/office/powerpoint/2010/main" val="234281334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18536"/>
          </a:xfrm>
        </p:spPr>
        <p:txBody>
          <a:bodyPr>
            <a:normAutofit fontScale="90000"/>
          </a:bodyPr>
          <a:lstStyle/>
          <a:p>
            <a:pPr lvl="0"/>
            <a:r>
              <a:rPr lang="fr-FR" b="1" spc="25" dirty="0">
                <a:solidFill>
                  <a:srgbClr val="000000"/>
                </a:solidFill>
                <a:effectLst>
                  <a:outerShdw blurRad="38100" dist="38100" dir="2700000" algn="tl">
                    <a:srgbClr val="000000">
                      <a:alpha val="43137"/>
                    </a:srgbClr>
                  </a:outerShdw>
                </a:effectLst>
                <a:latin typeface="Tahoma" panose="020B0604030504040204" pitchFamily="34" charset="0"/>
                <a:ea typeface="Arial Unicode MS" panose="020B0604020202020204" pitchFamily="34" charset="-128"/>
                <a:cs typeface="Arial Unicode MS" panose="020B0604020202020204" pitchFamily="34" charset="-128"/>
              </a:rPr>
              <a:t>SYMPTOMATOLOGIE </a:t>
            </a:r>
            <a:r>
              <a:rPr lang="fr-FR" dirty="0">
                <a:solidFill>
                  <a:srgbClr val="000000"/>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rPr>
              <a:t/>
            </a:r>
            <a:br>
              <a:rPr lang="fr-FR" dirty="0">
                <a:solidFill>
                  <a:srgbClr val="000000"/>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rPr>
            </a:br>
            <a:endParaRPr lang="fr-FR" dirty="0">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906950" y="1242646"/>
            <a:ext cx="10597662" cy="4994031"/>
          </a:xfrm>
        </p:spPr>
        <p:txBody>
          <a:bodyPr>
            <a:noAutofit/>
          </a:bodyPr>
          <a:lstStyle/>
          <a:p>
            <a:pPr algn="just"/>
            <a:r>
              <a:rPr lang="fr-FR" sz="3000" dirty="0" smtClean="0">
                <a:solidFill>
                  <a:srgbClr val="000000"/>
                </a:solidFill>
                <a:latin typeface="Calibri" panose="020F0502020204030204" pitchFamily="34" charset="0"/>
                <a:ea typeface="Courier New" panose="02070309020205020404" pitchFamily="49" charset="0"/>
              </a:rPr>
              <a:t>L’incubation dure </a:t>
            </a:r>
            <a:r>
              <a:rPr lang="fr-FR" sz="3000" dirty="0">
                <a:solidFill>
                  <a:srgbClr val="000000"/>
                </a:solidFill>
                <a:latin typeface="Calibri" panose="020F0502020204030204" pitchFamily="34" charset="0"/>
                <a:ea typeface="Courier New" panose="02070309020205020404" pitchFamily="49" charset="0"/>
              </a:rPr>
              <a:t>3 semaines </a:t>
            </a:r>
            <a:r>
              <a:rPr lang="fr-FR" sz="3000" dirty="0" smtClean="0">
                <a:solidFill>
                  <a:srgbClr val="000000"/>
                </a:solidFill>
                <a:latin typeface="Calibri" panose="020F0502020204030204" pitchFamily="34" charset="0"/>
                <a:ea typeface="Courier New" panose="02070309020205020404" pitchFamily="49" charset="0"/>
              </a:rPr>
              <a:t>environ et la symptomatologie évolue </a:t>
            </a:r>
            <a:r>
              <a:rPr lang="fr-FR" sz="3000" dirty="0">
                <a:solidFill>
                  <a:srgbClr val="000000"/>
                </a:solidFill>
                <a:latin typeface="Calibri" panose="020F0502020204030204" pitchFamily="34" charset="0"/>
                <a:ea typeface="Courier New" panose="02070309020205020404" pitchFamily="49" charset="0"/>
              </a:rPr>
              <a:t>en 3 </a:t>
            </a:r>
            <a:r>
              <a:rPr lang="fr-FR" sz="3000" dirty="0" smtClean="0">
                <a:solidFill>
                  <a:srgbClr val="000000"/>
                </a:solidFill>
                <a:latin typeface="Calibri" panose="020F0502020204030204" pitchFamily="34" charset="0"/>
                <a:ea typeface="Courier New" panose="02070309020205020404" pitchFamily="49" charset="0"/>
              </a:rPr>
              <a:t>phases:</a:t>
            </a:r>
          </a:p>
          <a:p>
            <a:pPr lvl="0" algn="just">
              <a:buFont typeface="Wingdings" panose="05000000000000000000" pitchFamily="2" charset="2"/>
              <a:buChar char=""/>
            </a:pPr>
            <a:r>
              <a:rPr lang="fr-FR" sz="3000" b="1" spc="25" dirty="0">
                <a:solidFill>
                  <a:srgbClr val="000000"/>
                </a:solidFill>
                <a:latin typeface="Calibri" panose="020F0502020204030204" pitchFamily="34" charset="0"/>
                <a:ea typeface="Arial Unicode MS" panose="020B0604020202020204" pitchFamily="34" charset="-128"/>
                <a:cs typeface="Arial Unicode MS" panose="020B0604020202020204" pitchFamily="34" charset="-128"/>
              </a:rPr>
              <a:t>Stade primaire ou syphilis primaire</a:t>
            </a:r>
            <a:endParaRPr lang="fr-FR" sz="3000" dirty="0">
              <a:solidFill>
                <a:srgbClr val="000000"/>
              </a:solidFill>
              <a:latin typeface="Calibri" panose="020F0502020204030204" pitchFamily="34" charset="0"/>
              <a:ea typeface="Courier New" panose="02070309020205020404" pitchFamily="49" charset="0"/>
            </a:endParaRPr>
          </a:p>
          <a:p>
            <a:pPr algn="just">
              <a:buFont typeface="Wingdings" panose="05000000000000000000" pitchFamily="2" charset="2"/>
              <a:buChar char="Ø"/>
            </a:pPr>
            <a:r>
              <a:rPr lang="fr-FR" sz="3000" spc="30" dirty="0" smtClean="0">
                <a:solidFill>
                  <a:srgbClr val="000000"/>
                </a:solidFill>
                <a:latin typeface="Calibri" panose="020F0502020204030204" pitchFamily="34" charset="0"/>
                <a:ea typeface="Arial Unicode MS" panose="020B0604020202020204" pitchFamily="34" charset="-128"/>
              </a:rPr>
              <a:t>Ce stade correspond </a:t>
            </a:r>
            <a:r>
              <a:rPr lang="fr-FR" sz="3000" spc="30" dirty="0">
                <a:solidFill>
                  <a:srgbClr val="000000"/>
                </a:solidFill>
                <a:latin typeface="Calibri" panose="020F0502020204030204" pitchFamily="34" charset="0"/>
                <a:ea typeface="Arial Unicode MS" panose="020B0604020202020204" pitchFamily="34" charset="-128"/>
              </a:rPr>
              <a:t>à l'invasion et à la dissémination du tréponème</a:t>
            </a:r>
            <a:r>
              <a:rPr lang="fr-FR" sz="3000" spc="30" dirty="0" smtClean="0">
                <a:solidFill>
                  <a:srgbClr val="000000"/>
                </a:solidFill>
                <a:latin typeface="Calibri" panose="020F0502020204030204" pitchFamily="34" charset="0"/>
                <a:ea typeface="Arial Unicode MS" panose="020B0604020202020204" pitchFamily="34" charset="-128"/>
              </a:rPr>
              <a:t>.</a:t>
            </a:r>
          </a:p>
          <a:p>
            <a:pPr algn="just">
              <a:buFont typeface="Wingdings" panose="05000000000000000000" pitchFamily="2" charset="2"/>
              <a:buChar char="Ø"/>
            </a:pPr>
            <a:r>
              <a:rPr lang="fr-FR" sz="3000" spc="30" dirty="0" smtClean="0">
                <a:solidFill>
                  <a:srgbClr val="000000"/>
                </a:solidFill>
                <a:latin typeface="Calibri" panose="020F0502020204030204" pitchFamily="34" charset="0"/>
                <a:ea typeface="Arial Unicode MS" panose="020B0604020202020204" pitchFamily="34" charset="-128"/>
              </a:rPr>
              <a:t> </a:t>
            </a:r>
            <a:r>
              <a:rPr lang="fr-FR" sz="3000" spc="30" dirty="0">
                <a:solidFill>
                  <a:srgbClr val="000000"/>
                </a:solidFill>
                <a:latin typeface="Calibri" panose="020F0502020204030204" pitchFamily="34" charset="0"/>
                <a:ea typeface="Arial Unicode MS" panose="020B0604020202020204" pitchFamily="34" charset="-128"/>
              </a:rPr>
              <a:t>Il se caractérise par un chancre génital ou </a:t>
            </a:r>
            <a:r>
              <a:rPr lang="fr-FR" sz="3000" spc="30" dirty="0" smtClean="0">
                <a:solidFill>
                  <a:srgbClr val="000000"/>
                </a:solidFill>
                <a:latin typeface="Calibri" panose="020F0502020204030204" pitchFamily="34" charset="0"/>
                <a:ea typeface="Arial Unicode MS" panose="020B0604020202020204" pitchFamily="34" charset="-128"/>
              </a:rPr>
              <a:t>anal</a:t>
            </a:r>
            <a:r>
              <a:rPr lang="fr-FR" sz="3000" spc="30" dirty="0">
                <a:solidFill>
                  <a:srgbClr val="000000"/>
                </a:solidFill>
                <a:latin typeface="Calibri" panose="020F0502020204030204" pitchFamily="34" charset="0"/>
                <a:ea typeface="Arial Unicode MS" panose="020B0604020202020204" pitchFamily="34" charset="-128"/>
              </a:rPr>
              <a:t> </a:t>
            </a:r>
            <a:r>
              <a:rPr lang="fr-FR" sz="3000" spc="30" dirty="0" smtClean="0">
                <a:solidFill>
                  <a:srgbClr val="000000"/>
                </a:solidFill>
                <a:latin typeface="Calibri" panose="020F0502020204030204" pitchFamily="34" charset="0"/>
                <a:ea typeface="Arial Unicode MS" panose="020B0604020202020204" pitchFamily="34" charset="-128"/>
              </a:rPr>
              <a:t>à type d’ulcération </a:t>
            </a:r>
            <a:r>
              <a:rPr lang="fr-FR" sz="3000" spc="30" dirty="0">
                <a:solidFill>
                  <a:srgbClr val="000000"/>
                </a:solidFill>
                <a:latin typeface="Calibri" panose="020F0502020204030204" pitchFamily="34" charset="0"/>
                <a:ea typeface="Arial Unicode MS" panose="020B0604020202020204" pitchFamily="34" charset="-128"/>
              </a:rPr>
              <a:t>superficielle, unique, indolore, propre, abords nets, reposant sur une base indurée</a:t>
            </a:r>
            <a:r>
              <a:rPr lang="fr-FR" sz="3000" spc="30" dirty="0" smtClean="0">
                <a:solidFill>
                  <a:srgbClr val="000000"/>
                </a:solidFill>
                <a:latin typeface="Calibri" panose="020F0502020204030204" pitchFamily="34" charset="0"/>
                <a:ea typeface="Arial Unicode MS" panose="020B0604020202020204" pitchFamily="34" charset="-128"/>
              </a:rPr>
              <a:t>.</a:t>
            </a:r>
          </a:p>
          <a:p>
            <a:pPr algn="just">
              <a:buFont typeface="Wingdings" panose="05000000000000000000" pitchFamily="2" charset="2"/>
              <a:buChar char="Ø"/>
            </a:pPr>
            <a:r>
              <a:rPr lang="fr-FR" sz="3000" spc="30" dirty="0" smtClean="0">
                <a:solidFill>
                  <a:srgbClr val="000000"/>
                </a:solidFill>
                <a:latin typeface="Calibri" panose="020F0502020204030204" pitchFamily="34" charset="0"/>
                <a:ea typeface="Arial Unicode MS" panose="020B0604020202020204" pitchFamily="34" charset="-128"/>
              </a:rPr>
              <a:t> </a:t>
            </a:r>
            <a:r>
              <a:rPr lang="fr-FR" sz="3000" spc="30" dirty="0">
                <a:solidFill>
                  <a:srgbClr val="000000"/>
                </a:solidFill>
                <a:latin typeface="Calibri" panose="020F0502020204030204" pitchFamily="34" charset="0"/>
                <a:ea typeface="Arial Unicode MS" panose="020B0604020202020204" pitchFamily="34" charset="-128"/>
              </a:rPr>
              <a:t>Il s'accompagne d'adénopathies inguinales fermes, indolores, et qui guérit spontanément en 2 à 6 semaines sans laisser de cicatrices.</a:t>
            </a:r>
            <a:endParaRPr lang="fr-FR" sz="3000" spc="30" dirty="0">
              <a:latin typeface="Calibri" panose="020F0502020204030204" pitchFamily="34" charset="0"/>
              <a:ea typeface="Arial Unicode MS" panose="020B0604020202020204" pitchFamily="34" charset="-128"/>
            </a:endParaRPr>
          </a:p>
          <a:p>
            <a:pPr>
              <a:buFont typeface="Wingdings" panose="05000000000000000000" pitchFamily="2" charset="2"/>
              <a:buChar char="Ø"/>
            </a:pPr>
            <a:endParaRPr lang="fr-FR" sz="2600" dirty="0"/>
          </a:p>
        </p:txBody>
      </p:sp>
    </p:spTree>
    <p:extLst>
      <p:ext uri="{BB962C8B-B14F-4D97-AF65-F5344CB8AC3E}">
        <p14:creationId xmlns:p14="http://schemas.microsoft.com/office/powerpoint/2010/main" val="21774138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lvl="0"/>
            <a:r>
              <a:rPr lang="fr-FR" b="1" spc="25"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Stade secondaire ou syphilis secondaire</a:t>
            </a:r>
            <a:r>
              <a:rPr lang="fr-FR" dirty="0">
                <a:solidFill>
                  <a:srgbClr val="000000"/>
                </a:solidFill>
                <a:latin typeface="Courier New" panose="02070309020205020404" pitchFamily="49" charset="0"/>
                <a:ea typeface="Courier New" panose="02070309020205020404" pitchFamily="49" charset="0"/>
              </a:rPr>
              <a:t/>
            </a:r>
            <a:br>
              <a:rPr lang="fr-FR"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937846" y="1406769"/>
            <a:ext cx="10566766" cy="5017477"/>
          </a:xfrm>
        </p:spPr>
        <p:txBody>
          <a:bodyPr>
            <a:normAutofit fontScale="92500" lnSpcReduction="20000"/>
          </a:bodyPr>
          <a:lstStyle/>
          <a:p>
            <a:pPr marL="0" indent="0" algn="just">
              <a:lnSpc>
                <a:spcPct val="150000"/>
              </a:lnSpc>
              <a:buNone/>
            </a:pPr>
            <a:r>
              <a:rPr lang="fr-FR" sz="3000" dirty="0">
                <a:solidFill>
                  <a:srgbClr val="000000"/>
                </a:solidFill>
                <a:latin typeface="Tahoma" panose="020B0604030504040204" pitchFamily="34" charset="0"/>
              </a:rPr>
              <a:t>La syphilis secondaire est très contagieuse</a:t>
            </a:r>
            <a:r>
              <a:rPr lang="fr-FR" sz="3000" dirty="0" smtClean="0">
                <a:solidFill>
                  <a:srgbClr val="000000"/>
                </a:solidFill>
                <a:latin typeface="Tahoma" panose="020B0604030504040204" pitchFamily="34" charset="0"/>
              </a:rPr>
              <a:t>. Elle </a:t>
            </a:r>
            <a:r>
              <a:rPr lang="fr-FR" sz="3000" dirty="0">
                <a:solidFill>
                  <a:srgbClr val="000000"/>
                </a:solidFill>
                <a:latin typeface="Tahoma" panose="020B0604030504040204" pitchFamily="34" charset="0"/>
              </a:rPr>
              <a:t>est échelonnée du 2</a:t>
            </a:r>
            <a:r>
              <a:rPr lang="fr-FR" sz="3000" baseline="30000" dirty="0">
                <a:solidFill>
                  <a:srgbClr val="000000"/>
                </a:solidFill>
                <a:latin typeface="Tahoma" panose="020B0604030504040204" pitchFamily="34" charset="0"/>
              </a:rPr>
              <a:t>ème </a:t>
            </a:r>
            <a:r>
              <a:rPr lang="fr-FR" sz="3000" dirty="0">
                <a:solidFill>
                  <a:srgbClr val="000000"/>
                </a:solidFill>
                <a:latin typeface="Tahoma" panose="020B0604030504040204" pitchFamily="34" charset="0"/>
              </a:rPr>
              <a:t>mois aux 3 ou 4</a:t>
            </a:r>
            <a:r>
              <a:rPr lang="fr-FR" sz="3000" baseline="30000" dirty="0">
                <a:solidFill>
                  <a:srgbClr val="000000"/>
                </a:solidFill>
                <a:latin typeface="Tahoma" panose="020B0604030504040204" pitchFamily="34" charset="0"/>
              </a:rPr>
              <a:t>ème </a:t>
            </a:r>
            <a:r>
              <a:rPr lang="fr-FR" sz="3000" dirty="0">
                <a:solidFill>
                  <a:srgbClr val="000000"/>
                </a:solidFill>
                <a:latin typeface="Tahoma" panose="020B0604030504040204" pitchFamily="34" charset="0"/>
              </a:rPr>
              <a:t>mois de la </a:t>
            </a:r>
            <a:r>
              <a:rPr lang="fr-FR" sz="3000" dirty="0" smtClean="0">
                <a:solidFill>
                  <a:srgbClr val="000000"/>
                </a:solidFill>
                <a:latin typeface="Tahoma" panose="020B0604030504040204" pitchFamily="34" charset="0"/>
              </a:rPr>
              <a:t>syphilis.</a:t>
            </a:r>
          </a:p>
          <a:p>
            <a:pPr algn="just">
              <a:lnSpc>
                <a:spcPct val="150000"/>
              </a:lnSpc>
            </a:pPr>
            <a:r>
              <a:rPr lang="fr-FR" sz="2800" dirty="0" smtClean="0">
                <a:solidFill>
                  <a:srgbClr val="000000"/>
                </a:solidFill>
                <a:latin typeface="Tahoma" panose="020B0604030504040204" pitchFamily="34" charset="0"/>
              </a:rPr>
              <a:t>Elle est marquée </a:t>
            </a:r>
            <a:r>
              <a:rPr lang="fr-FR" sz="2800" dirty="0">
                <a:solidFill>
                  <a:srgbClr val="000000"/>
                </a:solidFill>
                <a:latin typeface="Tahoma" panose="020B0604030504040204" pitchFamily="34" charset="0"/>
              </a:rPr>
              <a:t>par les signes cliniques regroupés en syndromes :</a:t>
            </a:r>
            <a:endParaRPr lang="fr-FR" sz="2800" dirty="0"/>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Syndrome pseudo grippal avec céphalées persistantes, larmoiement, écoulement nasal, pharyngite, arthralgies, fébricule, asthénie.</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poly adénopathie ferme, indolore, étendu à toutes les aires ganglionnaires.</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Des éruptions cutanées variées</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858631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329055" y="624110"/>
            <a:ext cx="4175557" cy="581235"/>
          </a:xfrm>
        </p:spPr>
        <p:txBody>
          <a:bodyPr>
            <a:normAutofit fontScale="90000"/>
          </a:bodyPr>
          <a:lstStyle/>
          <a:p>
            <a:pPr algn="r"/>
            <a:r>
              <a:rPr lang="fr-FR" b="1" spc="25" dirty="0" smtClean="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stade </a:t>
            </a:r>
            <a:r>
              <a:rPr lang="fr-FR" b="1" spc="25"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secondaire</a:t>
            </a:r>
            <a:endParaRPr lang="fr-FR" dirty="0"/>
          </a:p>
        </p:txBody>
      </p:sp>
      <p:pic>
        <p:nvPicPr>
          <p:cNvPr id="4098" name="Picture 2" descr="https://64.media.tumblr.com/tumblr_m08q6ybg6w1qk931ho3_540.jp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4817" r="20415" b="5728"/>
          <a:stretch/>
        </p:blipFill>
        <p:spPr bwMode="auto">
          <a:xfrm>
            <a:off x="1454726" y="624110"/>
            <a:ext cx="4253347" cy="5471890"/>
          </a:xfrm>
          <a:prstGeom prst="rect">
            <a:avLst/>
          </a:prstGeom>
          <a:noFill/>
          <a:extLst>
            <a:ext uri="{909E8E84-426E-40DD-AFC4-6F175D3DCCD1}">
              <a14:hiddenFill xmlns:a14="http://schemas.microsoft.com/office/drawing/2010/main">
                <a:solidFill>
                  <a:srgbClr val="FFFFFF"/>
                </a:solidFill>
              </a14:hiddenFill>
            </a:ext>
          </a:extLst>
        </p:spPr>
      </p:pic>
      <p:sp>
        <p:nvSpPr>
          <p:cNvPr id="4" name="Ellipse 3"/>
          <p:cNvSpPr/>
          <p:nvPr/>
        </p:nvSpPr>
        <p:spPr>
          <a:xfrm>
            <a:off x="2874817" y="1676400"/>
            <a:ext cx="1413164" cy="2078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063257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8522" y="633046"/>
            <a:ext cx="10426089" cy="5278176"/>
          </a:xfrm>
        </p:spPr>
        <p:txBody>
          <a:bodyPr>
            <a:normAutofit/>
          </a:bodyPr>
          <a:lstStyle/>
          <a:p>
            <a:pPr lvl="0" algn="just">
              <a:lnSpc>
                <a:spcPct val="150000"/>
              </a:lnSpc>
              <a:buFont typeface="Calibri" panose="020F0502020204030204" pitchFamily="34" charset="0"/>
              <a:buChar char="-"/>
            </a:pPr>
            <a:r>
              <a:rPr lang="fr-FR" sz="3000" dirty="0">
                <a:solidFill>
                  <a:srgbClr val="000000"/>
                </a:solidFill>
                <a:latin typeface="Tahoma" panose="020B0604030504040204" pitchFamily="34" charset="0"/>
                <a:ea typeface="Calibri" panose="020F0502020204030204" pitchFamily="34" charset="0"/>
                <a:cs typeface="Times New Roman" panose="02020603050405020304" pitchFamily="18" charset="0"/>
              </a:rPr>
              <a:t>La roséole faite de macules de </a:t>
            </a:r>
            <a:r>
              <a:rPr lang="fr-FR" sz="30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3 </a:t>
            </a:r>
            <a:r>
              <a:rPr lang="fr-FR" sz="3000" dirty="0">
                <a:solidFill>
                  <a:srgbClr val="000000"/>
                </a:solidFill>
                <a:latin typeface="Tahoma" panose="020B0604030504040204" pitchFamily="34" charset="0"/>
                <a:ea typeface="Calibri" panose="020F0502020204030204" pitchFamily="34" charset="0"/>
                <a:cs typeface="Times New Roman" panose="02020603050405020304" pitchFamily="18" charset="0"/>
              </a:rPr>
              <a:t>à 10 cm de diamètres, non prurigineuse, abords flous, séparées par des intervalles de peau saine, de couleur rose pâle</a:t>
            </a:r>
            <a:r>
              <a:rPr lang="fr-FR" sz="30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p>
          <a:p>
            <a:pPr lvl="0" algn="just">
              <a:lnSpc>
                <a:spcPct val="150000"/>
              </a:lnSpc>
              <a:buFont typeface="Calibri" panose="020F0502020204030204" pitchFamily="34" charset="0"/>
              <a:buChar char="-"/>
            </a:pPr>
            <a:r>
              <a:rPr lang="fr-FR" sz="30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3000" dirty="0">
                <a:solidFill>
                  <a:srgbClr val="000000"/>
                </a:solidFill>
                <a:latin typeface="Tahoma" panose="020B0604030504040204" pitchFamily="34" charset="0"/>
                <a:ea typeface="Calibri" panose="020F0502020204030204" pitchFamily="34" charset="0"/>
                <a:cs typeface="Times New Roman" panose="02020603050405020304" pitchFamily="18" charset="0"/>
              </a:rPr>
              <a:t>Elle disparait spontanément en 1 ou 2 mois sans pigmentation, ni desquamation c’est la Syphilis secondaire de 1</a:t>
            </a:r>
            <a:r>
              <a:rPr lang="fr-FR" sz="3000" baseline="30000" dirty="0">
                <a:solidFill>
                  <a:srgbClr val="000000"/>
                </a:solidFill>
                <a:latin typeface="Tahoma" panose="020B0604030504040204" pitchFamily="34" charset="0"/>
                <a:ea typeface="Calibri" panose="020F0502020204030204" pitchFamily="34" charset="0"/>
                <a:cs typeface="Times New Roman" panose="02020603050405020304" pitchFamily="18" charset="0"/>
              </a:rPr>
              <a:t>ère</a:t>
            </a:r>
            <a:r>
              <a:rPr lang="fr-FR" sz="3000" dirty="0">
                <a:solidFill>
                  <a:srgbClr val="000000"/>
                </a:solidFill>
                <a:latin typeface="Tahoma" panose="020B0604030504040204" pitchFamily="34" charset="0"/>
                <a:ea typeface="Calibri" panose="020F0502020204030204" pitchFamily="34" charset="0"/>
                <a:cs typeface="Times New Roman" panose="02020603050405020304" pitchFamily="18" charset="0"/>
              </a:rPr>
              <a:t> floraison</a:t>
            </a:r>
            <a:r>
              <a:rPr lang="fr-FR" sz="30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p>
          <a:p>
            <a:endParaRPr lang="fr-FR" sz="3000" dirty="0"/>
          </a:p>
          <a:p>
            <a:endParaRPr lang="fr-FR" dirty="0"/>
          </a:p>
        </p:txBody>
      </p:sp>
    </p:spTree>
    <p:extLst>
      <p:ext uri="{BB962C8B-B14F-4D97-AF65-F5344CB8AC3E}">
        <p14:creationId xmlns:p14="http://schemas.microsoft.com/office/powerpoint/2010/main" val="7715090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46031" y="1078523"/>
            <a:ext cx="9558581" cy="4832699"/>
          </a:xfrm>
        </p:spPr>
        <p:txBody>
          <a:bodyPr>
            <a:normAutofit/>
          </a:bodyPr>
          <a:lstStyle/>
          <a:p>
            <a:pPr lvl="0" algn="just">
              <a:lnSpc>
                <a:spcPct val="150000"/>
              </a:lnSpc>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La syphilis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papulo</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-squameuse faite d'éléments rouges sombres, saillants, couverts ou entourés de fines squames généralement non prurigineuse disséminée sur la peau y compris dans les paumes des mains et plantes des pieds. </a:t>
            </a:r>
            <a:endPar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endParaRPr>
          </a:p>
          <a:p>
            <a:pPr lvl="0" algn="just">
              <a:lnSpc>
                <a:spcPct val="150000"/>
              </a:lnSpc>
            </a:pP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C’est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la seconde floraison de la syphilis secondaire.</a:t>
            </a:r>
            <a:endParaRPr lang="fr-FR" sz="28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25966618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806105"/>
          </a:xfrm>
        </p:spPr>
        <p:txBody>
          <a:bodyPr>
            <a:normAutofit fontScale="90000"/>
          </a:bodyPr>
          <a:lstStyle/>
          <a:p>
            <a:pPr lvl="0"/>
            <a:r>
              <a:rPr lang="fr-FR" b="1" spc="25"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Stade tertiaire ou syphilis tertiaire</a:t>
            </a:r>
            <a:r>
              <a:rPr lang="fr-FR" dirty="0">
                <a:solidFill>
                  <a:srgbClr val="000000"/>
                </a:solidFill>
                <a:latin typeface="Courier New" panose="02070309020205020404" pitchFamily="49" charset="0"/>
                <a:ea typeface="Courier New" panose="02070309020205020404" pitchFamily="49" charset="0"/>
              </a:rPr>
              <a:t/>
            </a:r>
            <a:br>
              <a:rPr lang="fr-FR"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1242646" y="1430215"/>
            <a:ext cx="10261966" cy="4923693"/>
          </a:xfrm>
        </p:spPr>
        <p:txBody>
          <a:bodyPr>
            <a:noAutofit/>
          </a:bodyPr>
          <a:lstStyle/>
          <a:p>
            <a:pPr algn="just"/>
            <a:r>
              <a:rPr lang="fr-FR" sz="2800" spc="30" dirty="0" smtClean="0">
                <a:solidFill>
                  <a:srgbClr val="000000"/>
                </a:solidFill>
                <a:latin typeface="Tahoma" panose="020B0604030504040204" pitchFamily="34" charset="0"/>
                <a:ea typeface="Arial Unicode MS" panose="020B0604020202020204" pitchFamily="34" charset="-128"/>
              </a:rPr>
              <a:t>Il </a:t>
            </a:r>
            <a:r>
              <a:rPr lang="fr-FR" sz="2800" spc="30" dirty="0">
                <a:solidFill>
                  <a:srgbClr val="000000"/>
                </a:solidFill>
                <a:latin typeface="Tahoma" panose="020B0604030504040204" pitchFamily="34" charset="0"/>
                <a:ea typeface="Arial Unicode MS" panose="020B0604020202020204" pitchFamily="34" charset="-128"/>
              </a:rPr>
              <a:t>correspond à l'apparition des lésions localisées et destructrices</a:t>
            </a:r>
            <a:r>
              <a:rPr lang="fr-FR" sz="2800" spc="30" dirty="0" smtClean="0">
                <a:solidFill>
                  <a:srgbClr val="000000"/>
                </a:solidFill>
                <a:latin typeface="Tahoma" panose="020B0604030504040204" pitchFamily="34" charset="0"/>
                <a:ea typeface="Arial Unicode MS" panose="020B0604020202020204" pitchFamily="34" charset="-128"/>
              </a:rPr>
              <a:t>,</a:t>
            </a:r>
          </a:p>
          <a:p>
            <a:pPr algn="just"/>
            <a:r>
              <a:rPr lang="fr-FR" sz="2800" spc="30" dirty="0" smtClean="0">
                <a:solidFill>
                  <a:srgbClr val="000000"/>
                </a:solidFill>
                <a:latin typeface="Tahoma" panose="020B0604030504040204" pitchFamily="34" charset="0"/>
                <a:ea typeface="Arial Unicode MS" panose="020B0604020202020204" pitchFamily="34" charset="-128"/>
              </a:rPr>
              <a:t> </a:t>
            </a:r>
            <a:r>
              <a:rPr lang="fr-FR" sz="2800" spc="30" dirty="0">
                <a:solidFill>
                  <a:srgbClr val="000000"/>
                </a:solidFill>
                <a:latin typeface="Tahoma" panose="020B0604030504040204" pitchFamily="34" charset="0"/>
                <a:ea typeface="Arial Unicode MS" panose="020B0604020202020204" pitchFamily="34" charset="-128"/>
              </a:rPr>
              <a:t>il s'agit de l'atteinte du cœur et des </a:t>
            </a:r>
            <a:r>
              <a:rPr lang="fr-FR" sz="2800" spc="30" dirty="0" smtClean="0">
                <a:solidFill>
                  <a:srgbClr val="000000"/>
                </a:solidFill>
                <a:latin typeface="Tahoma" panose="020B0604030504040204" pitchFamily="34" charset="0"/>
                <a:ea typeface="Arial Unicode MS" panose="020B0604020202020204" pitchFamily="34" charset="-128"/>
              </a:rPr>
              <a:t>vaisseaux, de </a:t>
            </a:r>
            <a:r>
              <a:rPr lang="fr-FR" sz="2800" spc="30" dirty="0">
                <a:solidFill>
                  <a:srgbClr val="000000"/>
                </a:solidFill>
                <a:latin typeface="Tahoma" panose="020B0604030504040204" pitchFamily="34" charset="0"/>
                <a:ea typeface="Arial Unicode MS" panose="020B0604020202020204" pitchFamily="34" charset="-128"/>
              </a:rPr>
              <a:t>l'atteinte du système nerveux central entraînant soit une détérioration des facultés intellectuelles, </a:t>
            </a:r>
          </a:p>
          <a:p>
            <a:pPr algn="just"/>
            <a:r>
              <a:rPr lang="fr-FR" sz="2800" spc="30" dirty="0" smtClean="0">
                <a:solidFill>
                  <a:srgbClr val="000000"/>
                </a:solidFill>
                <a:latin typeface="Tahoma" panose="020B0604030504040204" pitchFamily="34" charset="0"/>
                <a:ea typeface="Arial Unicode MS" panose="020B0604020202020204" pitchFamily="34" charset="-128"/>
              </a:rPr>
              <a:t>Une altération </a:t>
            </a:r>
            <a:r>
              <a:rPr lang="fr-FR" sz="2800" spc="30" dirty="0">
                <a:solidFill>
                  <a:srgbClr val="000000"/>
                </a:solidFill>
                <a:latin typeface="Tahoma" panose="020B0604030504040204" pitchFamily="34" charset="0"/>
                <a:ea typeface="Arial Unicode MS" panose="020B0604020202020204" pitchFamily="34" charset="-128"/>
              </a:rPr>
              <a:t>de la sensibilité </a:t>
            </a:r>
            <a:r>
              <a:rPr lang="fr-FR" sz="2800" spc="30" dirty="0" smtClean="0">
                <a:solidFill>
                  <a:srgbClr val="000000"/>
                </a:solidFill>
                <a:latin typeface="Tahoma" panose="020B0604030504040204" pitchFamily="34" charset="0"/>
                <a:ea typeface="Arial Unicode MS" panose="020B0604020202020204" pitchFamily="34" charset="-128"/>
              </a:rPr>
              <a:t>et une </a:t>
            </a:r>
            <a:r>
              <a:rPr lang="fr-FR" sz="2800" spc="30" dirty="0">
                <a:solidFill>
                  <a:srgbClr val="000000"/>
                </a:solidFill>
                <a:latin typeface="Tahoma" panose="020B0604030504040204" pitchFamily="34" charset="0"/>
                <a:ea typeface="Arial Unicode MS" panose="020B0604020202020204" pitchFamily="34" charset="-128"/>
              </a:rPr>
              <a:t>ataxie </a:t>
            </a:r>
            <a:r>
              <a:rPr lang="fr-FR" sz="2800" spc="30" dirty="0" smtClean="0">
                <a:solidFill>
                  <a:srgbClr val="000000"/>
                </a:solidFill>
                <a:latin typeface="Tahoma" panose="020B0604030504040204" pitchFamily="34" charset="0"/>
                <a:ea typeface="Arial Unicode MS" panose="020B0604020202020204" pitchFamily="34" charset="-128"/>
              </a:rPr>
              <a:t>locomotrice</a:t>
            </a:r>
          </a:p>
          <a:p>
            <a:pPr algn="just"/>
            <a:r>
              <a:rPr lang="fr-FR" sz="2800" spc="30" dirty="0" smtClean="0">
                <a:solidFill>
                  <a:srgbClr val="000000"/>
                </a:solidFill>
                <a:latin typeface="Tahoma" panose="020B0604030504040204" pitchFamily="34" charset="0"/>
                <a:ea typeface="Arial Unicode MS" panose="020B0604020202020204" pitchFamily="34" charset="-128"/>
              </a:rPr>
              <a:t>On peut noter </a:t>
            </a:r>
            <a:r>
              <a:rPr lang="fr-FR" sz="2800" spc="30" dirty="0">
                <a:solidFill>
                  <a:srgbClr val="000000"/>
                </a:solidFill>
                <a:latin typeface="Tahoma" panose="020B0604030504040204" pitchFamily="34" charset="0"/>
                <a:ea typeface="Arial Unicode MS" panose="020B0604020202020204" pitchFamily="34" charset="-128"/>
              </a:rPr>
              <a:t>des lésions destructrices appelées gommes qui peuvent siéger dans </a:t>
            </a:r>
            <a:r>
              <a:rPr lang="fr-FR" sz="2800" spc="30" dirty="0" smtClean="0">
                <a:solidFill>
                  <a:srgbClr val="000000"/>
                </a:solidFill>
                <a:latin typeface="Tahoma" panose="020B0604030504040204" pitchFamily="34" charset="0"/>
                <a:ea typeface="Arial Unicode MS" panose="020B0604020202020204" pitchFamily="34" charset="-128"/>
              </a:rPr>
              <a:t>le tissu </a:t>
            </a:r>
            <a:r>
              <a:rPr lang="fr-FR" sz="2800" spc="30" dirty="0">
                <a:solidFill>
                  <a:srgbClr val="000000"/>
                </a:solidFill>
                <a:latin typeface="Tahoma" panose="020B0604030504040204" pitchFamily="34" charset="0"/>
                <a:ea typeface="Arial Unicode MS" panose="020B0604020202020204" pitchFamily="34" charset="-128"/>
              </a:rPr>
              <a:t>sous-cutané, les os, les </a:t>
            </a:r>
            <a:r>
              <a:rPr lang="fr-FR" sz="2800" spc="30" dirty="0" smtClean="0">
                <a:solidFill>
                  <a:srgbClr val="000000"/>
                </a:solidFill>
                <a:latin typeface="Tahoma" panose="020B0604030504040204" pitchFamily="34" charset="0"/>
                <a:ea typeface="Arial Unicode MS" panose="020B0604020202020204" pitchFamily="34" charset="-128"/>
              </a:rPr>
              <a:t>viscères ou au </a:t>
            </a:r>
            <a:r>
              <a:rPr lang="fr-FR" sz="2800" spc="30" dirty="0">
                <a:solidFill>
                  <a:srgbClr val="000000"/>
                </a:solidFill>
                <a:latin typeface="Tahoma" panose="020B0604030504040204" pitchFamily="34" charset="0"/>
                <a:ea typeface="Arial Unicode MS" panose="020B0604020202020204" pitchFamily="34" charset="-128"/>
              </a:rPr>
              <a:t>niveau de la face entraînent la destruction de la cloison nasale : </a:t>
            </a:r>
            <a:r>
              <a:rPr lang="fr-FR" sz="2800" b="1" spc="25"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c’est le </a:t>
            </a:r>
            <a:r>
              <a:rPr lang="fr-FR" sz="2800" b="1" spc="25" dirty="0" err="1">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gangosa</a:t>
            </a:r>
            <a:r>
              <a:rPr lang="fr-FR" sz="2800" b="1" spc="25"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a:t>
            </a:r>
            <a:endParaRPr lang="fr-FR" sz="2800" spc="30" dirty="0">
              <a:latin typeface="Arial Unicode MS" panose="020B0604020202020204" pitchFamily="34" charset="-128"/>
              <a:ea typeface="Arial Unicode MS" panose="020B0604020202020204" pitchFamily="34" charset="-128"/>
            </a:endParaRPr>
          </a:p>
          <a:p>
            <a:endParaRPr lang="fr-FR" sz="2800" dirty="0"/>
          </a:p>
        </p:txBody>
      </p:sp>
    </p:spTree>
    <p:extLst>
      <p:ext uri="{BB962C8B-B14F-4D97-AF65-F5344CB8AC3E}">
        <p14:creationId xmlns:p14="http://schemas.microsoft.com/office/powerpoint/2010/main" val="1605713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GANGOSA</a:t>
            </a:r>
            <a:endParaRPr lang="fr-FR" dirty="0"/>
          </a:p>
        </p:txBody>
      </p:sp>
      <p:pic>
        <p:nvPicPr>
          <p:cNvPr id="3074" name="Picture 2" descr="TREPONEMATOSES ENDEMIQUES - ppt télécharge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2771" y="1264554"/>
            <a:ext cx="5037666" cy="44850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701635" y="2545444"/>
            <a:ext cx="1898073" cy="290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7989483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spc="25" dirty="0">
                <a:solidFill>
                  <a:srgbClr val="000000"/>
                </a:solidFill>
                <a:latin typeface="Tahoma" panose="020B0604030504040204" pitchFamily="34" charset="0"/>
                <a:ea typeface="Arial Unicode MS" panose="020B0604020202020204" pitchFamily="34" charset="-128"/>
                <a:cs typeface="Arial Unicode MS" panose="020B0604020202020204" pitchFamily="34" charset="-128"/>
              </a:rPr>
              <a:t>DIAGNOSTIC</a:t>
            </a:r>
            <a:r>
              <a:rPr lang="fr-FR" dirty="0">
                <a:solidFill>
                  <a:srgbClr val="000000"/>
                </a:solidFill>
                <a:latin typeface="Courier New" panose="02070309020205020404" pitchFamily="49" charset="0"/>
                <a:ea typeface="Courier New" panose="02070309020205020404" pitchFamily="49" charset="0"/>
              </a:rPr>
              <a:t/>
            </a:r>
            <a:br>
              <a:rPr lang="fr-FR"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p:txBody>
          <a:bodyPr/>
          <a:lstStyle/>
          <a:p>
            <a:pPr algn="just">
              <a:lnSpc>
                <a:spcPct val="150000"/>
              </a:lnSpc>
            </a:pPr>
            <a:r>
              <a:rPr lang="fr-FR" sz="3200" spc="30" dirty="0">
                <a:solidFill>
                  <a:srgbClr val="000000"/>
                </a:solidFill>
                <a:latin typeface="Tahoma" panose="020B0604030504040204" pitchFamily="34" charset="0"/>
                <a:ea typeface="Arial Unicode MS" panose="020B0604020202020204" pitchFamily="34" charset="-128"/>
              </a:rPr>
              <a:t>Le diagnostic repose sur la mise en évidence des tréponèmes par l'examen microscopique directe sur fond noir ou la lecture de </a:t>
            </a:r>
            <a:r>
              <a:rPr lang="fr-FR" sz="3200" spc="30" dirty="0" err="1">
                <a:solidFill>
                  <a:srgbClr val="000000"/>
                </a:solidFill>
                <a:latin typeface="Tahoma" panose="020B0604030504040204" pitchFamily="34" charset="0"/>
                <a:ea typeface="Arial Unicode MS" panose="020B0604020202020204" pitchFamily="34" charset="-128"/>
              </a:rPr>
              <a:t>vago</a:t>
            </a:r>
            <a:r>
              <a:rPr lang="fr-FR" sz="3200" spc="30" dirty="0">
                <a:solidFill>
                  <a:srgbClr val="000000"/>
                </a:solidFill>
                <a:latin typeface="Tahoma" panose="020B0604030504040204" pitchFamily="34" charset="0"/>
                <a:ea typeface="Arial Unicode MS" panose="020B0604020202020204" pitchFamily="34" charset="-128"/>
              </a:rPr>
              <a:t>.</a:t>
            </a:r>
            <a:endParaRPr lang="fr-FR" sz="3200" spc="30" dirty="0">
              <a:latin typeface="Arial Unicode MS" panose="020B0604020202020204" pitchFamily="34" charset="-128"/>
              <a:ea typeface="Arial Unicode MS" panose="020B0604020202020204" pitchFamily="34" charset="-128"/>
            </a:endParaRPr>
          </a:p>
          <a:p>
            <a:endParaRPr lang="fr-FR" dirty="0"/>
          </a:p>
        </p:txBody>
      </p:sp>
    </p:spTree>
    <p:extLst>
      <p:ext uri="{BB962C8B-B14F-4D97-AF65-F5344CB8AC3E}">
        <p14:creationId xmlns:p14="http://schemas.microsoft.com/office/powerpoint/2010/main" val="37047103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latin typeface="Tahoma" panose="020B0604030504040204" pitchFamily="34" charset="0"/>
              </a:rPr>
              <a:t>Syphilis primaire et secondaire</a:t>
            </a:r>
            <a:r>
              <a:rPr lang="fr-FR" dirty="0"/>
              <a:t/>
            </a:r>
            <a:br>
              <a:rPr lang="fr-FR" dirty="0"/>
            </a:br>
            <a:endParaRPr lang="fr-FR" dirty="0"/>
          </a:p>
        </p:txBody>
      </p:sp>
      <p:sp>
        <p:nvSpPr>
          <p:cNvPr id="3" name="Espace réservé du contenu 2"/>
          <p:cNvSpPr>
            <a:spLocks noGrp="1"/>
          </p:cNvSpPr>
          <p:nvPr>
            <p:ph idx="1"/>
          </p:nvPr>
        </p:nvSpPr>
        <p:spPr>
          <a:xfrm>
            <a:off x="984738" y="1453662"/>
            <a:ext cx="10519874" cy="4876800"/>
          </a:xfrm>
        </p:spPr>
        <p:txBody>
          <a:bodyPr>
            <a:normAutofit fontScale="92500" lnSpcReduction="20000"/>
          </a:bodyPr>
          <a:lstStyle/>
          <a:p>
            <a:pPr lvl="0">
              <a:lnSpc>
                <a:spcPct val="150000"/>
              </a:lnSpc>
              <a:buFont typeface="Calibri" panose="020F0502020204030204" pitchFamily="34" charset="0"/>
              <a:buChar char="-"/>
            </a:pP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Benzathine</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pénicilline g (</a:t>
            </a:r>
            <a:r>
              <a:rPr lang="fr-FR" sz="28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extencilline</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r>
              <a:rPr lang="fr-FR" sz="2800" dirty="0" smtClean="0">
                <a:ea typeface="Calibri" panose="020F0502020204030204" pitchFamily="34" charset="0"/>
                <a:cs typeface="Times New Roman" panose="02020603050405020304" pitchFamily="18" charset="0"/>
              </a:rPr>
              <a:t> </a:t>
            </a:r>
            <a:r>
              <a:rPr lang="fr-FR" sz="2800" dirty="0" smtClean="0">
                <a:solidFill>
                  <a:srgbClr val="000000"/>
                </a:solidFill>
                <a:latin typeface="Tahoma" panose="020B0604030504040204" pitchFamily="34" charset="0"/>
              </a:rPr>
              <a:t>2,4 millions, </a:t>
            </a:r>
            <a:r>
              <a:rPr lang="fr-FR" sz="2800" dirty="0">
                <a:solidFill>
                  <a:srgbClr val="000000"/>
                </a:solidFill>
                <a:latin typeface="Tahoma" panose="020B0604030504040204" pitchFamily="34" charset="0"/>
              </a:rPr>
              <a:t>soit </a:t>
            </a:r>
            <a:r>
              <a:rPr lang="fr-FR" sz="2800" dirty="0" smtClean="0">
                <a:solidFill>
                  <a:srgbClr val="000000"/>
                </a:solidFill>
                <a:latin typeface="Tahoma" panose="020B0604030504040204" pitchFamily="34" charset="0"/>
              </a:rPr>
              <a:t>1,2 million dans </a:t>
            </a:r>
            <a:r>
              <a:rPr lang="fr-FR" sz="2800" dirty="0">
                <a:solidFill>
                  <a:srgbClr val="000000"/>
                </a:solidFill>
                <a:latin typeface="Tahoma" panose="020B0604030504040204" pitchFamily="34" charset="0"/>
              </a:rPr>
              <a:t>chaque fesse à renouveler 1 semaine plus tard.</a:t>
            </a:r>
            <a:endParaRPr lang="fr-FR" sz="2800" dirty="0"/>
          </a:p>
          <a:p>
            <a:pPr lvl="0">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En cas d'allergie confirmée à la pénicilline: prescrire une cure de 15 jours de cyclines (tétracycline) : 2 g/j</a:t>
            </a:r>
            <a:endParaRPr lang="fr-FR" sz="2800" dirty="0">
              <a:ea typeface="Calibri" panose="020F0502020204030204" pitchFamily="34" charset="0"/>
              <a:cs typeface="Times New Roman" panose="02020603050405020304" pitchFamily="18" charset="0"/>
            </a:endParaRPr>
          </a:p>
          <a:p>
            <a:pPr marL="469900">
              <a:lnSpc>
                <a:spcPct val="150000"/>
              </a:lnSpc>
            </a:pPr>
            <a:r>
              <a:rPr lang="fr-FR" sz="2800" dirty="0">
                <a:solidFill>
                  <a:srgbClr val="000000"/>
                </a:solidFill>
                <a:latin typeface="Tahoma" panose="020B0604030504040204" pitchFamily="34" charset="0"/>
              </a:rPr>
              <a:t>(</a:t>
            </a:r>
            <a:r>
              <a:rPr lang="fr-FR" sz="2800" dirty="0" err="1">
                <a:solidFill>
                  <a:srgbClr val="000000"/>
                </a:solidFill>
                <a:latin typeface="Tahoma" panose="020B0604030504040204" pitchFamily="34" charset="0"/>
              </a:rPr>
              <a:t>Doxycycline</a:t>
            </a:r>
            <a:r>
              <a:rPr lang="fr-FR" sz="2800" dirty="0">
                <a:solidFill>
                  <a:srgbClr val="000000"/>
                </a:solidFill>
                <a:latin typeface="Tahoma" panose="020B0604030504040204" pitchFamily="34" charset="0"/>
              </a:rPr>
              <a:t>) : 200 mg/j</a:t>
            </a:r>
            <a:endParaRPr lang="fr-FR" sz="2800" dirty="0"/>
          </a:p>
          <a:p>
            <a:pPr algn="just">
              <a:lnSpc>
                <a:spcPct val="150000"/>
              </a:lnSpc>
            </a:pPr>
            <a:r>
              <a:rPr lang="fr-FR" sz="2800" b="1" dirty="0">
                <a:solidFill>
                  <a:srgbClr val="000000"/>
                </a:solidFill>
                <a:latin typeface="Tahoma" panose="020B0604030504040204" pitchFamily="34" charset="0"/>
                <a:ea typeface="Courier New" panose="02070309020205020404" pitchFamily="49" charset="0"/>
              </a:rPr>
              <a:t>Syphilis tertiaire</a:t>
            </a:r>
            <a:endParaRPr lang="fr-FR" sz="2800" dirty="0">
              <a:solidFill>
                <a:srgbClr val="000000"/>
              </a:solidFill>
              <a:latin typeface="Courier New" panose="02070309020205020404" pitchFamily="49" charset="0"/>
              <a:ea typeface="Courier New" panose="02070309020205020404" pitchFamily="49" charset="0"/>
            </a:endParaRPr>
          </a:p>
          <a:p>
            <a:pPr algn="just">
              <a:lnSpc>
                <a:spcPct val="150000"/>
              </a:lnSpc>
            </a:pPr>
            <a:r>
              <a:rPr lang="fr-FR" sz="2800" spc="30" dirty="0" err="1">
                <a:solidFill>
                  <a:srgbClr val="000000"/>
                </a:solidFill>
                <a:latin typeface="Tahoma" panose="020B0604030504040204" pitchFamily="34" charset="0"/>
                <a:ea typeface="Arial Unicode MS" panose="020B0604020202020204" pitchFamily="34" charset="-128"/>
              </a:rPr>
              <a:t>Benzathine</a:t>
            </a:r>
            <a:r>
              <a:rPr lang="fr-FR" sz="2800" spc="30" dirty="0">
                <a:solidFill>
                  <a:srgbClr val="000000"/>
                </a:solidFill>
                <a:latin typeface="Tahoma" panose="020B0604030504040204" pitchFamily="34" charset="0"/>
                <a:ea typeface="Arial Unicode MS" panose="020B0604020202020204" pitchFamily="34" charset="-128"/>
              </a:rPr>
              <a:t> pénicilline </a:t>
            </a:r>
            <a:r>
              <a:rPr lang="fr-FR" sz="2800" spc="30" dirty="0" smtClean="0">
                <a:solidFill>
                  <a:srgbClr val="000000"/>
                </a:solidFill>
                <a:latin typeface="Tahoma" panose="020B0604030504040204" pitchFamily="34" charset="0"/>
                <a:ea typeface="Arial Unicode MS" panose="020B0604020202020204" pitchFamily="34" charset="-128"/>
              </a:rPr>
              <a:t>2,4  millions : </a:t>
            </a:r>
            <a:r>
              <a:rPr lang="fr-FR" sz="2800" spc="30" dirty="0">
                <a:solidFill>
                  <a:srgbClr val="000000"/>
                </a:solidFill>
                <a:latin typeface="Tahoma" panose="020B0604030504040204" pitchFamily="34" charset="0"/>
                <a:ea typeface="Arial Unicode MS" panose="020B0604020202020204" pitchFamily="34" charset="-128"/>
              </a:rPr>
              <a:t>1 </a:t>
            </a:r>
            <a:r>
              <a:rPr lang="fr-FR" sz="2800" spc="30" dirty="0" err="1">
                <a:solidFill>
                  <a:srgbClr val="000000"/>
                </a:solidFill>
                <a:latin typeface="Tahoma" panose="020B0604030504040204" pitchFamily="34" charset="0"/>
                <a:ea typeface="Arial Unicode MS" panose="020B0604020202020204" pitchFamily="34" charset="-128"/>
              </a:rPr>
              <a:t>inj</a:t>
            </a:r>
            <a:r>
              <a:rPr lang="fr-FR" sz="2800" spc="30" dirty="0">
                <a:solidFill>
                  <a:srgbClr val="000000"/>
                </a:solidFill>
                <a:latin typeface="Tahoma" panose="020B0604030504040204" pitchFamily="34" charset="0"/>
                <a:ea typeface="Arial Unicode MS" panose="020B0604020202020204" pitchFamily="34" charset="-128"/>
              </a:rPr>
              <a:t> de </a:t>
            </a:r>
            <a:r>
              <a:rPr lang="fr-FR" sz="2800" spc="30" dirty="0" smtClean="0">
                <a:solidFill>
                  <a:srgbClr val="000000"/>
                </a:solidFill>
                <a:latin typeface="Tahoma" panose="020B0604030504040204" pitchFamily="34" charset="0"/>
                <a:ea typeface="Arial Unicode MS" panose="020B0604020202020204" pitchFamily="34" charset="-128"/>
              </a:rPr>
              <a:t>2,4 </a:t>
            </a:r>
            <a:r>
              <a:rPr lang="fr-FR" sz="2800" spc="30" dirty="0">
                <a:solidFill>
                  <a:srgbClr val="000000"/>
                </a:solidFill>
                <a:latin typeface="Tahoma" panose="020B0604030504040204" pitchFamily="34" charset="0"/>
                <a:ea typeface="Arial Unicode MS" panose="020B0604020202020204" pitchFamily="34" charset="-128"/>
              </a:rPr>
              <a:t>millions </a:t>
            </a:r>
            <a:r>
              <a:rPr lang="fr-FR" sz="2800" spc="30" dirty="0" smtClean="0">
                <a:solidFill>
                  <a:srgbClr val="000000"/>
                </a:solidFill>
                <a:latin typeface="Tahoma" panose="020B0604030504040204" pitchFamily="34" charset="0"/>
                <a:ea typeface="Arial Unicode MS" panose="020B0604020202020204" pitchFamily="34" charset="-128"/>
              </a:rPr>
              <a:t>/</a:t>
            </a:r>
            <a:r>
              <a:rPr lang="fr-FR" sz="2800" spc="30" dirty="0">
                <a:solidFill>
                  <a:srgbClr val="000000"/>
                </a:solidFill>
                <a:latin typeface="Tahoma" panose="020B0604030504040204" pitchFamily="34" charset="0"/>
                <a:ea typeface="Arial Unicode MS" panose="020B0604020202020204" pitchFamily="34" charset="-128"/>
              </a:rPr>
              <a:t>semaine pendant trois (3) semaines</a:t>
            </a:r>
            <a:r>
              <a:rPr lang="fr-FR" sz="2400" spc="30" dirty="0">
                <a:solidFill>
                  <a:srgbClr val="000000"/>
                </a:solidFill>
                <a:latin typeface="Tahoma" panose="020B0604030504040204" pitchFamily="34" charset="0"/>
                <a:ea typeface="Arial Unicode MS" panose="020B0604020202020204" pitchFamily="34" charset="-128"/>
              </a:rPr>
              <a:t>.</a:t>
            </a:r>
            <a:endParaRPr lang="fr-FR" sz="2400" spc="30" dirty="0">
              <a:latin typeface="Arial Unicode MS" panose="020B0604020202020204" pitchFamily="34" charset="-128"/>
              <a:ea typeface="Arial Unicode MS" panose="020B0604020202020204" pitchFamily="34" charset="-128"/>
            </a:endParaRPr>
          </a:p>
          <a:p>
            <a:endParaRPr lang="fr-FR" dirty="0"/>
          </a:p>
        </p:txBody>
      </p:sp>
    </p:spTree>
    <p:extLst>
      <p:ext uri="{BB962C8B-B14F-4D97-AF65-F5344CB8AC3E}">
        <p14:creationId xmlns:p14="http://schemas.microsoft.com/office/powerpoint/2010/main" val="26330535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latin typeface="Tahoma" panose="020B0604030504040204" pitchFamily="34" charset="0"/>
              </a:rPr>
              <a:t>PIAN</a:t>
            </a:r>
            <a:r>
              <a:rPr lang="fr-FR" dirty="0"/>
              <a:t/>
            </a:r>
            <a:br>
              <a:rPr lang="fr-FR" dirty="0"/>
            </a:br>
            <a:endParaRPr lang="fr-FR" dirty="0"/>
          </a:p>
        </p:txBody>
      </p:sp>
      <p:sp>
        <p:nvSpPr>
          <p:cNvPr id="3" name="Espace réservé du contenu 2"/>
          <p:cNvSpPr>
            <a:spLocks noGrp="1"/>
          </p:cNvSpPr>
          <p:nvPr>
            <p:ph idx="1"/>
          </p:nvPr>
        </p:nvSpPr>
        <p:spPr>
          <a:xfrm>
            <a:off x="1430215" y="1617785"/>
            <a:ext cx="10074397" cy="4293437"/>
          </a:xfrm>
        </p:spPr>
        <p:txBody>
          <a:bodyPr>
            <a:normAutofit fontScale="92500"/>
          </a:bodyPr>
          <a:lstStyle/>
          <a:p>
            <a:pPr marL="0" lvl="0" indent="0" algn="just">
              <a:lnSpc>
                <a:spcPct val="150000"/>
              </a:lnSpc>
              <a:buNone/>
              <a:tabLst>
                <a:tab pos="180340" algn="l"/>
              </a:tabLst>
            </a:pPr>
            <a:r>
              <a:rPr lang="fr-FR" sz="3200" b="1" spc="25" dirty="0">
                <a:solidFill>
                  <a:srgbClr val="000000"/>
                </a:solidFill>
                <a:latin typeface="Tahoma" panose="020B0604030504040204" pitchFamily="34" charset="0"/>
                <a:ea typeface="Times New Roman" panose="02020603050405020304" pitchFamily="18" charset="0"/>
              </a:rPr>
              <a:t>DEFINITION</a:t>
            </a:r>
            <a:endParaRPr lang="fr-FR" sz="3200" b="1" spc="25" dirty="0">
              <a:latin typeface="Times New Roman" panose="02020603050405020304" pitchFamily="18" charset="0"/>
              <a:ea typeface="Times New Roman" panose="02020603050405020304" pitchFamily="18" charset="0"/>
            </a:endParaRPr>
          </a:p>
          <a:p>
            <a:pPr indent="-635000" algn="just">
              <a:lnSpc>
                <a:spcPct val="150000"/>
              </a:lnSpc>
              <a:spcBef>
                <a:spcPts val="1200"/>
              </a:spcBef>
            </a:pPr>
            <a:r>
              <a:rPr lang="fr-FR" sz="3200" spc="30" dirty="0">
                <a:solidFill>
                  <a:srgbClr val="000000"/>
                </a:solidFill>
                <a:latin typeface="Tahoma" panose="020B0604030504040204" pitchFamily="34" charset="0"/>
                <a:ea typeface="Times New Roman" panose="02020603050405020304" pitchFamily="18" charset="0"/>
              </a:rPr>
              <a:t>C'est une maladie contagieuse endémique non vénérienne, non congénitale due au </a:t>
            </a:r>
            <a:r>
              <a:rPr lang="fr-FR" sz="3200" spc="30" dirty="0" err="1" smtClean="0">
                <a:solidFill>
                  <a:srgbClr val="000000"/>
                </a:solidFill>
                <a:latin typeface="Tahoma" panose="020B0604030504040204" pitchFamily="34" charset="0"/>
                <a:ea typeface="Times New Roman" panose="02020603050405020304" pitchFamily="18" charset="0"/>
              </a:rPr>
              <a:t>treponemaperten</a:t>
            </a:r>
            <a:r>
              <a:rPr lang="fr-FR" sz="3200" spc="30" dirty="0" smtClean="0">
                <a:solidFill>
                  <a:srgbClr val="000000"/>
                </a:solidFill>
                <a:latin typeface="Tahoma" panose="020B0604030504040204" pitchFamily="34" charset="0"/>
                <a:ea typeface="Times New Roman" panose="02020603050405020304" pitchFamily="18" charset="0"/>
              </a:rPr>
              <a:t>.</a:t>
            </a:r>
          </a:p>
          <a:p>
            <a:pPr indent="-635000" algn="just">
              <a:lnSpc>
                <a:spcPct val="150000"/>
              </a:lnSpc>
              <a:spcBef>
                <a:spcPts val="1200"/>
              </a:spcBef>
            </a:pPr>
            <a:r>
              <a:rPr lang="fr-FR" sz="3200" spc="30" dirty="0" smtClean="0">
                <a:solidFill>
                  <a:srgbClr val="000000"/>
                </a:solidFill>
                <a:latin typeface="Tahoma" panose="020B0604030504040204" pitchFamily="34" charset="0"/>
                <a:ea typeface="Times New Roman" panose="02020603050405020304" pitchFamily="18" charset="0"/>
              </a:rPr>
              <a:t>Il est caractérisé </a:t>
            </a:r>
            <a:r>
              <a:rPr lang="fr-FR" sz="3200" spc="30" dirty="0">
                <a:solidFill>
                  <a:srgbClr val="000000"/>
                </a:solidFill>
                <a:latin typeface="Tahoma" panose="020B0604030504040204" pitchFamily="34" charset="0"/>
                <a:ea typeface="Times New Roman" panose="02020603050405020304" pitchFamily="18" charset="0"/>
              </a:rPr>
              <a:t>par des lésions cutanées à surface granuleuse.</a:t>
            </a:r>
            <a:endParaRPr lang="fr-FR" sz="3200" spc="3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11745665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Pian (médecine) — Wikipédi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0924" y="624110"/>
            <a:ext cx="4543693" cy="515323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upload.wikimedia.org/wikipedia/commons/thumb/a/a9/Yaws_treatment.png/800px-Yaws_treatment.png"/>
          <p:cNvPicPr>
            <a:picLocks noChangeAspect="1" noChangeArrowheads="1"/>
          </p:cNvPicPr>
          <p:nvPr/>
        </p:nvPicPr>
        <p:blipFill rotWithShape="1">
          <a:blip r:embed="rId3">
            <a:extLst>
              <a:ext uri="{28A0092B-C50C-407E-A947-70E740481C1C}">
                <a14:useLocalDpi xmlns:a14="http://schemas.microsoft.com/office/drawing/2010/main" val="0"/>
              </a:ext>
            </a:extLst>
          </a:blip>
          <a:srcRect r="52689"/>
          <a:stretch/>
        </p:blipFill>
        <p:spPr bwMode="auto">
          <a:xfrm>
            <a:off x="6814794" y="624109"/>
            <a:ext cx="4689818" cy="5153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8185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18536"/>
          </a:xfrm>
        </p:spPr>
        <p:txBody>
          <a:bodyPr>
            <a:normAutofit fontScale="90000"/>
          </a:bodyPr>
          <a:lstStyle/>
          <a:p>
            <a:pPr lvl="0"/>
            <a:r>
              <a:rPr lang="fr-FR" b="1" spc="25" dirty="0">
                <a:solidFill>
                  <a:srgbClr val="000000"/>
                </a:solidFill>
                <a:latin typeface="Tahoma" panose="020B0604030504040204" pitchFamily="34" charset="0"/>
                <a:ea typeface="Times New Roman" panose="02020603050405020304" pitchFamily="18" charset="0"/>
              </a:rPr>
              <a:t>EPIDEMIOLOGIE</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1289538" y="1406769"/>
            <a:ext cx="10550770" cy="4923693"/>
          </a:xfrm>
        </p:spPr>
        <p:txBody>
          <a:bodyPr>
            <a:normAutofit/>
          </a:bodyPr>
          <a:lstStyle/>
          <a:p>
            <a:pPr>
              <a:lnSpc>
                <a:spcPct val="150000"/>
              </a:lnSpc>
            </a:pPr>
            <a:r>
              <a:rPr lang="fr-FR" sz="2600" dirty="0">
                <a:solidFill>
                  <a:srgbClr val="000000"/>
                </a:solidFill>
                <a:latin typeface="Tahoma" panose="020B0604030504040204" pitchFamily="34" charset="0"/>
              </a:rPr>
              <a:t>Le pian sévit principalement dans les régions tropicales et humides d’Afrique, d'Amérique Centrale et du Sud, de l'Asie du Sud-est.</a:t>
            </a:r>
            <a:endParaRPr lang="fr-FR" sz="2600" dirty="0"/>
          </a:p>
          <a:p>
            <a:pPr>
              <a:lnSpc>
                <a:spcPct val="150000"/>
              </a:lnSpc>
            </a:pPr>
            <a:r>
              <a:rPr lang="fr-FR" sz="2600" dirty="0">
                <a:solidFill>
                  <a:srgbClr val="000000"/>
                </a:solidFill>
                <a:latin typeface="Tahoma" panose="020B0604030504040204" pitchFamily="34" charset="0"/>
              </a:rPr>
              <a:t>L'agent pathogène est le </a:t>
            </a:r>
            <a:r>
              <a:rPr lang="fr-FR" sz="2600" b="1" dirty="0" err="1">
                <a:solidFill>
                  <a:srgbClr val="000000"/>
                </a:solidFill>
                <a:latin typeface="Tahoma" panose="020B0604030504040204" pitchFamily="34" charset="0"/>
              </a:rPr>
              <a:t>treponemaperten</a:t>
            </a:r>
            <a:r>
              <a:rPr lang="fr-FR" sz="2600" dirty="0">
                <a:solidFill>
                  <a:srgbClr val="000000"/>
                </a:solidFill>
                <a:latin typeface="Tahoma" panose="020B0604030504040204" pitchFamily="34" charset="0"/>
              </a:rPr>
              <a:t>. </a:t>
            </a:r>
            <a:endParaRPr lang="fr-FR" sz="2600" dirty="0" smtClean="0">
              <a:solidFill>
                <a:srgbClr val="000000"/>
              </a:solidFill>
              <a:latin typeface="Tahoma" panose="020B0604030504040204" pitchFamily="34" charset="0"/>
            </a:endParaRPr>
          </a:p>
          <a:p>
            <a:pPr>
              <a:lnSpc>
                <a:spcPct val="150000"/>
              </a:lnSpc>
            </a:pPr>
            <a:r>
              <a:rPr lang="fr-FR" sz="2600" dirty="0" smtClean="0">
                <a:solidFill>
                  <a:srgbClr val="000000"/>
                </a:solidFill>
                <a:latin typeface="Tahoma" panose="020B0604030504040204" pitchFamily="34" charset="0"/>
              </a:rPr>
              <a:t>Le </a:t>
            </a:r>
            <a:r>
              <a:rPr lang="fr-FR" sz="2600" dirty="0">
                <a:solidFill>
                  <a:srgbClr val="000000"/>
                </a:solidFill>
                <a:latin typeface="Tahoma" panose="020B0604030504040204" pitchFamily="34" charset="0"/>
              </a:rPr>
              <a:t>réservoir de germes est constitué par les </a:t>
            </a:r>
            <a:r>
              <a:rPr lang="fr-FR" sz="2600" b="1" dirty="0">
                <a:solidFill>
                  <a:srgbClr val="000000"/>
                </a:solidFill>
                <a:latin typeface="Tahoma" panose="020B0604030504040204" pitchFamily="34" charset="0"/>
              </a:rPr>
              <a:t>enfants malades</a:t>
            </a:r>
            <a:r>
              <a:rPr lang="fr-FR" sz="2600" dirty="0">
                <a:solidFill>
                  <a:srgbClr val="000000"/>
                </a:solidFill>
                <a:latin typeface="Tahoma" panose="020B0604030504040204" pitchFamily="34" charset="0"/>
              </a:rPr>
              <a:t> de 2 à 15 ans et les cas latents.</a:t>
            </a:r>
            <a:endParaRPr lang="fr-FR" sz="2600" dirty="0"/>
          </a:p>
          <a:p>
            <a:pPr>
              <a:lnSpc>
                <a:spcPct val="150000"/>
              </a:lnSpc>
            </a:pPr>
            <a:r>
              <a:rPr lang="fr-FR" sz="2600" dirty="0">
                <a:solidFill>
                  <a:srgbClr val="000000"/>
                </a:solidFill>
                <a:latin typeface="Tahoma" panose="020B0604030504040204" pitchFamily="34" charset="0"/>
                <a:ea typeface="Courier New" panose="02070309020205020404" pitchFamily="49" charset="0"/>
              </a:rPr>
              <a:t>La transmission </a:t>
            </a:r>
            <a:r>
              <a:rPr lang="fr-FR" sz="2600" dirty="0" smtClean="0">
                <a:solidFill>
                  <a:srgbClr val="000000"/>
                </a:solidFill>
                <a:latin typeface="Tahoma" panose="020B0604030504040204" pitchFamily="34" charset="0"/>
                <a:ea typeface="Courier New" panose="02070309020205020404" pitchFamily="49" charset="0"/>
              </a:rPr>
              <a:t>est directe </a:t>
            </a:r>
            <a:r>
              <a:rPr lang="fr-FR" sz="2600" dirty="0">
                <a:solidFill>
                  <a:srgbClr val="000000"/>
                </a:solidFill>
                <a:latin typeface="Tahoma" panose="020B0604030504040204" pitchFamily="34" charset="0"/>
                <a:ea typeface="Courier New" panose="02070309020205020404" pitchFamily="49" charset="0"/>
              </a:rPr>
              <a:t>par contact d'une lésion infectée avec une effraction cutanée ou muqueuse, </a:t>
            </a:r>
            <a:endParaRPr lang="fr-FR" dirty="0"/>
          </a:p>
        </p:txBody>
      </p:sp>
    </p:spTree>
    <p:extLst>
      <p:ext uri="{BB962C8B-B14F-4D97-AF65-F5344CB8AC3E}">
        <p14:creationId xmlns:p14="http://schemas.microsoft.com/office/powerpoint/2010/main" val="38988117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82659"/>
          </a:xfrm>
        </p:spPr>
        <p:txBody>
          <a:bodyPr>
            <a:normAutofit fontScale="90000"/>
          </a:bodyPr>
          <a:lstStyle/>
          <a:p>
            <a:pPr lvl="0"/>
            <a:r>
              <a:rPr lang="fr-FR" b="1" spc="25" dirty="0">
                <a:solidFill>
                  <a:srgbClr val="000000"/>
                </a:solidFill>
                <a:latin typeface="Tahoma" panose="020B0604030504040204" pitchFamily="34" charset="0"/>
                <a:ea typeface="Times New Roman" panose="02020603050405020304" pitchFamily="18" charset="0"/>
              </a:rPr>
              <a:t>SYMPTOMATOLOGIE</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1711569" y="1617785"/>
            <a:ext cx="9793043" cy="4293437"/>
          </a:xfrm>
        </p:spPr>
        <p:txBody>
          <a:bodyPr>
            <a:normAutofit lnSpcReduction="10000"/>
          </a:bodyPr>
          <a:lstStyle/>
          <a:p>
            <a:pPr algn="just">
              <a:lnSpc>
                <a:spcPct val="150000"/>
              </a:lnSpc>
            </a:pPr>
            <a:r>
              <a:rPr lang="fr-FR" sz="3000" spc="30" dirty="0">
                <a:solidFill>
                  <a:srgbClr val="000000"/>
                </a:solidFill>
                <a:latin typeface="Tahoma" panose="020B0604030504040204" pitchFamily="34" charset="0"/>
                <a:ea typeface="Times New Roman" panose="02020603050405020304" pitchFamily="18" charset="0"/>
              </a:rPr>
              <a:t>Le pian est la plus </a:t>
            </a:r>
            <a:r>
              <a:rPr lang="fr-FR" sz="3000" spc="30" dirty="0" err="1">
                <a:solidFill>
                  <a:srgbClr val="00B0F0"/>
                </a:solidFill>
                <a:latin typeface="Tahoma" panose="020B0604030504040204" pitchFamily="34" charset="0"/>
                <a:ea typeface="Times New Roman" panose="02020603050405020304" pitchFamily="18" charset="0"/>
              </a:rPr>
              <a:t>floride</a:t>
            </a:r>
            <a:r>
              <a:rPr lang="fr-FR" sz="3000" spc="30" dirty="0">
                <a:solidFill>
                  <a:srgbClr val="00B0F0"/>
                </a:solidFill>
                <a:latin typeface="Tahoma" panose="020B0604030504040204" pitchFamily="34" charset="0"/>
                <a:ea typeface="Times New Roman" panose="02020603050405020304" pitchFamily="18" charset="0"/>
              </a:rPr>
              <a:t> </a:t>
            </a:r>
            <a:r>
              <a:rPr lang="fr-FR" sz="3000" spc="30" dirty="0">
                <a:solidFill>
                  <a:srgbClr val="000000"/>
                </a:solidFill>
                <a:latin typeface="Tahoma" panose="020B0604030504040204" pitchFamily="34" charset="0"/>
                <a:ea typeface="Times New Roman" panose="02020603050405020304" pitchFamily="18" charset="0"/>
              </a:rPr>
              <a:t>et la plus mutilante des tréponématoses </a:t>
            </a:r>
            <a:r>
              <a:rPr lang="fr-FR" sz="3000" spc="30" dirty="0" smtClean="0">
                <a:solidFill>
                  <a:srgbClr val="000000"/>
                </a:solidFill>
                <a:latin typeface="Tahoma" panose="020B0604030504040204" pitchFamily="34" charset="0"/>
                <a:ea typeface="Times New Roman" panose="02020603050405020304" pitchFamily="18" charset="0"/>
              </a:rPr>
              <a:t>endémiques.</a:t>
            </a:r>
          </a:p>
          <a:p>
            <a:pPr algn="just">
              <a:lnSpc>
                <a:spcPct val="150000"/>
              </a:lnSpc>
            </a:pPr>
            <a:r>
              <a:rPr lang="fr-FR" sz="3000" spc="30" dirty="0" smtClean="0">
                <a:solidFill>
                  <a:srgbClr val="000000"/>
                </a:solidFill>
                <a:latin typeface="Tahoma" panose="020B0604030504040204" pitchFamily="34" charset="0"/>
                <a:ea typeface="Times New Roman" panose="02020603050405020304" pitchFamily="18" charset="0"/>
              </a:rPr>
              <a:t>Après </a:t>
            </a:r>
            <a:r>
              <a:rPr lang="fr-FR" sz="3000" spc="30" dirty="0">
                <a:solidFill>
                  <a:srgbClr val="000000"/>
                </a:solidFill>
                <a:latin typeface="Tahoma" panose="020B0604030504040204" pitchFamily="34" charset="0"/>
                <a:ea typeface="Times New Roman" panose="02020603050405020304" pitchFamily="18" charset="0"/>
              </a:rPr>
              <a:t>une incubation de 3 à 4 semaines, le pian évolue en trois phases : phase primaire et secondaire des accidents récents, et phase tertiaire des accidents tardifs</a:t>
            </a:r>
            <a:r>
              <a:rPr lang="fr-FR" sz="3000" spc="30" dirty="0" smtClean="0">
                <a:solidFill>
                  <a:srgbClr val="000000"/>
                </a:solidFill>
                <a:latin typeface="Tahoma" panose="020B0604030504040204" pitchFamily="34" charset="0"/>
                <a:ea typeface="Times New Roman" panose="02020603050405020304" pitchFamily="18" charset="0"/>
              </a:rPr>
              <a:t>.</a:t>
            </a:r>
            <a:endParaRPr lang="fr-FR" sz="3000" spc="3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8466455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35767"/>
          </a:xfrm>
        </p:spPr>
        <p:txBody>
          <a:bodyPr>
            <a:normAutofit fontScale="90000"/>
          </a:bodyPr>
          <a:lstStyle/>
          <a:p>
            <a:pPr lvl="1" algn="l" defTabSz="457200" rtl="0">
              <a:spcBef>
                <a:spcPct val="0"/>
              </a:spcBef>
            </a:pPr>
            <a:r>
              <a:rPr lang="fr-FR" sz="3600" b="1" spc="25" dirty="0">
                <a:solidFill>
                  <a:srgbClr val="000000"/>
                </a:solidFill>
                <a:latin typeface="Tahoma" panose="020B0604030504040204" pitchFamily="34" charset="0"/>
                <a:ea typeface="Times New Roman" panose="02020603050405020304" pitchFamily="18" charset="0"/>
              </a:rPr>
              <a:t>Phase primaire ou pian précoce</a:t>
            </a:r>
            <a:r>
              <a:rPr lang="fr-FR" sz="2800" b="1" spc="25" dirty="0">
                <a:latin typeface="Times New Roman" panose="02020603050405020304" pitchFamily="18" charset="0"/>
                <a:ea typeface="Times New Roman" panose="02020603050405020304" pitchFamily="18" charset="0"/>
              </a:rPr>
              <a:t/>
            </a:r>
            <a:br>
              <a:rPr lang="fr-FR" sz="2800"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1500554" y="1880315"/>
            <a:ext cx="10004058" cy="4450147"/>
          </a:xfrm>
        </p:spPr>
        <p:txBody>
          <a:bodyPr>
            <a:normAutofit/>
          </a:bodyPr>
          <a:lstStyle/>
          <a:p>
            <a:pPr algn="just">
              <a:lnSpc>
                <a:spcPct val="150000"/>
              </a:lnSpc>
            </a:pPr>
            <a:r>
              <a:rPr lang="fr-FR" sz="3000" spc="30" dirty="0">
                <a:solidFill>
                  <a:srgbClr val="000000"/>
                </a:solidFill>
                <a:latin typeface="Tahoma" panose="020B0604030504040204" pitchFamily="34" charset="0"/>
                <a:ea typeface="Times New Roman" panose="02020603050405020304" pitchFamily="18" charset="0"/>
              </a:rPr>
              <a:t>Elle est marquée par </a:t>
            </a:r>
            <a:r>
              <a:rPr lang="fr-FR" sz="3000" spc="30" dirty="0">
                <a:solidFill>
                  <a:srgbClr val="00B0F0"/>
                </a:solidFill>
                <a:latin typeface="Tahoma" panose="020B0604030504040204" pitchFamily="34" charset="0"/>
                <a:ea typeface="Times New Roman" panose="02020603050405020304" pitchFamily="18" charset="0"/>
              </a:rPr>
              <a:t>l'apparition d'un chancre </a:t>
            </a:r>
            <a:r>
              <a:rPr lang="fr-FR" sz="3000" spc="30" dirty="0" err="1">
                <a:solidFill>
                  <a:srgbClr val="00B0F0"/>
                </a:solidFill>
                <a:latin typeface="Tahoma" panose="020B0604030504040204" pitchFamily="34" charset="0"/>
                <a:ea typeface="Times New Roman" panose="02020603050405020304" pitchFamily="18" charset="0"/>
              </a:rPr>
              <a:t>pianique</a:t>
            </a:r>
            <a:r>
              <a:rPr lang="fr-FR" sz="3000" spc="30" dirty="0">
                <a:solidFill>
                  <a:srgbClr val="000000"/>
                </a:solidFill>
                <a:latin typeface="Tahoma" panose="020B0604030504040204" pitchFamily="34" charset="0"/>
                <a:ea typeface="Times New Roman" panose="02020603050405020304" pitchFamily="18" charset="0"/>
              </a:rPr>
              <a:t>, situé le plus souvent au niveau des membres inférieurs </a:t>
            </a:r>
            <a:r>
              <a:rPr lang="fr-FR" sz="3000" spc="30" dirty="0" smtClean="0">
                <a:solidFill>
                  <a:srgbClr val="000000"/>
                </a:solidFill>
                <a:latin typeface="Tahoma" panose="020B0604030504040204" pitchFamily="34" charset="0"/>
                <a:ea typeface="Times New Roman" panose="02020603050405020304" pitchFamily="18" charset="0"/>
              </a:rPr>
              <a:t>et </a:t>
            </a:r>
            <a:r>
              <a:rPr lang="fr-FR" sz="3000" spc="30" dirty="0">
                <a:solidFill>
                  <a:srgbClr val="000000"/>
                </a:solidFill>
                <a:latin typeface="Tahoma" panose="020B0604030504040204" pitchFamily="34" charset="0"/>
                <a:ea typeface="Times New Roman" panose="02020603050405020304" pitchFamily="18" charset="0"/>
              </a:rPr>
              <a:t>parfois au niveau </a:t>
            </a:r>
            <a:r>
              <a:rPr lang="fr-FR" sz="2800" spc="30" dirty="0">
                <a:solidFill>
                  <a:srgbClr val="000000"/>
                </a:solidFill>
                <a:latin typeface="Tahoma" panose="020B0604030504040204" pitchFamily="34" charset="0"/>
                <a:ea typeface="Times New Roman" panose="02020603050405020304" pitchFamily="18" charset="0"/>
              </a:rPr>
              <a:t>d'une plaie </a:t>
            </a:r>
            <a:r>
              <a:rPr lang="fr-FR" sz="2800" spc="30" dirty="0" err="1">
                <a:solidFill>
                  <a:srgbClr val="000000"/>
                </a:solidFill>
                <a:latin typeface="Tahoma" panose="020B0604030504040204" pitchFamily="34" charset="0"/>
                <a:ea typeface="Times New Roman" panose="02020603050405020304" pitchFamily="18" charset="0"/>
              </a:rPr>
              <a:t>pré-existante</a:t>
            </a:r>
            <a:r>
              <a:rPr lang="fr-FR" sz="2800" spc="30" dirty="0">
                <a:solidFill>
                  <a:srgbClr val="000000"/>
                </a:solidFill>
                <a:latin typeface="Tahoma" panose="020B0604030504040204" pitchFamily="34" charset="0"/>
                <a:ea typeface="Times New Roman" panose="02020603050405020304" pitchFamily="18" charset="0"/>
              </a:rPr>
              <a:t> ; et exceptionnellement au niveau des organes génitaux externes</a:t>
            </a:r>
            <a:r>
              <a:rPr lang="fr-FR" sz="2800" spc="30" dirty="0" smtClean="0">
                <a:solidFill>
                  <a:srgbClr val="000000"/>
                </a:solidFill>
                <a:latin typeface="Tahoma" panose="020B0604030504040204" pitchFamily="34" charset="0"/>
                <a:ea typeface="Times New Roman" panose="02020603050405020304" pitchFamily="18" charset="0"/>
              </a:rPr>
              <a:t>.</a:t>
            </a:r>
          </a:p>
          <a:p>
            <a:pPr algn="just"/>
            <a:endParaRPr lang="fr-FR" dirty="0"/>
          </a:p>
        </p:txBody>
      </p:sp>
    </p:spTree>
    <p:extLst>
      <p:ext uri="{BB962C8B-B14F-4D97-AF65-F5344CB8AC3E}">
        <p14:creationId xmlns:p14="http://schemas.microsoft.com/office/powerpoint/2010/main" val="321459862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55312" y="592428"/>
            <a:ext cx="9890975" cy="5486399"/>
          </a:xfrm>
        </p:spPr>
        <p:txBody>
          <a:bodyPr>
            <a:normAutofit/>
          </a:bodyPr>
          <a:lstStyle/>
          <a:p>
            <a:pPr algn="just">
              <a:lnSpc>
                <a:spcPct val="150000"/>
              </a:lnSpc>
            </a:pPr>
            <a:r>
              <a:rPr lang="fr-FR" sz="2800" spc="30" dirty="0">
                <a:solidFill>
                  <a:srgbClr val="000000"/>
                </a:solidFill>
                <a:latin typeface="Tahoma" panose="020B0604030504040204" pitchFamily="34" charset="0"/>
                <a:ea typeface="Times New Roman" panose="02020603050405020304" pitchFamily="18" charset="0"/>
              </a:rPr>
              <a:t>Le chancre </a:t>
            </a:r>
            <a:r>
              <a:rPr lang="fr-FR" sz="2800" spc="30" dirty="0" err="1">
                <a:solidFill>
                  <a:srgbClr val="000000"/>
                </a:solidFill>
                <a:latin typeface="Tahoma" panose="020B0604030504040204" pitchFamily="34" charset="0"/>
                <a:ea typeface="Times New Roman" panose="02020603050405020304" pitchFamily="18" charset="0"/>
              </a:rPr>
              <a:t>pianique</a:t>
            </a:r>
            <a:r>
              <a:rPr lang="fr-FR" sz="2800" spc="30" dirty="0">
                <a:solidFill>
                  <a:srgbClr val="000000"/>
                </a:solidFill>
                <a:latin typeface="Tahoma" panose="020B0604030504040204" pitchFamily="34" charset="0"/>
                <a:ea typeface="Times New Roman" panose="02020603050405020304" pitchFamily="18" charset="0"/>
              </a:rPr>
              <a:t> est une ulcération de taille variable (jusqu'à 5 cm), prurigineuse, croûteuse, reposant sur une base non indurée.</a:t>
            </a:r>
          </a:p>
          <a:p>
            <a:pPr algn="just">
              <a:lnSpc>
                <a:spcPct val="150000"/>
              </a:lnSpc>
            </a:pPr>
            <a:r>
              <a:rPr lang="fr-FR" sz="2800" spc="30" dirty="0">
                <a:solidFill>
                  <a:srgbClr val="000000"/>
                </a:solidFill>
                <a:latin typeface="Tahoma" panose="020B0604030504040204" pitchFamily="34" charset="0"/>
                <a:ea typeface="Times New Roman" panose="02020603050405020304" pitchFamily="18" charset="0"/>
              </a:rPr>
              <a:t> Il s'accompagne habituellement d'adénopathies satellites.</a:t>
            </a:r>
          </a:p>
          <a:p>
            <a:pPr algn="just">
              <a:lnSpc>
                <a:spcPct val="150000"/>
              </a:lnSpc>
            </a:pPr>
            <a:r>
              <a:rPr lang="fr-FR" sz="2800" spc="30" dirty="0">
                <a:solidFill>
                  <a:srgbClr val="000000"/>
                </a:solidFill>
                <a:latin typeface="Tahoma" panose="020B0604030504040204" pitchFamily="34" charset="0"/>
                <a:ea typeface="Times New Roman" panose="02020603050405020304" pitchFamily="18" charset="0"/>
              </a:rPr>
              <a:t> Spontanément, le chancre </a:t>
            </a:r>
            <a:r>
              <a:rPr lang="fr-FR" sz="2800" spc="30" dirty="0" err="1">
                <a:solidFill>
                  <a:srgbClr val="000000"/>
                </a:solidFill>
                <a:latin typeface="Tahoma" panose="020B0604030504040204" pitchFamily="34" charset="0"/>
                <a:ea typeface="Times New Roman" panose="02020603050405020304" pitchFamily="18" charset="0"/>
              </a:rPr>
              <a:t>pianique</a:t>
            </a:r>
            <a:r>
              <a:rPr lang="fr-FR" sz="2800" spc="30" dirty="0">
                <a:solidFill>
                  <a:srgbClr val="000000"/>
                </a:solidFill>
                <a:latin typeface="Tahoma" panose="020B0604030504040204" pitchFamily="34" charset="0"/>
                <a:ea typeface="Times New Roman" panose="02020603050405020304" pitchFamily="18" charset="0"/>
              </a:rPr>
              <a:t> peut guérir en laissant une cicatrice </a:t>
            </a:r>
            <a:r>
              <a:rPr lang="fr-FR" sz="2800" spc="30" dirty="0" smtClean="0">
                <a:solidFill>
                  <a:srgbClr val="000000"/>
                </a:solidFill>
                <a:latin typeface="Tahoma" panose="020B0604030504040204" pitchFamily="34" charset="0"/>
                <a:ea typeface="Times New Roman" panose="02020603050405020304" pitchFamily="18" charset="0"/>
              </a:rPr>
              <a:t>achromique(sans couleur) </a:t>
            </a:r>
            <a:r>
              <a:rPr lang="fr-FR" sz="2800" spc="30" dirty="0">
                <a:solidFill>
                  <a:srgbClr val="000000"/>
                </a:solidFill>
                <a:latin typeface="Tahoma" panose="020B0604030504040204" pitchFamily="34" charset="0"/>
                <a:ea typeface="Times New Roman" panose="02020603050405020304" pitchFamily="18" charset="0"/>
              </a:rPr>
              <a:t>ou au contraire se transformer en un volumineux </a:t>
            </a:r>
            <a:r>
              <a:rPr lang="fr-FR" sz="2800" spc="30" dirty="0" err="1">
                <a:solidFill>
                  <a:srgbClr val="000000"/>
                </a:solidFill>
                <a:latin typeface="Tahoma" panose="020B0604030504040204" pitchFamily="34" charset="0"/>
                <a:ea typeface="Times New Roman" panose="02020603050405020304" pitchFamily="18" charset="0"/>
              </a:rPr>
              <a:t>pianomes</a:t>
            </a:r>
            <a:r>
              <a:rPr lang="fr-FR" sz="2800" spc="30" dirty="0">
                <a:solidFill>
                  <a:srgbClr val="000000"/>
                </a:solidFill>
                <a:latin typeface="Tahoma" panose="020B0604030504040204" pitchFamily="34" charset="0"/>
                <a:ea typeface="Times New Roman" panose="02020603050405020304" pitchFamily="18" charset="0"/>
              </a:rPr>
              <a:t> et entouré de plus petits: c'est « </a:t>
            </a: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la maman-pian»</a:t>
            </a:r>
            <a:r>
              <a:rPr lang="fr-FR" sz="2800" spc="30" dirty="0">
                <a:solidFill>
                  <a:srgbClr val="000000"/>
                </a:solidFill>
                <a:latin typeface="Tahoma" panose="020B0604030504040204" pitchFamily="34" charset="0"/>
                <a:ea typeface="Times New Roman" panose="02020603050405020304" pitchFamily="18" charset="0"/>
              </a:rPr>
              <a:t>.</a:t>
            </a:r>
            <a:endParaRPr lang="fr-FR" sz="2800" spc="3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27365944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79411"/>
            <a:ext cx="8911687" cy="612262"/>
          </a:xfrm>
        </p:spPr>
        <p:txBody>
          <a:bodyPr>
            <a:normAutofit fontScale="90000"/>
          </a:bodyPr>
          <a:lstStyle/>
          <a:p>
            <a:pPr lvl="1" algn="l" defTabSz="457200" rtl="0">
              <a:spcBef>
                <a:spcPct val="0"/>
              </a:spcBef>
            </a:pPr>
            <a:r>
              <a:rPr lang="fr-FR" sz="3600" b="1" spc="25" dirty="0">
                <a:solidFill>
                  <a:srgbClr val="000000"/>
                </a:solidFill>
                <a:latin typeface="Tahoma" panose="020B0604030504040204" pitchFamily="34" charset="0"/>
                <a:ea typeface="Times New Roman" panose="02020603050405020304" pitchFamily="18" charset="0"/>
              </a:rPr>
              <a:t>Phase secondaire</a:t>
            </a:r>
            <a:r>
              <a:rPr lang="fr-FR" sz="2800" b="1" spc="25" dirty="0">
                <a:latin typeface="Times New Roman" panose="02020603050405020304" pitchFamily="18" charset="0"/>
                <a:ea typeface="Times New Roman" panose="02020603050405020304" pitchFamily="18" charset="0"/>
              </a:rPr>
              <a:t/>
            </a:r>
            <a:br>
              <a:rPr lang="fr-FR" sz="2800"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984738" y="991673"/>
            <a:ext cx="10519874" cy="5306096"/>
          </a:xfrm>
        </p:spPr>
        <p:txBody>
          <a:bodyPr>
            <a:noAutofit/>
          </a:bodyPr>
          <a:lstStyle/>
          <a:p>
            <a:pPr algn="just">
              <a:lnSpc>
                <a:spcPct val="150000"/>
              </a:lnSpc>
            </a:pPr>
            <a:r>
              <a:rPr lang="fr-FR" sz="2700" dirty="0">
                <a:solidFill>
                  <a:srgbClr val="000000"/>
                </a:solidFill>
                <a:latin typeface="Tahoma" panose="020B0604030504040204" pitchFamily="34" charset="0"/>
              </a:rPr>
              <a:t>Trois (03) semaines après le chancre, apparaissent des </a:t>
            </a:r>
            <a:r>
              <a:rPr lang="fr-FR" sz="2700" dirty="0" err="1">
                <a:solidFill>
                  <a:srgbClr val="000000"/>
                </a:solidFill>
                <a:latin typeface="Tahoma" panose="020B0604030504040204" pitchFamily="34" charset="0"/>
              </a:rPr>
              <a:t>pianomes</a:t>
            </a:r>
            <a:r>
              <a:rPr lang="fr-FR" sz="2700" dirty="0">
                <a:solidFill>
                  <a:srgbClr val="000000"/>
                </a:solidFill>
                <a:latin typeface="Tahoma" panose="020B0604030504040204" pitchFamily="34" charset="0"/>
              </a:rPr>
              <a:t> cutanés </a:t>
            </a:r>
            <a:r>
              <a:rPr lang="fr-FR" sz="2700" dirty="0" err="1">
                <a:solidFill>
                  <a:srgbClr val="000000"/>
                </a:solidFill>
                <a:latin typeface="Tahoma" panose="020B0604030504040204" pitchFamily="34" charset="0"/>
              </a:rPr>
              <a:t>végétantes</a:t>
            </a:r>
            <a:r>
              <a:rPr lang="fr-FR" sz="2700" dirty="0">
                <a:solidFill>
                  <a:srgbClr val="000000"/>
                </a:solidFill>
                <a:latin typeface="Tahoma" panose="020B0604030504040204" pitchFamily="34" charset="0"/>
              </a:rPr>
              <a:t>, sphériques, parfois prurigineuses. </a:t>
            </a:r>
            <a:endParaRPr lang="fr-FR" sz="2700" dirty="0" smtClean="0">
              <a:solidFill>
                <a:srgbClr val="000000"/>
              </a:solidFill>
              <a:latin typeface="Tahoma" panose="020B0604030504040204" pitchFamily="34" charset="0"/>
            </a:endParaRPr>
          </a:p>
          <a:p>
            <a:pPr algn="just">
              <a:lnSpc>
                <a:spcPct val="150000"/>
              </a:lnSpc>
            </a:pPr>
            <a:r>
              <a:rPr lang="fr-FR" sz="2700" dirty="0" smtClean="0">
                <a:solidFill>
                  <a:srgbClr val="000000"/>
                </a:solidFill>
                <a:latin typeface="Tahoma" panose="020B0604030504040204" pitchFamily="34" charset="0"/>
              </a:rPr>
              <a:t>Ces </a:t>
            </a:r>
            <a:r>
              <a:rPr lang="fr-FR" sz="2700" dirty="0" err="1">
                <a:solidFill>
                  <a:srgbClr val="000000"/>
                </a:solidFill>
                <a:latin typeface="Tahoma" panose="020B0604030504040204" pitchFamily="34" charset="0"/>
              </a:rPr>
              <a:t>pianomes</a:t>
            </a:r>
            <a:r>
              <a:rPr lang="fr-FR" sz="2700" dirty="0">
                <a:solidFill>
                  <a:srgbClr val="000000"/>
                </a:solidFill>
                <a:latin typeface="Tahoma" panose="020B0604030504040204" pitchFamily="34" charset="0"/>
              </a:rPr>
              <a:t> cutanés, parfois multiples, sont répandus sur toute la surface du corps. A la main ou aux pieds surtout chez les enfants marchant pieds nus, le «pian crabe» est fissuré et douloureux</a:t>
            </a:r>
            <a:r>
              <a:rPr lang="fr-FR" sz="2700" dirty="0" smtClean="0">
                <a:solidFill>
                  <a:srgbClr val="000000"/>
                </a:solidFill>
                <a:latin typeface="Tahoma" panose="020B0604030504040204" pitchFamily="34" charset="0"/>
              </a:rPr>
              <a:t>.</a:t>
            </a:r>
          </a:p>
          <a:p>
            <a:pPr algn="just">
              <a:lnSpc>
                <a:spcPct val="150000"/>
              </a:lnSpc>
            </a:pPr>
            <a:r>
              <a:rPr lang="fr-FR" sz="2700" dirty="0" smtClean="0">
                <a:solidFill>
                  <a:srgbClr val="000000"/>
                </a:solidFill>
                <a:latin typeface="Tahoma" panose="020B0604030504040204" pitchFamily="34" charset="0"/>
              </a:rPr>
              <a:t> </a:t>
            </a:r>
            <a:r>
              <a:rPr lang="fr-FR" sz="2700" dirty="0">
                <a:solidFill>
                  <a:srgbClr val="000000"/>
                </a:solidFill>
                <a:latin typeface="Tahoma" panose="020B0604030504040204" pitchFamily="34" charset="0"/>
              </a:rPr>
              <a:t>Les lésions muqueuses (lèvres, joues, langue, périnée, prépuce) sont inconstantes.</a:t>
            </a:r>
            <a:endParaRPr lang="fr-FR" sz="2700" dirty="0"/>
          </a:p>
          <a:p>
            <a:pPr marL="0" indent="0" algn="just">
              <a:buNone/>
            </a:pPr>
            <a:endParaRPr lang="fr-FR" sz="2000" dirty="0"/>
          </a:p>
        </p:txBody>
      </p:sp>
    </p:spTree>
    <p:extLst>
      <p:ext uri="{BB962C8B-B14F-4D97-AF65-F5344CB8AC3E}">
        <p14:creationId xmlns:p14="http://schemas.microsoft.com/office/powerpoint/2010/main" val="63962338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89538" y="656491"/>
            <a:ext cx="10215074" cy="5603631"/>
          </a:xfrm>
        </p:spPr>
        <p:txBody>
          <a:bodyPr>
            <a:normAutofit lnSpcReduction="10000"/>
          </a:bodyPr>
          <a:lstStyle/>
          <a:p>
            <a:pPr algn="just">
              <a:lnSpc>
                <a:spcPct val="150000"/>
              </a:lnSpc>
            </a:pPr>
            <a:r>
              <a:rPr lang="fr-FR" sz="2800" dirty="0">
                <a:solidFill>
                  <a:srgbClr val="000000"/>
                </a:solidFill>
                <a:latin typeface="Tahoma" panose="020B0604030504040204" pitchFamily="34" charset="0"/>
              </a:rPr>
              <a:t>Survenant isolement, s'associant ou succédant aux </a:t>
            </a:r>
            <a:r>
              <a:rPr lang="fr-FR" sz="2800" dirty="0" err="1">
                <a:solidFill>
                  <a:srgbClr val="000000"/>
                </a:solidFill>
                <a:latin typeface="Tahoma" panose="020B0604030504040204" pitchFamily="34" charset="0"/>
              </a:rPr>
              <a:t>pianomes</a:t>
            </a:r>
            <a:r>
              <a:rPr lang="fr-FR" sz="2800" dirty="0">
                <a:solidFill>
                  <a:srgbClr val="000000"/>
                </a:solidFill>
                <a:latin typeface="Tahoma" panose="020B0604030504040204" pitchFamily="34" charset="0"/>
              </a:rPr>
              <a:t>, les </a:t>
            </a:r>
            <a:r>
              <a:rPr lang="fr-FR" sz="2800" dirty="0" err="1">
                <a:solidFill>
                  <a:srgbClr val="00B0F0"/>
                </a:solidFill>
                <a:latin typeface="Tahoma" panose="020B0604030504040204" pitchFamily="34" charset="0"/>
              </a:rPr>
              <a:t>pianides</a:t>
            </a:r>
            <a:r>
              <a:rPr lang="fr-FR" sz="2800" dirty="0">
                <a:solidFill>
                  <a:srgbClr val="000000"/>
                </a:solidFill>
                <a:latin typeface="Tahoma" panose="020B0604030504040204" pitchFamily="34" charset="0"/>
              </a:rPr>
              <a:t> sont des lésions sèches, extrêmement polymorphes, papuleuses, squameuses, carcinées ou </a:t>
            </a:r>
            <a:r>
              <a:rPr lang="fr-FR" sz="2800" dirty="0" smtClean="0">
                <a:solidFill>
                  <a:schemeClr val="tx1"/>
                </a:solidFill>
                <a:latin typeface="Tahoma" panose="020B0604030504040204" pitchFamily="34" charset="0"/>
              </a:rPr>
              <a:t>serpigineuses</a:t>
            </a:r>
            <a:r>
              <a:rPr lang="fr-FR" sz="2800" dirty="0">
                <a:solidFill>
                  <a:srgbClr val="000000"/>
                </a:solidFill>
                <a:latin typeface="Tahoma" panose="020B0604030504040204" pitchFamily="34" charset="0"/>
              </a:rPr>
              <a:t>. </a:t>
            </a:r>
          </a:p>
          <a:p>
            <a:pPr algn="just">
              <a:lnSpc>
                <a:spcPct val="150000"/>
              </a:lnSpc>
            </a:pPr>
            <a:r>
              <a:rPr lang="fr-FR" sz="2800" dirty="0">
                <a:solidFill>
                  <a:srgbClr val="000000"/>
                </a:solidFill>
                <a:latin typeface="Tahoma" panose="020B0604030504040204" pitchFamily="34" charset="0"/>
              </a:rPr>
              <a:t>On peut observer une atteinte osseuse: ostéites des phalanges, des doigts, (polydactylie), hypertrophie des os propres du nez, la déformation du tibia en « lame de sabre». Ces atteintes évoluent par poussées pendant quelques mois, mais finissent généralement par guérir.</a:t>
            </a:r>
            <a:endParaRPr lang="fr-FR" sz="2800" dirty="0"/>
          </a:p>
          <a:p>
            <a:endParaRPr lang="fr-FR" dirty="0"/>
          </a:p>
        </p:txBody>
      </p:sp>
    </p:spTree>
    <p:extLst>
      <p:ext uri="{BB962C8B-B14F-4D97-AF65-F5344CB8AC3E}">
        <p14:creationId xmlns:p14="http://schemas.microsoft.com/office/powerpoint/2010/main" val="113566154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66202"/>
            <a:ext cx="8911687" cy="899890"/>
          </a:xfrm>
        </p:spPr>
        <p:txBody>
          <a:bodyPr>
            <a:normAutofit fontScale="90000"/>
          </a:bodyPr>
          <a:lstStyle/>
          <a:p>
            <a:pPr lvl="1" algn="l" defTabSz="457200" rtl="0">
              <a:spcBef>
                <a:spcPct val="0"/>
              </a:spcBef>
            </a:pPr>
            <a:r>
              <a:rPr lang="fr-FR" sz="3600" b="1" spc="25" dirty="0">
                <a:solidFill>
                  <a:srgbClr val="000000"/>
                </a:solidFill>
                <a:latin typeface="Tahoma" panose="020B0604030504040204" pitchFamily="34" charset="0"/>
                <a:ea typeface="Times New Roman" panose="02020603050405020304" pitchFamily="18" charset="0"/>
              </a:rPr>
              <a:t>Phase tertiaire</a:t>
            </a:r>
            <a:r>
              <a:rPr lang="fr-FR" sz="2800" b="1" spc="25" dirty="0">
                <a:latin typeface="Times New Roman" panose="02020603050405020304" pitchFamily="18" charset="0"/>
                <a:ea typeface="Times New Roman" panose="02020603050405020304" pitchFamily="18" charset="0"/>
              </a:rPr>
              <a:t/>
            </a:r>
            <a:br>
              <a:rPr lang="fr-FR" sz="2800"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1195754" y="1101969"/>
            <a:ext cx="10308858" cy="5158153"/>
          </a:xfrm>
        </p:spPr>
        <p:txBody>
          <a:bodyPr>
            <a:normAutofit fontScale="85000" lnSpcReduction="10000"/>
          </a:bodyPr>
          <a:lstStyle/>
          <a:p>
            <a:pPr algn="just">
              <a:lnSpc>
                <a:spcPct val="150000"/>
              </a:lnSpc>
            </a:pPr>
            <a:r>
              <a:rPr lang="fr-FR" sz="2800" dirty="0">
                <a:solidFill>
                  <a:srgbClr val="000000"/>
                </a:solidFill>
                <a:latin typeface="Tahoma" panose="020B0604030504040204" pitchFamily="34" charset="0"/>
              </a:rPr>
              <a:t>C'est celle des accidents tardifs, apparaissant après plusieurs </a:t>
            </a:r>
            <a:r>
              <a:rPr lang="fr-FR" sz="2800" dirty="0" smtClean="0">
                <a:solidFill>
                  <a:srgbClr val="000000"/>
                </a:solidFill>
                <a:latin typeface="Tahoma" panose="020B0604030504040204" pitchFamily="34" charset="0"/>
              </a:rPr>
              <a:t>années </a:t>
            </a:r>
            <a:r>
              <a:rPr lang="fr-FR" sz="2800" dirty="0">
                <a:solidFill>
                  <a:srgbClr val="000000"/>
                </a:solidFill>
                <a:latin typeface="Tahoma" panose="020B0604030504040204" pitchFamily="34" charset="0"/>
              </a:rPr>
              <a:t>:</a:t>
            </a:r>
            <a:endParaRPr lang="fr-FR" sz="2800" dirty="0"/>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les ostéites et périostites douloureuses et invalidantes avec des lacunes médullaires et un épaississement de la corticale, avec une propagation éventuelle vers les articulations, voire même vers les parties molles,</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pharyngite ulcéreuse et mutilante pouvant aboutir à la destruction totale du massif facial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gangosa</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enfin des manifestations cutanées tubercule-ulcéreuse ou serpigineuses et des leucome-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lanodermies</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81639505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12321"/>
          </a:xfrm>
        </p:spPr>
        <p:txBody>
          <a:bodyPr>
            <a:normAutofit fontScale="90000"/>
          </a:bodyPr>
          <a:lstStyle/>
          <a:p>
            <a:pPr lvl="1" algn="l" defTabSz="457200" rtl="0">
              <a:spcBef>
                <a:spcPct val="0"/>
              </a:spcBef>
            </a:pP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Diagnostic différentiel</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820615" y="1336431"/>
            <a:ext cx="10683997" cy="4574791"/>
          </a:xfrm>
        </p:spPr>
        <p:txBody>
          <a:bodyPr>
            <a:normAutofit/>
          </a:bodyPr>
          <a:lstStyle/>
          <a:p>
            <a:pPr lvl="0">
              <a:lnSpc>
                <a:spcPct val="150000"/>
              </a:lnSpc>
              <a:buFont typeface="Calibri" panose="020F0502020204030204" pitchFamily="34" charset="0"/>
              <a:buChar char="-"/>
            </a:pP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Impétigo: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petits boutons contenant du pus.</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Gale: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papule cutanée avec prurits intenses et qui siègent dans les espaces interdigitaux.</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Verrues plantaires: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lésions planes, douloureuses siégeant à la plante du pied.</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Lèpre: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présentant des lésions anesthésiques.</a:t>
            </a:r>
            <a:endParaRPr lang="fr-FR" sz="28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11115668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96981" y="377100"/>
            <a:ext cx="9907632" cy="665429"/>
          </a:xfrm>
        </p:spPr>
        <p:txBody>
          <a:bodyPr>
            <a:normAutofit fontScale="90000"/>
          </a:bodyPr>
          <a:lstStyle/>
          <a:p>
            <a:pPr lvl="1" algn="ctr" defTabSz="457200" rtl="0">
              <a:spcBef>
                <a:spcPct val="0"/>
              </a:spcBef>
            </a:pP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Diagnostic positif</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820615" y="1042529"/>
            <a:ext cx="10683997" cy="5396907"/>
          </a:xfrm>
        </p:spPr>
        <p:txBody>
          <a:bodyPr>
            <a:noAutofit/>
          </a:bodyPr>
          <a:lstStyle/>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 diagnostic est affirmé par la découverte des tréponèmes, mobiles, au </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microscope à fond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noir dans les prélèvements d'ulcérations ou de </a:t>
            </a:r>
            <a:r>
              <a:rPr lang="fr-FR" sz="28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pianomes</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la sérologie est positive (BW ; VDRL) dans la phase II secondaire,</a:t>
            </a:r>
            <a:endParaRPr lang="fr-FR" sz="2800" dirty="0">
              <a:ea typeface="Calibri" panose="020F0502020204030204" pitchFamily="34" charset="0"/>
              <a:cs typeface="Times New Roman" panose="02020603050405020304" pitchFamily="18" charset="0"/>
            </a:endParaRPr>
          </a:p>
          <a:p>
            <a:pPr algn="just">
              <a:lnSpc>
                <a:spcPct val="150000"/>
              </a:lnSpc>
            </a:pPr>
            <a:r>
              <a:rPr lang="fr-FR" sz="2800" dirty="0">
                <a:solidFill>
                  <a:srgbClr val="000000"/>
                </a:solidFill>
                <a:latin typeface="Tahoma" panose="020B0604030504040204" pitchFamily="34" charset="0"/>
                <a:ea typeface="Courier New" panose="02070309020205020404" pitchFamily="49" charset="0"/>
              </a:rPr>
              <a:t>l'examen </a:t>
            </a:r>
            <a:r>
              <a:rPr lang="fr-FR" sz="2800" dirty="0" err="1">
                <a:solidFill>
                  <a:srgbClr val="000000"/>
                </a:solidFill>
                <a:latin typeface="Tahoma" panose="020B0604030504040204" pitchFamily="34" charset="0"/>
                <a:ea typeface="Courier New" panose="02070309020205020404" pitchFamily="49" charset="0"/>
              </a:rPr>
              <a:t>histopathologique</a:t>
            </a:r>
            <a:r>
              <a:rPr lang="fr-FR" sz="2800" dirty="0">
                <a:solidFill>
                  <a:srgbClr val="000000"/>
                </a:solidFill>
                <a:latin typeface="Tahoma" panose="020B0604030504040204" pitchFamily="34" charset="0"/>
                <a:ea typeface="Courier New" panose="02070309020205020404" pitchFamily="49" charset="0"/>
              </a:rPr>
              <a:t> montre des infiltrats granulomateux à prédominance plasmocytaire dans les lésions récentes et histiocytaires dans les lésions tardives</a:t>
            </a:r>
            <a:endParaRPr lang="fr-FR" sz="2800" dirty="0"/>
          </a:p>
        </p:txBody>
      </p:sp>
    </p:spTree>
    <p:extLst>
      <p:ext uri="{BB962C8B-B14F-4D97-AF65-F5344CB8AC3E}">
        <p14:creationId xmlns:p14="http://schemas.microsoft.com/office/powerpoint/2010/main" val="281326098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spc="25" dirty="0">
                <a:solidFill>
                  <a:srgbClr val="000000"/>
                </a:solidFill>
                <a:latin typeface="Tahoma" panose="020B0604030504040204" pitchFamily="34" charset="0"/>
                <a:ea typeface="Times New Roman" panose="02020603050405020304" pitchFamily="18" charset="0"/>
              </a:rPr>
              <a:t>TRAITEMENT</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1711569" y="2133600"/>
            <a:ext cx="9793043" cy="3777622"/>
          </a:xfrm>
        </p:spPr>
        <p:txBody>
          <a:bodyPr/>
          <a:lstStyle/>
          <a:p>
            <a:pPr>
              <a:lnSpc>
                <a:spcPct val="150000"/>
              </a:lnSpc>
            </a:pPr>
            <a:r>
              <a:rPr lang="fr-FR"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Retarpen</a:t>
            </a:r>
            <a:r>
              <a:rPr lang="fr-FR" dirty="0">
                <a:solidFill>
                  <a:srgbClr val="000000"/>
                </a:solidFill>
                <a:latin typeface="Tahoma" panose="020B0604030504040204" pitchFamily="34" charset="0"/>
              </a:rPr>
              <a:t>: 2 millions 4</a:t>
            </a:r>
            <a:endParaRPr lang="fr-FR" dirty="0"/>
          </a:p>
          <a:p>
            <a:pPr>
              <a:lnSpc>
                <a:spcPct val="150000"/>
              </a:lnSpc>
            </a:pPr>
            <a:r>
              <a:rPr lang="fr-FR"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Adulte: </a:t>
            </a:r>
            <a:r>
              <a:rPr lang="fr-FR" dirty="0">
                <a:solidFill>
                  <a:srgbClr val="000000"/>
                </a:solidFill>
                <a:latin typeface="Tahoma" panose="020B0604030504040204" pitchFamily="34" charset="0"/>
              </a:rPr>
              <a:t>1 million 2 à 2 millions 4 en une seule injection selon la périodicité de l'atteinte.</a:t>
            </a:r>
            <a:endParaRPr lang="fr-FR" dirty="0"/>
          </a:p>
          <a:p>
            <a:pPr>
              <a:lnSpc>
                <a:spcPct val="150000"/>
              </a:lnSpc>
            </a:pPr>
            <a:r>
              <a:rPr lang="fr-FR"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Enfants </a:t>
            </a:r>
            <a:r>
              <a:rPr lang="fr-FR" b="1" dirty="0">
                <a:solidFill>
                  <a:srgbClr val="000000"/>
                </a:solidFill>
                <a:latin typeface="Tahoma" panose="020B0604030504040204" pitchFamily="34" charset="0"/>
              </a:rPr>
              <a:t>: </a:t>
            </a:r>
            <a:r>
              <a:rPr lang="fr-FR"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600 000</a:t>
            </a:r>
            <a:r>
              <a:rPr lang="fr-FR" dirty="0">
                <a:solidFill>
                  <a:srgbClr val="000000"/>
                </a:solidFill>
                <a:latin typeface="Tahoma" panose="020B0604030504040204" pitchFamily="34" charset="0"/>
              </a:rPr>
              <a:t>à</a:t>
            </a:r>
            <a:r>
              <a:rPr lang="fr-FR"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1</a:t>
            </a:r>
            <a:r>
              <a:rPr lang="fr-FR" dirty="0">
                <a:solidFill>
                  <a:srgbClr val="000000"/>
                </a:solidFill>
                <a:latin typeface="Tahoma" panose="020B0604030504040204" pitchFamily="34" charset="0"/>
              </a:rPr>
              <a:t>million </a:t>
            </a:r>
            <a:r>
              <a:rPr lang="fr-FR"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2</a:t>
            </a:r>
            <a:r>
              <a:rPr lang="fr-FR" dirty="0">
                <a:solidFill>
                  <a:srgbClr val="000000"/>
                </a:solidFill>
                <a:latin typeface="Tahoma" panose="020B0604030504040204" pitchFamily="34" charset="0"/>
              </a:rPr>
              <a:t>en une seule injection selon la périodicité de l'atteinte.</a:t>
            </a:r>
            <a:endParaRPr lang="fr-FR" dirty="0"/>
          </a:p>
          <a:p>
            <a:pPr>
              <a:lnSpc>
                <a:spcPct val="150000"/>
              </a:lnSpc>
            </a:pPr>
            <a:r>
              <a:rPr lang="fr-FR"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Tétracycline: </a:t>
            </a:r>
            <a:r>
              <a:rPr lang="fr-FR" dirty="0">
                <a:solidFill>
                  <a:srgbClr val="000000"/>
                </a:solidFill>
                <a:latin typeface="Tahoma" panose="020B0604030504040204" pitchFamily="34" charset="0"/>
              </a:rPr>
              <a:t>2 g/j en 4 prises pendant 15 jours.</a:t>
            </a:r>
            <a:endParaRPr lang="fr-FR" dirty="0"/>
          </a:p>
          <a:p>
            <a:endParaRPr lang="fr-FR" dirty="0"/>
          </a:p>
        </p:txBody>
      </p:sp>
    </p:spTree>
    <p:extLst>
      <p:ext uri="{BB962C8B-B14F-4D97-AF65-F5344CB8AC3E}">
        <p14:creationId xmlns:p14="http://schemas.microsoft.com/office/powerpoint/2010/main" val="76276180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09"/>
            <a:ext cx="8911687" cy="806106"/>
          </a:xfrm>
        </p:spPr>
        <p:txBody>
          <a:bodyPr>
            <a:normAutofit fontScale="90000"/>
          </a:bodyPr>
          <a:lstStyle/>
          <a:p>
            <a:pPr lvl="0"/>
            <a:r>
              <a:rPr lang="fr-FR" sz="2800" b="1" spc="25" dirty="0">
                <a:solidFill>
                  <a:srgbClr val="000000"/>
                </a:solidFill>
                <a:latin typeface="Tahoma" panose="020B0604030504040204" pitchFamily="34" charset="0"/>
                <a:ea typeface="Times New Roman" panose="02020603050405020304" pitchFamily="18" charset="0"/>
              </a:rPr>
              <a:t>PROPHYLAXIE </a:t>
            </a:r>
            <a:r>
              <a:rPr lang="fr-FR" sz="2800" b="1" spc="25" dirty="0">
                <a:latin typeface="Times New Roman" panose="02020603050405020304" pitchFamily="18" charset="0"/>
                <a:ea typeface="Times New Roman" panose="02020603050405020304" pitchFamily="18" charset="0"/>
              </a:rPr>
              <a:t/>
            </a:r>
            <a:br>
              <a:rPr lang="fr-FR" sz="2800"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1148862" y="1266091"/>
            <a:ext cx="10355750" cy="4994031"/>
          </a:xfrm>
        </p:spPr>
        <p:txBody>
          <a:bodyPr>
            <a:noAutofit/>
          </a:bodyPr>
          <a:lstStyle/>
          <a:p>
            <a:pPr>
              <a:lnSpc>
                <a:spcPct val="150000"/>
              </a:lnSpc>
            </a:pPr>
            <a:r>
              <a:rPr lang="fr-FR" sz="2400" dirty="0">
                <a:solidFill>
                  <a:srgbClr val="000000"/>
                </a:solidFill>
                <a:latin typeface="Tahoma" panose="020B0604030504040204" pitchFamily="34" charset="0"/>
              </a:rPr>
              <a:t>Elle est basée sur les campagnes de masse de pénicillothérapie.</a:t>
            </a:r>
            <a:endParaRPr lang="fr-FR" sz="2400" dirty="0"/>
          </a:p>
          <a:p>
            <a:pPr>
              <a:lnSpc>
                <a:spcPct val="150000"/>
              </a:lnSpc>
            </a:pPr>
            <a:r>
              <a:rPr lang="fr-FR" sz="2400" dirty="0">
                <a:solidFill>
                  <a:srgbClr val="000000"/>
                </a:solidFill>
                <a:latin typeface="Tahoma" panose="020B0604030504040204" pitchFamily="34" charset="0"/>
              </a:rPr>
              <a:t>L'OMS conseille les schémas thérapeutiques suivants dans les campagnes de masse. </a:t>
            </a:r>
            <a:endParaRPr lang="fr-FR" sz="2400" dirty="0"/>
          </a:p>
          <a:p>
            <a:pPr indent="450215">
              <a:lnSpc>
                <a:spcPct val="150000"/>
              </a:lnSpc>
            </a:pPr>
            <a:r>
              <a:rPr lang="fr-FR" sz="2400" dirty="0">
                <a:solidFill>
                  <a:srgbClr val="000000"/>
                </a:solidFill>
                <a:latin typeface="Tahoma" panose="020B0604030504040204" pitchFamily="34" charset="0"/>
              </a:rPr>
              <a:t>- En zone de forte prévalence &gt; 10 % : </a:t>
            </a:r>
            <a:r>
              <a:rPr lang="fr-FR" sz="2400" dirty="0" err="1">
                <a:solidFill>
                  <a:srgbClr val="000000"/>
                </a:solidFill>
                <a:latin typeface="Tahoma" panose="020B0604030504040204" pitchFamily="34" charset="0"/>
              </a:rPr>
              <a:t>Retarpen</a:t>
            </a:r>
            <a:r>
              <a:rPr lang="fr-FR" sz="2400" dirty="0">
                <a:solidFill>
                  <a:srgbClr val="000000"/>
                </a:solidFill>
                <a:latin typeface="Tahoma" panose="020B0604030504040204" pitchFamily="34" charset="0"/>
              </a:rPr>
              <a:t> :</a:t>
            </a:r>
            <a:endParaRPr lang="fr-FR" sz="2400" dirty="0"/>
          </a:p>
          <a:p>
            <a:pPr marL="450215" indent="450215">
              <a:lnSpc>
                <a:spcPct val="150000"/>
              </a:lnSpc>
            </a:pPr>
            <a:r>
              <a:rPr lang="fr-FR" sz="2400" dirty="0">
                <a:solidFill>
                  <a:srgbClr val="000000"/>
                </a:solidFill>
                <a:latin typeface="Tahoma" panose="020B0604030504040204" pitchFamily="34" charset="0"/>
              </a:rPr>
              <a:t>Adulte : 1 million </a:t>
            </a:r>
            <a:r>
              <a:rPr lang="fr-FR" sz="2400">
                <a:solidFill>
                  <a:srgbClr val="000000"/>
                </a:solidFill>
                <a:latin typeface="Tahoma" panose="020B0604030504040204" pitchFamily="34" charset="0"/>
              </a:rPr>
              <a:t>2 </a:t>
            </a:r>
            <a:r>
              <a:rPr lang="fr-FR" sz="2400" smtClean="0">
                <a:solidFill>
                  <a:srgbClr val="000000"/>
                </a:solidFill>
                <a:latin typeface="Tahoma" panose="020B0604030504040204" pitchFamily="34" charset="0"/>
              </a:rPr>
              <a:t>Enfants </a:t>
            </a:r>
            <a:r>
              <a:rPr lang="fr-FR" sz="2400" dirty="0">
                <a:solidFill>
                  <a:srgbClr val="000000"/>
                </a:solidFill>
                <a:latin typeface="Tahoma" panose="020B0604030504040204" pitchFamily="34" charset="0"/>
              </a:rPr>
              <a:t>(-10 ans) 600 000 UI</a:t>
            </a:r>
            <a:endParaRPr lang="fr-FR" sz="2400" dirty="0"/>
          </a:p>
          <a:p>
            <a:pPr lvl="0">
              <a:lnSpc>
                <a:spcPct val="150000"/>
              </a:lnSpc>
              <a:buFont typeface="Calibri" panose="020F0502020204030204" pitchFamily="34" charset="0"/>
              <a:buChar char="-"/>
            </a:pP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En zone de prévalence moyenne 5 à 10 % : traitement des cas cliniques ainsi que des sujets contacts et des enfants de moins de 15 ans.</a:t>
            </a:r>
            <a:endParaRPr lang="fr-FR" sz="24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Zone de faible prévalence &lt; 5 % : traitement des cas cliniques et des sujets contacts.</a:t>
            </a:r>
            <a:endParaRPr lang="fr-FR" sz="2400" dirty="0">
              <a:ea typeface="Calibri" panose="020F0502020204030204" pitchFamily="34" charset="0"/>
              <a:cs typeface="Times New Roman" panose="02020603050405020304" pitchFamily="18" charset="0"/>
            </a:endParaRPr>
          </a:p>
          <a:p>
            <a:endParaRPr lang="fr-FR" sz="2400" dirty="0"/>
          </a:p>
        </p:txBody>
      </p:sp>
    </p:spTree>
    <p:extLst>
      <p:ext uri="{BB962C8B-B14F-4D97-AF65-F5344CB8AC3E}">
        <p14:creationId xmlns:p14="http://schemas.microsoft.com/office/powerpoint/2010/main" val="14144452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53662" y="2790092"/>
            <a:ext cx="10050950" cy="1047617"/>
          </a:xfrm>
        </p:spPr>
        <p:style>
          <a:lnRef idx="1">
            <a:schemeClr val="accent2"/>
          </a:lnRef>
          <a:fillRef idx="2">
            <a:schemeClr val="accent2"/>
          </a:fillRef>
          <a:effectRef idx="1">
            <a:schemeClr val="accent2"/>
          </a:effectRef>
          <a:fontRef idx="minor">
            <a:schemeClr val="dk1"/>
          </a:fontRef>
        </p:style>
        <p:txBody>
          <a:bodyPr>
            <a:normAutofit/>
          </a:bodyPr>
          <a:lstStyle/>
          <a:p>
            <a:pPr marL="0" indent="0" algn="ctr">
              <a:buNone/>
            </a:pPr>
            <a:r>
              <a:rPr lang="fr-FR" sz="4400" b="1" dirty="0">
                <a:latin typeface="Tahoma" panose="020B0604030504040204" pitchFamily="34" charset="0"/>
              </a:rPr>
              <a:t>SYNDROMES DYSENTERIQUES</a:t>
            </a:r>
            <a:endParaRPr lang="fr-FR" sz="4400" dirty="0"/>
          </a:p>
        </p:txBody>
      </p:sp>
    </p:spTree>
    <p:extLst>
      <p:ext uri="{BB962C8B-B14F-4D97-AF65-F5344CB8AC3E}">
        <p14:creationId xmlns:p14="http://schemas.microsoft.com/office/powerpoint/2010/main" val="51702319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88875"/>
          </a:xfrm>
        </p:spPr>
        <p:txBody>
          <a:bodyPr>
            <a:normAutofit fontScale="90000"/>
          </a:bodyPr>
          <a:lstStyle/>
          <a:p>
            <a:r>
              <a:rPr lang="fr-FR" b="1" dirty="0">
                <a:latin typeface="Tahoma" panose="020B0604030504040204" pitchFamily="34" charset="0"/>
              </a:rPr>
              <a:t>SYNDROMES DYSENTERIQUES</a:t>
            </a:r>
            <a:r>
              <a:rPr lang="fr-FR" dirty="0"/>
              <a:t/>
            </a:r>
            <a:br>
              <a:rPr lang="fr-FR" dirty="0"/>
            </a:br>
            <a:endParaRPr lang="fr-FR" dirty="0"/>
          </a:p>
        </p:txBody>
      </p:sp>
      <p:sp>
        <p:nvSpPr>
          <p:cNvPr id="3" name="Espace réservé du contenu 2"/>
          <p:cNvSpPr>
            <a:spLocks noGrp="1"/>
          </p:cNvSpPr>
          <p:nvPr>
            <p:ph idx="1"/>
          </p:nvPr>
        </p:nvSpPr>
        <p:spPr>
          <a:xfrm>
            <a:off x="1195754" y="1312984"/>
            <a:ext cx="10308858" cy="4783015"/>
          </a:xfrm>
        </p:spPr>
        <p:txBody>
          <a:bodyPr>
            <a:noAutofit/>
          </a:bodyPr>
          <a:lstStyle/>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Les </a:t>
            </a:r>
            <a:r>
              <a:rPr lang="fr-FR" sz="2800" dirty="0" smtClean="0">
                <a:latin typeface="Tahoma" panose="020B0604030504040204" pitchFamily="34" charset="0"/>
              </a:rPr>
              <a:t>syndromes dysentériques font penser à toutes les </a:t>
            </a:r>
            <a:r>
              <a:rPr lang="fr-FR" sz="2800" spc="10" dirty="0" smtClean="0">
                <a:solidFill>
                  <a:srgbClr val="000000"/>
                </a:solidFill>
                <a:latin typeface="Tahoma" panose="020B0604030504040204" pitchFamily="34" charset="0"/>
                <a:ea typeface="Times New Roman" panose="02020603050405020304" pitchFamily="18" charset="0"/>
              </a:rPr>
              <a:t>diarrhées </a:t>
            </a:r>
            <a:r>
              <a:rPr lang="fr-FR" sz="2800" spc="10" dirty="0">
                <a:solidFill>
                  <a:srgbClr val="000000"/>
                </a:solidFill>
                <a:latin typeface="Tahoma" panose="020B0604030504040204" pitchFamily="34" charset="0"/>
                <a:ea typeface="Times New Roman" panose="02020603050405020304" pitchFamily="18" charset="0"/>
              </a:rPr>
              <a:t>d'origine intestinale faite d'évacuation de selles liquides souvent glaireuses et </a:t>
            </a:r>
            <a:r>
              <a:rPr lang="fr-FR" sz="2800" spc="10" dirty="0" smtClean="0">
                <a:solidFill>
                  <a:srgbClr val="000000"/>
                </a:solidFill>
                <a:latin typeface="Tahoma" panose="020B0604030504040204" pitchFamily="34" charset="0"/>
                <a:ea typeface="Times New Roman" panose="02020603050405020304" pitchFamily="18" charset="0"/>
              </a:rPr>
              <a:t>sanglantes.</a:t>
            </a: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Ces diarrhées s’accompagnent de </a:t>
            </a:r>
            <a:r>
              <a:rPr lang="fr-FR" sz="2800" spc="10" dirty="0">
                <a:solidFill>
                  <a:srgbClr val="000000"/>
                </a:solidFill>
                <a:latin typeface="Tahoma" panose="020B0604030504040204" pitchFamily="34" charset="0"/>
                <a:ea typeface="Times New Roman" panose="02020603050405020304" pitchFamily="18" charset="0"/>
              </a:rPr>
              <a:t>douleurs abdominales traduisant une irritation du rectum et entrainant une déshydratation rapide</a:t>
            </a:r>
            <a:r>
              <a:rPr lang="fr-FR" sz="2800" spc="10" dirty="0" smtClean="0">
                <a:solidFill>
                  <a:srgbClr val="000000"/>
                </a:solidFill>
                <a:latin typeface="Tahoma" panose="020B0604030504040204" pitchFamily="34" charset="0"/>
                <a:ea typeface="Times New Roman" panose="02020603050405020304" pitchFamily="18" charset="0"/>
              </a:rPr>
              <a:t>.</a:t>
            </a: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 </a:t>
            </a:r>
            <a:r>
              <a:rPr lang="fr-FR" sz="2800" spc="10" dirty="0">
                <a:solidFill>
                  <a:srgbClr val="000000"/>
                </a:solidFill>
                <a:latin typeface="Tahoma" panose="020B0604030504040204" pitchFamily="34" charset="0"/>
                <a:ea typeface="Times New Roman" panose="02020603050405020304" pitchFamily="18" charset="0"/>
              </a:rPr>
              <a:t>Les germes responsables sont soit des bactéries (</a:t>
            </a:r>
            <a:r>
              <a:rPr lang="fr-FR" sz="2800" spc="10" dirty="0" err="1">
                <a:solidFill>
                  <a:srgbClr val="000000"/>
                </a:solidFill>
                <a:latin typeface="Tahoma" panose="020B0604030504040204" pitchFamily="34" charset="0"/>
                <a:ea typeface="Times New Roman" panose="02020603050405020304" pitchFamily="18" charset="0"/>
              </a:rPr>
              <a:t>shigelles</a:t>
            </a:r>
            <a:r>
              <a:rPr lang="fr-FR" sz="2800" spc="10" dirty="0">
                <a:solidFill>
                  <a:srgbClr val="000000"/>
                </a:solidFill>
                <a:latin typeface="Tahoma" panose="020B0604030504040204" pitchFamily="34" charset="0"/>
                <a:ea typeface="Times New Roman" panose="02020603050405020304" pitchFamily="18" charset="0"/>
              </a:rPr>
              <a:t>) ; des parasites (</a:t>
            </a:r>
            <a:r>
              <a:rPr lang="fr-FR" sz="2800" spc="10" dirty="0" err="1">
                <a:solidFill>
                  <a:srgbClr val="000000"/>
                </a:solidFill>
                <a:latin typeface="Tahoma" panose="020B0604030504040204" pitchFamily="34" charset="0"/>
                <a:ea typeface="Times New Roman" panose="02020603050405020304" pitchFamily="18" charset="0"/>
              </a:rPr>
              <a:t>lamblia</a:t>
            </a:r>
            <a:r>
              <a:rPr lang="fr-FR" sz="2800" spc="10" dirty="0">
                <a:solidFill>
                  <a:srgbClr val="000000"/>
                </a:solidFill>
                <a:latin typeface="Tahoma" panose="020B0604030504040204" pitchFamily="34" charset="0"/>
                <a:ea typeface="Times New Roman" panose="02020603050405020304" pitchFamily="18" charset="0"/>
              </a:rPr>
              <a:t> ou giardia, amibes).</a:t>
            </a:r>
            <a:endParaRPr lang="fr-FR" sz="2800" spc="10" dirty="0">
              <a:latin typeface="Times New Roman" panose="02020603050405020304" pitchFamily="18" charset="0"/>
              <a:ea typeface="Times New Roman" panose="02020603050405020304" pitchFamily="18" charset="0"/>
            </a:endParaRPr>
          </a:p>
          <a:p>
            <a:endParaRPr lang="fr-FR" sz="3000" dirty="0"/>
          </a:p>
        </p:txBody>
      </p:sp>
    </p:spTree>
    <p:extLst>
      <p:ext uri="{BB962C8B-B14F-4D97-AF65-F5344CB8AC3E}">
        <p14:creationId xmlns:p14="http://schemas.microsoft.com/office/powerpoint/2010/main" val="50174813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71223" y="624110"/>
            <a:ext cx="9933389" cy="712321"/>
          </a:xfrm>
        </p:spPr>
        <p:txBody>
          <a:bodyPr>
            <a:noAutofit/>
          </a:bodyPr>
          <a:lstStyle/>
          <a:p>
            <a:pPr lvl="0"/>
            <a:r>
              <a:rPr lang="fr-FR" sz="3000" b="1" spc="25" dirty="0">
                <a:solidFill>
                  <a:srgbClr val="FF0000"/>
                </a:solidFill>
                <a:latin typeface="Tahoma" panose="020B0604030504040204" pitchFamily="34" charset="0"/>
                <a:ea typeface="Arial Unicode MS" panose="020B0604020202020204" pitchFamily="34" charset="-128"/>
                <a:cs typeface="Times New Roman" panose="02020603050405020304" pitchFamily="18" charset="0"/>
              </a:rPr>
              <a:t>SHIGELLOSE OU DYSENTERIE BACILLAIRE</a:t>
            </a:r>
            <a:r>
              <a:rPr lang="fr-FR" sz="3000" dirty="0">
                <a:solidFill>
                  <a:srgbClr val="FF0000"/>
                </a:solidFill>
                <a:latin typeface="Courier New" panose="02070309020205020404" pitchFamily="49" charset="0"/>
                <a:ea typeface="Courier New" panose="02070309020205020404" pitchFamily="49" charset="0"/>
              </a:rPr>
              <a:t/>
            </a:r>
            <a:br>
              <a:rPr lang="fr-FR" sz="3000" dirty="0">
                <a:solidFill>
                  <a:srgbClr val="FF0000"/>
                </a:solidFill>
                <a:latin typeface="Courier New" panose="02070309020205020404" pitchFamily="49" charset="0"/>
                <a:ea typeface="Courier New" panose="02070309020205020404" pitchFamily="49" charset="0"/>
              </a:rPr>
            </a:br>
            <a:endParaRPr lang="fr-FR" sz="3000" dirty="0">
              <a:solidFill>
                <a:srgbClr val="FF0000"/>
              </a:solidFill>
            </a:endParaRPr>
          </a:p>
        </p:txBody>
      </p:sp>
      <p:sp>
        <p:nvSpPr>
          <p:cNvPr id="3" name="Espace réservé du contenu 2"/>
          <p:cNvSpPr>
            <a:spLocks noGrp="1"/>
          </p:cNvSpPr>
          <p:nvPr>
            <p:ph idx="1"/>
          </p:nvPr>
        </p:nvSpPr>
        <p:spPr>
          <a:xfrm>
            <a:off x="1008185" y="1664677"/>
            <a:ext cx="10761783" cy="4548554"/>
          </a:xfrm>
        </p:spPr>
        <p:txBody>
          <a:bodyPr>
            <a:normAutofit fontScale="32500" lnSpcReduction="20000"/>
          </a:bodyPr>
          <a:lstStyle/>
          <a:p>
            <a:pPr marL="457200" lvl="1" indent="0" algn="just">
              <a:lnSpc>
                <a:spcPct val="170000"/>
              </a:lnSpc>
              <a:buNone/>
            </a:pPr>
            <a:r>
              <a:rPr lang="fr-FR" sz="8600" b="1" u="sng"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Définition et Épidémiologie</a:t>
            </a:r>
            <a:endParaRPr lang="fr-FR" sz="8600" dirty="0">
              <a:solidFill>
                <a:srgbClr val="000000"/>
              </a:solidFill>
              <a:latin typeface="Courier New" panose="02070309020205020404" pitchFamily="49" charset="0"/>
              <a:ea typeface="Arial Unicode MS" panose="020B0604020202020204" pitchFamily="34" charset="-128"/>
            </a:endParaRPr>
          </a:p>
          <a:p>
            <a:pPr algn="just">
              <a:lnSpc>
                <a:spcPct val="170000"/>
              </a:lnSpc>
            </a:pPr>
            <a:r>
              <a:rPr lang="fr-FR" sz="8600" dirty="0">
                <a:solidFill>
                  <a:srgbClr val="000000"/>
                </a:solidFill>
                <a:latin typeface="Tahoma" panose="020B0604030504040204" pitchFamily="34" charset="0"/>
              </a:rPr>
              <a:t>C'est une </a:t>
            </a:r>
            <a:r>
              <a:rPr lang="fr-FR" sz="8600" dirty="0" smtClean="0">
                <a:solidFill>
                  <a:srgbClr val="000000"/>
                </a:solidFill>
                <a:latin typeface="Tahoma" panose="020B0604030504040204" pitchFamily="34" charset="0"/>
              </a:rPr>
              <a:t>recto-colite provoquée </a:t>
            </a:r>
            <a:r>
              <a:rPr lang="fr-FR" sz="8600" dirty="0">
                <a:solidFill>
                  <a:srgbClr val="000000"/>
                </a:solidFill>
                <a:latin typeface="Tahoma" panose="020B0604030504040204" pitchFamily="34" charset="0"/>
              </a:rPr>
              <a:t>par des bactéries du genre </a:t>
            </a:r>
            <a:r>
              <a:rPr lang="fr-FR" sz="8600" dirty="0" err="1">
                <a:solidFill>
                  <a:srgbClr val="000000"/>
                </a:solidFill>
                <a:latin typeface="Tahoma" panose="020B0604030504040204" pitchFamily="34" charset="0"/>
              </a:rPr>
              <a:t>shigella</a:t>
            </a:r>
            <a:r>
              <a:rPr lang="fr-FR" sz="8600" dirty="0">
                <a:solidFill>
                  <a:srgbClr val="000000"/>
                </a:solidFill>
                <a:latin typeface="Tahoma" panose="020B0604030504040204" pitchFamily="34" charset="0"/>
              </a:rPr>
              <a:t> (</a:t>
            </a:r>
            <a:r>
              <a:rPr lang="fr-FR" sz="8600" dirty="0" err="1">
                <a:solidFill>
                  <a:srgbClr val="000000"/>
                </a:solidFill>
                <a:latin typeface="Tahoma" panose="020B0604030504040204" pitchFamily="34" charset="0"/>
              </a:rPr>
              <a:t>shigelles</a:t>
            </a:r>
            <a:r>
              <a:rPr lang="fr-FR" sz="8600" dirty="0" smtClean="0">
                <a:solidFill>
                  <a:srgbClr val="000000"/>
                </a:solidFill>
                <a:latin typeface="Tahoma" panose="020B0604030504040204" pitchFamily="34" charset="0"/>
              </a:rPr>
              <a:t>)</a:t>
            </a:r>
            <a:r>
              <a:rPr lang="fr-FR" sz="8600" dirty="0">
                <a:solidFill>
                  <a:srgbClr val="000000"/>
                </a:solidFill>
                <a:latin typeface="Tahoma" panose="020B0604030504040204" pitchFamily="34" charset="0"/>
              </a:rPr>
              <a:t> et </a:t>
            </a:r>
            <a:r>
              <a:rPr lang="fr-FR" sz="8600" dirty="0" smtClean="0">
                <a:solidFill>
                  <a:srgbClr val="000000"/>
                </a:solidFill>
                <a:latin typeface="Tahoma" panose="020B0604030504040204" pitchFamily="34" charset="0"/>
              </a:rPr>
              <a:t> </a:t>
            </a:r>
            <a:r>
              <a:rPr lang="fr-FR" sz="8600" dirty="0">
                <a:solidFill>
                  <a:srgbClr val="000000"/>
                </a:solidFill>
                <a:latin typeface="Tahoma" panose="020B0604030504040204" pitchFamily="34" charset="0"/>
              </a:rPr>
              <a:t>touchant les intestins </a:t>
            </a:r>
            <a:r>
              <a:rPr lang="fr-FR" sz="8600" dirty="0" smtClean="0">
                <a:solidFill>
                  <a:srgbClr val="000000"/>
                </a:solidFill>
                <a:latin typeface="Tahoma" panose="020B0604030504040204" pitchFamily="34" charset="0"/>
              </a:rPr>
              <a:t>.</a:t>
            </a:r>
            <a:endParaRPr lang="fr-FR" sz="8600" dirty="0"/>
          </a:p>
          <a:p>
            <a:pPr algn="just">
              <a:lnSpc>
                <a:spcPct val="170000"/>
              </a:lnSpc>
            </a:pPr>
            <a:r>
              <a:rPr lang="fr-FR" sz="8600" i="1" dirty="0" err="1" smtClean="0">
                <a:solidFill>
                  <a:srgbClr val="000000"/>
                </a:solidFill>
                <a:latin typeface="Tahoma" panose="020B0604030504040204" pitchFamily="34" charset="0"/>
              </a:rPr>
              <a:t>Shigella</a:t>
            </a:r>
            <a:r>
              <a:rPr lang="fr-FR" sz="8600" i="1" dirty="0" smtClean="0">
                <a:solidFill>
                  <a:srgbClr val="000000"/>
                </a:solidFill>
                <a:latin typeface="Tahoma" panose="020B0604030504040204" pitchFamily="34" charset="0"/>
              </a:rPr>
              <a:t> </a:t>
            </a:r>
            <a:r>
              <a:rPr lang="fr-FR" sz="8600" i="1" dirty="0" err="1">
                <a:solidFill>
                  <a:srgbClr val="000000"/>
                </a:solidFill>
                <a:latin typeface="Tahoma" panose="020B0604030504040204" pitchFamily="34" charset="0"/>
              </a:rPr>
              <a:t>dysenteria</a:t>
            </a:r>
            <a:r>
              <a:rPr lang="fr-FR" sz="8600" dirty="0">
                <a:solidFill>
                  <a:srgbClr val="000000"/>
                </a:solidFill>
                <a:latin typeface="Tahoma" panose="020B0604030504040204" pitchFamily="34" charset="0"/>
              </a:rPr>
              <a:t> ou bacille de SHIGA, </a:t>
            </a:r>
            <a:r>
              <a:rPr lang="fr-FR" sz="8600" i="1" dirty="0" err="1">
                <a:solidFill>
                  <a:srgbClr val="000000"/>
                </a:solidFill>
                <a:latin typeface="Tahoma" panose="020B0604030504040204" pitchFamily="34" charset="0"/>
              </a:rPr>
              <a:t>Shigella</a:t>
            </a:r>
            <a:r>
              <a:rPr lang="fr-FR" sz="8600" i="1" dirty="0">
                <a:solidFill>
                  <a:srgbClr val="000000"/>
                </a:solidFill>
                <a:latin typeface="Tahoma" panose="020B0604030504040204" pitchFamily="34" charset="0"/>
              </a:rPr>
              <a:t> </a:t>
            </a:r>
            <a:r>
              <a:rPr lang="fr-FR" sz="8600" i="1" dirty="0" err="1">
                <a:solidFill>
                  <a:srgbClr val="000000"/>
                </a:solidFill>
                <a:latin typeface="Tahoma" panose="020B0604030504040204" pitchFamily="34" charset="0"/>
              </a:rPr>
              <a:t>flexnerie</a:t>
            </a:r>
            <a:r>
              <a:rPr lang="fr-FR" sz="8600" dirty="0">
                <a:solidFill>
                  <a:srgbClr val="000000"/>
                </a:solidFill>
                <a:latin typeface="Tahoma" panose="020B0604030504040204" pitchFamily="34" charset="0"/>
              </a:rPr>
              <a:t> ou bacille de FLEXNER </a:t>
            </a:r>
            <a:r>
              <a:rPr lang="fr-FR" sz="8600" i="1" dirty="0" err="1">
                <a:solidFill>
                  <a:srgbClr val="000000"/>
                </a:solidFill>
                <a:latin typeface="Tahoma" panose="020B0604030504040204" pitchFamily="34" charset="0"/>
              </a:rPr>
              <a:t>Shigella</a:t>
            </a:r>
            <a:r>
              <a:rPr lang="fr-FR" sz="8600" i="1" dirty="0">
                <a:solidFill>
                  <a:srgbClr val="000000"/>
                </a:solidFill>
                <a:latin typeface="Tahoma" panose="020B0604030504040204" pitchFamily="34" charset="0"/>
              </a:rPr>
              <a:t> </a:t>
            </a:r>
            <a:r>
              <a:rPr lang="fr-FR" sz="8600" i="1" dirty="0" err="1">
                <a:solidFill>
                  <a:srgbClr val="000000"/>
                </a:solidFill>
                <a:latin typeface="Tahoma" panose="020B0604030504040204" pitchFamily="34" charset="0"/>
              </a:rPr>
              <a:t>boydii</a:t>
            </a:r>
            <a:r>
              <a:rPr lang="fr-FR" sz="8600" dirty="0">
                <a:solidFill>
                  <a:srgbClr val="000000"/>
                </a:solidFill>
                <a:latin typeface="Tahoma" panose="020B0604030504040204" pitchFamily="34" charset="0"/>
              </a:rPr>
              <a:t> et </a:t>
            </a:r>
            <a:r>
              <a:rPr lang="fr-FR" sz="8600" i="1" dirty="0" err="1">
                <a:solidFill>
                  <a:srgbClr val="000000"/>
                </a:solidFill>
                <a:latin typeface="Tahoma" panose="020B0604030504040204" pitchFamily="34" charset="0"/>
              </a:rPr>
              <a:t>Shigella</a:t>
            </a:r>
            <a:r>
              <a:rPr lang="fr-FR" sz="8600" i="1" dirty="0">
                <a:solidFill>
                  <a:srgbClr val="000000"/>
                </a:solidFill>
                <a:latin typeface="Tahoma" panose="020B0604030504040204" pitchFamily="34" charset="0"/>
              </a:rPr>
              <a:t> </a:t>
            </a:r>
            <a:r>
              <a:rPr lang="fr-FR" sz="8600" i="1" dirty="0" err="1">
                <a:solidFill>
                  <a:srgbClr val="000000"/>
                </a:solidFill>
                <a:latin typeface="Tahoma" panose="020B0604030504040204" pitchFamily="34" charset="0"/>
              </a:rPr>
              <a:t>sonnei</a:t>
            </a:r>
            <a:r>
              <a:rPr lang="fr-FR" sz="8600" dirty="0">
                <a:solidFill>
                  <a:srgbClr val="000000"/>
                </a:solidFill>
                <a:latin typeface="Tahoma" panose="020B0604030504040204" pitchFamily="34" charset="0"/>
              </a:rPr>
              <a:t>  constituent les principaux agents pathogènes des </a:t>
            </a:r>
            <a:r>
              <a:rPr lang="fr-FR" sz="8600" dirty="0" err="1">
                <a:solidFill>
                  <a:srgbClr val="000000"/>
                </a:solidFill>
                <a:latin typeface="Tahoma" panose="020B0604030504040204" pitchFamily="34" charset="0"/>
              </a:rPr>
              <a:t>Shigelloses</a:t>
            </a:r>
            <a:r>
              <a:rPr lang="fr-FR" sz="8600" dirty="0">
                <a:solidFill>
                  <a:srgbClr val="000000"/>
                </a:solidFill>
                <a:latin typeface="Tahoma" panose="020B0604030504040204" pitchFamily="34" charset="0"/>
              </a:rPr>
              <a:t>.</a:t>
            </a:r>
            <a:endParaRPr lang="fr-FR" sz="8600" dirty="0"/>
          </a:p>
          <a:p>
            <a:endParaRPr lang="fr-FR" dirty="0"/>
          </a:p>
        </p:txBody>
      </p:sp>
    </p:spTree>
    <p:extLst>
      <p:ext uri="{BB962C8B-B14F-4D97-AF65-F5344CB8AC3E}">
        <p14:creationId xmlns:p14="http://schemas.microsoft.com/office/powerpoint/2010/main" val="213066908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927599"/>
          </a:xfrm>
        </p:spPr>
        <p:style>
          <a:lnRef idx="1">
            <a:schemeClr val="accent2"/>
          </a:lnRef>
          <a:fillRef idx="2">
            <a:schemeClr val="accent2"/>
          </a:fillRef>
          <a:effectRef idx="1">
            <a:schemeClr val="accent2"/>
          </a:effectRef>
          <a:fontRef idx="minor">
            <a:schemeClr val="dk1"/>
          </a:fontRef>
        </p:style>
        <p:txBody>
          <a:bodyPr/>
          <a:lstStyle/>
          <a:p>
            <a:pPr algn="ctr"/>
            <a:r>
              <a:rPr lang="fr-FR" b="1" dirty="0" smtClean="0"/>
              <a:t>SHIGUELLE/ SHIGULLA</a:t>
            </a:r>
            <a:endParaRPr lang="fr-FR" b="1" dirty="0"/>
          </a:p>
        </p:txBody>
      </p:sp>
      <p:pic>
        <p:nvPicPr>
          <p:cNvPr id="5122" name="Picture 2" descr="Shigella dysenteriae – scheda batteriologica ed approfondimenti"/>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5" y="1551709"/>
            <a:ext cx="8809366" cy="4558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73459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01969" y="820615"/>
            <a:ext cx="10402643" cy="5090607"/>
          </a:xfrm>
        </p:spPr>
        <p:txBody>
          <a:bodyPr>
            <a:normAutofit/>
          </a:bodyPr>
          <a:lstStyle/>
          <a:p>
            <a:pPr algn="just">
              <a:lnSpc>
                <a:spcPct val="120000"/>
              </a:lnSpc>
            </a:pPr>
            <a:r>
              <a:rPr lang="fr-FR" sz="3000" dirty="0">
                <a:solidFill>
                  <a:srgbClr val="000000"/>
                </a:solidFill>
                <a:latin typeface="Tahoma" panose="020B0604030504040204" pitchFamily="34" charset="0"/>
              </a:rPr>
              <a:t>Les hommes malades et les porteurs sains sont les réservoirs de germes.</a:t>
            </a:r>
            <a:endParaRPr lang="fr-FR" sz="3000" dirty="0"/>
          </a:p>
          <a:p>
            <a:pPr algn="just">
              <a:lnSpc>
                <a:spcPct val="120000"/>
              </a:lnSpc>
            </a:pPr>
            <a:r>
              <a:rPr lang="fr-FR" sz="3000" dirty="0">
                <a:solidFill>
                  <a:srgbClr val="000000"/>
                </a:solidFill>
                <a:latin typeface="Tahoma" panose="020B0604030504040204" pitchFamily="34" charset="0"/>
              </a:rPr>
              <a:t>Dans leur ensemble, les </a:t>
            </a:r>
            <a:r>
              <a:rPr lang="fr-FR" sz="3000" dirty="0" err="1">
                <a:solidFill>
                  <a:srgbClr val="000000"/>
                </a:solidFill>
                <a:latin typeface="Tahoma" panose="020B0604030504040204" pitchFamily="34" charset="0"/>
              </a:rPr>
              <a:t>Shigelloses</a:t>
            </a:r>
            <a:r>
              <a:rPr lang="fr-FR" sz="3000" dirty="0">
                <a:solidFill>
                  <a:srgbClr val="000000"/>
                </a:solidFill>
                <a:latin typeface="Tahoma" panose="020B0604030504040204" pitchFamily="34" charset="0"/>
              </a:rPr>
              <a:t> sévissent à l'état endémique en milieu tropical, avec recrudescence saisonnières, notamment à la saison des pluies.</a:t>
            </a:r>
            <a:endParaRPr lang="fr-FR" sz="3000" dirty="0"/>
          </a:p>
          <a:p>
            <a:pPr algn="just">
              <a:lnSpc>
                <a:spcPct val="120000"/>
              </a:lnSpc>
            </a:pPr>
            <a:r>
              <a:rPr lang="fr-FR" sz="3000" dirty="0">
                <a:solidFill>
                  <a:srgbClr val="000000"/>
                </a:solidFill>
                <a:latin typeface="Tahoma" panose="020B0604030504040204" pitchFamily="34" charset="0"/>
              </a:rPr>
              <a:t>La transmission se fait de façon directe par </a:t>
            </a:r>
            <a:r>
              <a:rPr lang="fr-FR" sz="3000" dirty="0" err="1">
                <a:solidFill>
                  <a:srgbClr val="000000"/>
                </a:solidFill>
                <a:latin typeface="Tahoma" panose="020B0604030504040204" pitchFamily="34" charset="0"/>
              </a:rPr>
              <a:t>manuportage</a:t>
            </a:r>
            <a:r>
              <a:rPr lang="fr-FR" sz="3000" dirty="0">
                <a:solidFill>
                  <a:srgbClr val="000000"/>
                </a:solidFill>
                <a:latin typeface="Tahoma" panose="020B0604030504040204" pitchFamily="34" charset="0"/>
              </a:rPr>
              <a:t> (maladie des mains sale) ou indirecte (par l’eau et l'alimentation).</a:t>
            </a:r>
            <a:endParaRPr lang="fr-FR" sz="3000" dirty="0"/>
          </a:p>
          <a:p>
            <a:endParaRPr lang="fr-FR" dirty="0"/>
          </a:p>
        </p:txBody>
      </p:sp>
    </p:spTree>
    <p:extLst>
      <p:ext uri="{BB962C8B-B14F-4D97-AF65-F5344CB8AC3E}">
        <p14:creationId xmlns:p14="http://schemas.microsoft.com/office/powerpoint/2010/main" val="302162975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1" algn="l" defTabSz="457200" rtl="0">
              <a:spcBef>
                <a:spcPct val="0"/>
              </a:spcBef>
            </a:pPr>
            <a:r>
              <a:rPr lang="fr-FR" sz="36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Physiopathologie</a:t>
            </a:r>
            <a:r>
              <a:rPr lang="fr-FR" sz="3200" dirty="0">
                <a:solidFill>
                  <a:srgbClr val="000000"/>
                </a:solidFill>
                <a:latin typeface="Courier New" panose="02070309020205020404" pitchFamily="49" charset="0"/>
                <a:ea typeface="Arial Unicode MS" panose="020B0604020202020204" pitchFamily="34" charset="-128"/>
              </a:rPr>
              <a:t/>
            </a:r>
            <a:br>
              <a:rPr lang="fr-FR" sz="3200"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1312985" y="1406769"/>
            <a:ext cx="10191627" cy="4829908"/>
          </a:xfrm>
        </p:spPr>
        <p:txBody>
          <a:bodyPr>
            <a:normAutofit fontScale="85000" lnSpcReduction="20000"/>
          </a:bodyPr>
          <a:lstStyle/>
          <a:p>
            <a:pPr algn="just">
              <a:lnSpc>
                <a:spcPct val="150000"/>
              </a:lnSpc>
            </a:pPr>
            <a:r>
              <a:rPr lang="fr-FR" sz="2800" dirty="0">
                <a:solidFill>
                  <a:srgbClr val="000000"/>
                </a:solidFill>
                <a:latin typeface="Tahoma" panose="020B0604030504040204" pitchFamily="34" charset="0"/>
              </a:rPr>
              <a:t>Après ingestion des </a:t>
            </a:r>
            <a:r>
              <a:rPr lang="fr-FR" sz="2800" dirty="0" err="1">
                <a:solidFill>
                  <a:srgbClr val="000000"/>
                </a:solidFill>
                <a:latin typeface="Tahoma" panose="020B0604030504040204" pitchFamily="34" charset="0"/>
              </a:rPr>
              <a:t>shigelles</a:t>
            </a:r>
            <a:r>
              <a:rPr lang="fr-FR" sz="2800" dirty="0">
                <a:solidFill>
                  <a:srgbClr val="000000"/>
                </a:solidFill>
                <a:latin typeface="Tahoma" panose="020B0604030504040204" pitchFamily="34" charset="0"/>
              </a:rPr>
              <a:t>, ces germes évoluent vers les intestins ou ils se multiplient et libèrent une toxine, qui va entrainer une sécrétion d'eau et d'électrolytes. </a:t>
            </a:r>
            <a:endParaRPr lang="fr-FR" sz="2800" dirty="0" smtClean="0">
              <a:solidFill>
                <a:srgbClr val="000000"/>
              </a:solidFill>
              <a:latin typeface="Tahoma" panose="020B0604030504040204" pitchFamily="34" charset="0"/>
            </a:endParaRPr>
          </a:p>
          <a:p>
            <a:pPr algn="just">
              <a:lnSpc>
                <a:spcPct val="150000"/>
              </a:lnSpc>
            </a:pPr>
            <a:r>
              <a:rPr lang="fr-FR" sz="2800" dirty="0" smtClean="0">
                <a:solidFill>
                  <a:srgbClr val="000000"/>
                </a:solidFill>
                <a:latin typeface="Tahoma" panose="020B0604030504040204" pitchFamily="34" charset="0"/>
              </a:rPr>
              <a:t>Ces </a:t>
            </a:r>
            <a:r>
              <a:rPr lang="fr-FR" sz="2800" dirty="0">
                <a:solidFill>
                  <a:srgbClr val="000000"/>
                </a:solidFill>
                <a:latin typeface="Tahoma" panose="020B0604030504040204" pitchFamily="34" charset="0"/>
              </a:rPr>
              <a:t>germes vont ensuite </a:t>
            </a:r>
            <a:r>
              <a:rPr lang="fr-FR" sz="2800" dirty="0" smtClean="0">
                <a:solidFill>
                  <a:srgbClr val="000000"/>
                </a:solidFill>
                <a:latin typeface="Tahoma" panose="020B0604030504040204" pitchFamily="34" charset="0"/>
              </a:rPr>
              <a:t>proliférer davantage </a:t>
            </a:r>
            <a:r>
              <a:rPr lang="fr-FR" sz="2800" dirty="0">
                <a:solidFill>
                  <a:srgbClr val="000000"/>
                </a:solidFill>
                <a:latin typeface="Tahoma" panose="020B0604030504040204" pitchFamily="34" charset="0"/>
              </a:rPr>
              <a:t>et atteindre le colon ou ils vont se multiplier et envahir toutes les cellules qu'ils détruisent entrainant ainsi une inflammation importante de la muqueuse et du colon.</a:t>
            </a:r>
            <a:endParaRPr lang="fr-FR" sz="2800" dirty="0"/>
          </a:p>
          <a:p>
            <a:pPr algn="just">
              <a:lnSpc>
                <a:spcPct val="150000"/>
              </a:lnSpc>
            </a:pPr>
            <a:r>
              <a:rPr lang="fr-FR" sz="2800" dirty="0">
                <a:solidFill>
                  <a:srgbClr val="000000"/>
                </a:solidFill>
                <a:latin typeface="Tahoma" panose="020B0604030504040204" pitchFamily="34" charset="0"/>
              </a:rPr>
              <a:t>Les tissus ainsi détruits vont se détacher peu à peu avec le flux du transit intestinal et laisser des ulcères superficiels.</a:t>
            </a:r>
            <a:endParaRPr lang="fr-FR" sz="2800" dirty="0"/>
          </a:p>
          <a:p>
            <a:endParaRPr lang="fr-FR" dirty="0"/>
          </a:p>
        </p:txBody>
      </p:sp>
    </p:spTree>
    <p:extLst>
      <p:ext uri="{BB962C8B-B14F-4D97-AF65-F5344CB8AC3E}">
        <p14:creationId xmlns:p14="http://schemas.microsoft.com/office/powerpoint/2010/main" val="234366040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11569" y="351692"/>
            <a:ext cx="9793043" cy="912862"/>
          </a:xfrm>
        </p:spPr>
        <p:txBody>
          <a:bodyPr>
            <a:normAutofit/>
          </a:bodyPr>
          <a:lstStyle/>
          <a:p>
            <a:pPr lvl="1"/>
            <a:r>
              <a:rPr lang="fr-FR" sz="3200" b="1" dirty="0"/>
              <a:t>Symptomatologie</a:t>
            </a:r>
            <a:endParaRPr lang="fr-FR" sz="3200" dirty="0"/>
          </a:p>
        </p:txBody>
      </p:sp>
      <p:sp>
        <p:nvSpPr>
          <p:cNvPr id="3" name="Espace réservé du contenu 2"/>
          <p:cNvSpPr>
            <a:spLocks noGrp="1"/>
          </p:cNvSpPr>
          <p:nvPr>
            <p:ph idx="1"/>
          </p:nvPr>
        </p:nvSpPr>
        <p:spPr>
          <a:xfrm>
            <a:off x="1336431" y="1264554"/>
            <a:ext cx="10168181" cy="5065907"/>
          </a:xfrm>
        </p:spPr>
        <p:txBody>
          <a:bodyPr>
            <a:normAutofit fontScale="25000" lnSpcReduction="20000"/>
          </a:bodyPr>
          <a:lstStyle/>
          <a:p>
            <a:pPr marL="914400" lvl="2" indent="0" algn="just">
              <a:lnSpc>
                <a:spcPct val="150000"/>
              </a:lnSpc>
              <a:buNone/>
            </a:pPr>
            <a:r>
              <a:rPr lang="fr-FR" sz="11200" b="1" dirty="0">
                <a:solidFill>
                  <a:srgbClr val="000000"/>
                </a:solidFill>
                <a:latin typeface="Tahoma" panose="020B0604030504040204" pitchFamily="34" charset="0"/>
                <a:ea typeface="Courier New" panose="02070309020205020404" pitchFamily="49" charset="0"/>
              </a:rPr>
              <a:t>Incubation</a:t>
            </a:r>
            <a:endParaRPr lang="fr-FR" sz="11200" dirty="0">
              <a:solidFill>
                <a:srgbClr val="000000"/>
              </a:solidFill>
              <a:latin typeface="Courier New" panose="02070309020205020404" pitchFamily="49" charset="0"/>
              <a:ea typeface="Courier New" panose="02070309020205020404" pitchFamily="49" charset="0"/>
            </a:endParaRPr>
          </a:p>
          <a:p>
            <a:pPr>
              <a:lnSpc>
                <a:spcPct val="150000"/>
              </a:lnSpc>
            </a:pPr>
            <a:r>
              <a:rPr lang="fr-FR" sz="11200" dirty="0">
                <a:solidFill>
                  <a:srgbClr val="000000"/>
                </a:solidFill>
                <a:latin typeface="Tahoma" panose="020B0604030504040204" pitchFamily="34" charset="0"/>
              </a:rPr>
              <a:t>Après </a:t>
            </a:r>
            <a:r>
              <a:rPr lang="es-ES" sz="11200" dirty="0">
                <a:solidFill>
                  <a:srgbClr val="000000"/>
                </a:solidFill>
                <a:latin typeface="Tahoma" panose="020B0604030504040204" pitchFamily="34" charset="0"/>
              </a:rPr>
              <a:t>une</a:t>
            </a:r>
            <a:r>
              <a:rPr lang="fr-FR" sz="11200" dirty="0">
                <a:solidFill>
                  <a:srgbClr val="000000"/>
                </a:solidFill>
                <a:latin typeface="Tahoma" panose="020B0604030504040204" pitchFamily="34" charset="0"/>
              </a:rPr>
              <a:t>incubation de 2 à 5 jours, l'on observe:</a:t>
            </a:r>
            <a:endParaRPr lang="fr-FR" sz="11200" dirty="0"/>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Des douleurs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abdominales plus ou moins importantes</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fièvre</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des nausées</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des vomissements</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des frissons </a:t>
            </a:r>
            <a:endParaRPr lang="fr-FR" sz="11200" dirty="0"/>
          </a:p>
          <a:p>
            <a:endParaRPr lang="fr-FR" dirty="0"/>
          </a:p>
        </p:txBody>
      </p:sp>
    </p:spTree>
    <p:extLst>
      <p:ext uri="{BB962C8B-B14F-4D97-AF65-F5344CB8AC3E}">
        <p14:creationId xmlns:p14="http://schemas.microsoft.com/office/powerpoint/2010/main" val="52763533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19199" y="562708"/>
            <a:ext cx="10574215" cy="5791200"/>
          </a:xfrm>
        </p:spPr>
        <p:txBody>
          <a:bodyPr>
            <a:normAutofit fontScale="25000" lnSpcReduction="20000"/>
          </a:bodyPr>
          <a:lstStyle/>
          <a:p>
            <a:pPr marL="914400" lvl="2" indent="0" algn="just">
              <a:lnSpc>
                <a:spcPct val="150000"/>
              </a:lnSpc>
              <a:buNone/>
            </a:pPr>
            <a:r>
              <a:rPr lang="fr-FR" sz="11200" b="1" u="sng" dirty="0">
                <a:solidFill>
                  <a:srgbClr val="000000"/>
                </a:solidFill>
                <a:latin typeface="Tahoma" panose="020B0604030504040204" pitchFamily="34" charset="0"/>
                <a:ea typeface="Courier New" panose="02070309020205020404" pitchFamily="49" charset="0"/>
              </a:rPr>
              <a:t>Période d'état</a:t>
            </a:r>
            <a:endParaRPr lang="fr-FR" sz="11200" dirty="0">
              <a:solidFill>
                <a:srgbClr val="000000"/>
              </a:solidFill>
              <a:latin typeface="Courier New" panose="02070309020205020404" pitchFamily="49" charset="0"/>
              <a:ea typeface="Courier New" panose="02070309020205020404" pitchFamily="49" charset="0"/>
            </a:endParaRPr>
          </a:p>
          <a:p>
            <a:pPr>
              <a:lnSpc>
                <a:spcPct val="150000"/>
              </a:lnSpc>
            </a:pPr>
            <a:r>
              <a:rPr lang="fr-FR" sz="11200" dirty="0">
                <a:solidFill>
                  <a:srgbClr val="000000"/>
                </a:solidFill>
                <a:latin typeface="Tahoma" panose="020B0604030504040204" pitchFamily="34" charset="0"/>
              </a:rPr>
              <a:t>Elle est caractérisée par </a:t>
            </a:r>
            <a:r>
              <a:rPr lang="fr-FR" sz="11200" dirty="0" smtClean="0">
                <a:solidFill>
                  <a:srgbClr val="000000"/>
                </a:solidFill>
                <a:latin typeface="Tahoma" panose="020B0604030504040204" pitchFamily="34" charset="0"/>
              </a:rPr>
              <a:t>:</a:t>
            </a:r>
            <a:endParaRPr lang="fr-FR" sz="11200" dirty="0"/>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Des douleurs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abdominales intenses, avec épreintes (coliques violentes) et des ténesmes.</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Une diarrhée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fécale faite de glaire-muco-sanguinolente, avec une moyenne pouvant aller jusqu'à 10 selles par jour et parfois plus.</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Des vomissement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avec pertes hydro-électrolytiques importantes entraînant une déshydratation et une chute </a:t>
            </a:r>
            <a:r>
              <a:rPr lang="fr-FR" sz="112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tensionnelle</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112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56960489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59213"/>
          </a:xfrm>
        </p:spPr>
        <p:txBody>
          <a:bodyPr>
            <a:normAutofit/>
          </a:bodyPr>
          <a:lstStyle/>
          <a:p>
            <a:r>
              <a:rPr lang="fr-FR" sz="32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Diagnostic et complications</a:t>
            </a:r>
            <a:endParaRPr lang="fr-FR" sz="3200" dirty="0"/>
          </a:p>
        </p:txBody>
      </p:sp>
      <p:sp>
        <p:nvSpPr>
          <p:cNvPr id="3" name="Espace réservé du contenu 2"/>
          <p:cNvSpPr>
            <a:spLocks noGrp="1"/>
          </p:cNvSpPr>
          <p:nvPr>
            <p:ph idx="1"/>
          </p:nvPr>
        </p:nvSpPr>
        <p:spPr>
          <a:xfrm>
            <a:off x="914400" y="1383323"/>
            <a:ext cx="10590212" cy="4527899"/>
          </a:xfrm>
        </p:spPr>
        <p:txBody>
          <a:bodyPr>
            <a:normAutofit fontScale="25000" lnSpcReduction="20000"/>
          </a:bodyPr>
          <a:lstStyle/>
          <a:p>
            <a:pPr marL="457200" lvl="1" indent="0" algn="just">
              <a:lnSpc>
                <a:spcPct val="150000"/>
              </a:lnSpc>
              <a:buNone/>
            </a:pPr>
            <a:r>
              <a:rPr lang="fr-FR" sz="11200"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Diagnostic</a:t>
            </a:r>
            <a:endParaRPr lang="fr-FR" sz="11200" dirty="0">
              <a:solidFill>
                <a:srgbClr val="000000"/>
              </a:solidFill>
              <a:latin typeface="Courier New" panose="02070309020205020404" pitchFamily="49" charset="0"/>
              <a:ea typeface="Courier New" panose="02070309020205020404" pitchFamily="49" charset="0"/>
            </a:endParaRPr>
          </a:p>
          <a:p>
            <a:pPr>
              <a:lnSpc>
                <a:spcPct val="150000"/>
              </a:lnSpc>
            </a:pPr>
            <a:r>
              <a:rPr lang="fr-FR" sz="11200" dirty="0">
                <a:solidFill>
                  <a:srgbClr val="000000"/>
                </a:solidFill>
                <a:latin typeface="Tahoma" panose="020B0604030504040204" pitchFamily="34" charset="0"/>
              </a:rPr>
              <a:t>Le diagnostic repose sur la mise en évidence des </a:t>
            </a:r>
            <a:r>
              <a:rPr lang="fr-FR" sz="11200" dirty="0" err="1">
                <a:solidFill>
                  <a:srgbClr val="000000"/>
                </a:solidFill>
                <a:latin typeface="Tahoma" panose="020B0604030504040204" pitchFamily="34" charset="0"/>
              </a:rPr>
              <a:t>Shigellas</a:t>
            </a:r>
            <a:r>
              <a:rPr lang="fr-FR" sz="11200" dirty="0">
                <a:solidFill>
                  <a:srgbClr val="000000"/>
                </a:solidFill>
                <a:latin typeface="Tahoma" panose="020B0604030504040204" pitchFamily="34" charset="0"/>
              </a:rPr>
              <a:t> dans les selles</a:t>
            </a:r>
            <a:r>
              <a:rPr lang="fr-FR" sz="11200" dirty="0" smtClean="0">
                <a:solidFill>
                  <a:srgbClr val="000000"/>
                </a:solidFill>
                <a:latin typeface="Tahoma" panose="020B0604030504040204" pitchFamily="34" charset="0"/>
              </a:rPr>
              <a:t>.</a:t>
            </a:r>
            <a:endParaRPr lang="fr-FR" sz="11200" dirty="0"/>
          </a:p>
          <a:p>
            <a:pPr marL="457200" lvl="1" indent="0" algn="just">
              <a:lnSpc>
                <a:spcPct val="150000"/>
              </a:lnSpc>
              <a:buNone/>
            </a:pPr>
            <a:r>
              <a:rPr lang="fr-FR" sz="11200"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Evolution</a:t>
            </a:r>
            <a:endParaRPr lang="fr-FR" sz="11200" dirty="0">
              <a:solidFill>
                <a:srgbClr val="000000"/>
              </a:solidFill>
              <a:latin typeface="Courier New" panose="02070309020205020404" pitchFamily="49" charset="0"/>
              <a:ea typeface="Courier New" panose="02070309020205020404" pitchFamily="49" charset="0"/>
            </a:endParaRPr>
          </a:p>
          <a:p>
            <a:pPr>
              <a:lnSpc>
                <a:spcPct val="150000"/>
              </a:lnSpc>
            </a:pPr>
            <a:r>
              <a:rPr lang="fr-FR" sz="11200" dirty="0">
                <a:solidFill>
                  <a:srgbClr val="000000"/>
                </a:solidFill>
                <a:latin typeface="Tahoma" panose="020B0604030504040204" pitchFamily="34" charset="0"/>
              </a:rPr>
              <a:t>Sans traitement, la mortalité est de 25% chez les enfants surtout. Mais sous l'effet du traitement avec une réhydratation précoce, l'évolution est favorable dans 100% des cas</a:t>
            </a:r>
            <a:r>
              <a:rPr lang="fr-FR" sz="11200" dirty="0" smtClean="0">
                <a:solidFill>
                  <a:srgbClr val="000000"/>
                </a:solidFill>
                <a:latin typeface="Tahoma" panose="020B0604030504040204" pitchFamily="34" charset="0"/>
              </a:rPr>
              <a:t>.</a:t>
            </a:r>
            <a:endParaRPr lang="fr-FR" sz="11200" dirty="0"/>
          </a:p>
        </p:txBody>
      </p:sp>
    </p:spTree>
    <p:extLst>
      <p:ext uri="{BB962C8B-B14F-4D97-AF65-F5344CB8AC3E}">
        <p14:creationId xmlns:p14="http://schemas.microsoft.com/office/powerpoint/2010/main" val="53000270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lvl="1" algn="l" defTabSz="457200" rtl="0">
              <a:spcBef>
                <a:spcPct val="0"/>
              </a:spcBef>
            </a:pPr>
            <a:r>
              <a:rPr lang="fr-FR" sz="32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Complications</a:t>
            </a:r>
            <a:r>
              <a:rPr lang="fr-FR" sz="3200" dirty="0">
                <a:solidFill>
                  <a:srgbClr val="000000"/>
                </a:solidFill>
                <a:latin typeface="Courier New" panose="02070309020205020404" pitchFamily="49" charset="0"/>
                <a:ea typeface="Courier New" panose="02070309020205020404" pitchFamily="49" charset="0"/>
              </a:rPr>
              <a:t/>
            </a:r>
            <a:br>
              <a:rPr lang="fr-FR" sz="3200"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p:txBody>
          <a:bodyPr>
            <a:normAutofit fontScale="32500" lnSpcReduction="20000"/>
          </a:bodyPr>
          <a:lstStyle/>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une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déshydratation</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hémorragie digestive</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péritonite</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anémie chez l’enfant</a:t>
            </a:r>
            <a:endParaRPr lang="fr-FR" sz="11200" dirty="0">
              <a:ea typeface="Calibri" panose="020F0502020204030204" pitchFamily="34" charset="0"/>
              <a:cs typeface="Times New Roman" panose="02020603050405020304" pitchFamily="18" charset="0"/>
            </a:endParaRPr>
          </a:p>
          <a:p>
            <a:endParaRPr lang="fr-FR" dirty="0"/>
          </a:p>
          <a:p>
            <a:endParaRPr lang="fr-FR" dirty="0"/>
          </a:p>
        </p:txBody>
      </p:sp>
    </p:spTree>
    <p:extLst>
      <p:ext uri="{BB962C8B-B14F-4D97-AF65-F5344CB8AC3E}">
        <p14:creationId xmlns:p14="http://schemas.microsoft.com/office/powerpoint/2010/main" val="306961204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25415" y="624110"/>
            <a:ext cx="10379197" cy="641982"/>
          </a:xfrm>
        </p:spPr>
        <p:txBody>
          <a:bodyPr>
            <a:normAutofit fontScale="90000"/>
          </a:bodyPr>
          <a:lstStyle/>
          <a:p>
            <a:pPr lvl="1" algn="l" defTabSz="457200" rtl="0">
              <a:spcBef>
                <a:spcPct val="0"/>
              </a:spcBef>
            </a:pPr>
            <a:r>
              <a:rPr lang="fr-FR" sz="32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Traitement</a:t>
            </a:r>
            <a:r>
              <a:rPr lang="fr-FR" sz="2800" dirty="0">
                <a:solidFill>
                  <a:srgbClr val="000000"/>
                </a:solidFill>
                <a:latin typeface="Courier New" panose="02070309020205020404" pitchFamily="49" charset="0"/>
                <a:ea typeface="Courier New" panose="02070309020205020404" pitchFamily="49" charset="0"/>
              </a:rPr>
              <a:t/>
            </a:r>
            <a:br>
              <a:rPr lang="fr-FR" sz="2800"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1125415" y="1266092"/>
            <a:ext cx="10379197" cy="5298831"/>
          </a:xfrm>
        </p:spPr>
        <p:txBody>
          <a:bodyPr>
            <a:normAutofit fontScale="25000" lnSpcReduction="20000"/>
          </a:bodyPr>
          <a:lstStyle/>
          <a:p>
            <a:pPr marL="914400" lvl="2" indent="0">
              <a:lnSpc>
                <a:spcPct val="150000"/>
              </a:lnSpc>
              <a:buNone/>
              <a:tabLst>
                <a:tab pos="540385" algn="l"/>
              </a:tabLst>
            </a:pPr>
            <a:r>
              <a:rPr lang="fr-FR" sz="11200" spc="25" dirty="0" smtClean="0">
                <a:solidFill>
                  <a:srgbClr val="000000"/>
                </a:solidFill>
                <a:latin typeface="Tahoma" panose="020B0604030504040204" pitchFamily="34" charset="0"/>
                <a:ea typeface="Times New Roman" panose="02020603050405020304" pitchFamily="18" charset="0"/>
              </a:rPr>
              <a:t>L’objectifs </a:t>
            </a:r>
            <a:r>
              <a:rPr lang="fr-FR" sz="11200" spc="25" dirty="0">
                <a:solidFill>
                  <a:srgbClr val="000000"/>
                </a:solidFill>
                <a:latin typeface="Tahoma" panose="020B0604030504040204" pitchFamily="34" charset="0"/>
                <a:ea typeface="Times New Roman" panose="02020603050405020304" pitchFamily="18" charset="0"/>
              </a:rPr>
              <a:t>du </a:t>
            </a:r>
            <a:r>
              <a:rPr lang="fr-FR" sz="11200" spc="25" dirty="0" smtClean="0">
                <a:solidFill>
                  <a:srgbClr val="000000"/>
                </a:solidFill>
                <a:latin typeface="Tahoma" panose="020B0604030504040204" pitchFamily="34" charset="0"/>
                <a:ea typeface="Times New Roman" panose="02020603050405020304" pitchFamily="18" charset="0"/>
              </a:rPr>
              <a:t>traitement est de </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maintenir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l'équilibre </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hydro électrolytique et de limiter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la propagation de la </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maladie. Il repose sur:</a:t>
            </a:r>
            <a:endParaRPr lang="fr-FR" sz="11200" dirty="0"/>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Le repos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au lit</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Une alimentation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adéquate</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La correction des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troubles hydro-électrolytiques par perfusion.</a:t>
            </a:r>
            <a:endParaRPr lang="fr-FR" sz="112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Instauration d’une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antibiothérapie </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à base de </a:t>
            </a:r>
            <a:r>
              <a:rPr lang="fr-FR" sz="112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peni</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G ou de cycline pendant au moins une semaine</a:t>
            </a:r>
            <a:endParaRPr lang="fr-FR" sz="112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763979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000000"/>
                </a:solidFill>
                <a:latin typeface="Tahoma" panose="020B0604030504040204" pitchFamily="34" charset="0"/>
                <a:ea typeface="Courier New" panose="02070309020205020404" pitchFamily="49" charset="0"/>
              </a:rPr>
              <a:t>Prophylaxie</a:t>
            </a:r>
            <a:endParaRPr lang="fr-FR" b="1" dirty="0"/>
          </a:p>
        </p:txBody>
      </p:sp>
      <p:sp>
        <p:nvSpPr>
          <p:cNvPr id="3" name="Espace réservé du contenu 2"/>
          <p:cNvSpPr>
            <a:spLocks noGrp="1"/>
          </p:cNvSpPr>
          <p:nvPr>
            <p:ph idx="1"/>
          </p:nvPr>
        </p:nvSpPr>
        <p:spPr>
          <a:xfrm>
            <a:off x="1289538" y="1406769"/>
            <a:ext cx="10215074" cy="4876800"/>
          </a:xfrm>
        </p:spPr>
        <p:txBody>
          <a:bodyPr>
            <a:normAutofit fontScale="92500"/>
          </a:bodyPr>
          <a:lstStyle/>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Adopter une bonne hygiène individuelle en insistant sur le lavage des mains avant les repas et après les défécations ;</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Traiter tous les cas déclarés ;</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Instituer une bonne hygiène collective notamment par la surveillance des cours d'eau et la manipulation des aliments ;</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Laver les fruits avant de les consommer ;</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Servir toujours des aliments cuits et chauds en zone d'endémie.</a:t>
            </a:r>
            <a:endParaRPr lang="fr-FR" sz="28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9938875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59213"/>
          </a:xfrm>
        </p:spPr>
        <p:txBody>
          <a:bodyPr>
            <a:normAutofit fontScale="90000"/>
          </a:bodyPr>
          <a:lstStyle/>
          <a:p>
            <a:pPr lvl="0"/>
            <a:r>
              <a:rPr lang="fr-FR" b="1" spc="25" dirty="0">
                <a:solidFill>
                  <a:srgbClr val="FF0000"/>
                </a:solidFill>
                <a:latin typeface="Tahoma" panose="020B0604030504040204" pitchFamily="34" charset="0"/>
                <a:ea typeface="Arial Unicode MS" panose="020B0604020202020204" pitchFamily="34" charset="-128"/>
                <a:cs typeface="Times New Roman" panose="02020603050405020304" pitchFamily="18" charset="0"/>
              </a:rPr>
              <a:t>GIARDIASE OU LAMBLIASE</a:t>
            </a:r>
            <a:r>
              <a:rPr lang="fr-FR" dirty="0">
                <a:solidFill>
                  <a:srgbClr val="000000"/>
                </a:solidFill>
                <a:latin typeface="Courier New" panose="02070309020205020404" pitchFamily="49" charset="0"/>
                <a:ea typeface="Courier New" panose="02070309020205020404" pitchFamily="49" charset="0"/>
              </a:rPr>
              <a:t/>
            </a:r>
            <a:br>
              <a:rPr lang="fr-FR"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1383323" y="1195754"/>
            <a:ext cx="10121289" cy="4994031"/>
          </a:xfrm>
        </p:spPr>
        <p:txBody>
          <a:bodyPr>
            <a:noAutofit/>
          </a:bodyPr>
          <a:lstStyle/>
          <a:p>
            <a:pPr marL="457200" lvl="1" indent="0" algn="just">
              <a:lnSpc>
                <a:spcPct val="150000"/>
              </a:lnSpc>
              <a:buNone/>
            </a:pPr>
            <a:r>
              <a:rPr lang="fr-FR" sz="2800"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Définition</a:t>
            </a:r>
            <a:endParaRPr lang="fr-FR" sz="2400" dirty="0">
              <a:solidFill>
                <a:srgbClr val="000000"/>
              </a:solidFill>
              <a:latin typeface="Courier New" panose="02070309020205020404" pitchFamily="49" charset="0"/>
              <a:ea typeface="Calibri" panose="020F0502020204030204" pitchFamily="34" charset="0"/>
            </a:endParaRPr>
          </a:p>
          <a:p>
            <a:pPr>
              <a:lnSpc>
                <a:spcPct val="150000"/>
              </a:lnSpc>
            </a:pPr>
            <a:r>
              <a:rPr lang="fr-FR" sz="2800" dirty="0">
                <a:solidFill>
                  <a:srgbClr val="000000"/>
                </a:solidFill>
                <a:latin typeface="Tahoma" panose="020B0604030504040204" pitchFamily="34" charset="0"/>
              </a:rPr>
              <a:t>La </a:t>
            </a:r>
            <a:r>
              <a:rPr lang="fr-FR" sz="2800" dirty="0" err="1">
                <a:solidFill>
                  <a:srgbClr val="000000"/>
                </a:solidFill>
                <a:latin typeface="Tahoma" panose="020B0604030504040204" pitchFamily="34" charset="0"/>
              </a:rPr>
              <a:t>giardiase</a:t>
            </a:r>
            <a:r>
              <a:rPr lang="fr-FR" sz="2800" dirty="0">
                <a:solidFill>
                  <a:srgbClr val="000000"/>
                </a:solidFill>
                <a:latin typeface="Tahoma" panose="020B0604030504040204" pitchFamily="34" charset="0"/>
              </a:rPr>
              <a:t> est une parasitose de l'intestin grêle due à un protozoaire </a:t>
            </a:r>
            <a:r>
              <a:rPr lang="fr-FR" sz="2800" dirty="0" smtClean="0">
                <a:solidFill>
                  <a:srgbClr val="000000"/>
                </a:solidFill>
                <a:latin typeface="Tahoma" panose="020B0604030504040204" pitchFamily="34" charset="0"/>
              </a:rPr>
              <a:t>flagelle .</a:t>
            </a:r>
          </a:p>
          <a:p>
            <a:pPr>
              <a:lnSpc>
                <a:spcPct val="150000"/>
              </a:lnSpc>
            </a:pPr>
            <a:r>
              <a:rPr lang="fr-FR" sz="2800" dirty="0" smtClean="0">
                <a:solidFill>
                  <a:srgbClr val="000000"/>
                </a:solidFill>
                <a:latin typeface="Tahoma" panose="020B0604030504040204" pitchFamily="34" charset="0"/>
              </a:rPr>
              <a:t> Souvent bien </a:t>
            </a:r>
            <a:r>
              <a:rPr lang="fr-FR" sz="2800" dirty="0">
                <a:solidFill>
                  <a:srgbClr val="000000"/>
                </a:solidFill>
                <a:latin typeface="Tahoma" panose="020B0604030504040204" pitchFamily="34" charset="0"/>
              </a:rPr>
              <a:t>tolérée, voire </a:t>
            </a:r>
            <a:r>
              <a:rPr lang="fr-FR" sz="2800" dirty="0" smtClean="0">
                <a:solidFill>
                  <a:srgbClr val="000000"/>
                </a:solidFill>
                <a:latin typeface="Tahoma" panose="020B0604030504040204" pitchFamily="34" charset="0"/>
              </a:rPr>
              <a:t> et asymptomatique, elle peut </a:t>
            </a:r>
            <a:r>
              <a:rPr lang="fr-FR" sz="2800" dirty="0">
                <a:solidFill>
                  <a:srgbClr val="000000"/>
                </a:solidFill>
                <a:latin typeface="Tahoma" panose="020B0604030504040204" pitchFamily="34" charset="0"/>
              </a:rPr>
              <a:t>engendrer des troubles digestifs sévères chez l'enfant</a:t>
            </a:r>
            <a:r>
              <a:rPr lang="fr-FR" sz="2800" dirty="0" smtClean="0">
                <a:solidFill>
                  <a:srgbClr val="000000"/>
                </a:solidFill>
                <a:latin typeface="Tahoma" panose="020B0604030504040204" pitchFamily="34" charset="0"/>
              </a:rPr>
              <a:t>.</a:t>
            </a:r>
          </a:p>
          <a:p>
            <a:pPr>
              <a:lnSpc>
                <a:spcPct val="150000"/>
              </a:lnSpc>
            </a:pPr>
            <a:r>
              <a:rPr lang="fr-FR" sz="2800" dirty="0" smtClean="0">
                <a:solidFill>
                  <a:srgbClr val="000000"/>
                </a:solidFill>
                <a:latin typeface="Tahoma" panose="020B0604030504040204" pitchFamily="34" charset="0"/>
                <a:ea typeface="Courier New" panose="02070309020205020404" pitchFamily="49" charset="0"/>
              </a:rPr>
              <a:t> </a:t>
            </a:r>
            <a:r>
              <a:rPr lang="fr-FR" sz="2800" dirty="0">
                <a:solidFill>
                  <a:srgbClr val="000000"/>
                </a:solidFill>
                <a:latin typeface="Tahoma" panose="020B0604030504040204" pitchFamily="34" charset="0"/>
                <a:ea typeface="Courier New" panose="02070309020205020404" pitchFamily="49" charset="0"/>
              </a:rPr>
              <a:t>L’agent pathogène de la </a:t>
            </a:r>
            <a:r>
              <a:rPr lang="fr-FR" sz="2800" dirty="0" err="1" smtClean="0">
                <a:solidFill>
                  <a:srgbClr val="000000"/>
                </a:solidFill>
                <a:latin typeface="Tahoma" panose="020B0604030504040204" pitchFamily="34" charset="0"/>
                <a:ea typeface="Courier New" panose="02070309020205020404" pitchFamily="49" charset="0"/>
              </a:rPr>
              <a:t>giardiase</a:t>
            </a:r>
            <a:r>
              <a:rPr lang="fr-FR" sz="2800" dirty="0" smtClean="0">
                <a:solidFill>
                  <a:srgbClr val="000000"/>
                </a:solidFill>
                <a:latin typeface="Tahoma" panose="020B0604030504040204" pitchFamily="34" charset="0"/>
                <a:ea typeface="Courier New" panose="02070309020205020404" pitchFamily="49" charset="0"/>
              </a:rPr>
              <a:t> </a:t>
            </a:r>
            <a:r>
              <a:rPr lang="fr-FR" sz="2800" dirty="0" err="1" smtClean="0">
                <a:solidFill>
                  <a:srgbClr val="000000"/>
                </a:solidFill>
                <a:latin typeface="Tahoma" panose="020B0604030504040204" pitchFamily="34" charset="0"/>
                <a:ea typeface="Courier New" panose="02070309020205020404" pitchFamily="49" charset="0"/>
              </a:rPr>
              <a:t>instestinale</a:t>
            </a:r>
            <a:r>
              <a:rPr lang="fr-FR" sz="2800" dirty="0" smtClean="0">
                <a:solidFill>
                  <a:srgbClr val="000000"/>
                </a:solidFill>
                <a:latin typeface="Tahoma" panose="020B0604030504040204" pitchFamily="34" charset="0"/>
                <a:ea typeface="Courier New" panose="02070309020205020404" pitchFamily="49" charset="0"/>
              </a:rPr>
              <a:t> </a:t>
            </a:r>
            <a:r>
              <a:rPr lang="fr-FR" sz="2800" dirty="0">
                <a:solidFill>
                  <a:srgbClr val="000000"/>
                </a:solidFill>
                <a:latin typeface="Tahoma" panose="020B0604030504040204" pitchFamily="34" charset="0"/>
                <a:ea typeface="Courier New" panose="02070309020205020404" pitchFamily="49" charset="0"/>
              </a:rPr>
              <a:t>se présente sous deux formes : </a:t>
            </a:r>
            <a:endParaRPr lang="fr-FR" sz="2800" dirty="0"/>
          </a:p>
        </p:txBody>
      </p:sp>
    </p:spTree>
    <p:extLst>
      <p:ext uri="{BB962C8B-B14F-4D97-AF65-F5344CB8AC3E}">
        <p14:creationId xmlns:p14="http://schemas.microsoft.com/office/powerpoint/2010/main" val="148800630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giardia </a:t>
            </a:r>
            <a:r>
              <a:rPr lang="fr-FR" dirty="0" err="1"/>
              <a:t>intestinalis</a:t>
            </a:r>
            <a:endParaRPr lang="fr-FR" dirty="0"/>
          </a:p>
        </p:txBody>
      </p:sp>
      <p:pic>
        <p:nvPicPr>
          <p:cNvPr id="6154" name="Picture 10" descr="Développement et Santé | Diagnostic des protozooses intestinal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4" y="2244217"/>
            <a:ext cx="8911687" cy="4073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228783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2" algn="l" defTabSz="457200" rtl="0">
              <a:spcBef>
                <a:spcPct val="0"/>
              </a:spcBef>
            </a:pPr>
            <a:r>
              <a:rPr lang="fr-FR" sz="3200" b="1" dirty="0">
                <a:solidFill>
                  <a:srgbClr val="000000"/>
                </a:solidFill>
                <a:latin typeface="Tahoma" panose="020B0604030504040204" pitchFamily="34" charset="0"/>
                <a:ea typeface="Calibri" panose="020F0502020204030204" pitchFamily="34" charset="0"/>
              </a:rPr>
              <a:t>La forme végétative</a:t>
            </a:r>
            <a:r>
              <a:rPr lang="fr-FR" sz="3200" b="1" dirty="0">
                <a:ea typeface="Calibri" panose="020F0502020204030204" pitchFamily="34" charset="0"/>
              </a:rPr>
              <a:t/>
            </a:r>
            <a:br>
              <a:rPr lang="fr-FR" sz="3200" b="1" dirty="0">
                <a:ea typeface="Calibri" panose="020F0502020204030204" pitchFamily="34" charset="0"/>
              </a:rPr>
            </a:br>
            <a:endParaRPr lang="fr-FR" b="1" dirty="0"/>
          </a:p>
        </p:txBody>
      </p:sp>
      <p:sp>
        <p:nvSpPr>
          <p:cNvPr id="3" name="Espace réservé du contenu 2"/>
          <p:cNvSpPr>
            <a:spLocks noGrp="1"/>
          </p:cNvSpPr>
          <p:nvPr>
            <p:ph idx="1"/>
          </p:nvPr>
        </p:nvSpPr>
        <p:spPr>
          <a:xfrm>
            <a:off x="1359877" y="2133600"/>
            <a:ext cx="10144735" cy="3777622"/>
          </a:xfrm>
        </p:spPr>
        <p:txBody>
          <a:bodyPr/>
          <a:lstStyle/>
          <a:p>
            <a:pPr algn="just">
              <a:lnSpc>
                <a:spcPct val="150000"/>
              </a:lnSpc>
            </a:pPr>
            <a:r>
              <a:rPr lang="fr-FR" sz="3200" dirty="0" smtClean="0">
                <a:solidFill>
                  <a:srgbClr val="000000"/>
                </a:solidFill>
                <a:latin typeface="Tahoma" panose="020B0604030504040204" pitchFamily="34" charset="0"/>
              </a:rPr>
              <a:t>Les </a:t>
            </a:r>
            <a:r>
              <a:rPr lang="fr-FR" sz="3200" dirty="0">
                <a:solidFill>
                  <a:srgbClr val="000000"/>
                </a:solidFill>
                <a:latin typeface="Tahoma" panose="020B0604030504040204" pitchFamily="34" charset="0"/>
              </a:rPr>
              <a:t>trophozoïdes se multiplient par scissiparité dans le duodénum et le jéjunum initial où vivent plaqués à la surface de la muqueuse, sans pénétrer à l'intérieur des cellules.</a:t>
            </a:r>
            <a:endParaRPr lang="fr-FR" sz="3200" dirty="0"/>
          </a:p>
          <a:p>
            <a:endParaRPr lang="fr-FR" dirty="0"/>
          </a:p>
        </p:txBody>
      </p:sp>
    </p:spTree>
    <p:extLst>
      <p:ext uri="{BB962C8B-B14F-4D97-AF65-F5344CB8AC3E}">
        <p14:creationId xmlns:p14="http://schemas.microsoft.com/office/powerpoint/2010/main" val="266641717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806105"/>
          </a:xfrm>
        </p:spPr>
        <p:txBody>
          <a:bodyPr>
            <a:normAutofit fontScale="90000"/>
          </a:bodyPr>
          <a:lstStyle/>
          <a:p>
            <a:pPr lvl="2" algn="l" defTabSz="457200" rtl="0">
              <a:spcBef>
                <a:spcPct val="0"/>
              </a:spcBef>
            </a:pPr>
            <a:r>
              <a:rPr lang="fr-FR" sz="3200" b="1" dirty="0">
                <a:solidFill>
                  <a:srgbClr val="000000"/>
                </a:solidFill>
                <a:latin typeface="Tahoma" panose="020B0604030504040204" pitchFamily="34" charset="0"/>
                <a:ea typeface="Calibri" panose="020F0502020204030204" pitchFamily="34" charset="0"/>
              </a:rPr>
              <a:t>La forme kystique</a:t>
            </a:r>
            <a:r>
              <a:rPr lang="fr-FR" sz="3200" b="1" dirty="0">
                <a:ea typeface="Calibri" panose="020F0502020204030204" pitchFamily="34" charset="0"/>
              </a:rPr>
              <a:t/>
            </a:r>
            <a:br>
              <a:rPr lang="fr-FR" sz="3200" b="1" dirty="0">
                <a:ea typeface="Calibri" panose="020F0502020204030204" pitchFamily="34" charset="0"/>
              </a:rPr>
            </a:br>
            <a:endParaRPr lang="fr-FR" b="1" dirty="0"/>
          </a:p>
        </p:txBody>
      </p:sp>
      <p:sp>
        <p:nvSpPr>
          <p:cNvPr id="3" name="Espace réservé du contenu 2"/>
          <p:cNvSpPr>
            <a:spLocks noGrp="1"/>
          </p:cNvSpPr>
          <p:nvPr>
            <p:ph idx="1"/>
          </p:nvPr>
        </p:nvSpPr>
        <p:spPr>
          <a:xfrm>
            <a:off x="1078523" y="1430215"/>
            <a:ext cx="10426089" cy="4525108"/>
          </a:xfrm>
        </p:spPr>
        <p:txBody>
          <a:bodyPr>
            <a:noAutofit/>
          </a:bodyPr>
          <a:lstStyle/>
          <a:p>
            <a:pPr>
              <a:lnSpc>
                <a:spcPct val="150000"/>
              </a:lnSpc>
            </a:pPr>
            <a:r>
              <a:rPr lang="fr-FR" sz="2800" dirty="0" smtClean="0">
                <a:solidFill>
                  <a:srgbClr val="000000"/>
                </a:solidFill>
                <a:latin typeface="Tahoma" panose="020B0604030504040204" pitchFamily="34" charset="0"/>
              </a:rPr>
              <a:t>Les </a:t>
            </a:r>
            <a:r>
              <a:rPr lang="fr-FR" sz="2800" dirty="0">
                <a:solidFill>
                  <a:srgbClr val="000000"/>
                </a:solidFill>
                <a:latin typeface="Tahoma" panose="020B0604030504040204" pitchFamily="34" charset="0"/>
              </a:rPr>
              <a:t>kystes ovoïdes sont éliminés avec les selles et peuvent survivre plusieurs semaines dans le milieu extérieur </a:t>
            </a:r>
            <a:r>
              <a:rPr lang="fr-FR" sz="2800" dirty="0" smtClean="0">
                <a:solidFill>
                  <a:srgbClr val="000000"/>
                </a:solidFill>
                <a:latin typeface="Tahoma" panose="020B0604030504040204" pitchFamily="34" charset="0"/>
              </a:rPr>
              <a:t>et 3 </a:t>
            </a:r>
            <a:r>
              <a:rPr lang="fr-FR" sz="2800" dirty="0">
                <a:solidFill>
                  <a:srgbClr val="000000"/>
                </a:solidFill>
                <a:latin typeface="Tahoma" panose="020B0604030504040204" pitchFamily="34" charset="0"/>
              </a:rPr>
              <a:t>mois dans </a:t>
            </a:r>
            <a:r>
              <a:rPr lang="fr-FR" sz="2800" dirty="0" smtClean="0">
                <a:solidFill>
                  <a:srgbClr val="000000"/>
                </a:solidFill>
                <a:latin typeface="Tahoma" panose="020B0604030504040204" pitchFamily="34" charset="0"/>
              </a:rPr>
              <a:t>l'eau. C’est </a:t>
            </a:r>
            <a:r>
              <a:rPr lang="fr-FR" sz="2800" dirty="0">
                <a:solidFill>
                  <a:srgbClr val="000000"/>
                </a:solidFill>
                <a:latin typeface="Tahoma" panose="020B0604030504040204" pitchFamily="34" charset="0"/>
              </a:rPr>
              <a:t>la forme de dissémination du parasite.</a:t>
            </a:r>
            <a:endParaRPr lang="fr-FR" sz="2800" dirty="0"/>
          </a:p>
          <a:p>
            <a:pPr>
              <a:lnSpc>
                <a:spcPct val="150000"/>
              </a:lnSpc>
            </a:pPr>
            <a:r>
              <a:rPr lang="fr-FR" sz="2800" dirty="0">
                <a:solidFill>
                  <a:srgbClr val="000000"/>
                </a:solidFill>
                <a:latin typeface="Tahoma" panose="020B0604030504040204" pitchFamily="34" charset="0"/>
              </a:rPr>
              <a:t>L'homme se contamine en ingérant les kystes murs avec de l'eau de boisson, des aliments crus ou à la faveur des mains sales.</a:t>
            </a:r>
            <a:endParaRPr lang="fr-FR" sz="2800" dirty="0"/>
          </a:p>
          <a:p>
            <a:pPr marL="0" indent="0">
              <a:buNone/>
            </a:pPr>
            <a:endParaRPr lang="fr-FR" sz="2800" dirty="0"/>
          </a:p>
        </p:txBody>
      </p:sp>
    </p:spTree>
    <p:extLst>
      <p:ext uri="{BB962C8B-B14F-4D97-AF65-F5344CB8AC3E}">
        <p14:creationId xmlns:p14="http://schemas.microsoft.com/office/powerpoint/2010/main" val="393640548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82659"/>
          </a:xfrm>
        </p:spPr>
        <p:txBody>
          <a:bodyPr>
            <a:normAutofit fontScale="90000"/>
          </a:bodyPr>
          <a:lstStyle/>
          <a:p>
            <a:pPr lvl="1" algn="l" defTabSz="457200" rtl="0">
              <a:spcBef>
                <a:spcPct val="0"/>
              </a:spcBef>
            </a:pP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Symptomatologie</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125415" y="1406769"/>
            <a:ext cx="10379197" cy="4504453"/>
          </a:xfrm>
        </p:spPr>
        <p:txBody>
          <a:bodyPr>
            <a:noAutofit/>
          </a:bodyPr>
          <a:lstStyle/>
          <a:p>
            <a:pPr marL="0" indent="0" algn="just">
              <a:lnSpc>
                <a:spcPct val="150000"/>
              </a:lnSpc>
              <a:spcBef>
                <a:spcPts val="300"/>
              </a:spcBef>
              <a:buNone/>
            </a:pPr>
            <a:r>
              <a:rPr lang="fr-FR" sz="2800" spc="10" dirty="0">
                <a:solidFill>
                  <a:srgbClr val="000000"/>
                </a:solidFill>
                <a:latin typeface="Tahoma" panose="020B0604030504040204" pitchFamily="34" charset="0"/>
                <a:ea typeface="Times New Roman" panose="02020603050405020304" pitchFamily="18" charset="0"/>
              </a:rPr>
              <a:t>La </a:t>
            </a:r>
            <a:r>
              <a:rPr lang="fr-FR" sz="2800" spc="10" dirty="0" err="1">
                <a:solidFill>
                  <a:srgbClr val="000000"/>
                </a:solidFill>
                <a:latin typeface="Tahoma" panose="020B0604030504040204" pitchFamily="34" charset="0"/>
                <a:ea typeface="Times New Roman" panose="02020603050405020304" pitchFamily="18" charset="0"/>
              </a:rPr>
              <a:t>giardiase</a:t>
            </a:r>
            <a:r>
              <a:rPr lang="fr-FR" sz="2800" spc="10" dirty="0">
                <a:solidFill>
                  <a:srgbClr val="000000"/>
                </a:solidFill>
                <a:latin typeface="Tahoma" panose="020B0604030504040204" pitchFamily="34" charset="0"/>
                <a:ea typeface="Times New Roman" panose="02020603050405020304" pitchFamily="18" charset="0"/>
              </a:rPr>
              <a:t> reste asymptomatique ou provoque des troubles digestifs </a:t>
            </a:r>
            <a:r>
              <a:rPr lang="fr-FR" sz="2800" spc="10" dirty="0" smtClean="0">
                <a:solidFill>
                  <a:srgbClr val="000000"/>
                </a:solidFill>
                <a:latin typeface="Tahoma" panose="020B0604030504040204" pitchFamily="34" charset="0"/>
                <a:ea typeface="Times New Roman" panose="02020603050405020304" pitchFamily="18" charset="0"/>
              </a:rPr>
              <a:t>variés.</a:t>
            </a:r>
            <a:endParaRPr lang="fr-FR" sz="2800" dirty="0" smtClean="0"/>
          </a:p>
          <a:p>
            <a:pPr marL="0" indent="0" algn="just">
              <a:lnSpc>
                <a:spcPct val="150000"/>
              </a:lnSpc>
              <a:spcBef>
                <a:spcPts val="300"/>
              </a:spcBef>
              <a:buNone/>
            </a:pPr>
            <a:r>
              <a:rPr lang="fr-FR" sz="2800" u="sng" dirty="0" smtClean="0">
                <a:solidFill>
                  <a:srgbClr val="000000"/>
                </a:solidFill>
                <a:latin typeface="Tahoma" panose="020B0604030504040204" pitchFamily="34" charset="0"/>
                <a:ea typeface="Calibri" panose="020F0502020204030204" pitchFamily="34" charset="0"/>
              </a:rPr>
              <a:t>Période </a:t>
            </a:r>
            <a:r>
              <a:rPr lang="fr-FR" sz="2800" u="sng" dirty="0">
                <a:solidFill>
                  <a:srgbClr val="000000"/>
                </a:solidFill>
                <a:latin typeface="Tahoma" panose="020B0604030504040204" pitchFamily="34" charset="0"/>
                <a:ea typeface="Calibri" panose="020F0502020204030204" pitchFamily="34" charset="0"/>
              </a:rPr>
              <a:t>de début</a:t>
            </a:r>
            <a:endParaRPr lang="fr-FR" sz="2800" dirty="0">
              <a:ea typeface="Calibri" panose="020F0502020204030204" pitchFamily="34" charset="0"/>
            </a:endParaRPr>
          </a:p>
          <a:p>
            <a:pPr>
              <a:lnSpc>
                <a:spcPct val="150000"/>
              </a:lnSpc>
            </a:pPr>
            <a:r>
              <a:rPr lang="fr-FR" sz="2800" dirty="0">
                <a:solidFill>
                  <a:srgbClr val="000000"/>
                </a:solidFill>
                <a:latin typeface="Tahoma" panose="020B0604030504040204" pitchFamily="34" charset="0"/>
              </a:rPr>
              <a:t>Le début est habituellement progressif, parfois brutal évoquant une gastro-entérite aiguë et associe une anorexie, des nausées, des douleurs abdominales</a:t>
            </a:r>
            <a:r>
              <a:rPr lang="fr-FR" sz="2800" dirty="0" smtClean="0">
                <a:solidFill>
                  <a:srgbClr val="000000"/>
                </a:solidFill>
                <a:latin typeface="Tahoma" panose="020B0604030504040204" pitchFamily="34" charset="0"/>
              </a:rPr>
              <a:t>.</a:t>
            </a:r>
            <a:endParaRPr lang="fr-FR" sz="2800" dirty="0"/>
          </a:p>
        </p:txBody>
      </p:sp>
    </p:spTree>
    <p:extLst>
      <p:ext uri="{BB962C8B-B14F-4D97-AF65-F5344CB8AC3E}">
        <p14:creationId xmlns:p14="http://schemas.microsoft.com/office/powerpoint/2010/main" val="425806515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65428"/>
          </a:xfrm>
        </p:spPr>
        <p:txBody>
          <a:bodyPr>
            <a:normAutofit fontScale="90000"/>
          </a:bodyPr>
          <a:lstStyle/>
          <a:p>
            <a:pPr lvl="2" algn="l" defTabSz="457200" rtl="0">
              <a:spcBef>
                <a:spcPct val="0"/>
              </a:spcBef>
            </a:pPr>
            <a:r>
              <a:rPr lang="fr-FR" sz="2800" b="1" spc="25" dirty="0">
                <a:solidFill>
                  <a:srgbClr val="000000"/>
                </a:solidFill>
                <a:latin typeface="Tahoma" panose="020B0604030504040204" pitchFamily="34" charset="0"/>
                <a:ea typeface="Calibri" panose="020F0502020204030204" pitchFamily="34" charset="0"/>
              </a:rPr>
              <a:t>Période d'état</a:t>
            </a:r>
            <a:r>
              <a:rPr lang="fr-FR" sz="2800" b="1" spc="25" dirty="0">
                <a:latin typeface="Times New Roman" panose="02020603050405020304" pitchFamily="18" charset="0"/>
                <a:ea typeface="Calibri" panose="020F0502020204030204" pitchFamily="34" charset="0"/>
              </a:rPr>
              <a:t/>
            </a:r>
            <a:br>
              <a:rPr lang="fr-FR" sz="2800" b="1" spc="25" dirty="0">
                <a:latin typeface="Times New Roman" panose="02020603050405020304" pitchFamily="18" charset="0"/>
                <a:ea typeface="Calibri" panose="020F0502020204030204" pitchFamily="34" charset="0"/>
              </a:rPr>
            </a:br>
            <a:endParaRPr lang="fr-FR" b="1" dirty="0"/>
          </a:p>
        </p:txBody>
      </p:sp>
      <p:sp>
        <p:nvSpPr>
          <p:cNvPr id="3" name="Espace réservé du contenu 2"/>
          <p:cNvSpPr>
            <a:spLocks noGrp="1"/>
          </p:cNvSpPr>
          <p:nvPr>
            <p:ph idx="1"/>
          </p:nvPr>
        </p:nvSpPr>
        <p:spPr>
          <a:xfrm>
            <a:off x="961292" y="1289538"/>
            <a:ext cx="10543320" cy="4876800"/>
          </a:xfrm>
        </p:spPr>
        <p:txBody>
          <a:bodyPr>
            <a:normAutofit fontScale="25000" lnSpcReduction="20000"/>
          </a:bodyPr>
          <a:lstStyle/>
          <a:p>
            <a:pPr lvl="0">
              <a:lnSpc>
                <a:spcPct val="150000"/>
              </a:lnSpc>
              <a:buFont typeface="Symbol" panose="05050102010706020507" pitchFamily="18" charset="2"/>
              <a:buChar char=""/>
            </a:pPr>
            <a:r>
              <a:rPr lang="fr-FR" sz="9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Diarrhées </a:t>
            </a:r>
            <a:r>
              <a:rPr lang="fr-FR" sz="9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faites de 5 à 10 exonérations par jour, surtout matinales et postprandiales</a:t>
            </a:r>
            <a:r>
              <a:rPr lang="fr-FR" sz="9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t>
            </a:r>
          </a:p>
          <a:p>
            <a:pPr lvl="0">
              <a:lnSpc>
                <a:spcPct val="150000"/>
              </a:lnSpc>
              <a:buFont typeface="Symbol" panose="05050102010706020507" pitchFamily="18" charset="2"/>
              <a:buChar char=""/>
            </a:pPr>
            <a:r>
              <a:rPr lang="fr-FR" sz="9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9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Elle sont faites de selles pâteuses ou liquides, jaunâtres ou claires, parfois mousseuses ou graisseuses, exceptionnellement sanglantes. </a:t>
            </a:r>
          </a:p>
          <a:p>
            <a:pPr lvl="0">
              <a:lnSpc>
                <a:spcPct val="150000"/>
              </a:lnSpc>
              <a:buFont typeface="Symbol" panose="05050102010706020507" pitchFamily="18" charset="2"/>
              <a:buChar char=""/>
            </a:pPr>
            <a:r>
              <a:rPr lang="fr-FR" sz="9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Elle </a:t>
            </a:r>
            <a:r>
              <a:rPr lang="fr-FR" sz="9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peut-être permanente ou intermittente </a:t>
            </a:r>
            <a:r>
              <a:rPr lang="fr-FR" sz="9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et </a:t>
            </a:r>
            <a:r>
              <a:rPr lang="fr-FR" sz="9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peut aussi alterner avec de la constipation et accompagnée de brulures anales lors de la défécation.</a:t>
            </a:r>
            <a:endParaRPr lang="fr-FR" sz="96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9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Les douleurs épigastriques et les troubles </a:t>
            </a:r>
            <a:r>
              <a:rPr lang="fr-FR" sz="96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dyspeptiques variés : nausées, anorexie, ballonnement abdominale, </a:t>
            </a:r>
            <a:r>
              <a:rPr lang="fr-FR" sz="96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flatulences peuvent s’ajouter à ce tableau</a:t>
            </a:r>
            <a:endParaRPr lang="fr-FR" sz="9600" dirty="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62099124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82659"/>
          </a:xfrm>
        </p:spPr>
        <p:txBody>
          <a:bodyPr>
            <a:normAutofit fontScale="90000"/>
          </a:bodyPr>
          <a:lstStyle/>
          <a:p>
            <a:pPr lvl="1" algn="l" defTabSz="457200" rtl="0">
              <a:spcBef>
                <a:spcPct val="0"/>
              </a:spcBef>
            </a:pP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Diagnostic</a:t>
            </a:r>
            <a:r>
              <a:rPr lang="fr-FR" sz="1600" dirty="0">
                <a:solidFill>
                  <a:srgbClr val="000000"/>
                </a:solidFill>
                <a:latin typeface="Courier New" panose="02070309020205020404" pitchFamily="49" charset="0"/>
                <a:ea typeface="Calibri" panose="020F0502020204030204" pitchFamily="34" charset="0"/>
              </a:rPr>
              <a:t/>
            </a:r>
            <a:br>
              <a:rPr lang="fr-FR" sz="1600"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172308" y="1406769"/>
            <a:ext cx="10332304" cy="5040923"/>
          </a:xfrm>
        </p:spPr>
        <p:txBody>
          <a:bodyPr>
            <a:normAutofit fontScale="92500" lnSpcReduction="10000"/>
          </a:bodyPr>
          <a:lstStyle/>
          <a:p>
            <a:pPr lvl="0" algn="just">
              <a:lnSpc>
                <a:spcPct val="150000"/>
              </a:lnSpc>
              <a:buFont typeface="Symbol" panose="05050102010706020507" pitchFamily="18" charset="2"/>
              <a:buChar char=""/>
            </a:pP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L'examen coprologique est en règle suffisant, car il permet de mettre en évidence les kystes et les </a:t>
            </a:r>
            <a:r>
              <a:rPr lang="fr-FR" sz="2800"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trophozoites</a:t>
            </a: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mobiles (formes végétatives).</a:t>
            </a:r>
            <a:endParaRPr lang="fr-FR" sz="2800" dirty="0">
              <a:ea typeface="Times New Roman" panose="02020603050405020304" pitchFamily="18" charset="0"/>
              <a:cs typeface="Times New Roman" panose="02020603050405020304" pitchFamily="18" charset="0"/>
            </a:endParaRPr>
          </a:p>
          <a:p>
            <a:pPr lvl="0" algn="just">
              <a:lnSpc>
                <a:spcPct val="150000"/>
              </a:lnSpc>
              <a:buFont typeface="Symbol" panose="05050102010706020507" pitchFamily="18" charset="2"/>
              <a:buChar char=""/>
            </a:pP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En cas de forte suspicion avec examen de selles négatives, on peut rechercher les parasites par tubage duodénal.</a:t>
            </a:r>
            <a:endParaRPr lang="fr-FR" sz="2800" dirty="0">
              <a:ea typeface="Times New Roman" panose="02020603050405020304" pitchFamily="18" charset="0"/>
              <a:cs typeface="Times New Roman" panose="02020603050405020304" pitchFamily="18" charset="0"/>
            </a:endParaRPr>
          </a:p>
          <a:p>
            <a:pPr lvl="0" algn="just">
              <a:lnSpc>
                <a:spcPct val="150000"/>
              </a:lnSpc>
              <a:buFont typeface="Symbol" panose="05050102010706020507" pitchFamily="18" charset="2"/>
              <a:buChar char=""/>
            </a:pP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Enfin on peut faire une biopsie du grêle. Elle permet de mettre en évidence les parasites à la surface de la muqueuse ou dans les espaces </a:t>
            </a:r>
            <a:r>
              <a:rPr lang="fr-FR" sz="2800"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intervillositaires</a:t>
            </a:r>
            <a:r>
              <a:rPr lang="fr-FR" sz="28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a:t>
            </a:r>
            <a:endParaRPr lang="fr-FR" sz="2800" dirty="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66969470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899890"/>
          </a:xfrm>
        </p:spPr>
        <p:txBody>
          <a:bodyPr>
            <a:normAutofit fontScale="90000"/>
          </a:bodyPr>
          <a:lstStyle/>
          <a:p>
            <a:pPr lvl="1" algn="l" defTabSz="457200" rtl="0">
              <a:spcBef>
                <a:spcPct val="0"/>
              </a:spcBef>
            </a:pP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Complications </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sz="3200" dirty="0"/>
          </a:p>
        </p:txBody>
      </p:sp>
      <p:sp>
        <p:nvSpPr>
          <p:cNvPr id="3" name="Espace réservé du contenu 2"/>
          <p:cNvSpPr>
            <a:spLocks noGrp="1"/>
          </p:cNvSpPr>
          <p:nvPr>
            <p:ph idx="1"/>
          </p:nvPr>
        </p:nvSpPr>
        <p:spPr>
          <a:xfrm>
            <a:off x="1430215" y="1336431"/>
            <a:ext cx="10074397" cy="4876800"/>
          </a:xfrm>
        </p:spPr>
        <p:txBody>
          <a:bodyPr>
            <a:normAutofit fontScale="92500"/>
          </a:bodyPr>
          <a:lstStyle/>
          <a:p>
            <a:pPr algn="just">
              <a:lnSpc>
                <a:spcPct val="150000"/>
              </a:lnSpc>
            </a:pPr>
            <a:r>
              <a:rPr lang="fr-FR" sz="3000" dirty="0">
                <a:solidFill>
                  <a:srgbClr val="000000"/>
                </a:solidFill>
                <a:latin typeface="Tahoma" panose="020B0604030504040204" pitchFamily="34" charset="0"/>
              </a:rPr>
              <a:t>Il faut surtout redouter un syndrome de malabsorption intestinale chez l'enfant. </a:t>
            </a:r>
            <a:endParaRPr lang="fr-FR" sz="3000" dirty="0"/>
          </a:p>
          <a:p>
            <a:pPr algn="just">
              <a:lnSpc>
                <a:spcPct val="150000"/>
              </a:lnSpc>
            </a:pPr>
            <a:r>
              <a:rPr lang="fr-FR" sz="3000" dirty="0">
                <a:solidFill>
                  <a:srgbClr val="000000"/>
                </a:solidFill>
                <a:latin typeface="Tahoma" panose="020B0604030504040204" pitchFamily="34" charset="0"/>
              </a:rPr>
              <a:t>Cliniquement, les selles sont abondantes, malodorantes, graisseuses, on note également un amaigrissement considérable.</a:t>
            </a:r>
            <a:endParaRPr lang="fr-FR" sz="3000" dirty="0"/>
          </a:p>
          <a:p>
            <a:pPr algn="just">
              <a:lnSpc>
                <a:spcPct val="150000"/>
              </a:lnSpc>
            </a:pPr>
            <a:r>
              <a:rPr lang="fr-FR" sz="3000" dirty="0">
                <a:solidFill>
                  <a:srgbClr val="000000"/>
                </a:solidFill>
                <a:latin typeface="Tahoma" panose="020B0604030504040204" pitchFamily="34" charset="0"/>
              </a:rPr>
              <a:t>Biologiquement, on peut noter des troubles de l'absorption des graisses : (stéatorrhée), des protides (</a:t>
            </a:r>
            <a:r>
              <a:rPr lang="fr-FR" sz="3000" dirty="0" err="1">
                <a:solidFill>
                  <a:srgbClr val="000000"/>
                </a:solidFill>
                <a:latin typeface="Tahoma" panose="020B0604030504040204" pitchFamily="34" charset="0"/>
              </a:rPr>
              <a:t>créâtorrhée</a:t>
            </a:r>
            <a:r>
              <a:rPr lang="fr-FR" sz="3000" dirty="0">
                <a:solidFill>
                  <a:srgbClr val="000000"/>
                </a:solidFill>
                <a:latin typeface="Tahoma" panose="020B0604030504040204" pitchFamily="34" charset="0"/>
              </a:rPr>
              <a:t>).</a:t>
            </a:r>
            <a:endParaRPr lang="fr-FR" sz="3000" dirty="0"/>
          </a:p>
          <a:p>
            <a:endParaRPr lang="fr-FR" dirty="0"/>
          </a:p>
        </p:txBody>
      </p:sp>
    </p:spTree>
    <p:extLst>
      <p:ext uri="{BB962C8B-B14F-4D97-AF65-F5344CB8AC3E}">
        <p14:creationId xmlns:p14="http://schemas.microsoft.com/office/powerpoint/2010/main" val="42261639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01969" y="624110"/>
            <a:ext cx="10402643" cy="595090"/>
          </a:xfrm>
        </p:spPr>
        <p:txBody>
          <a:bodyPr>
            <a:noAutofit/>
          </a:bodyPr>
          <a:lstStyle/>
          <a:p>
            <a:pPr lvl="1" algn="l" defTabSz="457200" rtl="0">
              <a:spcBef>
                <a:spcPct val="0"/>
              </a:spcBef>
            </a:pPr>
            <a:r>
              <a:rPr lang="fr-FR" sz="28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Traitement</a:t>
            </a:r>
            <a:r>
              <a:rPr lang="fr-FR" sz="2400" b="1" dirty="0">
                <a:solidFill>
                  <a:srgbClr val="000000"/>
                </a:solidFill>
                <a:latin typeface="Courier New" panose="02070309020205020404" pitchFamily="49" charset="0"/>
                <a:ea typeface="Calibri" panose="020F0502020204030204" pitchFamily="34" charset="0"/>
              </a:rPr>
              <a:t/>
            </a:r>
            <a:br>
              <a:rPr lang="fr-FR" sz="2400" b="1" dirty="0">
                <a:solidFill>
                  <a:srgbClr val="000000"/>
                </a:solidFill>
                <a:latin typeface="Courier New" panose="02070309020205020404" pitchFamily="49" charset="0"/>
                <a:ea typeface="Calibri" panose="020F0502020204030204" pitchFamily="34" charset="0"/>
              </a:rPr>
            </a:br>
            <a:endParaRPr lang="fr-FR" sz="2800" b="1" dirty="0"/>
          </a:p>
        </p:txBody>
      </p:sp>
      <p:sp>
        <p:nvSpPr>
          <p:cNvPr id="3" name="Espace réservé du contenu 2"/>
          <p:cNvSpPr>
            <a:spLocks noGrp="1"/>
          </p:cNvSpPr>
          <p:nvPr>
            <p:ph idx="1"/>
          </p:nvPr>
        </p:nvSpPr>
        <p:spPr>
          <a:xfrm>
            <a:off x="1101969" y="1219200"/>
            <a:ext cx="10402643" cy="5134708"/>
          </a:xfrm>
        </p:spPr>
        <p:txBody>
          <a:bodyPr>
            <a:normAutofit/>
          </a:bodyPr>
          <a:lstStyle/>
          <a:p>
            <a:pPr lvl="0">
              <a:lnSpc>
                <a:spcPct val="150000"/>
              </a:lnSpc>
              <a:buFont typeface="Symbol" panose="05050102010706020507" pitchFamily="18" charset="2"/>
              <a:buChar char=""/>
            </a:pPr>
            <a:r>
              <a:rPr lang="fr-FR" sz="2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Métronidazole </a:t>
            </a:r>
            <a:r>
              <a:rPr lang="fr-FR" sz="23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(FLAGYL) </a:t>
            </a:r>
            <a:r>
              <a:rPr lang="fr-FR" sz="23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t>
            </a:r>
            <a:r>
              <a:rPr lang="fr-FR" sz="2300" dirty="0" smtClean="0">
                <a:ea typeface="Times New Roman" panose="02020603050405020304" pitchFamily="18" charset="0"/>
                <a:cs typeface="Times New Roman" panose="02020603050405020304" pitchFamily="18" charset="0"/>
              </a:rPr>
              <a:t> </a:t>
            </a:r>
            <a:r>
              <a:rPr lang="fr-FR" sz="2300" dirty="0" smtClean="0">
                <a:solidFill>
                  <a:srgbClr val="000000"/>
                </a:solidFill>
                <a:latin typeface="Tahoma" panose="020B0604030504040204" pitchFamily="34" charset="0"/>
              </a:rPr>
              <a:t>Adulte</a:t>
            </a:r>
            <a:r>
              <a:rPr lang="fr-FR" sz="2300" dirty="0">
                <a:solidFill>
                  <a:srgbClr val="000000"/>
                </a:solidFill>
                <a:latin typeface="Tahoma" panose="020B0604030504040204" pitchFamily="34" charset="0"/>
              </a:rPr>
              <a:t>: 1 à 3 </a:t>
            </a:r>
            <a:r>
              <a:rPr lang="fr-FR" sz="2300" dirty="0" err="1">
                <a:solidFill>
                  <a:srgbClr val="000000"/>
                </a:solidFill>
                <a:latin typeface="Tahoma" panose="020B0604030504040204" pitchFamily="34" charset="0"/>
              </a:rPr>
              <a:t>cp</a:t>
            </a:r>
            <a:r>
              <a:rPr lang="fr-FR" sz="2300" dirty="0">
                <a:solidFill>
                  <a:srgbClr val="000000"/>
                </a:solidFill>
                <a:latin typeface="Tahoma" panose="020B0604030504040204" pitchFamily="34" charset="0"/>
              </a:rPr>
              <a:t>/j </a:t>
            </a:r>
            <a:r>
              <a:rPr lang="fr-FR" sz="2300" dirty="0" err="1">
                <a:solidFill>
                  <a:srgbClr val="000000"/>
                </a:solidFill>
                <a:latin typeface="Tahoma" panose="020B0604030504040204" pitchFamily="34" charset="0"/>
              </a:rPr>
              <a:t>pdt</a:t>
            </a:r>
            <a:r>
              <a:rPr lang="fr-FR" sz="2300" dirty="0">
                <a:solidFill>
                  <a:srgbClr val="000000"/>
                </a:solidFill>
                <a:latin typeface="Tahoma" panose="020B0604030504040204" pitchFamily="34" charset="0"/>
              </a:rPr>
              <a:t> 7 jours à renouveler 10 à 15 jours plus tard.</a:t>
            </a:r>
            <a:endParaRPr lang="fr-FR" sz="2300" dirty="0"/>
          </a:p>
          <a:p>
            <a:pPr lvl="0">
              <a:lnSpc>
                <a:spcPct val="150000"/>
              </a:lnSpc>
              <a:buFont typeface="Symbol" panose="05050102010706020507" pitchFamily="18" charset="2"/>
              <a:buChar char=""/>
            </a:pPr>
            <a:r>
              <a:rPr lang="fr-FR" sz="2300" dirty="0">
                <a:solidFill>
                  <a:srgbClr val="000000"/>
                </a:solidFill>
                <a:latin typeface="Tahoma" panose="020B0604030504040204" pitchFamily="34" charset="0"/>
              </a:rPr>
              <a:t>Enfant: 10 mg/kg/j </a:t>
            </a:r>
            <a:r>
              <a:rPr lang="fr-FR" sz="2300" dirty="0" err="1">
                <a:solidFill>
                  <a:srgbClr val="000000"/>
                </a:solidFill>
                <a:latin typeface="Tahoma" panose="020B0604030504040204" pitchFamily="34" charset="0"/>
              </a:rPr>
              <a:t>pdt</a:t>
            </a:r>
            <a:r>
              <a:rPr lang="fr-FR" sz="2300" dirty="0">
                <a:solidFill>
                  <a:srgbClr val="000000"/>
                </a:solidFill>
                <a:latin typeface="Tahoma" panose="020B0604030504040204" pitchFamily="34" charset="0"/>
              </a:rPr>
              <a:t> 7 jours à renouveler 10 à 15 jours plus </a:t>
            </a:r>
            <a:r>
              <a:rPr lang="fr-FR" sz="2300" dirty="0" smtClean="0">
                <a:solidFill>
                  <a:srgbClr val="000000"/>
                </a:solidFill>
                <a:latin typeface="Tahoma" panose="020B0604030504040204" pitchFamily="34" charset="0"/>
              </a:rPr>
              <a:t>tard.</a:t>
            </a:r>
            <a:endParaRPr lang="fr-FR" sz="2300" dirty="0" smtClean="0"/>
          </a:p>
          <a:p>
            <a:pPr lvl="0">
              <a:lnSpc>
                <a:spcPct val="150000"/>
              </a:lnSpc>
              <a:buFont typeface="Symbol" panose="05050102010706020507" pitchFamily="18" charset="2"/>
              <a:buChar char=""/>
            </a:pPr>
            <a:r>
              <a:rPr lang="fr-FR" sz="2300" dirty="0" err="1" smtClean="0">
                <a:solidFill>
                  <a:srgbClr val="000000"/>
                </a:solidFill>
                <a:latin typeface="Tahoma" panose="020B0604030504040204" pitchFamily="34" charset="0"/>
              </a:rPr>
              <a:t>Tinidazole</a:t>
            </a:r>
            <a:r>
              <a:rPr lang="fr-FR" sz="2300" dirty="0" smtClean="0">
                <a:solidFill>
                  <a:srgbClr val="000000"/>
                </a:solidFill>
                <a:latin typeface="Tahoma" panose="020B0604030504040204" pitchFamily="34" charset="0"/>
              </a:rPr>
              <a:t> </a:t>
            </a:r>
            <a:r>
              <a:rPr lang="fr-FR" sz="2300" dirty="0">
                <a:solidFill>
                  <a:srgbClr val="000000"/>
                </a:solidFill>
                <a:latin typeface="Tahoma" panose="020B0604030504040204" pitchFamily="34" charset="0"/>
              </a:rPr>
              <a:t>(FASIGYNE</a:t>
            </a:r>
            <a:r>
              <a:rPr lang="fr-FR" sz="2300" dirty="0" smtClean="0">
                <a:solidFill>
                  <a:srgbClr val="000000"/>
                </a:solidFill>
                <a:latin typeface="Tahoma" panose="020B0604030504040204" pitchFamily="34" charset="0"/>
              </a:rPr>
              <a:t>):</a:t>
            </a:r>
            <a:endParaRPr lang="fr-FR" sz="2300" dirty="0" smtClean="0"/>
          </a:p>
          <a:p>
            <a:pPr lvl="0">
              <a:lnSpc>
                <a:spcPct val="150000"/>
              </a:lnSpc>
              <a:buFont typeface="Symbol" panose="05050102010706020507" pitchFamily="18" charset="2"/>
              <a:buChar char=""/>
            </a:pPr>
            <a:r>
              <a:rPr lang="fr-FR" sz="2300" dirty="0" err="1" smtClean="0">
                <a:solidFill>
                  <a:srgbClr val="000000"/>
                </a:solidFill>
                <a:latin typeface="Tahoma" panose="020B0604030504040204" pitchFamily="34" charset="0"/>
              </a:rPr>
              <a:t>Omidazole</a:t>
            </a:r>
            <a:r>
              <a:rPr lang="fr-FR" sz="2300" dirty="0" smtClean="0">
                <a:solidFill>
                  <a:srgbClr val="000000"/>
                </a:solidFill>
                <a:latin typeface="Tahoma" panose="020B0604030504040204" pitchFamily="34" charset="0"/>
              </a:rPr>
              <a:t> </a:t>
            </a:r>
            <a:r>
              <a:rPr lang="fr-FR" sz="2300" dirty="0">
                <a:solidFill>
                  <a:srgbClr val="000000"/>
                </a:solidFill>
                <a:latin typeface="Tahoma" panose="020B0604030504040204" pitchFamily="34" charset="0"/>
              </a:rPr>
              <a:t>(TIBERAL</a:t>
            </a:r>
            <a:r>
              <a:rPr lang="fr-FR" sz="2300" dirty="0" smtClean="0">
                <a:solidFill>
                  <a:srgbClr val="000000"/>
                </a:solidFill>
                <a:latin typeface="Tahoma" panose="020B0604030504040204" pitchFamily="34" charset="0"/>
              </a:rPr>
              <a:t>):</a:t>
            </a:r>
            <a:endParaRPr lang="fr-FR" sz="2300" dirty="0" smtClean="0"/>
          </a:p>
          <a:p>
            <a:pPr lvl="0">
              <a:lnSpc>
                <a:spcPct val="150000"/>
              </a:lnSpc>
              <a:buFont typeface="Symbol" panose="05050102010706020507" pitchFamily="18" charset="2"/>
              <a:buChar char=""/>
            </a:pPr>
            <a:r>
              <a:rPr lang="fr-FR" sz="2300" dirty="0" err="1" smtClean="0">
                <a:solidFill>
                  <a:srgbClr val="000000"/>
                </a:solidFill>
                <a:latin typeface="Tahoma" panose="020B0604030504040204" pitchFamily="34" charset="0"/>
              </a:rPr>
              <a:t>Secnidazole</a:t>
            </a:r>
            <a:r>
              <a:rPr lang="fr-FR" sz="2300" dirty="0" smtClean="0">
                <a:solidFill>
                  <a:srgbClr val="000000"/>
                </a:solidFill>
                <a:latin typeface="Tahoma" panose="020B0604030504040204" pitchFamily="34" charset="0"/>
              </a:rPr>
              <a:t> </a:t>
            </a:r>
            <a:r>
              <a:rPr lang="fr-FR" sz="2300" dirty="0">
                <a:solidFill>
                  <a:srgbClr val="000000"/>
                </a:solidFill>
                <a:latin typeface="Tahoma" panose="020B0604030504040204" pitchFamily="34" charset="0"/>
              </a:rPr>
              <a:t>(FLAGENTYL)</a:t>
            </a:r>
            <a:endParaRPr lang="fr-FR" sz="2300" dirty="0"/>
          </a:p>
          <a:p>
            <a:pPr lvl="0">
              <a:lnSpc>
                <a:spcPct val="150000"/>
              </a:lnSpc>
              <a:buFont typeface="Wingdings" panose="05000000000000000000" pitchFamily="2" charset="2"/>
              <a:buChar char=""/>
            </a:pPr>
            <a:r>
              <a:rPr lang="fr-FR" sz="2300" dirty="0">
                <a:solidFill>
                  <a:srgbClr val="000000"/>
                </a:solidFill>
                <a:latin typeface="Tahoma" panose="020B0604030504040204" pitchFamily="34" charset="0"/>
              </a:rPr>
              <a:t>Adulte: 2g en une prise unique à renouveler 20 jours après</a:t>
            </a:r>
            <a:endParaRPr lang="fr-FR" sz="2300" dirty="0"/>
          </a:p>
          <a:p>
            <a:pPr lvl="0">
              <a:lnSpc>
                <a:spcPct val="150000"/>
              </a:lnSpc>
              <a:buFont typeface="Wingdings" panose="05000000000000000000" pitchFamily="2" charset="2"/>
              <a:buChar char=""/>
            </a:pPr>
            <a:r>
              <a:rPr lang="fr-FR" sz="2300" dirty="0">
                <a:solidFill>
                  <a:srgbClr val="000000"/>
                </a:solidFill>
                <a:latin typeface="Tahoma" panose="020B0604030504040204" pitchFamily="34" charset="0"/>
              </a:rPr>
              <a:t>Enfant: 50 mg 1 kg en une prise unique à renouveler 20 jours plus tard.</a:t>
            </a:r>
            <a:endParaRPr lang="fr-FR" sz="2300" dirty="0"/>
          </a:p>
          <a:p>
            <a:endParaRPr lang="fr-FR" dirty="0"/>
          </a:p>
        </p:txBody>
      </p:sp>
    </p:spTree>
    <p:extLst>
      <p:ext uri="{BB962C8B-B14F-4D97-AF65-F5344CB8AC3E}">
        <p14:creationId xmlns:p14="http://schemas.microsoft.com/office/powerpoint/2010/main" val="40525061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lvl="1" algn="l" defTabSz="457200" rtl="0">
              <a:spcBef>
                <a:spcPct val="0"/>
              </a:spcBef>
            </a:pP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Prophylaxie</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sz="3200" dirty="0"/>
          </a:p>
        </p:txBody>
      </p:sp>
      <p:sp>
        <p:nvSpPr>
          <p:cNvPr id="3" name="Espace réservé du contenu 2"/>
          <p:cNvSpPr>
            <a:spLocks noGrp="1"/>
          </p:cNvSpPr>
          <p:nvPr>
            <p:ph idx="1"/>
          </p:nvPr>
        </p:nvSpPr>
        <p:spPr/>
        <p:txBody>
          <a:bodyPr>
            <a:normAutofit/>
          </a:bodyPr>
          <a:lstStyle/>
          <a:p>
            <a:pPr lvl="0" algn="just">
              <a:lnSpc>
                <a:spcPct val="150000"/>
              </a:lnSpc>
              <a:buFont typeface="Calibri" panose="020F0502020204030204" pitchFamily="34" charset="0"/>
              <a:buChar char="-"/>
            </a:pPr>
            <a:r>
              <a:rPr lang="fr-FR" sz="3200" dirty="0">
                <a:solidFill>
                  <a:srgbClr val="000000"/>
                </a:solidFill>
                <a:latin typeface="Tahoma" panose="020B0604030504040204" pitchFamily="34" charset="0"/>
                <a:ea typeface="Calibri" panose="020F0502020204030204" pitchFamily="34" charset="0"/>
                <a:cs typeface="Times New Roman" panose="02020603050405020304" pitchFamily="18" charset="0"/>
              </a:rPr>
              <a:t>Renforcer les mesures d'hygiène alimentaire et les mesures d'hygiène générale ;</a:t>
            </a:r>
            <a:endParaRPr lang="fr-FR" sz="32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3200" dirty="0">
                <a:solidFill>
                  <a:srgbClr val="000000"/>
                </a:solidFill>
                <a:latin typeface="Tahoma" panose="020B0604030504040204" pitchFamily="34" charset="0"/>
                <a:ea typeface="Calibri" panose="020F0502020204030204" pitchFamily="34" charset="0"/>
                <a:cs typeface="Times New Roman" panose="02020603050405020304" pitchFamily="18" charset="0"/>
              </a:rPr>
              <a:t>Dépister et traiter tous les sujets parasités pour éviter les ré-infestations de l'entourage.</a:t>
            </a:r>
            <a:endParaRPr lang="fr-FR" sz="3200" dirty="0">
              <a:ea typeface="Calibri" panose="020F0502020204030204" pitchFamily="34" charset="0"/>
              <a:cs typeface="Times New Roman" panose="02020603050405020304" pitchFamily="18" charset="0"/>
            </a:endParaRPr>
          </a:p>
          <a:p>
            <a:endParaRPr lang="fr-FR" sz="2800" dirty="0"/>
          </a:p>
        </p:txBody>
      </p:sp>
    </p:spTree>
    <p:extLst>
      <p:ext uri="{BB962C8B-B14F-4D97-AF65-F5344CB8AC3E}">
        <p14:creationId xmlns:p14="http://schemas.microsoft.com/office/powerpoint/2010/main" val="361449630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99723"/>
          </a:xfrm>
        </p:spPr>
        <p:txBody>
          <a:bodyPr>
            <a:noAutofit/>
          </a:bodyPr>
          <a:lstStyle/>
          <a:p>
            <a:pPr lvl="0" algn="ctr"/>
            <a:r>
              <a:rPr lang="fr-FR" b="1" spc="25" dirty="0">
                <a:solidFill>
                  <a:srgbClr val="FF0000"/>
                </a:solidFill>
                <a:latin typeface="Tahoma" panose="020B0604030504040204" pitchFamily="34" charset="0"/>
                <a:ea typeface="Arial Unicode MS" panose="020B0604020202020204" pitchFamily="34" charset="-128"/>
                <a:cs typeface="Times New Roman" panose="02020603050405020304" pitchFamily="18" charset="0"/>
              </a:rPr>
              <a:t>AMIBIASE</a:t>
            </a:r>
            <a:r>
              <a:rPr lang="fr-FR" dirty="0">
                <a:solidFill>
                  <a:srgbClr val="FF0000"/>
                </a:solidFill>
                <a:latin typeface="Courier New" panose="02070309020205020404" pitchFamily="49" charset="0"/>
                <a:ea typeface="Courier New" panose="02070309020205020404" pitchFamily="49" charset="0"/>
              </a:rPr>
              <a:t/>
            </a:r>
            <a:br>
              <a:rPr lang="fr-FR" dirty="0">
                <a:solidFill>
                  <a:srgbClr val="FF0000"/>
                </a:solidFill>
                <a:latin typeface="Courier New" panose="02070309020205020404" pitchFamily="49" charset="0"/>
                <a:ea typeface="Courier New" panose="02070309020205020404" pitchFamily="49" charset="0"/>
              </a:rPr>
            </a:br>
            <a:endParaRPr lang="fr-FR" dirty="0">
              <a:solidFill>
                <a:srgbClr val="FF0000"/>
              </a:solidFill>
            </a:endParaRPr>
          </a:p>
        </p:txBody>
      </p:sp>
      <p:sp>
        <p:nvSpPr>
          <p:cNvPr id="3" name="Espace réservé du contenu 2"/>
          <p:cNvSpPr>
            <a:spLocks noGrp="1"/>
          </p:cNvSpPr>
          <p:nvPr>
            <p:ph idx="1"/>
          </p:nvPr>
        </p:nvSpPr>
        <p:spPr>
          <a:xfrm>
            <a:off x="1242646" y="1523999"/>
            <a:ext cx="10261966" cy="4712677"/>
          </a:xfrm>
        </p:spPr>
        <p:txBody>
          <a:bodyPr>
            <a:normAutofit/>
          </a:bodyPr>
          <a:lstStyle/>
          <a:p>
            <a:pPr algn="just">
              <a:lnSpc>
                <a:spcPct val="150000"/>
              </a:lnSpc>
            </a:pPr>
            <a:r>
              <a:rPr lang="fr-FR" sz="2800" spc="30" dirty="0" smtClean="0">
                <a:solidFill>
                  <a:srgbClr val="000000"/>
                </a:solidFill>
                <a:latin typeface="Tahoma" panose="020B0604030504040204" pitchFamily="34" charset="0"/>
                <a:ea typeface="Times New Roman" panose="02020603050405020304" pitchFamily="18" charset="0"/>
              </a:rPr>
              <a:t>L’amibiase est une </a:t>
            </a:r>
            <a:r>
              <a:rPr lang="fr-FR" sz="2800" spc="30" dirty="0" err="1" smtClean="0">
                <a:solidFill>
                  <a:srgbClr val="000000"/>
                </a:solidFill>
                <a:latin typeface="Tahoma" panose="020B0604030504040204" pitchFamily="34" charset="0"/>
                <a:ea typeface="Times New Roman" panose="02020603050405020304" pitchFamily="18" charset="0"/>
              </a:rPr>
              <a:t>protozoose</a:t>
            </a:r>
            <a:r>
              <a:rPr lang="fr-FR" sz="2800" spc="30" dirty="0" smtClean="0">
                <a:solidFill>
                  <a:srgbClr val="000000"/>
                </a:solidFill>
                <a:latin typeface="Tahoma" panose="020B0604030504040204" pitchFamily="34" charset="0"/>
                <a:ea typeface="Times New Roman" panose="02020603050405020304" pitchFamily="18" charset="0"/>
              </a:rPr>
              <a:t> due </a:t>
            </a:r>
            <a:r>
              <a:rPr lang="fr-FR" sz="2800" spc="30" dirty="0">
                <a:solidFill>
                  <a:srgbClr val="000000"/>
                </a:solidFill>
                <a:latin typeface="Tahoma" panose="020B0604030504040204" pitchFamily="34" charset="0"/>
                <a:ea typeface="Times New Roman" panose="02020603050405020304" pitchFamily="18" charset="0"/>
              </a:rPr>
              <a:t>à </a:t>
            </a:r>
            <a:r>
              <a:rPr lang="fr-FR" sz="2800" b="1" spc="30" dirty="0">
                <a:solidFill>
                  <a:srgbClr val="000000"/>
                </a:solidFill>
                <a:latin typeface="Tahoma" panose="020B0604030504040204" pitchFamily="34" charset="0"/>
                <a:ea typeface="Times New Roman" panose="02020603050405020304" pitchFamily="18" charset="0"/>
              </a:rPr>
              <a:t>l’</a:t>
            </a:r>
            <a:r>
              <a:rPr lang="fr-FR" sz="2800" b="1" spc="30" dirty="0" err="1">
                <a:solidFill>
                  <a:srgbClr val="000000"/>
                </a:solidFill>
                <a:latin typeface="Tahoma" panose="020B0604030504040204" pitchFamily="34" charset="0"/>
                <a:ea typeface="Times New Roman" panose="02020603050405020304" pitchFamily="18" charset="0"/>
              </a:rPr>
              <a:t>Entamoeba</a:t>
            </a:r>
            <a:r>
              <a:rPr lang="fr-FR" sz="2800" b="1" spc="30" dirty="0">
                <a:solidFill>
                  <a:srgbClr val="000000"/>
                </a:solidFill>
                <a:latin typeface="Tahoma" panose="020B0604030504040204" pitchFamily="34" charset="0"/>
                <a:ea typeface="Times New Roman" panose="02020603050405020304" pitchFamily="18" charset="0"/>
              </a:rPr>
              <a:t> </a:t>
            </a:r>
            <a:r>
              <a:rPr lang="fr-FR" sz="2800" b="1" spc="30" dirty="0" err="1">
                <a:solidFill>
                  <a:srgbClr val="000000"/>
                </a:solidFill>
                <a:latin typeface="Tahoma" panose="020B0604030504040204" pitchFamily="34" charset="0"/>
                <a:ea typeface="Times New Roman" panose="02020603050405020304" pitchFamily="18" charset="0"/>
              </a:rPr>
              <a:t>histolytica</a:t>
            </a:r>
            <a:r>
              <a:rPr lang="fr-FR" sz="2800" b="1" spc="30" dirty="0">
                <a:solidFill>
                  <a:srgbClr val="000000"/>
                </a:solidFill>
                <a:latin typeface="Tahoma" panose="020B0604030504040204" pitchFamily="34" charset="0"/>
                <a:ea typeface="Times New Roman" panose="02020603050405020304" pitchFamily="18" charset="0"/>
              </a:rPr>
              <a:t> </a:t>
            </a:r>
            <a:r>
              <a:rPr lang="fr-FR" sz="2800" spc="30" dirty="0">
                <a:solidFill>
                  <a:srgbClr val="000000"/>
                </a:solidFill>
                <a:latin typeface="Tahoma" panose="020B0604030504040204" pitchFamily="34" charset="0"/>
                <a:ea typeface="Times New Roman" panose="02020603050405020304" pitchFamily="18" charset="0"/>
              </a:rPr>
              <a:t>hébergé par l'organisme humain avec ou sans manifestation </a:t>
            </a:r>
            <a:r>
              <a:rPr lang="fr-FR" sz="2800" spc="30" dirty="0" smtClean="0">
                <a:solidFill>
                  <a:srgbClr val="000000"/>
                </a:solidFill>
                <a:latin typeface="Tahoma" panose="020B0604030504040204" pitchFamily="34" charset="0"/>
                <a:ea typeface="Times New Roman" panose="02020603050405020304" pitchFamily="18" charset="0"/>
              </a:rPr>
              <a:t>clinique.</a:t>
            </a:r>
          </a:p>
          <a:p>
            <a:pPr algn="just">
              <a:lnSpc>
                <a:spcPct val="150000"/>
              </a:lnSpc>
            </a:pPr>
            <a:r>
              <a:rPr lang="fr-FR" sz="2800" spc="30" dirty="0" smtClean="0">
                <a:solidFill>
                  <a:srgbClr val="000000"/>
                </a:solidFill>
                <a:latin typeface="Tahoma" panose="020B0604030504040204" pitchFamily="34" charset="0"/>
                <a:ea typeface="Times New Roman" panose="02020603050405020304" pitchFamily="18" charset="0"/>
              </a:rPr>
              <a:t> </a:t>
            </a:r>
            <a:r>
              <a:rPr lang="fr-FR" sz="2800" spc="30" dirty="0">
                <a:solidFill>
                  <a:srgbClr val="000000"/>
                </a:solidFill>
                <a:latin typeface="Tahoma" panose="020B0604030504040204" pitchFamily="34" charset="0"/>
                <a:ea typeface="Times New Roman" panose="02020603050405020304" pitchFamily="18" charset="0"/>
              </a:rPr>
              <a:t>l'amibiase est une des parasitoses les plus répandues dans le monde. </a:t>
            </a:r>
            <a:endParaRPr lang="fr-FR" sz="2800" spc="3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30" dirty="0" smtClean="0">
                <a:solidFill>
                  <a:srgbClr val="000000"/>
                </a:solidFill>
                <a:latin typeface="Tahoma" panose="020B0604030504040204" pitchFamily="34" charset="0"/>
                <a:ea typeface="Times New Roman" panose="02020603050405020304" pitchFamily="18" charset="0"/>
              </a:rPr>
              <a:t>Elle </a:t>
            </a:r>
            <a:r>
              <a:rPr lang="fr-FR" sz="2800" spc="30" dirty="0">
                <a:solidFill>
                  <a:srgbClr val="000000"/>
                </a:solidFill>
                <a:latin typeface="Tahoma" panose="020B0604030504040204" pitchFamily="34" charset="0"/>
                <a:ea typeface="Times New Roman" panose="02020603050405020304" pitchFamily="18" charset="0"/>
              </a:rPr>
              <a:t>est responsable de manifestions coliques et hépatiques.</a:t>
            </a:r>
            <a:endParaRPr lang="fr-FR" sz="2800" spc="3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303968663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50508"/>
          </a:xfrm>
        </p:spPr>
        <p:txBody>
          <a:bodyPr/>
          <a:lstStyle/>
          <a:p>
            <a:r>
              <a:rPr lang="fr-FR" dirty="0" smtClean="0"/>
              <a:t>AMIBE</a:t>
            </a:r>
            <a:endParaRPr lang="fr-FR" dirty="0"/>
          </a:p>
        </p:txBody>
      </p:sp>
      <p:pic>
        <p:nvPicPr>
          <p:cNvPr id="1032" name="Picture 8" descr="Amibe &quot;mangeuse de cerveau&quot; : quels symptômes doivent alerter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5" y="1274618"/>
            <a:ext cx="8911687"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70436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8523" y="624110"/>
            <a:ext cx="10426089" cy="782659"/>
          </a:xfrm>
        </p:spPr>
        <p:txBody>
          <a:bodyPr>
            <a:normAutofit fontScale="90000"/>
          </a:bodyPr>
          <a:lstStyle/>
          <a:p>
            <a:pPr lvl="0" algn="ctr"/>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EPIDEMIQLOGIE</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078523" y="1406769"/>
            <a:ext cx="10426089" cy="4853354"/>
          </a:xfrm>
        </p:spPr>
        <p:txBody>
          <a:bodyPr>
            <a:normAutofit fontScale="85000" lnSpcReduction="10000"/>
          </a:bodyPr>
          <a:lstStyle/>
          <a:p>
            <a:pPr indent="-635000" algn="just">
              <a:lnSpc>
                <a:spcPct val="150000"/>
              </a:lnSpc>
              <a:spcBef>
                <a:spcPts val="1200"/>
              </a:spcBef>
            </a:pPr>
            <a:r>
              <a:rPr lang="fr-FR" sz="3300" spc="30" dirty="0">
                <a:solidFill>
                  <a:srgbClr val="000000"/>
                </a:solidFill>
                <a:latin typeface="Tahoma" panose="020B0604030504040204" pitchFamily="34" charset="0"/>
                <a:ea typeface="Times New Roman" panose="02020603050405020304" pitchFamily="18" charset="0"/>
              </a:rPr>
              <a:t>L'agent pathogène est un protozoaire: l’</a:t>
            </a:r>
            <a:r>
              <a:rPr lang="fr-FR" sz="3300" spc="30" dirty="0" err="1">
                <a:solidFill>
                  <a:srgbClr val="000000"/>
                </a:solidFill>
                <a:latin typeface="Tahoma" panose="020B0604030504040204" pitchFamily="34" charset="0"/>
                <a:ea typeface="Times New Roman" panose="02020603050405020304" pitchFamily="18" charset="0"/>
              </a:rPr>
              <a:t>entamoeba</a:t>
            </a:r>
            <a:r>
              <a:rPr lang="fr-FR" sz="3300" spc="30" dirty="0">
                <a:solidFill>
                  <a:srgbClr val="000000"/>
                </a:solidFill>
                <a:latin typeface="Tahoma" panose="020B0604030504040204" pitchFamily="34" charset="0"/>
                <a:ea typeface="Times New Roman" panose="02020603050405020304" pitchFamily="18" charset="0"/>
              </a:rPr>
              <a:t> </a:t>
            </a:r>
            <a:r>
              <a:rPr lang="fr-FR" sz="3300" spc="30" dirty="0" err="1">
                <a:solidFill>
                  <a:srgbClr val="000000"/>
                </a:solidFill>
                <a:latin typeface="Tahoma" panose="020B0604030504040204" pitchFamily="34" charset="0"/>
                <a:ea typeface="Times New Roman" panose="02020603050405020304" pitchFamily="18" charset="0"/>
              </a:rPr>
              <a:t>histolytica</a:t>
            </a:r>
            <a:r>
              <a:rPr lang="fr-FR" sz="3300" spc="30" dirty="0">
                <a:solidFill>
                  <a:srgbClr val="000000"/>
                </a:solidFill>
                <a:latin typeface="Tahoma" panose="020B0604030504040204" pitchFamily="34" charset="0"/>
                <a:ea typeface="Times New Roman" panose="02020603050405020304" pitchFamily="18" charset="0"/>
              </a:rPr>
              <a:t> qui se présente sous trois formes:</a:t>
            </a:r>
            <a:endParaRPr lang="fr-FR" sz="3300" spc="30" dirty="0">
              <a:latin typeface="Times New Roman" panose="02020603050405020304" pitchFamily="18" charset="0"/>
              <a:ea typeface="Times New Roman" panose="02020603050405020304" pitchFamily="18" charset="0"/>
            </a:endParaRPr>
          </a:p>
          <a:p>
            <a:pPr lvl="0" algn="just">
              <a:lnSpc>
                <a:spcPct val="150000"/>
              </a:lnSpc>
              <a:buFont typeface="Wingdings" panose="05000000000000000000" pitchFamily="2" charset="2"/>
              <a:buChar char=""/>
            </a:pPr>
            <a:r>
              <a:rPr lang="fr-FR" sz="3300" b="1" spc="25" dirty="0">
                <a:solidFill>
                  <a:srgbClr val="000000"/>
                </a:solidFill>
                <a:latin typeface="Tahoma" panose="020B0604030504040204" pitchFamily="34" charset="0"/>
                <a:ea typeface="Times New Roman" panose="02020603050405020304" pitchFamily="18" charset="0"/>
              </a:rPr>
              <a:t>deux formes végétatives:</a:t>
            </a:r>
            <a:endParaRPr lang="fr-FR" sz="3300" b="1" spc="25" dirty="0">
              <a:latin typeface="Times New Roman" panose="02020603050405020304" pitchFamily="18" charset="0"/>
              <a:ea typeface="Times New Roman" panose="02020603050405020304" pitchFamily="18" charset="0"/>
            </a:endParaRPr>
          </a:p>
          <a:p>
            <a:pPr lvl="0">
              <a:lnSpc>
                <a:spcPct val="150000"/>
              </a:lnSpc>
              <a:buFont typeface="Symbol" panose="05050102010706020507" pitchFamily="18" charset="2"/>
              <a:buChar char=""/>
            </a:pPr>
            <a:r>
              <a:rPr lang="fr-FR" sz="3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forme végétative minuta ou </a:t>
            </a:r>
            <a:r>
              <a:rPr lang="fr-FR" sz="33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entamoeba</a:t>
            </a:r>
            <a:r>
              <a:rPr lang="fr-FR" sz="33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3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histolytica</a:t>
            </a:r>
            <a:r>
              <a:rPr lang="fr-FR" sz="33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minuta </a:t>
            </a:r>
            <a:r>
              <a:rPr lang="fr-FR" sz="33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qui est </a:t>
            </a:r>
            <a:r>
              <a:rPr lang="fr-FR" sz="3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 saprophyte </a:t>
            </a:r>
            <a:r>
              <a:rPr lang="fr-FR" sz="33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du colon</a:t>
            </a:r>
            <a:r>
              <a:rPr lang="fr-FR" sz="3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non hématophage.</a:t>
            </a:r>
            <a:endParaRPr lang="fr-FR" sz="3300" dirty="0">
              <a:ea typeface="Times New Roman" panose="02020603050405020304" pitchFamily="18" charset="0"/>
              <a:cs typeface="Times New Roman" panose="02020603050405020304" pitchFamily="18" charset="0"/>
            </a:endParaRPr>
          </a:p>
          <a:p>
            <a:pPr lvl="0">
              <a:lnSpc>
                <a:spcPct val="150000"/>
              </a:lnSpc>
              <a:buFont typeface="Symbol" panose="05050102010706020507" pitchFamily="18" charset="2"/>
              <a:buChar char=""/>
            </a:pPr>
            <a:r>
              <a:rPr lang="fr-FR" sz="3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forme végétative </a:t>
            </a:r>
            <a:r>
              <a:rPr lang="fr-FR" sz="3300"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histolytica</a:t>
            </a:r>
            <a:r>
              <a:rPr lang="fr-FR" sz="3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ou </a:t>
            </a:r>
            <a:r>
              <a:rPr lang="fr-FR" sz="33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Entamoeba</a:t>
            </a:r>
            <a:r>
              <a:rPr lang="fr-FR" sz="33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300" dirty="0" err="1"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Histolytica</a:t>
            </a:r>
            <a:r>
              <a:rPr lang="fr-FR" sz="33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(EHH</a:t>
            </a:r>
            <a:r>
              <a:rPr lang="fr-FR" sz="3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33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qui est la forme </a:t>
            </a:r>
            <a:r>
              <a:rPr lang="fr-FR" sz="330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pathogène, hématophage.</a:t>
            </a:r>
            <a:endParaRPr lang="fr-FR" sz="3300" dirty="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60785976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937846" y="515814"/>
            <a:ext cx="10590212" cy="5439507"/>
          </a:xfrm>
        </p:spPr>
        <p:txBody>
          <a:bodyPr>
            <a:noAutofit/>
          </a:bodyPr>
          <a:lstStyle/>
          <a:p>
            <a:pPr lvl="0">
              <a:lnSpc>
                <a:spcPct val="150000"/>
              </a:lnSpc>
              <a:buFont typeface="Wingdings" panose="05000000000000000000" pitchFamily="2" charset="2"/>
              <a:buChar char=""/>
            </a:pPr>
            <a:r>
              <a:rPr lang="fr-FR" sz="2800" dirty="0">
                <a:solidFill>
                  <a:srgbClr val="000000"/>
                </a:solidFill>
                <a:latin typeface="Tahoma" panose="020B0604030504040204" pitchFamily="34" charset="0"/>
              </a:rPr>
              <a:t>une forme Kystique </a:t>
            </a:r>
            <a:r>
              <a:rPr lang="fr-FR" sz="2800" dirty="0" smtClean="0">
                <a:solidFill>
                  <a:srgbClr val="000000"/>
                </a:solidFill>
                <a:latin typeface="Tahoma" panose="020B0604030504040204" pitchFamily="34" charset="0"/>
              </a:rPr>
              <a:t>d'</a:t>
            </a:r>
            <a:r>
              <a:rPr lang="fr-FR" sz="2800" dirty="0" err="1" smtClean="0">
                <a:solidFill>
                  <a:srgbClr val="000000"/>
                </a:solidFill>
                <a:latin typeface="Tahoma" panose="020B0604030504040204" pitchFamily="34" charset="0"/>
              </a:rPr>
              <a:t>Entamoeba</a:t>
            </a:r>
            <a:r>
              <a:rPr lang="fr-FR" sz="2800" dirty="0" smtClean="0">
                <a:solidFill>
                  <a:srgbClr val="000000"/>
                </a:solidFill>
                <a:latin typeface="Tahoma" panose="020B0604030504040204" pitchFamily="34" charset="0"/>
              </a:rPr>
              <a:t> </a:t>
            </a:r>
            <a:r>
              <a:rPr lang="fr-FR" sz="2800" dirty="0" err="1" smtClean="0">
                <a:solidFill>
                  <a:srgbClr val="000000"/>
                </a:solidFill>
                <a:latin typeface="Tahoma" panose="020B0604030504040204" pitchFamily="34" charset="0"/>
              </a:rPr>
              <a:t>Histolytica</a:t>
            </a:r>
            <a:r>
              <a:rPr lang="fr-FR" sz="2800" dirty="0" smtClean="0">
                <a:solidFill>
                  <a:srgbClr val="000000"/>
                </a:solidFill>
                <a:latin typeface="Tahoma" panose="020B0604030504040204" pitchFamily="34" charset="0"/>
              </a:rPr>
              <a:t> </a:t>
            </a:r>
            <a:r>
              <a:rPr lang="fr-FR" sz="2800" dirty="0">
                <a:solidFill>
                  <a:srgbClr val="000000"/>
                </a:solidFill>
                <a:latin typeface="Tahoma" panose="020B0604030504040204" pitchFamily="34" charset="0"/>
              </a:rPr>
              <a:t>(KEH)est la forme de résistance dans le milieu extérieur (survie 15 jours dans l'eau à 25°C).</a:t>
            </a:r>
            <a:endParaRPr lang="fr-FR" sz="2800" dirty="0"/>
          </a:p>
          <a:p>
            <a:pPr marL="457200">
              <a:lnSpc>
                <a:spcPct val="150000"/>
              </a:lnSpc>
            </a:pPr>
            <a:r>
              <a:rPr lang="fr-FR" sz="2800" dirty="0">
                <a:solidFill>
                  <a:srgbClr val="000000"/>
                </a:solidFill>
                <a:latin typeface="Tahoma" panose="020B0604030504040204" pitchFamily="34" charset="0"/>
              </a:rPr>
              <a:t>Elle est infectieuse et peut être détruite par la cuisson.</a:t>
            </a:r>
            <a:endParaRPr lang="fr-FR" sz="2800" dirty="0"/>
          </a:p>
          <a:p>
            <a:pPr>
              <a:lnSpc>
                <a:spcPct val="150000"/>
              </a:lnSpc>
            </a:pPr>
            <a:r>
              <a:rPr lang="fr-FR" sz="2800" dirty="0">
                <a:solidFill>
                  <a:srgbClr val="000000"/>
                </a:solidFill>
                <a:latin typeface="Tahoma" panose="020B0604030504040204" pitchFamily="34" charset="0"/>
              </a:rPr>
              <a:t>L'homme est l'unique réservoir du parasite (porteur sain qui n’a jamais eu les signes cliniques ou les convalescents d'une amibiase aigue.</a:t>
            </a:r>
            <a:endParaRPr lang="fr-FR" sz="2800" dirty="0"/>
          </a:p>
          <a:p>
            <a:pPr>
              <a:lnSpc>
                <a:spcPct val="150000"/>
              </a:lnSpc>
            </a:pPr>
            <a:r>
              <a:rPr lang="fr-FR" sz="2800" dirty="0">
                <a:solidFill>
                  <a:srgbClr val="000000"/>
                </a:solidFill>
                <a:latin typeface="Tahoma" panose="020B0604030504040204" pitchFamily="34" charset="0"/>
              </a:rPr>
              <a:t>La transmission est interhumaine directe (mains sales) ou indirecte (eau de boisson et aliments crus souillés-mouches).</a:t>
            </a:r>
            <a:endParaRPr lang="fr-FR" sz="2800" dirty="0"/>
          </a:p>
          <a:p>
            <a:endParaRPr lang="fr-FR" sz="2800" dirty="0"/>
          </a:p>
        </p:txBody>
      </p:sp>
    </p:spTree>
    <p:extLst>
      <p:ext uri="{BB962C8B-B14F-4D97-AF65-F5344CB8AC3E}">
        <p14:creationId xmlns:p14="http://schemas.microsoft.com/office/powerpoint/2010/main" val="200474397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42756"/>
            <a:ext cx="8911687" cy="712321"/>
          </a:xfrm>
        </p:spPr>
        <p:txBody>
          <a:bodyPr>
            <a:normAutofit fontScale="90000"/>
          </a:bodyPr>
          <a:lstStyle/>
          <a:p>
            <a:pPr lvl="0" algn="ctr"/>
            <a:r>
              <a:rPr lang="fr-FR"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CYCLE PARASITAIRE</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984738" y="1055077"/>
            <a:ext cx="10519874" cy="5369169"/>
          </a:xfrm>
        </p:spPr>
        <p:txBody>
          <a:bodyPr>
            <a:noAutofit/>
          </a:bodyPr>
          <a:lstStyle/>
          <a:p>
            <a:pPr>
              <a:lnSpc>
                <a:spcPct val="150000"/>
              </a:lnSpc>
            </a:pPr>
            <a:r>
              <a:rPr lang="fr-FR" sz="2800" dirty="0">
                <a:solidFill>
                  <a:srgbClr val="000000"/>
                </a:solidFill>
                <a:latin typeface="Tahoma" panose="020B0604030504040204" pitchFamily="34" charset="0"/>
              </a:rPr>
              <a:t>Le cycle évolutif de l'amibiase comprend </a:t>
            </a:r>
            <a:r>
              <a:rPr lang="fr-FR" sz="2800" dirty="0" smtClean="0">
                <a:solidFill>
                  <a:srgbClr val="000000"/>
                </a:solidFill>
                <a:latin typeface="Tahoma" panose="020B0604030504040204" pitchFamily="34" charset="0"/>
              </a:rPr>
              <a:t>2 étapes distinctes</a:t>
            </a:r>
            <a:r>
              <a:rPr lang="fr-FR" sz="2800" dirty="0">
                <a:solidFill>
                  <a:srgbClr val="000000"/>
                </a:solidFill>
                <a:latin typeface="Tahoma" panose="020B0604030504040204" pitchFamily="34" charset="0"/>
              </a:rPr>
              <a:t>.</a:t>
            </a:r>
            <a:endParaRPr lang="fr-FR" sz="2800" dirty="0"/>
          </a:p>
          <a:p>
            <a:pPr>
              <a:lnSpc>
                <a:spcPct val="150000"/>
              </a:lnSpc>
            </a:pPr>
            <a:r>
              <a:rPr lang="fr-FR" sz="2800" dirty="0">
                <a:solidFill>
                  <a:srgbClr val="000000"/>
                </a:solidFill>
                <a:latin typeface="Tahoma" panose="020B0604030504040204" pitchFamily="34" charset="0"/>
              </a:rPr>
              <a:t>Le cycle non pathogène est </a:t>
            </a:r>
            <a:r>
              <a:rPr lang="fr-FR" sz="2800" dirty="0" smtClean="0">
                <a:solidFill>
                  <a:srgbClr val="000000"/>
                </a:solidFill>
                <a:latin typeface="Tahoma" panose="020B0604030504040204" pitchFamily="34" charset="0"/>
              </a:rPr>
              <a:t>le </a:t>
            </a:r>
            <a:r>
              <a:rPr lang="fr-FR" sz="2800" dirty="0">
                <a:solidFill>
                  <a:srgbClr val="000000"/>
                </a:solidFill>
                <a:latin typeface="Tahoma" panose="020B0604030504040204" pitchFamily="34" charset="0"/>
              </a:rPr>
              <a:t>plus courant. Le sujet avale des kystes avec des crudités ou de l'eau. Ceux-ci, dans le tube digestif, se transforment en </a:t>
            </a:r>
            <a:r>
              <a:rPr lang="fr-FR" sz="2800" dirty="0" err="1">
                <a:solidFill>
                  <a:srgbClr val="000000"/>
                </a:solidFill>
                <a:latin typeface="Tahoma" panose="020B0604030504040204" pitchFamily="34" charset="0"/>
              </a:rPr>
              <a:t>amoebules</a:t>
            </a:r>
            <a:r>
              <a:rPr lang="fr-FR" sz="2800" dirty="0">
                <a:solidFill>
                  <a:srgbClr val="000000"/>
                </a:solidFill>
                <a:latin typeface="Tahoma" panose="020B0604030504040204" pitchFamily="34" charset="0"/>
              </a:rPr>
              <a:t> puis en forme minuta</a:t>
            </a:r>
            <a:r>
              <a:rPr lang="fr-FR" sz="2800" dirty="0" smtClean="0">
                <a:solidFill>
                  <a:srgbClr val="000000"/>
                </a:solidFill>
                <a:latin typeface="Tahoma" panose="020B0604030504040204" pitchFamily="34" charset="0"/>
              </a:rPr>
              <a:t>.</a:t>
            </a:r>
          </a:p>
          <a:p>
            <a:pPr>
              <a:lnSpc>
                <a:spcPct val="150000"/>
              </a:lnSpc>
            </a:pPr>
            <a:r>
              <a:rPr lang="fr-FR" sz="2800" dirty="0" smtClean="0">
                <a:solidFill>
                  <a:srgbClr val="000000"/>
                </a:solidFill>
                <a:latin typeface="Tahoma" panose="020B0604030504040204" pitchFamily="34" charset="0"/>
              </a:rPr>
              <a:t> </a:t>
            </a:r>
            <a:r>
              <a:rPr lang="fr-FR" sz="2800" dirty="0">
                <a:solidFill>
                  <a:srgbClr val="000000"/>
                </a:solidFill>
                <a:latin typeface="Tahoma" panose="020B0604030504040204" pitchFamily="34" charset="0"/>
              </a:rPr>
              <a:t>Ces dernières se nourrissent de résidus </a:t>
            </a:r>
            <a:r>
              <a:rPr lang="fr-FR" sz="2800" dirty="0" smtClean="0">
                <a:solidFill>
                  <a:srgbClr val="000000"/>
                </a:solidFill>
                <a:latin typeface="Tahoma" panose="020B0604030504040204" pitchFamily="34" charset="0"/>
              </a:rPr>
              <a:t>alimentaires, </a:t>
            </a:r>
            <a:r>
              <a:rPr lang="fr-FR" sz="2800" dirty="0">
                <a:solidFill>
                  <a:srgbClr val="000000"/>
                </a:solidFill>
                <a:latin typeface="Tahoma" panose="020B0604030504040204" pitchFamily="34" charset="0"/>
              </a:rPr>
              <a:t>se multiplient, puis s'enkystent et sont éliminées: kystes à 1, 2 ou 4 noyaux). Le sujet est asymptomatique, mais dissémine la maladie.</a:t>
            </a:r>
            <a:endParaRPr lang="fr-FR" sz="2800" dirty="0"/>
          </a:p>
          <a:p>
            <a:endParaRPr lang="fr-FR" sz="2800" dirty="0"/>
          </a:p>
        </p:txBody>
      </p:sp>
    </p:spTree>
    <p:extLst>
      <p:ext uri="{BB962C8B-B14F-4D97-AF65-F5344CB8AC3E}">
        <p14:creationId xmlns:p14="http://schemas.microsoft.com/office/powerpoint/2010/main" val="251989409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73723" y="679937"/>
            <a:ext cx="10730889" cy="5814647"/>
          </a:xfrm>
        </p:spPr>
        <p:txBody>
          <a:bodyPr>
            <a:normAutofit/>
          </a:bodyPr>
          <a:lstStyle/>
          <a:p>
            <a:pPr algn="just">
              <a:lnSpc>
                <a:spcPct val="150000"/>
              </a:lnSpc>
            </a:pPr>
            <a:r>
              <a:rPr lang="fr-FR" sz="2800" spc="30" dirty="0">
                <a:solidFill>
                  <a:srgbClr val="000000"/>
                </a:solidFill>
                <a:latin typeface="Tahoma" panose="020B0604030504040204" pitchFamily="34" charset="0"/>
                <a:ea typeface="Times New Roman" panose="02020603050405020304" pitchFamily="18" charset="0"/>
              </a:rPr>
              <a:t>Le cycle pathogène débute par une transformation des formes minuta en formes </a:t>
            </a:r>
            <a:r>
              <a:rPr lang="fr-FR" sz="2800" spc="30" dirty="0" err="1">
                <a:solidFill>
                  <a:srgbClr val="000000"/>
                </a:solidFill>
                <a:latin typeface="Tahoma" panose="020B0604030504040204" pitchFamily="34" charset="0"/>
                <a:ea typeface="Times New Roman" panose="02020603050405020304" pitchFamily="18" charset="0"/>
              </a:rPr>
              <a:t>histolytica</a:t>
            </a:r>
            <a:r>
              <a:rPr lang="fr-FR" sz="2800" spc="30" dirty="0">
                <a:solidFill>
                  <a:srgbClr val="000000"/>
                </a:solidFill>
                <a:latin typeface="Tahoma" panose="020B0604030504040204" pitchFamily="34" charset="0"/>
                <a:ea typeface="Times New Roman" panose="02020603050405020304" pitchFamily="18" charset="0"/>
              </a:rPr>
              <a:t>, sous </a:t>
            </a:r>
            <a:r>
              <a:rPr lang="fr-FR" sz="2800" spc="30" dirty="0" smtClean="0">
                <a:solidFill>
                  <a:srgbClr val="000000"/>
                </a:solidFill>
                <a:latin typeface="Tahoma" panose="020B0604030504040204" pitchFamily="34" charset="0"/>
                <a:ea typeface="Times New Roman" panose="02020603050405020304" pitchFamily="18" charset="0"/>
              </a:rPr>
              <a:t>diverses influences (</a:t>
            </a:r>
            <a:r>
              <a:rPr lang="fr-FR" sz="2800" spc="30" dirty="0">
                <a:solidFill>
                  <a:srgbClr val="000000"/>
                </a:solidFill>
                <a:latin typeface="Tahoma" panose="020B0604030504040204" pitchFamily="34" charset="0"/>
                <a:ea typeface="Times New Roman" panose="02020603050405020304" pitchFamily="18" charset="0"/>
              </a:rPr>
              <a:t>altération de l'état général, agressions coliques). Les amibes devenues ainsi agressives, phagocytent des hématies, pénètrent dans la muqueuse colique en provoquant des abcès en « bouton de chemise », qui vont secondairement s'ouvrir par des ulcérations avec rupture des capillaires sanguins</a:t>
            </a:r>
            <a:r>
              <a:rPr lang="fr-FR" sz="2800" spc="30" dirty="0" smtClean="0">
                <a:solidFill>
                  <a:srgbClr val="000000"/>
                </a:solidFill>
                <a:latin typeface="Tahoma" panose="020B0604030504040204" pitchFamily="34" charset="0"/>
                <a:ea typeface="Times New Roman" panose="02020603050405020304" pitchFamily="18" charset="0"/>
              </a:rPr>
              <a:t>.</a:t>
            </a:r>
          </a:p>
          <a:p>
            <a:pPr marL="0" indent="0" algn="just">
              <a:buNone/>
            </a:pPr>
            <a:endParaRPr lang="fr-FR" sz="2800" dirty="0"/>
          </a:p>
        </p:txBody>
      </p:sp>
    </p:spTree>
    <p:extLst>
      <p:ext uri="{BB962C8B-B14F-4D97-AF65-F5344CB8AC3E}">
        <p14:creationId xmlns:p14="http://schemas.microsoft.com/office/powerpoint/2010/main" val="30523172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95754" y="1078523"/>
            <a:ext cx="10308858" cy="4832699"/>
          </a:xfrm>
        </p:spPr>
        <p:txBody>
          <a:bodyPr>
            <a:normAutofit/>
          </a:bodyPr>
          <a:lstStyle/>
          <a:p>
            <a:pPr algn="just">
              <a:lnSpc>
                <a:spcPct val="150000"/>
              </a:lnSpc>
            </a:pPr>
            <a:r>
              <a:rPr lang="fr-FR" sz="2800" spc="30" dirty="0">
                <a:solidFill>
                  <a:srgbClr val="000000"/>
                </a:solidFill>
                <a:latin typeface="Tahoma" panose="020B0604030504040204" pitchFamily="34" charset="0"/>
                <a:ea typeface="Times New Roman" panose="02020603050405020304" pitchFamily="18" charset="0"/>
              </a:rPr>
              <a:t>Par ailleurs, le péristaltisme intestinal s'accélère et les cellules à mucus secrètent en abondance. Les amibes hématophages sont entraînées et éliminées avec les selles diarrhéiques. Certaines amibes gagnent soit par la contiguïté, soit par la circulation sanguine d'autres organes (foie, poumons, etc.).</a:t>
            </a:r>
            <a:endParaRPr lang="fr-FR" sz="2800" spc="30" dirty="0">
              <a:latin typeface="Times New Roman" panose="02020603050405020304" pitchFamily="18" charset="0"/>
              <a:ea typeface="Times New Roman" panose="02020603050405020304" pitchFamily="18" charset="0"/>
            </a:endParaRPr>
          </a:p>
          <a:p>
            <a:endParaRPr lang="fr-FR" dirty="0"/>
          </a:p>
          <a:p>
            <a:endParaRPr lang="fr-FR" dirty="0"/>
          </a:p>
        </p:txBody>
      </p:sp>
    </p:spTree>
    <p:extLst>
      <p:ext uri="{BB962C8B-B14F-4D97-AF65-F5344CB8AC3E}">
        <p14:creationId xmlns:p14="http://schemas.microsoft.com/office/powerpoint/2010/main" val="304714730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66202"/>
            <a:ext cx="8911687" cy="665428"/>
          </a:xfrm>
        </p:spPr>
        <p:txBody>
          <a:bodyPr>
            <a:normAutofit fontScale="90000"/>
          </a:bodyPr>
          <a:lstStyle/>
          <a:p>
            <a:pPr lvl="0"/>
            <a:r>
              <a:rPr lang="fr-FR"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FORMES CLINIQUES DE L’AMIBIASE</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172308" y="1031630"/>
            <a:ext cx="10332304" cy="4970585"/>
          </a:xfrm>
        </p:spPr>
        <p:txBody>
          <a:bodyPr>
            <a:noAutofit/>
          </a:bodyPr>
          <a:lstStyle/>
          <a:p>
            <a:pPr marL="342900" lvl="1" indent="-342900"/>
            <a:r>
              <a:rPr lang="fr-FR" sz="2400" b="1" dirty="0">
                <a:solidFill>
                  <a:srgbClr val="000000"/>
                </a:solidFill>
                <a:latin typeface="Tahoma" panose="020B0604030504040204" pitchFamily="34" charset="0"/>
                <a:ea typeface="Calibri" panose="020F0502020204030204" pitchFamily="34" charset="0"/>
              </a:rPr>
              <a:t>Signes </a:t>
            </a:r>
            <a:r>
              <a:rPr lang="fr-FR" sz="2400" b="1" dirty="0" smtClean="0">
                <a:solidFill>
                  <a:srgbClr val="000000"/>
                </a:solidFill>
                <a:latin typeface="Tahoma" panose="020B0604030504040204" pitchFamily="34" charset="0"/>
                <a:ea typeface="Calibri" panose="020F0502020204030204" pitchFamily="34" charset="0"/>
              </a:rPr>
              <a:t>cliniques de la forme aigue l’a</a:t>
            </a:r>
            <a:r>
              <a:rPr lang="fr-FR" sz="24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mibiase </a:t>
            </a:r>
            <a:r>
              <a:rPr lang="fr-FR" sz="24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intestinale</a:t>
            </a:r>
            <a:endParaRPr lang="fr-FR" sz="2400" dirty="0">
              <a:solidFill>
                <a:srgbClr val="000000"/>
              </a:solidFill>
              <a:latin typeface="Courier New" panose="02070309020205020404" pitchFamily="49" charset="0"/>
              <a:ea typeface="Calibri" panose="020F0502020204030204" pitchFamily="34" charset="0"/>
            </a:endParaRPr>
          </a:p>
          <a:p>
            <a:pPr algn="just">
              <a:lnSpc>
                <a:spcPct val="150000"/>
              </a:lnSpc>
            </a:pPr>
            <a:r>
              <a:rPr lang="fr-FR" sz="2800" dirty="0">
                <a:solidFill>
                  <a:srgbClr val="000000"/>
                </a:solidFill>
                <a:latin typeface="Tahoma" panose="020B0604030504040204" pitchFamily="34" charset="0"/>
              </a:rPr>
              <a:t>Le début est brusque et réalise un syndrome dysentérique aigu fait de 8 à 10 selles fécales, contenant des glaires, du pus et du sang (crachats dysentériques). </a:t>
            </a:r>
            <a:endParaRPr lang="fr-FR" sz="2800" dirty="0" smtClean="0">
              <a:solidFill>
                <a:srgbClr val="000000"/>
              </a:solidFill>
              <a:latin typeface="Tahoma" panose="020B0604030504040204" pitchFamily="34" charset="0"/>
            </a:endParaRPr>
          </a:p>
          <a:p>
            <a:pPr algn="just">
              <a:lnSpc>
                <a:spcPct val="150000"/>
              </a:lnSpc>
            </a:pPr>
            <a:r>
              <a:rPr lang="fr-FR" sz="2800" dirty="0" smtClean="0">
                <a:solidFill>
                  <a:srgbClr val="000000"/>
                </a:solidFill>
                <a:latin typeface="Tahoma" panose="020B0604030504040204" pitchFamily="34" charset="0"/>
              </a:rPr>
              <a:t>Il </a:t>
            </a:r>
            <a:r>
              <a:rPr lang="fr-FR" sz="2800" dirty="0">
                <a:solidFill>
                  <a:srgbClr val="000000"/>
                </a:solidFill>
                <a:latin typeface="Tahoma" panose="020B0604030504040204" pitchFamily="34" charset="0"/>
              </a:rPr>
              <a:t>s'accompagne de douleurs abdominales sur tout au niveau du cadre colique, d'épreintes et de ténesmes(contractures douloureuses du sphincter anal avec faux besoins).</a:t>
            </a:r>
            <a:endParaRPr lang="fr-FR" sz="2800" dirty="0"/>
          </a:p>
          <a:p>
            <a:endParaRPr lang="fr-FR" sz="1400" dirty="0"/>
          </a:p>
        </p:txBody>
      </p:sp>
    </p:spTree>
    <p:extLst>
      <p:ext uri="{BB962C8B-B14F-4D97-AF65-F5344CB8AC3E}">
        <p14:creationId xmlns:p14="http://schemas.microsoft.com/office/powerpoint/2010/main" val="66105273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984738" y="515815"/>
            <a:ext cx="10738339" cy="5931877"/>
          </a:xfrm>
        </p:spPr>
        <p:txBody>
          <a:bodyPr>
            <a:normAutofit fontScale="92500"/>
          </a:bodyPr>
          <a:lstStyle/>
          <a:p>
            <a:pPr marL="1371600" lvl="3" indent="0" algn="just">
              <a:lnSpc>
                <a:spcPct val="150000"/>
              </a:lnSpc>
              <a:buNone/>
              <a:tabLst>
                <a:tab pos="630555" algn="l"/>
              </a:tabLst>
            </a:pPr>
            <a:endParaRPr lang="fr-FR" sz="100" u="sng" spc="-15" dirty="0" smtClean="0">
              <a:solidFill>
                <a:srgbClr val="000000"/>
              </a:solidFill>
              <a:latin typeface="Tahoma" panose="020B0604030504040204" pitchFamily="34" charset="0"/>
              <a:ea typeface="Calibri" panose="020F0502020204030204" pitchFamily="34" charset="0"/>
            </a:endParaRPr>
          </a:p>
          <a:p>
            <a:pPr algn="just">
              <a:lnSpc>
                <a:spcPct val="150000"/>
              </a:lnSpc>
            </a:pPr>
            <a:r>
              <a:rPr lang="fr-FR" sz="2800" dirty="0" smtClean="0">
                <a:solidFill>
                  <a:srgbClr val="000000"/>
                </a:solidFill>
                <a:latin typeface="Tahoma" panose="020B0604030504040204" pitchFamily="34" charset="0"/>
              </a:rPr>
              <a:t> traitement mis en œuvre rapidement, la guérison survient en quelques jours, sans séquelles. Mal traitée, des rechutes ou récidives sont fréquentes avec un risque de  chronicité.</a:t>
            </a:r>
            <a:endParaRPr lang="fr-FR" sz="2800" dirty="0" smtClean="0"/>
          </a:p>
          <a:p>
            <a:pPr marL="1371600" lvl="3" indent="0" algn="just">
              <a:lnSpc>
                <a:spcPct val="150000"/>
              </a:lnSpc>
              <a:buNone/>
              <a:tabLst>
                <a:tab pos="630555" algn="l"/>
              </a:tabLst>
            </a:pPr>
            <a:r>
              <a:rPr lang="fr-FR" sz="2800" b="1" dirty="0" smtClean="0">
                <a:solidFill>
                  <a:srgbClr val="000000"/>
                </a:solidFill>
                <a:latin typeface="Arial" panose="020B0604020202020204" pitchFamily="34" charset="0"/>
                <a:ea typeface="Calibri" panose="020F0502020204030204" pitchFamily="34" charset="0"/>
                <a:cs typeface="Arial" panose="020B0604020202020204" pitchFamily="34" charset="0"/>
              </a:rPr>
              <a:t>Signes cliniques de l</a:t>
            </a:r>
            <a:r>
              <a:rPr lang="fr-FR" sz="2800" b="1" spc="-15" dirty="0" smtClean="0">
                <a:solidFill>
                  <a:srgbClr val="000000"/>
                </a:solidFill>
                <a:latin typeface="Arial" panose="020B0604020202020204" pitchFamily="34" charset="0"/>
                <a:ea typeface="Calibri" panose="020F0502020204030204" pitchFamily="34" charset="0"/>
                <a:cs typeface="Arial" panose="020B0604020202020204" pitchFamily="34" charset="0"/>
              </a:rPr>
              <a:t>a </a:t>
            </a:r>
            <a:r>
              <a:rPr lang="fr-FR" sz="2800" b="1" spc="-15" dirty="0">
                <a:solidFill>
                  <a:srgbClr val="000000"/>
                </a:solidFill>
                <a:latin typeface="Arial" panose="020B0604020202020204" pitchFamily="34" charset="0"/>
                <a:ea typeface="Calibri" panose="020F0502020204030204" pitchFamily="34" charset="0"/>
                <a:cs typeface="Arial" panose="020B0604020202020204" pitchFamily="34" charset="0"/>
              </a:rPr>
              <a:t>forme chronique</a:t>
            </a:r>
            <a:endParaRPr lang="fr-FR" sz="2800" b="1" spc="-15" dirty="0">
              <a:latin typeface="Arial" panose="020B0604020202020204" pitchFamily="34" charset="0"/>
              <a:ea typeface="Calibri" panose="020F0502020204030204" pitchFamily="34" charset="0"/>
              <a:cs typeface="Arial" panose="020B0604020202020204" pitchFamily="34" charset="0"/>
            </a:endParaRPr>
          </a:p>
          <a:p>
            <a:pPr marL="0" indent="0" algn="just">
              <a:lnSpc>
                <a:spcPct val="150000"/>
              </a:lnSpc>
              <a:spcBef>
                <a:spcPts val="300"/>
              </a:spcBef>
              <a:buNone/>
            </a:pPr>
            <a:r>
              <a:rPr lang="fr-FR" sz="2800" spc="10" dirty="0" smtClean="0">
                <a:solidFill>
                  <a:schemeClr val="tx1"/>
                </a:solidFill>
                <a:latin typeface="Tahoma" panose="020B0604030504040204" pitchFamily="34" charset="0"/>
                <a:ea typeface="Times New Roman" panose="02020603050405020304" pitchFamily="18" charset="0"/>
              </a:rPr>
              <a:t>La forme chronique se manifeste par </a:t>
            </a:r>
            <a:r>
              <a:rPr lang="fr-FR" sz="2800" spc="10" dirty="0">
                <a:solidFill>
                  <a:schemeClr val="tx1"/>
                </a:solidFill>
                <a:latin typeface="Tahoma" panose="020B0604030504040204" pitchFamily="34" charset="0"/>
                <a:ea typeface="Times New Roman" panose="02020603050405020304" pitchFamily="18" charset="0"/>
              </a:rPr>
              <a:t>des troubles du transit intestinal avec </a:t>
            </a:r>
            <a:r>
              <a:rPr lang="fr-FR" sz="2800" spc="10" dirty="0" smtClean="0">
                <a:solidFill>
                  <a:schemeClr val="tx1"/>
                </a:solidFill>
                <a:latin typeface="Tahoma" panose="020B0604030504040204" pitchFamily="34" charset="0"/>
                <a:ea typeface="Times New Roman" panose="02020603050405020304" pitchFamily="18" charset="0"/>
              </a:rPr>
              <a:t>alternance </a:t>
            </a:r>
            <a:r>
              <a:rPr lang="fr-FR" sz="2800" spc="10" dirty="0">
                <a:solidFill>
                  <a:schemeClr val="tx1"/>
                </a:solidFill>
                <a:latin typeface="Tahoma" panose="020B0604030504040204" pitchFamily="34" charset="0"/>
                <a:ea typeface="Times New Roman" panose="02020603050405020304" pitchFamily="18" charset="0"/>
              </a:rPr>
              <a:t>de syndrome dysentérique et ou de constipation</a:t>
            </a:r>
            <a:r>
              <a:rPr lang="fr-FR" sz="2800" spc="10" dirty="0" smtClean="0">
                <a:solidFill>
                  <a:schemeClr val="tx1"/>
                </a:solidFill>
                <a:latin typeface="Tahoma" panose="020B0604030504040204" pitchFamily="34" charset="0"/>
                <a:ea typeface="Times New Roman" panose="02020603050405020304" pitchFamily="18" charset="0"/>
              </a:rPr>
              <a:t>.</a:t>
            </a:r>
          </a:p>
          <a:p>
            <a:pPr algn="just">
              <a:lnSpc>
                <a:spcPct val="150000"/>
              </a:lnSpc>
              <a:spcBef>
                <a:spcPts val="300"/>
              </a:spcBef>
            </a:pPr>
            <a:r>
              <a:rPr lang="fr-FR" sz="2800" b="1" spc="10" dirty="0" smtClean="0">
                <a:solidFill>
                  <a:srgbClr val="C00000"/>
                </a:solidFill>
                <a:latin typeface="Tahoma" panose="020B0604030504040204" pitchFamily="34" charset="0"/>
                <a:ea typeface="Times New Roman" panose="02020603050405020304" pitchFamily="18" charset="0"/>
              </a:rPr>
              <a:t>Le diagnostic de l’amibiase </a:t>
            </a:r>
            <a:r>
              <a:rPr lang="fr-FR" sz="2800" b="1" dirty="0">
                <a:solidFill>
                  <a:srgbClr val="C00000"/>
                </a:solidFill>
                <a:latin typeface="Tahoma" panose="020B0604030504040204" pitchFamily="34" charset="0"/>
                <a:ea typeface="Courier New" panose="02070309020205020404" pitchFamily="49" charset="0"/>
              </a:rPr>
              <a:t>repose sur la mise en évidence des EHH dans les selles </a:t>
            </a:r>
            <a:r>
              <a:rPr lang="fr-FR" sz="2800" b="1" dirty="0" smtClean="0">
                <a:solidFill>
                  <a:srgbClr val="C00000"/>
                </a:solidFill>
                <a:latin typeface="Tahoma" panose="020B0604030504040204" pitchFamily="34" charset="0"/>
                <a:ea typeface="Courier New" panose="02070309020205020404" pitchFamily="49" charset="0"/>
              </a:rPr>
              <a:t>fraiches ou dans certains cas à partir d’une rectoscopie ou une </a:t>
            </a:r>
            <a:r>
              <a:rPr lang="fr-FR" sz="2800" b="1" dirty="0" err="1" smtClean="0">
                <a:solidFill>
                  <a:srgbClr val="C00000"/>
                </a:solidFill>
                <a:latin typeface="Tahoma" panose="020B0604030504040204" pitchFamily="34" charset="0"/>
                <a:ea typeface="Courier New" panose="02070309020205020404" pitchFamily="49" charset="0"/>
              </a:rPr>
              <a:t>rectosigmoïdoscopie</a:t>
            </a:r>
            <a:endParaRPr lang="fr-FR" sz="2800" b="1" spc="10" dirty="0" smtClean="0">
              <a:solidFill>
                <a:srgbClr val="C00000"/>
              </a:solidFill>
              <a:latin typeface="Tahoma" panose="020B0604030504040204" pitchFamily="34" charset="0"/>
              <a:ea typeface="Times New Roman" panose="02020603050405020304" pitchFamily="18" charset="0"/>
            </a:endParaRPr>
          </a:p>
          <a:p>
            <a:pPr marL="0" indent="0" algn="just">
              <a:lnSpc>
                <a:spcPct val="150000"/>
              </a:lnSpc>
              <a:spcBef>
                <a:spcPts val="300"/>
              </a:spcBef>
              <a:buNone/>
            </a:pPr>
            <a:endParaRPr lang="fr-FR" sz="2800" spc="10" dirty="0">
              <a:solidFill>
                <a:srgbClr val="7030A0"/>
              </a:solidFill>
              <a:latin typeface="Times New Roman" panose="02020603050405020304" pitchFamily="18" charset="0"/>
              <a:ea typeface="Times New Roman" panose="02020603050405020304" pitchFamily="18" charset="0"/>
            </a:endParaRPr>
          </a:p>
          <a:p>
            <a:pPr algn="just"/>
            <a:endParaRPr lang="fr-FR" sz="2800" b="1" dirty="0">
              <a:solidFill>
                <a:srgbClr val="7030A0"/>
              </a:solidFill>
            </a:endParaRPr>
          </a:p>
        </p:txBody>
      </p:sp>
    </p:spTree>
    <p:extLst>
      <p:ext uri="{BB962C8B-B14F-4D97-AF65-F5344CB8AC3E}">
        <p14:creationId xmlns:p14="http://schemas.microsoft.com/office/powerpoint/2010/main" val="212149367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12321"/>
          </a:xfrm>
        </p:spPr>
        <p:txBody>
          <a:bodyPr>
            <a:normAutofit fontScale="90000"/>
          </a:bodyPr>
          <a:lstStyle/>
          <a:p>
            <a:pPr lvl="2" algn="ctr" defTabSz="457200" rtl="0">
              <a:spcBef>
                <a:spcPct val="0"/>
              </a:spcBef>
            </a:pPr>
            <a:r>
              <a:rPr lang="fr-FR" sz="3600" b="1" dirty="0">
                <a:solidFill>
                  <a:srgbClr val="000000"/>
                </a:solidFill>
                <a:latin typeface="Tahoma" panose="020B0604030504040204" pitchFamily="34" charset="0"/>
                <a:ea typeface="Calibri" panose="020F0502020204030204" pitchFamily="34" charset="0"/>
              </a:rPr>
              <a:t>Traitement</a:t>
            </a:r>
            <a:r>
              <a:rPr lang="fr-FR" dirty="0">
                <a:solidFill>
                  <a:srgbClr val="000000"/>
                </a:solidFill>
                <a:latin typeface="Courier New" panose="02070309020205020404" pitchFamily="49" charset="0"/>
                <a:ea typeface="Calibri" panose="020F0502020204030204" pitchFamily="34" charset="0"/>
              </a:rPr>
              <a:t/>
            </a:r>
            <a:br>
              <a:rPr lang="fr-FR"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1148862" y="1125415"/>
            <a:ext cx="10355750" cy="5322277"/>
          </a:xfrm>
        </p:spPr>
        <p:txBody>
          <a:bodyPr>
            <a:noAutofit/>
          </a:bodyPr>
          <a:lstStyle/>
          <a:p>
            <a:pPr marL="0" indent="0" algn="just">
              <a:lnSpc>
                <a:spcPct val="150000"/>
              </a:lnSpc>
              <a:buNone/>
            </a:pPr>
            <a:r>
              <a:rPr lang="fr-FR" sz="2400" b="1" u="sng" spc="25" dirty="0" err="1">
                <a:solidFill>
                  <a:srgbClr val="000000"/>
                </a:solidFill>
                <a:latin typeface="Tahoma" panose="020B0604030504040204" pitchFamily="34" charset="0"/>
                <a:ea typeface="Times New Roman" panose="02020603050405020304" pitchFamily="18" charset="0"/>
              </a:rPr>
              <a:t>Amoebicides</a:t>
            </a:r>
            <a:r>
              <a:rPr lang="fr-FR" sz="2400" b="1" u="sng" spc="25" dirty="0">
                <a:solidFill>
                  <a:srgbClr val="000000"/>
                </a:solidFill>
                <a:latin typeface="Tahoma" panose="020B0604030504040204" pitchFamily="34" charset="0"/>
                <a:ea typeface="Times New Roman" panose="02020603050405020304" pitchFamily="18" charset="0"/>
              </a:rPr>
              <a:t> majeurs</a:t>
            </a:r>
            <a:endParaRPr lang="fr-FR" sz="2400" b="1" spc="25" dirty="0">
              <a:latin typeface="Times New Roman" panose="02020603050405020304" pitchFamily="18" charset="0"/>
              <a:ea typeface="Times New Roman" panose="02020603050405020304" pitchFamily="18" charset="0"/>
            </a:endParaRPr>
          </a:p>
          <a:p>
            <a:pPr indent="-927100" algn="just">
              <a:lnSpc>
                <a:spcPct val="150000"/>
              </a:lnSpc>
              <a:spcBef>
                <a:spcPts val="300"/>
              </a:spcBef>
            </a:pPr>
            <a:r>
              <a:rPr lang="fr-FR" sz="2400" spc="10" dirty="0">
                <a:solidFill>
                  <a:srgbClr val="000000"/>
                </a:solidFill>
                <a:latin typeface="Tahoma" panose="020B0604030504040204" pitchFamily="34" charset="0"/>
                <a:ea typeface="Times New Roman" panose="02020603050405020304" pitchFamily="18" charset="0"/>
              </a:rPr>
              <a:t>Ce sont des </a:t>
            </a:r>
            <a:r>
              <a:rPr lang="fr-FR" sz="2400" spc="10" dirty="0" err="1">
                <a:solidFill>
                  <a:srgbClr val="000000"/>
                </a:solidFill>
                <a:latin typeface="Tahoma" panose="020B0604030504040204" pitchFamily="34" charset="0"/>
                <a:ea typeface="Times New Roman" panose="02020603050405020304" pitchFamily="18" charset="0"/>
              </a:rPr>
              <a:t>amoebicides</a:t>
            </a:r>
            <a:r>
              <a:rPr lang="fr-FR" sz="2400" spc="10" dirty="0">
                <a:solidFill>
                  <a:srgbClr val="000000"/>
                </a:solidFill>
                <a:latin typeface="Tahoma" panose="020B0604030504040204" pitchFamily="34" charset="0"/>
                <a:ea typeface="Times New Roman" panose="02020603050405020304" pitchFamily="18" charset="0"/>
              </a:rPr>
              <a:t> qui diffusent dans les tissus par voie sanguine et atteignent les EHH au sein même des tissus. </a:t>
            </a:r>
            <a:endParaRPr lang="fr-FR" sz="2400" spc="10" dirty="0">
              <a:latin typeface="Times New Roman" panose="02020603050405020304" pitchFamily="18" charset="0"/>
              <a:ea typeface="Times New Roman" panose="02020603050405020304" pitchFamily="18" charset="0"/>
            </a:endParaRPr>
          </a:p>
          <a:p>
            <a:pPr marL="0" lvl="0" indent="0" algn="just">
              <a:lnSpc>
                <a:spcPct val="150000"/>
              </a:lnSpc>
              <a:buNone/>
            </a:pPr>
            <a:r>
              <a:rPr lang="fr-FR" sz="2400" b="1" dirty="0">
                <a:solidFill>
                  <a:srgbClr val="000000"/>
                </a:solidFill>
                <a:latin typeface="Tahoma" panose="020B0604030504040204" pitchFamily="34" charset="0"/>
                <a:ea typeface="Courier New" panose="02070309020205020404" pitchFamily="49" charset="0"/>
              </a:rPr>
              <a:t>Métronidazole </a:t>
            </a:r>
            <a:r>
              <a:rPr lang="en-US" sz="2400" b="1" dirty="0">
                <a:solidFill>
                  <a:srgbClr val="000000"/>
                </a:solidFill>
                <a:latin typeface="Tahoma" panose="020B0604030504040204" pitchFamily="34" charset="0"/>
                <a:ea typeface="Courier New" panose="02070309020205020404" pitchFamily="49" charset="0"/>
              </a:rPr>
              <a:t>(</a:t>
            </a:r>
            <a:r>
              <a:rPr lang="en-US" sz="2400" b="1" dirty="0" err="1">
                <a:solidFill>
                  <a:srgbClr val="000000"/>
                </a:solidFill>
                <a:latin typeface="Tahoma" panose="020B0604030504040204" pitchFamily="34" charset="0"/>
                <a:ea typeface="Courier New" panose="02070309020205020404" pitchFamily="49" charset="0"/>
              </a:rPr>
              <a:t>Flagyl</a:t>
            </a:r>
            <a:r>
              <a:rPr lang="en-US" sz="2400" b="1" dirty="0" smtClean="0">
                <a:solidFill>
                  <a:srgbClr val="000000"/>
                </a:solidFill>
                <a:latin typeface="Tahoma" panose="020B0604030504040204" pitchFamily="34" charset="0"/>
                <a:ea typeface="Courier New" panose="02070309020205020404" pitchFamily="49" charset="0"/>
              </a:rPr>
              <a:t>):</a:t>
            </a:r>
            <a:r>
              <a:rPr lang="fr-FR" sz="2400" dirty="0" smtClean="0">
                <a:solidFill>
                  <a:srgbClr val="000000"/>
                </a:solidFill>
                <a:latin typeface="Courier New" panose="02070309020205020404" pitchFamily="49" charset="0"/>
                <a:ea typeface="Courier New" panose="02070309020205020404" pitchFamily="49" charset="0"/>
              </a:rPr>
              <a:t> </a:t>
            </a:r>
            <a:r>
              <a:rPr lang="fr-FR" sz="2400" dirty="0" smtClean="0">
                <a:solidFill>
                  <a:srgbClr val="000000"/>
                </a:solidFill>
                <a:latin typeface="Tahoma" panose="020B0604030504040204" pitchFamily="34" charset="0"/>
                <a:ea typeface="Courier New" panose="02070309020205020404" pitchFamily="49" charset="0"/>
              </a:rPr>
              <a:t>Posologie </a:t>
            </a:r>
            <a:r>
              <a:rPr lang="fr-FR" sz="2400" dirty="0">
                <a:solidFill>
                  <a:srgbClr val="000000"/>
                </a:solidFill>
                <a:latin typeface="Tahoma" panose="020B0604030504040204" pitchFamily="34" charset="0"/>
                <a:ea typeface="Courier New" panose="02070309020205020404" pitchFamily="49" charset="0"/>
              </a:rPr>
              <a:t>: Adulte: 1,5 à 2 g/24h reparties en 3 prises </a:t>
            </a:r>
            <a:r>
              <a:rPr lang="fr-FR" sz="2400" dirty="0" err="1">
                <a:solidFill>
                  <a:srgbClr val="000000"/>
                </a:solidFill>
                <a:latin typeface="Tahoma" panose="020B0604030504040204" pitchFamily="34" charset="0"/>
                <a:ea typeface="Courier New" panose="02070309020205020404" pitchFamily="49" charset="0"/>
              </a:rPr>
              <a:t>pdt</a:t>
            </a:r>
            <a:r>
              <a:rPr lang="fr-FR" sz="2400" dirty="0">
                <a:solidFill>
                  <a:srgbClr val="000000"/>
                </a:solidFill>
                <a:latin typeface="Tahoma" panose="020B0604030504040204" pitchFamily="34" charset="0"/>
                <a:ea typeface="Courier New" panose="02070309020205020404" pitchFamily="49" charset="0"/>
              </a:rPr>
              <a:t> 5 à 10 jours </a:t>
            </a:r>
            <a:r>
              <a:rPr lang="fr-FR" sz="2400" dirty="0" smtClean="0">
                <a:solidFill>
                  <a:srgbClr val="000000"/>
                </a:solidFill>
                <a:latin typeface="Tahoma" panose="020B0604030504040204" pitchFamily="34" charset="0"/>
                <a:ea typeface="Courier New" panose="02070309020205020404" pitchFamily="49" charset="0"/>
              </a:rPr>
              <a:t>et enfant</a:t>
            </a:r>
            <a:r>
              <a:rPr lang="fr-FR" sz="2400" dirty="0">
                <a:solidFill>
                  <a:srgbClr val="000000"/>
                </a:solidFill>
                <a:latin typeface="Tahoma" panose="020B0604030504040204" pitchFamily="34" charset="0"/>
                <a:ea typeface="Courier New" panose="02070309020205020404" pitchFamily="49" charset="0"/>
              </a:rPr>
              <a:t>: 40-50 mg/kg </a:t>
            </a:r>
            <a:r>
              <a:rPr lang="fr-FR" sz="2400" dirty="0" err="1">
                <a:solidFill>
                  <a:srgbClr val="000000"/>
                </a:solidFill>
                <a:latin typeface="Tahoma" panose="020B0604030504040204" pitchFamily="34" charset="0"/>
                <a:ea typeface="Courier New" panose="02070309020205020404" pitchFamily="49" charset="0"/>
              </a:rPr>
              <a:t>pdt</a:t>
            </a:r>
            <a:r>
              <a:rPr lang="fr-FR" sz="2400" dirty="0">
                <a:solidFill>
                  <a:srgbClr val="000000"/>
                </a:solidFill>
                <a:latin typeface="Tahoma" panose="020B0604030504040204" pitchFamily="34" charset="0"/>
                <a:ea typeface="Courier New" panose="02070309020205020404" pitchFamily="49" charset="0"/>
              </a:rPr>
              <a:t> 7 jours</a:t>
            </a:r>
            <a:endParaRPr lang="fr-FR" sz="2400" dirty="0">
              <a:solidFill>
                <a:srgbClr val="000000"/>
              </a:solidFill>
              <a:latin typeface="Courier New" panose="02070309020205020404" pitchFamily="49" charset="0"/>
              <a:ea typeface="Courier New" panose="02070309020205020404" pitchFamily="49" charset="0"/>
            </a:endParaRPr>
          </a:p>
          <a:p>
            <a:pPr marL="270510" algn="just">
              <a:lnSpc>
                <a:spcPct val="150000"/>
              </a:lnSpc>
            </a:pPr>
            <a:r>
              <a:rPr lang="fr-FR" sz="2400" b="1" dirty="0" smtClean="0">
                <a:latin typeface="Tahoma" panose="020B0604030504040204" pitchFamily="34" charset="0"/>
              </a:rPr>
              <a:t>Les </a:t>
            </a:r>
            <a:r>
              <a:rPr lang="fr-FR" sz="2400" b="1" dirty="0">
                <a:latin typeface="Tahoma" panose="020B0604030504040204" pitchFamily="34" charset="0"/>
              </a:rPr>
              <a:t>autres imidazoles </a:t>
            </a:r>
            <a:r>
              <a:rPr lang="fr-FR" sz="2400" b="1" dirty="0" smtClean="0">
                <a:latin typeface="Tahoma" panose="020B0604030504040204" pitchFamily="34" charset="0"/>
              </a:rPr>
              <a:t>:</a:t>
            </a:r>
          </a:p>
          <a:p>
            <a:pPr marL="270510" algn="just">
              <a:lnSpc>
                <a:spcPct val="150000"/>
              </a:lnSpc>
            </a:pPr>
            <a:r>
              <a:rPr lang="fr-FR" sz="2400" dirty="0" smtClean="0"/>
              <a:t> </a:t>
            </a:r>
            <a:r>
              <a:rPr lang="fr-FR" sz="2400" dirty="0" err="1">
                <a:solidFill>
                  <a:srgbClr val="000000"/>
                </a:solidFill>
                <a:latin typeface="Tahoma" panose="020B0604030504040204" pitchFamily="34" charset="0"/>
                <a:ea typeface="Courier New" panose="02070309020205020404" pitchFamily="49" charset="0"/>
              </a:rPr>
              <a:t>Secnidazole</a:t>
            </a:r>
            <a:r>
              <a:rPr lang="fr-FR" sz="2400" dirty="0">
                <a:solidFill>
                  <a:srgbClr val="000000"/>
                </a:solidFill>
                <a:latin typeface="Tahoma" panose="020B0604030504040204" pitchFamily="34" charset="0"/>
                <a:ea typeface="Courier New" panose="02070309020205020404" pitchFamily="49" charset="0"/>
              </a:rPr>
              <a:t>(</a:t>
            </a:r>
            <a:r>
              <a:rPr lang="fr-FR" sz="2400" b="1" dirty="0" err="1">
                <a:solidFill>
                  <a:srgbClr val="000000"/>
                </a:solidFill>
                <a:latin typeface="Tahoma" panose="020B0604030504040204" pitchFamily="34" charset="0"/>
                <a:ea typeface="Courier New" panose="02070309020205020404" pitchFamily="49" charset="0"/>
              </a:rPr>
              <a:t>Flagentyl</a:t>
            </a:r>
            <a:r>
              <a:rPr lang="fr-FR" sz="2400" dirty="0">
                <a:solidFill>
                  <a:srgbClr val="000000"/>
                </a:solidFill>
                <a:latin typeface="Tahoma" panose="020B0604030504040204" pitchFamily="34" charset="0"/>
                <a:ea typeface="Courier New" panose="02070309020205020404" pitchFamily="49" charset="0"/>
              </a:rPr>
              <a:t>) </a:t>
            </a:r>
            <a:endParaRPr lang="fr-FR" sz="2400" dirty="0">
              <a:solidFill>
                <a:srgbClr val="000000"/>
              </a:solidFill>
              <a:latin typeface="Courier New" panose="02070309020205020404" pitchFamily="49" charset="0"/>
              <a:ea typeface="Courier New" panose="02070309020205020404" pitchFamily="49" charset="0"/>
            </a:endParaRPr>
          </a:p>
          <a:p>
            <a:pPr marL="270510" algn="just">
              <a:lnSpc>
                <a:spcPct val="150000"/>
              </a:lnSpc>
            </a:pPr>
            <a:r>
              <a:rPr lang="fr-FR" sz="2400" dirty="0" err="1">
                <a:solidFill>
                  <a:srgbClr val="000000"/>
                </a:solidFill>
                <a:latin typeface="Tahoma" panose="020B0604030504040204" pitchFamily="34" charset="0"/>
                <a:ea typeface="Courier New" panose="02070309020205020404" pitchFamily="49" charset="0"/>
              </a:rPr>
              <a:t>Tinidazole</a:t>
            </a:r>
            <a:r>
              <a:rPr lang="fr-FR" sz="2400" b="1" dirty="0">
                <a:solidFill>
                  <a:srgbClr val="000000"/>
                </a:solidFill>
                <a:latin typeface="Tahoma" panose="020B0604030504040204" pitchFamily="34" charset="0"/>
                <a:ea typeface="Courier New" panose="02070309020205020404" pitchFamily="49" charset="0"/>
              </a:rPr>
              <a:t> (</a:t>
            </a:r>
            <a:r>
              <a:rPr lang="fr-FR" sz="2400" b="1" dirty="0" err="1">
                <a:solidFill>
                  <a:srgbClr val="000000"/>
                </a:solidFill>
                <a:latin typeface="Tahoma" panose="020B0604030504040204" pitchFamily="34" charset="0"/>
                <a:ea typeface="Courier New" panose="02070309020205020404" pitchFamily="49" charset="0"/>
              </a:rPr>
              <a:t>Fasigyne</a:t>
            </a:r>
            <a:r>
              <a:rPr lang="fr-FR" sz="2400" b="1" dirty="0">
                <a:solidFill>
                  <a:srgbClr val="000000"/>
                </a:solidFill>
                <a:latin typeface="Tahoma" panose="020B0604030504040204" pitchFamily="34" charset="0"/>
                <a:ea typeface="Courier New" panose="02070309020205020404" pitchFamily="49" charset="0"/>
              </a:rPr>
              <a:t>) </a:t>
            </a:r>
            <a:endParaRPr lang="fr-FR" sz="2400" dirty="0">
              <a:solidFill>
                <a:srgbClr val="000000"/>
              </a:solidFill>
              <a:latin typeface="Courier New" panose="02070309020205020404" pitchFamily="49" charset="0"/>
              <a:ea typeface="Courier New" panose="02070309020205020404" pitchFamily="49" charset="0"/>
            </a:endParaRPr>
          </a:p>
          <a:p>
            <a:pPr marL="270510" algn="just">
              <a:lnSpc>
                <a:spcPct val="150000"/>
              </a:lnSpc>
            </a:pPr>
            <a:r>
              <a:rPr lang="fr-FR" sz="2400" b="1" dirty="0" err="1">
                <a:solidFill>
                  <a:srgbClr val="000000"/>
                </a:solidFill>
                <a:latin typeface="Tahoma" panose="020B0604030504040204" pitchFamily="34" charset="0"/>
                <a:ea typeface="Courier New" panose="02070309020205020404" pitchFamily="49" charset="0"/>
              </a:rPr>
              <a:t>Ornidazole</a:t>
            </a:r>
            <a:r>
              <a:rPr lang="fr-FR" sz="2400" dirty="0">
                <a:solidFill>
                  <a:srgbClr val="000000"/>
                </a:solidFill>
                <a:latin typeface="Tahoma" panose="020B0604030504040204" pitchFamily="34" charset="0"/>
                <a:ea typeface="Courier New" panose="02070309020205020404" pitchFamily="49" charset="0"/>
              </a:rPr>
              <a:t>(</a:t>
            </a:r>
            <a:r>
              <a:rPr lang="fr-FR" sz="2400" dirty="0" err="1">
                <a:solidFill>
                  <a:srgbClr val="000000"/>
                </a:solidFill>
                <a:latin typeface="Tahoma" panose="020B0604030504040204" pitchFamily="34" charset="0"/>
                <a:ea typeface="Courier New" panose="02070309020205020404" pitchFamily="49" charset="0"/>
              </a:rPr>
              <a:t>Tiberal</a:t>
            </a:r>
            <a:r>
              <a:rPr lang="fr-FR" sz="2400" dirty="0" smtClean="0">
                <a:solidFill>
                  <a:srgbClr val="000000"/>
                </a:solidFill>
                <a:latin typeface="Tahoma" panose="020B0604030504040204" pitchFamily="34" charset="0"/>
                <a:ea typeface="Courier New" panose="02070309020205020404" pitchFamily="49" charset="0"/>
              </a:rPr>
              <a:t>)</a:t>
            </a:r>
            <a:endParaRPr lang="fr-FR" sz="2400" dirty="0"/>
          </a:p>
        </p:txBody>
      </p:sp>
    </p:spTree>
    <p:extLst>
      <p:ext uri="{BB962C8B-B14F-4D97-AF65-F5344CB8AC3E}">
        <p14:creationId xmlns:p14="http://schemas.microsoft.com/office/powerpoint/2010/main" val="219775030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89539" y="633045"/>
            <a:ext cx="10238520" cy="5603631"/>
          </a:xfrm>
        </p:spPr>
        <p:txBody>
          <a:bodyPr>
            <a:noAutofit/>
          </a:bodyPr>
          <a:lstStyle/>
          <a:p>
            <a:pPr>
              <a:lnSpc>
                <a:spcPct val="150000"/>
              </a:lnSpc>
            </a:pPr>
            <a:r>
              <a:rPr lang="fr-FR" sz="2800" b="1" u="sng" dirty="0" err="1" smtClean="0">
                <a:latin typeface="Tahoma" panose="020B0604030504040204" pitchFamily="34" charset="0"/>
              </a:rPr>
              <a:t>Amoebicides</a:t>
            </a:r>
            <a:r>
              <a:rPr lang="fr-FR" sz="2800" b="1" u="sng" dirty="0" smtClean="0">
                <a:latin typeface="Tahoma" panose="020B0604030504040204" pitchFamily="34" charset="0"/>
              </a:rPr>
              <a:t> </a:t>
            </a:r>
            <a:r>
              <a:rPr lang="fr-FR" sz="2800" b="1" u="sng" dirty="0">
                <a:latin typeface="Tahoma" panose="020B0604030504040204" pitchFamily="34" charset="0"/>
              </a:rPr>
              <a:t>d’appoint ou contact</a:t>
            </a:r>
            <a:endParaRPr lang="fr-FR" sz="2800" dirty="0"/>
          </a:p>
          <a:p>
            <a:pPr>
              <a:lnSpc>
                <a:spcPct val="150000"/>
              </a:lnSpc>
            </a:pPr>
            <a:r>
              <a:rPr lang="fr-FR" sz="2800" dirty="0">
                <a:solidFill>
                  <a:srgbClr val="000000"/>
                </a:solidFill>
                <a:latin typeface="Tahoma" panose="020B0604030504040204" pitchFamily="34" charset="0"/>
              </a:rPr>
              <a:t>Ils agissent sur les formes minuta et sur les kystes d'Eh, dans la lumière colique. </a:t>
            </a:r>
            <a:endParaRPr lang="fr-FR" sz="2800" dirty="0" smtClean="0"/>
          </a:p>
          <a:p>
            <a:pPr>
              <a:lnSpc>
                <a:spcPct val="150000"/>
              </a:lnSpc>
              <a:buFont typeface="Wingdings" panose="05000000000000000000" pitchFamily="2" charset="2"/>
              <a:buChar char="§"/>
            </a:pPr>
            <a:r>
              <a:rPr lang="fr-FR" sz="2800" dirty="0" err="1" smtClean="0">
                <a:solidFill>
                  <a:srgbClr val="000000"/>
                </a:solidFill>
                <a:latin typeface="Tahoma" panose="020B0604030504040204" pitchFamily="34" charset="0"/>
              </a:rPr>
              <a:t>Difetarsone</a:t>
            </a:r>
            <a:r>
              <a:rPr lang="fr-FR" sz="2800" b="1" spc="25" dirty="0" smtClean="0">
                <a:solidFill>
                  <a:srgbClr val="000000"/>
                </a:solidFill>
                <a:latin typeface="Tahoma" panose="020B0604030504040204" pitchFamily="34" charset="0"/>
                <a:ea typeface="Tahoma" panose="020B0604030504040204" pitchFamily="34" charset="0"/>
                <a:cs typeface="Times New Roman" panose="02020603050405020304" pitchFamily="18" charset="0"/>
              </a:rPr>
              <a:t>(</a:t>
            </a:r>
            <a:r>
              <a:rPr lang="fr-FR" sz="2800" b="1" spc="25" dirty="0" err="1" smtClean="0">
                <a:solidFill>
                  <a:srgbClr val="000000"/>
                </a:solidFill>
                <a:latin typeface="Tahoma" panose="020B0604030504040204" pitchFamily="34" charset="0"/>
                <a:ea typeface="Tahoma" panose="020B0604030504040204" pitchFamily="34" charset="0"/>
                <a:cs typeface="Times New Roman" panose="02020603050405020304" pitchFamily="18" charset="0"/>
              </a:rPr>
              <a:t>Bemarsal</a:t>
            </a:r>
            <a:r>
              <a:rPr lang="fr-FR" sz="28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 </a:t>
            </a:r>
            <a:r>
              <a:rPr lang="fr-FR" sz="2800" dirty="0">
                <a:solidFill>
                  <a:srgbClr val="000000"/>
                </a:solidFill>
                <a:latin typeface="Tahoma" panose="020B0604030504040204" pitchFamily="34" charset="0"/>
              </a:rPr>
              <a:t>: </a:t>
            </a:r>
            <a:r>
              <a:rPr lang="fr-FR" sz="2800" dirty="0" err="1">
                <a:solidFill>
                  <a:srgbClr val="000000"/>
                </a:solidFill>
                <a:latin typeface="Tahoma" panose="020B0604030504040204" pitchFamily="34" charset="0"/>
              </a:rPr>
              <a:t>cp</a:t>
            </a:r>
            <a:r>
              <a:rPr lang="fr-FR" sz="2800" dirty="0">
                <a:solidFill>
                  <a:srgbClr val="000000"/>
                </a:solidFill>
                <a:latin typeface="Tahoma" panose="020B0604030504040204" pitchFamily="34" charset="0"/>
              </a:rPr>
              <a:t> 500 mg </a:t>
            </a:r>
            <a:r>
              <a:rPr lang="fr-FR" sz="2800" dirty="0" smtClean="0"/>
              <a:t>à la </a:t>
            </a:r>
            <a:r>
              <a:rPr lang="fr-FR" sz="2800" dirty="0" smtClean="0">
                <a:solidFill>
                  <a:srgbClr val="000000"/>
                </a:solidFill>
                <a:latin typeface="Tahoma" panose="020B0604030504040204" pitchFamily="34" charset="0"/>
              </a:rPr>
              <a:t>Posologie </a:t>
            </a:r>
            <a:r>
              <a:rPr lang="fr-FR" sz="2800" dirty="0">
                <a:solidFill>
                  <a:srgbClr val="000000"/>
                </a:solidFill>
                <a:latin typeface="Tahoma" panose="020B0604030504040204" pitchFamily="34" charset="0"/>
              </a:rPr>
              <a:t>: 2 g/j: en 2 prises </a:t>
            </a:r>
            <a:r>
              <a:rPr lang="fr-FR" sz="2800" dirty="0" err="1">
                <a:solidFill>
                  <a:srgbClr val="000000"/>
                </a:solidFill>
                <a:latin typeface="Tahoma" panose="020B0604030504040204" pitchFamily="34" charset="0"/>
              </a:rPr>
              <a:t>pdt</a:t>
            </a:r>
            <a:r>
              <a:rPr lang="fr-FR" sz="2800" dirty="0">
                <a:solidFill>
                  <a:srgbClr val="000000"/>
                </a:solidFill>
                <a:latin typeface="Tahoma" panose="020B0604030504040204" pitchFamily="34" charset="0"/>
              </a:rPr>
              <a:t> 10 j chez l'adulte</a:t>
            </a:r>
            <a:r>
              <a:rPr lang="fr-FR" sz="2800" dirty="0" smtClean="0">
                <a:solidFill>
                  <a:srgbClr val="000000"/>
                </a:solidFill>
                <a:latin typeface="Tahoma" panose="020B0604030504040204" pitchFamily="34" charset="0"/>
              </a:rPr>
              <a:t>.</a:t>
            </a:r>
            <a:endParaRPr lang="fr-FR" sz="2800" dirty="0"/>
          </a:p>
          <a:p>
            <a:pPr algn="just">
              <a:lnSpc>
                <a:spcPct val="150000"/>
              </a:lnSpc>
              <a:spcBef>
                <a:spcPts val="300"/>
              </a:spcBef>
              <a:buFont typeface="Wingdings" panose="05000000000000000000" pitchFamily="2" charset="2"/>
              <a:buChar char="§"/>
            </a:pPr>
            <a:r>
              <a:rPr lang="fr-FR" sz="2800" spc="10" dirty="0" smtClean="0">
                <a:solidFill>
                  <a:srgbClr val="000000"/>
                </a:solidFill>
                <a:latin typeface="Tahoma" panose="020B0604030504040204" pitchFamily="34" charset="0"/>
                <a:ea typeface="Times New Roman" panose="02020603050405020304" pitchFamily="18" charset="0"/>
              </a:rPr>
              <a:t>Les </a:t>
            </a:r>
            <a:r>
              <a:rPr lang="fr-FR" sz="2800" spc="10" dirty="0">
                <a:solidFill>
                  <a:srgbClr val="000000"/>
                </a:solidFill>
                <a:latin typeface="Tahoma" panose="020B0604030504040204" pitchFamily="34" charset="0"/>
                <a:ea typeface="Times New Roman" panose="02020603050405020304" pitchFamily="18" charset="0"/>
              </a:rPr>
              <a:t>antibiotiques ne sont utilisés que si une bactérie pathogène est isolée.</a:t>
            </a:r>
            <a:endParaRPr lang="fr-FR" sz="2800" spc="10" dirty="0">
              <a:latin typeface="Times New Roman" panose="02020603050405020304" pitchFamily="18" charset="0"/>
              <a:ea typeface="Times New Roman" panose="02020603050405020304" pitchFamily="18" charset="0"/>
            </a:endParaRPr>
          </a:p>
          <a:p>
            <a:pPr marL="0" indent="0">
              <a:buNone/>
            </a:pPr>
            <a:endParaRPr lang="fr-FR" sz="2400" dirty="0"/>
          </a:p>
        </p:txBody>
      </p:sp>
    </p:spTree>
    <p:extLst>
      <p:ext uri="{BB962C8B-B14F-4D97-AF65-F5344CB8AC3E}">
        <p14:creationId xmlns:p14="http://schemas.microsoft.com/office/powerpoint/2010/main" val="102796789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19310"/>
            <a:ext cx="8911687" cy="806105"/>
          </a:xfrm>
        </p:spPr>
        <p:txBody>
          <a:bodyPr>
            <a:normAutofit fontScale="90000"/>
          </a:bodyPr>
          <a:lstStyle/>
          <a:p>
            <a:pPr lvl="2" algn="ctr" defTabSz="457200" rtl="0">
              <a:spcBef>
                <a:spcPct val="0"/>
              </a:spcBef>
            </a:pPr>
            <a:r>
              <a:rPr lang="fr-FR" sz="3200" b="1" dirty="0">
                <a:solidFill>
                  <a:srgbClr val="000000"/>
                </a:solidFill>
                <a:latin typeface="Tahoma" panose="020B0604030504040204" pitchFamily="34" charset="0"/>
                <a:ea typeface="Calibri" panose="020F0502020204030204" pitchFamily="34" charset="0"/>
              </a:rPr>
              <a:t>Prophylaxie</a:t>
            </a:r>
            <a:r>
              <a:rPr lang="fr-FR" sz="3200" dirty="0">
                <a:solidFill>
                  <a:srgbClr val="000000"/>
                </a:solidFill>
                <a:latin typeface="Courier New" panose="02070309020205020404" pitchFamily="49" charset="0"/>
                <a:ea typeface="Calibri" panose="020F0502020204030204" pitchFamily="34" charset="0"/>
              </a:rPr>
              <a:t/>
            </a:r>
            <a:br>
              <a:rPr lang="fr-FR" sz="3200" dirty="0">
                <a:solidFill>
                  <a:srgbClr val="000000"/>
                </a:solidFill>
                <a:latin typeface="Courier New" panose="02070309020205020404" pitchFamily="49" charset="0"/>
                <a:ea typeface="Calibri" panose="020F0502020204030204" pitchFamily="34" charset="0"/>
              </a:rPr>
            </a:br>
            <a:endParaRPr lang="fr-FR" sz="3200" dirty="0"/>
          </a:p>
        </p:txBody>
      </p:sp>
      <p:sp>
        <p:nvSpPr>
          <p:cNvPr id="3" name="Espace réservé du contenu 2"/>
          <p:cNvSpPr>
            <a:spLocks noGrp="1"/>
          </p:cNvSpPr>
          <p:nvPr>
            <p:ph idx="1"/>
          </p:nvPr>
        </p:nvSpPr>
        <p:spPr>
          <a:xfrm>
            <a:off x="1148862" y="1125415"/>
            <a:ext cx="10355750" cy="5732585"/>
          </a:xfrm>
        </p:spPr>
        <p:txBody>
          <a:bodyPr>
            <a:noAutofit/>
          </a:bodyPr>
          <a:lstStyle/>
          <a:p>
            <a:pPr algn="just">
              <a:lnSpc>
                <a:spcPct val="150000"/>
              </a:lnSpc>
            </a:pPr>
            <a:r>
              <a:rPr lang="fr-FR" sz="2400" dirty="0">
                <a:solidFill>
                  <a:srgbClr val="000000"/>
                </a:solidFill>
                <a:latin typeface="Tahoma" panose="020B0604030504040204" pitchFamily="34" charset="0"/>
                <a:ea typeface="Courier New" panose="02070309020205020404" pitchFamily="49" charset="0"/>
              </a:rPr>
              <a:t>La prophylaxie individuelle s’appuie sur </a:t>
            </a:r>
            <a:r>
              <a:rPr lang="fr-FR" sz="2400" dirty="0" smtClean="0">
                <a:solidFill>
                  <a:srgbClr val="000000"/>
                </a:solidFill>
                <a:latin typeface="Tahoma" panose="020B0604030504040204" pitchFamily="34" charset="0"/>
                <a:ea typeface="Courier New" panose="02070309020205020404" pitchFamily="49" charset="0"/>
              </a:rPr>
              <a:t>la consommation </a:t>
            </a:r>
            <a:r>
              <a:rPr lang="fr-FR" sz="2400" dirty="0">
                <a:solidFill>
                  <a:srgbClr val="000000"/>
                </a:solidFill>
                <a:latin typeface="Tahoma" panose="020B0604030504040204" pitchFamily="34" charset="0"/>
                <a:ea typeface="Courier New" panose="02070309020205020404" pitchFamily="49" charset="0"/>
              </a:rPr>
              <a:t>d'eau traitée par filtration ou ébullition, le lavage des fruits et légumes, le </a:t>
            </a:r>
            <a:r>
              <a:rPr lang="fr-FR" sz="2400" dirty="0" smtClean="0">
                <a:solidFill>
                  <a:srgbClr val="000000"/>
                </a:solidFill>
                <a:latin typeface="Tahoma" panose="020B0604030504040204" pitchFamily="34" charset="0"/>
                <a:ea typeface="Courier New" panose="02070309020205020404" pitchFamily="49" charset="0"/>
              </a:rPr>
              <a:t>lavage systématique </a:t>
            </a:r>
            <a:r>
              <a:rPr lang="fr-FR" sz="2400" dirty="0">
                <a:solidFill>
                  <a:srgbClr val="000000"/>
                </a:solidFill>
                <a:latin typeface="Tahoma" panose="020B0604030504040204" pitchFamily="34" charset="0"/>
                <a:ea typeface="Courier New" panose="02070309020205020404" pitchFamily="49" charset="0"/>
              </a:rPr>
              <a:t>des mains avant les repas et après passage aux </a:t>
            </a:r>
            <a:r>
              <a:rPr lang="fr-FR" sz="2400" dirty="0" smtClean="0">
                <a:solidFill>
                  <a:srgbClr val="000000"/>
                </a:solidFill>
                <a:latin typeface="Tahoma" panose="020B0604030504040204" pitchFamily="34" charset="0"/>
                <a:ea typeface="Courier New" panose="02070309020205020404" pitchFamily="49" charset="0"/>
              </a:rPr>
              <a:t>toilettes</a:t>
            </a:r>
          </a:p>
          <a:p>
            <a:pPr algn="just">
              <a:lnSpc>
                <a:spcPct val="150000"/>
              </a:lnSpc>
            </a:pPr>
            <a:r>
              <a:rPr lang="fr-FR" sz="2400" spc="30" dirty="0" smtClean="0">
                <a:solidFill>
                  <a:srgbClr val="000000"/>
                </a:solidFill>
                <a:latin typeface="Tahoma" panose="020B0604030504040204" pitchFamily="34" charset="0"/>
                <a:ea typeface="Times New Roman" panose="02020603050405020304" pitchFamily="18" charset="0"/>
              </a:rPr>
              <a:t>La </a:t>
            </a:r>
            <a:r>
              <a:rPr lang="fr-FR" sz="2400" spc="30" dirty="0">
                <a:solidFill>
                  <a:srgbClr val="000000"/>
                </a:solidFill>
                <a:latin typeface="Tahoma" panose="020B0604030504040204" pitchFamily="34" charset="0"/>
                <a:ea typeface="Times New Roman" panose="02020603050405020304" pitchFamily="18" charset="0"/>
              </a:rPr>
              <a:t>prophylaxie collective comprend le dépistage et le traitement des porteurs d'amibes, l'interdiction de l'utilisation d'engrais humains, la construction et l'utilisation des latrines, la protection des aliments contre les microbes.</a:t>
            </a:r>
            <a:endParaRPr lang="fr-FR" sz="2400" spc="30" dirty="0">
              <a:latin typeface="Times New Roman" panose="02020603050405020304" pitchFamily="18" charset="0"/>
              <a:ea typeface="Times New Roman" panose="02020603050405020304" pitchFamily="18" charset="0"/>
            </a:endParaRPr>
          </a:p>
          <a:p>
            <a:pPr algn="just">
              <a:lnSpc>
                <a:spcPct val="150000"/>
              </a:lnSpc>
            </a:pPr>
            <a:r>
              <a:rPr lang="fr-FR" sz="2400" dirty="0" smtClean="0">
                <a:solidFill>
                  <a:srgbClr val="000000"/>
                </a:solidFill>
                <a:latin typeface="Tahoma" panose="020B0604030504040204" pitchFamily="34" charset="0"/>
                <a:ea typeface="Courier New" panose="02070309020205020404" pitchFamily="49" charset="0"/>
              </a:rPr>
              <a:t>Une éducation </a:t>
            </a:r>
            <a:r>
              <a:rPr lang="fr-FR" sz="2400" dirty="0">
                <a:solidFill>
                  <a:srgbClr val="000000"/>
                </a:solidFill>
                <a:latin typeface="Tahoma" panose="020B0604030504040204" pitchFamily="34" charset="0"/>
                <a:ea typeface="Courier New" panose="02070309020205020404" pitchFamily="49" charset="0"/>
              </a:rPr>
              <a:t>sanitaire continuelle peut parvenir à intégrer ces mesures d'hygiène dans le comportement habituel des populations vivant en zones d'endémie</a:t>
            </a:r>
            <a:endParaRPr lang="fr-FR" sz="2400" dirty="0"/>
          </a:p>
        </p:txBody>
      </p:sp>
    </p:spTree>
    <p:extLst>
      <p:ext uri="{BB962C8B-B14F-4D97-AF65-F5344CB8AC3E}">
        <p14:creationId xmlns:p14="http://schemas.microsoft.com/office/powerpoint/2010/main" val="395287423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970228"/>
          </a:xfrm>
        </p:spPr>
        <p:txBody>
          <a:bodyPr>
            <a:normAutofit fontScale="90000"/>
          </a:bodyPr>
          <a:lstStyle/>
          <a:p>
            <a:pPr lvl="1" algn="ctr" defTabSz="457200" rtl="0">
              <a:spcBef>
                <a:spcPct val="0"/>
              </a:spcBef>
            </a:pP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Amibiase </a:t>
            </a:r>
            <a:r>
              <a:rPr lang="fr-FR" sz="32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hépatique</a:t>
            </a:r>
            <a:r>
              <a:rPr lang="fr-FR" sz="3200" b="1" dirty="0" smtClean="0">
                <a:solidFill>
                  <a:srgbClr val="000000"/>
                </a:solidFill>
                <a:latin typeface="Courier New" panose="02070309020205020404" pitchFamily="49" charset="0"/>
                <a:ea typeface="Calibri" panose="020F0502020204030204" pitchFamily="34" charset="0"/>
              </a:rPr>
              <a:t>(amibiase suppurée</a:t>
            </a:r>
            <a:r>
              <a:rPr lang="fr-FR" sz="3200" dirty="0" smtClean="0">
                <a:solidFill>
                  <a:srgbClr val="000000"/>
                </a:solidFill>
                <a:latin typeface="Courier New" panose="02070309020205020404" pitchFamily="49" charset="0"/>
                <a:ea typeface="Calibri" panose="020F0502020204030204" pitchFamily="34" charset="0"/>
              </a:rPr>
              <a:t>)</a:t>
            </a:r>
            <a:endParaRPr lang="fr-FR" sz="3200" dirty="0"/>
          </a:p>
        </p:txBody>
      </p:sp>
      <p:sp>
        <p:nvSpPr>
          <p:cNvPr id="3" name="Espace réservé du contenu 2"/>
          <p:cNvSpPr>
            <a:spLocks noGrp="1"/>
          </p:cNvSpPr>
          <p:nvPr>
            <p:ph idx="1"/>
          </p:nvPr>
        </p:nvSpPr>
        <p:spPr>
          <a:xfrm>
            <a:off x="1969477" y="2133600"/>
            <a:ext cx="9535135" cy="3777622"/>
          </a:xfrm>
        </p:spPr>
        <p:txBody>
          <a:bodyPr>
            <a:normAutofit fontScale="25000" lnSpcReduction="20000"/>
          </a:bodyPr>
          <a:lstStyle/>
          <a:p>
            <a:pPr marL="914400" lvl="2" indent="0" algn="just">
              <a:lnSpc>
                <a:spcPct val="150000"/>
              </a:lnSpc>
              <a:buNone/>
            </a:pPr>
            <a:r>
              <a:rPr lang="fr-FR" sz="11200" b="1" dirty="0">
                <a:solidFill>
                  <a:srgbClr val="000000"/>
                </a:solidFill>
                <a:latin typeface="Tahoma" panose="020B0604030504040204" pitchFamily="34" charset="0"/>
                <a:ea typeface="Calibri" panose="020F0502020204030204" pitchFamily="34" charset="0"/>
              </a:rPr>
              <a:t>Signes cliniques</a:t>
            </a:r>
            <a:endParaRPr lang="fr-FR" sz="11200" dirty="0">
              <a:solidFill>
                <a:srgbClr val="000000"/>
              </a:solidFill>
              <a:latin typeface="Courier New" panose="02070309020205020404" pitchFamily="49" charset="0"/>
              <a:ea typeface="Calibri" panose="020F0502020204030204" pitchFamily="34" charset="0"/>
            </a:endParaRPr>
          </a:p>
          <a:p>
            <a:pPr marL="1371600" lvl="3" indent="0" algn="just">
              <a:lnSpc>
                <a:spcPct val="150000"/>
              </a:lnSpc>
              <a:buNone/>
            </a:pPr>
            <a:r>
              <a:rPr lang="fr-FR" sz="11200" b="1" i="1" dirty="0">
                <a:solidFill>
                  <a:srgbClr val="000000"/>
                </a:solidFill>
                <a:latin typeface="Tahoma" panose="020B0604030504040204" pitchFamily="34" charset="0"/>
                <a:ea typeface="Calibri" panose="020F0502020204030204" pitchFamily="34" charset="0"/>
              </a:rPr>
              <a:t>Phase de début</a:t>
            </a:r>
            <a:endParaRPr lang="fr-FR" sz="11200" dirty="0">
              <a:solidFill>
                <a:srgbClr val="000000"/>
              </a:solidFill>
              <a:latin typeface="Courier New" panose="02070309020205020404" pitchFamily="49" charset="0"/>
              <a:ea typeface="Calibri" panose="020F0502020204030204" pitchFamily="34" charset="0"/>
            </a:endParaRPr>
          </a:p>
          <a:p>
            <a:pPr>
              <a:lnSpc>
                <a:spcPct val="150000"/>
              </a:lnSpc>
            </a:pPr>
            <a:r>
              <a:rPr lang="fr-FR" sz="11200" dirty="0">
                <a:solidFill>
                  <a:srgbClr val="000000"/>
                </a:solidFill>
                <a:latin typeface="Tahoma" panose="020B0604030504040204" pitchFamily="34" charset="0"/>
              </a:rPr>
              <a:t>Le début est brusque et survient fréquemment sans expression clinique de l'amibiase intestinale qui est sa porte d'entrée plusieurs mois après la contamination.</a:t>
            </a:r>
            <a:endParaRPr lang="fr-FR" sz="11200" dirty="0"/>
          </a:p>
          <a:p>
            <a:pPr>
              <a:lnSpc>
                <a:spcPct val="150000"/>
              </a:lnSpc>
            </a:pPr>
            <a:r>
              <a:rPr lang="fr-FR" sz="11200" dirty="0">
                <a:solidFill>
                  <a:srgbClr val="000000"/>
                </a:solidFill>
                <a:latin typeface="Tahoma" panose="020B0604030504040204" pitchFamily="34" charset="0"/>
              </a:rPr>
              <a:t> </a:t>
            </a:r>
            <a:endParaRPr lang="fr-FR" sz="11200" dirty="0"/>
          </a:p>
          <a:p>
            <a:endParaRPr lang="fr-FR" dirty="0"/>
          </a:p>
        </p:txBody>
      </p:sp>
    </p:spTree>
    <p:extLst>
      <p:ext uri="{BB962C8B-B14F-4D97-AF65-F5344CB8AC3E}">
        <p14:creationId xmlns:p14="http://schemas.microsoft.com/office/powerpoint/2010/main" val="276718655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84739" y="342756"/>
            <a:ext cx="10519874" cy="852998"/>
          </a:xfrm>
        </p:spPr>
        <p:txBody>
          <a:bodyPr>
            <a:normAutofit fontScale="90000"/>
          </a:bodyPr>
          <a:lstStyle/>
          <a:p>
            <a:pPr lvl="3" algn="ctr" defTabSz="457200" rtl="0">
              <a:spcBef>
                <a:spcPct val="0"/>
              </a:spcBef>
            </a:pPr>
            <a:r>
              <a:rPr lang="fr-FR" sz="3200" b="1" i="1" dirty="0">
                <a:solidFill>
                  <a:srgbClr val="000000"/>
                </a:solidFill>
                <a:latin typeface="Tahoma" panose="020B0604030504040204" pitchFamily="34" charset="0"/>
                <a:ea typeface="Calibri" panose="020F0502020204030204" pitchFamily="34" charset="0"/>
              </a:rPr>
              <a:t>Phase d'état:</a:t>
            </a:r>
            <a:r>
              <a:rPr lang="fr-FR" sz="3200" dirty="0">
                <a:solidFill>
                  <a:srgbClr val="000000"/>
                </a:solidFill>
                <a:latin typeface="Courier New" panose="02070309020205020404" pitchFamily="49" charset="0"/>
                <a:ea typeface="Calibri" panose="020F0502020204030204" pitchFamily="34" charset="0"/>
              </a:rPr>
              <a:t/>
            </a:r>
            <a:br>
              <a:rPr lang="fr-FR" sz="3200" dirty="0">
                <a:solidFill>
                  <a:srgbClr val="000000"/>
                </a:solidFill>
                <a:latin typeface="Courier New" panose="02070309020205020404" pitchFamily="49" charset="0"/>
                <a:ea typeface="Calibri" panose="020F0502020204030204" pitchFamily="34" charset="0"/>
              </a:rPr>
            </a:br>
            <a:endParaRPr lang="fr-FR" sz="3200" dirty="0"/>
          </a:p>
        </p:txBody>
      </p:sp>
      <p:sp>
        <p:nvSpPr>
          <p:cNvPr id="3" name="Espace réservé du contenu 2"/>
          <p:cNvSpPr>
            <a:spLocks noGrp="1"/>
          </p:cNvSpPr>
          <p:nvPr>
            <p:ph idx="1"/>
          </p:nvPr>
        </p:nvSpPr>
        <p:spPr>
          <a:xfrm>
            <a:off x="984739" y="968992"/>
            <a:ext cx="10519874" cy="5642824"/>
          </a:xfrm>
        </p:spPr>
        <p:txBody>
          <a:bodyPr>
            <a:normAutofit fontScale="25000" lnSpcReduction="20000"/>
          </a:bodyPr>
          <a:lstStyle/>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une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fièvre 39°- 40°, accompagnée de douleurs </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spontanée de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l'hypochondre </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droit,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irradiant dans l'épaule droite, bloquant l'inspiration profonde qui la </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majore.</a:t>
            </a:r>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Elle peut </a:t>
            </a:r>
            <a:r>
              <a:rPr lang="fr-FR" sz="112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etre</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provoquée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lors de la recherche prudente du signe de l'ébranlement. (Du tranchant de la main droite, on percute l'autre main posée à plat sur le foie</a:t>
            </a: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p>
          <a:p>
            <a:pPr lvl="0">
              <a:lnSpc>
                <a:spcPct val="150000"/>
              </a:lnSpc>
              <a:buFont typeface="Calibri" panose="020F0502020204030204" pitchFamily="34" charset="0"/>
              <a:buChar char="-"/>
            </a:pPr>
            <a:r>
              <a:rPr lang="fr-FR" sz="112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 l’examen physique on a </a:t>
            </a:r>
            <a:r>
              <a:rPr lang="fr-FR" sz="112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hépatomégalie et une altération de l'état général.</a:t>
            </a:r>
            <a:endParaRPr lang="fr-FR" sz="11200" dirty="0">
              <a:ea typeface="Calibri" panose="020F0502020204030204" pitchFamily="34" charset="0"/>
              <a:cs typeface="Times New Roman" panose="02020603050405020304" pitchFamily="18" charset="0"/>
            </a:endParaRPr>
          </a:p>
          <a:p>
            <a:pPr marL="0" indent="0">
              <a:lnSpc>
                <a:spcPct val="150000"/>
              </a:lnSpc>
              <a:buNone/>
            </a:pPr>
            <a:endParaRPr lang="fr-FR" sz="11200" dirty="0"/>
          </a:p>
          <a:p>
            <a:endParaRPr lang="fr-FR" dirty="0"/>
          </a:p>
        </p:txBody>
      </p:sp>
    </p:spTree>
    <p:extLst>
      <p:ext uri="{BB962C8B-B14F-4D97-AF65-F5344CB8AC3E}">
        <p14:creationId xmlns:p14="http://schemas.microsoft.com/office/powerpoint/2010/main" val="125931874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37832" y="269268"/>
            <a:ext cx="8911687" cy="658780"/>
          </a:xfrm>
        </p:spPr>
        <p:txBody>
          <a:bodyPr>
            <a:normAutofit fontScale="90000"/>
          </a:bodyPr>
          <a:lstStyle/>
          <a:p>
            <a:pPr lvl="2" algn="ctr" defTabSz="457200" rtl="0">
              <a:spcBef>
                <a:spcPct val="0"/>
              </a:spcBef>
            </a:pPr>
            <a:r>
              <a:rPr lang="fr-FR" sz="2800" b="1" dirty="0">
                <a:solidFill>
                  <a:srgbClr val="000000"/>
                </a:solidFill>
                <a:latin typeface="Tahoma" panose="020B0604030504040204" pitchFamily="34" charset="0"/>
                <a:ea typeface="Calibri" panose="020F0502020204030204" pitchFamily="34" charset="0"/>
              </a:rPr>
              <a:t>Diagnostic</a:t>
            </a:r>
            <a:r>
              <a:rPr lang="fr-FR" sz="1600" dirty="0">
                <a:solidFill>
                  <a:srgbClr val="000000"/>
                </a:solidFill>
                <a:latin typeface="Courier New" panose="02070309020205020404" pitchFamily="49" charset="0"/>
                <a:ea typeface="Calibri" panose="020F0502020204030204" pitchFamily="34" charset="0"/>
              </a:rPr>
              <a:t/>
            </a:r>
            <a:br>
              <a:rPr lang="fr-FR" sz="1600" dirty="0">
                <a:solidFill>
                  <a:srgbClr val="000000"/>
                </a:solidFill>
                <a:latin typeface="Courier New" panose="02070309020205020404" pitchFamily="49" charset="0"/>
                <a:ea typeface="Calibri" panose="020F0502020204030204" pitchFamily="34" charset="0"/>
              </a:rPr>
            </a:br>
            <a:endParaRPr lang="fr-FR" dirty="0"/>
          </a:p>
        </p:txBody>
      </p:sp>
      <p:sp>
        <p:nvSpPr>
          <p:cNvPr id="3" name="Espace réservé du contenu 2"/>
          <p:cNvSpPr>
            <a:spLocks noGrp="1"/>
          </p:cNvSpPr>
          <p:nvPr>
            <p:ph idx="1"/>
          </p:nvPr>
        </p:nvSpPr>
        <p:spPr>
          <a:xfrm>
            <a:off x="818866" y="928048"/>
            <a:ext cx="10631155" cy="5650173"/>
          </a:xfrm>
        </p:spPr>
        <p:txBody>
          <a:bodyPr>
            <a:noAutofit/>
          </a:bodyPr>
          <a:lstStyle/>
          <a:p>
            <a:pPr algn="just">
              <a:lnSpc>
                <a:spcPct val="150000"/>
              </a:lnSpc>
            </a:pPr>
            <a:r>
              <a:rPr lang="fr-FR" sz="2800" dirty="0">
                <a:solidFill>
                  <a:srgbClr val="000000"/>
                </a:solidFill>
                <a:latin typeface="Tahoma" panose="020B0604030504040204" pitchFamily="34" charset="0"/>
              </a:rPr>
              <a:t>L'hémogramme montre une hyper leucocytose à polynucléaires neutrophiles. (</a:t>
            </a:r>
            <a:r>
              <a:rPr lang="fr-FR" sz="2800" dirty="0">
                <a:solidFill>
                  <a:srgbClr val="FF0000"/>
                </a:solidFill>
                <a:latin typeface="Tahoma" panose="020B0604030504040204" pitchFamily="34" charset="0"/>
              </a:rPr>
              <a:t>L'amibiase ne donne jamais d'</a:t>
            </a:r>
            <a:r>
              <a:rPr lang="fr-FR" sz="2800" dirty="0" err="1">
                <a:solidFill>
                  <a:srgbClr val="FF0000"/>
                </a:solidFill>
                <a:latin typeface="Tahoma" panose="020B0604030504040204" pitchFamily="34" charset="0"/>
              </a:rPr>
              <a:t>hyperéosinophilie</a:t>
            </a:r>
            <a:r>
              <a:rPr lang="fr-FR" sz="2800" dirty="0">
                <a:solidFill>
                  <a:srgbClr val="000000"/>
                </a:solidFill>
                <a:latin typeface="Tahoma" panose="020B0604030504040204" pitchFamily="34" charset="0"/>
              </a:rPr>
              <a:t>).</a:t>
            </a:r>
            <a:endParaRPr lang="fr-FR" sz="2800" dirty="0"/>
          </a:p>
          <a:p>
            <a:pPr algn="just">
              <a:lnSpc>
                <a:spcPct val="150000"/>
              </a:lnSpc>
            </a:pPr>
            <a:r>
              <a:rPr lang="fr-FR" sz="2800" dirty="0">
                <a:solidFill>
                  <a:srgbClr val="000000"/>
                </a:solidFill>
                <a:latin typeface="Tahoma" panose="020B0604030504040204" pitchFamily="34" charset="0"/>
              </a:rPr>
              <a:t>La vitesse de sédimentation est supérieure à 50 mm à la 1</a:t>
            </a:r>
            <a:r>
              <a:rPr lang="fr-FR" sz="2800" baseline="30000" dirty="0">
                <a:solidFill>
                  <a:srgbClr val="000000"/>
                </a:solidFill>
                <a:latin typeface="Tahoma" panose="020B0604030504040204" pitchFamily="34" charset="0"/>
              </a:rPr>
              <a:t>ère</a:t>
            </a:r>
            <a:r>
              <a:rPr lang="fr-FR" sz="2800" dirty="0">
                <a:solidFill>
                  <a:srgbClr val="000000"/>
                </a:solidFill>
                <a:latin typeface="Tahoma" panose="020B0604030504040204" pitchFamily="34" charset="0"/>
              </a:rPr>
              <a:t>heure et </a:t>
            </a:r>
            <a:endParaRPr lang="fr-FR" sz="2800" dirty="0" smtClean="0">
              <a:solidFill>
                <a:srgbClr val="000000"/>
              </a:solidFill>
              <a:latin typeface="Tahoma" panose="020B0604030504040204" pitchFamily="34" charset="0"/>
            </a:endParaRPr>
          </a:p>
          <a:p>
            <a:pPr algn="just">
              <a:lnSpc>
                <a:spcPct val="150000"/>
              </a:lnSpc>
            </a:pPr>
            <a:r>
              <a:rPr lang="fr-FR" sz="2800" dirty="0" smtClean="0">
                <a:solidFill>
                  <a:srgbClr val="000000"/>
                </a:solidFill>
                <a:latin typeface="Tahoma" panose="020B0604030504040204" pitchFamily="34" charset="0"/>
              </a:rPr>
              <a:t>Le taux </a:t>
            </a:r>
            <a:r>
              <a:rPr lang="fr-FR" sz="2800" dirty="0">
                <a:solidFill>
                  <a:srgbClr val="000000"/>
                </a:solidFill>
                <a:latin typeface="Tahoma" panose="020B0604030504040204" pitchFamily="34" charset="0"/>
              </a:rPr>
              <a:t>des enzymes hépatiques (phosphatases alcalines, transaminases) est inconstant et modérément élevé.</a:t>
            </a:r>
            <a:endParaRPr lang="fr-FR" sz="2800" dirty="0"/>
          </a:p>
          <a:p>
            <a:pPr algn="just">
              <a:lnSpc>
                <a:spcPct val="150000"/>
              </a:lnSpc>
            </a:pPr>
            <a:r>
              <a:rPr lang="fr-FR" sz="2800" dirty="0">
                <a:solidFill>
                  <a:srgbClr val="000000"/>
                </a:solidFill>
                <a:latin typeface="Tahoma" panose="020B0604030504040204" pitchFamily="34" charset="0"/>
              </a:rPr>
              <a:t>La radiographie du thorax montre une coupole surélevée, immobile, avec souvent un épanchement pleural du même côté.</a:t>
            </a:r>
            <a:endParaRPr lang="fr-FR" sz="2800" dirty="0"/>
          </a:p>
          <a:p>
            <a:pPr algn="just"/>
            <a:endParaRPr lang="fr-FR" sz="2800" dirty="0"/>
          </a:p>
        </p:txBody>
      </p:sp>
    </p:spTree>
    <p:extLst>
      <p:ext uri="{BB962C8B-B14F-4D97-AF65-F5344CB8AC3E}">
        <p14:creationId xmlns:p14="http://schemas.microsoft.com/office/powerpoint/2010/main" val="329693102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89649"/>
            <a:ext cx="8911687" cy="852998"/>
          </a:xfrm>
        </p:spPr>
        <p:txBody>
          <a:bodyPr/>
          <a:lstStyle/>
          <a:p>
            <a:r>
              <a:rPr lang="fr-FR" b="1" dirty="0" smtClean="0">
                <a:solidFill>
                  <a:srgbClr val="000000"/>
                </a:solidFill>
                <a:latin typeface="Tahoma" panose="020B0604030504040204" pitchFamily="34" charset="0"/>
                <a:ea typeface="Courier New" panose="02070309020205020404" pitchFamily="49" charset="0"/>
              </a:rPr>
              <a:t>Évolution et Traitement</a:t>
            </a:r>
            <a:endParaRPr lang="fr-FR" dirty="0"/>
          </a:p>
        </p:txBody>
      </p:sp>
      <p:sp>
        <p:nvSpPr>
          <p:cNvPr id="3" name="Espace réservé du contenu 2"/>
          <p:cNvSpPr>
            <a:spLocks noGrp="1"/>
          </p:cNvSpPr>
          <p:nvPr>
            <p:ph idx="1"/>
          </p:nvPr>
        </p:nvSpPr>
        <p:spPr>
          <a:xfrm>
            <a:off x="1031631" y="1242647"/>
            <a:ext cx="10472981" cy="5017475"/>
          </a:xfrm>
        </p:spPr>
        <p:txBody>
          <a:bodyPr>
            <a:normAutofit fontScale="92500" lnSpcReduction="20000"/>
          </a:bodyPr>
          <a:lstStyle/>
          <a:p>
            <a:pPr>
              <a:lnSpc>
                <a:spcPct val="150000"/>
              </a:lnSpc>
            </a:pPr>
            <a:r>
              <a:rPr lang="fr-FR" sz="2800" dirty="0">
                <a:solidFill>
                  <a:srgbClr val="000000"/>
                </a:solidFill>
                <a:latin typeface="Tahoma" panose="020B0604030504040204" pitchFamily="34" charset="0"/>
              </a:rPr>
              <a:t>Sous traitement, </a:t>
            </a:r>
            <a:r>
              <a:rPr lang="fr-FR" sz="2800" dirty="0" smtClean="0">
                <a:solidFill>
                  <a:srgbClr val="000000"/>
                </a:solidFill>
                <a:latin typeface="Tahoma" panose="020B0604030504040204" pitchFamily="34" charset="0"/>
              </a:rPr>
              <a:t>l’évolution se </a:t>
            </a:r>
            <a:r>
              <a:rPr lang="fr-FR" sz="2800" dirty="0">
                <a:solidFill>
                  <a:srgbClr val="000000"/>
                </a:solidFill>
                <a:latin typeface="Tahoma" panose="020B0604030504040204" pitchFamily="34" charset="0"/>
              </a:rPr>
              <a:t>fait vers la guérison dans la très grande majorité des cas</a:t>
            </a:r>
            <a:r>
              <a:rPr lang="fr-FR" sz="2800" dirty="0" smtClean="0">
                <a:solidFill>
                  <a:srgbClr val="000000"/>
                </a:solidFill>
                <a:latin typeface="Tahoma" panose="020B0604030504040204" pitchFamily="34" charset="0"/>
              </a:rPr>
              <a:t>.</a:t>
            </a:r>
          </a:p>
          <a:p>
            <a:pPr>
              <a:lnSpc>
                <a:spcPct val="150000"/>
              </a:lnSpc>
            </a:pPr>
            <a:r>
              <a:rPr lang="fr-FR" sz="2800" dirty="0" smtClean="0">
                <a:solidFill>
                  <a:srgbClr val="000000"/>
                </a:solidFill>
                <a:latin typeface="Tahoma" panose="020B0604030504040204" pitchFamily="34" charset="0"/>
              </a:rPr>
              <a:t> </a:t>
            </a:r>
            <a:r>
              <a:rPr lang="fr-FR" sz="2800" dirty="0">
                <a:solidFill>
                  <a:srgbClr val="000000"/>
                </a:solidFill>
                <a:latin typeface="Tahoma" panose="020B0604030504040204" pitchFamily="34" charset="0"/>
              </a:rPr>
              <a:t>Parfois surviennent des complications telles que:</a:t>
            </a:r>
            <a:endParaRPr lang="fr-FR" sz="2800" dirty="0"/>
          </a:p>
          <a:p>
            <a:pPr lvl="0">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ictère, par compression des voies biliaires,</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rupture dans le péritoine, le péricarde, la plèvre ou le médiastin,</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Extension progressive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pleuro-pulmonaire</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progressive</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ea typeface="Calibri" panose="020F0502020204030204" pitchFamily="34" charset="0"/>
              <a:cs typeface="Times New Roman" panose="02020603050405020304" pitchFamily="18" charset="0"/>
            </a:endParaRPr>
          </a:p>
          <a:p>
            <a:pPr>
              <a:lnSpc>
                <a:spcPct val="150000"/>
              </a:lnSpc>
            </a:pPr>
            <a:r>
              <a:rPr lang="fr-FR" sz="2800" spc="30" dirty="0">
                <a:solidFill>
                  <a:srgbClr val="000000"/>
                </a:solidFill>
                <a:latin typeface="Tahoma" panose="020B0604030504040204" pitchFamily="34" charset="0"/>
                <a:ea typeface="Times New Roman" panose="02020603050405020304" pitchFamily="18" charset="0"/>
              </a:rPr>
              <a:t>En plus du traitement de l'amibiase colique, il faut faire un drainage chirurgical du contenu de l'abcès.</a:t>
            </a:r>
            <a:endParaRPr lang="fr-FR" sz="2800" spc="30" dirty="0">
              <a:latin typeface="Times New Roman" panose="02020603050405020304" pitchFamily="18" charset="0"/>
              <a:ea typeface="Times New Roman" panose="02020603050405020304" pitchFamily="18" charset="0"/>
            </a:endParaRPr>
          </a:p>
          <a:p>
            <a:pPr>
              <a:lnSpc>
                <a:spcPct val="150000"/>
              </a:lnSpc>
            </a:pPr>
            <a:endParaRPr lang="fr-FR" dirty="0"/>
          </a:p>
        </p:txBody>
      </p:sp>
    </p:spTree>
    <p:extLst>
      <p:ext uri="{BB962C8B-B14F-4D97-AF65-F5344CB8AC3E}">
        <p14:creationId xmlns:p14="http://schemas.microsoft.com/office/powerpoint/2010/main" val="178570340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1" y="1895707"/>
            <a:ext cx="10834254" cy="2066694"/>
          </a:xfrm>
        </p:spPr>
        <p:style>
          <a:lnRef idx="1">
            <a:schemeClr val="accent2"/>
          </a:lnRef>
          <a:fillRef idx="2">
            <a:schemeClr val="accent2"/>
          </a:fillRef>
          <a:effectRef idx="1">
            <a:schemeClr val="accent2"/>
          </a:effectRef>
          <a:fontRef idx="minor">
            <a:schemeClr val="dk1"/>
          </a:fontRef>
        </p:style>
        <p:txBody>
          <a:bodyPr>
            <a:noAutofit/>
          </a:bodyPr>
          <a:lstStyle/>
          <a:p>
            <a:pPr algn="ctr"/>
            <a:r>
              <a:rPr lang="fr-FR" b="1" dirty="0">
                <a:latin typeface="Tahoma" panose="020B0604030504040204" pitchFamily="34" charset="0"/>
              </a:rPr>
              <a:t>TRYPANOSOMIASES HUMAINES </a:t>
            </a:r>
            <a:r>
              <a:rPr lang="fr-FR" b="1" dirty="0" smtClean="0">
                <a:latin typeface="Tahoma" panose="020B0604030504040204" pitchFamily="34" charset="0"/>
              </a:rPr>
              <a:t>AFRICAINES OU </a:t>
            </a:r>
            <a:r>
              <a:rPr lang="fr-FR" dirty="0"/>
              <a:t/>
            </a:r>
            <a:br>
              <a:rPr lang="fr-FR" dirty="0"/>
            </a:br>
            <a:r>
              <a:rPr lang="fr-FR" b="1" dirty="0">
                <a:latin typeface="Tahoma" panose="020B0604030504040204" pitchFamily="34" charset="0"/>
              </a:rPr>
              <a:t>MALADIE DU SOMMEIL</a:t>
            </a:r>
            <a:r>
              <a:rPr lang="fr-FR" dirty="0"/>
              <a:t/>
            </a:r>
            <a:br>
              <a:rPr lang="fr-FR" dirty="0"/>
            </a:br>
            <a:endParaRPr lang="fr-FR" dirty="0"/>
          </a:p>
        </p:txBody>
      </p:sp>
    </p:spTree>
    <p:extLst>
      <p:ext uri="{BB962C8B-B14F-4D97-AF65-F5344CB8AC3E}">
        <p14:creationId xmlns:p14="http://schemas.microsoft.com/office/powerpoint/2010/main" val="364042422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12985" y="624110"/>
            <a:ext cx="10191627" cy="1280890"/>
          </a:xfrm>
        </p:spPr>
        <p:txBody>
          <a:bodyPr>
            <a:normAutofit/>
          </a:bodyPr>
          <a:lstStyle/>
          <a:p>
            <a:pPr lvl="0" algn="ctr"/>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DEFINITION</a:t>
            </a:r>
            <a:r>
              <a:rPr lang="fr-FR" sz="2800" dirty="0">
                <a:solidFill>
                  <a:srgbClr val="000000"/>
                </a:solidFill>
                <a:latin typeface="Courier New" panose="02070309020205020404" pitchFamily="49" charset="0"/>
                <a:ea typeface="Courier New" panose="02070309020205020404" pitchFamily="49" charset="0"/>
              </a:rPr>
              <a:t/>
            </a:r>
            <a:br>
              <a:rPr lang="fr-FR" sz="2800"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1312985" y="2133600"/>
            <a:ext cx="10191627" cy="3777622"/>
          </a:xfrm>
        </p:spPr>
        <p:txBody>
          <a:bodyPr>
            <a:normAutofit/>
          </a:bodyPr>
          <a:lstStyle/>
          <a:p>
            <a:pPr indent="-927100" algn="just">
              <a:lnSpc>
                <a:spcPct val="150000"/>
              </a:lnSpc>
              <a:spcBef>
                <a:spcPts val="300"/>
              </a:spcBef>
            </a:pPr>
            <a:r>
              <a:rPr lang="fr-FR" sz="2800" spc="10" dirty="0" smtClean="0">
                <a:solidFill>
                  <a:srgbClr val="000000"/>
                </a:solidFill>
                <a:latin typeface="Tahoma" panose="020B0604030504040204" pitchFamily="34" charset="0"/>
                <a:ea typeface="Times New Roman" panose="02020603050405020304" pitchFamily="18" charset="0"/>
              </a:rPr>
              <a:t>Les </a:t>
            </a:r>
            <a:r>
              <a:rPr lang="fr-FR" sz="2800" spc="10" dirty="0">
                <a:solidFill>
                  <a:srgbClr val="000000"/>
                </a:solidFill>
                <a:latin typeface="Tahoma" panose="020B0604030504040204" pitchFamily="34" charset="0"/>
                <a:ea typeface="Times New Roman" panose="02020603050405020304" pitchFamily="18" charset="0"/>
              </a:rPr>
              <a:t>trypanosomiases humaines africaines sont des affections parasitaires transmises à l'homme par la mouche tsé-tsé ou glossine, se caractérisant par une fièvre irrégulière, des adénopathies suivies par un syndrome </a:t>
            </a:r>
            <a:r>
              <a:rPr lang="fr-FR" sz="2800" spc="10" dirty="0" err="1">
                <a:solidFill>
                  <a:srgbClr val="000000"/>
                </a:solidFill>
                <a:latin typeface="Tahoma" panose="020B0604030504040204" pitchFamily="34" charset="0"/>
                <a:ea typeface="Times New Roman" panose="02020603050405020304" pitchFamily="18" charset="0"/>
              </a:rPr>
              <a:t>méningo-encéphalitique</a:t>
            </a:r>
            <a:r>
              <a:rPr lang="fr-FR" sz="2800" spc="10" dirty="0">
                <a:solidFill>
                  <a:srgbClr val="000000"/>
                </a:solidFill>
                <a:latin typeface="Tahoma" panose="020B0604030504040204" pitchFamily="34" charset="0"/>
                <a:ea typeface="Times New Roman" panose="02020603050405020304" pitchFamily="18" charset="0"/>
              </a:rPr>
              <a:t>.</a:t>
            </a:r>
            <a:endParaRPr lang="fr-FR" sz="2800" spc="1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89522419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33635"/>
          </a:xfrm>
        </p:spPr>
        <p:txBody>
          <a:bodyPr/>
          <a:lstStyle/>
          <a:p>
            <a:pPr algn="ctr"/>
            <a:r>
              <a:rPr lang="fr-FR" b="1" dirty="0" smtClean="0">
                <a:solidFill>
                  <a:schemeClr val="accent1"/>
                </a:solidFill>
              </a:rPr>
              <a:t>MOUCHE TSE-TSE OU GLOSSINE</a:t>
            </a:r>
            <a:endParaRPr lang="fr-FR" b="1" dirty="0">
              <a:solidFill>
                <a:schemeClr val="accent1"/>
              </a:solidFill>
            </a:endParaRPr>
          </a:p>
        </p:txBody>
      </p:sp>
      <p:pic>
        <p:nvPicPr>
          <p:cNvPr id="2054" name="Picture 6" descr="Tsetse-BKF-2.jpg (3006×200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9246" y="1357745"/>
            <a:ext cx="6317856" cy="498763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lossina-morsitans-adult-tsetse-fly-2.jpg (800×6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7102" y="1357745"/>
            <a:ext cx="5257223" cy="4987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25698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EPIDEMIOLOGIE</a:t>
            </a:r>
            <a:r>
              <a:rPr lang="fr-FR" dirty="0">
                <a:solidFill>
                  <a:srgbClr val="000000"/>
                </a:solidFill>
                <a:latin typeface="Courier New" panose="02070309020205020404" pitchFamily="49" charset="0"/>
                <a:ea typeface="Courier New" panose="02070309020205020404" pitchFamily="49" charset="0"/>
              </a:rPr>
              <a:t/>
            </a:r>
            <a:br>
              <a:rPr lang="fr-FR"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844062" y="1336431"/>
            <a:ext cx="10660550" cy="4574791"/>
          </a:xfrm>
        </p:spPr>
        <p:txBody>
          <a:bodyPr>
            <a:normAutofit/>
          </a:bodyPr>
          <a:lstStyle/>
          <a:p>
            <a:pPr indent="-927100" algn="just">
              <a:lnSpc>
                <a:spcPct val="150000"/>
              </a:lnSpc>
              <a:spcBef>
                <a:spcPts val="300"/>
              </a:spcBef>
            </a:pPr>
            <a:r>
              <a:rPr lang="fr-FR" sz="2800" spc="10" dirty="0">
                <a:solidFill>
                  <a:srgbClr val="000000"/>
                </a:solidFill>
                <a:latin typeface="Tahoma" panose="020B0604030504040204" pitchFamily="34" charset="0"/>
                <a:ea typeface="Times New Roman" panose="02020603050405020304" pitchFamily="18" charset="0"/>
              </a:rPr>
              <a:t>Endémiques dans 36 pays africains, ces affections concernent 50 millions d'êtres humains exposés au risque de contamination, mais 5 à 10 millions seulement sont maintenant sous surveillance régulière.</a:t>
            </a:r>
            <a:endParaRPr lang="fr-FR" sz="2800" spc="10" dirty="0">
              <a:latin typeface="Times New Roman" panose="02020603050405020304" pitchFamily="18" charset="0"/>
              <a:ea typeface="Times New Roman" panose="02020603050405020304" pitchFamily="18" charset="0"/>
            </a:endParaRPr>
          </a:p>
          <a:p>
            <a:pPr algn="just">
              <a:lnSpc>
                <a:spcPct val="150000"/>
              </a:lnSpc>
            </a:pPr>
            <a:r>
              <a:rPr lang="fr-FR" sz="2800" dirty="0">
                <a:solidFill>
                  <a:srgbClr val="000000"/>
                </a:solidFill>
                <a:latin typeface="Tahoma" panose="020B0604030504040204" pitchFamily="34" charset="0"/>
                <a:ea typeface="Courier New" panose="02070309020205020404" pitchFamily="49" charset="0"/>
              </a:rPr>
              <a:t>Deux formes sont décrites: Trypanosomiase </a:t>
            </a:r>
            <a:r>
              <a:rPr lang="fr-FR" sz="2800" dirty="0" err="1">
                <a:solidFill>
                  <a:srgbClr val="000000"/>
                </a:solidFill>
                <a:latin typeface="Tahoma" panose="020B0604030504040204" pitchFamily="34" charset="0"/>
                <a:ea typeface="Courier New" panose="02070309020205020404" pitchFamily="49" charset="0"/>
              </a:rPr>
              <a:t>gambiense</a:t>
            </a:r>
            <a:r>
              <a:rPr lang="fr-FR" sz="2800" dirty="0">
                <a:solidFill>
                  <a:srgbClr val="000000"/>
                </a:solidFill>
                <a:latin typeface="Tahoma" panose="020B0604030504040204" pitchFamily="34" charset="0"/>
                <a:ea typeface="Courier New" panose="02070309020205020404" pitchFamily="49" charset="0"/>
              </a:rPr>
              <a:t> et Trypanosomiase rhodésienne</a:t>
            </a:r>
            <a:endParaRPr lang="fr-FR" sz="2800" dirty="0"/>
          </a:p>
        </p:txBody>
      </p:sp>
    </p:spTree>
    <p:extLst>
      <p:ext uri="{BB962C8B-B14F-4D97-AF65-F5344CB8AC3E}">
        <p14:creationId xmlns:p14="http://schemas.microsoft.com/office/powerpoint/2010/main" val="178938305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82659"/>
          </a:xfrm>
        </p:spPr>
        <p:txBody>
          <a:bodyPr/>
          <a:lstStyle/>
          <a:p>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Trypanosomiase à </a:t>
            </a:r>
            <a:r>
              <a:rPr lang="fr-FR" sz="2800" b="1" spc="25" dirty="0" err="1"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trypanosoma</a:t>
            </a:r>
            <a:r>
              <a:rPr lang="fr-FR" sz="28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 </a:t>
            </a:r>
            <a:r>
              <a:rPr lang="fr-FR" sz="2800" b="1" spc="25" dirty="0" err="1"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gambiense</a:t>
            </a:r>
            <a:endParaRPr lang="fr-FR" dirty="0"/>
          </a:p>
        </p:txBody>
      </p:sp>
      <p:sp>
        <p:nvSpPr>
          <p:cNvPr id="3" name="Espace réservé du contenu 2"/>
          <p:cNvSpPr>
            <a:spLocks noGrp="1"/>
          </p:cNvSpPr>
          <p:nvPr>
            <p:ph idx="1"/>
          </p:nvPr>
        </p:nvSpPr>
        <p:spPr>
          <a:xfrm>
            <a:off x="844062" y="1406769"/>
            <a:ext cx="10660550" cy="4876800"/>
          </a:xfrm>
        </p:spPr>
        <p:txBody>
          <a:bodyPr>
            <a:normAutofit lnSpcReduction="10000"/>
          </a:bodyPr>
          <a:lstStyle/>
          <a:p>
            <a:pPr algn="just">
              <a:lnSpc>
                <a:spcPct val="150000"/>
              </a:lnSpc>
            </a:pPr>
            <a:r>
              <a:rPr lang="fr-FR" sz="2800" spc="10" dirty="0">
                <a:solidFill>
                  <a:srgbClr val="000000"/>
                </a:solidFill>
                <a:latin typeface="Tahoma" panose="020B0604030504040204" pitchFamily="34" charset="0"/>
                <a:ea typeface="Times New Roman" panose="02020603050405020304" pitchFamily="18" charset="0"/>
              </a:rPr>
              <a:t>Elle sévit en Afrique occidentale et centrale intertropicale.</a:t>
            </a:r>
            <a:endParaRPr lang="fr-FR" sz="2800" spc="10" dirty="0">
              <a:latin typeface="Times New Roman" panose="02020603050405020304" pitchFamily="18" charset="0"/>
              <a:ea typeface="Times New Roman" panose="02020603050405020304" pitchFamily="18" charset="0"/>
            </a:endParaRPr>
          </a:p>
          <a:p>
            <a:pPr algn="just">
              <a:lnSpc>
                <a:spcPct val="150000"/>
              </a:lnSpc>
            </a:pPr>
            <a:r>
              <a:rPr lang="fr-FR" sz="2800" dirty="0">
                <a:solidFill>
                  <a:srgbClr val="000000"/>
                </a:solidFill>
                <a:latin typeface="Tahoma" panose="020B0604030504040204" pitchFamily="34" charset="0"/>
                <a:ea typeface="Courier New" panose="02070309020205020404" pitchFamily="49" charset="0"/>
              </a:rPr>
              <a:t>Au Nigeria, 13 millions d'hommes au moins sont exposés à l'affection, notamment en zone </a:t>
            </a:r>
            <a:r>
              <a:rPr lang="fr-FR" sz="2800" dirty="0" smtClean="0">
                <a:solidFill>
                  <a:srgbClr val="000000"/>
                </a:solidFill>
                <a:latin typeface="Tahoma" panose="020B0604030504040204" pitchFamily="34" charset="0"/>
                <a:ea typeface="Courier New" panose="02070309020205020404" pitchFamily="49" charset="0"/>
              </a:rPr>
              <a:t>biafraise</a:t>
            </a:r>
            <a:r>
              <a:rPr lang="fr-FR" sz="2800" spc="10" dirty="0" smtClean="0">
                <a:solidFill>
                  <a:srgbClr val="000000"/>
                </a:solidFill>
                <a:latin typeface="Tahoma" panose="020B0604030504040204" pitchFamily="34" charset="0"/>
                <a:ea typeface="Times New Roman" panose="02020603050405020304" pitchFamily="18" charset="0"/>
              </a:rPr>
              <a:t>.,</a:t>
            </a: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 La maladie </a:t>
            </a:r>
            <a:r>
              <a:rPr lang="fr-FR" sz="2800" spc="10" dirty="0">
                <a:solidFill>
                  <a:srgbClr val="000000"/>
                </a:solidFill>
                <a:latin typeface="Tahoma" panose="020B0604030504040204" pitchFamily="34" charset="0"/>
                <a:ea typeface="Times New Roman" panose="02020603050405020304" pitchFamily="18" charset="0"/>
              </a:rPr>
              <a:t>sévit au Cameroun, au Congo, au Gabon, en R.C.A., en Guinée Equatoriale et au Tchad.</a:t>
            </a:r>
            <a:endParaRPr lang="fr-FR" sz="2800" spc="10" dirty="0">
              <a:latin typeface="Times New Roman" panose="02020603050405020304" pitchFamily="18" charset="0"/>
              <a:ea typeface="Times New Roman" panose="02020603050405020304" pitchFamily="18" charset="0"/>
            </a:endParaRPr>
          </a:p>
          <a:p>
            <a:pPr algn="just">
              <a:lnSpc>
                <a:spcPct val="150000"/>
              </a:lnSpc>
            </a:pPr>
            <a:r>
              <a:rPr lang="fr-FR" sz="2800" spc="10" dirty="0">
                <a:solidFill>
                  <a:srgbClr val="000000"/>
                </a:solidFill>
                <a:latin typeface="Tahoma" panose="020B0604030504040204" pitchFamily="34" charset="0"/>
                <a:ea typeface="Times New Roman" panose="02020603050405020304" pitchFamily="18" charset="0"/>
              </a:rPr>
              <a:t>Ses agents vecteurs sont les mouches tsé-tsé, </a:t>
            </a:r>
            <a:r>
              <a:rPr lang="fr-FR" sz="2800" spc="10" dirty="0" smtClean="0">
                <a:solidFill>
                  <a:srgbClr val="000000"/>
                </a:solidFill>
                <a:latin typeface="Tahoma" panose="020B0604030504040204" pitchFamily="34" charset="0"/>
                <a:ea typeface="Times New Roman" panose="02020603050405020304" pitchFamily="18" charset="0"/>
              </a:rPr>
              <a:t>vivant </a:t>
            </a:r>
            <a:r>
              <a:rPr lang="fr-FR" sz="2800" spc="10" dirty="0">
                <a:solidFill>
                  <a:srgbClr val="000000"/>
                </a:solidFill>
                <a:latin typeface="Tahoma" panose="020B0604030504040204" pitchFamily="34" charset="0"/>
                <a:ea typeface="Times New Roman" panose="02020603050405020304" pitchFamily="18" charset="0"/>
              </a:rPr>
              <a:t>dans les galeries forestières ; tous hématophages.</a:t>
            </a:r>
            <a:endParaRPr lang="fr-FR" sz="2800" spc="10" dirty="0">
              <a:latin typeface="Times New Roman" panose="02020603050405020304" pitchFamily="18" charset="0"/>
              <a:ea typeface="Times New Roman" panose="02020603050405020304" pitchFamily="18" charset="0"/>
            </a:endParaRPr>
          </a:p>
          <a:p>
            <a:pPr>
              <a:lnSpc>
                <a:spcPct val="150000"/>
              </a:lnSpc>
            </a:pPr>
            <a:endParaRPr lang="fr-FR" dirty="0"/>
          </a:p>
        </p:txBody>
      </p:sp>
    </p:spTree>
    <p:extLst>
      <p:ext uri="{BB962C8B-B14F-4D97-AF65-F5344CB8AC3E}">
        <p14:creationId xmlns:p14="http://schemas.microsoft.com/office/powerpoint/2010/main" val="111414144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10687" y="241973"/>
            <a:ext cx="9593925" cy="759213"/>
          </a:xfrm>
        </p:spPr>
        <p:txBody>
          <a:bodyPr>
            <a:normAutofit fontScale="90000"/>
          </a:bodyPr>
          <a:lstStyle/>
          <a:p>
            <a:pPr lvl="1" algn="l" defTabSz="457200" rtl="0">
              <a:spcBef>
                <a:spcPct val="0"/>
              </a:spcBef>
            </a:pPr>
            <a:r>
              <a:rPr lang="fr-FR" sz="36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Trypanosomiase à </a:t>
            </a:r>
            <a:r>
              <a:rPr lang="fr-FR" sz="3600" b="1" spc="25" dirty="0" err="1"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trypanosoma</a:t>
            </a:r>
            <a:r>
              <a:rPr lang="fr-FR" sz="36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 rhodésien</a:t>
            </a:r>
            <a:r>
              <a:rPr lang="fr-FR" sz="3200" dirty="0">
                <a:solidFill>
                  <a:srgbClr val="000000"/>
                </a:solidFill>
                <a:latin typeface="Courier New" panose="02070309020205020404" pitchFamily="49" charset="0"/>
                <a:ea typeface="Arial Unicode MS" panose="020B0604020202020204" pitchFamily="34" charset="-128"/>
              </a:rPr>
              <a:t/>
            </a:r>
            <a:br>
              <a:rPr lang="fr-FR" sz="3200"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818866" y="1001186"/>
            <a:ext cx="10685746" cy="5331375"/>
          </a:xfrm>
        </p:spPr>
        <p:txBody>
          <a:bodyPr>
            <a:noAutofit/>
          </a:bodyPr>
          <a:lstStyle/>
          <a:p>
            <a:pPr>
              <a:lnSpc>
                <a:spcPct val="150000"/>
              </a:lnSpc>
            </a:pPr>
            <a:r>
              <a:rPr lang="fr-FR" sz="2600" dirty="0">
                <a:solidFill>
                  <a:srgbClr val="000000"/>
                </a:solidFill>
                <a:latin typeface="Tahoma" panose="020B0604030504040204" pitchFamily="34" charset="0"/>
              </a:rPr>
              <a:t>Elle </a:t>
            </a:r>
            <a:r>
              <a:rPr lang="fr-FR" sz="2600" dirty="0" smtClean="0">
                <a:solidFill>
                  <a:srgbClr val="000000"/>
                </a:solidFill>
                <a:latin typeface="Tahoma" panose="020B0604030504040204" pitchFamily="34" charset="0"/>
              </a:rPr>
              <a:t>s'étend depuis </a:t>
            </a:r>
            <a:r>
              <a:rPr lang="fr-FR" sz="2600" dirty="0">
                <a:solidFill>
                  <a:srgbClr val="000000"/>
                </a:solidFill>
                <a:latin typeface="Tahoma" panose="020B0604030504040204" pitchFamily="34" charset="0"/>
              </a:rPr>
              <a:t>l'est des grands des lacs et </a:t>
            </a:r>
            <a:r>
              <a:rPr lang="fr-FR" sz="2600" dirty="0" smtClean="0">
                <a:solidFill>
                  <a:srgbClr val="000000"/>
                </a:solidFill>
                <a:latin typeface="Tahoma" panose="020B0604030504040204" pitchFamily="34" charset="0"/>
              </a:rPr>
              <a:t>jusqu'à </a:t>
            </a:r>
            <a:r>
              <a:rPr lang="fr-FR" sz="2600" dirty="0">
                <a:solidFill>
                  <a:srgbClr val="000000"/>
                </a:solidFill>
                <a:latin typeface="Tahoma" panose="020B0604030504040204" pitchFamily="34" charset="0"/>
              </a:rPr>
              <a:t>l'Océan indien, ceci du sud de l'Ethiopie au Mozambique.</a:t>
            </a:r>
            <a:endParaRPr lang="fr-FR" sz="2600" dirty="0"/>
          </a:p>
          <a:p>
            <a:pPr>
              <a:lnSpc>
                <a:spcPct val="150000"/>
              </a:lnSpc>
            </a:pPr>
            <a:r>
              <a:rPr lang="fr-FR" sz="2600" dirty="0">
                <a:solidFill>
                  <a:srgbClr val="000000"/>
                </a:solidFill>
                <a:latin typeface="Tahoma" panose="020B0604030504040204" pitchFamily="34" charset="0"/>
              </a:rPr>
              <a:t>La </a:t>
            </a:r>
            <a:r>
              <a:rPr lang="fr-FR" sz="2600" dirty="0" smtClean="0">
                <a:solidFill>
                  <a:srgbClr val="000000"/>
                </a:solidFill>
                <a:latin typeface="Tahoma" panose="020B0604030504040204" pitchFamily="34" charset="0"/>
              </a:rPr>
              <a:t>trypanosomiase </a:t>
            </a:r>
            <a:r>
              <a:rPr lang="fr-FR" sz="2600" dirty="0" err="1" smtClean="0">
                <a:solidFill>
                  <a:srgbClr val="000000"/>
                </a:solidFill>
                <a:latin typeface="Tahoma" panose="020B0604030504040204" pitchFamily="34" charset="0"/>
              </a:rPr>
              <a:t>Rhodesiense</a:t>
            </a:r>
            <a:r>
              <a:rPr lang="fr-FR" sz="2600" dirty="0" smtClean="0">
                <a:solidFill>
                  <a:srgbClr val="000000"/>
                </a:solidFill>
                <a:latin typeface="Tahoma" panose="020B0604030504040204" pitchFamily="34" charset="0"/>
              </a:rPr>
              <a:t> </a:t>
            </a:r>
            <a:r>
              <a:rPr lang="fr-FR" sz="2600" dirty="0">
                <a:solidFill>
                  <a:srgbClr val="000000"/>
                </a:solidFill>
                <a:latin typeface="Tahoma" panose="020B0604030504040204" pitchFamily="34" charset="0"/>
              </a:rPr>
              <a:t>est d'évolution plus rapide. Son agent pathogène est le </a:t>
            </a:r>
            <a:r>
              <a:rPr lang="fr-FR" sz="2600" dirty="0" err="1" smtClean="0">
                <a:solidFill>
                  <a:srgbClr val="000000"/>
                </a:solidFill>
                <a:latin typeface="Tahoma" panose="020B0604030504040204" pitchFamily="34" charset="0"/>
              </a:rPr>
              <a:t>trypanosoma</a:t>
            </a:r>
            <a:r>
              <a:rPr lang="fr-FR" sz="2600" dirty="0" smtClean="0">
                <a:solidFill>
                  <a:srgbClr val="000000"/>
                </a:solidFill>
                <a:latin typeface="Tahoma" panose="020B0604030504040204" pitchFamily="34" charset="0"/>
              </a:rPr>
              <a:t> </a:t>
            </a:r>
            <a:r>
              <a:rPr lang="fr-FR" sz="2600" dirty="0" err="1" smtClean="0">
                <a:solidFill>
                  <a:srgbClr val="000000"/>
                </a:solidFill>
                <a:latin typeface="Tahoma" panose="020B0604030504040204" pitchFamily="34" charset="0"/>
              </a:rPr>
              <a:t>rhodesien</a:t>
            </a:r>
            <a:r>
              <a:rPr lang="fr-FR" sz="2600" dirty="0" smtClean="0">
                <a:solidFill>
                  <a:srgbClr val="000000"/>
                </a:solidFill>
                <a:latin typeface="Tahoma" panose="020B0604030504040204" pitchFamily="34" charset="0"/>
              </a:rPr>
              <a:t>.</a:t>
            </a:r>
          </a:p>
          <a:p>
            <a:pPr>
              <a:lnSpc>
                <a:spcPct val="150000"/>
              </a:lnSpc>
            </a:pPr>
            <a:r>
              <a:rPr lang="fr-FR" sz="2600" dirty="0" smtClean="0">
                <a:solidFill>
                  <a:srgbClr val="000000"/>
                </a:solidFill>
                <a:latin typeface="Tahoma" panose="020B0604030504040204" pitchFamily="34" charset="0"/>
              </a:rPr>
              <a:t> </a:t>
            </a:r>
            <a:r>
              <a:rPr lang="fr-FR" sz="2600" dirty="0">
                <a:solidFill>
                  <a:srgbClr val="000000"/>
                </a:solidFill>
                <a:latin typeface="Tahoma" panose="020B0604030504040204" pitchFamily="34" charset="0"/>
              </a:rPr>
              <a:t>Le réservoir de parasites est constitué de l'homme, des animaux sauvages (antilopes) et le bétail</a:t>
            </a:r>
            <a:r>
              <a:rPr lang="fr-FR" sz="2600" dirty="0" smtClean="0">
                <a:solidFill>
                  <a:srgbClr val="000000"/>
                </a:solidFill>
                <a:latin typeface="Tahoma" panose="020B0604030504040204" pitchFamily="34" charset="0"/>
              </a:rPr>
              <a:t>.</a:t>
            </a:r>
          </a:p>
          <a:p>
            <a:pPr>
              <a:lnSpc>
                <a:spcPct val="150000"/>
              </a:lnSpc>
            </a:pPr>
            <a:r>
              <a:rPr lang="fr-FR" sz="2600" dirty="0" smtClean="0">
                <a:solidFill>
                  <a:srgbClr val="000000"/>
                </a:solidFill>
                <a:latin typeface="Tahoma" panose="020B0604030504040204" pitchFamily="34" charset="0"/>
              </a:rPr>
              <a:t> </a:t>
            </a:r>
            <a:r>
              <a:rPr lang="fr-FR" sz="2600" dirty="0">
                <a:solidFill>
                  <a:srgbClr val="000000"/>
                </a:solidFill>
                <a:latin typeface="Tahoma" panose="020B0604030504040204" pitchFamily="34" charset="0"/>
              </a:rPr>
              <a:t>Les agents vecteurs sont </a:t>
            </a:r>
            <a:r>
              <a:rPr lang="fr-FR" sz="2600" dirty="0" smtClean="0">
                <a:solidFill>
                  <a:srgbClr val="000000"/>
                </a:solidFill>
                <a:latin typeface="Tahoma" panose="020B0604030504040204" pitchFamily="34" charset="0"/>
              </a:rPr>
              <a:t> les </a:t>
            </a:r>
            <a:r>
              <a:rPr lang="fr-FR" sz="2400" spc="10" dirty="0" smtClean="0">
                <a:solidFill>
                  <a:srgbClr val="000000"/>
                </a:solidFill>
                <a:latin typeface="Tahoma" panose="020B0604030504040204" pitchFamily="34" charset="0"/>
                <a:ea typeface="Times New Roman" panose="02020603050405020304" pitchFamily="18" charset="0"/>
              </a:rPr>
              <a:t>glossines </a:t>
            </a:r>
            <a:r>
              <a:rPr lang="fr-FR" sz="2600" dirty="0" smtClean="0">
                <a:solidFill>
                  <a:srgbClr val="000000"/>
                </a:solidFill>
                <a:latin typeface="Tahoma" panose="020B0604030504040204" pitchFamily="34" charset="0"/>
              </a:rPr>
              <a:t>qui vivent </a:t>
            </a:r>
            <a:r>
              <a:rPr lang="fr-FR" sz="2600" dirty="0">
                <a:solidFill>
                  <a:srgbClr val="000000"/>
                </a:solidFill>
                <a:latin typeface="Tahoma" panose="020B0604030504040204" pitchFamily="34" charset="0"/>
              </a:rPr>
              <a:t>dans les savanes boisées.</a:t>
            </a:r>
            <a:endParaRPr lang="fr-FR" sz="2600" dirty="0"/>
          </a:p>
          <a:p>
            <a:endParaRPr lang="fr-FR" sz="2600" dirty="0"/>
          </a:p>
        </p:txBody>
      </p:sp>
    </p:spTree>
    <p:extLst>
      <p:ext uri="{BB962C8B-B14F-4D97-AF65-F5344CB8AC3E}">
        <p14:creationId xmlns:p14="http://schemas.microsoft.com/office/powerpoint/2010/main" val="171312140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69431"/>
          </a:xfrm>
        </p:spPr>
        <p:txBody>
          <a:bodyPr>
            <a:normAutofit fontScale="90000"/>
          </a:bodyPr>
          <a:lstStyle/>
          <a:p>
            <a:pPr lvl="0" algn="ctr"/>
            <a:r>
              <a:rPr lang="fr-FR" sz="27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MODE DE CONTAMINATION / CYCLE BIOLOGIQUE</a:t>
            </a:r>
            <a:r>
              <a:rPr lang="fr-FR" sz="2700" dirty="0">
                <a:solidFill>
                  <a:srgbClr val="000000"/>
                </a:solidFill>
                <a:latin typeface="Courier New" panose="02070309020205020404" pitchFamily="49" charset="0"/>
                <a:ea typeface="Courier New" panose="02070309020205020404" pitchFamily="49" charset="0"/>
              </a:rPr>
              <a:t/>
            </a:r>
            <a:br>
              <a:rPr lang="fr-FR" sz="2700" dirty="0">
                <a:solidFill>
                  <a:srgbClr val="000000"/>
                </a:solidFill>
                <a:latin typeface="Courier New" panose="02070309020205020404" pitchFamily="49" charset="0"/>
                <a:ea typeface="Courier New" panose="02070309020205020404" pitchFamily="49" charset="0"/>
              </a:rPr>
            </a:br>
            <a:endParaRPr lang="fr-FR" sz="2800" dirty="0"/>
          </a:p>
        </p:txBody>
      </p:sp>
      <p:sp>
        <p:nvSpPr>
          <p:cNvPr id="3" name="Espace réservé du contenu 2"/>
          <p:cNvSpPr>
            <a:spLocks noGrp="1"/>
          </p:cNvSpPr>
          <p:nvPr>
            <p:ph idx="1"/>
          </p:nvPr>
        </p:nvSpPr>
        <p:spPr>
          <a:xfrm>
            <a:off x="1338146" y="1293541"/>
            <a:ext cx="10166466" cy="4928839"/>
          </a:xfrm>
        </p:spPr>
        <p:txBody>
          <a:bodyPr>
            <a:normAutofit fontScale="92500"/>
          </a:bodyPr>
          <a:lstStyle/>
          <a:p>
            <a:pPr algn="just">
              <a:lnSpc>
                <a:spcPct val="150000"/>
              </a:lnSpc>
            </a:pPr>
            <a:r>
              <a:rPr lang="fr-FR" sz="2800" dirty="0">
                <a:solidFill>
                  <a:srgbClr val="000000"/>
                </a:solidFill>
                <a:latin typeface="Tahoma" panose="020B0604030504040204" pitchFamily="34" charset="0"/>
              </a:rPr>
              <a:t>La glossine se contamine seulement lors </a:t>
            </a:r>
            <a:r>
              <a:rPr lang="fr-FR" sz="2800" dirty="0" smtClean="0">
                <a:solidFill>
                  <a:srgbClr val="000000"/>
                </a:solidFill>
                <a:latin typeface="Tahoma" panose="020B0604030504040204" pitchFamily="34" charset="0"/>
              </a:rPr>
              <a:t>d’un </a:t>
            </a:r>
            <a:r>
              <a:rPr lang="fr-FR" sz="2800" dirty="0">
                <a:solidFill>
                  <a:srgbClr val="000000"/>
                </a:solidFill>
                <a:latin typeface="Tahoma" panose="020B0604030504040204" pitchFamily="34" charset="0"/>
              </a:rPr>
              <a:t>premier repas de sang en piquant un sommeilleux; elle ingère avec son sang des trypanosomes qui subissent chez elle un cycle complexe et apparaissent trois (03) semaines plus tard dans ses glandes salivaires sous forme méta cyclique </a:t>
            </a:r>
            <a:r>
              <a:rPr lang="fr-FR" sz="2800" dirty="0" err="1">
                <a:solidFill>
                  <a:srgbClr val="000000"/>
                </a:solidFill>
                <a:latin typeface="Tahoma" panose="020B0604030504040204" pitchFamily="34" charset="0"/>
              </a:rPr>
              <a:t>infestante</a:t>
            </a:r>
            <a:r>
              <a:rPr lang="fr-FR" sz="2800" dirty="0">
                <a:solidFill>
                  <a:srgbClr val="000000"/>
                </a:solidFill>
                <a:latin typeface="Tahoma" panose="020B0604030504040204" pitchFamily="34" charset="0"/>
              </a:rPr>
              <a:t>.</a:t>
            </a:r>
            <a:endParaRPr lang="fr-FR" sz="2800" dirty="0"/>
          </a:p>
          <a:p>
            <a:pPr algn="just">
              <a:lnSpc>
                <a:spcPct val="150000"/>
              </a:lnSpc>
            </a:pPr>
            <a:r>
              <a:rPr lang="fr-FR" sz="2800" dirty="0">
                <a:solidFill>
                  <a:srgbClr val="000000"/>
                </a:solidFill>
                <a:latin typeface="Tahoma" panose="020B0604030504040204" pitchFamily="34" charset="0"/>
              </a:rPr>
              <a:t>À l'occasion d'un nouveau repas sanguin, la glossine transmet l'affection en injectant sa salive virulente dans la plaie de piqûre.</a:t>
            </a:r>
            <a:endParaRPr lang="fr-FR" sz="2800" dirty="0"/>
          </a:p>
          <a:p>
            <a:endParaRPr lang="fr-FR" dirty="0"/>
          </a:p>
        </p:txBody>
      </p:sp>
    </p:spTree>
    <p:extLst>
      <p:ext uri="{BB962C8B-B14F-4D97-AF65-F5344CB8AC3E}">
        <p14:creationId xmlns:p14="http://schemas.microsoft.com/office/powerpoint/2010/main" val="298266198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2821" y="624110"/>
            <a:ext cx="10411792" cy="669431"/>
          </a:xfrm>
        </p:spPr>
        <p:txBody>
          <a:bodyPr>
            <a:normAutofit fontScale="90000"/>
          </a:bodyPr>
          <a:lstStyle/>
          <a:p>
            <a:r>
              <a:rPr lang="de-DE" sz="2700" b="1" spc="25" dirty="0">
                <a:solidFill>
                  <a:srgbClr val="000000"/>
                </a:solidFill>
                <a:latin typeface="Tahoma" panose="020B0604030504040204" pitchFamily="34" charset="0"/>
                <a:ea typeface="Times New Roman" panose="02020603050405020304" pitchFamily="18" charset="0"/>
              </a:rPr>
              <a:t>Forme </a:t>
            </a:r>
            <a:r>
              <a:rPr lang="fr-FR" sz="2700" b="1" spc="25" dirty="0" smtClean="0">
                <a:solidFill>
                  <a:srgbClr val="000000"/>
                </a:solidFill>
                <a:latin typeface="Tahoma" panose="020B0604030504040204" pitchFamily="34" charset="0"/>
                <a:ea typeface="Times New Roman" panose="02020603050405020304" pitchFamily="18" charset="0"/>
              </a:rPr>
              <a:t>typique </a:t>
            </a:r>
            <a:r>
              <a:rPr lang="de-DE" sz="2700" b="1" spc="25" dirty="0" smtClean="0">
                <a:solidFill>
                  <a:srgbClr val="000000"/>
                </a:solidFill>
                <a:latin typeface="Tahoma" panose="020B0604030504040204" pitchFamily="34" charset="0"/>
                <a:ea typeface="Times New Roman" panose="02020603050405020304" pitchFamily="18" charset="0"/>
              </a:rPr>
              <a:t>de </a:t>
            </a:r>
            <a:r>
              <a:rPr lang="fr-FR" sz="2700" b="1" spc="25" dirty="0">
                <a:solidFill>
                  <a:srgbClr val="000000"/>
                </a:solidFill>
                <a:latin typeface="Tahoma" panose="020B0604030504040204" pitchFamily="34" charset="0"/>
                <a:ea typeface="Times New Roman" panose="02020603050405020304" pitchFamily="18" charset="0"/>
              </a:rPr>
              <a:t>la </a:t>
            </a:r>
            <a:r>
              <a:rPr lang="de-DE" sz="2700" b="1" spc="25" dirty="0" err="1">
                <a:solidFill>
                  <a:srgbClr val="000000"/>
                </a:solidFill>
                <a:latin typeface="Tahoma" panose="020B0604030504040204" pitchFamily="34" charset="0"/>
                <a:ea typeface="Times New Roman" panose="02020603050405020304" pitchFamily="18" charset="0"/>
              </a:rPr>
              <a:t>trypanosomiase</a:t>
            </a:r>
            <a:r>
              <a:rPr lang="de-DE" sz="2700" b="1" spc="25" dirty="0">
                <a:solidFill>
                  <a:srgbClr val="000000"/>
                </a:solidFill>
                <a:latin typeface="Tahoma" panose="020B0604030504040204" pitchFamily="34" charset="0"/>
                <a:ea typeface="Times New Roman" panose="02020603050405020304" pitchFamily="18" charset="0"/>
              </a:rPr>
              <a:t> T. </a:t>
            </a:r>
            <a:r>
              <a:rPr lang="de-DE" sz="2700" b="1" spc="25" dirty="0" err="1">
                <a:solidFill>
                  <a:srgbClr val="000000"/>
                </a:solidFill>
                <a:latin typeface="Tahoma" panose="020B0604030504040204" pitchFamily="34" charset="0"/>
                <a:ea typeface="Times New Roman" panose="02020603050405020304" pitchFamily="18" charset="0"/>
              </a:rPr>
              <a:t>gambiense</a:t>
            </a:r>
            <a:r>
              <a:rPr lang="fr-FR" sz="2700" b="1" spc="25" dirty="0">
                <a:latin typeface="Times New Roman" panose="02020603050405020304" pitchFamily="18" charset="0"/>
                <a:ea typeface="Times New Roman" panose="02020603050405020304" pitchFamily="18" charset="0"/>
              </a:rPr>
              <a:t/>
            </a:r>
            <a:br>
              <a:rPr lang="fr-FR" sz="2700"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936702" y="1293541"/>
            <a:ext cx="10567910" cy="4928839"/>
          </a:xfrm>
        </p:spPr>
        <p:txBody>
          <a:bodyPr>
            <a:normAutofit fontScale="85000" lnSpcReduction="20000"/>
          </a:bodyPr>
          <a:lstStyle/>
          <a:p>
            <a:pPr marL="457200" lvl="1" indent="0" algn="just">
              <a:lnSpc>
                <a:spcPct val="150000"/>
              </a:lnSpc>
              <a:buNone/>
            </a:pPr>
            <a:r>
              <a:rPr lang="fr-FR" sz="2800" b="1" u="sng" spc="25" dirty="0">
                <a:solidFill>
                  <a:srgbClr val="000000"/>
                </a:solidFill>
                <a:latin typeface="Tahoma" panose="020B0604030504040204" pitchFamily="34" charset="0"/>
                <a:ea typeface="Arial Unicode MS" panose="020B0604020202020204" pitchFamily="34" charset="-128"/>
              </a:rPr>
              <a:t>Incubation</a:t>
            </a:r>
            <a:endParaRPr lang="fr-FR" sz="2800" b="1" spc="25" dirty="0">
              <a:latin typeface="Times New Roman" panose="02020603050405020304" pitchFamily="18" charset="0"/>
              <a:ea typeface="Arial Unicode MS" panose="020B0604020202020204" pitchFamily="34" charset="-128"/>
            </a:endParaRPr>
          </a:p>
          <a:p>
            <a:pPr indent="-635000" algn="just">
              <a:lnSpc>
                <a:spcPct val="150000"/>
              </a:lnSpc>
              <a:spcBef>
                <a:spcPts val="1200"/>
              </a:spcBef>
            </a:pPr>
            <a:r>
              <a:rPr lang="fr-FR" sz="2800" spc="30" dirty="0">
                <a:solidFill>
                  <a:srgbClr val="000000"/>
                </a:solidFill>
                <a:latin typeface="Tahoma" panose="020B0604030504040204" pitchFamily="34" charset="0"/>
                <a:ea typeface="Times New Roman" panose="02020603050405020304" pitchFamily="18" charset="0"/>
              </a:rPr>
              <a:t>Faisant suite à la piqûre </a:t>
            </a:r>
            <a:r>
              <a:rPr lang="fr-FR" sz="2800" spc="30" dirty="0" err="1">
                <a:solidFill>
                  <a:srgbClr val="000000"/>
                </a:solidFill>
                <a:latin typeface="Tahoma" panose="020B0604030504040204" pitchFamily="34" charset="0"/>
                <a:ea typeface="Times New Roman" panose="02020603050405020304" pitchFamily="18" charset="0"/>
              </a:rPr>
              <a:t>infestante</a:t>
            </a:r>
            <a:r>
              <a:rPr lang="fr-FR" sz="2800" spc="30" dirty="0">
                <a:solidFill>
                  <a:srgbClr val="000000"/>
                </a:solidFill>
                <a:latin typeface="Tahoma" panose="020B0604030504040204" pitchFamily="34" charset="0"/>
                <a:ea typeface="Times New Roman" panose="02020603050405020304" pitchFamily="18" charset="0"/>
              </a:rPr>
              <a:t>, l'incubation dure habituellement de 05 à 20 jours, parfois plusieurs années. La piqûre de la glossine passe souvent inaperçue au milieu de multiples agressions en milieu </a:t>
            </a:r>
            <a:r>
              <a:rPr lang="fr-FR" sz="2800" spc="30" dirty="0" smtClean="0">
                <a:solidFill>
                  <a:srgbClr val="000000"/>
                </a:solidFill>
                <a:latin typeface="Tahoma" panose="020B0604030504040204" pitchFamily="34" charset="0"/>
                <a:ea typeface="Times New Roman" panose="02020603050405020304" pitchFamily="18" charset="0"/>
              </a:rPr>
              <a:t>tropical.</a:t>
            </a:r>
          </a:p>
          <a:p>
            <a:pPr indent="-635000" algn="just">
              <a:lnSpc>
                <a:spcPct val="150000"/>
              </a:lnSpc>
              <a:spcBef>
                <a:spcPts val="1200"/>
              </a:spcBef>
            </a:pPr>
            <a:r>
              <a:rPr lang="fr-FR" sz="2800" spc="30" dirty="0" smtClean="0">
                <a:solidFill>
                  <a:srgbClr val="000000"/>
                </a:solidFill>
                <a:latin typeface="Tahoma" panose="020B0604030504040204" pitchFamily="34" charset="0"/>
                <a:ea typeface="Times New Roman" panose="02020603050405020304" pitchFamily="18" charset="0"/>
              </a:rPr>
              <a:t>Ailleurs, </a:t>
            </a:r>
            <a:r>
              <a:rPr lang="fr-FR" sz="2800" spc="30" dirty="0">
                <a:solidFill>
                  <a:srgbClr val="000000"/>
                </a:solidFill>
                <a:latin typeface="Tahoma" panose="020B0604030504040204" pitchFamily="34" charset="0"/>
                <a:ea typeface="Times New Roman" panose="02020603050405020304" pitchFamily="18" charset="0"/>
              </a:rPr>
              <a:t>elle provoque une réaction locale immédiate: le chancre d'inoculation ou </a:t>
            </a:r>
            <a:r>
              <a:rPr lang="fr-FR" sz="2800" spc="30" dirty="0" err="1">
                <a:solidFill>
                  <a:srgbClr val="000000"/>
                </a:solidFill>
                <a:latin typeface="Tahoma" panose="020B0604030504040204" pitchFamily="34" charset="0"/>
                <a:ea typeface="Times New Roman" panose="02020603050405020304" pitchFamily="18" charset="0"/>
              </a:rPr>
              <a:t>trypanome</a:t>
            </a:r>
            <a:r>
              <a:rPr lang="fr-FR" sz="2800" spc="30" dirty="0">
                <a:solidFill>
                  <a:srgbClr val="000000"/>
                </a:solidFill>
                <a:latin typeface="Tahoma" panose="020B0604030504040204" pitchFamily="34" charset="0"/>
                <a:ea typeface="Times New Roman" panose="02020603050405020304" pitchFamily="18" charset="0"/>
              </a:rPr>
              <a:t>, d'aspect </a:t>
            </a:r>
            <a:r>
              <a:rPr lang="fr-FR" sz="2800" spc="30" dirty="0" err="1">
                <a:solidFill>
                  <a:srgbClr val="000000"/>
                </a:solidFill>
                <a:latin typeface="Tahoma" panose="020B0604030504040204" pitchFamily="34" charset="0"/>
                <a:ea typeface="Times New Roman" panose="02020603050405020304" pitchFamily="18" charset="0"/>
              </a:rPr>
              <a:t>furonculoïde</a:t>
            </a:r>
            <a:r>
              <a:rPr lang="fr-FR" sz="2800" spc="30" dirty="0">
                <a:solidFill>
                  <a:srgbClr val="000000"/>
                </a:solidFill>
                <a:latin typeface="Tahoma" panose="020B0604030504040204" pitchFamily="34" charset="0"/>
                <a:ea typeface="Times New Roman" panose="02020603050405020304" pitchFamily="18" charset="0"/>
              </a:rPr>
              <a:t>, il est douloureux ou seulement prurigineux, s'accompagne parfois d'adénopathies satellites et persiste quelques jours.</a:t>
            </a:r>
            <a:endParaRPr lang="fr-FR" sz="2800" spc="30" dirty="0">
              <a:latin typeface="Times New Roman" panose="02020603050405020304" pitchFamily="18" charset="0"/>
              <a:ea typeface="Times New Roman" panose="02020603050405020304" pitchFamily="18" charset="0"/>
            </a:endParaRPr>
          </a:p>
          <a:p>
            <a:endParaRPr lang="fr-FR" sz="2400" dirty="0"/>
          </a:p>
        </p:txBody>
      </p:sp>
    </p:spTree>
    <p:extLst>
      <p:ext uri="{BB962C8B-B14F-4D97-AF65-F5344CB8AC3E}">
        <p14:creationId xmlns:p14="http://schemas.microsoft.com/office/powerpoint/2010/main" val="91335334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0517" y="334538"/>
            <a:ext cx="10660566" cy="869794"/>
          </a:xfrm>
        </p:spPr>
        <p:txBody>
          <a:bodyPr>
            <a:noAutofit/>
          </a:bodyPr>
          <a:lstStyle/>
          <a:p>
            <a:pPr lvl="1" algn="l" defTabSz="457200" rtl="0">
              <a:spcBef>
                <a:spcPct val="0"/>
              </a:spcBef>
            </a:pPr>
            <a:r>
              <a:rPr lang="fr-FR" sz="2400" b="1" spc="25" dirty="0" smtClean="0">
                <a:solidFill>
                  <a:srgbClr val="000000"/>
                </a:solidFill>
                <a:latin typeface="Tahoma" panose="020B0604030504040204" pitchFamily="34" charset="0"/>
                <a:ea typeface="Arial Unicode MS" panose="020B0604020202020204" pitchFamily="34" charset="-128"/>
              </a:rPr>
              <a:t>Première période</a:t>
            </a:r>
            <a:r>
              <a:rPr lang="fr-FR" sz="2400" b="1" spc="25" dirty="0">
                <a:solidFill>
                  <a:srgbClr val="000000"/>
                </a:solidFill>
                <a:latin typeface="Tahoma" panose="020B0604030504040204" pitchFamily="34" charset="0"/>
                <a:ea typeface="Arial Unicode MS" panose="020B0604020202020204" pitchFamily="34" charset="-128"/>
              </a:rPr>
              <a:t>: phase </a:t>
            </a:r>
            <a:r>
              <a:rPr lang="fr-FR" sz="2400" b="1" spc="25" dirty="0" err="1">
                <a:solidFill>
                  <a:srgbClr val="000000"/>
                </a:solidFill>
                <a:latin typeface="Tahoma" panose="020B0604030504040204" pitchFamily="34" charset="0"/>
                <a:ea typeface="Arial Unicode MS" panose="020B0604020202020204" pitchFamily="34" charset="-128"/>
              </a:rPr>
              <a:t>lymphatico</a:t>
            </a:r>
            <a:r>
              <a:rPr lang="fr-FR" sz="2400" b="1" spc="25" dirty="0">
                <a:solidFill>
                  <a:srgbClr val="000000"/>
                </a:solidFill>
                <a:latin typeface="Tahoma" panose="020B0604030504040204" pitchFamily="34" charset="0"/>
                <a:ea typeface="Arial Unicode MS" panose="020B0604020202020204" pitchFamily="34" charset="-128"/>
              </a:rPr>
              <a:t>-sanguine ou phase de généralisation</a:t>
            </a:r>
            <a:r>
              <a:rPr lang="fr-FR" sz="2400" b="1" spc="25" dirty="0">
                <a:latin typeface="Times New Roman" panose="02020603050405020304" pitchFamily="18" charset="0"/>
                <a:ea typeface="Arial Unicode MS" panose="020B0604020202020204" pitchFamily="34" charset="-128"/>
              </a:rPr>
              <a:t/>
            </a:r>
            <a:br>
              <a:rPr lang="fr-FR" sz="2400" b="1" spc="25" dirty="0">
                <a:latin typeface="Times New Roman" panose="02020603050405020304" pitchFamily="18" charset="0"/>
                <a:ea typeface="Arial Unicode MS" panose="020B0604020202020204" pitchFamily="34" charset="-128"/>
              </a:rPr>
            </a:br>
            <a:endParaRPr lang="fr-FR" sz="2400" dirty="0"/>
          </a:p>
        </p:txBody>
      </p:sp>
      <p:sp>
        <p:nvSpPr>
          <p:cNvPr id="3" name="Espace réservé du contenu 2"/>
          <p:cNvSpPr>
            <a:spLocks noGrp="1"/>
          </p:cNvSpPr>
          <p:nvPr>
            <p:ph idx="1"/>
          </p:nvPr>
        </p:nvSpPr>
        <p:spPr>
          <a:xfrm>
            <a:off x="1070517" y="1204331"/>
            <a:ext cx="10660566" cy="5397191"/>
          </a:xfrm>
        </p:spPr>
        <p:txBody>
          <a:bodyPr>
            <a:normAutofit fontScale="40000" lnSpcReduction="20000"/>
          </a:bodyPr>
          <a:lstStyle/>
          <a:p>
            <a:pPr algn="just">
              <a:lnSpc>
                <a:spcPct val="150000"/>
              </a:lnSpc>
            </a:pPr>
            <a:r>
              <a:rPr lang="fr-FR" sz="9600" dirty="0" smtClean="0">
                <a:solidFill>
                  <a:srgbClr val="000000"/>
                </a:solidFill>
                <a:latin typeface="Tahoma" panose="020B0604030504040204" pitchFamily="34" charset="0"/>
              </a:rPr>
              <a:t>Cette première période </a:t>
            </a:r>
            <a:r>
              <a:rPr lang="fr-FR" sz="9600" dirty="0">
                <a:solidFill>
                  <a:srgbClr val="000000"/>
                </a:solidFill>
                <a:latin typeface="Tahoma" panose="020B0604030504040204" pitchFamily="34" charset="0"/>
              </a:rPr>
              <a:t>est dominée par :</a:t>
            </a:r>
            <a:endParaRPr lang="fr-FR" sz="9600" dirty="0"/>
          </a:p>
          <a:p>
            <a:pPr lvl="0" algn="just">
              <a:lnSpc>
                <a:spcPct val="150000"/>
              </a:lnSpc>
              <a:buFont typeface="Calibri" panose="020F0502020204030204" pitchFamily="34" charset="0"/>
              <a:buChar char="-"/>
            </a:pPr>
            <a:r>
              <a:rPr lang="fr-FR" sz="96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Une fièvre</a:t>
            </a:r>
            <a:r>
              <a:rPr lang="fr-FR" sz="96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96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quasi </a:t>
            </a:r>
            <a:r>
              <a:rPr lang="fr-FR" sz="9600" dirty="0">
                <a:solidFill>
                  <a:srgbClr val="000000"/>
                </a:solidFill>
                <a:latin typeface="Tahoma" panose="020B0604030504040204" pitchFamily="34" charset="0"/>
                <a:ea typeface="Calibri" panose="020F0502020204030204" pitchFamily="34" charset="0"/>
                <a:cs typeface="Times New Roman" panose="02020603050405020304" pitchFamily="18" charset="0"/>
              </a:rPr>
              <a:t>constante, habituellement modérée entre 38 et 38,5 degrés, anarchique rebelle aux antipyrétiques, aux antipaludiques, aux antibiotiques et aux </a:t>
            </a:r>
            <a:r>
              <a:rPr lang="fr-FR" sz="96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corticoïdes et </a:t>
            </a:r>
            <a:r>
              <a:rPr lang="fr-FR" sz="9600" dirty="0">
                <a:solidFill>
                  <a:srgbClr val="000000"/>
                </a:solidFill>
                <a:latin typeface="Tahoma" panose="020B0604030504040204" pitchFamily="34" charset="0"/>
                <a:ea typeface="Calibri" panose="020F0502020204030204" pitchFamily="34" charset="0"/>
                <a:cs typeface="Times New Roman" panose="02020603050405020304" pitchFamily="18" charset="0"/>
              </a:rPr>
              <a:t>s'associe à une altération variable de l'état général.</a:t>
            </a:r>
            <a:endParaRPr lang="fr-FR" sz="96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78357251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50878" y="818866"/>
            <a:ext cx="10453734" cy="5092356"/>
          </a:xfrm>
        </p:spPr>
        <p:txBody>
          <a:bodyPr/>
          <a:lstStyle/>
          <a:p>
            <a:pPr lvl="0" algn="just">
              <a:lnSpc>
                <a:spcPct val="150000"/>
              </a:lnSpc>
              <a:buFont typeface="Calibri" panose="020F0502020204030204" pitchFamily="34" charset="0"/>
              <a:buChar char="-"/>
            </a:pP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adénopathies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 intéressent surtout les chaînes cervicales et sus claviculaires et plus rarement les chaînes axillaires ou Inguinales. Les ganglions sont modérément hypertrophiés (1 à 2 cm), mobiles, indolores élastiques, ils ne suppurent jamais.</a:t>
            </a:r>
            <a:endParaRPr lang="fr-FR" sz="2400" dirty="0">
              <a:ea typeface="Calibri" panose="020F0502020204030204" pitchFamily="34" charset="0"/>
              <a:cs typeface="Times New Roman" panose="02020603050405020304" pitchFamily="18" charset="0"/>
            </a:endParaRPr>
          </a:p>
          <a:p>
            <a:pPr marL="0" lvl="0" indent="0" algn="just">
              <a:lnSpc>
                <a:spcPct val="150000"/>
              </a:lnSpc>
              <a:buNone/>
            </a:pPr>
            <a:r>
              <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une </a:t>
            </a: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hépatomégalie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modérée et inconstante.</a:t>
            </a:r>
            <a:endParaRPr lang="fr-FR" sz="2400" dirty="0">
              <a:ea typeface="Calibri" panose="020F0502020204030204" pitchFamily="34" charset="0"/>
              <a:cs typeface="Times New Roman" panose="02020603050405020304" pitchFamily="18" charset="0"/>
            </a:endParaRPr>
          </a:p>
          <a:p>
            <a:pPr marL="0" lvl="0" indent="0" algn="just">
              <a:lnSpc>
                <a:spcPct val="150000"/>
              </a:lnSpc>
              <a:buNone/>
            </a:pPr>
            <a:r>
              <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des </a:t>
            </a: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signes cutanés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 apparition de </a:t>
            </a:r>
            <a:r>
              <a:rPr lang="fr-FR" sz="24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trypanides</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 qui siègent sur le </a:t>
            </a:r>
            <a:r>
              <a:rPr lang="fr-FR" sz="24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tronc</a:t>
            </a:r>
          </a:p>
          <a:p>
            <a:pPr marL="0" lvl="0" indent="0" algn="just">
              <a:lnSpc>
                <a:spcPct val="150000"/>
              </a:lnSpc>
              <a:buNone/>
            </a:pPr>
            <a:r>
              <a:rPr lang="fr-FR" sz="24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et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la racine des membres.</a:t>
            </a:r>
            <a:endParaRPr lang="fr-FR" sz="24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06258695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4024" y="392099"/>
            <a:ext cx="11450471" cy="658780"/>
          </a:xfrm>
        </p:spPr>
        <p:txBody>
          <a:bodyPr>
            <a:normAutofit fontScale="90000"/>
          </a:bodyPr>
          <a:lstStyle/>
          <a:p>
            <a:pPr lvl="1" algn="l" defTabSz="457200" rtl="0">
              <a:spcBef>
                <a:spcPct val="0"/>
              </a:spcBef>
            </a:pPr>
            <a:r>
              <a:rPr lang="fr-FR" sz="2400" b="1" spc="25" dirty="0" smtClean="0">
                <a:solidFill>
                  <a:srgbClr val="000000"/>
                </a:solidFill>
                <a:latin typeface="Tahoma" panose="020B0604030504040204" pitchFamily="34" charset="0"/>
                <a:ea typeface="Arial Unicode MS" panose="020B0604020202020204" pitchFamily="34" charset="-128"/>
              </a:rPr>
              <a:t>2</a:t>
            </a:r>
            <a:r>
              <a:rPr lang="fr-FR" sz="2400" b="1" spc="25" baseline="30000" dirty="0" smtClean="0">
                <a:solidFill>
                  <a:srgbClr val="000000"/>
                </a:solidFill>
                <a:latin typeface="Tahoma" panose="020B0604030504040204" pitchFamily="34" charset="0"/>
                <a:ea typeface="Arial Unicode MS" panose="020B0604020202020204" pitchFamily="34" charset="-128"/>
              </a:rPr>
              <a:t>ème</a:t>
            </a:r>
            <a:r>
              <a:rPr lang="fr-FR" sz="2400" b="1" spc="25" dirty="0" smtClean="0">
                <a:solidFill>
                  <a:srgbClr val="000000"/>
                </a:solidFill>
                <a:latin typeface="Tahoma" panose="020B0604030504040204" pitchFamily="34" charset="0"/>
                <a:ea typeface="Arial Unicode MS" panose="020B0604020202020204" pitchFamily="34" charset="-128"/>
              </a:rPr>
              <a:t> période</a:t>
            </a:r>
            <a:r>
              <a:rPr lang="fr-FR" sz="2400" b="1" spc="25" dirty="0">
                <a:solidFill>
                  <a:srgbClr val="000000"/>
                </a:solidFill>
                <a:latin typeface="Tahoma" panose="020B0604030504040204" pitchFamily="34" charset="0"/>
                <a:ea typeface="Arial Unicode MS" panose="020B0604020202020204" pitchFamily="34" charset="-128"/>
              </a:rPr>
              <a:t>: Phase de polarisation cérébrale ou phase </a:t>
            </a:r>
            <a:r>
              <a:rPr lang="fr-FR" sz="2400" b="1" spc="25" dirty="0" err="1" smtClean="0">
                <a:solidFill>
                  <a:srgbClr val="000000"/>
                </a:solidFill>
                <a:latin typeface="Tahoma" panose="020B0604030504040204" pitchFamily="34" charset="0"/>
                <a:ea typeface="Arial Unicode MS" panose="020B0604020202020204" pitchFamily="34" charset="-128"/>
              </a:rPr>
              <a:t>meningo</a:t>
            </a:r>
            <a:r>
              <a:rPr lang="fr-FR" sz="2400" b="1" spc="25" dirty="0" smtClean="0">
                <a:solidFill>
                  <a:srgbClr val="000000"/>
                </a:solidFill>
                <a:latin typeface="Tahoma" panose="020B0604030504040204" pitchFamily="34" charset="0"/>
                <a:ea typeface="Arial Unicode MS" panose="020B0604020202020204" pitchFamily="34" charset="-128"/>
              </a:rPr>
              <a:t>-e</a:t>
            </a:r>
            <a:r>
              <a:rPr lang="fr-FR" sz="24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ncéphalique</a:t>
            </a:r>
            <a:r>
              <a:rPr lang="fr-FR" sz="2400" b="1" spc="25" dirty="0">
                <a:latin typeface="Times New Roman" panose="02020603050405020304" pitchFamily="18" charset="0"/>
                <a:ea typeface="Arial Unicode MS" panose="020B0604020202020204" pitchFamily="34" charset="-128"/>
              </a:rPr>
              <a:t/>
            </a:r>
            <a:br>
              <a:rPr lang="fr-FR" sz="2400" b="1" spc="25" dirty="0">
                <a:latin typeface="Times New Roman" panose="02020603050405020304" pitchFamily="18" charset="0"/>
                <a:ea typeface="Arial Unicode MS" panose="020B0604020202020204" pitchFamily="34" charset="-128"/>
              </a:rPr>
            </a:br>
            <a:endParaRPr lang="fr-FR" sz="2400" dirty="0"/>
          </a:p>
        </p:txBody>
      </p:sp>
      <p:sp>
        <p:nvSpPr>
          <p:cNvPr id="3" name="Espace réservé du contenu 2"/>
          <p:cNvSpPr>
            <a:spLocks noGrp="1"/>
          </p:cNvSpPr>
          <p:nvPr>
            <p:ph idx="1"/>
          </p:nvPr>
        </p:nvSpPr>
        <p:spPr>
          <a:xfrm>
            <a:off x="1182029" y="1050880"/>
            <a:ext cx="10322583" cy="5315684"/>
          </a:xfrm>
        </p:spPr>
        <p:txBody>
          <a:bodyPr>
            <a:normAutofit fontScale="55000" lnSpcReduction="20000"/>
          </a:bodyPr>
          <a:lstStyle/>
          <a:p>
            <a:pPr algn="just">
              <a:lnSpc>
                <a:spcPct val="150000"/>
              </a:lnSpc>
            </a:pPr>
            <a:r>
              <a:rPr lang="fr-FR" sz="4400" dirty="0" smtClean="0">
                <a:solidFill>
                  <a:srgbClr val="000000"/>
                </a:solidFill>
                <a:latin typeface="Tahoma" panose="020B0604030504040204" pitchFamily="34" charset="0"/>
              </a:rPr>
              <a:t>Apparition de </a:t>
            </a:r>
            <a:r>
              <a:rPr lang="fr-FR" sz="4400" dirty="0">
                <a:solidFill>
                  <a:srgbClr val="000000"/>
                </a:solidFill>
                <a:latin typeface="Tahoma" panose="020B0604030504040204" pitchFamily="34" charset="0"/>
              </a:rPr>
              <a:t>signes neurologiques variés:</a:t>
            </a:r>
            <a:endParaRPr lang="fr-FR" sz="4400" dirty="0"/>
          </a:p>
          <a:p>
            <a:pPr lvl="0" algn="just">
              <a:lnSpc>
                <a:spcPct val="150000"/>
              </a:lnSpc>
              <a:buClr>
                <a:srgbClr val="000000"/>
              </a:buClr>
              <a:buSzPts val="1200"/>
              <a:buFont typeface="Calibri" panose="020F0502020204030204" pitchFamily="34" charset="0"/>
              <a:buChar char="-"/>
            </a:pPr>
            <a:r>
              <a:rPr lang="fr-FR" sz="4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Troubles sensitifs</a:t>
            </a:r>
            <a:r>
              <a:rPr lang="fr-FR" sz="4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4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ils sont précoces. L'hyperesthésie profonde, classique (signe de KERANDE) ;on observe également des paresthésies, des crampes musculaires, des douleurs radiculaires ou névralgiques ou des phénomènes d'anesthésie ou d'hyperesthésie en zone,</a:t>
            </a:r>
            <a:endParaRPr lang="fr-FR" sz="4400" spc="30" dirty="0">
              <a:ea typeface="Calibri" panose="020F0502020204030204" pitchFamily="34" charset="0"/>
              <a:cs typeface="Times New Roman" panose="02020603050405020304" pitchFamily="18" charset="0"/>
            </a:endParaRPr>
          </a:p>
          <a:p>
            <a:pPr lvl="0" algn="just">
              <a:lnSpc>
                <a:spcPct val="150000"/>
              </a:lnSpc>
              <a:buClr>
                <a:srgbClr val="000000"/>
              </a:buClr>
              <a:buSzPts val="1200"/>
              <a:buFont typeface="Calibri" panose="020F0502020204030204" pitchFamily="34" charset="0"/>
              <a:buChar char="-"/>
            </a:pPr>
            <a:r>
              <a:rPr lang="fr-FR" sz="4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Troubles psychiatriques </a:t>
            </a:r>
            <a:r>
              <a:rPr lang="fr-FR" sz="4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4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modifications </a:t>
            </a:r>
            <a:r>
              <a:rPr lang="fr-FR" sz="4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du caractère du malade qui de jovial devient apathique ou de triste devient hilare, des troubles du sommeil plus tardifs, ils sont caractéristiques. </a:t>
            </a:r>
            <a:endParaRPr lang="fr-FR" sz="4400" spc="3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5368522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32513" y="436728"/>
            <a:ext cx="10672099" cy="5977719"/>
          </a:xfrm>
        </p:spPr>
        <p:txBody>
          <a:bodyPr>
            <a:normAutofit lnSpcReduction="10000"/>
          </a:bodyPr>
          <a:lstStyle/>
          <a:p>
            <a:pPr lvl="0" algn="just">
              <a:lnSpc>
                <a:spcPct val="150000"/>
              </a:lnSpc>
              <a:buClr>
                <a:srgbClr val="000000"/>
              </a:buClr>
              <a:buSzPts val="1200"/>
              <a:buFont typeface="Calibri" panose="020F0502020204030204" pitchFamily="34" charset="0"/>
              <a:buChar char="-"/>
            </a:pPr>
            <a:r>
              <a:rPr lang="fr-FR" sz="26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Au début, le rythme nycthéméral est seulement inversé la somnolence diurne contraste avec l'insomnie nocturne. Plus tard, le trypanosome entre dans un état d'hébétude permanent. La maladie du sommeil mérite alors vraiment son nom.</a:t>
            </a:r>
            <a:endParaRPr lang="fr-FR" sz="2600" spc="30" dirty="0">
              <a:ea typeface="Calibri" panose="020F0502020204030204" pitchFamily="34" charset="0"/>
              <a:cs typeface="Times New Roman" panose="02020603050405020304" pitchFamily="18" charset="0"/>
            </a:endParaRPr>
          </a:p>
          <a:p>
            <a:pPr lvl="0" algn="just">
              <a:lnSpc>
                <a:spcPct val="150000"/>
              </a:lnSpc>
              <a:buClr>
                <a:srgbClr val="000000"/>
              </a:buClr>
              <a:buSzPts val="1200"/>
              <a:buFont typeface="Calibri" panose="020F0502020204030204" pitchFamily="34" charset="0"/>
              <a:buChar char="-"/>
            </a:pPr>
            <a:r>
              <a:rPr lang="fr-FR" sz="26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Troubles moteurs </a:t>
            </a:r>
            <a:r>
              <a:rPr lang="fr-FR" sz="26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 ils sont variés et rares : tremblements, crises convulsives.</a:t>
            </a:r>
            <a:endParaRPr lang="fr-FR" sz="2600" spc="30" dirty="0">
              <a:ea typeface="Calibri" panose="020F0502020204030204" pitchFamily="34" charset="0"/>
              <a:cs typeface="Times New Roman" panose="02020603050405020304" pitchFamily="18" charset="0"/>
            </a:endParaRPr>
          </a:p>
          <a:p>
            <a:pPr lvl="0" algn="just">
              <a:lnSpc>
                <a:spcPct val="150000"/>
              </a:lnSpc>
              <a:buClr>
                <a:srgbClr val="000000"/>
              </a:buClr>
              <a:buSzPts val="1200"/>
              <a:buFont typeface="Calibri" panose="020F0502020204030204" pitchFamily="34" charset="0"/>
              <a:buChar char="-"/>
            </a:pPr>
            <a:r>
              <a:rPr lang="fr-FR" sz="26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des troubles </a:t>
            </a:r>
            <a:r>
              <a:rPr lang="fr-FR" sz="26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neuro-endocriniens</a:t>
            </a:r>
            <a:r>
              <a:rPr lang="fr-FR" sz="26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6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ils témoignent de l'atteinte de l'axe </a:t>
            </a:r>
            <a:r>
              <a:rPr lang="fr-FR" sz="2600" spc="3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diencéphalo</a:t>
            </a:r>
            <a:r>
              <a:rPr lang="fr-FR" sz="26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 hypophysaire entrainant des troubles de la régulation thermique et de la soif, une perte de la libido, une aménorrhées, une stérilité.</a:t>
            </a:r>
            <a:endParaRPr lang="fr-FR" sz="2600" spc="3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42290224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82916"/>
            <a:ext cx="8911687" cy="481359"/>
          </a:xfrm>
        </p:spPr>
        <p:txBody>
          <a:bodyPr>
            <a:normAutofit fontScale="90000"/>
          </a:bodyPr>
          <a:lstStyle/>
          <a:p>
            <a:pPr lvl="0"/>
            <a:r>
              <a:rPr lang="fr-FR" sz="24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EVOLUTION</a:t>
            </a:r>
            <a:r>
              <a:rPr lang="fr-FR" sz="2400" dirty="0">
                <a:solidFill>
                  <a:srgbClr val="000000"/>
                </a:solidFill>
                <a:latin typeface="Courier New" panose="02070309020205020404" pitchFamily="49" charset="0"/>
                <a:ea typeface="Courier New" panose="02070309020205020404" pitchFamily="49" charset="0"/>
              </a:rPr>
              <a:t/>
            </a:r>
            <a:br>
              <a:rPr lang="fr-FR" sz="2400" dirty="0">
                <a:solidFill>
                  <a:srgbClr val="000000"/>
                </a:solidFill>
                <a:latin typeface="Courier New" panose="02070309020205020404" pitchFamily="49" charset="0"/>
                <a:ea typeface="Courier New" panose="02070309020205020404" pitchFamily="49" charset="0"/>
              </a:rPr>
            </a:br>
            <a:endParaRPr lang="fr-FR" sz="2400" dirty="0"/>
          </a:p>
        </p:txBody>
      </p:sp>
      <p:sp>
        <p:nvSpPr>
          <p:cNvPr id="3" name="Espace réservé du contenu 2"/>
          <p:cNvSpPr>
            <a:spLocks noGrp="1"/>
          </p:cNvSpPr>
          <p:nvPr>
            <p:ph idx="1"/>
          </p:nvPr>
        </p:nvSpPr>
        <p:spPr>
          <a:xfrm>
            <a:off x="1009933" y="764275"/>
            <a:ext cx="10686197" cy="5554638"/>
          </a:xfrm>
        </p:spPr>
        <p:txBody>
          <a:bodyPr>
            <a:normAutofit/>
          </a:bodyPr>
          <a:lstStyle/>
          <a:p>
            <a:pPr algn="just">
              <a:lnSpc>
                <a:spcPct val="150000"/>
              </a:lnSpc>
            </a:pPr>
            <a:r>
              <a:rPr lang="fr-FR" sz="2600" dirty="0" smtClean="0">
                <a:solidFill>
                  <a:srgbClr val="000000"/>
                </a:solidFill>
                <a:latin typeface="Tahoma" panose="020B0604030504040204" pitchFamily="34" charset="0"/>
              </a:rPr>
              <a:t>Sans traitement</a:t>
            </a:r>
            <a:r>
              <a:rPr lang="fr-FR" sz="2600" dirty="0">
                <a:solidFill>
                  <a:srgbClr val="000000"/>
                </a:solidFill>
                <a:latin typeface="Tahoma" panose="020B0604030504040204" pitchFamily="34" charset="0"/>
              </a:rPr>
              <a:t>, le malade s'achemine plus ou moins </a:t>
            </a:r>
            <a:r>
              <a:rPr lang="fr-FR" sz="2600" dirty="0" smtClean="0">
                <a:solidFill>
                  <a:srgbClr val="000000"/>
                </a:solidFill>
                <a:latin typeface="Tahoma" panose="020B0604030504040204" pitchFamily="34" charset="0"/>
              </a:rPr>
              <a:t>vite </a:t>
            </a:r>
            <a:r>
              <a:rPr lang="fr-FR" sz="2600" dirty="0">
                <a:solidFill>
                  <a:srgbClr val="000000"/>
                </a:solidFill>
                <a:latin typeface="Tahoma" panose="020B0604030504040204" pitchFamily="34" charset="0"/>
              </a:rPr>
              <a:t>vers la cachexie sommeilleuse terminale : inexpressif, indifférent, décharné, grabataire, il sombre dans le coma ou meurt emporté par une infection </a:t>
            </a:r>
            <a:r>
              <a:rPr lang="fr-FR" sz="2600" i="1" spc="-15" dirty="0">
                <a:solidFill>
                  <a:srgbClr val="000000"/>
                </a:solidFill>
                <a:latin typeface="Tahoma" panose="020B0604030504040204" pitchFamily="34" charset="0"/>
                <a:ea typeface="Tahoma" panose="020B0604030504040204" pitchFamily="34" charset="0"/>
                <a:cs typeface="Times New Roman" panose="02020603050405020304" pitchFamily="18" charset="0"/>
              </a:rPr>
              <a:t>intercurrente.</a:t>
            </a:r>
            <a:endParaRPr lang="fr-FR" sz="2600" dirty="0"/>
          </a:p>
          <a:p>
            <a:pPr algn="just">
              <a:lnSpc>
                <a:spcPct val="150000"/>
              </a:lnSpc>
            </a:pPr>
            <a:r>
              <a:rPr lang="fr-FR" sz="2600" dirty="0">
                <a:solidFill>
                  <a:srgbClr val="000000"/>
                </a:solidFill>
                <a:latin typeface="Tahoma" panose="020B0604030504040204" pitchFamily="34" charset="0"/>
              </a:rPr>
              <a:t>Les trypanosomiases traitées </a:t>
            </a:r>
            <a:r>
              <a:rPr lang="fr-FR" sz="2600" dirty="0" smtClean="0">
                <a:solidFill>
                  <a:srgbClr val="000000"/>
                </a:solidFill>
                <a:latin typeface="Tahoma" panose="020B0604030504040204" pitchFamily="34" charset="0"/>
              </a:rPr>
              <a:t>précocement(à </a:t>
            </a:r>
            <a:r>
              <a:rPr lang="fr-FR" sz="2600" dirty="0">
                <a:solidFill>
                  <a:srgbClr val="000000"/>
                </a:solidFill>
                <a:latin typeface="Tahoma" panose="020B0604030504040204" pitchFamily="34" charset="0"/>
              </a:rPr>
              <a:t>la phase </a:t>
            </a:r>
            <a:r>
              <a:rPr lang="fr-FR" sz="2600" dirty="0" err="1" smtClean="0">
                <a:solidFill>
                  <a:srgbClr val="000000"/>
                </a:solidFill>
                <a:latin typeface="Tahoma" panose="020B0604030504040204" pitchFamily="34" charset="0"/>
              </a:rPr>
              <a:t>lymphatico</a:t>
            </a:r>
            <a:r>
              <a:rPr lang="fr-FR" sz="2600" dirty="0" smtClean="0">
                <a:solidFill>
                  <a:srgbClr val="000000"/>
                </a:solidFill>
                <a:latin typeface="Tahoma" panose="020B0604030504040204" pitchFamily="34" charset="0"/>
              </a:rPr>
              <a:t>-sanguine) </a:t>
            </a:r>
            <a:r>
              <a:rPr lang="fr-FR" sz="2600" dirty="0">
                <a:solidFill>
                  <a:srgbClr val="000000"/>
                </a:solidFill>
                <a:latin typeface="Tahoma" panose="020B0604030504040204" pitchFamily="34" charset="0"/>
              </a:rPr>
              <a:t>sont de meilleurs pronostics. </a:t>
            </a:r>
            <a:r>
              <a:rPr lang="fr-FR" sz="2600" dirty="0" smtClean="0">
                <a:solidFill>
                  <a:srgbClr val="000000"/>
                </a:solidFill>
                <a:latin typeface="Tahoma" panose="020B0604030504040204" pitchFamily="34" charset="0"/>
              </a:rPr>
              <a:t>Traitées, à </a:t>
            </a:r>
            <a:r>
              <a:rPr lang="fr-FR" sz="2600" dirty="0">
                <a:solidFill>
                  <a:srgbClr val="000000"/>
                </a:solidFill>
                <a:latin typeface="Tahoma" panose="020B0604030504040204" pitchFamily="34" charset="0"/>
              </a:rPr>
              <a:t>la phase </a:t>
            </a:r>
            <a:r>
              <a:rPr lang="fr-FR" sz="2600" dirty="0" err="1">
                <a:solidFill>
                  <a:srgbClr val="000000"/>
                </a:solidFill>
                <a:latin typeface="Tahoma" panose="020B0604030504040204" pitchFamily="34" charset="0"/>
              </a:rPr>
              <a:t>méningo-encéphalitique</a:t>
            </a:r>
            <a:r>
              <a:rPr lang="fr-FR" sz="2600" dirty="0">
                <a:solidFill>
                  <a:srgbClr val="000000"/>
                </a:solidFill>
                <a:latin typeface="Tahoma" panose="020B0604030504040204" pitchFamily="34" charset="0"/>
              </a:rPr>
              <a:t>, les résultats sont moins brillants: séquelles neuropsychiques, rechutes. </a:t>
            </a:r>
            <a:endParaRPr lang="fr-FR" sz="2600" dirty="0"/>
          </a:p>
          <a:p>
            <a:endParaRPr lang="fr-FR" dirty="0"/>
          </a:p>
        </p:txBody>
      </p:sp>
    </p:spTree>
    <p:extLst>
      <p:ext uri="{BB962C8B-B14F-4D97-AF65-F5344CB8AC3E}">
        <p14:creationId xmlns:p14="http://schemas.microsoft.com/office/powerpoint/2010/main" val="294485283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39591" y="624110"/>
            <a:ext cx="9765022" cy="563245"/>
          </a:xfrm>
        </p:spPr>
        <p:txBody>
          <a:bodyPr>
            <a:noAutofit/>
          </a:bodyPr>
          <a:lstStyle/>
          <a:p>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DIAGNOSTIC </a:t>
            </a:r>
            <a:r>
              <a:rPr lang="fr-FR" sz="28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POSITIF</a:t>
            </a:r>
            <a:r>
              <a:rPr lang="fr-FR" sz="2800" dirty="0" smtClean="0">
                <a:solidFill>
                  <a:srgbClr val="000000"/>
                </a:solidFill>
                <a:latin typeface="Courier New" panose="02070309020205020404" pitchFamily="49" charset="0"/>
                <a:ea typeface="Arial Unicode MS" panose="020B0604020202020204" pitchFamily="34" charset="-128"/>
              </a:rPr>
              <a:t> et </a:t>
            </a:r>
            <a:r>
              <a:rPr lang="fr-FR" sz="28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TRAITEMENT</a:t>
            </a:r>
            <a:r>
              <a:rPr lang="fr-FR" sz="2800" dirty="0">
                <a:solidFill>
                  <a:srgbClr val="000000"/>
                </a:solidFill>
                <a:latin typeface="Courier New" panose="02070309020205020404" pitchFamily="49" charset="0"/>
                <a:ea typeface="Courier New" panose="02070309020205020404" pitchFamily="49" charset="0"/>
              </a:rPr>
              <a:t/>
            </a:r>
            <a:br>
              <a:rPr lang="fr-FR" sz="2800" dirty="0">
                <a:solidFill>
                  <a:srgbClr val="000000"/>
                </a:solidFill>
                <a:latin typeface="Courier New" panose="02070309020205020404" pitchFamily="49" charset="0"/>
                <a:ea typeface="Courier New" panose="02070309020205020404" pitchFamily="49" charset="0"/>
              </a:rPr>
            </a:br>
            <a:endParaRPr lang="fr-FR" sz="2800" dirty="0"/>
          </a:p>
        </p:txBody>
      </p:sp>
      <p:sp>
        <p:nvSpPr>
          <p:cNvPr id="3" name="Espace réservé du contenu 2"/>
          <p:cNvSpPr>
            <a:spLocks noGrp="1"/>
          </p:cNvSpPr>
          <p:nvPr>
            <p:ph idx="1"/>
          </p:nvPr>
        </p:nvSpPr>
        <p:spPr>
          <a:xfrm>
            <a:off x="573206" y="1419367"/>
            <a:ext cx="11232107" cy="4491855"/>
          </a:xfrm>
        </p:spPr>
        <p:txBody>
          <a:bodyPr>
            <a:normAutofit fontScale="85000" lnSpcReduction="20000"/>
          </a:bodyPr>
          <a:lstStyle/>
          <a:p>
            <a:pPr>
              <a:lnSpc>
                <a:spcPct val="150000"/>
              </a:lnSpc>
            </a:pPr>
            <a:r>
              <a:rPr lang="fr-FR" sz="2800" dirty="0">
                <a:solidFill>
                  <a:srgbClr val="000000"/>
                </a:solidFill>
                <a:latin typeface="Tahoma" panose="020B0604030504040204" pitchFamily="34" charset="0"/>
              </a:rPr>
              <a:t>Le diagnostic de certitude repose sur la mise en évidence du parasite soit dans le suc de ponction ganglionnaire, soit dans le sang (goutte épaisse et frottis), soit enfin dans le liquide céphalorachidien</a:t>
            </a:r>
            <a:r>
              <a:rPr lang="fr-FR" sz="2800" dirty="0" smtClean="0">
                <a:solidFill>
                  <a:srgbClr val="000000"/>
                </a:solidFill>
                <a:latin typeface="Tahoma" panose="020B0604030504040204" pitchFamily="34" charset="0"/>
              </a:rPr>
              <a:t>.</a:t>
            </a:r>
            <a:endParaRPr lang="fr-FR" sz="2800" dirty="0"/>
          </a:p>
          <a:p>
            <a:pPr marL="0" indent="0" algn="just">
              <a:lnSpc>
                <a:spcPct val="150000"/>
              </a:lnSpc>
              <a:buNone/>
            </a:pPr>
            <a:r>
              <a:rPr lang="fr-FR" sz="28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TRAITEMENT D’ATTAQUE</a:t>
            </a:r>
            <a:endParaRPr lang="fr-FR" sz="2800" dirty="0">
              <a:solidFill>
                <a:srgbClr val="000000"/>
              </a:solidFill>
              <a:latin typeface="Courier New" panose="02070309020205020404" pitchFamily="49" charset="0"/>
              <a:ea typeface="Courier New" panose="02070309020205020404" pitchFamily="49" charset="0"/>
            </a:endParaRPr>
          </a:p>
          <a:p>
            <a:pPr marL="0" indent="0" algn="just">
              <a:lnSpc>
                <a:spcPct val="150000"/>
              </a:lnSpc>
              <a:buNone/>
            </a:pPr>
            <a:r>
              <a:rPr lang="fr-FR" sz="28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   </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Réhydrater le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malade par des perfusions fréquentes avec des électrolytes ;</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Administrer des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vermifuges pour corriger les troubles provoqués par les parasitoses </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intestinales</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Faire une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antibiothérapie (Amoxicilline) diffusible dans le L.C.R.</a:t>
            </a:r>
            <a:endParaRPr lang="fr-FR" sz="28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35125247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03611" y="624110"/>
            <a:ext cx="10501002" cy="714036"/>
          </a:xfrm>
        </p:spPr>
        <p:txBody>
          <a:bodyPr>
            <a:normAutofit fontScale="90000"/>
          </a:bodyPr>
          <a:lstStyle/>
          <a:p>
            <a:pPr lvl="0" algn="ctr"/>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PROPHYLAXIE</a:t>
            </a:r>
            <a:r>
              <a:rPr lang="fr-FR" sz="2800" dirty="0">
                <a:solidFill>
                  <a:srgbClr val="000000"/>
                </a:solidFill>
                <a:latin typeface="Courier New" panose="02070309020205020404" pitchFamily="49" charset="0"/>
                <a:ea typeface="Courier New" panose="02070309020205020404" pitchFamily="49" charset="0"/>
              </a:rPr>
              <a:t/>
            </a:r>
            <a:br>
              <a:rPr lang="fr-FR" sz="2800" dirty="0">
                <a:solidFill>
                  <a:srgbClr val="000000"/>
                </a:solidFill>
                <a:latin typeface="Courier New" panose="02070309020205020404" pitchFamily="49" charset="0"/>
                <a:ea typeface="Courier New" panose="02070309020205020404" pitchFamily="49" charset="0"/>
              </a:rPr>
            </a:br>
            <a:endParaRPr lang="fr-FR" sz="2800" dirty="0"/>
          </a:p>
        </p:txBody>
      </p:sp>
      <p:sp>
        <p:nvSpPr>
          <p:cNvPr id="3" name="Espace réservé du contenu 2"/>
          <p:cNvSpPr>
            <a:spLocks noGrp="1"/>
          </p:cNvSpPr>
          <p:nvPr>
            <p:ph idx="1"/>
          </p:nvPr>
        </p:nvSpPr>
        <p:spPr>
          <a:xfrm>
            <a:off x="1003610" y="1338146"/>
            <a:ext cx="10501002" cy="5062654"/>
          </a:xfrm>
        </p:spPr>
        <p:txBody>
          <a:bodyPr>
            <a:normAutofit/>
          </a:bodyPr>
          <a:lstStyle/>
          <a:p>
            <a:pPr lvl="0" algn="just">
              <a:lnSpc>
                <a:spcPct val="150000"/>
              </a:lnSpc>
              <a:buFont typeface="Calibri" panose="020F0502020204030204" pitchFamily="34" charset="0"/>
              <a:buChar char="-"/>
            </a:pP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Lutter contre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les glossines par l'utilisation des pièges et d'écrans en tissu imprégné d'insecticide, le débroussaillement des alentours des concessions, l'épandage aérien de DDT et la pulvérisation terrestre d'insecticide à grande échelle même dans les domiciles,</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Dépister et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traiter les sujets </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exposés</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Lutter contre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 réservoir animal de parasites(des </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antilopes)</a:t>
            </a:r>
            <a:endParaRPr lang="fr-FR" sz="2000" dirty="0"/>
          </a:p>
        </p:txBody>
      </p:sp>
    </p:spTree>
    <p:extLst>
      <p:ext uri="{BB962C8B-B14F-4D97-AF65-F5344CB8AC3E}">
        <p14:creationId xmlns:p14="http://schemas.microsoft.com/office/powerpoint/2010/main" val="292070722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3331" y="2299854"/>
            <a:ext cx="10915096" cy="1995055"/>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fr-FR" sz="5300" b="1" dirty="0" smtClean="0">
                <a:ln w="0"/>
                <a:solidFill>
                  <a:schemeClr val="tx1"/>
                </a:solidFill>
                <a:latin typeface="Tahoma" panose="020B0604030504040204" pitchFamily="34" charset="0"/>
              </a:rPr>
              <a:t/>
            </a:r>
            <a:br>
              <a:rPr lang="fr-FR" sz="5300" b="1" dirty="0" smtClean="0">
                <a:ln w="0"/>
                <a:solidFill>
                  <a:schemeClr val="tx1"/>
                </a:solidFill>
                <a:latin typeface="Tahoma" panose="020B0604030504040204" pitchFamily="34" charset="0"/>
              </a:rPr>
            </a:br>
            <a:r>
              <a:rPr lang="fr-FR" sz="5300" b="1" dirty="0" smtClean="0">
                <a:ln w="0"/>
                <a:solidFill>
                  <a:schemeClr val="tx1"/>
                </a:solidFill>
                <a:latin typeface="Tahoma" panose="020B0604030504040204" pitchFamily="34" charset="0"/>
              </a:rPr>
              <a:t>PARASITOSES </a:t>
            </a:r>
            <a:r>
              <a:rPr lang="fr-FR" sz="5300" b="1" dirty="0">
                <a:ln w="0"/>
                <a:solidFill>
                  <a:schemeClr val="tx1"/>
                </a:solidFill>
                <a:latin typeface="Tahoma" panose="020B0604030504040204" pitchFamily="34" charset="0"/>
              </a:rPr>
              <a:t>INTESTINALES</a:t>
            </a:r>
            <a:r>
              <a:rPr lang="fr-FR" sz="4800" dirty="0"/>
              <a:t/>
            </a:r>
            <a:br>
              <a:rPr lang="fr-FR" sz="4800" dirty="0"/>
            </a:br>
            <a:endParaRPr lang="fr-FR" sz="4800" dirty="0"/>
          </a:p>
        </p:txBody>
      </p:sp>
    </p:spTree>
    <p:extLst>
      <p:ext uri="{BB962C8B-B14F-4D97-AF65-F5344CB8AC3E}">
        <p14:creationId xmlns:p14="http://schemas.microsoft.com/office/powerpoint/2010/main" val="184816834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78784"/>
            <a:ext cx="8911687" cy="669431"/>
          </a:xfrm>
        </p:spPr>
        <p:txBody>
          <a:bodyPr>
            <a:normAutofit/>
          </a:bodyPr>
          <a:lstStyle/>
          <a:p>
            <a:r>
              <a:rPr lang="fr-FR" sz="3200" b="1" dirty="0">
                <a:solidFill>
                  <a:srgbClr val="FF0000"/>
                </a:solidFill>
                <a:latin typeface="Tahoma" panose="020B0604030504040204" pitchFamily="34" charset="0"/>
                <a:ea typeface="Courier New" panose="02070309020205020404" pitchFamily="49" charset="0"/>
              </a:rPr>
              <a:t>NEMATODOSES INTESTINALES</a:t>
            </a:r>
            <a:endParaRPr lang="fr-FR" sz="3200" dirty="0">
              <a:solidFill>
                <a:srgbClr val="FF0000"/>
              </a:solidFill>
            </a:endParaRPr>
          </a:p>
        </p:txBody>
      </p:sp>
      <p:sp>
        <p:nvSpPr>
          <p:cNvPr id="3" name="Espace réservé du contenu 2"/>
          <p:cNvSpPr>
            <a:spLocks noGrp="1"/>
          </p:cNvSpPr>
          <p:nvPr>
            <p:ph idx="1"/>
          </p:nvPr>
        </p:nvSpPr>
        <p:spPr>
          <a:xfrm>
            <a:off x="847493" y="1048215"/>
            <a:ext cx="10657119" cy="4973443"/>
          </a:xfrm>
        </p:spPr>
        <p:txBody>
          <a:bodyPr>
            <a:noAutofit/>
          </a:bodyPr>
          <a:lstStyle/>
          <a:p>
            <a:pPr algn="just">
              <a:lnSpc>
                <a:spcPct val="150000"/>
              </a:lnSpc>
            </a:pPr>
            <a:r>
              <a:rPr lang="fr-FR" sz="2400" spc="10" dirty="0">
                <a:solidFill>
                  <a:srgbClr val="000000"/>
                </a:solidFill>
                <a:latin typeface="Copperplate Gothic Bold" panose="020E0705020206020404" pitchFamily="34" charset="0"/>
                <a:ea typeface="Times New Roman" panose="02020603050405020304" pitchFamily="18" charset="0"/>
              </a:rPr>
              <a:t>Les </a:t>
            </a:r>
            <a:r>
              <a:rPr lang="fr-FR" sz="2400" spc="10" dirty="0" err="1">
                <a:solidFill>
                  <a:srgbClr val="000000"/>
                </a:solidFill>
                <a:latin typeface="Copperplate Gothic Bold" panose="020E0705020206020404" pitchFamily="34" charset="0"/>
                <a:ea typeface="Times New Roman" panose="02020603050405020304" pitchFamily="18" charset="0"/>
              </a:rPr>
              <a:t>nématodoses</a:t>
            </a:r>
            <a:r>
              <a:rPr lang="fr-FR" sz="2400" spc="10" dirty="0">
                <a:solidFill>
                  <a:srgbClr val="000000"/>
                </a:solidFill>
                <a:latin typeface="Copperplate Gothic Bold" panose="020E0705020206020404" pitchFamily="34" charset="0"/>
                <a:ea typeface="Times New Roman" panose="02020603050405020304" pitchFamily="18" charset="0"/>
              </a:rPr>
              <a:t> intestinales sont des helminthiases liées à la présence dans l'intestin de l'homme de vers ronds ou nématodes. </a:t>
            </a:r>
            <a:endParaRPr lang="fr-FR" sz="2400" spc="10" dirty="0" smtClean="0">
              <a:solidFill>
                <a:srgbClr val="000000"/>
              </a:solidFill>
              <a:latin typeface="Copperplate Gothic Bold" panose="020E0705020206020404" pitchFamily="34" charset="0"/>
              <a:ea typeface="Times New Roman" panose="02020603050405020304" pitchFamily="18" charset="0"/>
            </a:endParaRPr>
          </a:p>
          <a:p>
            <a:pPr algn="just">
              <a:lnSpc>
                <a:spcPct val="150000"/>
              </a:lnSpc>
              <a:buFont typeface="Wingdings" panose="05000000000000000000" pitchFamily="2" charset="2"/>
              <a:buChar char="§"/>
            </a:pPr>
            <a:r>
              <a:rPr lang="fr-FR" sz="2400" spc="10" dirty="0" smtClean="0">
                <a:solidFill>
                  <a:srgbClr val="000000"/>
                </a:solidFill>
                <a:latin typeface="Copperplate Gothic Bold" panose="020E0705020206020404" pitchFamily="34" charset="0"/>
                <a:ea typeface="Times New Roman" panose="02020603050405020304" pitchFamily="18" charset="0"/>
              </a:rPr>
              <a:t>Trois </a:t>
            </a:r>
            <a:r>
              <a:rPr lang="fr-FR" sz="2400" spc="10" dirty="0">
                <a:solidFill>
                  <a:srgbClr val="000000"/>
                </a:solidFill>
                <a:latin typeface="Copperplate Gothic Bold" panose="020E0705020206020404" pitchFamily="34" charset="0"/>
                <a:ea typeface="Times New Roman" panose="02020603050405020304" pitchFamily="18" charset="0"/>
              </a:rPr>
              <a:t>d'entre elles ont une incidence notable en zone tropicale : </a:t>
            </a:r>
            <a:r>
              <a:rPr lang="fr-FR" sz="2400" spc="10" dirty="0" smtClean="0">
                <a:solidFill>
                  <a:srgbClr val="7030A0"/>
                </a:solidFill>
                <a:latin typeface="Copperplate Gothic Bold" panose="020E0705020206020404" pitchFamily="34" charset="0"/>
                <a:ea typeface="Times New Roman" panose="02020603050405020304" pitchFamily="18" charset="0"/>
              </a:rPr>
              <a:t>L'ascaridiose, </a:t>
            </a:r>
            <a:r>
              <a:rPr lang="fr-FR" sz="2400" spc="10" dirty="0">
                <a:solidFill>
                  <a:srgbClr val="000000"/>
                </a:solidFill>
                <a:latin typeface="Copperplate Gothic Bold" panose="020E0705020206020404" pitchFamily="34" charset="0"/>
                <a:ea typeface="Times New Roman" panose="02020603050405020304" pitchFamily="18" charset="0"/>
              </a:rPr>
              <a:t>responsable de troubles digestifs parfois sévères</a:t>
            </a:r>
            <a:r>
              <a:rPr lang="fr-FR" sz="2400" spc="10" dirty="0" smtClean="0">
                <a:solidFill>
                  <a:srgbClr val="000000"/>
                </a:solidFill>
                <a:latin typeface="Copperplate Gothic Bold" panose="020E0705020206020404" pitchFamily="34" charset="0"/>
                <a:ea typeface="Times New Roman" panose="02020603050405020304" pitchFamily="18" charset="0"/>
              </a:rPr>
              <a:t>;</a:t>
            </a:r>
          </a:p>
          <a:p>
            <a:pPr algn="just">
              <a:lnSpc>
                <a:spcPct val="150000"/>
              </a:lnSpc>
              <a:buFont typeface="Wingdings" panose="05000000000000000000" pitchFamily="2" charset="2"/>
              <a:buChar char="§"/>
            </a:pPr>
            <a:r>
              <a:rPr lang="fr-FR" sz="2400" spc="10" dirty="0" smtClean="0">
                <a:solidFill>
                  <a:srgbClr val="000000"/>
                </a:solidFill>
                <a:latin typeface="Copperplate Gothic Bold" panose="020E0705020206020404" pitchFamily="34" charset="0"/>
                <a:ea typeface="Times New Roman" panose="02020603050405020304" pitchFamily="18" charset="0"/>
              </a:rPr>
              <a:t> </a:t>
            </a:r>
            <a:r>
              <a:rPr lang="fr-FR" sz="2400" spc="10" dirty="0" smtClean="0">
                <a:solidFill>
                  <a:srgbClr val="7030A0"/>
                </a:solidFill>
                <a:latin typeface="Copperplate Gothic Bold" panose="020E0705020206020404" pitchFamily="34" charset="0"/>
                <a:ea typeface="Times New Roman" panose="02020603050405020304" pitchFamily="18" charset="0"/>
              </a:rPr>
              <a:t>L’ankylostomiase</a:t>
            </a:r>
            <a:r>
              <a:rPr lang="fr-FR" sz="2400" spc="10" dirty="0" smtClean="0">
                <a:solidFill>
                  <a:srgbClr val="000000"/>
                </a:solidFill>
                <a:latin typeface="Copperplate Gothic Bold" panose="020E0705020206020404" pitchFamily="34" charset="0"/>
                <a:ea typeface="Times New Roman" panose="02020603050405020304" pitchFamily="18" charset="0"/>
              </a:rPr>
              <a:t> qui </a:t>
            </a:r>
            <a:r>
              <a:rPr lang="fr-FR" sz="2400" spc="10" dirty="0">
                <a:solidFill>
                  <a:srgbClr val="000000"/>
                </a:solidFill>
                <a:latin typeface="Copperplate Gothic Bold" panose="020E0705020206020404" pitchFamily="34" charset="0"/>
                <a:ea typeface="Times New Roman" panose="02020603050405020304" pitchFamily="18" charset="0"/>
              </a:rPr>
              <a:t>détermine une spoliation sanguine grave chez l’enfant carence ou déjà anémique; </a:t>
            </a:r>
            <a:endParaRPr lang="fr-FR" sz="2400" spc="10" dirty="0" smtClean="0">
              <a:solidFill>
                <a:srgbClr val="000000"/>
              </a:solidFill>
              <a:latin typeface="Copperplate Gothic Bold" panose="020E0705020206020404" pitchFamily="34" charset="0"/>
              <a:ea typeface="Times New Roman" panose="02020603050405020304" pitchFamily="18" charset="0"/>
            </a:endParaRPr>
          </a:p>
          <a:p>
            <a:pPr algn="just">
              <a:lnSpc>
                <a:spcPct val="150000"/>
              </a:lnSpc>
              <a:buFont typeface="Wingdings" panose="05000000000000000000" pitchFamily="2" charset="2"/>
              <a:buChar char="§"/>
            </a:pPr>
            <a:r>
              <a:rPr lang="fr-FR" sz="2400" spc="10" dirty="0">
                <a:solidFill>
                  <a:srgbClr val="7030A0"/>
                </a:solidFill>
                <a:latin typeface="Copperplate Gothic Bold" panose="020E0705020206020404" pitchFamily="34" charset="0"/>
                <a:ea typeface="Times New Roman" panose="02020603050405020304" pitchFamily="18" charset="0"/>
              </a:rPr>
              <a:t> </a:t>
            </a:r>
            <a:r>
              <a:rPr lang="fr-FR" sz="2400" spc="10" dirty="0" smtClean="0">
                <a:solidFill>
                  <a:srgbClr val="7030A0"/>
                </a:solidFill>
                <a:latin typeface="Copperplate Gothic Bold" panose="020E0705020206020404" pitchFamily="34" charset="0"/>
                <a:ea typeface="Times New Roman" panose="02020603050405020304" pitchFamily="18" charset="0"/>
              </a:rPr>
              <a:t>  L'anguillulose</a:t>
            </a:r>
            <a:r>
              <a:rPr lang="fr-FR" sz="2400" spc="10" dirty="0" smtClean="0">
                <a:solidFill>
                  <a:srgbClr val="000000"/>
                </a:solidFill>
                <a:latin typeface="Copperplate Gothic Bold" panose="020E0705020206020404" pitchFamily="34" charset="0"/>
                <a:ea typeface="Times New Roman" panose="02020603050405020304" pitchFamily="18" charset="0"/>
              </a:rPr>
              <a:t>, </a:t>
            </a:r>
            <a:r>
              <a:rPr lang="fr-FR" sz="2400" spc="10" dirty="0">
                <a:solidFill>
                  <a:srgbClr val="000000"/>
                </a:solidFill>
                <a:latin typeface="Copperplate Gothic Bold" panose="020E0705020206020404" pitchFamily="34" charset="0"/>
                <a:ea typeface="Times New Roman" panose="02020603050405020304" pitchFamily="18" charset="0"/>
              </a:rPr>
              <a:t>remarquable par sa ténacité.</a:t>
            </a:r>
            <a:endParaRPr lang="fr-FR" sz="2400" spc="10" dirty="0">
              <a:latin typeface="Copperplate Gothic Bold" panose="020E0705020206020404" pitchFamily="34" charset="0"/>
              <a:ea typeface="Times New Roman" panose="02020603050405020304" pitchFamily="18" charset="0"/>
            </a:endParaRPr>
          </a:p>
          <a:p>
            <a:pPr algn="just">
              <a:lnSpc>
                <a:spcPct val="150000"/>
              </a:lnSpc>
            </a:pPr>
            <a:endParaRPr lang="fr-FR" sz="2800" dirty="0"/>
          </a:p>
        </p:txBody>
      </p:sp>
    </p:spTree>
    <p:extLst>
      <p:ext uri="{BB962C8B-B14F-4D97-AF65-F5344CB8AC3E}">
        <p14:creationId xmlns:p14="http://schemas.microsoft.com/office/powerpoint/2010/main" val="250958705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19197" y="624110"/>
            <a:ext cx="9985415" cy="719781"/>
          </a:xfrm>
        </p:spPr>
        <p:txBody>
          <a:bodyPr>
            <a:normAutofit/>
          </a:bodyPr>
          <a:lstStyle/>
          <a:p>
            <a:r>
              <a:rPr lang="fr-FR" sz="2800" dirty="0" smtClean="0"/>
              <a:t>ASCARIS           ANGUILLULE                    ANKYLOSTOME</a:t>
            </a:r>
            <a:endParaRPr lang="fr-FR" sz="2800" dirty="0"/>
          </a:p>
        </p:txBody>
      </p:sp>
      <p:pic>
        <p:nvPicPr>
          <p:cNvPr id="1034" name="Picture 10" descr="The nematode Ascaris lumbricoides is a multicellular organis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6144" y="1343891"/>
            <a:ext cx="3537711" cy="490450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ookworm (Ancylostom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4690" y="1343891"/>
            <a:ext cx="3759921" cy="490450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Les anguillule du vinaig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0883" y="1343891"/>
            <a:ext cx="3903807" cy="4904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70286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45132"/>
          </a:xfrm>
        </p:spPr>
        <p:txBody>
          <a:bodyPr>
            <a:normAutofit fontScale="90000"/>
          </a:bodyPr>
          <a:lstStyle/>
          <a:p>
            <a:pPr lvl="0"/>
            <a:r>
              <a:rPr lang="fr-FR" b="1" spc="25" dirty="0">
                <a:solidFill>
                  <a:srgbClr val="FF0000"/>
                </a:solidFill>
                <a:latin typeface="Tahoma" panose="020B0604030504040204" pitchFamily="34" charset="0"/>
                <a:ea typeface="Arial Unicode MS" panose="020B0604020202020204" pitchFamily="34" charset="-128"/>
                <a:cs typeface="Times New Roman" panose="02020603050405020304" pitchFamily="18" charset="0"/>
              </a:rPr>
              <a:t>ASCARIDIOSE OU ASCARIDIASE</a:t>
            </a:r>
            <a:r>
              <a:rPr lang="fr-FR" dirty="0">
                <a:solidFill>
                  <a:srgbClr val="FF0000"/>
                </a:solidFill>
                <a:latin typeface="Courier New" panose="02070309020205020404" pitchFamily="49" charset="0"/>
                <a:ea typeface="Arial Unicode MS" panose="020B0604020202020204" pitchFamily="34" charset="-128"/>
              </a:rPr>
              <a:t/>
            </a:r>
            <a:br>
              <a:rPr lang="fr-FR" dirty="0">
                <a:solidFill>
                  <a:srgbClr val="FF0000"/>
                </a:solidFill>
                <a:latin typeface="Courier New" panose="02070309020205020404" pitchFamily="49" charset="0"/>
                <a:ea typeface="Arial Unicode MS" panose="020B0604020202020204" pitchFamily="34" charset="-128"/>
              </a:rPr>
            </a:br>
            <a:endParaRPr lang="fr-FR" dirty="0">
              <a:solidFill>
                <a:srgbClr val="FF0000"/>
              </a:solidFill>
            </a:endParaRPr>
          </a:p>
        </p:txBody>
      </p:sp>
      <p:sp>
        <p:nvSpPr>
          <p:cNvPr id="3" name="Espace réservé du contenu 2"/>
          <p:cNvSpPr>
            <a:spLocks noGrp="1"/>
          </p:cNvSpPr>
          <p:nvPr>
            <p:ph idx="1"/>
          </p:nvPr>
        </p:nvSpPr>
        <p:spPr>
          <a:xfrm>
            <a:off x="1315844" y="1472588"/>
            <a:ext cx="10188768" cy="4491483"/>
          </a:xfrm>
        </p:spPr>
        <p:txBody>
          <a:bodyPr>
            <a:normAutofit lnSpcReduction="10000"/>
          </a:bodyPr>
          <a:lstStyle/>
          <a:p>
            <a:pPr algn="just">
              <a:lnSpc>
                <a:spcPct val="150000"/>
              </a:lnSpc>
            </a:pPr>
            <a:r>
              <a:rPr lang="fr-FR" sz="2800" spc="10" dirty="0">
                <a:solidFill>
                  <a:srgbClr val="000000"/>
                </a:solidFill>
                <a:latin typeface="Copperplate Gothic Bold" panose="020E0705020206020404" pitchFamily="34" charset="0"/>
                <a:ea typeface="Times New Roman" panose="02020603050405020304" pitchFamily="18" charset="0"/>
              </a:rPr>
              <a:t>L'ascaridiose est une parasitose intestinale cosmopolite, spécifiquement humaine, d'origine essentiellement alimentaire (ingestion des légumes, de crudités, d'eau portant des œufs </a:t>
            </a:r>
            <a:r>
              <a:rPr lang="fr-FR" sz="2800" spc="10" dirty="0" err="1">
                <a:solidFill>
                  <a:srgbClr val="000000"/>
                </a:solidFill>
                <a:latin typeface="Copperplate Gothic Bold" panose="020E0705020206020404" pitchFamily="34" charset="0"/>
                <a:ea typeface="Times New Roman" panose="02020603050405020304" pitchFamily="18" charset="0"/>
              </a:rPr>
              <a:t>embryonnés</a:t>
            </a:r>
            <a:r>
              <a:rPr lang="fr-FR" sz="2800" spc="10" dirty="0">
                <a:solidFill>
                  <a:srgbClr val="000000"/>
                </a:solidFill>
                <a:latin typeface="Copperplate Gothic Bold" panose="020E0705020206020404" pitchFamily="34" charset="0"/>
                <a:ea typeface="Times New Roman" panose="02020603050405020304" pitchFamily="18" charset="0"/>
              </a:rPr>
              <a:t>) due à un nématode : </a:t>
            </a:r>
            <a:r>
              <a:rPr lang="fr-FR" sz="2800" b="1" spc="25" dirty="0" smtClean="0">
                <a:solidFill>
                  <a:srgbClr val="000000"/>
                </a:solidFill>
                <a:latin typeface="Copperplate Gothic Bold" panose="020E0705020206020404" pitchFamily="34" charset="0"/>
                <a:ea typeface="Tahoma" panose="020B0604030504040204" pitchFamily="34" charset="0"/>
                <a:cs typeface="Times New Roman" panose="02020603050405020304" pitchFamily="18" charset="0"/>
              </a:rPr>
              <a:t>l’ascaris</a:t>
            </a:r>
            <a:r>
              <a:rPr lang="fr-FR" sz="2800" b="1" spc="25" dirty="0">
                <a:solidFill>
                  <a:srgbClr val="000000"/>
                </a:solidFill>
                <a:latin typeface="Copperplate Gothic Bold" panose="020E0705020206020404" pitchFamily="34" charset="0"/>
                <a:ea typeface="Tahoma" panose="020B0604030504040204" pitchFamily="34" charset="0"/>
                <a:cs typeface="Times New Roman" panose="02020603050405020304" pitchFamily="18" charset="0"/>
              </a:rPr>
              <a:t> </a:t>
            </a:r>
            <a:r>
              <a:rPr lang="fr-FR" sz="2800" b="1" spc="25" dirty="0" smtClean="0">
                <a:solidFill>
                  <a:srgbClr val="000000"/>
                </a:solidFill>
                <a:latin typeface="Copperplate Gothic Bold" panose="020E0705020206020404" pitchFamily="34" charset="0"/>
                <a:ea typeface="Tahoma" panose="020B0604030504040204" pitchFamily="34" charset="0"/>
                <a:cs typeface="Times New Roman" panose="02020603050405020304" pitchFamily="18" charset="0"/>
              </a:rPr>
              <a:t>qui</a:t>
            </a:r>
            <a:r>
              <a:rPr lang="fr-FR" sz="2800" spc="10" dirty="0" smtClean="0">
                <a:solidFill>
                  <a:srgbClr val="000000"/>
                </a:solidFill>
                <a:latin typeface="Copperplate Gothic Bold" panose="020E0705020206020404" pitchFamily="34" charset="0"/>
                <a:ea typeface="Times New Roman" panose="02020603050405020304" pitchFamily="18" charset="0"/>
              </a:rPr>
              <a:t> </a:t>
            </a:r>
            <a:r>
              <a:rPr lang="fr-FR" sz="2800" spc="10" dirty="0">
                <a:solidFill>
                  <a:srgbClr val="000000"/>
                </a:solidFill>
                <a:latin typeface="Copperplate Gothic Bold" panose="020E0705020206020404" pitchFamily="34" charset="0"/>
                <a:ea typeface="Times New Roman" panose="02020603050405020304" pitchFamily="18" charset="0"/>
              </a:rPr>
              <a:t>est responsable de troubles parfois très graves chez l'enfant.</a:t>
            </a:r>
            <a:endParaRPr lang="fr-FR" sz="2800" spc="10" dirty="0">
              <a:latin typeface="Copperplate Gothic Bold" panose="020E0705020206020404" pitchFamily="34" charset="0"/>
              <a:ea typeface="Times New Roman" panose="02020603050405020304" pitchFamily="18" charset="0"/>
            </a:endParaRPr>
          </a:p>
          <a:p>
            <a:endParaRPr lang="fr-FR" dirty="0"/>
          </a:p>
        </p:txBody>
      </p:sp>
    </p:spTree>
    <p:extLst>
      <p:ext uri="{BB962C8B-B14F-4D97-AF65-F5344CB8AC3E}">
        <p14:creationId xmlns:p14="http://schemas.microsoft.com/office/powerpoint/2010/main" val="418039126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cdn.britannica.com/03/143903-050-DD38BCBE/scanning-electron-micrograph-soybean-cyst-nematode-egg.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6" y="914400"/>
            <a:ext cx="8911686" cy="499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16402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04333" y="624110"/>
            <a:ext cx="10300280" cy="522110"/>
          </a:xfrm>
        </p:spPr>
        <p:txBody>
          <a:bodyPr>
            <a:normAutofit fontScale="90000"/>
          </a:bodyPr>
          <a:lstStyle/>
          <a:p>
            <a:pPr lvl="0"/>
            <a:r>
              <a:rPr lang="fr-FR" sz="2800" b="1" spc="25" dirty="0" smtClean="0">
                <a:solidFill>
                  <a:srgbClr val="C00000"/>
                </a:solidFill>
                <a:latin typeface="Copperplate Gothic Bold" panose="020E0705020206020404" pitchFamily="34" charset="0"/>
                <a:ea typeface="Arial Unicode MS" panose="020B0604020202020204" pitchFamily="34" charset="-128"/>
                <a:cs typeface="Times New Roman" panose="02020603050405020304" pitchFamily="18" charset="0"/>
              </a:rPr>
              <a:t>         MODE </a:t>
            </a:r>
            <a:r>
              <a:rPr lang="fr-FR" sz="2800" b="1" spc="25" dirty="0">
                <a:solidFill>
                  <a:srgbClr val="C00000"/>
                </a:solidFill>
                <a:latin typeface="Copperplate Gothic Bold" panose="020E0705020206020404" pitchFamily="34" charset="0"/>
                <a:ea typeface="Arial Unicode MS" panose="020B0604020202020204" pitchFamily="34" charset="-128"/>
                <a:cs typeface="Times New Roman" panose="02020603050405020304" pitchFamily="18" charset="0"/>
              </a:rPr>
              <a:t>DE CONTAMINATION - CYCLE BIOLOGIQUE</a:t>
            </a:r>
            <a:r>
              <a:rPr lang="fr-FR" sz="2800" dirty="0">
                <a:solidFill>
                  <a:srgbClr val="C00000"/>
                </a:solidFill>
                <a:latin typeface="Copperplate Gothic Bold" panose="020E0705020206020404" pitchFamily="34" charset="0"/>
                <a:ea typeface="Courier New" panose="02070309020205020404" pitchFamily="49" charset="0"/>
              </a:rPr>
              <a:t/>
            </a:r>
            <a:br>
              <a:rPr lang="fr-FR" sz="2800" dirty="0">
                <a:solidFill>
                  <a:srgbClr val="C00000"/>
                </a:solidFill>
                <a:latin typeface="Copperplate Gothic Bold" panose="020E0705020206020404" pitchFamily="34" charset="0"/>
                <a:ea typeface="Courier New" panose="02070309020205020404" pitchFamily="49" charset="0"/>
              </a:rPr>
            </a:br>
            <a:endParaRPr lang="fr-FR" sz="2800" dirty="0">
              <a:solidFill>
                <a:srgbClr val="C00000"/>
              </a:solidFill>
              <a:latin typeface="Copperplate Gothic Bold" panose="020E0705020206020404" pitchFamily="34" charset="0"/>
            </a:endParaRPr>
          </a:p>
        </p:txBody>
      </p:sp>
      <p:sp>
        <p:nvSpPr>
          <p:cNvPr id="3" name="Espace réservé du contenu 2"/>
          <p:cNvSpPr>
            <a:spLocks noGrp="1"/>
          </p:cNvSpPr>
          <p:nvPr>
            <p:ph idx="1"/>
          </p:nvPr>
        </p:nvSpPr>
        <p:spPr>
          <a:xfrm>
            <a:off x="824249" y="1146219"/>
            <a:ext cx="10813569" cy="5306095"/>
          </a:xfrm>
        </p:spPr>
        <p:txBody>
          <a:bodyPr>
            <a:normAutofit fontScale="92500" lnSpcReduction="20000"/>
          </a:bodyPr>
          <a:lstStyle/>
          <a:p>
            <a:pPr algn="just">
              <a:lnSpc>
                <a:spcPct val="150000"/>
              </a:lnSpc>
            </a:pPr>
            <a:r>
              <a:rPr lang="fr-FR" sz="2400" dirty="0">
                <a:solidFill>
                  <a:srgbClr val="000000"/>
                </a:solidFill>
                <a:latin typeface="Copperplate Gothic Bold" panose="020E0705020206020404" pitchFamily="34" charset="0"/>
              </a:rPr>
              <a:t>La femelle émet de nombreux œufs à coque mamelonnée qui </a:t>
            </a:r>
            <a:r>
              <a:rPr lang="fr-FR" sz="2400" dirty="0" smtClean="0">
                <a:solidFill>
                  <a:srgbClr val="000000"/>
                </a:solidFill>
                <a:latin typeface="Copperplate Gothic Bold" panose="020E0705020206020404" pitchFamily="34" charset="0"/>
              </a:rPr>
              <a:t>rejette </a:t>
            </a:r>
            <a:r>
              <a:rPr lang="fr-FR" sz="2400" dirty="0">
                <a:solidFill>
                  <a:srgbClr val="000000"/>
                </a:solidFill>
                <a:latin typeface="Copperplate Gothic Bold" panose="020E0705020206020404" pitchFamily="34" charset="0"/>
              </a:rPr>
              <a:t>dans les selles, un embryon (larve</a:t>
            </a:r>
            <a:r>
              <a:rPr lang="fr-FR" sz="2400" dirty="0" smtClean="0">
                <a:solidFill>
                  <a:srgbClr val="000000"/>
                </a:solidFill>
                <a:latin typeface="Copperplate Gothic Bold" panose="020E0705020206020404" pitchFamily="34" charset="0"/>
              </a:rPr>
              <a:t>).</a:t>
            </a:r>
            <a:r>
              <a:rPr lang="fr-FR" sz="2400" dirty="0" smtClean="0">
                <a:solidFill>
                  <a:srgbClr val="FF0000"/>
                </a:solidFill>
                <a:latin typeface="Copperplate Gothic Bold" panose="020E0705020206020404" pitchFamily="34" charset="0"/>
              </a:rPr>
              <a:t>(1)</a:t>
            </a:r>
          </a:p>
          <a:p>
            <a:pPr algn="just">
              <a:lnSpc>
                <a:spcPct val="150000"/>
              </a:lnSpc>
            </a:pPr>
            <a:r>
              <a:rPr lang="fr-FR" sz="2400" dirty="0" smtClean="0">
                <a:solidFill>
                  <a:srgbClr val="000000"/>
                </a:solidFill>
                <a:latin typeface="Copperplate Gothic Bold" panose="020E0705020206020404" pitchFamily="34" charset="0"/>
              </a:rPr>
              <a:t> </a:t>
            </a:r>
            <a:r>
              <a:rPr lang="fr-FR" sz="2400" dirty="0">
                <a:solidFill>
                  <a:srgbClr val="000000"/>
                </a:solidFill>
                <a:latin typeface="Copperplate Gothic Bold" panose="020E0705020206020404" pitchFamily="34" charset="0"/>
              </a:rPr>
              <a:t>L'homme se contamine en ingérant cet œuf </a:t>
            </a:r>
            <a:r>
              <a:rPr lang="fr-FR" sz="2400" dirty="0" smtClean="0">
                <a:solidFill>
                  <a:srgbClr val="000000"/>
                </a:solidFill>
                <a:latin typeface="Copperplate Gothic Bold" panose="020E0705020206020404" pitchFamily="34" charset="0"/>
              </a:rPr>
              <a:t>infestant. </a:t>
            </a:r>
            <a:r>
              <a:rPr lang="fr-FR" sz="2400" dirty="0" smtClean="0">
                <a:solidFill>
                  <a:srgbClr val="FF0000"/>
                </a:solidFill>
                <a:latin typeface="Copperplate Gothic Bold" panose="020E0705020206020404" pitchFamily="34" charset="0"/>
              </a:rPr>
              <a:t>(2)</a:t>
            </a:r>
            <a:endParaRPr lang="fr-FR" sz="2400" dirty="0">
              <a:solidFill>
                <a:srgbClr val="FF0000"/>
              </a:solidFill>
              <a:latin typeface="Copperplate Gothic Bold" panose="020E0705020206020404" pitchFamily="34" charset="0"/>
            </a:endParaRPr>
          </a:p>
          <a:p>
            <a:pPr algn="just">
              <a:lnSpc>
                <a:spcPct val="150000"/>
              </a:lnSpc>
            </a:pPr>
            <a:r>
              <a:rPr lang="fr-FR" sz="2400" dirty="0">
                <a:solidFill>
                  <a:srgbClr val="000000"/>
                </a:solidFill>
                <a:latin typeface="Copperplate Gothic Bold" panose="020E0705020206020404" pitchFamily="34" charset="0"/>
              </a:rPr>
              <a:t>La larve libérée au niveau de l'estomac, traverse la paroi </a:t>
            </a:r>
            <a:r>
              <a:rPr lang="fr-FR" sz="2400" dirty="0" smtClean="0">
                <a:solidFill>
                  <a:srgbClr val="000000"/>
                </a:solidFill>
                <a:latin typeface="Copperplate Gothic Bold" panose="020E0705020206020404" pitchFamily="34" charset="0"/>
              </a:rPr>
              <a:t>intestinale </a:t>
            </a:r>
            <a:r>
              <a:rPr lang="fr-FR" sz="2400" dirty="0" smtClean="0">
                <a:solidFill>
                  <a:srgbClr val="FF0000"/>
                </a:solidFill>
                <a:latin typeface="Copperplate Gothic Bold" panose="020E0705020206020404" pitchFamily="34" charset="0"/>
              </a:rPr>
              <a:t>(3)</a:t>
            </a:r>
            <a:r>
              <a:rPr lang="fr-FR" sz="2400" dirty="0" smtClean="0">
                <a:solidFill>
                  <a:srgbClr val="000000"/>
                </a:solidFill>
                <a:latin typeface="Copperplate Gothic Bold" panose="020E0705020206020404" pitchFamily="34" charset="0"/>
              </a:rPr>
              <a:t>, </a:t>
            </a:r>
            <a:r>
              <a:rPr lang="fr-FR" sz="2400" dirty="0">
                <a:solidFill>
                  <a:srgbClr val="000000"/>
                </a:solidFill>
                <a:latin typeface="Copperplate Gothic Bold" panose="020E0705020206020404" pitchFamily="34" charset="0"/>
              </a:rPr>
              <a:t>gagne le foie par la veine </a:t>
            </a:r>
            <a:r>
              <a:rPr lang="fr-FR" sz="2400" dirty="0" smtClean="0">
                <a:solidFill>
                  <a:srgbClr val="000000"/>
                </a:solidFill>
                <a:latin typeface="Copperplate Gothic Bold" panose="020E0705020206020404" pitchFamily="34" charset="0"/>
              </a:rPr>
              <a:t>porte </a:t>
            </a:r>
            <a:r>
              <a:rPr lang="fr-FR" sz="2400" dirty="0" smtClean="0">
                <a:solidFill>
                  <a:srgbClr val="FF0000"/>
                </a:solidFill>
                <a:latin typeface="Copperplate Gothic Bold" panose="020E0705020206020404" pitchFamily="34" charset="0"/>
              </a:rPr>
              <a:t>(4)</a:t>
            </a:r>
            <a:r>
              <a:rPr lang="fr-FR" sz="2400" dirty="0" smtClean="0">
                <a:solidFill>
                  <a:srgbClr val="000000"/>
                </a:solidFill>
                <a:latin typeface="Copperplate Gothic Bold" panose="020E0705020206020404" pitchFamily="34" charset="0"/>
              </a:rPr>
              <a:t>, </a:t>
            </a:r>
            <a:r>
              <a:rPr lang="fr-FR" sz="2400" dirty="0">
                <a:solidFill>
                  <a:srgbClr val="000000"/>
                </a:solidFill>
                <a:latin typeface="Copperplate Gothic Bold" panose="020E0705020206020404" pitchFamily="34" charset="0"/>
              </a:rPr>
              <a:t>puis le cœur droit et les </a:t>
            </a:r>
            <a:r>
              <a:rPr lang="fr-FR" sz="2400" dirty="0" smtClean="0">
                <a:solidFill>
                  <a:srgbClr val="000000"/>
                </a:solidFill>
                <a:latin typeface="Copperplate Gothic Bold" panose="020E0705020206020404" pitchFamily="34" charset="0"/>
              </a:rPr>
              <a:t>poumons </a:t>
            </a:r>
            <a:r>
              <a:rPr lang="fr-FR" sz="2400" dirty="0" smtClean="0">
                <a:solidFill>
                  <a:srgbClr val="FF0000"/>
                </a:solidFill>
                <a:latin typeface="Copperplate Gothic Bold" panose="020E0705020206020404" pitchFamily="34" charset="0"/>
              </a:rPr>
              <a:t>(5)</a:t>
            </a:r>
            <a:r>
              <a:rPr lang="fr-FR" sz="2400" dirty="0" smtClean="0">
                <a:solidFill>
                  <a:srgbClr val="000000"/>
                </a:solidFill>
                <a:latin typeface="Copperplate Gothic Bold" panose="020E0705020206020404" pitchFamily="34" charset="0"/>
              </a:rPr>
              <a:t>.</a:t>
            </a:r>
            <a:endParaRPr lang="fr-FR" sz="2400" dirty="0">
              <a:latin typeface="Copperplate Gothic Bold" panose="020E0705020206020404" pitchFamily="34" charset="0"/>
            </a:endParaRPr>
          </a:p>
          <a:p>
            <a:pPr algn="just">
              <a:lnSpc>
                <a:spcPct val="150000"/>
              </a:lnSpc>
            </a:pPr>
            <a:r>
              <a:rPr lang="fr-FR" sz="2400" dirty="0">
                <a:solidFill>
                  <a:srgbClr val="000000"/>
                </a:solidFill>
                <a:latin typeface="Copperplate Gothic Bold" panose="020E0705020206020404" pitchFamily="34" charset="0"/>
              </a:rPr>
              <a:t>Après effraction de la paroi alvéolaire pulmonaire, la larve remonte le long de l'arbre bronchique jusqu'au carrefour </a:t>
            </a:r>
            <a:r>
              <a:rPr lang="fr-FR" sz="2400" dirty="0" smtClean="0">
                <a:solidFill>
                  <a:srgbClr val="000000"/>
                </a:solidFill>
                <a:latin typeface="Copperplate Gothic Bold" panose="020E0705020206020404" pitchFamily="34" charset="0"/>
              </a:rPr>
              <a:t>aéro-digestif </a:t>
            </a:r>
            <a:r>
              <a:rPr lang="fr-FR" sz="2400" dirty="0" smtClean="0">
                <a:solidFill>
                  <a:srgbClr val="FF0000"/>
                </a:solidFill>
                <a:latin typeface="Copperplate Gothic Bold" panose="020E0705020206020404" pitchFamily="34" charset="0"/>
              </a:rPr>
              <a:t>(6)</a:t>
            </a:r>
            <a:r>
              <a:rPr lang="fr-FR" sz="2400" dirty="0" smtClean="0">
                <a:solidFill>
                  <a:srgbClr val="000000"/>
                </a:solidFill>
                <a:latin typeface="Copperplate Gothic Bold" panose="020E0705020206020404" pitchFamily="34" charset="0"/>
              </a:rPr>
              <a:t>, </a:t>
            </a:r>
            <a:r>
              <a:rPr lang="fr-FR" sz="2400" dirty="0">
                <a:solidFill>
                  <a:srgbClr val="000000"/>
                </a:solidFill>
                <a:latin typeface="Copperplate Gothic Bold" panose="020E0705020206020404" pitchFamily="34" charset="0"/>
              </a:rPr>
              <a:t>elle est déglutie et parvient dans l'intestin où elle devient </a:t>
            </a:r>
            <a:r>
              <a:rPr lang="fr-FR" sz="2400" dirty="0" smtClean="0">
                <a:solidFill>
                  <a:srgbClr val="000000"/>
                </a:solidFill>
                <a:latin typeface="Copperplate Gothic Bold" panose="020E0705020206020404" pitchFamily="34" charset="0"/>
              </a:rPr>
              <a:t>adulte</a:t>
            </a:r>
            <a:r>
              <a:rPr lang="fr-FR" sz="2400" dirty="0" smtClean="0">
                <a:solidFill>
                  <a:srgbClr val="FF0000"/>
                </a:solidFill>
                <a:latin typeface="Copperplate Gothic Bold" panose="020E0705020206020404" pitchFamily="34" charset="0"/>
              </a:rPr>
              <a:t> (7)</a:t>
            </a:r>
            <a:r>
              <a:rPr lang="fr-FR" sz="2400" dirty="0" smtClean="0">
                <a:solidFill>
                  <a:srgbClr val="000000"/>
                </a:solidFill>
                <a:latin typeface="Copperplate Gothic Bold" panose="020E0705020206020404" pitchFamily="34" charset="0"/>
              </a:rPr>
              <a:t>. </a:t>
            </a:r>
            <a:r>
              <a:rPr lang="fr-FR" sz="2400" dirty="0">
                <a:solidFill>
                  <a:srgbClr val="000000"/>
                </a:solidFill>
                <a:latin typeface="Copperplate Gothic Bold" panose="020E0705020206020404" pitchFamily="34" charset="0"/>
              </a:rPr>
              <a:t>La durée de ce cycle est de 7 à 8 semaines.</a:t>
            </a:r>
            <a:endParaRPr lang="fr-FR" sz="2400" dirty="0">
              <a:latin typeface="Copperplate Gothic Bold" panose="020E0705020206020404" pitchFamily="34" charset="0"/>
            </a:endParaRPr>
          </a:p>
          <a:p>
            <a:endParaRPr lang="fr-FR" dirty="0"/>
          </a:p>
        </p:txBody>
      </p:sp>
    </p:spTree>
    <p:extLst>
      <p:ext uri="{BB962C8B-B14F-4D97-AF65-F5344CB8AC3E}">
        <p14:creationId xmlns:p14="http://schemas.microsoft.com/office/powerpoint/2010/main" val="2807406644"/>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urs (Ascaridios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24545" y="318656"/>
            <a:ext cx="6345381"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41179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71223" y="355853"/>
            <a:ext cx="9933389" cy="648699"/>
          </a:xfrm>
        </p:spPr>
        <p:txBody>
          <a:bodyPr>
            <a:normAutofit fontScale="90000"/>
          </a:bodyPr>
          <a:lstStyle/>
          <a:p>
            <a:pPr lvl="0" algn="ctr"/>
            <a:r>
              <a:rPr lang="fr-FR" sz="3200" b="1" spc="25" dirty="0">
                <a:solidFill>
                  <a:srgbClr val="C00000"/>
                </a:solidFill>
                <a:latin typeface="Tahoma" panose="020B0604030504040204" pitchFamily="34" charset="0"/>
                <a:ea typeface="Arial Unicode MS" panose="020B0604020202020204" pitchFamily="34" charset="-128"/>
                <a:cs typeface="Times New Roman" panose="02020603050405020304" pitchFamily="18" charset="0"/>
              </a:rPr>
              <a:t>MANIFESTATIONS CLINIQUES</a:t>
            </a:r>
            <a:r>
              <a:rPr lang="fr-FR" sz="3200" dirty="0">
                <a:solidFill>
                  <a:srgbClr val="C00000"/>
                </a:solidFill>
                <a:latin typeface="Courier New" panose="02070309020205020404" pitchFamily="49" charset="0"/>
                <a:ea typeface="Courier New" panose="02070309020205020404" pitchFamily="49" charset="0"/>
              </a:rPr>
              <a:t/>
            </a:r>
            <a:br>
              <a:rPr lang="fr-FR" sz="3200" dirty="0">
                <a:solidFill>
                  <a:srgbClr val="C00000"/>
                </a:solidFill>
                <a:latin typeface="Courier New" panose="02070309020205020404" pitchFamily="49" charset="0"/>
                <a:ea typeface="Courier New" panose="02070309020205020404" pitchFamily="49" charset="0"/>
              </a:rPr>
            </a:br>
            <a:endParaRPr lang="fr-FR" dirty="0">
              <a:solidFill>
                <a:srgbClr val="C00000"/>
              </a:solidFill>
            </a:endParaRPr>
          </a:p>
        </p:txBody>
      </p:sp>
      <p:sp>
        <p:nvSpPr>
          <p:cNvPr id="3" name="Espace réservé du contenu 2"/>
          <p:cNvSpPr>
            <a:spLocks noGrp="1"/>
          </p:cNvSpPr>
          <p:nvPr>
            <p:ph idx="1"/>
          </p:nvPr>
        </p:nvSpPr>
        <p:spPr>
          <a:xfrm>
            <a:off x="837127" y="1159099"/>
            <a:ext cx="10667485" cy="5228822"/>
          </a:xfrm>
        </p:spPr>
        <p:txBody>
          <a:bodyPr>
            <a:normAutofit lnSpcReduction="10000"/>
          </a:bodyPr>
          <a:lstStyle/>
          <a:p>
            <a:pPr marL="0" indent="0">
              <a:lnSpc>
                <a:spcPct val="150000"/>
              </a:lnSpc>
              <a:buNone/>
            </a:pPr>
            <a:r>
              <a:rPr lang="fr-FR" sz="2800" dirty="0">
                <a:solidFill>
                  <a:srgbClr val="000000"/>
                </a:solidFill>
                <a:latin typeface="Copperplate Gothic Bold" panose="020E0705020206020404" pitchFamily="34" charset="0"/>
              </a:rPr>
              <a:t>Les signes cliniques sont fonction de la migration </a:t>
            </a:r>
            <a:r>
              <a:rPr lang="fr-FR" sz="2800" dirty="0" smtClean="0">
                <a:solidFill>
                  <a:srgbClr val="000000"/>
                </a:solidFill>
                <a:latin typeface="Copperplate Gothic Bold" panose="020E0705020206020404" pitchFamily="34" charset="0"/>
              </a:rPr>
              <a:t>larvaire.</a:t>
            </a:r>
            <a:endParaRPr lang="fr-FR" sz="2800" dirty="0">
              <a:latin typeface="Copperplate Gothic Bold" panose="020E0705020206020404" pitchFamily="34" charset="0"/>
            </a:endParaRPr>
          </a:p>
          <a:p>
            <a:pPr marL="0" indent="0">
              <a:lnSpc>
                <a:spcPct val="150000"/>
              </a:lnSpc>
              <a:buNone/>
            </a:pPr>
            <a:r>
              <a:rPr lang="fr-FR" sz="2800" b="1" spc="25" dirty="0" smtClean="0">
                <a:solidFill>
                  <a:srgbClr val="0070C0"/>
                </a:solidFill>
                <a:latin typeface="Copperplate Gothic Bold" panose="020E0705020206020404" pitchFamily="34" charset="0"/>
                <a:ea typeface="Arial Unicode MS" panose="020B0604020202020204" pitchFamily="34" charset="-128"/>
                <a:cs typeface="Times New Roman" panose="02020603050405020304" pitchFamily="18" charset="0"/>
              </a:rPr>
              <a:t>Au </a:t>
            </a:r>
            <a:r>
              <a:rPr lang="fr-FR" sz="2800" b="1" spc="25" dirty="0">
                <a:solidFill>
                  <a:srgbClr val="0070C0"/>
                </a:solidFill>
                <a:latin typeface="Copperplate Gothic Bold" panose="020E0705020206020404" pitchFamily="34" charset="0"/>
                <a:ea typeface="Arial Unicode MS" panose="020B0604020202020204" pitchFamily="34" charset="-128"/>
                <a:cs typeface="Times New Roman" panose="02020603050405020304" pitchFamily="18" charset="0"/>
              </a:rPr>
              <a:t>niveau pulmonaire</a:t>
            </a:r>
            <a:endParaRPr lang="fr-FR" sz="2800" dirty="0">
              <a:solidFill>
                <a:srgbClr val="0070C0"/>
              </a:solidFill>
              <a:latin typeface="Copperplate Gothic Bold" panose="020E0705020206020404" pitchFamily="34" charset="0"/>
              <a:ea typeface="Arial Unicode MS" panose="020B0604020202020204" pitchFamily="34" charset="-128"/>
            </a:endParaRPr>
          </a:p>
          <a:p>
            <a:pPr>
              <a:lnSpc>
                <a:spcPct val="150000"/>
              </a:lnSpc>
            </a:pPr>
            <a:r>
              <a:rPr lang="fr-FR" sz="2800" dirty="0">
                <a:solidFill>
                  <a:srgbClr val="000000"/>
                </a:solidFill>
                <a:latin typeface="Copperplate Gothic Bold" panose="020E0705020206020404" pitchFamily="34" charset="0"/>
              </a:rPr>
              <a:t>Les signes cliniques sont dominés par le syndrome de </a:t>
            </a:r>
            <a:r>
              <a:rPr lang="fr-FR" sz="2800" dirty="0" err="1">
                <a:solidFill>
                  <a:srgbClr val="000000"/>
                </a:solidFill>
                <a:latin typeface="Copperplate Gothic Bold" panose="020E0705020206020404" pitchFamily="34" charset="0"/>
              </a:rPr>
              <a:t>Loëffler</a:t>
            </a:r>
            <a:r>
              <a:rPr lang="fr-FR" sz="2800" dirty="0">
                <a:solidFill>
                  <a:srgbClr val="000000"/>
                </a:solidFill>
                <a:latin typeface="Copperplate Gothic Bold" panose="020E0705020206020404" pitchFamily="34" charset="0"/>
              </a:rPr>
              <a:t> caractérisé par une fièvre, une toux, de la dyspnée </a:t>
            </a:r>
            <a:r>
              <a:rPr lang="fr-FR" sz="2800" dirty="0" err="1">
                <a:solidFill>
                  <a:srgbClr val="000000"/>
                </a:solidFill>
                <a:latin typeface="Copperplate Gothic Bold" panose="020E0705020206020404" pitchFamily="34" charset="0"/>
              </a:rPr>
              <a:t>asthmatiforme</a:t>
            </a:r>
            <a:r>
              <a:rPr lang="fr-FR" sz="2800" dirty="0">
                <a:solidFill>
                  <a:srgbClr val="000000"/>
                </a:solidFill>
                <a:latin typeface="Copperplate Gothic Bold" panose="020E0705020206020404" pitchFamily="34" charset="0"/>
              </a:rPr>
              <a:t> avec expectoration pouvant contenir des </a:t>
            </a:r>
            <a:r>
              <a:rPr lang="fr-FR" sz="2800" dirty="0" smtClean="0">
                <a:solidFill>
                  <a:srgbClr val="000000"/>
                </a:solidFill>
                <a:latin typeface="Copperplate Gothic Bold" panose="020E0705020206020404" pitchFamily="34" charset="0"/>
              </a:rPr>
              <a:t>éosinophiles.</a:t>
            </a:r>
            <a:endParaRPr lang="fr-FR" sz="2800" dirty="0">
              <a:latin typeface="Copperplate Gothic Bold" panose="020E0705020206020404" pitchFamily="34" charset="0"/>
            </a:endParaRPr>
          </a:p>
        </p:txBody>
      </p:sp>
    </p:spTree>
    <p:extLst>
      <p:ext uri="{BB962C8B-B14F-4D97-AF65-F5344CB8AC3E}">
        <p14:creationId xmlns:p14="http://schemas.microsoft.com/office/powerpoint/2010/main" val="3804229266"/>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46220" y="425003"/>
            <a:ext cx="10358392" cy="5847007"/>
          </a:xfrm>
        </p:spPr>
        <p:txBody>
          <a:bodyPr>
            <a:normAutofit fontScale="92500"/>
          </a:bodyPr>
          <a:lstStyle/>
          <a:p>
            <a:pPr marL="0" indent="0" algn="just">
              <a:lnSpc>
                <a:spcPct val="150000"/>
              </a:lnSpc>
              <a:buNone/>
            </a:pPr>
            <a:r>
              <a:rPr lang="fr-FR" sz="2800" b="1" spc="25" dirty="0">
                <a:solidFill>
                  <a:srgbClr val="0070C0"/>
                </a:solidFill>
                <a:latin typeface="Copperplate Gothic Bold" panose="020E0705020206020404" pitchFamily="34" charset="0"/>
                <a:ea typeface="Arial Unicode MS" panose="020B0604020202020204" pitchFamily="34" charset="-128"/>
                <a:cs typeface="Times New Roman" panose="02020603050405020304" pitchFamily="18" charset="0"/>
              </a:rPr>
              <a:t>Au niveau digestif</a:t>
            </a:r>
            <a:endParaRPr lang="fr-FR" sz="2800" dirty="0">
              <a:solidFill>
                <a:srgbClr val="0070C0"/>
              </a:solidFill>
              <a:latin typeface="Copperplate Gothic Bold" panose="020E0705020206020404" pitchFamily="34" charset="0"/>
              <a:ea typeface="Arial Unicode MS" panose="020B0604020202020204" pitchFamily="34" charset="-128"/>
            </a:endParaRPr>
          </a:p>
          <a:p>
            <a:pPr algn="just">
              <a:lnSpc>
                <a:spcPct val="150000"/>
              </a:lnSpc>
            </a:pPr>
            <a:r>
              <a:rPr lang="fr-FR" sz="2800" dirty="0">
                <a:solidFill>
                  <a:srgbClr val="000000"/>
                </a:solidFill>
                <a:latin typeface="Copperplate Gothic Bold" panose="020E0705020206020404" pitchFamily="34" charset="0"/>
              </a:rPr>
              <a:t>Les ascaris adultes sont responsables de troubles digestifs tels que : des coliques, de la diarrhée, une anorexie, des nausées, des vomissements de un ou plusieurs ascaris parfois.</a:t>
            </a:r>
            <a:endParaRPr lang="fr-FR" sz="2800" dirty="0">
              <a:latin typeface="Copperplate Gothic Bold" panose="020E0705020206020404" pitchFamily="34" charset="0"/>
            </a:endParaRPr>
          </a:p>
          <a:p>
            <a:pPr marL="0" indent="0" algn="just">
              <a:lnSpc>
                <a:spcPct val="150000"/>
              </a:lnSpc>
              <a:buNone/>
            </a:pPr>
            <a:r>
              <a:rPr lang="fr-FR" sz="2800" b="1" spc="25" dirty="0">
                <a:solidFill>
                  <a:srgbClr val="0070C0"/>
                </a:solidFill>
                <a:latin typeface="Copperplate Gothic Bold" panose="020E0705020206020404" pitchFamily="34" charset="0"/>
                <a:ea typeface="Arial Unicode MS" panose="020B0604020202020204" pitchFamily="34" charset="-128"/>
                <a:cs typeface="Times New Roman" panose="02020603050405020304" pitchFamily="18" charset="0"/>
              </a:rPr>
              <a:t>Au niveau cérébral</a:t>
            </a:r>
            <a:endParaRPr lang="fr-FR" sz="2800" dirty="0">
              <a:solidFill>
                <a:srgbClr val="0070C0"/>
              </a:solidFill>
              <a:latin typeface="Copperplate Gothic Bold" panose="020E0705020206020404" pitchFamily="34" charset="0"/>
              <a:ea typeface="Arial Unicode MS" panose="020B0604020202020204" pitchFamily="34" charset="-128"/>
            </a:endParaRPr>
          </a:p>
          <a:p>
            <a:pPr marL="0" indent="0" algn="just">
              <a:lnSpc>
                <a:spcPct val="150000"/>
              </a:lnSpc>
              <a:spcBef>
                <a:spcPts val="300"/>
              </a:spcBef>
              <a:buNone/>
            </a:pPr>
            <a:r>
              <a:rPr lang="fr-FR" sz="2800" spc="10" dirty="0">
                <a:solidFill>
                  <a:srgbClr val="000000"/>
                </a:solidFill>
                <a:latin typeface="Copperplate Gothic Bold" panose="020E0705020206020404" pitchFamily="34" charset="0"/>
                <a:ea typeface="Times New Roman" panose="02020603050405020304" pitchFamily="18" charset="0"/>
              </a:rPr>
              <a:t>On peut noter une agitation, une irritabilité, une terreur nocturne, il faut noter que ces signes sont très rares.</a:t>
            </a:r>
            <a:endParaRPr lang="fr-FR" sz="2800" spc="10" dirty="0">
              <a:latin typeface="Copperplate Gothic Bold" panose="020E0705020206020404" pitchFamily="34" charset="0"/>
              <a:ea typeface="Times New Roman" panose="02020603050405020304" pitchFamily="18" charset="0"/>
            </a:endParaRPr>
          </a:p>
          <a:p>
            <a:endParaRPr lang="fr-FR" dirty="0"/>
          </a:p>
          <a:p>
            <a:endParaRPr lang="fr-FR" dirty="0"/>
          </a:p>
        </p:txBody>
      </p:sp>
    </p:spTree>
    <p:extLst>
      <p:ext uri="{BB962C8B-B14F-4D97-AF65-F5344CB8AC3E}">
        <p14:creationId xmlns:p14="http://schemas.microsoft.com/office/powerpoint/2010/main" val="2452799880"/>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41409" y="327896"/>
            <a:ext cx="8199571" cy="483473"/>
          </a:xfrm>
        </p:spPr>
        <p:txBody>
          <a:bodyPr>
            <a:normAutofit fontScale="90000"/>
          </a:bodyPr>
          <a:lstStyle/>
          <a:p>
            <a:pPr lvl="0" algn="ctr"/>
            <a:r>
              <a:rPr lang="fr-FR" sz="3100" b="1" spc="25" dirty="0">
                <a:solidFill>
                  <a:srgbClr val="0070C0"/>
                </a:solidFill>
                <a:latin typeface="Tahoma" panose="020B0604030504040204" pitchFamily="34" charset="0"/>
                <a:ea typeface="Arial Unicode MS" panose="020B0604020202020204" pitchFamily="34" charset="-128"/>
                <a:cs typeface="Times New Roman" panose="02020603050405020304" pitchFamily="18" charset="0"/>
              </a:rPr>
              <a:t>COMPLICATIONS</a:t>
            </a:r>
            <a:r>
              <a:rPr lang="fr-FR" dirty="0">
                <a:solidFill>
                  <a:srgbClr val="000000"/>
                </a:solidFill>
                <a:latin typeface="Courier New" panose="02070309020205020404" pitchFamily="49" charset="0"/>
                <a:ea typeface="Arial Unicode MS" panose="020B0604020202020204" pitchFamily="34" charset="-128"/>
              </a:rPr>
              <a:t/>
            </a:r>
            <a:br>
              <a:rPr lang="fr-FR"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798491" y="978794"/>
            <a:ext cx="11062952" cy="5331854"/>
          </a:xfrm>
        </p:spPr>
        <p:txBody>
          <a:bodyPr>
            <a:normAutofit fontScale="85000" lnSpcReduction="10000"/>
          </a:bodyPr>
          <a:lstStyle/>
          <a:p>
            <a:pPr marL="0" indent="0">
              <a:lnSpc>
                <a:spcPct val="150000"/>
              </a:lnSpc>
              <a:buNone/>
            </a:pPr>
            <a:r>
              <a:rPr lang="fr-FR" sz="2800" dirty="0" smtClean="0">
                <a:solidFill>
                  <a:srgbClr val="000000"/>
                </a:solidFill>
                <a:latin typeface="Copperplate Gothic Bold" panose="020E0705020206020404" pitchFamily="34" charset="0"/>
              </a:rPr>
              <a:t>Elles </a:t>
            </a:r>
            <a:r>
              <a:rPr lang="fr-FR" sz="2800" dirty="0">
                <a:solidFill>
                  <a:srgbClr val="000000"/>
                </a:solidFill>
                <a:latin typeface="Copperplate Gothic Bold" panose="020E0705020206020404" pitchFamily="34" charset="0"/>
              </a:rPr>
              <a:t>sont marquées par :</a:t>
            </a:r>
            <a:endParaRPr lang="fr-FR" sz="2800" dirty="0">
              <a:latin typeface="Copperplate Gothic Bold" panose="020E0705020206020404" pitchFamily="34" charset="0"/>
            </a:endParaRPr>
          </a:p>
          <a:p>
            <a:pPr lvl="0">
              <a:lnSpc>
                <a:spcPct val="150000"/>
              </a:lnSpc>
              <a:buFont typeface="Calibri" panose="020F0502020204030204" pitchFamily="34" charset="0"/>
              <a:buChar char="-"/>
            </a:pPr>
            <a:r>
              <a:rPr lang="fr-FR" sz="28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une occlusion intestinale due à la présence d'un ou de plusieurs vers en peloton.</a:t>
            </a:r>
            <a:endParaRPr lang="fr-FR" sz="2800" dirty="0">
              <a:latin typeface="Copperplate Gothic Bold" panose="020E0705020206020404" pitchFamily="34" charset="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un ictère par obstruction des canaux biliaires.</a:t>
            </a:r>
            <a:endParaRPr lang="fr-FR" sz="2800" dirty="0">
              <a:latin typeface="Copperplate Gothic Bold" panose="020E0705020206020404" pitchFamily="34" charset="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une péritonite par perforation intestinale.</a:t>
            </a:r>
            <a:endParaRPr lang="fr-FR" sz="2800" dirty="0">
              <a:latin typeface="Copperplate Gothic Bold" panose="020E0705020206020404" pitchFamily="34" charset="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une pancréatite aiguë par l'engagement de l'ascaris dans l'ampoule de Vater.</a:t>
            </a:r>
            <a:endParaRPr lang="fr-FR" sz="2800" dirty="0">
              <a:latin typeface="Copperplate Gothic Bold" panose="020E0705020206020404" pitchFamily="34" charset="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une appendicite par migration de l'ascaris dans l'appendice</a:t>
            </a:r>
            <a:r>
              <a:rPr lang="fr-FR" sz="2800" dirty="0" smtClean="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a:t>
            </a:r>
            <a:endParaRPr lang="fr-FR" sz="2800" dirty="0">
              <a:latin typeface="Copperplate Gothic Bold" panose="020E0705020206020404" pitchFamily="34" charset="0"/>
            </a:endParaRPr>
          </a:p>
          <a:p>
            <a:endParaRPr lang="fr-FR" dirty="0"/>
          </a:p>
        </p:txBody>
      </p:sp>
    </p:spTree>
    <p:extLst>
      <p:ext uri="{BB962C8B-B14F-4D97-AF65-F5344CB8AC3E}">
        <p14:creationId xmlns:p14="http://schemas.microsoft.com/office/powerpoint/2010/main" val="425222430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DIAGNOSTIC</a:t>
            </a:r>
            <a:r>
              <a:rPr lang="fr-FR" dirty="0">
                <a:solidFill>
                  <a:srgbClr val="000000"/>
                </a:solidFill>
                <a:latin typeface="Courier New" panose="02070309020205020404" pitchFamily="49" charset="0"/>
                <a:ea typeface="Arial Unicode MS" panose="020B0604020202020204" pitchFamily="34" charset="-128"/>
              </a:rPr>
              <a:t/>
            </a:r>
            <a:br>
              <a:rPr lang="fr-FR"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1081825" y="1622738"/>
            <a:ext cx="10422787" cy="4288484"/>
          </a:xfrm>
        </p:spPr>
        <p:txBody>
          <a:bodyPr>
            <a:normAutofit/>
          </a:bodyPr>
          <a:lstStyle/>
          <a:p>
            <a:pPr algn="just">
              <a:lnSpc>
                <a:spcPct val="150000"/>
              </a:lnSpc>
            </a:pPr>
            <a:r>
              <a:rPr lang="fr-FR" sz="2800" dirty="0" smtClean="0">
                <a:solidFill>
                  <a:srgbClr val="000000"/>
                </a:solidFill>
                <a:latin typeface="Copperplate Gothic Bold" panose="020E0705020206020404" pitchFamily="34" charset="0"/>
              </a:rPr>
              <a:t>Le </a:t>
            </a:r>
            <a:r>
              <a:rPr lang="fr-FR" sz="2800" dirty="0">
                <a:solidFill>
                  <a:srgbClr val="000000"/>
                </a:solidFill>
                <a:latin typeface="Copperplate Gothic Bold" panose="020E0705020206020404" pitchFamily="34" charset="0"/>
              </a:rPr>
              <a:t>diagnostic est évoqué par une </a:t>
            </a:r>
            <a:r>
              <a:rPr lang="fr-FR" sz="2800" dirty="0" err="1">
                <a:solidFill>
                  <a:srgbClr val="000000"/>
                </a:solidFill>
                <a:latin typeface="Copperplate Gothic Bold" panose="020E0705020206020404" pitchFamily="34" charset="0"/>
              </a:rPr>
              <a:t>hyperéosinophilie</a:t>
            </a:r>
            <a:r>
              <a:rPr lang="fr-FR" sz="2800" dirty="0">
                <a:solidFill>
                  <a:srgbClr val="000000"/>
                </a:solidFill>
                <a:latin typeface="Copperplate Gothic Bold" panose="020E0705020206020404" pitchFamily="34" charset="0"/>
              </a:rPr>
              <a:t> sanguine très élevée pouvant atteindre 50%.</a:t>
            </a:r>
            <a:endParaRPr lang="fr-FR" sz="2800" dirty="0">
              <a:latin typeface="Copperplate Gothic Bold" panose="020E0705020206020404" pitchFamily="34" charset="0"/>
            </a:endParaRPr>
          </a:p>
          <a:p>
            <a:pPr algn="just">
              <a:lnSpc>
                <a:spcPct val="150000"/>
              </a:lnSpc>
            </a:pPr>
            <a:r>
              <a:rPr lang="fr-FR" sz="2800" dirty="0">
                <a:solidFill>
                  <a:srgbClr val="000000"/>
                </a:solidFill>
                <a:latin typeface="Copperplate Gothic Bold" panose="020E0705020206020404" pitchFamily="34" charset="0"/>
              </a:rPr>
              <a:t>La découverte d'œufs dans les selles (examen des selles), parfois le rejet d'un ver (par la bouche, le nez ou l'anus) donne la certitude.</a:t>
            </a:r>
            <a:endParaRPr lang="fr-FR" sz="2800" dirty="0">
              <a:latin typeface="Copperplate Gothic Bold" panose="020E0705020206020404" pitchFamily="34" charset="0"/>
            </a:endParaRPr>
          </a:p>
          <a:p>
            <a:endParaRPr lang="fr-FR" dirty="0"/>
          </a:p>
        </p:txBody>
      </p:sp>
    </p:spTree>
    <p:extLst>
      <p:ext uri="{BB962C8B-B14F-4D97-AF65-F5344CB8AC3E}">
        <p14:creationId xmlns:p14="http://schemas.microsoft.com/office/powerpoint/2010/main" val="29225225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TRAITEMENT</a:t>
            </a:r>
            <a:endParaRPr lang="fr-FR" dirty="0"/>
          </a:p>
        </p:txBody>
      </p:sp>
      <p:sp>
        <p:nvSpPr>
          <p:cNvPr id="3" name="Espace réservé du contenu 2"/>
          <p:cNvSpPr>
            <a:spLocks noGrp="1"/>
          </p:cNvSpPr>
          <p:nvPr>
            <p:ph idx="1"/>
          </p:nvPr>
        </p:nvSpPr>
        <p:spPr>
          <a:xfrm>
            <a:off x="1133341" y="1339403"/>
            <a:ext cx="10371271" cy="4855335"/>
          </a:xfrm>
        </p:spPr>
        <p:txBody>
          <a:bodyPr>
            <a:normAutofit lnSpcReduction="10000"/>
          </a:bodyPr>
          <a:lstStyle/>
          <a:p>
            <a:pPr marL="457200" lvl="1" indent="0" algn="just">
              <a:lnSpc>
                <a:spcPct val="150000"/>
              </a:lnSpc>
              <a:buNone/>
            </a:pPr>
            <a:r>
              <a:rPr lang="fr-FR" sz="2800" b="1" spc="25" dirty="0">
                <a:solidFill>
                  <a:srgbClr val="0070C0"/>
                </a:solidFill>
                <a:latin typeface="Copperplate Gothic Bold" panose="020E0705020206020404" pitchFamily="34" charset="0"/>
                <a:ea typeface="Calibri" panose="020F0502020204030204" pitchFamily="34" charset="0"/>
                <a:cs typeface="Times New Roman" panose="02020603050405020304" pitchFamily="18" charset="0"/>
              </a:rPr>
              <a:t>Traitement médical</a:t>
            </a:r>
            <a:endParaRPr lang="fr-FR" sz="2800" dirty="0">
              <a:solidFill>
                <a:srgbClr val="0070C0"/>
              </a:solidFill>
              <a:latin typeface="Copperplate Gothic Bold" panose="020E0705020206020404" pitchFamily="34" charset="0"/>
              <a:ea typeface="Arial Unicode MS" panose="020B0604020202020204" pitchFamily="34" charset="-128"/>
            </a:endParaRPr>
          </a:p>
          <a:p>
            <a:pPr algn="just">
              <a:lnSpc>
                <a:spcPct val="150000"/>
              </a:lnSpc>
            </a:pPr>
            <a:r>
              <a:rPr lang="fr-FR" sz="2800" b="1" spc="25" dirty="0" err="1" smtClean="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Helmintox</a:t>
            </a:r>
            <a:r>
              <a:rPr lang="fr-FR" sz="2800" b="1" spc="25" dirty="0" smtClean="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 </a:t>
            </a:r>
            <a:r>
              <a:rPr lang="fr-FR" sz="2800" spc="25" dirty="0" smtClean="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à la </a:t>
            </a:r>
            <a:r>
              <a:rPr lang="fr-FR" sz="2800" dirty="0" smtClean="0">
                <a:solidFill>
                  <a:srgbClr val="000000"/>
                </a:solidFill>
                <a:latin typeface="Copperplate Gothic Bold" panose="020E0705020206020404" pitchFamily="34" charset="0"/>
              </a:rPr>
              <a:t>Posologie </a:t>
            </a:r>
            <a:r>
              <a:rPr lang="fr-FR" sz="2800" dirty="0">
                <a:solidFill>
                  <a:srgbClr val="000000"/>
                </a:solidFill>
                <a:latin typeface="Copperplate Gothic Bold" panose="020E0705020206020404" pitchFamily="34" charset="0"/>
              </a:rPr>
              <a:t>: 10 mg/kg en une seule prise </a:t>
            </a:r>
            <a:endParaRPr lang="fr-FR" sz="2800" dirty="0">
              <a:latin typeface="Copperplate Gothic Bold" panose="020E0705020206020404" pitchFamily="34" charset="0"/>
            </a:endParaRPr>
          </a:p>
          <a:p>
            <a:pPr algn="just">
              <a:lnSpc>
                <a:spcPct val="150000"/>
              </a:lnSpc>
            </a:pPr>
            <a:r>
              <a:rPr lang="fr-FR" sz="2800" b="1" spc="25" dirty="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Autres: </a:t>
            </a:r>
            <a:r>
              <a:rPr lang="fr-FR" sz="2800" b="1" spc="25" dirty="0" err="1">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Zentel</a:t>
            </a:r>
            <a:r>
              <a:rPr lang="fr-FR" sz="2800" b="1" spc="25" dirty="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 </a:t>
            </a:r>
            <a:r>
              <a:rPr lang="fr-FR" sz="2800" b="1" spc="25" dirty="0" err="1">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Alben</a:t>
            </a:r>
            <a:r>
              <a:rPr lang="fr-FR" sz="2800" b="1" spc="25" dirty="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 </a:t>
            </a:r>
            <a:r>
              <a:rPr lang="fr-FR" sz="2800" b="1" spc="25" dirty="0" err="1" smtClean="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combantrin</a:t>
            </a:r>
            <a:r>
              <a:rPr lang="fr-FR" sz="2800" b="1" spc="25" dirty="0" smtClean="0">
                <a:solidFill>
                  <a:srgbClr val="0070C0"/>
                </a:solidFill>
                <a:latin typeface="Copperplate Gothic Bold" panose="020E0705020206020404" pitchFamily="34" charset="0"/>
                <a:ea typeface="Calibri" panose="020F0502020204030204" pitchFamily="34" charset="0"/>
                <a:cs typeface="Times New Roman" panose="02020603050405020304" pitchFamily="18" charset="0"/>
              </a:rPr>
              <a:t> </a:t>
            </a:r>
            <a:endParaRPr lang="fr-FR" sz="2800" dirty="0">
              <a:solidFill>
                <a:srgbClr val="0070C0"/>
              </a:solidFill>
              <a:latin typeface="Copperplate Gothic Bold" panose="020E0705020206020404" pitchFamily="34" charset="0"/>
              <a:ea typeface="Arial Unicode MS" panose="020B0604020202020204" pitchFamily="34" charset="-128"/>
            </a:endParaRPr>
          </a:p>
          <a:p>
            <a:pPr algn="just">
              <a:lnSpc>
                <a:spcPct val="150000"/>
              </a:lnSpc>
            </a:pPr>
            <a:r>
              <a:rPr lang="fr-FR" sz="2800" dirty="0">
                <a:solidFill>
                  <a:srgbClr val="000000"/>
                </a:solidFill>
                <a:latin typeface="Copperplate Gothic Bold" panose="020E0705020206020404" pitchFamily="34" charset="0"/>
                <a:ea typeface="Courier New" panose="02070309020205020404" pitchFamily="49" charset="0"/>
              </a:rPr>
              <a:t>L’intervention chirurgicale d'urgence s’impose en cas de complications, d’occlusion, de péritonite, d’appendicite</a:t>
            </a:r>
            <a:endParaRPr lang="fr-FR" sz="2800" dirty="0">
              <a:latin typeface="Copperplate Gothic Bold" panose="020E0705020206020404" pitchFamily="34" charset="0"/>
            </a:endParaRPr>
          </a:p>
        </p:txBody>
      </p:sp>
    </p:spTree>
    <p:extLst>
      <p:ext uri="{BB962C8B-B14F-4D97-AF65-F5344CB8AC3E}">
        <p14:creationId xmlns:p14="http://schemas.microsoft.com/office/powerpoint/2010/main" val="579575668"/>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11986"/>
            <a:ext cx="8911687" cy="689535"/>
          </a:xfrm>
        </p:spPr>
        <p:txBody>
          <a:bodyPr>
            <a:normAutofit fontScale="90000"/>
          </a:bodyPr>
          <a:lstStyle/>
          <a:p>
            <a:pPr lvl="0"/>
            <a:r>
              <a:rPr lang="fr-FR"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PROPHYLAXIE</a:t>
            </a:r>
            <a:r>
              <a:rPr lang="fr-FR" dirty="0">
                <a:solidFill>
                  <a:srgbClr val="000000"/>
                </a:solidFill>
                <a:latin typeface="Courier New" panose="02070309020205020404" pitchFamily="49" charset="0"/>
                <a:ea typeface="Arial Unicode MS" panose="020B0604020202020204" pitchFamily="34" charset="-128"/>
              </a:rPr>
              <a:t/>
            </a:r>
            <a:br>
              <a:rPr lang="fr-FR"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759854" y="901521"/>
            <a:ext cx="10744758" cy="5444688"/>
          </a:xfrm>
        </p:spPr>
        <p:txBody>
          <a:bodyPr>
            <a:noAutofit/>
          </a:bodyPr>
          <a:lstStyle/>
          <a:p>
            <a:pPr marL="457200" lvl="1" indent="0" algn="just">
              <a:lnSpc>
                <a:spcPct val="150000"/>
              </a:lnSpc>
              <a:buNone/>
            </a:pPr>
            <a:r>
              <a:rPr lang="fr-FR" sz="2800" b="1" spc="25" dirty="0" smtClean="0">
                <a:solidFill>
                  <a:srgbClr val="0070C0"/>
                </a:solidFill>
                <a:latin typeface="Tahoma" panose="020B0604030504040204" pitchFamily="34" charset="0"/>
                <a:ea typeface="Calibri" panose="020F0502020204030204" pitchFamily="34" charset="0"/>
                <a:cs typeface="Times New Roman" panose="02020603050405020304" pitchFamily="18" charset="0"/>
              </a:rPr>
              <a:t>La </a:t>
            </a:r>
            <a:r>
              <a:rPr lang="fr-FR" sz="2800" b="1" spc="25" dirty="0">
                <a:solidFill>
                  <a:srgbClr val="0070C0"/>
                </a:solidFill>
                <a:latin typeface="Tahoma" panose="020B0604030504040204" pitchFamily="34" charset="0"/>
                <a:ea typeface="Calibri" panose="020F0502020204030204" pitchFamily="34" charset="0"/>
                <a:cs typeface="Times New Roman" panose="02020603050405020304" pitchFamily="18" charset="0"/>
              </a:rPr>
              <a:t>stérilisation des réservoirs de </a:t>
            </a:r>
            <a:r>
              <a:rPr lang="fr-FR" sz="2800" b="1" spc="25" dirty="0" smtClean="0">
                <a:solidFill>
                  <a:srgbClr val="0070C0"/>
                </a:solidFill>
                <a:latin typeface="Tahoma" panose="020B0604030504040204" pitchFamily="34" charset="0"/>
                <a:ea typeface="Calibri" panose="020F0502020204030204" pitchFamily="34" charset="0"/>
                <a:cs typeface="Times New Roman" panose="02020603050405020304" pitchFamily="18" charset="0"/>
              </a:rPr>
              <a:t>parasites:</a:t>
            </a:r>
            <a:endParaRPr lang="fr-FR" sz="2800" dirty="0"/>
          </a:p>
          <a:p>
            <a:pPr lvl="0">
              <a:lnSpc>
                <a:spcPct val="150000"/>
              </a:lnSpc>
              <a:buClr>
                <a:srgbClr val="000000"/>
              </a:buClr>
              <a:buSzPts val="1200"/>
              <a:buFont typeface="Calibri" panose="020F0502020204030204" pitchFamily="34" charset="0"/>
              <a:buChar char="-"/>
            </a:pP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identification et traitement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de tous les porteurs d'ascaris.</a:t>
            </a:r>
            <a:endParaRPr lang="fr-FR" sz="2800" spc="30" dirty="0">
              <a:ea typeface="Calibri" panose="020F0502020204030204" pitchFamily="34" charset="0"/>
              <a:cs typeface="Times New Roman" panose="02020603050405020304" pitchFamily="18" charset="0"/>
            </a:endParaRPr>
          </a:p>
          <a:p>
            <a:pPr marL="0" indent="0">
              <a:lnSpc>
                <a:spcPct val="150000"/>
              </a:lnSpc>
              <a:buNone/>
            </a:pPr>
            <a:r>
              <a:rPr lang="fr-FR" sz="2800" b="1" spc="25" dirty="0">
                <a:solidFill>
                  <a:srgbClr val="0070C0"/>
                </a:solidFill>
                <a:latin typeface="Tahoma" panose="020B0604030504040204" pitchFamily="34" charset="0"/>
                <a:ea typeface="Calibri" panose="020F0502020204030204" pitchFamily="34" charset="0"/>
                <a:cs typeface="Times New Roman" panose="02020603050405020304" pitchFamily="18" charset="0"/>
              </a:rPr>
              <a:t>L'hygiène </a:t>
            </a:r>
            <a:r>
              <a:rPr lang="fr-FR" sz="2800" b="1" spc="25" dirty="0" smtClean="0">
                <a:solidFill>
                  <a:srgbClr val="0070C0"/>
                </a:solidFill>
                <a:latin typeface="Tahoma" panose="020B0604030504040204" pitchFamily="34" charset="0"/>
                <a:ea typeface="Calibri" panose="020F0502020204030204" pitchFamily="34" charset="0"/>
                <a:cs typeface="Times New Roman" panose="02020603050405020304" pitchFamily="18" charset="0"/>
              </a:rPr>
              <a:t>individuelle</a:t>
            </a:r>
            <a:endParaRPr lang="fr-FR" sz="2800" dirty="0"/>
          </a:p>
          <a:p>
            <a:pPr marL="0" lvl="0" indent="0">
              <a:lnSpc>
                <a:spcPct val="150000"/>
              </a:lnSpc>
              <a:buClr>
                <a:srgbClr val="000000"/>
              </a:buClr>
              <a:buSzPts val="1200"/>
              <a:buNone/>
            </a:pP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lavage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des mains avant les repas,</a:t>
            </a:r>
            <a:endParaRPr lang="fr-FR" sz="2800" spc="30" dirty="0">
              <a:ea typeface="Calibri" panose="020F0502020204030204" pitchFamily="34" charset="0"/>
              <a:cs typeface="Times New Roman" panose="02020603050405020304" pitchFamily="18" charset="0"/>
            </a:endParaRPr>
          </a:p>
          <a:p>
            <a:pPr marL="0" lvl="0" indent="0">
              <a:lnSpc>
                <a:spcPct val="150000"/>
              </a:lnSpc>
              <a:buClr>
                <a:srgbClr val="000000"/>
              </a:buClr>
              <a:buSzPts val="1200"/>
              <a:buNone/>
            </a:pP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lavage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des légumes et les fruits à</a:t>
            </a: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consommer crus, </a:t>
            </a:r>
          </a:p>
          <a:p>
            <a:pPr marL="0" lvl="0" indent="0">
              <a:lnSpc>
                <a:spcPct val="150000"/>
              </a:lnSpc>
              <a:buClr>
                <a:srgbClr val="000000"/>
              </a:buClr>
              <a:buSzPts val="1200"/>
              <a:buNone/>
            </a:pP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consommation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de l'eau potable.</a:t>
            </a:r>
            <a:endParaRPr lang="fr-FR" sz="2800" dirty="0"/>
          </a:p>
          <a:p>
            <a:endParaRPr lang="fr-FR" sz="2800" dirty="0"/>
          </a:p>
        </p:txBody>
      </p:sp>
    </p:spTree>
    <p:extLst>
      <p:ext uri="{BB962C8B-B14F-4D97-AF65-F5344CB8AC3E}">
        <p14:creationId xmlns:p14="http://schemas.microsoft.com/office/powerpoint/2010/main" val="3838234035"/>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62130" y="734096"/>
            <a:ext cx="10242482" cy="5190004"/>
          </a:xfrm>
        </p:spPr>
        <p:txBody>
          <a:bodyPr>
            <a:normAutofit/>
          </a:bodyPr>
          <a:lstStyle/>
          <a:p>
            <a:pPr marL="457200" lvl="1" indent="0" algn="just">
              <a:lnSpc>
                <a:spcPct val="150000"/>
              </a:lnSpc>
              <a:buNone/>
            </a:pPr>
            <a:r>
              <a:rPr lang="fr-FR" sz="3200" b="1" spc="25" dirty="0" smtClean="0">
                <a:solidFill>
                  <a:srgbClr val="0070C0"/>
                </a:solidFill>
                <a:latin typeface="Tahoma" panose="020B0604030504040204" pitchFamily="34" charset="0"/>
                <a:ea typeface="Calibri" panose="020F0502020204030204" pitchFamily="34" charset="0"/>
                <a:cs typeface="Times New Roman" panose="02020603050405020304" pitchFamily="18" charset="0"/>
              </a:rPr>
              <a:t>L'hygiène collective</a:t>
            </a:r>
            <a:endParaRPr lang="fr-FR" sz="3200" dirty="0"/>
          </a:p>
          <a:p>
            <a:pPr lvl="0">
              <a:lnSpc>
                <a:spcPct val="150000"/>
              </a:lnSpc>
              <a:buClr>
                <a:srgbClr val="000000"/>
              </a:buClr>
              <a:buSzPts val="1200"/>
              <a:buFont typeface="Wingdings" panose="05000000000000000000" pitchFamily="2" charset="2"/>
              <a:buChar char="Ø"/>
            </a:pPr>
            <a:r>
              <a:rPr lang="fr-FR" sz="32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La construction </a:t>
            </a:r>
            <a:r>
              <a:rPr lang="fr-FR" sz="32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et l'utilisation des latrines ou des fosses d'aisance,</a:t>
            </a:r>
            <a:endParaRPr lang="fr-FR" sz="3200" spc="30" dirty="0">
              <a:ea typeface="Calibri" panose="020F0502020204030204" pitchFamily="34" charset="0"/>
              <a:cs typeface="Times New Roman" panose="02020603050405020304" pitchFamily="18" charset="0"/>
            </a:endParaRPr>
          </a:p>
          <a:p>
            <a:pPr lvl="0">
              <a:lnSpc>
                <a:spcPct val="150000"/>
              </a:lnSpc>
              <a:buClr>
                <a:srgbClr val="000000"/>
              </a:buClr>
              <a:buSzPts val="1200"/>
              <a:buFont typeface="Wingdings" panose="05000000000000000000" pitchFamily="2" charset="2"/>
              <a:buChar char="Ø"/>
            </a:pPr>
            <a:r>
              <a:rPr lang="fr-FR" sz="32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La protection </a:t>
            </a:r>
            <a:r>
              <a:rPr lang="fr-FR" sz="32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des points d'eau</a:t>
            </a:r>
            <a:endParaRPr lang="fr-FR" sz="3200" spc="30" dirty="0">
              <a:ea typeface="Calibri" panose="020F0502020204030204" pitchFamily="34" charset="0"/>
              <a:cs typeface="Times New Roman" panose="02020603050405020304" pitchFamily="18" charset="0"/>
            </a:endParaRPr>
          </a:p>
          <a:p>
            <a:pPr lvl="0">
              <a:lnSpc>
                <a:spcPct val="150000"/>
              </a:lnSpc>
              <a:buClr>
                <a:srgbClr val="000000"/>
              </a:buClr>
              <a:buSzPts val="1200"/>
              <a:buFont typeface="Wingdings" panose="05000000000000000000" pitchFamily="2" charset="2"/>
              <a:buChar char="Ø"/>
            </a:pPr>
            <a:r>
              <a:rPr lang="fr-FR" sz="32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L'interdiction de </a:t>
            </a:r>
            <a:r>
              <a:rPr lang="fr-FR" sz="32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l'utilisation des </a:t>
            </a:r>
            <a:r>
              <a:rPr lang="fr-FR" sz="32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fèces </a:t>
            </a:r>
            <a:r>
              <a:rPr lang="fr-FR" sz="32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humains comme engrais pour les cultures maraichères.</a:t>
            </a:r>
            <a:endParaRPr lang="fr-FR" sz="3200" spc="3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797814162"/>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76656"/>
          </a:xfrm>
        </p:spPr>
        <p:txBody>
          <a:bodyPr>
            <a:normAutofit fontScale="90000"/>
          </a:bodyPr>
          <a:lstStyle/>
          <a:p>
            <a:pPr lvl="0"/>
            <a:r>
              <a:rPr lang="fr-FR" b="1" spc="25" dirty="0">
                <a:solidFill>
                  <a:srgbClr val="0070C0"/>
                </a:solidFill>
                <a:latin typeface="Tahoma" panose="020B0604030504040204" pitchFamily="34" charset="0"/>
                <a:ea typeface="Arial Unicode MS" panose="020B0604020202020204" pitchFamily="34" charset="-128"/>
                <a:cs typeface="Times New Roman" panose="02020603050405020304" pitchFamily="18" charset="0"/>
              </a:rPr>
              <a:t>ANKYLOSTOMIASE OU ANKYLOSTOMOSE</a:t>
            </a:r>
            <a:r>
              <a:rPr lang="fr-FR" dirty="0">
                <a:solidFill>
                  <a:srgbClr val="0070C0"/>
                </a:solidFill>
                <a:latin typeface="Courier New" panose="02070309020205020404" pitchFamily="49" charset="0"/>
                <a:ea typeface="Arial Unicode MS" panose="020B0604020202020204" pitchFamily="34" charset="-128"/>
              </a:rPr>
              <a:t/>
            </a:r>
            <a:br>
              <a:rPr lang="fr-FR" dirty="0">
                <a:solidFill>
                  <a:srgbClr val="0070C0"/>
                </a:solidFill>
                <a:latin typeface="Courier New" panose="02070309020205020404" pitchFamily="49" charset="0"/>
                <a:ea typeface="Arial Unicode MS" panose="020B0604020202020204" pitchFamily="34" charset="-128"/>
              </a:rPr>
            </a:br>
            <a:endParaRPr lang="fr-FR" dirty="0">
              <a:solidFill>
                <a:srgbClr val="0070C0"/>
              </a:solidFill>
            </a:endParaRPr>
          </a:p>
        </p:txBody>
      </p:sp>
      <p:sp>
        <p:nvSpPr>
          <p:cNvPr id="3" name="Espace réservé du contenu 2"/>
          <p:cNvSpPr>
            <a:spLocks noGrp="1"/>
          </p:cNvSpPr>
          <p:nvPr>
            <p:ph idx="1"/>
          </p:nvPr>
        </p:nvSpPr>
        <p:spPr>
          <a:xfrm>
            <a:off x="888642" y="1300766"/>
            <a:ext cx="10615970" cy="4936261"/>
          </a:xfrm>
        </p:spPr>
        <p:txBody>
          <a:bodyPr>
            <a:noAutofit/>
          </a:bodyPr>
          <a:lstStyle/>
          <a:p>
            <a:pPr marL="0" lvl="0" indent="0" algn="just">
              <a:lnSpc>
                <a:spcPct val="150000"/>
              </a:lnSpc>
              <a:buNone/>
            </a:pPr>
            <a:r>
              <a:rPr lang="fr-FR" sz="2800" b="1" spc="25" dirty="0">
                <a:solidFill>
                  <a:srgbClr val="C00000"/>
                </a:solidFill>
                <a:latin typeface="Tahoma" panose="020B0604030504040204" pitchFamily="34" charset="0"/>
                <a:ea typeface="Calibri" panose="020F0502020204030204" pitchFamily="34" charset="0"/>
                <a:cs typeface="Times New Roman" panose="02020603050405020304" pitchFamily="18" charset="0"/>
              </a:rPr>
              <a:t>DEFINITION</a:t>
            </a:r>
            <a:endParaRPr lang="fr-FR" sz="2800" dirty="0">
              <a:solidFill>
                <a:srgbClr val="C00000"/>
              </a:solidFill>
              <a:latin typeface="Courier New" panose="02070309020205020404" pitchFamily="49" charset="0"/>
              <a:ea typeface="Calibri" panose="020F0502020204030204" pitchFamily="34" charset="0"/>
            </a:endParaRPr>
          </a:p>
          <a:p>
            <a:pPr marL="0" indent="0" algn="just">
              <a:lnSpc>
                <a:spcPct val="150000"/>
              </a:lnSpc>
              <a:spcBef>
                <a:spcPts val="1200"/>
              </a:spcBef>
              <a:buNone/>
            </a:pPr>
            <a:r>
              <a:rPr lang="fr-FR" sz="3200" spc="30" dirty="0">
                <a:solidFill>
                  <a:srgbClr val="000000"/>
                </a:solidFill>
                <a:latin typeface="Tahoma" panose="020B0604030504040204" pitchFamily="34" charset="0"/>
                <a:ea typeface="Times New Roman" panose="02020603050405020304" pitchFamily="18" charset="0"/>
              </a:rPr>
              <a:t>L'ankylostomiase est une helminthiase fréquente en milieu tropical </a:t>
            </a:r>
            <a:r>
              <a:rPr lang="fr-FR" sz="3200" spc="30" dirty="0" smtClean="0">
                <a:solidFill>
                  <a:srgbClr val="000000"/>
                </a:solidFill>
                <a:latin typeface="Tahoma" panose="020B0604030504040204" pitchFamily="34" charset="0"/>
                <a:ea typeface="Times New Roman" panose="02020603050405020304" pitchFamily="18" charset="0"/>
              </a:rPr>
              <a:t>due </a:t>
            </a:r>
            <a:r>
              <a:rPr lang="fr-FR" sz="3200" spc="30" dirty="0">
                <a:solidFill>
                  <a:srgbClr val="000000"/>
                </a:solidFill>
                <a:latin typeface="Tahoma" panose="020B0604030504040204" pitchFamily="34" charset="0"/>
                <a:ea typeface="Times New Roman" panose="02020603050405020304" pitchFamily="18" charset="0"/>
              </a:rPr>
              <a:t>à la présence dans le duodénum de deux (02) vers nématodes: </a:t>
            </a:r>
            <a:r>
              <a:rPr lang="fr-FR" sz="3200" spc="30" dirty="0" err="1">
                <a:solidFill>
                  <a:srgbClr val="000000"/>
                </a:solidFill>
                <a:latin typeface="Tahoma" panose="020B0604030504040204" pitchFamily="34" charset="0"/>
                <a:ea typeface="Times New Roman" panose="02020603050405020304" pitchFamily="18" charset="0"/>
              </a:rPr>
              <a:t>ankyslostoma</a:t>
            </a:r>
            <a:r>
              <a:rPr lang="fr-FR" sz="3200" spc="30" dirty="0">
                <a:solidFill>
                  <a:srgbClr val="000000"/>
                </a:solidFill>
                <a:latin typeface="Tahoma" panose="020B0604030504040204" pitchFamily="34" charset="0"/>
                <a:ea typeface="Times New Roman" panose="02020603050405020304" pitchFamily="18" charset="0"/>
              </a:rPr>
              <a:t> duodénale et </a:t>
            </a:r>
            <a:r>
              <a:rPr lang="fr-FR" sz="3200" spc="30" dirty="0" err="1" smtClean="0">
                <a:solidFill>
                  <a:srgbClr val="000000"/>
                </a:solidFill>
                <a:latin typeface="Tahoma" panose="020B0604030504040204" pitchFamily="34" charset="0"/>
                <a:ea typeface="Times New Roman" panose="02020603050405020304" pitchFamily="18" charset="0"/>
              </a:rPr>
              <a:t>Necator</a:t>
            </a:r>
            <a:r>
              <a:rPr lang="fr-FR" sz="3200" spc="30" dirty="0" smtClean="0">
                <a:solidFill>
                  <a:srgbClr val="000000"/>
                </a:solidFill>
                <a:latin typeface="Tahoma" panose="020B0604030504040204" pitchFamily="34" charset="0"/>
                <a:ea typeface="Times New Roman" panose="02020603050405020304" pitchFamily="18" charset="0"/>
              </a:rPr>
              <a:t> </a:t>
            </a:r>
            <a:r>
              <a:rPr lang="fr-FR" sz="3200" spc="30" dirty="0" err="1" smtClean="0">
                <a:solidFill>
                  <a:srgbClr val="000000"/>
                </a:solidFill>
                <a:latin typeface="Tahoma" panose="020B0604030504040204" pitchFamily="34" charset="0"/>
                <a:ea typeface="Times New Roman" panose="02020603050405020304" pitchFamily="18" charset="0"/>
              </a:rPr>
              <a:t>americanus</a:t>
            </a:r>
            <a:r>
              <a:rPr lang="fr-FR" sz="3200" spc="30" dirty="0" smtClean="0">
                <a:solidFill>
                  <a:srgbClr val="000000"/>
                </a:solidFill>
                <a:latin typeface="Tahoma" panose="020B0604030504040204" pitchFamily="34" charset="0"/>
                <a:ea typeface="Times New Roman" panose="02020603050405020304" pitchFamily="18" charset="0"/>
              </a:rPr>
              <a:t> </a:t>
            </a:r>
            <a:r>
              <a:rPr lang="fr-FR" sz="3200" spc="30" dirty="0">
                <a:solidFill>
                  <a:srgbClr val="000000"/>
                </a:solidFill>
                <a:latin typeface="Tahoma" panose="020B0604030504040204" pitchFamily="34" charset="0"/>
                <a:ea typeface="Times New Roman" panose="02020603050405020304" pitchFamily="18" charset="0"/>
              </a:rPr>
              <a:t>responsables en cas d'infestation importante d'anémie grave parfois mortelle.</a:t>
            </a:r>
            <a:endParaRPr lang="fr-FR" sz="3200" spc="30" dirty="0">
              <a:latin typeface="Times New Roman" panose="02020603050405020304" pitchFamily="18" charset="0"/>
              <a:ea typeface="Times New Roman" panose="02020603050405020304" pitchFamily="18" charset="0"/>
            </a:endParaRPr>
          </a:p>
          <a:p>
            <a:endParaRPr lang="fr-FR" sz="2800" dirty="0"/>
          </a:p>
        </p:txBody>
      </p:sp>
    </p:spTree>
    <p:extLst>
      <p:ext uri="{BB962C8B-B14F-4D97-AF65-F5344CB8AC3E}">
        <p14:creationId xmlns:p14="http://schemas.microsoft.com/office/powerpoint/2010/main" val="139023459"/>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54289" y="250623"/>
            <a:ext cx="8911687" cy="676656"/>
          </a:xfrm>
        </p:spPr>
        <p:txBody>
          <a:bodyPr>
            <a:normAutofit fontScale="90000"/>
          </a:bodyPr>
          <a:lstStyle/>
          <a:p>
            <a:pPr lvl="0"/>
            <a:r>
              <a:rPr lang="fr-FR" sz="3200" b="1" spc="25" dirty="0">
                <a:solidFill>
                  <a:srgbClr val="0070C0"/>
                </a:solidFill>
                <a:latin typeface="Tahoma" panose="020B0604030504040204" pitchFamily="34" charset="0"/>
                <a:ea typeface="Times New Roman" panose="02020603050405020304" pitchFamily="18" charset="0"/>
              </a:rPr>
              <a:t>DESCRIPTION DES PARASITES</a:t>
            </a:r>
            <a:r>
              <a:rPr lang="fr-FR" sz="3200" b="1" spc="25" dirty="0">
                <a:solidFill>
                  <a:srgbClr val="0070C0"/>
                </a:solidFill>
                <a:latin typeface="Times New Roman" panose="02020603050405020304" pitchFamily="18" charset="0"/>
                <a:ea typeface="Times New Roman" panose="02020603050405020304" pitchFamily="18" charset="0"/>
              </a:rPr>
              <a:t/>
            </a:r>
            <a:br>
              <a:rPr lang="fr-FR" sz="3200" b="1" spc="25" dirty="0">
                <a:solidFill>
                  <a:srgbClr val="0070C0"/>
                </a:solidFill>
                <a:latin typeface="Times New Roman" panose="02020603050405020304" pitchFamily="18" charset="0"/>
                <a:ea typeface="Times New Roman" panose="02020603050405020304" pitchFamily="18" charset="0"/>
              </a:rPr>
            </a:br>
            <a:endParaRPr lang="fr-FR" sz="3200" dirty="0">
              <a:solidFill>
                <a:srgbClr val="0070C0"/>
              </a:solidFill>
            </a:endParaRPr>
          </a:p>
        </p:txBody>
      </p:sp>
      <p:sp>
        <p:nvSpPr>
          <p:cNvPr id="3" name="Espace réservé du contenu 2"/>
          <p:cNvSpPr>
            <a:spLocks noGrp="1"/>
          </p:cNvSpPr>
          <p:nvPr>
            <p:ph idx="1"/>
          </p:nvPr>
        </p:nvSpPr>
        <p:spPr>
          <a:xfrm>
            <a:off x="515155" y="1624084"/>
            <a:ext cx="11114467" cy="4802473"/>
          </a:xfrm>
        </p:spPr>
        <p:txBody>
          <a:bodyPr>
            <a:noAutofit/>
          </a:bodyPr>
          <a:lstStyle/>
          <a:p>
            <a:pPr algn="just">
              <a:lnSpc>
                <a:spcPct val="150000"/>
              </a:lnSpc>
            </a:pPr>
            <a:r>
              <a:rPr lang="fr-FR" sz="3200" dirty="0">
                <a:solidFill>
                  <a:srgbClr val="000000"/>
                </a:solidFill>
                <a:latin typeface="Tahoma" panose="020B0604030504040204" pitchFamily="34" charset="0"/>
              </a:rPr>
              <a:t>Deux ankylostomes spécifiquement humains; </a:t>
            </a:r>
            <a:r>
              <a:rPr lang="fr-FR" sz="3200" dirty="0" err="1">
                <a:solidFill>
                  <a:srgbClr val="000000"/>
                </a:solidFill>
                <a:latin typeface="Tahoma" panose="020B0604030504040204" pitchFamily="34" charset="0"/>
              </a:rPr>
              <a:t>Ankylotoma</a:t>
            </a:r>
            <a:r>
              <a:rPr lang="fr-FR" sz="3200" dirty="0">
                <a:solidFill>
                  <a:srgbClr val="000000"/>
                </a:solidFill>
                <a:latin typeface="Tahoma" panose="020B0604030504040204" pitchFamily="34" charset="0"/>
              </a:rPr>
              <a:t> Duodénal (A.D.) et </a:t>
            </a:r>
            <a:r>
              <a:rPr lang="fr-FR" sz="3200" dirty="0" err="1" smtClean="0">
                <a:solidFill>
                  <a:srgbClr val="000000"/>
                </a:solidFill>
                <a:latin typeface="Tahoma" panose="020B0604030504040204" pitchFamily="34" charset="0"/>
              </a:rPr>
              <a:t>Necator</a:t>
            </a:r>
            <a:r>
              <a:rPr lang="fr-FR" sz="3200" dirty="0" smtClean="0">
                <a:solidFill>
                  <a:srgbClr val="000000"/>
                </a:solidFill>
                <a:latin typeface="Tahoma" panose="020B0604030504040204" pitchFamily="34" charset="0"/>
              </a:rPr>
              <a:t> </a:t>
            </a:r>
            <a:r>
              <a:rPr lang="fr-FR" sz="3200" dirty="0" err="1" smtClean="0">
                <a:solidFill>
                  <a:srgbClr val="000000"/>
                </a:solidFill>
                <a:latin typeface="Tahoma" panose="020B0604030504040204" pitchFamily="34" charset="0"/>
              </a:rPr>
              <a:t>Americanus</a:t>
            </a:r>
            <a:r>
              <a:rPr lang="fr-FR" sz="3200" dirty="0" smtClean="0">
                <a:solidFill>
                  <a:srgbClr val="000000"/>
                </a:solidFill>
                <a:latin typeface="Tahoma" panose="020B0604030504040204" pitchFamily="34" charset="0"/>
              </a:rPr>
              <a:t> </a:t>
            </a:r>
            <a:r>
              <a:rPr lang="fr-FR" sz="3200" dirty="0">
                <a:solidFill>
                  <a:srgbClr val="000000"/>
                </a:solidFill>
                <a:latin typeface="Tahoma" panose="020B0604030504040204" pitchFamily="34" charset="0"/>
              </a:rPr>
              <a:t>(N.A).</a:t>
            </a:r>
            <a:endParaRPr lang="fr-FR" sz="3200" dirty="0"/>
          </a:p>
          <a:p>
            <a:pPr algn="just">
              <a:lnSpc>
                <a:spcPct val="150000"/>
              </a:lnSpc>
            </a:pPr>
            <a:r>
              <a:rPr lang="fr-FR" sz="3200" dirty="0">
                <a:solidFill>
                  <a:srgbClr val="000000"/>
                </a:solidFill>
                <a:latin typeface="Tahoma" panose="020B0604030504040204" pitchFamily="34" charset="0"/>
              </a:rPr>
              <a:t>Cylindriques, de couleur blanc rosé, ils mesurent 10 à 18 mm pour les femelles et 8 à 11mm pour les mâles. </a:t>
            </a:r>
            <a:endParaRPr lang="fr-FR" sz="3200" dirty="0" smtClean="0">
              <a:solidFill>
                <a:srgbClr val="000000"/>
              </a:solidFill>
              <a:latin typeface="Tahoma" panose="020B0604030504040204" pitchFamily="34" charset="0"/>
            </a:endParaRPr>
          </a:p>
          <a:p>
            <a:pPr algn="just">
              <a:lnSpc>
                <a:spcPct val="150000"/>
              </a:lnSpc>
            </a:pPr>
            <a:r>
              <a:rPr lang="fr-FR" sz="3200" dirty="0" smtClean="0">
                <a:solidFill>
                  <a:srgbClr val="000000"/>
                </a:solidFill>
                <a:latin typeface="Tahoma" panose="020B0604030504040204" pitchFamily="34" charset="0"/>
              </a:rPr>
              <a:t>Ils </a:t>
            </a:r>
            <a:r>
              <a:rPr lang="fr-FR" sz="3200" dirty="0">
                <a:solidFill>
                  <a:srgbClr val="000000"/>
                </a:solidFill>
                <a:latin typeface="Tahoma" panose="020B0604030504040204" pitchFamily="34" charset="0"/>
              </a:rPr>
              <a:t>sont caractérisés par leur capsule buccale armée.</a:t>
            </a:r>
            <a:endParaRPr lang="fr-FR" sz="3200" dirty="0"/>
          </a:p>
          <a:p>
            <a:endParaRPr lang="fr-FR" sz="2800" dirty="0"/>
          </a:p>
        </p:txBody>
      </p:sp>
    </p:spTree>
    <p:extLst>
      <p:ext uri="{BB962C8B-B14F-4D97-AF65-F5344CB8AC3E}">
        <p14:creationId xmlns:p14="http://schemas.microsoft.com/office/powerpoint/2010/main" val="1791060490"/>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33015" y="750627"/>
            <a:ext cx="10071597" cy="5431809"/>
          </a:xfrm>
        </p:spPr>
        <p:txBody>
          <a:bodyPr>
            <a:normAutofit fontScale="92500" lnSpcReduction="20000"/>
          </a:bodyPr>
          <a:lstStyle/>
          <a:p>
            <a:pPr algn="just">
              <a:lnSpc>
                <a:spcPct val="150000"/>
              </a:lnSpc>
            </a:pPr>
            <a:r>
              <a:rPr lang="fr-FR" sz="3200" dirty="0">
                <a:solidFill>
                  <a:srgbClr val="000000"/>
                </a:solidFill>
                <a:latin typeface="Tahoma" panose="020B0604030504040204" pitchFamily="34" charset="0"/>
              </a:rPr>
              <a:t>Ils vivent enchâssés dans la muqueuse duodénale et se nourrissent de sang</a:t>
            </a:r>
            <a:r>
              <a:rPr lang="fr-FR" sz="3200" dirty="0" smtClean="0">
                <a:solidFill>
                  <a:srgbClr val="000000"/>
                </a:solidFill>
                <a:latin typeface="Tahoma" panose="020B0604030504040204" pitchFamily="34" charset="0"/>
              </a:rPr>
              <a:t>.</a:t>
            </a:r>
          </a:p>
          <a:p>
            <a:pPr algn="just">
              <a:lnSpc>
                <a:spcPct val="150000"/>
              </a:lnSpc>
            </a:pPr>
            <a:r>
              <a:rPr lang="fr-FR" sz="3200" dirty="0" smtClean="0">
                <a:solidFill>
                  <a:srgbClr val="000000"/>
                </a:solidFill>
                <a:latin typeface="Tahoma" panose="020B0604030504040204" pitchFamily="34" charset="0"/>
              </a:rPr>
              <a:t> </a:t>
            </a:r>
            <a:r>
              <a:rPr lang="fr-FR" sz="3200" dirty="0">
                <a:solidFill>
                  <a:srgbClr val="000000"/>
                </a:solidFill>
                <a:latin typeface="Tahoma" panose="020B0604030504040204" pitchFamily="34" charset="0"/>
              </a:rPr>
              <a:t>Ils secrètent une enzyme anticoagulante qui prolonge le saignement. </a:t>
            </a:r>
            <a:endParaRPr lang="fr-FR" sz="3200" dirty="0" smtClean="0">
              <a:solidFill>
                <a:srgbClr val="000000"/>
              </a:solidFill>
              <a:latin typeface="Tahoma" panose="020B0604030504040204" pitchFamily="34" charset="0"/>
            </a:endParaRPr>
          </a:p>
          <a:p>
            <a:pPr algn="just">
              <a:lnSpc>
                <a:spcPct val="150000"/>
              </a:lnSpc>
            </a:pPr>
            <a:r>
              <a:rPr lang="fr-FR" sz="3200" dirty="0" smtClean="0">
                <a:solidFill>
                  <a:srgbClr val="000000"/>
                </a:solidFill>
                <a:latin typeface="Tahoma" panose="020B0604030504040204" pitchFamily="34" charset="0"/>
              </a:rPr>
              <a:t>Ils </a:t>
            </a:r>
            <a:r>
              <a:rPr lang="fr-FR" sz="3200" dirty="0">
                <a:solidFill>
                  <a:srgbClr val="000000"/>
                </a:solidFill>
                <a:latin typeface="Tahoma" panose="020B0604030504040204" pitchFamily="34" charset="0"/>
              </a:rPr>
              <a:t>sont très fréquents dans les régions chaudes et </a:t>
            </a:r>
            <a:r>
              <a:rPr lang="fr-FR" sz="3200" dirty="0" smtClean="0">
                <a:solidFill>
                  <a:srgbClr val="000000"/>
                </a:solidFill>
                <a:latin typeface="Tahoma" panose="020B0604030504040204" pitchFamily="34" charset="0"/>
              </a:rPr>
              <a:t>humides </a:t>
            </a:r>
            <a:endParaRPr lang="fr-FR" sz="3200" dirty="0">
              <a:solidFill>
                <a:srgbClr val="000000"/>
              </a:solidFill>
              <a:latin typeface="Tahoma" panose="020B0604030504040204" pitchFamily="34" charset="0"/>
            </a:endParaRPr>
          </a:p>
          <a:p>
            <a:pPr algn="just">
              <a:lnSpc>
                <a:spcPct val="150000"/>
              </a:lnSpc>
            </a:pPr>
            <a:r>
              <a:rPr lang="fr-FR" sz="3200" dirty="0" smtClean="0">
                <a:solidFill>
                  <a:srgbClr val="000000"/>
                </a:solidFill>
                <a:latin typeface="Tahoma" panose="020B0604030504040204" pitchFamily="34" charset="0"/>
              </a:rPr>
              <a:t>Ils ont </a:t>
            </a:r>
            <a:r>
              <a:rPr lang="fr-FR" sz="3200" dirty="0">
                <a:solidFill>
                  <a:srgbClr val="000000"/>
                </a:solidFill>
                <a:latin typeface="Tahoma" panose="020B0604030504040204" pitchFamily="34" charset="0"/>
              </a:rPr>
              <a:t>une durée de vie de 4 à 5 ans pour A.D. et 10 à 15 ans pour N.A.</a:t>
            </a:r>
            <a:endParaRPr lang="fr-FR" sz="3200" dirty="0"/>
          </a:p>
          <a:p>
            <a:endParaRPr lang="fr-FR" dirty="0"/>
          </a:p>
        </p:txBody>
      </p:sp>
    </p:spTree>
    <p:extLst>
      <p:ext uri="{BB962C8B-B14F-4D97-AF65-F5344CB8AC3E}">
        <p14:creationId xmlns:p14="http://schemas.microsoft.com/office/powerpoint/2010/main" val="1230777149"/>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86855" y="405746"/>
            <a:ext cx="10917758" cy="522302"/>
          </a:xfrm>
        </p:spPr>
        <p:txBody>
          <a:bodyPr>
            <a:normAutofit fontScale="90000"/>
          </a:bodyPr>
          <a:lstStyle/>
          <a:p>
            <a:pPr lvl="0"/>
            <a:r>
              <a:rPr lang="fr-FR" sz="2700" b="1" spc="25" dirty="0" smtClean="0">
                <a:solidFill>
                  <a:srgbClr val="000000"/>
                </a:solidFill>
                <a:latin typeface="Tahoma" panose="020B0604030504040204" pitchFamily="34" charset="0"/>
                <a:ea typeface="Times New Roman" panose="02020603050405020304" pitchFamily="18" charset="0"/>
              </a:rPr>
              <a:t>               MODE </a:t>
            </a:r>
            <a:r>
              <a:rPr lang="fr-FR" sz="2700" b="1" spc="25" dirty="0">
                <a:solidFill>
                  <a:srgbClr val="000000"/>
                </a:solidFill>
                <a:latin typeface="Tahoma" panose="020B0604030504040204" pitchFamily="34" charset="0"/>
                <a:ea typeface="Times New Roman" panose="02020603050405020304" pitchFamily="18" charset="0"/>
              </a:rPr>
              <a:t>DE CONTAMINATION-CYCLE BIOLOGIQUE</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586854" y="1146412"/>
            <a:ext cx="10917758" cy="5213445"/>
          </a:xfrm>
        </p:spPr>
        <p:txBody>
          <a:bodyPr>
            <a:noAutofit/>
          </a:bodyPr>
          <a:lstStyle/>
          <a:p>
            <a:pPr algn="just">
              <a:lnSpc>
                <a:spcPct val="150000"/>
              </a:lnSpc>
            </a:pPr>
            <a:r>
              <a:rPr lang="fr-FR" sz="2800" spc="10" dirty="0">
                <a:solidFill>
                  <a:srgbClr val="000000"/>
                </a:solidFill>
                <a:latin typeface="Tahoma" panose="020B0604030504040204" pitchFamily="34" charset="0"/>
                <a:ea typeface="Times New Roman" panose="02020603050405020304" pitchFamily="18" charset="0"/>
              </a:rPr>
              <a:t>La femelle fécondée pond des œufs qui sont éliminés dans les selles. </a:t>
            </a:r>
            <a:endParaRPr lang="fr-FR" sz="2800" spc="1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Dans </a:t>
            </a:r>
            <a:r>
              <a:rPr lang="fr-FR" sz="2800" spc="10" dirty="0">
                <a:solidFill>
                  <a:srgbClr val="000000"/>
                </a:solidFill>
                <a:latin typeface="Tahoma" panose="020B0604030504040204" pitchFamily="34" charset="0"/>
                <a:ea typeface="Times New Roman" panose="02020603050405020304" pitchFamily="18" charset="0"/>
              </a:rPr>
              <a:t>le milieu </a:t>
            </a:r>
            <a:r>
              <a:rPr lang="fr-FR" sz="2800" spc="10" dirty="0" smtClean="0">
                <a:solidFill>
                  <a:srgbClr val="000000"/>
                </a:solidFill>
                <a:latin typeface="Tahoma" panose="020B0604030504040204" pitchFamily="34" charset="0"/>
                <a:ea typeface="Times New Roman" panose="02020603050405020304" pitchFamily="18" charset="0"/>
              </a:rPr>
              <a:t>extérieur, l’œuf </a:t>
            </a:r>
            <a:r>
              <a:rPr lang="fr-FR" sz="2800" spc="10" dirty="0">
                <a:solidFill>
                  <a:srgbClr val="000000"/>
                </a:solidFill>
                <a:latin typeface="Tahoma" panose="020B0604030504040204" pitchFamily="34" charset="0"/>
                <a:ea typeface="Times New Roman" panose="02020603050405020304" pitchFamily="18" charset="0"/>
              </a:rPr>
              <a:t>mûrit et donne naissance en 24 heures à une larve </a:t>
            </a:r>
            <a:r>
              <a:rPr lang="fr-FR" sz="2800" spc="10" dirty="0" err="1" smtClean="0">
                <a:solidFill>
                  <a:srgbClr val="000000"/>
                </a:solidFill>
                <a:latin typeface="Tahoma" panose="020B0604030504040204" pitchFamily="34" charset="0"/>
                <a:ea typeface="Times New Roman" panose="02020603050405020304" pitchFamily="18" charset="0"/>
              </a:rPr>
              <a:t>rhabditoïde</a:t>
            </a:r>
            <a:r>
              <a:rPr lang="fr-FR" sz="2800" spc="10" dirty="0" smtClean="0">
                <a:solidFill>
                  <a:srgbClr val="000000"/>
                </a:solidFill>
                <a:latin typeface="Tahoma" panose="020B0604030504040204" pitchFamily="34" charset="0"/>
                <a:ea typeface="Times New Roman" panose="02020603050405020304" pitchFamily="18" charset="0"/>
              </a:rPr>
              <a:t>.</a:t>
            </a: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Cette </a:t>
            </a:r>
            <a:r>
              <a:rPr lang="fr-FR" sz="2800" spc="10" dirty="0">
                <a:solidFill>
                  <a:srgbClr val="000000"/>
                </a:solidFill>
                <a:latin typeface="Tahoma" panose="020B0604030504040204" pitchFamily="34" charset="0"/>
                <a:ea typeface="Times New Roman" panose="02020603050405020304" pitchFamily="18" charset="0"/>
              </a:rPr>
              <a:t>larve se transforme en moins de 24 heures en larve </a:t>
            </a:r>
            <a:r>
              <a:rPr lang="fr-FR" sz="2800" spc="10" dirty="0" err="1">
                <a:solidFill>
                  <a:srgbClr val="000000"/>
                </a:solidFill>
                <a:latin typeface="Tahoma" panose="020B0604030504040204" pitchFamily="34" charset="0"/>
                <a:ea typeface="Times New Roman" panose="02020603050405020304" pitchFamily="18" charset="0"/>
              </a:rPr>
              <a:t>strongyloïde</a:t>
            </a:r>
            <a:r>
              <a:rPr lang="fr-FR" sz="2800" spc="10" dirty="0">
                <a:solidFill>
                  <a:srgbClr val="000000"/>
                </a:solidFill>
                <a:latin typeface="Tahoma" panose="020B0604030504040204" pitchFamily="34" charset="0"/>
                <a:ea typeface="Times New Roman" panose="02020603050405020304" pitchFamily="18" charset="0"/>
              </a:rPr>
              <a:t> et 5 à 10 jours plus tard, en larve </a:t>
            </a:r>
            <a:r>
              <a:rPr lang="fr-FR" sz="2800" spc="10" dirty="0" err="1">
                <a:solidFill>
                  <a:srgbClr val="000000"/>
                </a:solidFill>
                <a:latin typeface="Tahoma" panose="020B0604030504040204" pitchFamily="34" charset="0"/>
                <a:ea typeface="Times New Roman" panose="02020603050405020304" pitchFamily="18" charset="0"/>
              </a:rPr>
              <a:t>strongyloïde</a:t>
            </a:r>
            <a:r>
              <a:rPr lang="fr-FR" sz="2800" spc="10" dirty="0">
                <a:solidFill>
                  <a:srgbClr val="000000"/>
                </a:solidFill>
                <a:latin typeface="Tahoma" panose="020B0604030504040204" pitchFamily="34" charset="0"/>
                <a:ea typeface="Times New Roman" panose="02020603050405020304" pitchFamily="18" charset="0"/>
              </a:rPr>
              <a:t> </a:t>
            </a:r>
            <a:r>
              <a:rPr lang="fr-FR" sz="2800" spc="10" dirty="0" smtClean="0">
                <a:solidFill>
                  <a:srgbClr val="000000"/>
                </a:solidFill>
                <a:latin typeface="Tahoma" panose="020B0604030504040204" pitchFamily="34" charset="0"/>
                <a:ea typeface="Times New Roman" panose="02020603050405020304" pitchFamily="18" charset="0"/>
              </a:rPr>
              <a:t>enkystée. Cette </a:t>
            </a:r>
            <a:r>
              <a:rPr lang="fr-FR" sz="2800" spc="10" dirty="0">
                <a:solidFill>
                  <a:srgbClr val="000000"/>
                </a:solidFill>
                <a:latin typeface="Tahoma" panose="020B0604030504040204" pitchFamily="34" charset="0"/>
                <a:ea typeface="Times New Roman" panose="02020603050405020304" pitchFamily="18" charset="0"/>
              </a:rPr>
              <a:t>dernière, mobile et résistante, surtout dans le sol humide ou </a:t>
            </a:r>
            <a:r>
              <a:rPr lang="fr-FR" sz="2800" spc="10" dirty="0" smtClean="0">
                <a:solidFill>
                  <a:srgbClr val="000000"/>
                </a:solidFill>
                <a:latin typeface="Tahoma" panose="020B0604030504040204" pitchFamily="34" charset="0"/>
                <a:ea typeface="Times New Roman" panose="02020603050405020304" pitchFamily="18" charset="0"/>
              </a:rPr>
              <a:t>dans la </a:t>
            </a:r>
            <a:r>
              <a:rPr lang="fr-FR" sz="2800" spc="10" dirty="0">
                <a:solidFill>
                  <a:srgbClr val="000000"/>
                </a:solidFill>
                <a:latin typeface="Tahoma" panose="020B0604030504040204" pitchFamily="34" charset="0"/>
                <a:ea typeface="Times New Roman" panose="02020603050405020304" pitchFamily="18" charset="0"/>
              </a:rPr>
              <a:t>boue, est la larve </a:t>
            </a:r>
            <a:r>
              <a:rPr lang="fr-FR" sz="2800" spc="10" dirty="0" err="1">
                <a:solidFill>
                  <a:srgbClr val="000000"/>
                </a:solidFill>
                <a:latin typeface="Tahoma" panose="020B0604030504040204" pitchFamily="34" charset="0"/>
                <a:ea typeface="Times New Roman" panose="02020603050405020304" pitchFamily="18" charset="0"/>
              </a:rPr>
              <a:t>infestante</a:t>
            </a:r>
            <a:r>
              <a:rPr lang="fr-FR" sz="2800" spc="10" dirty="0">
                <a:solidFill>
                  <a:srgbClr val="000000"/>
                </a:solidFill>
                <a:latin typeface="Tahoma" panose="020B0604030504040204" pitchFamily="34" charset="0"/>
                <a:ea typeface="Times New Roman" panose="02020603050405020304" pitchFamily="18" charset="0"/>
              </a:rPr>
              <a:t>. </a:t>
            </a:r>
            <a:endParaRPr lang="fr-FR" sz="2800" dirty="0"/>
          </a:p>
        </p:txBody>
      </p:sp>
    </p:spTree>
    <p:extLst>
      <p:ext uri="{BB962C8B-B14F-4D97-AF65-F5344CB8AC3E}">
        <p14:creationId xmlns:p14="http://schemas.microsoft.com/office/powerpoint/2010/main" val="188962874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32513" y="409433"/>
            <a:ext cx="10672099" cy="5909480"/>
          </a:xfrm>
        </p:spPr>
        <p:txBody>
          <a:bodyPr>
            <a:normAutofit lnSpcReduction="10000"/>
          </a:bodyPr>
          <a:lstStyle/>
          <a:p>
            <a:pPr algn="just">
              <a:lnSpc>
                <a:spcPct val="150000"/>
              </a:lnSpc>
            </a:pPr>
            <a:r>
              <a:rPr lang="fr-FR" sz="2800" spc="10" dirty="0">
                <a:solidFill>
                  <a:srgbClr val="000000"/>
                </a:solidFill>
                <a:latin typeface="Tahoma" panose="020B0604030504040204" pitchFamily="34" charset="0"/>
                <a:ea typeface="Times New Roman" panose="02020603050405020304" pitchFamily="18" charset="0"/>
              </a:rPr>
              <a:t>La larve </a:t>
            </a:r>
            <a:r>
              <a:rPr lang="fr-FR" sz="2800" spc="10" dirty="0" err="1">
                <a:solidFill>
                  <a:srgbClr val="000000"/>
                </a:solidFill>
                <a:latin typeface="Tahoma" panose="020B0604030504040204" pitchFamily="34" charset="0"/>
                <a:ea typeface="Times New Roman" panose="02020603050405020304" pitchFamily="18" charset="0"/>
              </a:rPr>
              <a:t>strongyloïde</a:t>
            </a:r>
            <a:r>
              <a:rPr lang="fr-FR" sz="2800" spc="10" dirty="0">
                <a:solidFill>
                  <a:srgbClr val="000000"/>
                </a:solidFill>
                <a:latin typeface="Tahoma" panose="020B0604030504040204" pitchFamily="34" charset="0"/>
                <a:ea typeface="Times New Roman" panose="02020603050405020304" pitchFamily="18" charset="0"/>
              </a:rPr>
              <a:t> enkystée traverse activement la peau (pied </a:t>
            </a:r>
            <a:r>
              <a:rPr lang="fr-FR" sz="2800" spc="10" dirty="0" smtClean="0">
                <a:solidFill>
                  <a:srgbClr val="000000"/>
                </a:solidFill>
                <a:latin typeface="Tahoma" panose="020B0604030504040204" pitchFamily="34" charset="0"/>
                <a:ea typeface="Times New Roman" panose="02020603050405020304" pitchFamily="18" charset="0"/>
              </a:rPr>
              <a:t>nu, fesse) </a:t>
            </a:r>
            <a:r>
              <a:rPr lang="fr-FR" sz="2800" spc="10" dirty="0">
                <a:solidFill>
                  <a:srgbClr val="000000"/>
                </a:solidFill>
                <a:latin typeface="Tahoma" panose="020B0604030504040204" pitchFamily="34" charset="0"/>
                <a:ea typeface="Times New Roman" panose="02020603050405020304" pitchFamily="18" charset="0"/>
              </a:rPr>
              <a:t>en abandonnant son enveloppe par voie sanguine ou </a:t>
            </a:r>
            <a:r>
              <a:rPr lang="fr-FR" sz="2800" spc="10" dirty="0" smtClean="0">
                <a:solidFill>
                  <a:srgbClr val="000000"/>
                </a:solidFill>
                <a:latin typeface="Tahoma" panose="020B0604030504040204" pitchFamily="34" charset="0"/>
                <a:ea typeface="Times New Roman" panose="02020603050405020304" pitchFamily="18" charset="0"/>
              </a:rPr>
              <a:t>lymphatique. </a:t>
            </a: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Elle parvient </a:t>
            </a:r>
            <a:r>
              <a:rPr lang="fr-FR" sz="2800" spc="10" dirty="0">
                <a:solidFill>
                  <a:srgbClr val="000000"/>
                </a:solidFill>
                <a:latin typeface="Tahoma" panose="020B0604030504040204" pitchFamily="34" charset="0"/>
                <a:ea typeface="Times New Roman" panose="02020603050405020304" pitchFamily="18" charset="0"/>
              </a:rPr>
              <a:t>au cœur et de là, passe dans l'artère pulmonaire jusque dans ses plus fines ramifications. </a:t>
            </a:r>
            <a:endParaRPr lang="fr-FR" sz="2800" spc="1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Elle quitte </a:t>
            </a:r>
            <a:r>
              <a:rPr lang="fr-FR" sz="2800" spc="10" dirty="0">
                <a:solidFill>
                  <a:srgbClr val="000000"/>
                </a:solidFill>
                <a:latin typeface="Tahoma" panose="020B0604030504040204" pitchFamily="34" charset="0"/>
                <a:ea typeface="Times New Roman" panose="02020603050405020304" pitchFamily="18" charset="0"/>
              </a:rPr>
              <a:t>la voie sanguine pour la voie aérienne</a:t>
            </a:r>
            <a:r>
              <a:rPr lang="fr-FR" sz="2800" spc="10" dirty="0" smtClean="0">
                <a:solidFill>
                  <a:srgbClr val="000000"/>
                </a:solidFill>
                <a:latin typeface="Tahoma" panose="020B0604030504040204" pitchFamily="34" charset="0"/>
                <a:ea typeface="Times New Roman" panose="02020603050405020304" pitchFamily="18" charset="0"/>
              </a:rPr>
              <a:t>, </a:t>
            </a:r>
            <a:r>
              <a:rPr lang="fr-FR" sz="2800" spc="10" dirty="0">
                <a:solidFill>
                  <a:srgbClr val="000000"/>
                </a:solidFill>
                <a:latin typeface="Tahoma" panose="020B0604030504040204" pitchFamily="34" charset="0"/>
                <a:ea typeface="Times New Roman" panose="02020603050405020304" pitchFamily="18" charset="0"/>
              </a:rPr>
              <a:t>franchit la paroi alvéolaire, remonte </a:t>
            </a:r>
            <a:r>
              <a:rPr lang="fr-FR" sz="2800" spc="10" dirty="0" smtClean="0">
                <a:solidFill>
                  <a:srgbClr val="000000"/>
                </a:solidFill>
                <a:latin typeface="Tahoma" panose="020B0604030504040204" pitchFamily="34" charset="0"/>
                <a:ea typeface="Times New Roman" panose="02020603050405020304" pitchFamily="18" charset="0"/>
              </a:rPr>
              <a:t>la bronchiole </a:t>
            </a:r>
            <a:r>
              <a:rPr lang="fr-FR" sz="2800" spc="10" dirty="0">
                <a:solidFill>
                  <a:srgbClr val="000000"/>
                </a:solidFill>
                <a:latin typeface="Tahoma" panose="020B0604030504040204" pitchFamily="34" charset="0"/>
                <a:ea typeface="Times New Roman" panose="02020603050405020304" pitchFamily="18" charset="0"/>
              </a:rPr>
              <a:t>au niveau des bronches et la trachée jusqu'au carrefour aéro-digestif qu'elle atteint au 4</a:t>
            </a:r>
            <a:r>
              <a:rPr lang="fr-FR" sz="2800" spc="10" baseline="30000" dirty="0">
                <a:solidFill>
                  <a:srgbClr val="000000"/>
                </a:solidFill>
                <a:latin typeface="Tahoma" panose="020B0604030504040204" pitchFamily="34" charset="0"/>
                <a:ea typeface="Times New Roman" panose="02020603050405020304" pitchFamily="18" charset="0"/>
              </a:rPr>
              <a:t>eme</a:t>
            </a:r>
            <a:r>
              <a:rPr lang="fr-FR" sz="2800" spc="10" dirty="0">
                <a:solidFill>
                  <a:srgbClr val="000000"/>
                </a:solidFill>
                <a:latin typeface="Tahoma" panose="020B0604030504040204" pitchFamily="34" charset="0"/>
                <a:ea typeface="Times New Roman" panose="02020603050405020304" pitchFamily="18" charset="0"/>
              </a:rPr>
              <a:t> jour. </a:t>
            </a:r>
            <a:endParaRPr lang="fr-FR" sz="2800" dirty="0"/>
          </a:p>
          <a:p>
            <a:endParaRPr lang="fr-FR" sz="2800" dirty="0"/>
          </a:p>
        </p:txBody>
      </p:sp>
    </p:spTree>
    <p:extLst>
      <p:ext uri="{BB962C8B-B14F-4D97-AF65-F5344CB8AC3E}">
        <p14:creationId xmlns:p14="http://schemas.microsoft.com/office/powerpoint/2010/main" val="283086457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28299" y="805218"/>
            <a:ext cx="10276313" cy="5106004"/>
          </a:xfrm>
        </p:spPr>
        <p:txBody>
          <a:bodyPr>
            <a:normAutofit/>
          </a:bodyPr>
          <a:lstStyle/>
          <a:p>
            <a:pPr algn="just">
              <a:lnSpc>
                <a:spcPct val="150000"/>
              </a:lnSpc>
            </a:pPr>
            <a:r>
              <a:rPr lang="fr-FR" sz="3200" spc="10" dirty="0">
                <a:solidFill>
                  <a:srgbClr val="000000"/>
                </a:solidFill>
                <a:latin typeface="Tahoma" panose="020B0604030504040204" pitchFamily="34" charset="0"/>
                <a:ea typeface="Times New Roman" panose="02020603050405020304" pitchFamily="18" charset="0"/>
              </a:rPr>
              <a:t>A la faveur de secousses de toux et de mouvements de déglutition, elle bascule dans le tube digestif (œsophage-estomac-duodénum-jéjunum) pour achever sa maturation (adulte</a:t>
            </a:r>
            <a:r>
              <a:rPr lang="fr-FR" sz="3200" spc="10" dirty="0" smtClean="0">
                <a:solidFill>
                  <a:srgbClr val="000000"/>
                </a:solidFill>
                <a:latin typeface="Tahoma" panose="020B0604030504040204" pitchFamily="34" charset="0"/>
                <a:ea typeface="Times New Roman" panose="02020603050405020304" pitchFamily="18" charset="0"/>
              </a:rPr>
              <a:t>).</a:t>
            </a:r>
          </a:p>
          <a:p>
            <a:pPr algn="just">
              <a:lnSpc>
                <a:spcPct val="150000"/>
              </a:lnSpc>
            </a:pPr>
            <a:r>
              <a:rPr lang="fr-FR" sz="3200" spc="10" dirty="0" smtClean="0">
                <a:solidFill>
                  <a:srgbClr val="000000"/>
                </a:solidFill>
                <a:latin typeface="Tahoma" panose="020B0604030504040204" pitchFamily="34" charset="0"/>
                <a:ea typeface="Times New Roman" panose="02020603050405020304" pitchFamily="18" charset="0"/>
              </a:rPr>
              <a:t> </a:t>
            </a:r>
            <a:r>
              <a:rPr lang="fr-FR" sz="3200" spc="10" dirty="0">
                <a:solidFill>
                  <a:srgbClr val="000000"/>
                </a:solidFill>
                <a:latin typeface="Tahoma" panose="020B0604030504040204" pitchFamily="34" charset="0"/>
                <a:ea typeface="Times New Roman" panose="02020603050405020304" pitchFamily="18" charset="0"/>
              </a:rPr>
              <a:t>Quarante (40) jours environ après la contamination, on peut mettre en évidence des œufs dans les selles.</a:t>
            </a:r>
            <a:endParaRPr lang="fr-FR" sz="3200" spc="10" dirty="0">
              <a:latin typeface="Times New Roman" panose="02020603050405020304" pitchFamily="18" charset="0"/>
              <a:ea typeface="Times New Roman" panose="02020603050405020304" pitchFamily="18" charset="0"/>
            </a:endParaRPr>
          </a:p>
          <a:p>
            <a:pPr algn="just">
              <a:lnSpc>
                <a:spcPct val="150000"/>
              </a:lnSpc>
            </a:pPr>
            <a:endParaRPr lang="fr-FR" sz="3200" dirty="0"/>
          </a:p>
        </p:txBody>
      </p:sp>
    </p:spTree>
    <p:extLst>
      <p:ext uri="{BB962C8B-B14F-4D97-AF65-F5344CB8AC3E}">
        <p14:creationId xmlns:p14="http://schemas.microsoft.com/office/powerpoint/2010/main" val="156823990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rot="19872561">
            <a:off x="335560" y="772906"/>
            <a:ext cx="3355301" cy="567381"/>
          </a:xfrm>
        </p:spPr>
        <p:txBody>
          <a:bodyPr>
            <a:normAutofit fontScale="90000"/>
          </a:bodyPr>
          <a:lstStyle/>
          <a:p>
            <a:r>
              <a:rPr lang="fr-FR" b="1" spc="25" dirty="0" smtClean="0">
                <a:solidFill>
                  <a:srgbClr val="0070C0"/>
                </a:solidFill>
                <a:latin typeface="Tahoma" panose="020B0604030504040204" pitchFamily="34" charset="0"/>
                <a:ea typeface="Arial Unicode MS" panose="020B0604020202020204" pitchFamily="34" charset="-128"/>
                <a:cs typeface="Times New Roman" panose="02020603050405020304" pitchFamily="18" charset="0"/>
              </a:rPr>
              <a:t>ANKYLOSTOME</a:t>
            </a:r>
            <a:endParaRPr lang="fr-FR" dirty="0"/>
          </a:p>
        </p:txBody>
      </p:sp>
      <p:pic>
        <p:nvPicPr>
          <p:cNvPr id="3074" name="Picture 2" descr="https://upload.wikimedia.org/wikipedia/commons/f/ff/Hookworm_LifeCycle%28French_version%29.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5" y="1191491"/>
            <a:ext cx="8911687" cy="5250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12240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82890" y="323859"/>
            <a:ext cx="10221722" cy="658780"/>
          </a:xfrm>
        </p:spPr>
        <p:txBody>
          <a:bodyPr>
            <a:normAutofit fontScale="90000"/>
          </a:bodyPr>
          <a:lstStyle/>
          <a:p>
            <a:pPr lvl="0" algn="ctr"/>
            <a:r>
              <a:rPr lang="fr-FR" sz="2400" b="1" spc="25" dirty="0">
                <a:solidFill>
                  <a:srgbClr val="000000"/>
                </a:solidFill>
                <a:latin typeface="Tahoma" panose="020B0604030504040204" pitchFamily="34" charset="0"/>
                <a:ea typeface="Times New Roman" panose="02020603050405020304" pitchFamily="18" charset="0"/>
              </a:rPr>
              <a:t>MANIFESTATIONS CLINIQUES</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859809" y="1078173"/>
            <a:ext cx="10644803" cy="5158853"/>
          </a:xfrm>
        </p:spPr>
        <p:txBody>
          <a:bodyPr>
            <a:normAutofit fontScale="92500" lnSpcReduction="10000"/>
          </a:bodyPr>
          <a:lstStyle/>
          <a:p>
            <a:pPr marL="457200" lvl="1" indent="0" algn="just">
              <a:lnSpc>
                <a:spcPct val="150000"/>
              </a:lnSpc>
              <a:buNone/>
            </a:pPr>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Phase tissulaire ou période de migration larvaire</a:t>
            </a:r>
            <a:endParaRPr lang="fr-FR" sz="2800" dirty="0">
              <a:solidFill>
                <a:srgbClr val="000000"/>
              </a:solidFill>
              <a:latin typeface="Courier New" panose="02070309020205020404" pitchFamily="49" charset="0"/>
              <a:ea typeface="Calibri" panose="020F0502020204030204" pitchFamily="34" charset="0"/>
            </a:endParaRPr>
          </a:p>
          <a:p>
            <a:pPr marL="0" indent="0" algn="just">
              <a:lnSpc>
                <a:spcPct val="150000"/>
              </a:lnSpc>
              <a:buNone/>
            </a:pPr>
            <a:r>
              <a:rPr lang="fr-FR" sz="2800" dirty="0" smtClean="0">
                <a:solidFill>
                  <a:srgbClr val="000000"/>
                </a:solidFill>
                <a:latin typeface="Tahoma" panose="020B0604030504040204" pitchFamily="34" charset="0"/>
              </a:rPr>
              <a:t>     Discrète ou muette elle </a:t>
            </a:r>
            <a:r>
              <a:rPr lang="fr-FR" sz="2800" dirty="0">
                <a:solidFill>
                  <a:srgbClr val="000000"/>
                </a:solidFill>
                <a:latin typeface="Tahoma" panose="020B0604030504040204" pitchFamily="34" charset="0"/>
              </a:rPr>
              <a:t>est marquée par :</a:t>
            </a:r>
            <a:endParaRPr lang="fr-FR" sz="2800" dirty="0"/>
          </a:p>
          <a:p>
            <a:pPr lvl="0" algn="just">
              <a:lnSpc>
                <a:spcPct val="150000"/>
              </a:lnSpc>
              <a:buClr>
                <a:srgbClr val="000000"/>
              </a:buClr>
              <a:buSzPts val="1200"/>
              <a:buFont typeface="Calibri" panose="020F0502020204030204" pitchFamily="34" charset="0"/>
              <a:buChar char="-"/>
            </a:pPr>
            <a:r>
              <a:rPr lang="fr-FR" sz="2800" b="1" spc="25" dirty="0" smtClean="0">
                <a:solidFill>
                  <a:srgbClr val="000000"/>
                </a:solidFill>
                <a:latin typeface="Tahoma" panose="020B0604030504040204" pitchFamily="34" charset="0"/>
                <a:ea typeface="Tahoma" panose="020B0604030504040204" pitchFamily="34" charset="0"/>
                <a:cs typeface="Times New Roman" panose="02020603050405020304" pitchFamily="18" charset="0"/>
              </a:rPr>
              <a:t>Des troubles </a:t>
            </a:r>
            <a:r>
              <a:rPr lang="fr-FR" sz="28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cutanés: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la traversée des larves </a:t>
            </a:r>
            <a:r>
              <a:rPr lang="fr-FR" sz="2800" spc="3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infestantes</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 réalisent la « gourme des mineurs </a:t>
            </a: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qui est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un érythème papuleux, prurigineux, parfois compliqué de lésion de grattage.</a:t>
            </a:r>
            <a:endParaRPr lang="fr-FR" sz="2800" spc="30" dirty="0">
              <a:ea typeface="Calibri" panose="020F0502020204030204" pitchFamily="34" charset="0"/>
              <a:cs typeface="Times New Roman" panose="02020603050405020304" pitchFamily="18" charset="0"/>
            </a:endParaRPr>
          </a:p>
          <a:p>
            <a:pPr lvl="0" algn="just">
              <a:lnSpc>
                <a:spcPct val="150000"/>
              </a:lnSpc>
              <a:buClr>
                <a:srgbClr val="000000"/>
              </a:buClr>
              <a:buSzPts val="1200"/>
              <a:buFont typeface="Calibri" panose="020F0502020204030204" pitchFamily="34" charset="0"/>
              <a:buChar char="-"/>
            </a:pPr>
            <a:r>
              <a:rPr lang="fr-FR" sz="2800" b="1" spc="25" dirty="0" smtClean="0">
                <a:solidFill>
                  <a:srgbClr val="000000"/>
                </a:solidFill>
                <a:latin typeface="Tahoma" panose="020B0604030504040204" pitchFamily="34" charset="0"/>
                <a:ea typeface="Tahoma" panose="020B0604030504040204" pitchFamily="34" charset="0"/>
                <a:cs typeface="Times New Roman" panose="02020603050405020304" pitchFamily="18" charset="0"/>
              </a:rPr>
              <a:t>Un catarrhe </a:t>
            </a:r>
            <a:r>
              <a:rPr lang="fr-FR" sz="28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des </a:t>
            </a:r>
            <a:r>
              <a:rPr lang="fr-FR" sz="2800" b="1" spc="25" dirty="0" smtClean="0">
                <a:solidFill>
                  <a:srgbClr val="000000"/>
                </a:solidFill>
                <a:latin typeface="Tahoma" panose="020B0604030504040204" pitchFamily="34" charset="0"/>
                <a:ea typeface="Tahoma" panose="020B0604030504040204" pitchFamily="34" charset="0"/>
                <a:cs typeface="Times New Roman" panose="02020603050405020304" pitchFamily="18" charset="0"/>
              </a:rPr>
              <a:t>gourmes </a:t>
            </a:r>
            <a:r>
              <a:rPr lang="fr-FR" sz="2800" spc="30" dirty="0" smtClean="0">
                <a:solidFill>
                  <a:srgbClr val="000000"/>
                </a:solidFill>
                <a:latin typeface="Tahoma" panose="020B0604030504040204" pitchFamily="34" charset="0"/>
                <a:ea typeface="Tahoma" panose="020B0604030504040204" pitchFamily="34" charset="0"/>
                <a:cs typeface="Times New Roman" panose="02020603050405020304" pitchFamily="18" charset="0"/>
              </a:rPr>
              <a:t>qui </a:t>
            </a: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une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simple irritation des voies </a:t>
            </a: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aéro-digestives supérieures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avec une toux surtout vespérale, expectoration muqueuse, dysphonie voire dysphagie.</a:t>
            </a:r>
            <a:endParaRPr lang="fr-FR" sz="2800" spc="3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4253387328"/>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96537" y="624110"/>
            <a:ext cx="10208075" cy="767962"/>
          </a:xfrm>
        </p:spPr>
        <p:txBody>
          <a:bodyPr>
            <a:noAutofit/>
          </a:bodyPr>
          <a:lstStyle/>
          <a:p>
            <a:pPr lvl="1" algn="l" defTabSz="457200" rtl="0">
              <a:spcBef>
                <a:spcPct val="0"/>
              </a:spcBef>
            </a:pPr>
            <a:r>
              <a:rPr lang="fr-FR" sz="2800" b="1" spc="25" dirty="0">
                <a:solidFill>
                  <a:srgbClr val="0070C0"/>
                </a:solidFill>
                <a:latin typeface="Tahoma" panose="020B0604030504040204" pitchFamily="34" charset="0"/>
                <a:ea typeface="Calibri" panose="020F0502020204030204" pitchFamily="34" charset="0"/>
                <a:cs typeface="Times New Roman" panose="02020603050405020304" pitchFamily="18" charset="0"/>
              </a:rPr>
              <a:t>Phase </a:t>
            </a:r>
            <a:r>
              <a:rPr lang="fr-FR" sz="2800" b="1" spc="25" dirty="0" err="1">
                <a:solidFill>
                  <a:srgbClr val="0070C0"/>
                </a:solidFill>
                <a:latin typeface="Tahoma" panose="020B0604030504040204" pitchFamily="34" charset="0"/>
                <a:ea typeface="Calibri" panose="020F0502020204030204" pitchFamily="34" charset="0"/>
                <a:cs typeface="Times New Roman" panose="02020603050405020304" pitchFamily="18" charset="0"/>
              </a:rPr>
              <a:t>endocavitaire</a:t>
            </a:r>
            <a:r>
              <a:rPr lang="fr-FR" sz="2800" b="1" spc="25" dirty="0">
                <a:solidFill>
                  <a:srgbClr val="0070C0"/>
                </a:solidFill>
                <a:latin typeface="Tahoma" panose="020B0604030504040204" pitchFamily="34" charset="0"/>
                <a:ea typeface="Calibri" panose="020F0502020204030204" pitchFamily="34" charset="0"/>
                <a:cs typeface="Times New Roman" panose="02020603050405020304" pitchFamily="18" charset="0"/>
              </a:rPr>
              <a:t> ou période de fixation digestive</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sz="2800" dirty="0"/>
          </a:p>
        </p:txBody>
      </p:sp>
      <p:sp>
        <p:nvSpPr>
          <p:cNvPr id="3" name="Espace réservé du contenu 2"/>
          <p:cNvSpPr>
            <a:spLocks noGrp="1"/>
          </p:cNvSpPr>
          <p:nvPr>
            <p:ph idx="1"/>
          </p:nvPr>
        </p:nvSpPr>
        <p:spPr>
          <a:xfrm>
            <a:off x="900752" y="1392072"/>
            <a:ext cx="10603860" cy="5008728"/>
          </a:xfrm>
        </p:spPr>
        <p:txBody>
          <a:bodyPr>
            <a:normAutofit lnSpcReduction="10000"/>
          </a:bodyPr>
          <a:lstStyle/>
          <a:p>
            <a:pPr algn="just">
              <a:lnSpc>
                <a:spcPct val="150000"/>
              </a:lnSpc>
            </a:pPr>
            <a:r>
              <a:rPr lang="fr-FR" sz="2800" dirty="0">
                <a:solidFill>
                  <a:srgbClr val="000000"/>
                </a:solidFill>
                <a:latin typeface="Tahoma" panose="020B0604030504040204" pitchFamily="34" charset="0"/>
              </a:rPr>
              <a:t>La présence des vers adultes dans le </a:t>
            </a:r>
            <a:r>
              <a:rPr lang="fr-FR" sz="2800" dirty="0" err="1">
                <a:solidFill>
                  <a:srgbClr val="000000"/>
                </a:solidFill>
                <a:latin typeface="Tahoma" panose="020B0604030504040204" pitchFamily="34" charset="0"/>
              </a:rPr>
              <a:t>duodéno</a:t>
            </a:r>
            <a:r>
              <a:rPr lang="fr-FR" sz="2800" dirty="0">
                <a:solidFill>
                  <a:srgbClr val="000000"/>
                </a:solidFill>
                <a:latin typeface="Tahoma" panose="020B0604030504040204" pitchFamily="34" charset="0"/>
              </a:rPr>
              <a:t>-jéjunum n'engendre paradoxalement que peu de troubles digestifs mais, déterminé parfois une anémie sévère :</a:t>
            </a:r>
            <a:endParaRPr lang="fr-FR" sz="2800" dirty="0"/>
          </a:p>
          <a:p>
            <a:pPr algn="just">
              <a:lnSpc>
                <a:spcPct val="150000"/>
              </a:lnSpc>
            </a:pPr>
            <a:r>
              <a:rPr lang="fr-FR" sz="28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Troubles digestifs: </a:t>
            </a:r>
            <a:r>
              <a:rPr lang="fr-FR" sz="2800" dirty="0">
                <a:solidFill>
                  <a:srgbClr val="000000"/>
                </a:solidFill>
                <a:latin typeface="Tahoma" panose="020B0604030504040204" pitchFamily="34" charset="0"/>
              </a:rPr>
              <a:t>dominés essentiellement par une duodénite, </a:t>
            </a:r>
            <a:r>
              <a:rPr lang="fr-FR" sz="2800" dirty="0" smtClean="0">
                <a:solidFill>
                  <a:srgbClr val="000000"/>
                </a:solidFill>
                <a:latin typeface="Tahoma" panose="020B0604030504040204" pitchFamily="34" charset="0"/>
              </a:rPr>
              <a:t>qui </a:t>
            </a:r>
            <a:r>
              <a:rPr lang="fr-FR" sz="2800" dirty="0">
                <a:solidFill>
                  <a:srgbClr val="000000"/>
                </a:solidFill>
                <a:latin typeface="Tahoma" panose="020B0604030504040204" pitchFamily="34" charset="0"/>
              </a:rPr>
              <a:t>se </a:t>
            </a:r>
            <a:r>
              <a:rPr lang="fr-FR" sz="2800" dirty="0" smtClean="0">
                <a:solidFill>
                  <a:srgbClr val="000000"/>
                </a:solidFill>
                <a:latin typeface="Tahoma" panose="020B0604030504040204" pitchFamily="34" charset="0"/>
              </a:rPr>
              <a:t>traduit </a:t>
            </a:r>
            <a:r>
              <a:rPr lang="fr-FR" sz="2800" dirty="0">
                <a:solidFill>
                  <a:srgbClr val="000000"/>
                </a:solidFill>
                <a:latin typeface="Tahoma" panose="020B0604030504040204" pitchFamily="34" charset="0"/>
              </a:rPr>
              <a:t>par des douleurs épigastriques, des nausées, des vomissements, de l'anorexie ou une perversion du goût (géophagie), une diarrhée mousseuse et un amaigrissement important</a:t>
            </a:r>
            <a:r>
              <a:rPr lang="fr-FR" sz="2800" dirty="0" smtClean="0">
                <a:solidFill>
                  <a:srgbClr val="000000"/>
                </a:solidFill>
                <a:latin typeface="Tahoma" panose="020B0604030504040204" pitchFamily="34" charset="0"/>
              </a:rPr>
              <a:t>.</a:t>
            </a:r>
            <a:endParaRPr lang="fr-FR" sz="2800" dirty="0"/>
          </a:p>
          <a:p>
            <a:pPr algn="just"/>
            <a:endParaRPr lang="fr-FR" dirty="0"/>
          </a:p>
        </p:txBody>
      </p:sp>
    </p:spTree>
    <p:extLst>
      <p:ext uri="{BB962C8B-B14F-4D97-AF65-F5344CB8AC3E}">
        <p14:creationId xmlns:p14="http://schemas.microsoft.com/office/powerpoint/2010/main" val="1941971464"/>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73457" y="532263"/>
            <a:ext cx="10631155" cy="5841241"/>
          </a:xfrm>
        </p:spPr>
        <p:txBody>
          <a:bodyPr>
            <a:normAutofit/>
          </a:bodyPr>
          <a:lstStyle/>
          <a:p>
            <a:pPr algn="just">
              <a:lnSpc>
                <a:spcPct val="150000"/>
              </a:lnSpc>
            </a:pP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Le Syndrome </a:t>
            </a:r>
            <a:r>
              <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anémique </a:t>
            </a:r>
            <a:r>
              <a:rPr lang="fr-FR" sz="2400" dirty="0" smtClean="0">
                <a:solidFill>
                  <a:srgbClr val="000000"/>
                </a:solidFill>
                <a:latin typeface="Tahoma" panose="020B0604030504040204" pitchFamily="34" charset="0"/>
              </a:rPr>
              <a:t>résulte </a:t>
            </a:r>
            <a:r>
              <a:rPr lang="fr-FR" sz="2400" dirty="0">
                <a:solidFill>
                  <a:srgbClr val="000000"/>
                </a:solidFill>
                <a:latin typeface="Tahoma" panose="020B0604030504040204" pitchFamily="34" charset="0"/>
              </a:rPr>
              <a:t>de la spoliation sanguine par les ankylostomes. Son intensité dépend de l'espèce en cause (A. duodénal soustrait davantage de sang que le N.A), de l'intensité du parasitisme et de l'état nutritionnel du malade.</a:t>
            </a:r>
            <a:endParaRPr lang="fr-FR" sz="2400" dirty="0"/>
          </a:p>
          <a:p>
            <a:pPr algn="just">
              <a:lnSpc>
                <a:spcPct val="150000"/>
              </a:lnSpc>
            </a:pPr>
            <a:r>
              <a:rPr lang="fr-FR" sz="2400" dirty="0">
                <a:solidFill>
                  <a:srgbClr val="000000"/>
                </a:solidFill>
                <a:latin typeface="Tahoma" panose="020B0604030504040204" pitchFamily="34" charset="0"/>
              </a:rPr>
              <a:t>L'anémie </a:t>
            </a:r>
            <a:r>
              <a:rPr lang="fr-FR" sz="2400" dirty="0" err="1">
                <a:solidFill>
                  <a:srgbClr val="000000"/>
                </a:solidFill>
                <a:latin typeface="Tahoma" panose="020B0604030504040204" pitchFamily="34" charset="0"/>
              </a:rPr>
              <a:t>ankylostomienne</a:t>
            </a:r>
            <a:r>
              <a:rPr lang="fr-FR" sz="2400" dirty="0">
                <a:solidFill>
                  <a:srgbClr val="000000"/>
                </a:solidFill>
                <a:latin typeface="Tahoma" panose="020B0604030504040204" pitchFamily="34" charset="0"/>
              </a:rPr>
              <a:t> grave réalise un tableau original et se traduit par </a:t>
            </a:r>
            <a:r>
              <a:rPr lang="fr-FR" sz="2400" dirty="0" smtClean="0">
                <a:solidFill>
                  <a:srgbClr val="000000"/>
                </a:solidFill>
                <a:latin typeface="Tahoma" panose="020B0604030504040204" pitchFamily="34" charset="0"/>
              </a:rPr>
              <a:t> </a:t>
            </a:r>
            <a:r>
              <a:rPr lang="fr-FR" sz="2400" dirty="0">
                <a:solidFill>
                  <a:srgbClr val="000000"/>
                </a:solidFill>
                <a:latin typeface="Tahoma" panose="020B0604030504040204" pitchFamily="34" charset="0"/>
              </a:rPr>
              <a:t>la pâleur, des signes cardiovasculaires à type de dyspnée d'effort, de tachycardie, d’hypertension, d’œdèmes sous </a:t>
            </a:r>
            <a:r>
              <a:rPr lang="fr-FR" sz="2400" dirty="0" smtClean="0">
                <a:solidFill>
                  <a:srgbClr val="000000"/>
                </a:solidFill>
                <a:latin typeface="Tahoma" panose="020B0604030504040204" pitchFamily="34" charset="0"/>
              </a:rPr>
              <a:t>cutanés </a:t>
            </a:r>
            <a:r>
              <a:rPr lang="fr-FR" sz="2400" dirty="0">
                <a:solidFill>
                  <a:srgbClr val="000000"/>
                </a:solidFill>
                <a:latin typeface="Tahoma" panose="020B0604030504040204" pitchFamily="34" charset="0"/>
              </a:rPr>
              <a:t>mous, indolores, prenant le godet, infiltrant souvent la face, les paupières notamment les membres Inférieurs et les organes génitaux, </a:t>
            </a:r>
            <a:r>
              <a:rPr lang="fr-FR" sz="2400" dirty="0" smtClean="0">
                <a:solidFill>
                  <a:srgbClr val="000000"/>
                </a:solidFill>
                <a:latin typeface="Tahoma" panose="020B0604030504040204" pitchFamily="34" charset="0"/>
              </a:rPr>
              <a:t>des anomalies </a:t>
            </a:r>
            <a:r>
              <a:rPr lang="fr-FR" sz="2400" dirty="0">
                <a:solidFill>
                  <a:srgbClr val="000000"/>
                </a:solidFill>
                <a:latin typeface="Tahoma" panose="020B0604030504040204" pitchFamily="34" charset="0"/>
              </a:rPr>
              <a:t>unguéales : ongles souvent ramollis.</a:t>
            </a:r>
            <a:endParaRPr lang="fr-FR" sz="2400" dirty="0"/>
          </a:p>
          <a:p>
            <a:endParaRPr lang="fr-FR" dirty="0"/>
          </a:p>
        </p:txBody>
      </p:sp>
    </p:spTree>
    <p:extLst>
      <p:ext uri="{BB962C8B-B14F-4D97-AF65-F5344CB8AC3E}">
        <p14:creationId xmlns:p14="http://schemas.microsoft.com/office/powerpoint/2010/main" val="2198159588"/>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51129" y="624110"/>
            <a:ext cx="10153484" cy="740666"/>
          </a:xfrm>
        </p:spPr>
        <p:txBody>
          <a:bodyPr>
            <a:normAutofit fontScale="90000"/>
          </a:bodyPr>
          <a:lstStyle/>
          <a:p>
            <a:pPr lvl="0" algn="ctr"/>
            <a:r>
              <a:rPr lang="fr-FR" sz="2800" b="1" dirty="0" smtClean="0">
                <a:solidFill>
                  <a:srgbClr val="0070C0"/>
                </a:solidFill>
                <a:latin typeface="Tahoma" panose="020B0604030504040204" pitchFamily="34" charset="0"/>
                <a:ea typeface="Courier New" panose="02070309020205020404" pitchFamily="49" charset="0"/>
              </a:rPr>
              <a:t>COMPLICATIONS et </a:t>
            </a:r>
            <a:r>
              <a:rPr lang="fr-FR" sz="2800" b="1" spc="25" dirty="0" smtClean="0">
                <a:solidFill>
                  <a:srgbClr val="0070C0"/>
                </a:solidFill>
                <a:latin typeface="Tahoma" panose="020B0604030504040204" pitchFamily="34" charset="0"/>
                <a:ea typeface="Times New Roman" panose="02020603050405020304" pitchFamily="18" charset="0"/>
              </a:rPr>
              <a:t>DIAGNOSTIC</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791570" y="1364776"/>
            <a:ext cx="10713042" cy="4899546"/>
          </a:xfrm>
        </p:spPr>
        <p:txBody>
          <a:bodyPr>
            <a:normAutofit fontScale="92500"/>
          </a:bodyPr>
          <a:lstStyle/>
          <a:p>
            <a:pPr>
              <a:lnSpc>
                <a:spcPct val="150000"/>
              </a:lnSpc>
            </a:pPr>
            <a:r>
              <a:rPr lang="fr-FR" sz="2800" dirty="0">
                <a:solidFill>
                  <a:srgbClr val="000000"/>
                </a:solidFill>
                <a:latin typeface="Tahoma" panose="020B0604030504040204" pitchFamily="34" charset="0"/>
              </a:rPr>
              <a:t>Anémie</a:t>
            </a:r>
            <a:endParaRPr lang="fr-FR" sz="2800" dirty="0"/>
          </a:p>
          <a:p>
            <a:pPr>
              <a:lnSpc>
                <a:spcPct val="150000"/>
              </a:lnSpc>
            </a:pPr>
            <a:r>
              <a:rPr lang="fr-FR" sz="2800" dirty="0" smtClean="0">
                <a:solidFill>
                  <a:srgbClr val="000000"/>
                </a:solidFill>
                <a:latin typeface="Tahoma" panose="020B0604030504040204" pitchFamily="34" charset="0"/>
              </a:rPr>
              <a:t>Duodénite</a:t>
            </a:r>
            <a:r>
              <a:rPr lang="fr-FR" sz="2800" spc="10" dirty="0">
                <a:solidFill>
                  <a:srgbClr val="000000"/>
                </a:solidFill>
                <a:latin typeface="Tahoma" panose="020B0604030504040204" pitchFamily="34" charset="0"/>
                <a:ea typeface="Times New Roman" panose="02020603050405020304" pitchFamily="18" charset="0"/>
              </a:rPr>
              <a:t> </a:t>
            </a:r>
            <a:endParaRPr lang="fr-FR" sz="2800" spc="10" dirty="0">
              <a:latin typeface="Times New Roman" panose="02020603050405020304" pitchFamily="18" charset="0"/>
              <a:ea typeface="Times New Roman" panose="02020603050405020304" pitchFamily="18" charset="0"/>
            </a:endParaRPr>
          </a:p>
          <a:p>
            <a:pPr marL="0" lvl="0" indent="0" algn="just">
              <a:lnSpc>
                <a:spcPct val="150000"/>
              </a:lnSpc>
              <a:buNone/>
              <a:tabLst>
                <a:tab pos="540385" algn="l"/>
              </a:tabLst>
            </a:pPr>
            <a:r>
              <a:rPr lang="fr-FR" sz="2800" b="1" spc="25" dirty="0">
                <a:solidFill>
                  <a:srgbClr val="000000"/>
                </a:solidFill>
                <a:latin typeface="Tahoma" panose="020B0604030504040204" pitchFamily="34" charset="0"/>
                <a:ea typeface="Times New Roman" panose="02020603050405020304" pitchFamily="18" charset="0"/>
              </a:rPr>
              <a:t>DIAGNOSTIC</a:t>
            </a:r>
            <a:endParaRPr lang="fr-FR" sz="2800" b="1" spc="25" dirty="0">
              <a:latin typeface="Times New Roman" panose="02020603050405020304" pitchFamily="18" charset="0"/>
              <a:ea typeface="Times New Roman" panose="02020603050405020304" pitchFamily="18" charset="0"/>
            </a:endParaRPr>
          </a:p>
          <a:p>
            <a:pPr>
              <a:lnSpc>
                <a:spcPct val="150000"/>
              </a:lnSpc>
            </a:pPr>
            <a:r>
              <a:rPr lang="fr-FR" sz="2800" dirty="0">
                <a:solidFill>
                  <a:srgbClr val="000000"/>
                </a:solidFill>
                <a:latin typeface="Tahoma" panose="020B0604030504040204" pitchFamily="34" charset="0"/>
              </a:rPr>
              <a:t>Penser à l’ankylostomiase devant toute anémie surtout en zone tropicale.</a:t>
            </a:r>
            <a:endParaRPr lang="fr-FR" sz="2800" dirty="0"/>
          </a:p>
          <a:p>
            <a:pPr>
              <a:lnSpc>
                <a:spcPct val="150000"/>
              </a:lnSpc>
            </a:pPr>
            <a:r>
              <a:rPr lang="fr-FR" sz="2800" dirty="0">
                <a:solidFill>
                  <a:srgbClr val="000000"/>
                </a:solidFill>
                <a:latin typeface="Tahoma" panose="020B0604030504040204" pitchFamily="34" charset="0"/>
              </a:rPr>
              <a:t>Il faut évaluer l'importance de l'anémie par un hémogramme et par la mise en évidence des œufs d'ankylostomes dans les selles.</a:t>
            </a:r>
            <a:endParaRPr lang="fr-FR" sz="2800" dirty="0"/>
          </a:p>
          <a:p>
            <a:endParaRPr lang="fr-FR" dirty="0"/>
          </a:p>
        </p:txBody>
      </p:sp>
    </p:spTree>
    <p:extLst>
      <p:ext uri="{BB962C8B-B14F-4D97-AF65-F5344CB8AC3E}">
        <p14:creationId xmlns:p14="http://schemas.microsoft.com/office/powerpoint/2010/main" val="4102380216"/>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78425" y="323859"/>
            <a:ext cx="10126188" cy="549597"/>
          </a:xfrm>
        </p:spPr>
        <p:txBody>
          <a:bodyPr>
            <a:normAutofit fontScale="90000"/>
          </a:bodyPr>
          <a:lstStyle/>
          <a:p>
            <a:pPr lvl="0" algn="ctr"/>
            <a:r>
              <a:rPr lang="fr-FR" sz="2800" b="1" spc="25" dirty="0">
                <a:solidFill>
                  <a:srgbClr val="000000"/>
                </a:solidFill>
                <a:latin typeface="Tahoma" panose="020B0604030504040204" pitchFamily="34" charset="0"/>
                <a:ea typeface="Times New Roman" panose="02020603050405020304" pitchFamily="18" charset="0"/>
              </a:rPr>
              <a:t>TRAITEMENT</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941695" y="968990"/>
            <a:ext cx="10795379" cy="5322627"/>
          </a:xfrm>
        </p:spPr>
        <p:txBody>
          <a:bodyPr>
            <a:noAutofit/>
          </a:bodyPr>
          <a:lstStyle/>
          <a:p>
            <a:pPr marL="457200" lvl="1" indent="0" algn="just">
              <a:lnSpc>
                <a:spcPct val="150000"/>
              </a:lnSpc>
              <a:buNone/>
            </a:pPr>
            <a:r>
              <a:rPr lang="fr-FR" sz="2400"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 spécifique du parasite</a:t>
            </a:r>
            <a:endParaRPr lang="fr-FR" sz="2400" dirty="0">
              <a:solidFill>
                <a:srgbClr val="000000"/>
              </a:solidFill>
              <a:latin typeface="Courier New" panose="02070309020205020404" pitchFamily="49" charset="0"/>
              <a:ea typeface="Calibri" panose="020F0502020204030204" pitchFamily="34" charset="0"/>
            </a:endParaRPr>
          </a:p>
          <a:p>
            <a:pPr>
              <a:lnSpc>
                <a:spcPct val="150000"/>
              </a:lnSpc>
            </a:pPr>
            <a:r>
              <a:rPr lang="fr-FR" sz="2400" dirty="0">
                <a:solidFill>
                  <a:srgbClr val="000000"/>
                </a:solidFill>
                <a:latin typeface="Tahoma" panose="020B0604030504040204" pitchFamily="34" charset="0"/>
              </a:rPr>
              <a:t>Il consiste à déparasiter le porteur d'ankylostomes:</a:t>
            </a:r>
            <a:endParaRPr lang="fr-FR" sz="2400" dirty="0"/>
          </a:p>
          <a:p>
            <a:pPr>
              <a:lnSpc>
                <a:spcPct val="150000"/>
              </a:lnSpc>
            </a:pPr>
            <a:r>
              <a:rPr lang="fr-FR" sz="24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Combantrin</a:t>
            </a:r>
            <a:r>
              <a:rPr lang="fr-FR" sz="2400" dirty="0">
                <a:solidFill>
                  <a:srgbClr val="000000"/>
                </a:solidFill>
                <a:latin typeface="Tahoma" panose="020B0604030504040204" pitchFamily="34" charset="0"/>
              </a:rPr>
              <a:t>: </a:t>
            </a:r>
            <a:r>
              <a:rPr lang="fr-FR" sz="2400" dirty="0" smtClean="0">
                <a:solidFill>
                  <a:srgbClr val="000000"/>
                </a:solidFill>
                <a:latin typeface="Tahoma" panose="020B0604030504040204" pitchFamily="34" charset="0"/>
              </a:rPr>
              <a:t>Posologie</a:t>
            </a:r>
            <a:r>
              <a:rPr lang="fr-FR" sz="2400" dirty="0">
                <a:solidFill>
                  <a:srgbClr val="000000"/>
                </a:solidFill>
                <a:latin typeface="Tahoma" panose="020B0604030504040204" pitchFamily="34" charset="0"/>
              </a:rPr>
              <a:t>: 20 mg/kg en 1 ou 2 prises pendant 2 à 3 jours </a:t>
            </a:r>
            <a:endParaRPr lang="fr-FR" sz="2400" dirty="0"/>
          </a:p>
          <a:p>
            <a:pPr>
              <a:lnSpc>
                <a:spcPct val="150000"/>
              </a:lnSpc>
            </a:pPr>
            <a:r>
              <a:rPr lang="fr-FR" sz="24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Zentel</a:t>
            </a: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smtClean="0">
                <a:solidFill>
                  <a:srgbClr val="000000"/>
                </a:solidFill>
                <a:latin typeface="Tahoma" panose="020B0604030504040204" pitchFamily="34" charset="0"/>
              </a:rPr>
              <a:t>Posologie </a:t>
            </a:r>
            <a:r>
              <a:rPr lang="fr-FR" sz="2400" dirty="0">
                <a:solidFill>
                  <a:srgbClr val="000000"/>
                </a:solidFill>
                <a:latin typeface="Tahoma" panose="020B0604030504040204" pitchFamily="34" charset="0"/>
              </a:rPr>
              <a:t>: 1 </a:t>
            </a:r>
            <a:r>
              <a:rPr lang="fr-FR" sz="2400" dirty="0" err="1">
                <a:solidFill>
                  <a:srgbClr val="000000"/>
                </a:solidFill>
                <a:latin typeface="Tahoma" panose="020B0604030504040204" pitchFamily="34" charset="0"/>
              </a:rPr>
              <a:t>cp</a:t>
            </a:r>
            <a:r>
              <a:rPr lang="fr-FR" sz="2400" dirty="0">
                <a:solidFill>
                  <a:srgbClr val="000000"/>
                </a:solidFill>
                <a:latin typeface="Tahoma" panose="020B0604030504040204" pitchFamily="34" charset="0"/>
              </a:rPr>
              <a:t> en 1 prise unique.</a:t>
            </a:r>
            <a:endParaRPr lang="fr-FR" sz="2400" dirty="0"/>
          </a:p>
          <a:p>
            <a:pPr>
              <a:lnSpc>
                <a:spcPct val="150000"/>
              </a:lnSpc>
            </a:pPr>
            <a:r>
              <a:rPr lang="fr-FR" sz="2400" dirty="0">
                <a:solidFill>
                  <a:srgbClr val="000000"/>
                </a:solidFill>
                <a:latin typeface="Tahoma" panose="020B0604030504040204" pitchFamily="34" charset="0"/>
              </a:rPr>
              <a:t> </a:t>
            </a:r>
            <a:r>
              <a:rPr lang="fr-FR" sz="2400" b="1" u="sng"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 </a:t>
            </a:r>
            <a:r>
              <a:rPr lang="fr-FR" sz="2400"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antianémique</a:t>
            </a:r>
            <a:endParaRPr lang="fr-FR" sz="2400" dirty="0">
              <a:solidFill>
                <a:srgbClr val="000000"/>
              </a:solidFill>
              <a:latin typeface="Courier New" panose="02070309020205020404" pitchFamily="49" charset="0"/>
              <a:ea typeface="Calibri" panose="020F0502020204030204" pitchFamily="34" charset="0"/>
            </a:endParaRPr>
          </a:p>
          <a:p>
            <a:pPr>
              <a:lnSpc>
                <a:spcPct val="150000"/>
              </a:lnSpc>
            </a:pPr>
            <a:r>
              <a:rPr lang="fr-FR" sz="2400" dirty="0" smtClean="0">
                <a:solidFill>
                  <a:srgbClr val="000000"/>
                </a:solidFill>
                <a:latin typeface="Tahoma" panose="020B0604030504040204" pitchFamily="34" charset="0"/>
              </a:rPr>
              <a:t>Proposer un </a:t>
            </a:r>
            <a:r>
              <a:rPr lang="fr-FR" sz="2400" dirty="0">
                <a:solidFill>
                  <a:srgbClr val="000000"/>
                </a:solidFill>
                <a:latin typeface="Tahoma" panose="020B0604030504040204" pitchFamily="34" charset="0"/>
              </a:rPr>
              <a:t>régime riche en protéine animale</a:t>
            </a:r>
            <a:endParaRPr lang="fr-FR" sz="2400" dirty="0"/>
          </a:p>
          <a:p>
            <a:pPr>
              <a:lnSpc>
                <a:spcPct val="150000"/>
              </a:lnSpc>
            </a:pP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Médicaments</a:t>
            </a:r>
            <a:r>
              <a:rPr lang="fr-FR" sz="2400"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err="1" smtClean="0">
                <a:solidFill>
                  <a:srgbClr val="000000"/>
                </a:solidFill>
                <a:latin typeface="Tahoma" panose="020B0604030504040204" pitchFamily="34" charset="0"/>
              </a:rPr>
              <a:t>Féfol</a:t>
            </a:r>
            <a:r>
              <a:rPr lang="fr-FR" sz="2400" dirty="0" smtClean="0">
                <a:solidFill>
                  <a:srgbClr val="000000"/>
                </a:solidFill>
                <a:latin typeface="Tahoma" panose="020B0604030504040204" pitchFamily="34" charset="0"/>
              </a:rPr>
              <a:t> </a:t>
            </a:r>
            <a:r>
              <a:rPr lang="fr-FR" sz="2400" dirty="0">
                <a:solidFill>
                  <a:srgbClr val="000000"/>
                </a:solidFill>
                <a:latin typeface="Tahoma" panose="020B0604030504040204" pitchFamily="34" charset="0"/>
              </a:rPr>
              <a:t>: 1 </a:t>
            </a:r>
            <a:r>
              <a:rPr lang="fr-FR" sz="2400" dirty="0" err="1" smtClean="0">
                <a:solidFill>
                  <a:srgbClr val="000000"/>
                </a:solidFill>
                <a:latin typeface="Tahoma" panose="020B0604030504040204" pitchFamily="34" charset="0"/>
              </a:rPr>
              <a:t>cp</a:t>
            </a:r>
            <a:r>
              <a:rPr lang="fr-FR" sz="2400" dirty="0" smtClean="0">
                <a:solidFill>
                  <a:srgbClr val="000000"/>
                </a:solidFill>
                <a:latin typeface="Tahoma" panose="020B0604030504040204" pitchFamily="34" charset="0"/>
              </a:rPr>
              <a:t> </a:t>
            </a:r>
            <a:r>
              <a:rPr lang="fr-FR" sz="2400" dirty="0" err="1" smtClean="0">
                <a:solidFill>
                  <a:srgbClr val="000000"/>
                </a:solidFill>
                <a:latin typeface="Tahoma" panose="020B0604030504040204" pitchFamily="34" charset="0"/>
              </a:rPr>
              <a:t>Fumafer</a:t>
            </a:r>
            <a:endParaRPr lang="fr-FR" sz="2400" dirty="0"/>
          </a:p>
          <a:p>
            <a:pPr>
              <a:lnSpc>
                <a:spcPct val="150000"/>
              </a:lnSpc>
            </a:pP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Transfusion: </a:t>
            </a:r>
            <a:r>
              <a:rPr lang="fr-FR" sz="2400" dirty="0">
                <a:solidFill>
                  <a:srgbClr val="000000"/>
                </a:solidFill>
                <a:latin typeface="Tahoma" panose="020B0604030504040204" pitchFamily="34" charset="0"/>
              </a:rPr>
              <a:t>envisager une transfusion sanguine dans les formes sévères.</a:t>
            </a:r>
            <a:endParaRPr lang="fr-FR" sz="2400" dirty="0"/>
          </a:p>
          <a:p>
            <a:endParaRPr lang="fr-FR" sz="2400" dirty="0"/>
          </a:p>
        </p:txBody>
      </p:sp>
    </p:spTree>
    <p:extLst>
      <p:ext uri="{BB962C8B-B14F-4D97-AF65-F5344CB8AC3E}">
        <p14:creationId xmlns:p14="http://schemas.microsoft.com/office/powerpoint/2010/main" val="346298887"/>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04189"/>
          </a:xfrm>
        </p:spPr>
        <p:txBody>
          <a:bodyPr>
            <a:normAutofit fontScale="90000"/>
          </a:bodyPr>
          <a:lstStyle/>
          <a:p>
            <a:pPr lvl="0" algn="ctr"/>
            <a:r>
              <a:rPr lang="fr-FR" sz="2400" b="1" spc="25" dirty="0">
                <a:solidFill>
                  <a:srgbClr val="000000"/>
                </a:solidFill>
                <a:latin typeface="Tahoma" panose="020B0604030504040204" pitchFamily="34" charset="0"/>
                <a:ea typeface="Times New Roman" panose="02020603050405020304" pitchFamily="18" charset="0"/>
              </a:rPr>
              <a:t>PROPHYLAXIE</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1050878" y="1228299"/>
            <a:ext cx="10453734" cy="4682923"/>
          </a:xfrm>
        </p:spPr>
        <p:txBody>
          <a:bodyPr/>
          <a:lstStyle/>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L'identification et le déparasitage systématique de tous les porteurs d'ankylostomes.</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La lutte contre le péri-fécal </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par la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construction et l'utilisation des latrines.</a:t>
            </a:r>
            <a:endParaRPr lang="fr-FR" sz="28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 port de chaussure pour éviter les pénétrations des larves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strongyloïdes</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enkystées enfouies dans le sol.</a:t>
            </a:r>
            <a:endParaRPr lang="fr-FR" sz="28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558894738"/>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60449" y="354842"/>
            <a:ext cx="10144163" cy="736979"/>
          </a:xfrm>
        </p:spPr>
        <p:txBody>
          <a:bodyPr>
            <a:noAutofit/>
          </a:bodyPr>
          <a:lstStyle/>
          <a:p>
            <a:pPr lvl="0"/>
            <a:r>
              <a:rPr lang="fr-FR" sz="2800" b="1" spc="25" dirty="0">
                <a:solidFill>
                  <a:srgbClr val="FF0000"/>
                </a:solidFill>
                <a:latin typeface="Tahoma" panose="020B0604030504040204" pitchFamily="34" charset="0"/>
                <a:ea typeface="Arial Unicode MS" panose="020B0604020202020204" pitchFamily="34" charset="-128"/>
                <a:cs typeface="Times New Roman" panose="02020603050405020304" pitchFamily="18" charset="0"/>
              </a:rPr>
              <a:t>ANGUILLULOSE </a:t>
            </a:r>
            <a:r>
              <a:rPr lang="fr-FR" sz="2800" b="1" spc="25" dirty="0" smtClean="0">
                <a:solidFill>
                  <a:srgbClr val="FF0000"/>
                </a:solidFill>
                <a:latin typeface="Tahoma" panose="020B0604030504040204" pitchFamily="34" charset="0"/>
                <a:ea typeface="Arial Unicode MS" panose="020B0604020202020204" pitchFamily="34" charset="-128"/>
                <a:cs typeface="Times New Roman" panose="02020603050405020304" pitchFamily="18" charset="0"/>
              </a:rPr>
              <a:t>OU STRONGYLOÏDOSE </a:t>
            </a:r>
            <a:r>
              <a:rPr lang="fr-FR" sz="2800" dirty="0">
                <a:solidFill>
                  <a:srgbClr val="000000"/>
                </a:solidFill>
                <a:latin typeface="Courier New" panose="02070309020205020404" pitchFamily="49" charset="0"/>
                <a:ea typeface="Arial Unicode MS" panose="020B0604020202020204" pitchFamily="34" charset="-128"/>
              </a:rPr>
              <a:t/>
            </a:r>
            <a:br>
              <a:rPr lang="fr-FR" sz="2800" dirty="0">
                <a:solidFill>
                  <a:srgbClr val="000000"/>
                </a:solidFill>
                <a:latin typeface="Courier New" panose="02070309020205020404" pitchFamily="49" charset="0"/>
                <a:ea typeface="Arial Unicode MS" panose="020B0604020202020204" pitchFamily="34" charset="-128"/>
              </a:rPr>
            </a:br>
            <a:endParaRPr lang="fr-FR" sz="2000" dirty="0"/>
          </a:p>
        </p:txBody>
      </p:sp>
      <p:sp>
        <p:nvSpPr>
          <p:cNvPr id="3" name="Espace réservé du contenu 2"/>
          <p:cNvSpPr>
            <a:spLocks noGrp="1"/>
          </p:cNvSpPr>
          <p:nvPr>
            <p:ph idx="1"/>
          </p:nvPr>
        </p:nvSpPr>
        <p:spPr>
          <a:xfrm>
            <a:off x="600501" y="1091821"/>
            <a:ext cx="10904111" cy="5295331"/>
          </a:xfrm>
        </p:spPr>
        <p:txBody>
          <a:bodyPr>
            <a:normAutofit fontScale="92500" lnSpcReduction="10000"/>
          </a:bodyPr>
          <a:lstStyle/>
          <a:p>
            <a:pPr algn="just">
              <a:lnSpc>
                <a:spcPct val="150000"/>
              </a:lnSpc>
            </a:pPr>
            <a:r>
              <a:rPr lang="fr-FR" sz="2800" dirty="0" smtClean="0">
                <a:solidFill>
                  <a:srgbClr val="000000"/>
                </a:solidFill>
                <a:latin typeface="Tahoma" panose="020B0604030504040204" pitchFamily="34" charset="0"/>
              </a:rPr>
              <a:t>L'anguillulose </a:t>
            </a:r>
            <a:r>
              <a:rPr lang="fr-FR" sz="2800" dirty="0">
                <a:solidFill>
                  <a:srgbClr val="000000"/>
                </a:solidFill>
                <a:latin typeface="Tahoma" panose="020B0604030504040204" pitchFamily="34" charset="0"/>
              </a:rPr>
              <a:t>est due au parasitisme duodénal d'un ver </a:t>
            </a:r>
            <a:r>
              <a:rPr lang="fr-FR" sz="2800" dirty="0" smtClean="0">
                <a:solidFill>
                  <a:srgbClr val="000000"/>
                </a:solidFill>
                <a:latin typeface="Tahoma" panose="020B0604030504040204" pitchFamily="34" charset="0"/>
              </a:rPr>
              <a:t>rond appelé </a:t>
            </a:r>
            <a:r>
              <a:rPr lang="fr-FR" sz="2800" dirty="0" err="1" smtClean="0">
                <a:solidFill>
                  <a:srgbClr val="000000"/>
                </a:solidFill>
                <a:latin typeface="Tahoma" panose="020B0604030504040204" pitchFamily="34" charset="0"/>
              </a:rPr>
              <a:t>Strongyloïde</a:t>
            </a:r>
            <a:r>
              <a:rPr lang="fr-FR" sz="2800" dirty="0" smtClean="0">
                <a:solidFill>
                  <a:srgbClr val="000000"/>
                </a:solidFill>
                <a:latin typeface="Tahoma" panose="020B0604030504040204" pitchFamily="34" charset="0"/>
              </a:rPr>
              <a:t> </a:t>
            </a:r>
            <a:r>
              <a:rPr lang="fr-FR" sz="2800" dirty="0" err="1" smtClean="0">
                <a:solidFill>
                  <a:srgbClr val="000000"/>
                </a:solidFill>
                <a:latin typeface="Tahoma" panose="020B0604030504040204" pitchFamily="34" charset="0"/>
              </a:rPr>
              <a:t>stercoralis</a:t>
            </a:r>
            <a:r>
              <a:rPr lang="fr-FR" sz="2800" dirty="0">
                <a:solidFill>
                  <a:srgbClr val="000000"/>
                </a:solidFill>
                <a:latin typeface="Tahoma" panose="020B0604030504040204" pitchFamily="34" charset="0"/>
              </a:rPr>
              <a:t>. Parasitose intestinale mineure, elle peut dans certaines circonstances se transformer en une </a:t>
            </a:r>
            <a:r>
              <a:rPr lang="fr-FR" sz="2800" dirty="0" smtClean="0">
                <a:solidFill>
                  <a:srgbClr val="000000"/>
                </a:solidFill>
                <a:latin typeface="Tahoma" panose="020B0604030504040204" pitchFamily="34" charset="0"/>
              </a:rPr>
              <a:t>affection </a:t>
            </a:r>
            <a:r>
              <a:rPr lang="fr-FR" sz="2800" dirty="0">
                <a:solidFill>
                  <a:srgbClr val="000000"/>
                </a:solidFill>
                <a:latin typeface="Tahoma" panose="020B0604030504040204" pitchFamily="34" charset="0"/>
              </a:rPr>
              <a:t>généralisée au pronostic </a:t>
            </a:r>
            <a:r>
              <a:rPr lang="fr-FR" sz="2800" dirty="0" smtClean="0">
                <a:solidFill>
                  <a:srgbClr val="000000"/>
                </a:solidFill>
                <a:latin typeface="Tahoma" panose="020B0604030504040204" pitchFamily="34" charset="0"/>
              </a:rPr>
              <a:t>sévère.</a:t>
            </a:r>
          </a:p>
          <a:p>
            <a:pPr algn="just">
              <a:lnSpc>
                <a:spcPct val="150000"/>
              </a:lnSpc>
            </a:pPr>
            <a:r>
              <a:rPr lang="fr-FR" sz="2800"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L’anguillule</a:t>
            </a:r>
            <a:r>
              <a:rPr lang="fr-FR" sz="2800" spc="10" dirty="0" smtClean="0">
                <a:solidFill>
                  <a:srgbClr val="000000"/>
                </a:solidFill>
                <a:latin typeface="Tahoma" panose="020B0604030504040204" pitchFamily="34" charset="0"/>
                <a:ea typeface="Times New Roman" panose="02020603050405020304" pitchFamily="18" charset="0"/>
              </a:rPr>
              <a:t> est un </a:t>
            </a:r>
            <a:r>
              <a:rPr lang="fr-FR" sz="2800" spc="10" dirty="0">
                <a:solidFill>
                  <a:srgbClr val="000000"/>
                </a:solidFill>
                <a:latin typeface="Tahoma" panose="020B0604030504040204" pitchFamily="34" charset="0"/>
                <a:ea typeface="Times New Roman" panose="02020603050405020304" pitchFamily="18" charset="0"/>
              </a:rPr>
              <a:t>petit ver rond à peine visible à l'œil nu. Les femelles parthénogénétiques mesurent 2 à 3 mm de long et leur œsophage possède un seul renflement (forme </a:t>
            </a:r>
            <a:r>
              <a:rPr lang="fr-FR" sz="2800" spc="10" dirty="0" err="1">
                <a:solidFill>
                  <a:srgbClr val="000000"/>
                </a:solidFill>
                <a:latin typeface="Tahoma" panose="020B0604030504040204" pitchFamily="34" charset="0"/>
                <a:ea typeface="Times New Roman" panose="02020603050405020304" pitchFamily="18" charset="0"/>
              </a:rPr>
              <a:t>strongyloïde</a:t>
            </a:r>
            <a:r>
              <a:rPr lang="fr-FR" sz="2800" spc="10" dirty="0">
                <a:solidFill>
                  <a:srgbClr val="000000"/>
                </a:solidFill>
                <a:latin typeface="Tahoma" panose="020B0604030504040204" pitchFamily="34" charset="0"/>
                <a:ea typeface="Times New Roman" panose="02020603050405020304" pitchFamily="18" charset="0"/>
              </a:rPr>
              <a:t>) ; elles vivent profondément enchâssées dans la muqueuse duodénale de l'homme mais ne sont pas hématophages.</a:t>
            </a:r>
            <a:endParaRPr lang="fr-FR" sz="2800" spc="1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440012636"/>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87607" y="624110"/>
            <a:ext cx="10017006" cy="549597"/>
          </a:xfrm>
        </p:spPr>
        <p:txBody>
          <a:bodyPr>
            <a:noAutofit/>
          </a:bodyPr>
          <a:lstStyle/>
          <a:p>
            <a:pPr lvl="0"/>
            <a:r>
              <a:rPr lang="fr-FR" sz="2400"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MODE DE CONTAMINATION-CYCLE BIOLOGIQUE</a:t>
            </a:r>
            <a:r>
              <a:rPr lang="fr-FR" sz="2400" dirty="0">
                <a:solidFill>
                  <a:srgbClr val="000000"/>
                </a:solidFill>
                <a:latin typeface="Courier New" panose="02070309020205020404" pitchFamily="49" charset="0"/>
                <a:ea typeface="Courier New" panose="02070309020205020404" pitchFamily="49" charset="0"/>
              </a:rPr>
              <a:t/>
            </a:r>
            <a:br>
              <a:rPr lang="fr-FR" sz="2400" dirty="0">
                <a:solidFill>
                  <a:srgbClr val="000000"/>
                </a:solidFill>
                <a:latin typeface="Courier New" panose="02070309020205020404" pitchFamily="49" charset="0"/>
                <a:ea typeface="Courier New" panose="02070309020205020404" pitchFamily="49" charset="0"/>
              </a:rPr>
            </a:br>
            <a:endParaRPr lang="fr-FR" sz="2400" dirty="0"/>
          </a:p>
        </p:txBody>
      </p:sp>
      <p:sp>
        <p:nvSpPr>
          <p:cNvPr id="3" name="Espace réservé du contenu 2"/>
          <p:cNvSpPr>
            <a:spLocks noGrp="1"/>
          </p:cNvSpPr>
          <p:nvPr>
            <p:ph idx="1"/>
          </p:nvPr>
        </p:nvSpPr>
        <p:spPr>
          <a:xfrm>
            <a:off x="955343" y="1296537"/>
            <a:ext cx="10549269" cy="4926842"/>
          </a:xfrm>
        </p:spPr>
        <p:txBody>
          <a:bodyPr>
            <a:noAutofit/>
          </a:bodyPr>
          <a:lstStyle/>
          <a:p>
            <a:pPr algn="just">
              <a:lnSpc>
                <a:spcPct val="150000"/>
              </a:lnSpc>
            </a:pPr>
            <a:r>
              <a:rPr lang="fr-FR" sz="2800" spc="10" dirty="0">
                <a:solidFill>
                  <a:srgbClr val="000000"/>
                </a:solidFill>
                <a:latin typeface="Tahoma" panose="020B0604030504040204" pitchFamily="34" charset="0"/>
                <a:ea typeface="Times New Roman" panose="02020603050405020304" pitchFamily="18" charset="0"/>
              </a:rPr>
              <a:t>Les femelles parthénogénétiques pondent des œufs qui </a:t>
            </a:r>
            <a:r>
              <a:rPr lang="fr-FR" sz="2800" spc="10" dirty="0" err="1" smtClean="0">
                <a:solidFill>
                  <a:srgbClr val="000000"/>
                </a:solidFill>
                <a:latin typeface="Tahoma" panose="020B0604030504040204" pitchFamily="34" charset="0"/>
                <a:ea typeface="Times New Roman" panose="02020603050405020304" pitchFamily="18" charset="0"/>
              </a:rPr>
              <a:t>éclorent</a:t>
            </a:r>
            <a:r>
              <a:rPr lang="fr-FR" sz="2800" spc="10" dirty="0" smtClean="0">
                <a:solidFill>
                  <a:srgbClr val="000000"/>
                </a:solidFill>
                <a:latin typeface="Tahoma" panose="020B0604030504040204" pitchFamily="34" charset="0"/>
                <a:ea typeface="Times New Roman" panose="02020603050405020304" pitchFamily="18" charset="0"/>
              </a:rPr>
              <a:t> </a:t>
            </a:r>
            <a:r>
              <a:rPr lang="fr-FR" sz="2800" spc="10" dirty="0">
                <a:solidFill>
                  <a:srgbClr val="000000"/>
                </a:solidFill>
                <a:latin typeface="Tahoma" panose="020B0604030504040204" pitchFamily="34" charset="0"/>
                <a:ea typeface="Times New Roman" panose="02020603050405020304" pitchFamily="18" charset="0"/>
              </a:rPr>
              <a:t>dans l'intestin. </a:t>
            </a:r>
            <a:endParaRPr lang="fr-FR" sz="2800" spc="1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Des </a:t>
            </a:r>
            <a:r>
              <a:rPr lang="fr-FR" sz="2800" spc="10" dirty="0">
                <a:solidFill>
                  <a:srgbClr val="000000"/>
                </a:solidFill>
                <a:latin typeface="Tahoma" panose="020B0604030504040204" pitchFamily="34" charset="0"/>
                <a:ea typeface="Times New Roman" panose="02020603050405020304" pitchFamily="18" charset="0"/>
              </a:rPr>
              <a:t>larves dites </a:t>
            </a:r>
            <a:r>
              <a:rPr lang="fr-FR" sz="2800" spc="10" dirty="0" err="1" smtClean="0">
                <a:solidFill>
                  <a:srgbClr val="000000"/>
                </a:solidFill>
                <a:latin typeface="Tahoma" panose="020B0604030504040204" pitchFamily="34" charset="0"/>
                <a:ea typeface="Times New Roman" panose="02020603050405020304" pitchFamily="18" charset="0"/>
              </a:rPr>
              <a:t>rhabditoïdes</a:t>
            </a:r>
            <a:r>
              <a:rPr lang="fr-FR" sz="2800" spc="10" dirty="0" smtClean="0">
                <a:solidFill>
                  <a:srgbClr val="000000"/>
                </a:solidFill>
                <a:latin typeface="Tahoma" panose="020B0604030504040204" pitchFamily="34" charset="0"/>
                <a:ea typeface="Times New Roman" panose="02020603050405020304" pitchFamily="18" charset="0"/>
              </a:rPr>
              <a:t> s'en </a:t>
            </a:r>
            <a:r>
              <a:rPr lang="fr-FR" sz="2800" spc="10" dirty="0">
                <a:solidFill>
                  <a:srgbClr val="000000"/>
                </a:solidFill>
                <a:latin typeface="Tahoma" panose="020B0604030504040204" pitchFamily="34" charset="0"/>
                <a:ea typeface="Times New Roman" panose="02020603050405020304" pitchFamily="18" charset="0"/>
              </a:rPr>
              <a:t>échappent. Celles-ci sont évacuées avec les selles dans le milieu extérieur. </a:t>
            </a:r>
            <a:endParaRPr lang="fr-FR" sz="2800" spc="1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Ces </a:t>
            </a:r>
            <a:r>
              <a:rPr lang="fr-FR" sz="2800" spc="10" dirty="0">
                <a:solidFill>
                  <a:srgbClr val="000000"/>
                </a:solidFill>
                <a:latin typeface="Tahoma" panose="020B0604030504040204" pitchFamily="34" charset="0"/>
                <a:ea typeface="Times New Roman" panose="02020603050405020304" pitchFamily="18" charset="0"/>
              </a:rPr>
              <a:t>larves </a:t>
            </a:r>
            <a:r>
              <a:rPr lang="fr-FR" sz="2800" spc="10" dirty="0" err="1">
                <a:solidFill>
                  <a:srgbClr val="000000"/>
                </a:solidFill>
                <a:latin typeface="Tahoma" panose="020B0604030504040204" pitchFamily="34" charset="0"/>
                <a:ea typeface="Times New Roman" panose="02020603050405020304" pitchFamily="18" charset="0"/>
              </a:rPr>
              <a:t>rhabditoïdes</a:t>
            </a:r>
            <a:r>
              <a:rPr lang="fr-FR" sz="2800" spc="10" dirty="0">
                <a:solidFill>
                  <a:srgbClr val="000000"/>
                </a:solidFill>
                <a:latin typeface="Tahoma" panose="020B0604030504040204" pitchFamily="34" charset="0"/>
                <a:ea typeface="Times New Roman" panose="02020603050405020304" pitchFamily="18" charset="0"/>
              </a:rPr>
              <a:t> </a:t>
            </a:r>
            <a:r>
              <a:rPr lang="fr-FR" sz="2800" spc="10" dirty="0" smtClean="0">
                <a:solidFill>
                  <a:srgbClr val="000000"/>
                </a:solidFill>
                <a:latin typeface="Tahoma" panose="020B0604030504040204" pitchFamily="34" charset="0"/>
                <a:ea typeface="Times New Roman" panose="02020603050405020304" pitchFamily="18" charset="0"/>
              </a:rPr>
              <a:t>dites </a:t>
            </a:r>
            <a:r>
              <a:rPr lang="fr-FR" sz="2800" spc="10" dirty="0">
                <a:solidFill>
                  <a:srgbClr val="000000"/>
                </a:solidFill>
                <a:latin typeface="Tahoma" panose="020B0604030504040204" pitchFamily="34" charset="0"/>
                <a:ea typeface="Times New Roman" panose="02020603050405020304" pitchFamily="18" charset="0"/>
              </a:rPr>
              <a:t>de première </a:t>
            </a:r>
            <a:r>
              <a:rPr lang="fr-FR" sz="2800" spc="10" dirty="0" smtClean="0">
                <a:solidFill>
                  <a:srgbClr val="000000"/>
                </a:solidFill>
                <a:latin typeface="Tahoma" panose="020B0604030504040204" pitchFamily="34" charset="0"/>
                <a:ea typeface="Times New Roman" panose="02020603050405020304" pitchFamily="18" charset="0"/>
              </a:rPr>
              <a:t>génération </a:t>
            </a:r>
            <a:r>
              <a:rPr lang="fr-FR" sz="2800" spc="10" dirty="0">
                <a:solidFill>
                  <a:srgbClr val="000000"/>
                </a:solidFill>
                <a:latin typeface="Tahoma" panose="020B0604030504040204" pitchFamily="34" charset="0"/>
                <a:ea typeface="Times New Roman" panose="02020603050405020304" pitchFamily="18" charset="0"/>
              </a:rPr>
              <a:t>vont subir un cycle complexe en fonction de certaines conditions avec diverses évolutions.</a:t>
            </a:r>
            <a:endParaRPr lang="fr-FR" sz="2800" spc="10" dirty="0">
              <a:latin typeface="Times New Roman" panose="02020603050405020304" pitchFamily="18" charset="0"/>
              <a:ea typeface="Times New Roman" panose="02020603050405020304" pitchFamily="18" charset="0"/>
            </a:endParaRPr>
          </a:p>
          <a:p>
            <a:endParaRPr lang="fr-FR" sz="2800" dirty="0"/>
          </a:p>
        </p:txBody>
      </p:sp>
    </p:spTree>
    <p:extLst>
      <p:ext uri="{BB962C8B-B14F-4D97-AF65-F5344CB8AC3E}">
        <p14:creationId xmlns:p14="http://schemas.microsoft.com/office/powerpoint/2010/main" val="832403455"/>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41973"/>
            <a:ext cx="8911687" cy="576893"/>
          </a:xfrm>
        </p:spPr>
        <p:txBody>
          <a:bodyPr>
            <a:normAutofit fontScale="90000"/>
          </a:bodyPr>
          <a:lstStyle/>
          <a:p>
            <a:r>
              <a:rPr lang="fr-FR" sz="2700" b="1" spc="25" dirty="0">
                <a:solidFill>
                  <a:srgbClr val="000000"/>
                </a:solidFill>
                <a:latin typeface="Tahoma" panose="020B0604030504040204" pitchFamily="34" charset="0"/>
                <a:ea typeface="Times New Roman" panose="02020603050405020304" pitchFamily="18" charset="0"/>
              </a:rPr>
              <a:t>CYCLE EXTERNE, ASEXUÉ-DIRECT</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791570" y="818866"/>
            <a:ext cx="10713042" cy="5527343"/>
          </a:xfrm>
        </p:spPr>
        <p:txBody>
          <a:bodyPr>
            <a:normAutofit fontScale="85000" lnSpcReduction="10000"/>
          </a:bodyPr>
          <a:lstStyle/>
          <a:p>
            <a:pPr algn="just">
              <a:lnSpc>
                <a:spcPct val="170000"/>
              </a:lnSpc>
            </a:pPr>
            <a:r>
              <a:rPr lang="fr-FR" sz="2600" dirty="0" smtClean="0">
                <a:solidFill>
                  <a:srgbClr val="000000"/>
                </a:solidFill>
                <a:latin typeface="Tahoma" panose="020B0604030504040204" pitchFamily="34" charset="0"/>
              </a:rPr>
              <a:t>Les larves </a:t>
            </a:r>
            <a:r>
              <a:rPr lang="fr-FR" sz="2600" dirty="0" err="1">
                <a:solidFill>
                  <a:srgbClr val="000000"/>
                </a:solidFill>
                <a:latin typeface="Tahoma" panose="020B0604030504040204" pitchFamily="34" charset="0"/>
              </a:rPr>
              <a:t>rhabditoïdes</a:t>
            </a:r>
            <a:r>
              <a:rPr lang="fr-FR" sz="2600" dirty="0">
                <a:solidFill>
                  <a:srgbClr val="000000"/>
                </a:solidFill>
                <a:latin typeface="Tahoma" panose="020B0604030504040204" pitchFamily="34" charset="0"/>
              </a:rPr>
              <a:t> émises dans les elles se transforment directement dans la nature en larves </a:t>
            </a:r>
            <a:r>
              <a:rPr lang="fr-FR" sz="2600" dirty="0" err="1" smtClean="0">
                <a:solidFill>
                  <a:srgbClr val="000000"/>
                </a:solidFill>
                <a:latin typeface="Tahoma" panose="020B0604030504040204" pitchFamily="34" charset="0"/>
              </a:rPr>
              <a:t>strongyloïdes</a:t>
            </a:r>
            <a:r>
              <a:rPr lang="fr-FR" sz="2600" dirty="0" smtClean="0">
                <a:solidFill>
                  <a:srgbClr val="000000"/>
                </a:solidFill>
                <a:latin typeface="Tahoma" panose="020B0604030504040204" pitchFamily="34" charset="0"/>
              </a:rPr>
              <a:t> </a:t>
            </a:r>
            <a:r>
              <a:rPr lang="fr-FR" sz="2600" dirty="0" err="1" smtClean="0">
                <a:solidFill>
                  <a:srgbClr val="000000"/>
                </a:solidFill>
                <a:latin typeface="Tahoma" panose="020B0604030504040204" pitchFamily="34" charset="0"/>
              </a:rPr>
              <a:t>infestantes</a:t>
            </a:r>
            <a:r>
              <a:rPr lang="fr-FR" sz="2600" dirty="0" smtClean="0">
                <a:solidFill>
                  <a:srgbClr val="000000"/>
                </a:solidFill>
                <a:latin typeface="Tahoma" panose="020B0604030504040204" pitchFamily="34" charset="0"/>
              </a:rPr>
              <a:t>.</a:t>
            </a:r>
          </a:p>
          <a:p>
            <a:pPr algn="just">
              <a:lnSpc>
                <a:spcPct val="170000"/>
              </a:lnSpc>
            </a:pPr>
            <a:r>
              <a:rPr lang="fr-FR" sz="2600" dirty="0" smtClean="0">
                <a:solidFill>
                  <a:srgbClr val="000000"/>
                </a:solidFill>
                <a:latin typeface="Tahoma" panose="020B0604030504040204" pitchFamily="34" charset="0"/>
              </a:rPr>
              <a:t> </a:t>
            </a:r>
            <a:r>
              <a:rPr lang="fr-FR" sz="2600" dirty="0">
                <a:solidFill>
                  <a:srgbClr val="000000"/>
                </a:solidFill>
                <a:latin typeface="Tahoma" panose="020B0604030504040204" pitchFamily="34" charset="0"/>
              </a:rPr>
              <a:t>L’homme se contamine par voie cutanée en marchant pieds nus dans la boue ou en se baignant dans les cours d'eau ou une piscine.</a:t>
            </a:r>
            <a:endParaRPr lang="fr-FR" sz="2600" dirty="0"/>
          </a:p>
          <a:p>
            <a:pPr algn="just">
              <a:lnSpc>
                <a:spcPct val="170000"/>
              </a:lnSpc>
            </a:pPr>
            <a:r>
              <a:rPr lang="fr-FR" sz="2600" dirty="0">
                <a:solidFill>
                  <a:srgbClr val="000000"/>
                </a:solidFill>
                <a:latin typeface="Tahoma" panose="020B0604030504040204" pitchFamily="34" charset="0"/>
              </a:rPr>
              <a:t>Après avoir franchi les téguments, les larves migrent par voie sanguine au niveau du cœur droit, puis des poumons ou elles changent de direction et remontent </a:t>
            </a:r>
            <a:r>
              <a:rPr lang="fr-FR" sz="2600" dirty="0" smtClean="0">
                <a:solidFill>
                  <a:srgbClr val="000000"/>
                </a:solidFill>
                <a:latin typeface="Tahoma" panose="020B0604030504040204" pitchFamily="34" charset="0"/>
              </a:rPr>
              <a:t>bronchioles et </a:t>
            </a:r>
            <a:r>
              <a:rPr lang="fr-FR" sz="2600" dirty="0">
                <a:solidFill>
                  <a:srgbClr val="000000"/>
                </a:solidFill>
                <a:latin typeface="Tahoma" panose="020B0604030504040204" pitchFamily="34" charset="0"/>
              </a:rPr>
              <a:t>bronches, trachée, jusqu'au carrefour </a:t>
            </a:r>
            <a:r>
              <a:rPr lang="fr-FR" sz="2600" dirty="0" smtClean="0">
                <a:solidFill>
                  <a:srgbClr val="000000"/>
                </a:solidFill>
                <a:latin typeface="Tahoma" panose="020B0604030504040204" pitchFamily="34" charset="0"/>
              </a:rPr>
              <a:t>aéro-digestif.</a:t>
            </a:r>
          </a:p>
          <a:p>
            <a:pPr algn="just">
              <a:lnSpc>
                <a:spcPct val="170000"/>
              </a:lnSpc>
            </a:pPr>
            <a:r>
              <a:rPr lang="fr-FR" sz="2600" dirty="0" smtClean="0">
                <a:solidFill>
                  <a:srgbClr val="000000"/>
                </a:solidFill>
                <a:latin typeface="Tahoma" panose="020B0604030504040204" pitchFamily="34" charset="0"/>
              </a:rPr>
              <a:t>Elles sont </a:t>
            </a:r>
            <a:r>
              <a:rPr lang="fr-FR" sz="2600" dirty="0">
                <a:solidFill>
                  <a:srgbClr val="000000"/>
                </a:solidFill>
                <a:latin typeface="Tahoma" panose="020B0604030504040204" pitchFamily="34" charset="0"/>
              </a:rPr>
              <a:t>alors dégluties après avoir franchi le pylore, elles deviennent des femelles parthénogénétiques</a:t>
            </a:r>
            <a:r>
              <a:rPr lang="fr-FR" sz="2400" dirty="0">
                <a:solidFill>
                  <a:srgbClr val="000000"/>
                </a:solidFill>
                <a:latin typeface="Tahoma" panose="020B0604030504040204" pitchFamily="34" charset="0"/>
              </a:rPr>
              <a:t>.</a:t>
            </a:r>
            <a:endParaRPr lang="fr-FR" sz="2400" dirty="0"/>
          </a:p>
          <a:p>
            <a:endParaRPr lang="fr-FR" dirty="0"/>
          </a:p>
        </p:txBody>
      </p:sp>
    </p:spTree>
    <p:extLst>
      <p:ext uri="{BB962C8B-B14F-4D97-AF65-F5344CB8AC3E}">
        <p14:creationId xmlns:p14="http://schemas.microsoft.com/office/powerpoint/2010/main" val="398531916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42197" y="433041"/>
            <a:ext cx="9962415" cy="549597"/>
          </a:xfrm>
        </p:spPr>
        <p:txBody>
          <a:bodyPr>
            <a:noAutofit/>
          </a:bodyPr>
          <a:lstStyle/>
          <a:p>
            <a:r>
              <a:rPr lang="fr-FR" sz="2400" b="1"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   CYCLE </a:t>
            </a:r>
            <a:r>
              <a:rPr lang="fr-FR" sz="24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EXTERNE, SEXUE, INDIRECT OU HETEROGONIQUE</a:t>
            </a:r>
            <a:r>
              <a:rPr lang="fr-FR" sz="2400" dirty="0"/>
              <a:t/>
            </a:r>
            <a:br>
              <a:rPr lang="fr-FR" sz="2400" dirty="0"/>
            </a:br>
            <a:endParaRPr lang="fr-FR" sz="2400" dirty="0"/>
          </a:p>
        </p:txBody>
      </p:sp>
      <p:sp>
        <p:nvSpPr>
          <p:cNvPr id="3" name="Espace réservé du contenu 2"/>
          <p:cNvSpPr>
            <a:spLocks noGrp="1"/>
          </p:cNvSpPr>
          <p:nvPr>
            <p:ph idx="1"/>
          </p:nvPr>
        </p:nvSpPr>
        <p:spPr>
          <a:xfrm>
            <a:off x="1137424" y="1173707"/>
            <a:ext cx="10367188" cy="5281684"/>
          </a:xfrm>
        </p:spPr>
        <p:txBody>
          <a:bodyPr>
            <a:normAutofit lnSpcReduction="10000"/>
          </a:bodyPr>
          <a:lstStyle/>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les </a:t>
            </a:r>
            <a:r>
              <a:rPr lang="fr-FR" sz="2800" spc="10" dirty="0">
                <a:solidFill>
                  <a:srgbClr val="000000"/>
                </a:solidFill>
                <a:latin typeface="Tahoma" panose="020B0604030504040204" pitchFamily="34" charset="0"/>
                <a:ea typeface="Times New Roman" panose="02020603050405020304" pitchFamily="18" charset="0"/>
              </a:rPr>
              <a:t>larves </a:t>
            </a:r>
            <a:r>
              <a:rPr lang="fr-FR" sz="2800" spc="10" dirty="0" err="1">
                <a:solidFill>
                  <a:srgbClr val="000000"/>
                </a:solidFill>
                <a:latin typeface="Tahoma" panose="020B0604030504040204" pitchFamily="34" charset="0"/>
                <a:ea typeface="Times New Roman" panose="02020603050405020304" pitchFamily="18" charset="0"/>
              </a:rPr>
              <a:t>rhabditoïdes</a:t>
            </a:r>
            <a:r>
              <a:rPr lang="fr-FR" sz="2800" spc="10" dirty="0">
                <a:solidFill>
                  <a:srgbClr val="000000"/>
                </a:solidFill>
                <a:latin typeface="Tahoma" panose="020B0604030504040204" pitchFamily="34" charset="0"/>
                <a:ea typeface="Times New Roman" panose="02020603050405020304" pitchFamily="18" charset="0"/>
              </a:rPr>
              <a:t> se muent en adultes stercoraires</a:t>
            </a:r>
            <a:r>
              <a:rPr lang="fr-FR" sz="2800" spc="10" dirty="0" smtClean="0">
                <a:solidFill>
                  <a:srgbClr val="000000"/>
                </a:solidFill>
                <a:latin typeface="Tahoma" panose="020B0604030504040204" pitchFamily="34" charset="0"/>
                <a:ea typeface="Times New Roman" panose="02020603050405020304" pitchFamily="18" charset="0"/>
              </a:rPr>
              <a:t>,</a:t>
            </a: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 </a:t>
            </a:r>
            <a:r>
              <a:rPr lang="fr-FR" sz="2800" spc="10" dirty="0">
                <a:solidFill>
                  <a:srgbClr val="000000"/>
                </a:solidFill>
                <a:latin typeface="Tahoma" panose="020B0604030504040204" pitchFamily="34" charset="0"/>
                <a:ea typeface="Times New Roman" panose="02020603050405020304" pitchFamily="18" charset="0"/>
              </a:rPr>
              <a:t>les femelles fécondées pondent des œufs donnant naissance à des larves </a:t>
            </a:r>
            <a:r>
              <a:rPr lang="fr-FR" sz="2800" spc="10" dirty="0" err="1">
                <a:solidFill>
                  <a:srgbClr val="000000"/>
                </a:solidFill>
                <a:latin typeface="Tahoma" panose="020B0604030504040204" pitchFamily="34" charset="0"/>
                <a:ea typeface="Times New Roman" panose="02020603050405020304" pitchFamily="18" charset="0"/>
              </a:rPr>
              <a:t>rhabditoïdes</a:t>
            </a:r>
            <a:r>
              <a:rPr lang="fr-FR" sz="2800" spc="10" dirty="0">
                <a:solidFill>
                  <a:srgbClr val="000000"/>
                </a:solidFill>
                <a:latin typeface="Tahoma" panose="020B0604030504040204" pitchFamily="34" charset="0"/>
                <a:ea typeface="Times New Roman" panose="02020603050405020304" pitchFamily="18" charset="0"/>
              </a:rPr>
              <a:t> de « 2</a:t>
            </a:r>
            <a:r>
              <a:rPr lang="fr-FR" sz="2800" spc="10" baseline="30000" dirty="0">
                <a:solidFill>
                  <a:srgbClr val="000000"/>
                </a:solidFill>
                <a:latin typeface="Tahoma" panose="020B0604030504040204" pitchFamily="34" charset="0"/>
                <a:ea typeface="Times New Roman" panose="02020603050405020304" pitchFamily="18" charset="0"/>
              </a:rPr>
              <a:t>eme</a:t>
            </a:r>
            <a:r>
              <a:rPr lang="fr-FR" sz="2800" spc="10" dirty="0">
                <a:solidFill>
                  <a:srgbClr val="000000"/>
                </a:solidFill>
                <a:latin typeface="Tahoma" panose="020B0604030504040204" pitchFamily="34" charset="0"/>
                <a:ea typeface="Times New Roman" panose="02020603050405020304" pitchFamily="18" charset="0"/>
              </a:rPr>
              <a:t> génération » </a:t>
            </a:r>
            <a:endParaRPr lang="fr-FR" sz="2800" spc="1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les </a:t>
            </a:r>
            <a:r>
              <a:rPr lang="fr-FR" sz="2800" spc="10" dirty="0">
                <a:solidFill>
                  <a:srgbClr val="000000"/>
                </a:solidFill>
                <a:latin typeface="Tahoma" panose="020B0604030504040204" pitchFamily="34" charset="0"/>
                <a:ea typeface="Times New Roman" panose="02020603050405020304" pitchFamily="18" charset="0"/>
              </a:rPr>
              <a:t>larves se transforment à leur tour en larves </a:t>
            </a:r>
            <a:r>
              <a:rPr lang="fr-FR" sz="2800" spc="10" dirty="0" err="1">
                <a:solidFill>
                  <a:srgbClr val="000000"/>
                </a:solidFill>
                <a:latin typeface="Tahoma" panose="020B0604030504040204" pitchFamily="34" charset="0"/>
                <a:ea typeface="Times New Roman" panose="02020603050405020304" pitchFamily="18" charset="0"/>
              </a:rPr>
              <a:t>strongyloïdes</a:t>
            </a:r>
            <a:r>
              <a:rPr lang="fr-FR" sz="2800" spc="10" dirty="0">
                <a:solidFill>
                  <a:srgbClr val="000000"/>
                </a:solidFill>
                <a:latin typeface="Tahoma" panose="020B0604030504040204" pitchFamily="34" charset="0"/>
                <a:ea typeface="Times New Roman" panose="02020603050405020304" pitchFamily="18" charset="0"/>
              </a:rPr>
              <a:t> infestant l'homme par voie cutanée ; </a:t>
            </a:r>
            <a:endParaRPr lang="fr-FR" sz="2800" spc="1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il </a:t>
            </a:r>
            <a:r>
              <a:rPr lang="fr-FR" sz="2800" spc="10" dirty="0">
                <a:solidFill>
                  <a:srgbClr val="000000"/>
                </a:solidFill>
                <a:latin typeface="Tahoma" panose="020B0604030504040204" pitchFamily="34" charset="0"/>
                <a:ea typeface="Times New Roman" panose="02020603050405020304" pitchFamily="18" charset="0"/>
              </a:rPr>
              <a:t>se produit ainsi une multiplication parasitaire dans le milieu extérieur</a:t>
            </a:r>
            <a:r>
              <a:rPr lang="fr-FR" sz="2800" spc="10" dirty="0" smtClean="0">
                <a:solidFill>
                  <a:srgbClr val="000000"/>
                </a:solidFill>
                <a:latin typeface="Tahoma" panose="020B0604030504040204" pitchFamily="34" charset="0"/>
                <a:ea typeface="Times New Roman" panose="02020603050405020304" pitchFamily="18" charset="0"/>
              </a:rPr>
              <a:t>. Les </a:t>
            </a:r>
            <a:r>
              <a:rPr lang="fr-FR" sz="2800" spc="10" dirty="0">
                <a:solidFill>
                  <a:srgbClr val="000000"/>
                </a:solidFill>
                <a:latin typeface="Tahoma" panose="020B0604030504040204" pitchFamily="34" charset="0"/>
                <a:ea typeface="Times New Roman" panose="02020603050405020304" pitchFamily="18" charset="0"/>
              </a:rPr>
              <a:t>stades ultérieurs du cycle sont identiques à ceux du </a:t>
            </a:r>
            <a:r>
              <a:rPr lang="fr-FR" sz="2600" spc="10" dirty="0">
                <a:solidFill>
                  <a:srgbClr val="000000"/>
                </a:solidFill>
                <a:latin typeface="Tahoma" panose="020B0604030504040204" pitchFamily="34" charset="0"/>
                <a:ea typeface="Times New Roman" panose="02020603050405020304" pitchFamily="18" charset="0"/>
              </a:rPr>
              <a:t>précédent</a:t>
            </a:r>
            <a:r>
              <a:rPr lang="fr-FR" sz="2000" spc="10" dirty="0">
                <a:solidFill>
                  <a:srgbClr val="000000"/>
                </a:solidFill>
                <a:latin typeface="Tahoma" panose="020B0604030504040204" pitchFamily="34" charset="0"/>
                <a:ea typeface="Times New Roman" panose="02020603050405020304" pitchFamily="18" charset="0"/>
              </a:rPr>
              <a:t>.</a:t>
            </a:r>
            <a:endParaRPr lang="fr-FR" sz="2000" spc="1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3199378218"/>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28299" y="460337"/>
            <a:ext cx="10276313" cy="686075"/>
          </a:xfrm>
        </p:spPr>
        <p:txBody>
          <a:bodyPr>
            <a:noAutofit/>
          </a:bodyPr>
          <a:lstStyle/>
          <a:p>
            <a:r>
              <a:rPr lang="fr-FR" sz="24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CYCLE INTERNE OU CYCLE D'AUTOREINFESTATION ENDOGENE</a:t>
            </a:r>
            <a:r>
              <a:rPr lang="fr-FR" sz="2400" dirty="0"/>
              <a:t/>
            </a:r>
            <a:br>
              <a:rPr lang="fr-FR" sz="2400" dirty="0"/>
            </a:br>
            <a:endParaRPr lang="fr-FR" sz="2400" dirty="0"/>
          </a:p>
        </p:txBody>
      </p:sp>
      <p:sp>
        <p:nvSpPr>
          <p:cNvPr id="3" name="Espace réservé du contenu 2"/>
          <p:cNvSpPr>
            <a:spLocks noGrp="1"/>
          </p:cNvSpPr>
          <p:nvPr>
            <p:ph idx="1"/>
          </p:nvPr>
        </p:nvSpPr>
        <p:spPr>
          <a:xfrm>
            <a:off x="791570" y="1146413"/>
            <a:ext cx="10713042" cy="5158854"/>
          </a:xfrm>
        </p:spPr>
        <p:txBody>
          <a:bodyPr>
            <a:normAutofit/>
          </a:bodyPr>
          <a:lstStyle/>
          <a:p>
            <a:pPr algn="just">
              <a:lnSpc>
                <a:spcPct val="150000"/>
              </a:lnSpc>
            </a:pPr>
            <a:r>
              <a:rPr lang="fr-FR" sz="2800" spc="10" dirty="0">
                <a:solidFill>
                  <a:srgbClr val="000000"/>
                </a:solidFill>
                <a:latin typeface="Tahoma" panose="020B0604030504040204" pitchFamily="34" charset="0"/>
                <a:ea typeface="Times New Roman" panose="02020603050405020304" pitchFamily="18" charset="0"/>
              </a:rPr>
              <a:t>C'est un cycle court, avec transformation directe des larves </a:t>
            </a:r>
            <a:r>
              <a:rPr lang="fr-FR" sz="2800" spc="10" dirty="0" err="1">
                <a:solidFill>
                  <a:srgbClr val="000000"/>
                </a:solidFill>
                <a:latin typeface="Tahoma" panose="020B0604030504040204" pitchFamily="34" charset="0"/>
                <a:ea typeface="Times New Roman" panose="02020603050405020304" pitchFamily="18" charset="0"/>
              </a:rPr>
              <a:t>rhabditoïdes</a:t>
            </a:r>
            <a:r>
              <a:rPr lang="fr-FR" sz="2800" spc="10" dirty="0">
                <a:solidFill>
                  <a:srgbClr val="000000"/>
                </a:solidFill>
                <a:latin typeface="Tahoma" panose="020B0604030504040204" pitchFamily="34" charset="0"/>
                <a:ea typeface="Times New Roman" panose="02020603050405020304" pitchFamily="18" charset="0"/>
              </a:rPr>
              <a:t> en larves </a:t>
            </a:r>
            <a:r>
              <a:rPr lang="fr-FR" sz="2800" spc="10" dirty="0" err="1">
                <a:solidFill>
                  <a:srgbClr val="000000"/>
                </a:solidFill>
                <a:latin typeface="Tahoma" panose="020B0604030504040204" pitchFamily="34" charset="0"/>
                <a:ea typeface="Times New Roman" panose="02020603050405020304" pitchFamily="18" charset="0"/>
              </a:rPr>
              <a:t>strongyloïdes</a:t>
            </a:r>
            <a:r>
              <a:rPr lang="fr-FR" sz="2800" spc="10" dirty="0">
                <a:solidFill>
                  <a:srgbClr val="000000"/>
                </a:solidFill>
                <a:latin typeface="Tahoma" panose="020B0604030504040204" pitchFamily="34" charset="0"/>
                <a:ea typeface="Times New Roman" panose="02020603050405020304" pitchFamily="18" charset="0"/>
              </a:rPr>
              <a:t> dans l'intestin du </a:t>
            </a:r>
            <a:r>
              <a:rPr lang="fr-FR" sz="2800" spc="10" dirty="0" smtClean="0">
                <a:solidFill>
                  <a:srgbClr val="000000"/>
                </a:solidFill>
                <a:latin typeface="Tahoma" panose="020B0604030504040204" pitchFamily="34" charset="0"/>
                <a:ea typeface="Times New Roman" panose="02020603050405020304" pitchFamily="18" charset="0"/>
              </a:rPr>
              <a:t>malade. </a:t>
            </a: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Les </a:t>
            </a:r>
            <a:r>
              <a:rPr lang="fr-FR" sz="2800" spc="10" dirty="0">
                <a:solidFill>
                  <a:srgbClr val="000000"/>
                </a:solidFill>
                <a:latin typeface="Tahoma" panose="020B0604030504040204" pitchFamily="34" charset="0"/>
                <a:ea typeface="Times New Roman" panose="02020603050405020304" pitchFamily="18" charset="0"/>
              </a:rPr>
              <a:t>larves </a:t>
            </a:r>
            <a:r>
              <a:rPr lang="fr-FR" sz="2800" spc="10" dirty="0" err="1" smtClean="0">
                <a:solidFill>
                  <a:srgbClr val="000000"/>
                </a:solidFill>
                <a:latin typeface="Tahoma" panose="020B0604030504040204" pitchFamily="34" charset="0"/>
                <a:ea typeface="Times New Roman" panose="02020603050405020304" pitchFamily="18" charset="0"/>
              </a:rPr>
              <a:t>strongyloïdes</a:t>
            </a:r>
            <a:r>
              <a:rPr lang="fr-FR" sz="2800" spc="10" dirty="0" smtClean="0">
                <a:solidFill>
                  <a:srgbClr val="000000"/>
                </a:solidFill>
                <a:latin typeface="Tahoma" panose="020B0604030504040204" pitchFamily="34" charset="0"/>
                <a:ea typeface="Times New Roman" panose="02020603050405020304" pitchFamily="18" charset="0"/>
              </a:rPr>
              <a:t> </a:t>
            </a:r>
            <a:r>
              <a:rPr lang="fr-FR" sz="2800" spc="10" dirty="0" err="1" smtClean="0">
                <a:solidFill>
                  <a:srgbClr val="000000"/>
                </a:solidFill>
                <a:latin typeface="Tahoma" panose="020B0604030504040204" pitchFamily="34" charset="0"/>
                <a:ea typeface="Times New Roman" panose="02020603050405020304" pitchFamily="18" charset="0"/>
              </a:rPr>
              <a:t>infestantes</a:t>
            </a:r>
            <a:r>
              <a:rPr lang="fr-FR" sz="2800" spc="10" dirty="0" smtClean="0">
                <a:solidFill>
                  <a:srgbClr val="000000"/>
                </a:solidFill>
                <a:latin typeface="Tahoma" panose="020B0604030504040204" pitchFamily="34" charset="0"/>
                <a:ea typeface="Times New Roman" panose="02020603050405020304" pitchFamily="18" charset="0"/>
              </a:rPr>
              <a:t> </a:t>
            </a:r>
            <a:r>
              <a:rPr lang="fr-FR" sz="2800" spc="10" dirty="0">
                <a:solidFill>
                  <a:srgbClr val="000000"/>
                </a:solidFill>
                <a:latin typeface="Tahoma" panose="020B0604030504040204" pitchFamily="34" charset="0"/>
                <a:ea typeface="Times New Roman" panose="02020603050405020304" pitchFamily="18" charset="0"/>
              </a:rPr>
              <a:t>vont traverser la paroi intestinale et suivre le parcours habituel. </a:t>
            </a:r>
            <a:endParaRPr lang="fr-FR" sz="2800" spc="10" dirty="0" smtClean="0">
              <a:solidFill>
                <a:srgbClr val="000000"/>
              </a:solidFill>
              <a:latin typeface="Tahoma" panose="020B0604030504040204" pitchFamily="34" charset="0"/>
              <a:ea typeface="Times New Roman" panose="02020603050405020304" pitchFamily="18" charset="0"/>
            </a:endParaRPr>
          </a:p>
          <a:p>
            <a:pPr algn="just">
              <a:lnSpc>
                <a:spcPct val="150000"/>
              </a:lnSpc>
            </a:pPr>
            <a:r>
              <a:rPr lang="fr-FR" sz="2800" spc="10" dirty="0" smtClean="0">
                <a:solidFill>
                  <a:srgbClr val="000000"/>
                </a:solidFill>
                <a:latin typeface="Tahoma" panose="020B0604030504040204" pitchFamily="34" charset="0"/>
                <a:ea typeface="Times New Roman" panose="02020603050405020304" pitchFamily="18" charset="0"/>
              </a:rPr>
              <a:t>Ceci </a:t>
            </a:r>
            <a:r>
              <a:rPr lang="fr-FR" sz="2800" spc="10" dirty="0">
                <a:solidFill>
                  <a:srgbClr val="000000"/>
                </a:solidFill>
                <a:latin typeface="Tahoma" panose="020B0604030504040204" pitchFamily="34" charset="0"/>
                <a:ea typeface="Times New Roman" panose="02020603050405020304" pitchFamily="18" charset="0"/>
              </a:rPr>
              <a:t>explique la longévité de l'affection qui peut dépasser 20 voire 30 ans, alors que la survie des femelles est relativement brève.</a:t>
            </a:r>
            <a:endParaRPr lang="fr-FR" sz="2800" spc="1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190265908"/>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rot="1984931">
            <a:off x="6858000" y="2633019"/>
            <a:ext cx="5089958" cy="567381"/>
          </a:xfrm>
        </p:spPr>
        <p:txBody>
          <a:bodyPr>
            <a:normAutofit fontScale="90000"/>
          </a:bodyPr>
          <a:lstStyle/>
          <a:p>
            <a:pPr algn="ctr"/>
            <a:r>
              <a:rPr lang="fr-FR" b="1" spc="25" dirty="0">
                <a:solidFill>
                  <a:srgbClr val="FF0000"/>
                </a:solidFill>
                <a:latin typeface="Tahoma" panose="020B0604030504040204" pitchFamily="34" charset="0"/>
                <a:ea typeface="Arial Unicode MS" panose="020B0604020202020204" pitchFamily="34" charset="-128"/>
                <a:cs typeface="Times New Roman" panose="02020603050405020304" pitchFamily="18" charset="0"/>
              </a:rPr>
              <a:t>ANGUILLULOSE</a:t>
            </a:r>
            <a:endParaRPr lang="fr-FR" dirty="0"/>
          </a:p>
        </p:txBody>
      </p:sp>
      <p:pic>
        <p:nvPicPr>
          <p:cNvPr id="4098" name="Picture 2" descr="Anguillule et anguillulose - ScienceDirec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3835" y="443345"/>
            <a:ext cx="4860819" cy="6137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745130"/>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51155"/>
            <a:ext cx="8911687" cy="686075"/>
          </a:xfrm>
        </p:spPr>
        <p:txBody>
          <a:bodyPr>
            <a:normAutofit fontScale="90000"/>
          </a:bodyPr>
          <a:lstStyle/>
          <a:p>
            <a:pPr lvl="0"/>
            <a:r>
              <a:rPr lang="fr-FR" sz="32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MANIFESTATIONS CLINIQUES</a:t>
            </a:r>
            <a:r>
              <a:rPr lang="fr-FR" sz="3200" dirty="0">
                <a:solidFill>
                  <a:srgbClr val="000000"/>
                </a:solidFill>
                <a:latin typeface="Courier New" panose="02070309020205020404" pitchFamily="49" charset="0"/>
                <a:ea typeface="Courier New" panose="02070309020205020404" pitchFamily="49" charset="0"/>
              </a:rPr>
              <a:t/>
            </a:r>
            <a:br>
              <a:rPr lang="fr-FR" sz="3200" dirty="0">
                <a:solidFill>
                  <a:srgbClr val="000000"/>
                </a:solidFill>
                <a:latin typeface="Courier New" panose="02070309020205020404" pitchFamily="49" charset="0"/>
                <a:ea typeface="Courier New" panose="02070309020205020404" pitchFamily="49" charset="0"/>
              </a:rPr>
            </a:br>
            <a:endParaRPr lang="fr-FR" sz="3200" dirty="0"/>
          </a:p>
        </p:txBody>
      </p:sp>
      <p:sp>
        <p:nvSpPr>
          <p:cNvPr id="3" name="Espace réservé du contenu 2"/>
          <p:cNvSpPr>
            <a:spLocks noGrp="1"/>
          </p:cNvSpPr>
          <p:nvPr>
            <p:ph idx="1"/>
          </p:nvPr>
        </p:nvSpPr>
        <p:spPr>
          <a:xfrm>
            <a:off x="1064525" y="1037230"/>
            <a:ext cx="10440087" cy="5172501"/>
          </a:xfrm>
        </p:spPr>
        <p:txBody>
          <a:bodyPr>
            <a:noAutofit/>
          </a:bodyPr>
          <a:lstStyle/>
          <a:p>
            <a:pPr>
              <a:lnSpc>
                <a:spcPct val="150000"/>
              </a:lnSpc>
            </a:pPr>
            <a:r>
              <a:rPr lang="fr-FR" sz="2400" dirty="0">
                <a:solidFill>
                  <a:srgbClr val="000000"/>
                </a:solidFill>
                <a:latin typeface="Tahoma" panose="020B0604030504040204" pitchFamily="34" charset="0"/>
              </a:rPr>
              <a:t>Elles se déroulent en trois phases </a:t>
            </a:r>
            <a:endParaRPr lang="fr-FR" sz="2400" dirty="0"/>
          </a:p>
          <a:p>
            <a:pPr lvl="0" algn="just">
              <a:lnSpc>
                <a:spcPct val="150000"/>
              </a:lnSpc>
              <a:buFont typeface="Wingdings" panose="05000000000000000000" pitchFamily="2" charset="2"/>
              <a:buChar char=""/>
            </a:pPr>
            <a:r>
              <a:rPr lang="fr-FR" sz="2400" b="1" spc="25" dirty="0" smtClean="0">
                <a:solidFill>
                  <a:srgbClr val="000000"/>
                </a:solidFill>
                <a:latin typeface="Tahoma" panose="020B0604030504040204" pitchFamily="34" charset="0"/>
                <a:ea typeface="Times New Roman" panose="02020603050405020304" pitchFamily="18" charset="0"/>
              </a:rPr>
              <a:t>La phase d'invasion</a:t>
            </a:r>
            <a:r>
              <a:rPr lang="fr-FR" sz="2400" b="1" spc="25" dirty="0" smtClean="0">
                <a:latin typeface="Times New Roman" panose="02020603050405020304" pitchFamily="18" charset="0"/>
                <a:ea typeface="Times New Roman" panose="02020603050405020304" pitchFamily="18" charset="0"/>
              </a:rPr>
              <a:t> </a:t>
            </a:r>
            <a:r>
              <a:rPr lang="fr-FR" sz="2400" spc="30" dirty="0" smtClean="0">
                <a:solidFill>
                  <a:srgbClr val="000000"/>
                </a:solidFill>
                <a:latin typeface="Tahoma" panose="020B0604030504040204" pitchFamily="34" charset="0"/>
                <a:ea typeface="Times New Roman" panose="02020603050405020304" pitchFamily="18" charset="0"/>
              </a:rPr>
              <a:t>est </a:t>
            </a:r>
            <a:r>
              <a:rPr lang="fr-FR" sz="2400" spc="30" dirty="0">
                <a:solidFill>
                  <a:srgbClr val="000000"/>
                </a:solidFill>
                <a:latin typeface="Tahoma" panose="020B0604030504040204" pitchFamily="34" charset="0"/>
                <a:ea typeface="Times New Roman" panose="02020603050405020304" pitchFamily="18" charset="0"/>
              </a:rPr>
              <a:t>caractérisée surtout par des manifestations cutanées, des allergies type urticaire et des manifestations pulmonaires tels que la dyspnée, la toux.</a:t>
            </a:r>
            <a:endParaRPr lang="fr-FR" sz="2400" spc="30" dirty="0">
              <a:latin typeface="Times New Roman" panose="02020603050405020304" pitchFamily="18" charset="0"/>
              <a:ea typeface="Times New Roman" panose="02020603050405020304" pitchFamily="18" charset="0"/>
            </a:endParaRPr>
          </a:p>
          <a:p>
            <a:pPr lvl="0" algn="just">
              <a:lnSpc>
                <a:spcPct val="150000"/>
              </a:lnSpc>
              <a:buFont typeface="Wingdings" panose="05000000000000000000" pitchFamily="2" charset="2"/>
              <a:buChar char=""/>
            </a:pPr>
            <a:r>
              <a:rPr lang="fr-FR" sz="2400" b="1" spc="25" dirty="0">
                <a:solidFill>
                  <a:srgbClr val="000000"/>
                </a:solidFill>
                <a:latin typeface="Tahoma" panose="020B0604030504040204" pitchFamily="34" charset="0"/>
                <a:ea typeface="Times New Roman" panose="02020603050405020304" pitchFamily="18" charset="0"/>
              </a:rPr>
              <a:t>La </a:t>
            </a:r>
            <a:r>
              <a:rPr lang="fr-FR" sz="2400" b="1" spc="25" dirty="0" smtClean="0">
                <a:solidFill>
                  <a:srgbClr val="000000"/>
                </a:solidFill>
                <a:latin typeface="Tahoma" panose="020B0604030504040204" pitchFamily="34" charset="0"/>
                <a:ea typeface="Times New Roman" panose="02020603050405020304" pitchFamily="18" charset="0"/>
              </a:rPr>
              <a:t>phase </a:t>
            </a:r>
            <a:r>
              <a:rPr lang="fr-FR" sz="2400" b="1" spc="25" dirty="0">
                <a:solidFill>
                  <a:srgbClr val="000000"/>
                </a:solidFill>
                <a:latin typeface="Tahoma" panose="020B0604030504040204" pitchFamily="34" charset="0"/>
                <a:ea typeface="Times New Roman" panose="02020603050405020304" pitchFamily="18" charset="0"/>
              </a:rPr>
              <a:t>de migration </a:t>
            </a:r>
            <a:r>
              <a:rPr lang="fr-FR" sz="2400" dirty="0" smtClean="0">
                <a:solidFill>
                  <a:srgbClr val="000000"/>
                </a:solidFill>
                <a:latin typeface="Tahoma" panose="020B0604030504040204" pitchFamily="34" charset="0"/>
              </a:rPr>
              <a:t> </a:t>
            </a:r>
            <a:r>
              <a:rPr lang="fr-FR" sz="2400" dirty="0">
                <a:solidFill>
                  <a:srgbClr val="000000"/>
                </a:solidFill>
                <a:latin typeface="Tahoma" panose="020B0604030504040204" pitchFamily="34" charset="0"/>
              </a:rPr>
              <a:t>est laryngée-pulmonaire, marquée par </a:t>
            </a:r>
            <a:r>
              <a:rPr lang="fr-FR" sz="24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une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toux avec expectoration riche encellule éosinophile, une dyspnée </a:t>
            </a:r>
            <a:r>
              <a:rPr lang="fr-FR" sz="24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asthmatiforme</a:t>
            </a:r>
            <a:r>
              <a:rPr lang="fr-FR" sz="2400" dirty="0">
                <a:ea typeface="Calibri" panose="020F0502020204030204" pitchFamily="34" charset="0"/>
                <a:cs typeface="Times New Roman" panose="02020603050405020304" pitchFamily="18" charset="0"/>
              </a:rPr>
              <a:t>  </a:t>
            </a:r>
            <a:r>
              <a:rPr lang="fr-FR" sz="2400" dirty="0" smtClean="0">
                <a:ea typeface="Calibri" panose="020F0502020204030204" pitchFamily="34" charset="0"/>
                <a:cs typeface="Times New Roman" panose="02020603050405020304" pitchFamily="18" charset="0"/>
              </a:rPr>
              <a:t>et </a:t>
            </a:r>
            <a:r>
              <a:rPr lang="fr-FR" sz="24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catarrhe des voies aériennes </a:t>
            </a:r>
            <a:r>
              <a:rPr lang="fr-FR" sz="24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supérieures</a:t>
            </a:r>
            <a:endParaRPr lang="fr-FR" sz="2400" dirty="0"/>
          </a:p>
          <a:p>
            <a:endParaRPr lang="fr-FR" sz="1400" dirty="0"/>
          </a:p>
        </p:txBody>
      </p:sp>
    </p:spTree>
    <p:extLst>
      <p:ext uri="{BB962C8B-B14F-4D97-AF65-F5344CB8AC3E}">
        <p14:creationId xmlns:p14="http://schemas.microsoft.com/office/powerpoint/2010/main" val="1377295524"/>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501254" y="491319"/>
            <a:ext cx="10003358" cy="5827594"/>
          </a:xfrm>
        </p:spPr>
        <p:txBody>
          <a:bodyPr>
            <a:normAutofit lnSpcReduction="10000"/>
          </a:bodyPr>
          <a:lstStyle/>
          <a:p>
            <a:pPr lvl="0" algn="just">
              <a:lnSpc>
                <a:spcPct val="150000"/>
              </a:lnSpc>
              <a:buFont typeface="Wingdings" panose="05000000000000000000" pitchFamily="2" charset="2"/>
              <a:buChar char=""/>
            </a:pPr>
            <a:r>
              <a:rPr lang="fr-FR" sz="2400" b="1" spc="25" dirty="0">
                <a:solidFill>
                  <a:srgbClr val="000000"/>
                </a:solidFill>
                <a:latin typeface="Tahoma" panose="020B0604030504040204" pitchFamily="34" charset="0"/>
                <a:ea typeface="Times New Roman" panose="02020603050405020304" pitchFamily="18" charset="0"/>
              </a:rPr>
              <a:t>Phase d'état </a:t>
            </a:r>
            <a:r>
              <a:rPr lang="fr-FR" sz="2400" dirty="0" smtClean="0">
                <a:solidFill>
                  <a:srgbClr val="000000"/>
                </a:solidFill>
                <a:latin typeface="Tahoma" panose="020B0604030504040204" pitchFamily="34" charset="0"/>
              </a:rPr>
              <a:t>est </a:t>
            </a:r>
            <a:r>
              <a:rPr lang="fr-FR" sz="2400" dirty="0">
                <a:solidFill>
                  <a:srgbClr val="000000"/>
                </a:solidFill>
                <a:latin typeface="Tahoma" panose="020B0604030504040204" pitchFamily="34" charset="0"/>
              </a:rPr>
              <a:t>dominée </a:t>
            </a:r>
            <a:r>
              <a:rPr lang="fr-FR" sz="2400" dirty="0" smtClean="0">
                <a:solidFill>
                  <a:srgbClr val="000000"/>
                </a:solidFill>
                <a:latin typeface="Tahoma" panose="020B0604030504040204" pitchFamily="34" charset="0"/>
              </a:rPr>
              <a:t>par </a:t>
            </a:r>
            <a:r>
              <a:rPr lang="fr-FR" sz="2400" dirty="0">
                <a:solidFill>
                  <a:srgbClr val="000000"/>
                </a:solidFill>
                <a:latin typeface="Tahoma" panose="020B0604030504040204" pitchFamily="34" charset="0"/>
              </a:rPr>
              <a:t>les signes digestifs :</a:t>
            </a:r>
            <a:endParaRPr lang="fr-FR" sz="2400" dirty="0"/>
          </a:p>
          <a:p>
            <a:pPr lvl="0" algn="just">
              <a:lnSpc>
                <a:spcPct val="150000"/>
              </a:lnSpc>
              <a:buFont typeface="Calibri" panose="020F0502020204030204" pitchFamily="34" charset="0"/>
              <a:buChar char="-"/>
            </a:pPr>
            <a:r>
              <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Duodénite </a:t>
            </a:r>
            <a:r>
              <a:rPr lang="fr-FR" sz="2400"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faite de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douleurs siégeant au niveau de l'épigastre ou de l’hypocondre droit, parfois plus bas, variables en intensité, capricieuses, ni rythmées par les repas, ni périodiques dans l'année.</a:t>
            </a:r>
            <a:endParaRPr lang="fr-FR" sz="2400" dirty="0">
              <a:ea typeface="Calibri" panose="020F0502020204030204" pitchFamily="34" charset="0"/>
              <a:cs typeface="Times New Roman" panose="02020603050405020304" pitchFamily="18" charset="0"/>
            </a:endParaRPr>
          </a:p>
          <a:p>
            <a:pPr algn="just">
              <a:lnSpc>
                <a:spcPct val="150000"/>
              </a:lnSpc>
            </a:pPr>
            <a:r>
              <a:rPr lang="fr-FR" sz="2400" dirty="0">
                <a:solidFill>
                  <a:srgbClr val="000000"/>
                </a:solidFill>
                <a:latin typeface="Tahoma" panose="020B0604030504040204" pitchFamily="34" charset="0"/>
              </a:rPr>
              <a:t>Troubles du transit à type de diarrhée ou d’alternance de diarrhée et de constipation.</a:t>
            </a:r>
            <a:endParaRPr lang="fr-FR" sz="2400" dirty="0"/>
          </a:p>
          <a:p>
            <a:pPr lvl="0" algn="just">
              <a:lnSpc>
                <a:spcPct val="150000"/>
              </a:lnSpc>
              <a:buFont typeface="Calibri" panose="020F0502020204030204" pitchFamily="34" charset="0"/>
              <a:buChar char="-"/>
            </a:pPr>
            <a:r>
              <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Signes cutanés </a:t>
            </a:r>
            <a:r>
              <a:rPr lang="fr-FR" sz="240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sont</a:t>
            </a:r>
            <a:r>
              <a:rPr lang="fr-FR" sz="24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faits d’urticaire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banal et un </a:t>
            </a:r>
            <a:r>
              <a:rPr lang="fr-FR" sz="24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larvacurreus</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 (dermatite linéaire, rampante, entraînée, serpigineuse, érythémateuse, </a:t>
            </a:r>
            <a:r>
              <a:rPr lang="fr-FR" sz="24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partant </a:t>
            </a: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de l'orifice anale, ou survenant en bande au niveau de l’aisselle ou du thorax.</a:t>
            </a:r>
            <a:endParaRPr lang="fr-FR" sz="24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725480429"/>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92072" y="351155"/>
            <a:ext cx="10112540" cy="467711"/>
          </a:xfrm>
        </p:spPr>
        <p:txBody>
          <a:bodyPr>
            <a:normAutofit fontScale="90000"/>
          </a:bodyPr>
          <a:lstStyle/>
          <a:p>
            <a:pPr lvl="0"/>
            <a:r>
              <a:rPr lang="fr-FR" sz="3100" b="1" u="sng" spc="25" dirty="0">
                <a:solidFill>
                  <a:srgbClr val="0070C0"/>
                </a:solidFill>
                <a:latin typeface="Tahoma" panose="020B0604030504040204" pitchFamily="34" charset="0"/>
                <a:ea typeface="Arial Unicode MS" panose="020B0604020202020204" pitchFamily="34" charset="-128"/>
                <a:cs typeface="Times New Roman" panose="02020603050405020304" pitchFamily="18" charset="0"/>
              </a:rPr>
              <a:t>ANGUILLULOSE DISSÉMINÉE OU MALIGNE</a:t>
            </a:r>
            <a:r>
              <a:rPr lang="fr-FR" dirty="0">
                <a:solidFill>
                  <a:srgbClr val="000000"/>
                </a:solidFill>
                <a:latin typeface="Courier New" panose="02070309020205020404" pitchFamily="49" charset="0"/>
                <a:ea typeface="Arial Unicode MS" panose="020B0604020202020204" pitchFamily="34" charset="-128"/>
              </a:rPr>
              <a:t/>
            </a:r>
            <a:br>
              <a:rPr lang="fr-FR"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723331" y="1023582"/>
            <a:ext cx="10781281" cy="5322627"/>
          </a:xfrm>
        </p:spPr>
        <p:txBody>
          <a:bodyPr>
            <a:noAutofit/>
          </a:bodyPr>
          <a:lstStyle/>
          <a:p>
            <a:pPr algn="just">
              <a:lnSpc>
                <a:spcPct val="150000"/>
              </a:lnSpc>
            </a:pPr>
            <a:r>
              <a:rPr lang="fr-FR" sz="2600" dirty="0">
                <a:solidFill>
                  <a:srgbClr val="000000"/>
                </a:solidFill>
                <a:latin typeface="Tahoma" panose="020B0604030504040204" pitchFamily="34" charset="0"/>
              </a:rPr>
              <a:t>Elle est due à un emballement du cycle d'auto infestation interne et conduit à une augmentation massive des larves en circulation « hyper infection » puis à leur dissémination dans tout l'organisme (anguillulose disséminée). </a:t>
            </a:r>
            <a:endParaRPr lang="fr-FR" sz="2600" dirty="0" smtClean="0">
              <a:solidFill>
                <a:srgbClr val="000000"/>
              </a:solidFill>
              <a:latin typeface="Tahoma" panose="020B0604030504040204" pitchFamily="34" charset="0"/>
            </a:endParaRPr>
          </a:p>
          <a:p>
            <a:pPr algn="just">
              <a:lnSpc>
                <a:spcPct val="150000"/>
              </a:lnSpc>
            </a:pPr>
            <a:r>
              <a:rPr lang="fr-FR" sz="2600" dirty="0" smtClean="0">
                <a:solidFill>
                  <a:srgbClr val="000000"/>
                </a:solidFill>
                <a:latin typeface="Tahoma" panose="020B0604030504040204" pitchFamily="34" charset="0"/>
              </a:rPr>
              <a:t>Lors </a:t>
            </a:r>
            <a:r>
              <a:rPr lang="fr-FR" sz="2600" dirty="0">
                <a:solidFill>
                  <a:srgbClr val="000000"/>
                </a:solidFill>
                <a:latin typeface="Tahoma" panose="020B0604030504040204" pitchFamily="34" charset="0"/>
              </a:rPr>
              <a:t>de cette diffusion, les parasites entrainent avec eux des germes fécaux qui contribuent à la forte mortalité observée dans l’anguillulose maligne.</a:t>
            </a:r>
            <a:endParaRPr lang="fr-FR" sz="2600" dirty="0"/>
          </a:p>
          <a:p>
            <a:pPr algn="just">
              <a:lnSpc>
                <a:spcPct val="150000"/>
              </a:lnSpc>
            </a:pPr>
            <a:r>
              <a:rPr lang="fr-FR" sz="2600" dirty="0">
                <a:solidFill>
                  <a:srgbClr val="000000"/>
                </a:solidFill>
                <a:latin typeface="Tahoma" panose="020B0604030504040204" pitchFamily="34" charset="0"/>
              </a:rPr>
              <a:t>La gravité de cette forme justifie un traitement systématique, chez un sujet susceptible d'avoir été infesté, avant d'entreprendre une corticothérapie.</a:t>
            </a:r>
            <a:endParaRPr lang="fr-FR" sz="2600" dirty="0"/>
          </a:p>
          <a:p>
            <a:pPr algn="just"/>
            <a:endParaRPr lang="fr-FR" sz="2600" dirty="0"/>
          </a:p>
        </p:txBody>
      </p:sp>
    </p:spTree>
    <p:extLst>
      <p:ext uri="{BB962C8B-B14F-4D97-AF65-F5344CB8AC3E}">
        <p14:creationId xmlns:p14="http://schemas.microsoft.com/office/powerpoint/2010/main" val="1980758957"/>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900753" y="341194"/>
            <a:ext cx="10603860" cy="4628332"/>
          </a:xfrm>
        </p:spPr>
        <p:txBody>
          <a:bodyPr>
            <a:noAutofit/>
          </a:bodyPr>
          <a:lstStyle/>
          <a:p>
            <a:pPr marL="457200" lvl="1" indent="0" algn="just">
              <a:lnSpc>
                <a:spcPct val="150000"/>
              </a:lnSpc>
              <a:buNone/>
            </a:pPr>
            <a:r>
              <a:rPr lang="fr-FR" sz="2800"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Diagnostic</a:t>
            </a:r>
            <a:endParaRPr lang="fr-FR" sz="2800" dirty="0">
              <a:solidFill>
                <a:srgbClr val="000000"/>
              </a:solidFill>
              <a:latin typeface="Courier New" panose="02070309020205020404" pitchFamily="49" charset="0"/>
              <a:ea typeface="Courier New" panose="02070309020205020404" pitchFamily="49" charset="0"/>
            </a:endParaRPr>
          </a:p>
          <a:p>
            <a:pPr lvl="0">
              <a:lnSpc>
                <a:spcPct val="150000"/>
              </a:lnSpc>
              <a:buFont typeface="Wingdings" panose="05000000000000000000" pitchFamily="2" charset="2"/>
              <a:buChar char=""/>
            </a:pPr>
            <a:r>
              <a:rPr lang="fr-FR" sz="2800" dirty="0">
                <a:solidFill>
                  <a:srgbClr val="000000"/>
                </a:solidFill>
                <a:latin typeface="Tahoma" panose="020B0604030504040204" pitchFamily="34" charset="0"/>
              </a:rPr>
              <a:t>Penser à l'anguillulose devant une </a:t>
            </a:r>
            <a:r>
              <a:rPr lang="fr-FR" sz="2800" dirty="0" err="1">
                <a:solidFill>
                  <a:srgbClr val="000000"/>
                </a:solidFill>
                <a:latin typeface="Tahoma" panose="020B0604030504040204" pitchFamily="34" charset="0"/>
              </a:rPr>
              <a:t>hyperéosinophilie</a:t>
            </a:r>
            <a:r>
              <a:rPr lang="fr-FR" sz="2800" dirty="0">
                <a:solidFill>
                  <a:srgbClr val="000000"/>
                </a:solidFill>
                <a:latin typeface="Tahoma" panose="020B0604030504040204" pitchFamily="34" charset="0"/>
              </a:rPr>
              <a:t> sanguine &gt; 500 </a:t>
            </a:r>
            <a:r>
              <a:rPr lang="fr-FR" sz="2800" dirty="0" err="1">
                <a:solidFill>
                  <a:srgbClr val="000000"/>
                </a:solidFill>
                <a:latin typeface="Tahoma" panose="020B0604030504040204" pitchFamily="34" charset="0"/>
              </a:rPr>
              <a:t>éosiono</a:t>
            </a:r>
            <a:r>
              <a:rPr lang="fr-FR" sz="2800" dirty="0">
                <a:solidFill>
                  <a:srgbClr val="000000"/>
                </a:solidFill>
                <a:latin typeface="Tahoma" panose="020B0604030504040204" pitchFamily="34" charset="0"/>
              </a:rPr>
              <a:t>/mm3 de sang: Cette </a:t>
            </a:r>
            <a:r>
              <a:rPr lang="fr-FR" sz="2800" dirty="0" err="1">
                <a:solidFill>
                  <a:srgbClr val="000000"/>
                </a:solidFill>
                <a:latin typeface="Tahoma" panose="020B0604030504040204" pitchFamily="34" charset="0"/>
              </a:rPr>
              <a:t>hyperéosinophilie</a:t>
            </a:r>
            <a:r>
              <a:rPr lang="fr-FR" sz="2800" dirty="0">
                <a:solidFill>
                  <a:srgbClr val="000000"/>
                </a:solidFill>
                <a:latin typeface="Tahoma" panose="020B0604030504040204" pitchFamily="34" charset="0"/>
              </a:rPr>
              <a:t> évolue en dents de </a:t>
            </a:r>
            <a:r>
              <a:rPr lang="fr-FR" sz="2800" dirty="0" smtClean="0">
                <a:solidFill>
                  <a:srgbClr val="000000"/>
                </a:solidFill>
                <a:latin typeface="Tahoma" panose="020B0604030504040204" pitchFamily="34" charset="0"/>
              </a:rPr>
              <a:t>scie.</a:t>
            </a:r>
          </a:p>
          <a:p>
            <a:pPr marL="0" lvl="0" indent="0">
              <a:lnSpc>
                <a:spcPct val="150000"/>
              </a:lnSpc>
              <a:buNone/>
            </a:pPr>
            <a:r>
              <a:rPr lang="fr-FR" sz="2800" dirty="0" smtClean="0">
                <a:solidFill>
                  <a:srgbClr val="000000"/>
                </a:solidFill>
                <a:latin typeface="Tahoma" panose="020B0604030504040204" pitchFamily="34" charset="0"/>
              </a:rPr>
              <a:t> La </a:t>
            </a:r>
            <a:r>
              <a:rPr lang="fr-FR" sz="2800" dirty="0">
                <a:solidFill>
                  <a:srgbClr val="000000"/>
                </a:solidFill>
                <a:latin typeface="Tahoma" panose="020B0604030504040204" pitchFamily="34" charset="0"/>
              </a:rPr>
              <a:t>mise en évidence des larves </a:t>
            </a:r>
            <a:r>
              <a:rPr lang="fr-FR" sz="2800" dirty="0" err="1">
                <a:solidFill>
                  <a:srgbClr val="000000"/>
                </a:solidFill>
                <a:latin typeface="Tahoma" panose="020B0604030504040204" pitchFamily="34" charset="0"/>
              </a:rPr>
              <a:t>rhabditoïdes</a:t>
            </a:r>
            <a:r>
              <a:rPr lang="fr-FR" sz="2800" dirty="0">
                <a:solidFill>
                  <a:srgbClr val="000000"/>
                </a:solidFill>
                <a:latin typeface="Tahoma" panose="020B0604030504040204" pitchFamily="34" charset="0"/>
              </a:rPr>
              <a:t> dans les selles </a:t>
            </a:r>
            <a:r>
              <a:rPr lang="fr-FR" sz="2800" dirty="0" smtClean="0">
                <a:solidFill>
                  <a:srgbClr val="000000"/>
                </a:solidFill>
                <a:latin typeface="Tahoma" panose="020B0604030504040204" pitchFamily="34" charset="0"/>
              </a:rPr>
              <a:t>fraîches.</a:t>
            </a:r>
            <a:r>
              <a:rPr lang="fr-FR" sz="2800" dirty="0"/>
              <a:t> </a:t>
            </a:r>
            <a:endParaRPr lang="fr-FR" sz="2800" dirty="0" smtClean="0"/>
          </a:p>
          <a:p>
            <a:pPr marL="0" lvl="0" indent="0">
              <a:lnSpc>
                <a:spcPct val="150000"/>
              </a:lnSpc>
              <a:buNone/>
            </a:pPr>
            <a:r>
              <a:rPr lang="fr-FR" sz="2800" b="1" u="sng" spc="25" dirty="0" smtClean="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Traitement:</a:t>
            </a:r>
            <a:r>
              <a:rPr lang="fr-FR" sz="2800" dirty="0">
                <a:solidFill>
                  <a:srgbClr val="000000"/>
                </a:solidFill>
                <a:latin typeface="Courier New" panose="02070309020205020404" pitchFamily="49" charset="0"/>
                <a:ea typeface="Arial Unicode MS" panose="020B0604020202020204" pitchFamily="34" charset="-128"/>
              </a:rPr>
              <a:t> </a:t>
            </a:r>
            <a:r>
              <a:rPr lang="fr-FR" sz="2800" dirty="0" err="1" smtClean="0">
                <a:solidFill>
                  <a:srgbClr val="000000"/>
                </a:solidFill>
                <a:latin typeface="Tahoma" panose="020B0604030504040204" pitchFamily="34" charset="0"/>
              </a:rPr>
              <a:t>Thiabendazole</a:t>
            </a:r>
            <a:r>
              <a:rPr lang="fr-FR" sz="2800" dirty="0" smtClean="0">
                <a:solidFill>
                  <a:srgbClr val="000000"/>
                </a:solidFill>
                <a:latin typeface="Tahoma" panose="020B0604030504040204" pitchFamily="34" charset="0"/>
              </a:rPr>
              <a:t> </a:t>
            </a:r>
            <a:r>
              <a:rPr lang="fr-FR" sz="2800" dirty="0">
                <a:solidFill>
                  <a:srgbClr val="000000"/>
                </a:solidFill>
                <a:latin typeface="Tahoma" panose="020B0604030504040204" pitchFamily="34" charset="0"/>
              </a:rPr>
              <a:t>(</a:t>
            </a:r>
            <a:r>
              <a:rPr lang="fr-FR" sz="2800" dirty="0" err="1">
                <a:solidFill>
                  <a:srgbClr val="000000"/>
                </a:solidFill>
                <a:latin typeface="Tahoma" panose="020B0604030504040204" pitchFamily="34" charset="0"/>
              </a:rPr>
              <a:t>Mintezol</a:t>
            </a:r>
            <a:r>
              <a:rPr lang="fr-FR" sz="2800" dirty="0">
                <a:solidFill>
                  <a:srgbClr val="000000"/>
                </a:solidFill>
                <a:latin typeface="Tahoma" panose="020B0604030504040204" pitchFamily="34" charset="0"/>
              </a:rPr>
              <a:t>) </a:t>
            </a:r>
            <a:r>
              <a:rPr lang="fr-FR" sz="2800" dirty="0" smtClean="0">
                <a:solidFill>
                  <a:srgbClr val="000000"/>
                </a:solidFill>
                <a:latin typeface="Tahoma" panose="020B0604030504040204" pitchFamily="34" charset="0"/>
              </a:rPr>
              <a:t> à la posologie </a:t>
            </a:r>
            <a:r>
              <a:rPr lang="fr-FR" sz="2800" dirty="0">
                <a:solidFill>
                  <a:srgbClr val="000000"/>
                </a:solidFill>
                <a:latin typeface="Tahoma" panose="020B0604030504040204" pitchFamily="34" charset="0"/>
              </a:rPr>
              <a:t>: 50 mg/kg en dose unique 25 mg/kg pendant 3 jours, dose répétée</a:t>
            </a:r>
            <a:r>
              <a:rPr lang="fr-FR" sz="2800" dirty="0" smtClean="0">
                <a:solidFill>
                  <a:srgbClr val="000000"/>
                </a:solidFill>
                <a:latin typeface="Tahoma" panose="020B0604030504040204" pitchFamily="34" charset="0"/>
              </a:rPr>
              <a:t>.</a:t>
            </a:r>
            <a:endParaRPr lang="fr-FR" sz="2800" dirty="0"/>
          </a:p>
          <a:p>
            <a:pPr>
              <a:lnSpc>
                <a:spcPct val="150000"/>
              </a:lnSpc>
            </a:pPr>
            <a:r>
              <a:rPr lang="fr-FR" sz="2800" i="1" dirty="0" err="1" smtClean="0">
                <a:latin typeface="Tahoma" panose="020B0604030504040204" pitchFamily="34" charset="0"/>
              </a:rPr>
              <a:t>Albendazole</a:t>
            </a:r>
            <a:r>
              <a:rPr lang="fr-FR" sz="2800" i="1" spc="-1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r>
              <a:rPr lang="fr-FR" sz="2800" b="1" i="1" spc="-15"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Zentel</a:t>
            </a:r>
            <a:r>
              <a:rPr lang="fr-FR" sz="2800" i="1" spc="-15" dirty="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2800" i="1" spc="-1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 la </a:t>
            </a:r>
            <a:r>
              <a:rPr lang="fr-FR" sz="2800" dirty="0" smtClean="0">
                <a:latin typeface="Tahoma" panose="020B0604030504040204" pitchFamily="34" charset="0"/>
              </a:rPr>
              <a:t>Posologie</a:t>
            </a:r>
            <a:r>
              <a:rPr lang="fr-FR" sz="2800" i="1" dirty="0">
                <a:latin typeface="Tahoma" panose="020B0604030504040204" pitchFamily="34" charset="0"/>
              </a:rPr>
              <a:t>: 15 mg/kg</a:t>
            </a:r>
            <a:endParaRPr lang="fr-FR" sz="2800" dirty="0"/>
          </a:p>
          <a:p>
            <a:endParaRPr lang="fr-FR" sz="600" dirty="0"/>
          </a:p>
        </p:txBody>
      </p:sp>
    </p:spTree>
    <p:extLst>
      <p:ext uri="{BB962C8B-B14F-4D97-AF65-F5344CB8AC3E}">
        <p14:creationId xmlns:p14="http://schemas.microsoft.com/office/powerpoint/2010/main" val="2184933246"/>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67962"/>
          </a:xfrm>
        </p:spPr>
        <p:txBody>
          <a:bodyPr>
            <a:noAutofit/>
          </a:bodyPr>
          <a:lstStyle/>
          <a:p>
            <a:pPr lvl="0" algn="ctr"/>
            <a:r>
              <a:rPr lang="fr-FR"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OXYUROSE</a:t>
            </a:r>
            <a:r>
              <a:rPr lang="fr-FR" dirty="0">
                <a:solidFill>
                  <a:srgbClr val="000000"/>
                </a:solidFill>
                <a:latin typeface="Courier New" panose="02070309020205020404" pitchFamily="49" charset="0"/>
                <a:ea typeface="Arial Unicode MS" panose="020B0604020202020204" pitchFamily="34" charset="-128"/>
              </a:rPr>
              <a:t/>
            </a:r>
            <a:br>
              <a:rPr lang="fr-FR"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982639" y="1173707"/>
            <a:ext cx="10521973" cy="5227093"/>
          </a:xfrm>
        </p:spPr>
        <p:txBody>
          <a:bodyPr>
            <a:normAutofit/>
          </a:bodyPr>
          <a:lstStyle/>
          <a:p>
            <a:pPr marL="0" lvl="0" indent="0" algn="just">
              <a:lnSpc>
                <a:spcPct val="150000"/>
              </a:lnSpc>
              <a:buNone/>
            </a:pPr>
            <a:r>
              <a:rPr lang="fr-FR" sz="2800"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DEFINITION</a:t>
            </a:r>
            <a:endParaRPr lang="fr-FR" sz="2800" dirty="0">
              <a:solidFill>
                <a:srgbClr val="000000"/>
              </a:solidFill>
              <a:latin typeface="Courier New" panose="02070309020205020404" pitchFamily="49" charset="0"/>
              <a:ea typeface="Courier New" panose="02070309020205020404" pitchFamily="49" charset="0"/>
            </a:endParaRPr>
          </a:p>
          <a:p>
            <a:pPr algn="just">
              <a:lnSpc>
                <a:spcPct val="150000"/>
              </a:lnSpc>
            </a:pPr>
            <a:r>
              <a:rPr lang="fr-FR" sz="2800" dirty="0" smtClean="0">
                <a:solidFill>
                  <a:srgbClr val="000000"/>
                </a:solidFill>
                <a:latin typeface="Tahoma" panose="020B0604030504040204" pitchFamily="34" charset="0"/>
              </a:rPr>
              <a:t>L'OXYUROSE EST UNE AFFECTION COSMOPOLITE BÉNIGNE STRICTEMENT HUMAINE, DUE À LA PRÉSENCE DANS LE RECTUM ET DE L'ANUS D'UN VER NÉMATODE: L'OXYURE OU ENTEROBIUS VERMICULARIS FRÉQUENTE CHEZ LES ENFANTS.</a:t>
            </a:r>
            <a:endParaRPr lang="fr-FR" sz="2800" dirty="0" smtClean="0"/>
          </a:p>
          <a:p>
            <a:endParaRPr lang="fr-FR" dirty="0"/>
          </a:p>
        </p:txBody>
      </p:sp>
    </p:spTree>
    <p:extLst>
      <p:ext uri="{BB962C8B-B14F-4D97-AF65-F5344CB8AC3E}">
        <p14:creationId xmlns:p14="http://schemas.microsoft.com/office/powerpoint/2010/main" val="2276701660"/>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fr-FR"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DESCRIPTION DU PARASITE</a:t>
            </a:r>
            <a:r>
              <a:rPr lang="fr-FR" dirty="0">
                <a:solidFill>
                  <a:srgbClr val="000000"/>
                </a:solidFill>
                <a:latin typeface="Courier New" panose="02070309020205020404" pitchFamily="49" charset="0"/>
                <a:ea typeface="Courier New" panose="02070309020205020404" pitchFamily="49" charset="0"/>
              </a:rPr>
              <a:t/>
            </a:r>
            <a:br>
              <a:rPr lang="fr-FR"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1288473" y="1413163"/>
            <a:ext cx="10216139" cy="4862945"/>
          </a:xfrm>
        </p:spPr>
        <p:txBody>
          <a:bodyPr>
            <a:normAutofit/>
          </a:bodyPr>
          <a:lstStyle/>
          <a:p>
            <a:pPr indent="-927100" algn="just">
              <a:lnSpc>
                <a:spcPct val="150000"/>
              </a:lnSpc>
              <a:spcBef>
                <a:spcPts val="300"/>
              </a:spcBef>
            </a:pPr>
            <a:r>
              <a:rPr lang="fr-FR" sz="2800" spc="10" dirty="0" smtClean="0">
                <a:solidFill>
                  <a:srgbClr val="000000"/>
                </a:solidFill>
                <a:latin typeface="Tahoma" panose="020B0604030504040204" pitchFamily="34" charset="0"/>
                <a:ea typeface="Times New Roman" panose="02020603050405020304" pitchFamily="18" charset="0"/>
              </a:rPr>
              <a:t>C'EST </a:t>
            </a:r>
            <a:r>
              <a:rPr lang="fr-FR" sz="2800" spc="10" dirty="0">
                <a:solidFill>
                  <a:srgbClr val="000000"/>
                </a:solidFill>
                <a:latin typeface="Tahoma" panose="020B0604030504040204" pitchFamily="34" charset="0"/>
                <a:ea typeface="Times New Roman" panose="02020603050405020304" pitchFamily="18" charset="0"/>
              </a:rPr>
              <a:t>UN PETIT VER ROND, TRÈS FIN COMME UN CHEVEU DE COULEUR BLANCHE, MESURE 8 À 13 MM DE LONG POUR LA FEMELLE ET 2 À 3 MM DE LONG POUR LE MÂLE. LE COUPLE VIT DANS LA RÉGION CAECO-APPENDICULAIRE FIXÉ À LA MUQUEUSE.</a:t>
            </a:r>
            <a:endParaRPr lang="fr-FR" sz="2800" spc="10" dirty="0">
              <a:latin typeface="Times New Roman" panose="02020603050405020304" pitchFamily="18" charset="0"/>
              <a:ea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3335398903"/>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42699" y="624110"/>
            <a:ext cx="9361913" cy="740666"/>
          </a:xfrm>
        </p:spPr>
        <p:txBody>
          <a:bodyPr>
            <a:noAutofit/>
          </a:bodyPr>
          <a:lstStyle/>
          <a:p>
            <a:pPr lvl="0" algn="ctr"/>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MODE DE CONTAMINATION-CYCLE BIOLOGIQUE</a:t>
            </a:r>
            <a:r>
              <a:rPr lang="fr-FR" sz="2800" dirty="0">
                <a:solidFill>
                  <a:srgbClr val="000000"/>
                </a:solidFill>
                <a:latin typeface="Courier New" panose="02070309020205020404" pitchFamily="49" charset="0"/>
                <a:ea typeface="Courier New" panose="02070309020205020404" pitchFamily="49" charset="0"/>
              </a:rPr>
              <a:t/>
            </a:r>
            <a:br>
              <a:rPr lang="fr-FR" sz="2800" dirty="0">
                <a:solidFill>
                  <a:srgbClr val="000000"/>
                </a:solidFill>
                <a:latin typeface="Courier New" panose="02070309020205020404" pitchFamily="49" charset="0"/>
                <a:ea typeface="Courier New" panose="02070309020205020404" pitchFamily="49" charset="0"/>
              </a:rPr>
            </a:br>
            <a:endParaRPr lang="fr-FR" sz="2800" dirty="0"/>
          </a:p>
        </p:txBody>
      </p:sp>
      <p:sp>
        <p:nvSpPr>
          <p:cNvPr id="3" name="Espace réservé du contenu 2"/>
          <p:cNvSpPr>
            <a:spLocks noGrp="1"/>
          </p:cNvSpPr>
          <p:nvPr>
            <p:ph idx="1"/>
          </p:nvPr>
        </p:nvSpPr>
        <p:spPr>
          <a:xfrm>
            <a:off x="996287" y="1241946"/>
            <a:ext cx="10508325" cy="5131558"/>
          </a:xfrm>
        </p:spPr>
        <p:txBody>
          <a:bodyPr>
            <a:normAutofit fontScale="85000" lnSpcReduction="20000"/>
          </a:bodyPr>
          <a:lstStyle/>
          <a:p>
            <a:pPr algn="just">
              <a:lnSpc>
                <a:spcPct val="150000"/>
              </a:lnSpc>
            </a:pPr>
            <a:r>
              <a:rPr lang="fr-FR" sz="3000" dirty="0">
                <a:solidFill>
                  <a:srgbClr val="000000"/>
                </a:solidFill>
                <a:latin typeface="Tahoma" panose="020B0604030504040204" pitchFamily="34" charset="0"/>
              </a:rPr>
              <a:t>Les femelles fécondées migrent jusqu'au rectum et se fixent à la marge anale, elles y pondent des milliers d'œufs </a:t>
            </a:r>
            <a:r>
              <a:rPr lang="fr-FR" sz="3000" dirty="0" err="1">
                <a:solidFill>
                  <a:srgbClr val="000000"/>
                </a:solidFill>
                <a:latin typeface="Tahoma" panose="020B0604030504040204" pitchFamily="34" charset="0"/>
              </a:rPr>
              <a:t>embryonnés</a:t>
            </a:r>
            <a:r>
              <a:rPr lang="fr-FR" sz="3000" dirty="0">
                <a:solidFill>
                  <a:srgbClr val="000000"/>
                </a:solidFill>
                <a:latin typeface="Tahoma" panose="020B0604030504040204" pitchFamily="34" charset="0"/>
              </a:rPr>
              <a:t>, d'emblée infestant. Le malade répand ainsi autour de lui des milliers d'œufs et contamine son entourage, familial et scolaire. Lorsqu'ils sont ingérés, ces œufs libèrent dans, l'estomac, une larve qui devient adulte dans l'iléon terminal en 3 semaines.</a:t>
            </a:r>
            <a:endParaRPr lang="fr-FR" sz="3000" dirty="0"/>
          </a:p>
          <a:p>
            <a:pPr algn="just">
              <a:lnSpc>
                <a:spcPct val="150000"/>
              </a:lnSpc>
            </a:pPr>
            <a:r>
              <a:rPr lang="fr-FR" sz="3000" dirty="0">
                <a:solidFill>
                  <a:srgbClr val="000000"/>
                </a:solidFill>
                <a:latin typeface="Tahoma" panose="020B0604030504040204" pitchFamily="34" charset="0"/>
              </a:rPr>
              <a:t>L'auto ré-infestation est fréquente chez l'enfant peu soucieux des règles d'hygiènes: en cherchant à soulager son prurit anal, il souille ses mains d'œufs qu'il avale ensuite.</a:t>
            </a:r>
            <a:endParaRPr lang="fr-FR" sz="3000" dirty="0"/>
          </a:p>
          <a:p>
            <a:endParaRPr lang="fr-FR" dirty="0"/>
          </a:p>
        </p:txBody>
      </p:sp>
    </p:spTree>
    <p:extLst>
      <p:ext uri="{BB962C8B-B14F-4D97-AF65-F5344CB8AC3E}">
        <p14:creationId xmlns:p14="http://schemas.microsoft.com/office/powerpoint/2010/main" val="2593991739"/>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22799"/>
          </a:xfrm>
        </p:spPr>
        <p:txBody>
          <a:bodyPr>
            <a:normAutofit fontScale="90000"/>
          </a:bodyPr>
          <a:lstStyle/>
          <a:p>
            <a:pPr algn="ctr"/>
            <a:r>
              <a:rPr lang="fr-FR" b="1" dirty="0" smtClean="0">
                <a:solidFill>
                  <a:schemeClr val="accent1"/>
                </a:solidFill>
              </a:rPr>
              <a:t>OXYURE</a:t>
            </a:r>
            <a:endParaRPr lang="fr-FR" b="1" dirty="0">
              <a:solidFill>
                <a:schemeClr val="accent1"/>
              </a:solidFill>
            </a:endParaRPr>
          </a:p>
        </p:txBody>
      </p:sp>
      <p:pic>
        <p:nvPicPr>
          <p:cNvPr id="5122" name="Picture 2" descr="Oxyurose — Wikipédi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4" y="1246910"/>
            <a:ext cx="8911687" cy="512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388130"/>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549597"/>
          </a:xfrm>
        </p:spPr>
        <p:txBody>
          <a:bodyPr>
            <a:normAutofit fontScale="90000"/>
          </a:bodyPr>
          <a:lstStyle/>
          <a:p>
            <a:pPr lvl="0"/>
            <a:r>
              <a:rPr lang="fr-FR"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MANIFESTATIONS CLINIQUES</a:t>
            </a:r>
            <a:r>
              <a:rPr lang="fr-FR" dirty="0">
                <a:solidFill>
                  <a:srgbClr val="000000"/>
                </a:solidFill>
                <a:latin typeface="Courier New" panose="02070309020205020404" pitchFamily="49" charset="0"/>
                <a:ea typeface="Courier New" panose="02070309020205020404" pitchFamily="49" charset="0"/>
              </a:rPr>
              <a:t/>
            </a:r>
            <a:br>
              <a:rPr lang="fr-FR"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846161" y="1173707"/>
            <a:ext cx="10658451" cy="5363571"/>
          </a:xfrm>
        </p:spPr>
        <p:txBody>
          <a:bodyPr>
            <a:normAutofit fontScale="85000" lnSpcReduction="20000"/>
          </a:bodyPr>
          <a:lstStyle/>
          <a:p>
            <a:pPr>
              <a:lnSpc>
                <a:spcPct val="150000"/>
              </a:lnSpc>
            </a:pPr>
            <a:r>
              <a:rPr lang="fr-FR" sz="2800" dirty="0">
                <a:solidFill>
                  <a:srgbClr val="000000"/>
                </a:solidFill>
                <a:latin typeface="Tahoma" panose="020B0604030504040204" pitchFamily="34" charset="0"/>
              </a:rPr>
              <a:t>L'oxyurose est souvent latente. Le signe pathognomonique est le prurit anal, il est très intense, le plus souvent vespéral ou nocturne, responsable de surinfection.</a:t>
            </a:r>
            <a:endParaRPr lang="fr-FR" sz="2800" dirty="0"/>
          </a:p>
          <a:p>
            <a:pPr>
              <a:lnSpc>
                <a:spcPct val="150000"/>
              </a:lnSpc>
            </a:pPr>
            <a:r>
              <a:rPr lang="fr-FR" sz="2800" dirty="0">
                <a:solidFill>
                  <a:srgbClr val="000000"/>
                </a:solidFill>
                <a:latin typeface="Tahoma" panose="020B0604030504040204" pitchFamily="34" charset="0"/>
              </a:rPr>
              <a:t>Chez la petite fille, les femelles remontant jusqu'à la vulve sont responsables de vulvites ou de vulvo-vaginites.</a:t>
            </a:r>
            <a:endParaRPr lang="fr-FR" sz="2800" dirty="0"/>
          </a:p>
          <a:p>
            <a:pPr>
              <a:lnSpc>
                <a:spcPct val="150000"/>
              </a:lnSpc>
            </a:pPr>
            <a:r>
              <a:rPr lang="fr-FR" sz="2800" dirty="0">
                <a:solidFill>
                  <a:srgbClr val="000000"/>
                </a:solidFill>
                <a:latin typeface="Tahoma" panose="020B0604030504040204" pitchFamily="34" charset="0"/>
              </a:rPr>
              <a:t>Des troubles digestifs sont possibles, mais peu évocateurs : douleurs de la fosse iliaque droite, des troubles du transit, anorexie.</a:t>
            </a:r>
            <a:endParaRPr lang="fr-FR" sz="2800" dirty="0"/>
          </a:p>
          <a:p>
            <a:pPr>
              <a:lnSpc>
                <a:spcPct val="150000"/>
              </a:lnSpc>
            </a:pPr>
            <a:r>
              <a:rPr lang="fr-FR" sz="2800" dirty="0">
                <a:solidFill>
                  <a:srgbClr val="000000"/>
                </a:solidFill>
                <a:latin typeface="Tahoma" panose="020B0604030504040204" pitchFamily="34" charset="0"/>
              </a:rPr>
              <a:t>Quant aux signes nerveux et attribués à l'oxyurose (prurit nasal, grincement des dents, terreurs nocturnes, troubles du caractère «nervosité-</a:t>
            </a:r>
            <a:r>
              <a:rPr lang="fr-FR" sz="2800" dirty="0" err="1">
                <a:solidFill>
                  <a:srgbClr val="000000"/>
                </a:solidFill>
                <a:latin typeface="Tahoma" panose="020B0604030504040204" pitchFamily="34" charset="0"/>
              </a:rPr>
              <a:t>nuitabilité</a:t>
            </a:r>
            <a:r>
              <a:rPr lang="fr-FR" sz="2800" dirty="0">
                <a:solidFill>
                  <a:srgbClr val="000000"/>
                </a:solidFill>
                <a:latin typeface="Tahoma" panose="020B0604030504040204" pitchFamily="34" charset="0"/>
              </a:rPr>
              <a:t>» etc.) leur réalité n'est pas démontrée</a:t>
            </a:r>
            <a:r>
              <a:rPr lang="fr-FR" sz="2800" dirty="0" smtClean="0">
                <a:solidFill>
                  <a:srgbClr val="000000"/>
                </a:solidFill>
                <a:latin typeface="Tahoma" panose="020B0604030504040204" pitchFamily="34" charset="0"/>
              </a:rPr>
              <a:t>.</a:t>
            </a:r>
            <a:endParaRPr lang="fr-FR" dirty="0"/>
          </a:p>
        </p:txBody>
      </p:sp>
    </p:spTree>
    <p:extLst>
      <p:ext uri="{BB962C8B-B14F-4D97-AF65-F5344CB8AC3E}">
        <p14:creationId xmlns:p14="http://schemas.microsoft.com/office/powerpoint/2010/main" val="2852300007"/>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549597"/>
          </a:xfrm>
        </p:spPr>
        <p:txBody>
          <a:bodyPr>
            <a:noAutofit/>
          </a:bodyPr>
          <a:lstStyle/>
          <a:p>
            <a:r>
              <a:rPr lang="fr-FR" sz="2800" b="1" spc="25" dirty="0">
                <a:solidFill>
                  <a:srgbClr val="0070C0"/>
                </a:solidFill>
                <a:latin typeface="Tahoma" panose="020B0604030504040204" pitchFamily="34" charset="0"/>
                <a:ea typeface="Arial Unicode MS" panose="020B0604020202020204" pitchFamily="34" charset="-128"/>
                <a:cs typeface="Times New Roman" panose="02020603050405020304" pitchFamily="18" charset="0"/>
              </a:rPr>
              <a:t>DIAGNOSTIC</a:t>
            </a:r>
            <a:endParaRPr lang="fr-FR" sz="2800" dirty="0">
              <a:solidFill>
                <a:srgbClr val="0070C0"/>
              </a:solidFill>
            </a:endParaRPr>
          </a:p>
        </p:txBody>
      </p:sp>
      <p:sp>
        <p:nvSpPr>
          <p:cNvPr id="3" name="Espace réservé du contenu 2"/>
          <p:cNvSpPr>
            <a:spLocks noGrp="1"/>
          </p:cNvSpPr>
          <p:nvPr>
            <p:ph idx="1"/>
          </p:nvPr>
        </p:nvSpPr>
        <p:spPr>
          <a:xfrm>
            <a:off x="846161" y="1064525"/>
            <a:ext cx="10658451" cy="5227093"/>
          </a:xfrm>
        </p:spPr>
        <p:txBody>
          <a:bodyPr>
            <a:normAutofit fontScale="77500" lnSpcReduction="20000"/>
          </a:bodyPr>
          <a:lstStyle/>
          <a:p>
            <a:pPr>
              <a:lnSpc>
                <a:spcPct val="150000"/>
              </a:lnSpc>
            </a:pPr>
            <a:r>
              <a:rPr lang="fr-FR" sz="2900" dirty="0">
                <a:solidFill>
                  <a:srgbClr val="000000"/>
                </a:solidFill>
                <a:latin typeface="Tahoma" panose="020B0604030504040204" pitchFamily="34" charset="0"/>
              </a:rPr>
              <a:t>La preuve </a:t>
            </a:r>
            <a:r>
              <a:rPr lang="fr-FR" sz="2900" dirty="0" err="1">
                <a:solidFill>
                  <a:srgbClr val="000000"/>
                </a:solidFill>
                <a:latin typeface="Tahoma" panose="020B0604030504040204" pitchFamily="34" charset="0"/>
              </a:rPr>
              <a:t>parasitologique</a:t>
            </a:r>
            <a:r>
              <a:rPr lang="fr-FR" sz="2900" dirty="0">
                <a:solidFill>
                  <a:srgbClr val="000000"/>
                </a:solidFill>
                <a:latin typeface="Tahoma" panose="020B0604030504040204" pitchFamily="34" charset="0"/>
              </a:rPr>
              <a:t> est apportée soit:</a:t>
            </a:r>
            <a:endParaRPr lang="fr-FR" sz="2900" dirty="0"/>
          </a:p>
          <a:p>
            <a:pPr lvl="0">
              <a:lnSpc>
                <a:spcPct val="150000"/>
              </a:lnSpc>
              <a:buFont typeface="Calibri" panose="020F0502020204030204" pitchFamily="34" charset="0"/>
              <a:buChar char="-"/>
            </a:pPr>
            <a:r>
              <a:rPr lang="fr-FR" sz="2900" dirty="0">
                <a:solidFill>
                  <a:srgbClr val="000000"/>
                </a:solidFill>
                <a:latin typeface="Tahoma" panose="020B0604030504040204" pitchFamily="34" charset="0"/>
                <a:ea typeface="Calibri" panose="020F0502020204030204" pitchFamily="34" charset="0"/>
                <a:cs typeface="Times New Roman" panose="02020603050405020304" pitchFamily="18" charset="0"/>
              </a:rPr>
              <a:t>Par la découverte des vers adultes à la surface des selles ;</a:t>
            </a:r>
            <a:endParaRPr lang="fr-FR" sz="29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900" dirty="0">
                <a:solidFill>
                  <a:srgbClr val="000000"/>
                </a:solidFill>
                <a:latin typeface="Tahoma" panose="020B0604030504040204" pitchFamily="34" charset="0"/>
                <a:ea typeface="Calibri" panose="020F0502020204030204" pitchFamily="34" charset="0"/>
                <a:cs typeface="Times New Roman" panose="02020603050405020304" pitchFamily="18" charset="0"/>
              </a:rPr>
              <a:t>Par la mise en évidence des œufs </a:t>
            </a:r>
            <a:r>
              <a:rPr lang="fr-FR" sz="29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embryonnés</a:t>
            </a:r>
            <a:r>
              <a:rPr lang="fr-FR" sz="2900" dirty="0">
                <a:solidFill>
                  <a:srgbClr val="000000"/>
                </a:solidFill>
                <a:latin typeface="Tahoma" panose="020B0604030504040204" pitchFamily="34" charset="0"/>
                <a:ea typeface="Calibri" panose="020F0502020204030204" pitchFamily="34" charset="0"/>
                <a:cs typeface="Times New Roman" panose="02020603050405020304" pitchFamily="18" charset="0"/>
              </a:rPr>
              <a:t> par le test de Graham (scotch- test) qui a pour but de décoller les œufs de la marge anale.</a:t>
            </a:r>
            <a:endParaRPr lang="fr-FR" sz="29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900" dirty="0">
                <a:solidFill>
                  <a:srgbClr val="000000"/>
                </a:solidFill>
                <a:latin typeface="Tahoma" panose="020B0604030504040204" pitchFamily="34" charset="0"/>
                <a:ea typeface="Calibri" panose="020F0502020204030204" pitchFamily="34" charset="0"/>
                <a:cs typeface="Times New Roman" panose="02020603050405020304" pitchFamily="18" charset="0"/>
              </a:rPr>
              <a:t>Rarement par la mise en œuvre de quelques œufs dans un examen de selle</a:t>
            </a:r>
            <a:r>
              <a:rPr lang="fr-FR" sz="29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r>
              <a:rPr lang="fr-FR" sz="2900"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
            </a:r>
            <a:br>
              <a:rPr lang="fr-FR" sz="2900"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br>
            <a:r>
              <a:rPr lang="fr-FR" sz="2900"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COMPLICATIONS</a:t>
            </a:r>
            <a:endParaRPr lang="fr-FR" sz="2900" dirty="0">
              <a:solidFill>
                <a:srgbClr val="000000"/>
              </a:solidFill>
              <a:latin typeface="Courier New" panose="02070309020205020404" pitchFamily="49" charset="0"/>
              <a:ea typeface="Courier New" panose="02070309020205020404" pitchFamily="49" charset="0"/>
            </a:endParaRPr>
          </a:p>
          <a:p>
            <a:pPr lvl="0">
              <a:lnSpc>
                <a:spcPct val="150000"/>
              </a:lnSpc>
              <a:buFont typeface="Calibri" panose="020F0502020204030204" pitchFamily="34" charset="0"/>
              <a:buChar char="-"/>
            </a:pPr>
            <a:r>
              <a:rPr lang="fr-FR" sz="29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Digestives: </a:t>
            </a:r>
            <a:r>
              <a:rPr lang="fr-FR" sz="2900" dirty="0">
                <a:solidFill>
                  <a:srgbClr val="000000"/>
                </a:solidFill>
                <a:latin typeface="Tahoma" panose="020B0604030504040204" pitchFamily="34" charset="0"/>
                <a:ea typeface="Calibri" panose="020F0502020204030204" pitchFamily="34" charset="0"/>
                <a:cs typeface="Times New Roman" panose="02020603050405020304" pitchFamily="18" charset="0"/>
              </a:rPr>
              <a:t>appendicite à oxyure.</a:t>
            </a:r>
            <a:endParaRPr lang="fr-FR" sz="29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9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Gynécologiques: </a:t>
            </a:r>
            <a:r>
              <a:rPr lang="fr-FR" sz="2900" dirty="0">
                <a:solidFill>
                  <a:srgbClr val="000000"/>
                </a:solidFill>
                <a:latin typeface="Tahoma" panose="020B0604030504040204" pitchFamily="34" charset="0"/>
                <a:ea typeface="Calibri" panose="020F0502020204030204" pitchFamily="34" charset="0"/>
                <a:cs typeface="Times New Roman" panose="02020603050405020304" pitchFamily="18" charset="0"/>
              </a:rPr>
              <a:t>vulvites-vulvo-vaginites, salpingite chez la petite fille. Psychiques: baisse du rendement scolaire, insomnie.</a:t>
            </a:r>
            <a:endParaRPr lang="fr-FR" sz="29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434345493"/>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TRAITEMENT </a:t>
            </a:r>
            <a:endParaRPr lang="fr-FR" dirty="0"/>
          </a:p>
        </p:txBody>
      </p:sp>
      <p:sp>
        <p:nvSpPr>
          <p:cNvPr id="3" name="Espace réservé du contenu 2"/>
          <p:cNvSpPr>
            <a:spLocks noGrp="1"/>
          </p:cNvSpPr>
          <p:nvPr>
            <p:ph idx="1"/>
          </p:nvPr>
        </p:nvSpPr>
        <p:spPr>
          <a:xfrm>
            <a:off x="792480" y="1239520"/>
            <a:ext cx="10712132" cy="5222240"/>
          </a:xfrm>
        </p:spPr>
        <p:txBody>
          <a:bodyPr>
            <a:noAutofit/>
          </a:bodyPr>
          <a:lstStyle/>
          <a:p>
            <a:pPr>
              <a:lnSpc>
                <a:spcPct val="150000"/>
              </a:lnSpc>
            </a:pPr>
            <a:r>
              <a:rPr lang="fr-FR" sz="2600" b="1" spc="25" dirty="0" err="1">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Zentel</a:t>
            </a:r>
            <a:r>
              <a:rPr lang="fr-FR" sz="2600" b="1" spc="25" dirty="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 </a:t>
            </a:r>
            <a:r>
              <a:rPr lang="fr-FR" sz="2600" b="1" spc="25" dirty="0" smtClean="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a:t>
            </a:r>
            <a:r>
              <a:rPr lang="fr-FR" sz="2600" dirty="0" smtClean="0">
                <a:solidFill>
                  <a:srgbClr val="000000"/>
                </a:solidFill>
                <a:latin typeface="Copperplate Gothic Bold" panose="020E0705020206020404" pitchFamily="34" charset="0"/>
              </a:rPr>
              <a:t>Posologie </a:t>
            </a:r>
            <a:r>
              <a:rPr lang="fr-FR" sz="2600" dirty="0">
                <a:solidFill>
                  <a:srgbClr val="000000"/>
                </a:solidFill>
                <a:latin typeface="Copperplate Gothic Bold" panose="020E0705020206020404" pitchFamily="34" charset="0"/>
              </a:rPr>
              <a:t>1 </a:t>
            </a:r>
            <a:r>
              <a:rPr lang="fr-FR" sz="2600" dirty="0" err="1">
                <a:solidFill>
                  <a:srgbClr val="000000"/>
                </a:solidFill>
                <a:latin typeface="Copperplate Gothic Bold" panose="020E0705020206020404" pitchFamily="34" charset="0"/>
              </a:rPr>
              <a:t>cp</a:t>
            </a:r>
            <a:r>
              <a:rPr lang="fr-FR" sz="2600" dirty="0">
                <a:solidFill>
                  <a:srgbClr val="000000"/>
                </a:solidFill>
                <a:latin typeface="Copperplate Gothic Bold" panose="020E0705020206020404" pitchFamily="34" charset="0"/>
              </a:rPr>
              <a:t> en 1 prise unique quelque soit l'âge mais pas avant 2 </a:t>
            </a:r>
            <a:r>
              <a:rPr lang="fr-FR" sz="2600" dirty="0" smtClean="0">
                <a:solidFill>
                  <a:srgbClr val="000000"/>
                </a:solidFill>
                <a:latin typeface="Copperplate Gothic Bold" panose="020E0705020206020404" pitchFamily="34" charset="0"/>
              </a:rPr>
              <a:t>ans.</a:t>
            </a:r>
            <a:r>
              <a:rPr lang="fr-FR" sz="2600" dirty="0">
                <a:latin typeface="Copperplate Gothic Bold" panose="020E0705020206020404" pitchFamily="34" charset="0"/>
              </a:rPr>
              <a:t> </a:t>
            </a:r>
            <a:r>
              <a:rPr lang="fr-FR" sz="2600" dirty="0" smtClean="0">
                <a:latin typeface="Copperplate Gothic Bold" panose="020E0705020206020404" pitchFamily="34" charset="0"/>
              </a:rPr>
              <a:t>OU </a:t>
            </a:r>
            <a:r>
              <a:rPr lang="fr-FR" sz="2600" dirty="0" smtClean="0">
                <a:solidFill>
                  <a:srgbClr val="000000"/>
                </a:solidFill>
                <a:latin typeface="Copperplate Gothic Bold" panose="020E0705020206020404" pitchFamily="34" charset="0"/>
              </a:rPr>
              <a:t>flacon </a:t>
            </a:r>
            <a:r>
              <a:rPr lang="fr-FR" sz="2600" dirty="0">
                <a:solidFill>
                  <a:srgbClr val="000000"/>
                </a:solidFill>
                <a:latin typeface="Copperplate Gothic Bold" panose="020E0705020206020404" pitchFamily="34" charset="0"/>
              </a:rPr>
              <a:t>en 1 prise unique.</a:t>
            </a:r>
            <a:endParaRPr lang="fr-FR" sz="2600" dirty="0">
              <a:latin typeface="Copperplate Gothic Bold" panose="020E0705020206020404" pitchFamily="34" charset="0"/>
            </a:endParaRPr>
          </a:p>
          <a:p>
            <a:pPr>
              <a:lnSpc>
                <a:spcPct val="150000"/>
              </a:lnSpc>
            </a:pPr>
            <a:r>
              <a:rPr lang="fr-FR" sz="2600" b="1" spc="25" dirty="0" err="1">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Pamoate</a:t>
            </a:r>
            <a:r>
              <a:rPr lang="fr-FR" sz="2600" b="1" spc="25" dirty="0">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 de </a:t>
            </a:r>
            <a:r>
              <a:rPr lang="fr-FR" sz="2600" b="1" spc="25" dirty="0" err="1">
                <a:solidFill>
                  <a:srgbClr val="000000"/>
                </a:solidFill>
                <a:latin typeface="Copperplate Gothic Bold" panose="020E0705020206020404" pitchFamily="34" charset="0"/>
                <a:ea typeface="Times New Roman" panose="02020603050405020304" pitchFamily="18" charset="0"/>
                <a:cs typeface="Times New Roman" panose="02020603050405020304" pitchFamily="18" charset="0"/>
              </a:rPr>
              <a:t>pyrentel</a:t>
            </a:r>
            <a:r>
              <a:rPr lang="fr-FR" sz="2600" dirty="0">
                <a:solidFill>
                  <a:srgbClr val="000000"/>
                </a:solidFill>
                <a:latin typeface="Copperplate Gothic Bold" panose="020E0705020206020404" pitchFamily="34" charset="0"/>
              </a:rPr>
              <a:t>(</a:t>
            </a:r>
            <a:r>
              <a:rPr lang="fr-FR" sz="2600" dirty="0" err="1">
                <a:solidFill>
                  <a:srgbClr val="000000"/>
                </a:solidFill>
                <a:latin typeface="Copperplate Gothic Bold" panose="020E0705020206020404" pitchFamily="34" charset="0"/>
              </a:rPr>
              <a:t>combantrin</a:t>
            </a:r>
            <a:r>
              <a:rPr lang="fr-FR" sz="2600" dirty="0">
                <a:solidFill>
                  <a:srgbClr val="000000"/>
                </a:solidFill>
                <a:latin typeface="Copperplate Gothic Bold" panose="020E0705020206020404" pitchFamily="34" charset="0"/>
              </a:rPr>
              <a:t>) : </a:t>
            </a:r>
            <a:r>
              <a:rPr lang="fr-FR" sz="2600" dirty="0" smtClean="0">
                <a:solidFill>
                  <a:srgbClr val="000000"/>
                </a:solidFill>
                <a:latin typeface="Copperplate Gothic Bold" panose="020E0705020206020404" pitchFamily="34" charset="0"/>
              </a:rPr>
              <a:t>Posologie </a:t>
            </a:r>
            <a:r>
              <a:rPr lang="fr-FR" sz="2600" dirty="0">
                <a:solidFill>
                  <a:srgbClr val="000000"/>
                </a:solidFill>
                <a:latin typeface="Copperplate Gothic Bold" panose="020E0705020206020404" pitchFamily="34" charset="0"/>
              </a:rPr>
              <a:t>: 10 mg/kg/j en 1 prise</a:t>
            </a:r>
            <a:endParaRPr lang="fr-FR" sz="2600" dirty="0">
              <a:latin typeface="Copperplate Gothic Bold" panose="020E0705020206020404" pitchFamily="34" charset="0"/>
            </a:endParaRPr>
          </a:p>
          <a:p>
            <a:pPr lvl="0" algn="just">
              <a:lnSpc>
                <a:spcPct val="150000"/>
              </a:lnSpc>
              <a:buFont typeface="Calibri" panose="020F0502020204030204" pitchFamily="34" charset="0"/>
              <a:buChar char="-"/>
            </a:pPr>
            <a:r>
              <a:rPr lang="fr-FR" sz="2600" dirty="0" smtClean="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appliquer </a:t>
            </a:r>
            <a:r>
              <a:rPr lang="fr-FR" sz="26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les règles d’hygiène classique (mains lavées avant chaque repas, ongles coupés courts).</a:t>
            </a:r>
          </a:p>
          <a:p>
            <a:pPr lvl="0" algn="just">
              <a:lnSpc>
                <a:spcPct val="150000"/>
              </a:lnSpc>
              <a:buFont typeface="Calibri" panose="020F0502020204030204" pitchFamily="34" charset="0"/>
              <a:buChar char="-"/>
            </a:pPr>
            <a:r>
              <a:rPr lang="fr-FR" sz="26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répéter la cure d’</a:t>
            </a:r>
            <a:r>
              <a:rPr lang="fr-FR" sz="2600" dirty="0" err="1">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oxyuricide</a:t>
            </a:r>
            <a:r>
              <a:rPr lang="fr-FR" sz="26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 10 à 15 jours plus tard</a:t>
            </a:r>
          </a:p>
          <a:p>
            <a:endParaRPr lang="fr-FR" sz="2800" dirty="0"/>
          </a:p>
        </p:txBody>
      </p:sp>
    </p:spTree>
    <p:extLst>
      <p:ext uri="{BB962C8B-B14F-4D97-AF65-F5344CB8AC3E}">
        <p14:creationId xmlns:p14="http://schemas.microsoft.com/office/powerpoint/2010/main" val="2473604184"/>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19310"/>
            <a:ext cx="8911687" cy="513810"/>
          </a:xfrm>
        </p:spPr>
        <p:txBody>
          <a:bodyPr>
            <a:normAutofit fontScale="90000"/>
          </a:bodyPr>
          <a:lstStyle/>
          <a:p>
            <a:r>
              <a:rPr lang="fr-FR" b="1" u="sng"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PROPHYLAXIE</a:t>
            </a:r>
            <a:endParaRPr lang="fr-FR" dirty="0"/>
          </a:p>
        </p:txBody>
      </p:sp>
      <p:sp>
        <p:nvSpPr>
          <p:cNvPr id="3" name="Espace réservé du contenu 2"/>
          <p:cNvSpPr>
            <a:spLocks noGrp="1"/>
          </p:cNvSpPr>
          <p:nvPr>
            <p:ph idx="1"/>
          </p:nvPr>
        </p:nvSpPr>
        <p:spPr>
          <a:xfrm>
            <a:off x="995680" y="833120"/>
            <a:ext cx="10508932" cy="5608320"/>
          </a:xfrm>
        </p:spPr>
        <p:txBody>
          <a:bodyPr>
            <a:normAutofit fontScale="25000" lnSpcReduction="20000"/>
          </a:bodyPr>
          <a:lstStyle/>
          <a:p>
            <a:pPr marL="0" indent="0" algn="just">
              <a:lnSpc>
                <a:spcPct val="170000"/>
              </a:lnSpc>
              <a:buNone/>
            </a:pPr>
            <a:r>
              <a:rPr lang="fr-FR" sz="8600" dirty="0">
                <a:solidFill>
                  <a:srgbClr val="000000"/>
                </a:solidFill>
                <a:latin typeface="Copperplate Gothic Bold" panose="020E0705020206020404" pitchFamily="34" charset="0"/>
              </a:rPr>
              <a:t>Pour éviter la contamination des sujets sains et l'auto infestation, il est nécessaire de : traiter simultanément tous les membres de la famille ou de la collectivité (qu'ils soient parasités ou suspectés de l'être) appliquer les règles d'hygiènes classiques (mains lavées avant chaque repas, ongles coupées court, vêtements et literie lavés et changer régulièrement)</a:t>
            </a:r>
            <a:endParaRPr lang="fr-FR" sz="8600" dirty="0">
              <a:latin typeface="Copperplate Gothic Bold" panose="020E0705020206020404" pitchFamily="34" charset="0"/>
            </a:endParaRPr>
          </a:p>
          <a:p>
            <a:pPr marL="0" lvl="0" indent="0" algn="just">
              <a:lnSpc>
                <a:spcPct val="170000"/>
              </a:lnSpc>
              <a:buNone/>
            </a:pPr>
            <a:r>
              <a:rPr lang="fr-FR" sz="86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porter aux enfants des « culottes serrées » pour les empêcher de se gratter</a:t>
            </a:r>
            <a:endParaRPr lang="fr-FR" sz="8600" dirty="0">
              <a:latin typeface="Copperplate Gothic Bold" panose="020E0705020206020404" pitchFamily="34" charset="0"/>
              <a:ea typeface="Calibri" panose="020F0502020204030204" pitchFamily="34" charset="0"/>
              <a:cs typeface="Times New Roman" panose="02020603050405020304" pitchFamily="18" charset="0"/>
            </a:endParaRPr>
          </a:p>
          <a:p>
            <a:pPr marL="0" lvl="0" indent="0" algn="just">
              <a:lnSpc>
                <a:spcPct val="170000"/>
              </a:lnSpc>
              <a:buNone/>
            </a:pPr>
            <a:r>
              <a:rPr lang="fr-FR" sz="86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utiliser toujours des latrines</a:t>
            </a:r>
            <a:endParaRPr lang="fr-FR" sz="8600" dirty="0">
              <a:latin typeface="Copperplate Gothic Bold" panose="020E0705020206020404" pitchFamily="34" charset="0"/>
              <a:ea typeface="Calibri" panose="020F0502020204030204" pitchFamily="34" charset="0"/>
              <a:cs typeface="Times New Roman" panose="02020603050405020304" pitchFamily="18" charset="0"/>
            </a:endParaRPr>
          </a:p>
          <a:p>
            <a:pPr marL="0" lvl="0" indent="0" algn="just">
              <a:lnSpc>
                <a:spcPct val="170000"/>
              </a:lnSpc>
              <a:buNone/>
            </a:pPr>
            <a:r>
              <a:rPr lang="fr-FR" sz="86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répéter la cure d'</a:t>
            </a:r>
            <a:r>
              <a:rPr lang="fr-FR" sz="8600" dirty="0" err="1">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oxyuricide</a:t>
            </a:r>
            <a:r>
              <a:rPr lang="fr-FR" sz="8600" dirty="0">
                <a:solidFill>
                  <a:srgbClr val="000000"/>
                </a:solidFill>
                <a:latin typeface="Copperplate Gothic Bold" panose="020E0705020206020404" pitchFamily="34" charset="0"/>
                <a:ea typeface="Calibri" panose="020F0502020204030204" pitchFamily="34" charset="0"/>
                <a:cs typeface="Times New Roman" panose="02020603050405020304" pitchFamily="18" charset="0"/>
              </a:rPr>
              <a:t> au moins tous les 6 mois.</a:t>
            </a:r>
            <a:endParaRPr lang="fr-FR" sz="8600" dirty="0">
              <a:latin typeface="Copperplate Gothic Bold" panose="020E0705020206020404" pitchFamily="34" charset="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4199557274"/>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33635"/>
          </a:xfrm>
        </p:spPr>
        <p:style>
          <a:lnRef idx="1">
            <a:schemeClr val="accent5"/>
          </a:lnRef>
          <a:fillRef idx="2">
            <a:schemeClr val="accent5"/>
          </a:fillRef>
          <a:effectRef idx="1">
            <a:schemeClr val="accent5"/>
          </a:effectRef>
          <a:fontRef idx="minor">
            <a:schemeClr val="dk1"/>
          </a:fontRef>
        </p:style>
        <p:txBody>
          <a:bodyPr/>
          <a:lstStyle/>
          <a:p>
            <a:r>
              <a:rPr lang="fr-FR" b="1" dirty="0" smtClean="0">
                <a:ln w="0"/>
                <a:solidFill>
                  <a:schemeClr val="accent1"/>
                </a:solidFill>
                <a:effectLst>
                  <a:outerShdw blurRad="38100" dist="25400" dir="5400000" algn="ctr" rotWithShape="0">
                    <a:srgbClr val="6E747A">
                      <a:alpha val="43000"/>
                    </a:srgbClr>
                  </a:outerShdw>
                </a:effectLst>
              </a:rPr>
              <a:t>RECAP: MODE DE CONTAMINATION</a:t>
            </a:r>
            <a:endParaRPr lang="fr-FR" b="1" dirty="0">
              <a:ln w="0"/>
              <a:solidFill>
                <a:schemeClr val="accent1"/>
              </a:solidFill>
              <a:effectLst>
                <a:outerShdw blurRad="38100" dist="25400" dir="5400000" algn="ctr" rotWithShape="0">
                  <a:srgbClr val="6E747A">
                    <a:alpha val="43000"/>
                  </a:srgbClr>
                </a:outerShdw>
              </a:effectLst>
            </a:endParaRPr>
          </a:p>
        </p:txBody>
      </p:sp>
      <p:sp>
        <p:nvSpPr>
          <p:cNvPr id="3" name="Espace réservé du contenu 2"/>
          <p:cNvSpPr>
            <a:spLocks noGrp="1"/>
          </p:cNvSpPr>
          <p:nvPr>
            <p:ph idx="1"/>
          </p:nvPr>
        </p:nvSpPr>
        <p:spPr/>
        <p:style>
          <a:lnRef idx="1">
            <a:schemeClr val="accent6"/>
          </a:lnRef>
          <a:fillRef idx="2">
            <a:schemeClr val="accent6"/>
          </a:fillRef>
          <a:effectRef idx="1">
            <a:schemeClr val="accent6"/>
          </a:effectRef>
          <a:fontRef idx="minor">
            <a:schemeClr val="dk1"/>
          </a:fontRef>
        </p:style>
        <p:txBody>
          <a:bodyPr>
            <a:normAutofit/>
          </a:bodyPr>
          <a:lstStyle/>
          <a:p>
            <a:pPr>
              <a:lnSpc>
                <a:spcPct val="150000"/>
              </a:lnSpc>
            </a:pPr>
            <a:r>
              <a:rPr lang="fr-FR" sz="3200" b="1" dirty="0" smtClean="0"/>
              <a:t>ASCARIS = INGESTION</a:t>
            </a:r>
          </a:p>
          <a:p>
            <a:pPr>
              <a:lnSpc>
                <a:spcPct val="150000"/>
              </a:lnSpc>
            </a:pPr>
            <a:r>
              <a:rPr lang="fr-FR" sz="3200" b="1" dirty="0" smtClean="0"/>
              <a:t>ANKYLOSTOME = VOIE CUTANEE</a:t>
            </a:r>
          </a:p>
          <a:p>
            <a:pPr>
              <a:lnSpc>
                <a:spcPct val="150000"/>
              </a:lnSpc>
            </a:pPr>
            <a:r>
              <a:rPr lang="fr-FR" sz="3200" b="1" dirty="0" smtClean="0"/>
              <a:t>ANGUILLULE = VOIE CUTANEE</a:t>
            </a:r>
          </a:p>
          <a:p>
            <a:pPr>
              <a:lnSpc>
                <a:spcPct val="150000"/>
              </a:lnSpc>
            </a:pPr>
            <a:r>
              <a:rPr lang="fr-FR" sz="3200" b="1" dirty="0" smtClean="0"/>
              <a:t>OXYURE =INGESTION</a:t>
            </a:r>
            <a:endParaRPr lang="fr-FR" sz="3200" b="1" dirty="0"/>
          </a:p>
        </p:txBody>
      </p:sp>
    </p:spTree>
    <p:extLst>
      <p:ext uri="{BB962C8B-B14F-4D97-AF65-F5344CB8AC3E}">
        <p14:creationId xmlns:p14="http://schemas.microsoft.com/office/powerpoint/2010/main" val="616035576"/>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000" b="1" dirty="0">
                <a:solidFill>
                  <a:srgbClr val="00B0F0"/>
                </a:solidFill>
                <a:latin typeface="Tahoma" panose="020B0604030504040204" pitchFamily="34" charset="0"/>
                <a:ea typeface="Courier New" panose="02070309020205020404" pitchFamily="49" charset="0"/>
              </a:rPr>
              <a:t>LES CESTODOSES</a:t>
            </a:r>
            <a:endParaRPr lang="fr-FR" sz="4000" b="1" dirty="0">
              <a:solidFill>
                <a:srgbClr val="00B0F0"/>
              </a:solidFill>
            </a:endParaRPr>
          </a:p>
        </p:txBody>
      </p:sp>
      <p:sp>
        <p:nvSpPr>
          <p:cNvPr id="3" name="Espace réservé du contenu 2"/>
          <p:cNvSpPr>
            <a:spLocks noGrp="1"/>
          </p:cNvSpPr>
          <p:nvPr>
            <p:ph idx="1"/>
          </p:nvPr>
        </p:nvSpPr>
        <p:spPr>
          <a:xfrm>
            <a:off x="1282890" y="1905001"/>
            <a:ext cx="10221722" cy="4101904"/>
          </a:xfrm>
        </p:spPr>
        <p:txBody>
          <a:bodyPr>
            <a:normAutofit/>
          </a:bodyPr>
          <a:lstStyle/>
          <a:p>
            <a:pPr algn="just">
              <a:lnSpc>
                <a:spcPct val="160000"/>
              </a:lnSpc>
            </a:pPr>
            <a:r>
              <a:rPr lang="fr-FR" sz="3000" dirty="0">
                <a:solidFill>
                  <a:srgbClr val="000000"/>
                </a:solidFill>
                <a:latin typeface="Tahoma" panose="020B0604030504040204" pitchFamily="34" charset="0"/>
              </a:rPr>
              <a:t>Les </a:t>
            </a:r>
            <a:r>
              <a:rPr lang="fr-FR" sz="3000" dirty="0" err="1">
                <a:solidFill>
                  <a:srgbClr val="000000"/>
                </a:solidFill>
                <a:latin typeface="Tahoma" panose="020B0604030504040204" pitchFamily="34" charset="0"/>
              </a:rPr>
              <a:t>cestodoses</a:t>
            </a:r>
            <a:r>
              <a:rPr lang="fr-FR" sz="3000" dirty="0">
                <a:solidFill>
                  <a:srgbClr val="000000"/>
                </a:solidFill>
                <a:latin typeface="Tahoma" panose="020B0604030504040204" pitchFamily="34" charset="0"/>
              </a:rPr>
              <a:t> sont des helminthiases liées à la présence dans l'intestin de l'homme de vers plats ou </a:t>
            </a:r>
            <a:r>
              <a:rPr lang="fr-FR" sz="3000" b="1" dirty="0">
                <a:solidFill>
                  <a:srgbClr val="000000"/>
                </a:solidFill>
                <a:latin typeface="Tahoma" panose="020B0604030504040204" pitchFamily="34" charset="0"/>
              </a:rPr>
              <a:t>cestodes</a:t>
            </a:r>
            <a:r>
              <a:rPr lang="fr-FR" sz="3000" dirty="0">
                <a:solidFill>
                  <a:srgbClr val="000000"/>
                </a:solidFill>
                <a:latin typeface="Tahoma" panose="020B0604030504040204" pitchFamily="34" charset="0"/>
              </a:rPr>
              <a:t>, qui se présentent sous forme larvaire ou sous forme adulte.</a:t>
            </a:r>
            <a:endParaRPr lang="fr-FR" sz="3000" dirty="0"/>
          </a:p>
          <a:p>
            <a:pPr algn="just">
              <a:lnSpc>
                <a:spcPct val="160000"/>
              </a:lnSpc>
            </a:pPr>
            <a:r>
              <a:rPr lang="fr-FR" sz="3200" dirty="0">
                <a:solidFill>
                  <a:srgbClr val="000000"/>
                </a:solidFill>
                <a:latin typeface="Tahoma" panose="020B0604030504040204" pitchFamily="34" charset="0"/>
              </a:rPr>
              <a:t> </a:t>
            </a:r>
            <a:endParaRPr lang="fr-FR" sz="3200" dirty="0"/>
          </a:p>
          <a:p>
            <a:endParaRPr lang="fr-FR" dirty="0"/>
          </a:p>
        </p:txBody>
      </p:sp>
    </p:spTree>
    <p:extLst>
      <p:ext uri="{BB962C8B-B14F-4D97-AF65-F5344CB8AC3E}">
        <p14:creationId xmlns:p14="http://schemas.microsoft.com/office/powerpoint/2010/main" val="2372266047"/>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433041"/>
            <a:ext cx="8911687" cy="522302"/>
          </a:xfrm>
        </p:spPr>
        <p:txBody>
          <a:bodyPr>
            <a:normAutofit fontScale="90000"/>
          </a:bodyPr>
          <a:lstStyle/>
          <a:p>
            <a:pPr lvl="0"/>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TENIASE A TAENIA SAGINATA</a:t>
            </a:r>
            <a:r>
              <a:rPr lang="fr-FR" sz="2800" dirty="0">
                <a:solidFill>
                  <a:srgbClr val="000000"/>
                </a:solidFill>
                <a:latin typeface="Courier New" panose="02070309020205020404" pitchFamily="49" charset="0"/>
                <a:ea typeface="Arial Unicode MS" panose="020B0604020202020204" pitchFamily="34" charset="-128"/>
              </a:rPr>
              <a:t/>
            </a:r>
            <a:br>
              <a:rPr lang="fr-FR" sz="2800" dirty="0">
                <a:solidFill>
                  <a:srgbClr val="000000"/>
                </a:solidFill>
                <a:latin typeface="Courier New" panose="02070309020205020404" pitchFamily="49" charset="0"/>
                <a:ea typeface="Arial Unicode MS" panose="020B0604020202020204" pitchFamily="34" charset="-128"/>
              </a:rPr>
            </a:br>
            <a:endParaRPr lang="fr-FR" sz="2800" dirty="0"/>
          </a:p>
        </p:txBody>
      </p:sp>
      <p:sp>
        <p:nvSpPr>
          <p:cNvPr id="3" name="Espace réservé du contenu 2"/>
          <p:cNvSpPr>
            <a:spLocks noGrp="1"/>
          </p:cNvSpPr>
          <p:nvPr>
            <p:ph idx="1"/>
          </p:nvPr>
        </p:nvSpPr>
        <p:spPr>
          <a:xfrm>
            <a:off x="832513" y="955343"/>
            <a:ext cx="10672099" cy="5404514"/>
          </a:xfrm>
        </p:spPr>
        <p:txBody>
          <a:bodyPr>
            <a:noAutofit/>
          </a:bodyPr>
          <a:lstStyle/>
          <a:p>
            <a:pPr algn="just">
              <a:lnSpc>
                <a:spcPct val="150000"/>
              </a:lnSpc>
            </a:pPr>
            <a:r>
              <a:rPr lang="fr-FR" sz="2800" dirty="0">
                <a:solidFill>
                  <a:srgbClr val="000000"/>
                </a:solidFill>
                <a:latin typeface="Tahoma" panose="020B0604030504040204" pitchFamily="34" charset="0"/>
              </a:rPr>
              <a:t>C'est le ténia du bœuf ; il mesure 4 à 12 m de long. Son scolex (tête) piriforme de la taille d'une tête d'épingle porte 4 ventouses grâce auxquelles, il se fixe sur la muqueuse intestinale ; elle est dépourvue de crochets (ténia inerme). Le cou est étroit et ne mesure que quelques millimètres. Le corps est formé d’environ 2000 anneaux</a:t>
            </a:r>
            <a:r>
              <a:rPr lang="fr-FR" sz="2600" dirty="0">
                <a:solidFill>
                  <a:srgbClr val="000000"/>
                </a:solidFill>
                <a:latin typeface="Tahoma" panose="020B0604030504040204" pitchFamily="34" charset="0"/>
              </a:rPr>
              <a:t>.</a:t>
            </a:r>
            <a:endParaRPr lang="fr-FR" sz="2600" dirty="0"/>
          </a:p>
          <a:p>
            <a:endParaRPr lang="fr-FR" sz="2600" dirty="0"/>
          </a:p>
        </p:txBody>
      </p:sp>
    </p:spTree>
    <p:extLst>
      <p:ext uri="{BB962C8B-B14F-4D97-AF65-F5344CB8AC3E}">
        <p14:creationId xmlns:p14="http://schemas.microsoft.com/office/powerpoint/2010/main" val="4240645488"/>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  Art De Biologie, Gens De L'ombre, Technicien Vétérinaire, Zoologie, Art De La Science, Biologi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67892" y="1080654"/>
            <a:ext cx="6650182" cy="4738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258236"/>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678675" y="2133600"/>
            <a:ext cx="9825937" cy="3777622"/>
          </a:xfrm>
        </p:spPr>
        <p:txBody>
          <a:bodyPr/>
          <a:lstStyle/>
          <a:p>
            <a:pPr>
              <a:lnSpc>
                <a:spcPct val="150000"/>
              </a:lnSpc>
            </a:pPr>
            <a:r>
              <a:rPr lang="fr-FR" sz="2800" dirty="0">
                <a:solidFill>
                  <a:srgbClr val="000000"/>
                </a:solidFill>
                <a:latin typeface="Tahoma" panose="020B0604030504040204" pitchFamily="34" charset="0"/>
              </a:rPr>
              <a:t>De son strobile (corps) se détachent 5 à 10 anneaux par jour qui sortent avec les selles, mais de façon spontanée par des mouvements actifs, en forçant le sphincter anal, les anneaux peuvent se retrouver dans les vêtements et dans la literie.</a:t>
            </a:r>
            <a:endParaRPr lang="fr-FR" sz="2800" dirty="0"/>
          </a:p>
          <a:p>
            <a:endParaRPr lang="fr-FR" dirty="0"/>
          </a:p>
        </p:txBody>
      </p:sp>
    </p:spTree>
    <p:extLst>
      <p:ext uri="{BB962C8B-B14F-4D97-AF65-F5344CB8AC3E}">
        <p14:creationId xmlns:p14="http://schemas.microsoft.com/office/powerpoint/2010/main" val="3802275753"/>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48005"/>
            <a:ext cx="8911687" cy="525452"/>
          </a:xfrm>
        </p:spPr>
        <p:txBody>
          <a:bodyPr>
            <a:normAutofit fontScale="90000"/>
          </a:bodyPr>
          <a:lstStyle/>
          <a:p>
            <a:pPr lvl="0"/>
            <a:r>
              <a:rPr lang="fr-FR" sz="27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MODE DE CONTAMINATION-CYCLE BIOLOGIQUE</a:t>
            </a:r>
            <a:r>
              <a:rPr lang="fr-FR" sz="2700" dirty="0">
                <a:solidFill>
                  <a:srgbClr val="000000"/>
                </a:solidFill>
                <a:latin typeface="Courier New" panose="02070309020205020404" pitchFamily="49" charset="0"/>
                <a:ea typeface="Arial Unicode MS" panose="020B0604020202020204" pitchFamily="34" charset="-128"/>
              </a:rPr>
              <a:t/>
            </a:r>
            <a:br>
              <a:rPr lang="fr-FR" sz="2700"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723331" y="873457"/>
            <a:ext cx="10781281" cy="5459104"/>
          </a:xfrm>
        </p:spPr>
        <p:txBody>
          <a:bodyPr>
            <a:noAutofit/>
          </a:bodyPr>
          <a:lstStyle/>
          <a:p>
            <a:pPr algn="just">
              <a:lnSpc>
                <a:spcPct val="150000"/>
              </a:lnSpc>
            </a:pPr>
            <a:r>
              <a:rPr lang="fr-FR" sz="2800" dirty="0" smtClean="0">
                <a:solidFill>
                  <a:srgbClr val="000000"/>
                </a:solidFill>
                <a:latin typeface="Tahoma" panose="020B0604030504040204" pitchFamily="34" charset="0"/>
                <a:ea typeface="Courier New" panose="02070309020205020404" pitchFamily="49" charset="0"/>
              </a:rPr>
              <a:t>Dans le milieu extérieur, les anneaux d'abord mobiles animés de mouvements de reptation finissent par se dessécher et se désintègrent libérant des milliers d’œufs (</a:t>
            </a:r>
            <a:r>
              <a:rPr lang="fr-FR" sz="2800" dirty="0" err="1" smtClean="0">
                <a:solidFill>
                  <a:srgbClr val="000000"/>
                </a:solidFill>
                <a:latin typeface="Tahoma" panose="020B0604030504040204" pitchFamily="34" charset="0"/>
                <a:ea typeface="Courier New" panose="02070309020205020404" pitchFamily="49" charset="0"/>
              </a:rPr>
              <a:t>embryophores</a:t>
            </a:r>
            <a:r>
              <a:rPr lang="fr-FR" sz="2800" dirty="0" smtClean="0">
                <a:solidFill>
                  <a:srgbClr val="000000"/>
                </a:solidFill>
                <a:latin typeface="Tahoma" panose="020B0604030504040204" pitchFamily="34" charset="0"/>
                <a:ea typeface="Courier New" panose="02070309020205020404" pitchFamily="49" charset="0"/>
              </a:rPr>
              <a:t>) en moyenne 80 000 œufs/anneau. Ingérés par un hôte intermédiaire réceptif (bœuf), la coque de l'œuf est dissoute par les sucs digestifs et l'embryon muni de 06 crochets (embryon hexacanthe) est libéré. </a:t>
            </a:r>
            <a:endParaRPr lang="fr-FR" sz="2800" dirty="0"/>
          </a:p>
        </p:txBody>
      </p:sp>
    </p:spTree>
    <p:extLst>
      <p:ext uri="{BB962C8B-B14F-4D97-AF65-F5344CB8AC3E}">
        <p14:creationId xmlns:p14="http://schemas.microsoft.com/office/powerpoint/2010/main" val="2991073067"/>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32764" y="477672"/>
            <a:ext cx="10371848" cy="5433550"/>
          </a:xfrm>
        </p:spPr>
        <p:txBody>
          <a:bodyPr>
            <a:noAutofit/>
          </a:bodyPr>
          <a:lstStyle/>
          <a:p>
            <a:pPr algn="just">
              <a:lnSpc>
                <a:spcPct val="150000"/>
              </a:lnSpc>
            </a:pPr>
            <a:r>
              <a:rPr lang="fr-FR" sz="2800" dirty="0">
                <a:solidFill>
                  <a:srgbClr val="000000"/>
                </a:solidFill>
                <a:latin typeface="Tahoma" panose="020B0604030504040204" pitchFamily="34" charset="0"/>
                <a:ea typeface="Courier New" panose="02070309020205020404" pitchFamily="49" charset="0"/>
              </a:rPr>
              <a:t>II va alors traverser la paroi intestinale et migrer par voie lymphatique ou sanguine vers les tissus adipeux qui entourent les muscles pour se transformer en larves dites cysticerque au bout de 3 à 4 semaines. L'homme s'infecte en mangeant de la viande de bœuf crue ou insuffisamment cuite. Dans l'intestin, le cysticerque se fixe par ses ventouses à la muqueuse et se met à bourgeonner des anneaux. Le ténia devient adulte en 3 à 4 mois aux termes desquels les anneaux distaux commencent à se détacher.</a:t>
            </a:r>
            <a:endParaRPr lang="fr-FR" sz="2800" dirty="0"/>
          </a:p>
        </p:txBody>
      </p:sp>
    </p:spTree>
    <p:extLst>
      <p:ext uri="{BB962C8B-B14F-4D97-AF65-F5344CB8AC3E}">
        <p14:creationId xmlns:p14="http://schemas.microsoft.com/office/powerpoint/2010/main" val="3142050894"/>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78451"/>
            <a:ext cx="8911687" cy="1280890"/>
          </a:xfrm>
        </p:spPr>
        <p:txBody>
          <a:bodyPr>
            <a:normAutofit/>
          </a:bodyPr>
          <a:lstStyle/>
          <a:p>
            <a:pPr lvl="0"/>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MANIFESTATIONS CLINIQUES</a:t>
            </a:r>
            <a:r>
              <a:rPr lang="fr-FR" sz="2800" dirty="0">
                <a:solidFill>
                  <a:srgbClr val="000000"/>
                </a:solidFill>
                <a:latin typeface="Courier New" panose="02070309020205020404" pitchFamily="49" charset="0"/>
                <a:ea typeface="Arial Unicode MS" panose="020B0604020202020204" pitchFamily="34" charset="-128"/>
              </a:rPr>
              <a:t/>
            </a:r>
            <a:br>
              <a:rPr lang="fr-FR" sz="2800" dirty="0">
                <a:solidFill>
                  <a:srgbClr val="000000"/>
                </a:solidFill>
                <a:latin typeface="Courier New" panose="02070309020205020404" pitchFamily="49" charset="0"/>
                <a:ea typeface="Arial Unicode MS" panose="020B0604020202020204" pitchFamily="34" charset="-128"/>
              </a:rPr>
            </a:br>
            <a:endParaRPr lang="fr-FR" sz="2800" dirty="0"/>
          </a:p>
        </p:txBody>
      </p:sp>
      <p:sp>
        <p:nvSpPr>
          <p:cNvPr id="3" name="Espace réservé du contenu 2"/>
          <p:cNvSpPr>
            <a:spLocks noGrp="1"/>
          </p:cNvSpPr>
          <p:nvPr>
            <p:ph idx="1"/>
          </p:nvPr>
        </p:nvSpPr>
        <p:spPr>
          <a:xfrm>
            <a:off x="859809" y="996287"/>
            <a:ext cx="10644803" cy="5213443"/>
          </a:xfrm>
        </p:spPr>
        <p:txBody>
          <a:bodyPr>
            <a:normAutofit fontScale="85000" lnSpcReduction="20000"/>
          </a:bodyPr>
          <a:lstStyle/>
          <a:p>
            <a:pPr algn="just">
              <a:lnSpc>
                <a:spcPct val="150000"/>
              </a:lnSpc>
            </a:pPr>
            <a:r>
              <a:rPr lang="fr-FR" sz="3300" dirty="0">
                <a:solidFill>
                  <a:srgbClr val="000000"/>
                </a:solidFill>
                <a:latin typeface="Tahoma" panose="020B0604030504040204" pitchFamily="34" charset="0"/>
              </a:rPr>
              <a:t>Le plus souvent, l'infestation est totalement latente et n'est révélée que par la découverte des anneaux dans le linge ou la literie. Par ailleurs, l'on note:</a:t>
            </a:r>
            <a:endParaRPr lang="fr-FR" sz="3300" dirty="0"/>
          </a:p>
          <a:p>
            <a:pPr lvl="0" algn="just">
              <a:lnSpc>
                <a:spcPct val="150000"/>
              </a:lnSpc>
              <a:buFont typeface="Calibri" panose="020F0502020204030204" pitchFamily="34" charset="0"/>
              <a:buChar char="-"/>
            </a:pPr>
            <a:r>
              <a:rPr lang="fr-FR" sz="33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les troubles digestifs vagues tels que : douleurs abdominales ou épigastriques, nausées ou vomissements, anorexie ou boulimie, diarrhée ou constipation,</a:t>
            </a:r>
            <a:endParaRPr lang="fr-FR" sz="33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33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les troubles généraux tels que: amaigrissement-asthénie,</a:t>
            </a:r>
            <a:endParaRPr lang="fr-FR" sz="3300" dirty="0">
              <a:ea typeface="Calibri" panose="020F0502020204030204" pitchFamily="34" charset="0"/>
              <a:cs typeface="Times New Roman" panose="02020603050405020304" pitchFamily="18" charset="0"/>
            </a:endParaRPr>
          </a:p>
          <a:p>
            <a:pPr lvl="0" algn="just">
              <a:lnSpc>
                <a:spcPct val="150000"/>
              </a:lnSpc>
              <a:buFont typeface="Calibri" panose="020F0502020204030204" pitchFamily="34" charset="0"/>
              <a:buChar char="-"/>
            </a:pPr>
            <a:r>
              <a:rPr lang="fr-FR" sz="3300" dirty="0">
                <a:solidFill>
                  <a:srgbClr val="000000"/>
                </a:solidFill>
                <a:latin typeface="Tahoma" panose="020B0604030504040204" pitchFamily="34" charset="0"/>
                <a:ea typeface="Calibri" panose="020F0502020204030204" pitchFamily="34" charset="0"/>
                <a:cs typeface="Times New Roman" panose="02020603050405020304" pitchFamily="18" charset="0"/>
              </a:rPr>
              <a:t>les troubles neurovégétatifs : dyspnée-palpitations.</a:t>
            </a:r>
            <a:endParaRPr lang="fr-FR" sz="3300" dirty="0">
              <a:ea typeface="Calibri" panose="020F0502020204030204" pitchFamily="34" charset="0"/>
              <a:cs typeface="Times New Roman" panose="02020603050405020304" pitchFamily="18" charset="0"/>
            </a:endParaRPr>
          </a:p>
          <a:p>
            <a:pPr algn="just">
              <a:lnSpc>
                <a:spcPct val="150000"/>
              </a:lnSpc>
            </a:pPr>
            <a:endParaRPr lang="fr-FR" dirty="0"/>
          </a:p>
        </p:txBody>
      </p:sp>
    </p:spTree>
    <p:extLst>
      <p:ext uri="{BB962C8B-B14F-4D97-AF65-F5344CB8AC3E}">
        <p14:creationId xmlns:p14="http://schemas.microsoft.com/office/powerpoint/2010/main" val="532607511"/>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23859"/>
            <a:ext cx="8911687" cy="576893"/>
          </a:xfrm>
        </p:spPr>
        <p:txBody>
          <a:bodyPr>
            <a:normAutofit fontScale="90000"/>
          </a:bodyPr>
          <a:lstStyle/>
          <a:p>
            <a:pPr lvl="0"/>
            <a:r>
              <a:rPr lang="fr-FR"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DIAGNOSTIC</a:t>
            </a:r>
            <a:r>
              <a:rPr lang="fr-FR" dirty="0">
                <a:solidFill>
                  <a:srgbClr val="000000"/>
                </a:solidFill>
                <a:latin typeface="Courier New" panose="02070309020205020404" pitchFamily="49" charset="0"/>
                <a:ea typeface="Arial Unicode MS" panose="020B0604020202020204" pitchFamily="34" charset="-128"/>
              </a:rPr>
              <a:t/>
            </a:r>
            <a:br>
              <a:rPr lang="fr-FR"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764275" y="900753"/>
            <a:ext cx="11150221" cy="5609230"/>
          </a:xfrm>
        </p:spPr>
        <p:txBody>
          <a:bodyPr>
            <a:noAutofit/>
          </a:bodyPr>
          <a:lstStyle/>
          <a:p>
            <a:pPr marL="0" lvl="0" indent="0" algn="just">
              <a:lnSpc>
                <a:spcPct val="150000"/>
              </a:lnSpc>
              <a:buNone/>
            </a:pPr>
            <a:r>
              <a:rPr lang="fr-FR" sz="2700" dirty="0">
                <a:solidFill>
                  <a:srgbClr val="000000"/>
                </a:solidFill>
                <a:latin typeface="Tahoma" panose="020B0604030504040204" pitchFamily="34" charset="0"/>
              </a:rPr>
              <a:t>Une hyper éosinophilie sanguine modérée 500 à 1000/mm en moyenne</a:t>
            </a:r>
            <a:endParaRPr lang="fr-FR" sz="2700" dirty="0"/>
          </a:p>
          <a:p>
            <a:pPr marL="0" lvl="0" indent="0" algn="just">
              <a:lnSpc>
                <a:spcPct val="150000"/>
              </a:lnSpc>
              <a:buNone/>
            </a:pPr>
            <a:r>
              <a:rPr lang="fr-FR" sz="2700" dirty="0">
                <a:solidFill>
                  <a:srgbClr val="000000"/>
                </a:solidFill>
                <a:latin typeface="Tahoma" panose="020B0604030504040204" pitchFamily="34" charset="0"/>
              </a:rPr>
              <a:t>Le lavement baryté pratiqué devant des douleurs épigastriques, troubles du transit</a:t>
            </a:r>
            <a:r>
              <a:rPr lang="fr-FR" sz="2700" dirty="0" smtClean="0">
                <a:solidFill>
                  <a:srgbClr val="000000"/>
                </a:solidFill>
                <a:latin typeface="Tahoma" panose="020B0604030504040204" pitchFamily="34" charset="0"/>
              </a:rPr>
              <a:t>, permet </a:t>
            </a:r>
            <a:r>
              <a:rPr lang="fr-FR" sz="2700" dirty="0">
                <a:solidFill>
                  <a:srgbClr val="000000"/>
                </a:solidFill>
                <a:latin typeface="Tahoma" panose="020B0604030504040204" pitchFamily="34" charset="0"/>
              </a:rPr>
              <a:t>de voir l'image du ténia sous forme de bandelettes longues continues de 1 à 3 mm d'épaisseur (si les anneaux sont parallèles aux rayons X),</a:t>
            </a:r>
            <a:endParaRPr lang="fr-FR" sz="2700" dirty="0"/>
          </a:p>
          <a:p>
            <a:pPr marL="0" lvl="0" indent="0" algn="just">
              <a:lnSpc>
                <a:spcPct val="150000"/>
              </a:lnSpc>
              <a:buNone/>
            </a:pPr>
            <a:r>
              <a:rPr lang="fr-FR" sz="2700" dirty="0">
                <a:solidFill>
                  <a:srgbClr val="000000"/>
                </a:solidFill>
                <a:latin typeface="Tahoma" panose="020B0604030504040204" pitchFamily="34" charset="0"/>
              </a:rPr>
              <a:t>Présence d'anneaux dans le linge et la literie,</a:t>
            </a:r>
            <a:endParaRPr lang="fr-FR" sz="2700" dirty="0"/>
          </a:p>
          <a:p>
            <a:pPr marL="0" lvl="0" indent="0" algn="just">
              <a:lnSpc>
                <a:spcPct val="150000"/>
              </a:lnSpc>
              <a:buNone/>
            </a:pPr>
            <a:r>
              <a:rPr lang="fr-FR" sz="2700" dirty="0">
                <a:solidFill>
                  <a:srgbClr val="000000"/>
                </a:solidFill>
                <a:latin typeface="Tahoma" panose="020B0604030504040204" pitchFamily="34" charset="0"/>
              </a:rPr>
              <a:t>Mise en évidence des œufs collés à la marge anale par le test de GRAHAM</a:t>
            </a:r>
            <a:r>
              <a:rPr lang="fr-FR" sz="2700" dirty="0" smtClean="0">
                <a:solidFill>
                  <a:srgbClr val="000000"/>
                </a:solidFill>
                <a:latin typeface="Tahoma" panose="020B0604030504040204" pitchFamily="34" charset="0"/>
              </a:rPr>
              <a:t>.</a:t>
            </a:r>
            <a:endParaRPr lang="fr-FR" sz="2700" dirty="0"/>
          </a:p>
        </p:txBody>
      </p:sp>
    </p:spTree>
    <p:extLst>
      <p:ext uri="{BB962C8B-B14F-4D97-AF65-F5344CB8AC3E}">
        <p14:creationId xmlns:p14="http://schemas.microsoft.com/office/powerpoint/2010/main" val="125780501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508654"/>
          </a:xfrm>
        </p:spPr>
        <p:txBody>
          <a:bodyPr>
            <a:normAutofit fontScale="90000"/>
          </a:bodyPr>
          <a:lstStyle/>
          <a:p>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TRAITEMENT</a:t>
            </a:r>
            <a:endParaRPr lang="fr-FR" dirty="0"/>
          </a:p>
        </p:txBody>
      </p:sp>
      <p:sp>
        <p:nvSpPr>
          <p:cNvPr id="3" name="Espace réservé du contenu 2"/>
          <p:cNvSpPr>
            <a:spLocks noGrp="1"/>
          </p:cNvSpPr>
          <p:nvPr>
            <p:ph idx="1"/>
          </p:nvPr>
        </p:nvSpPr>
        <p:spPr>
          <a:xfrm>
            <a:off x="791570" y="1132764"/>
            <a:ext cx="10713042" cy="5295332"/>
          </a:xfrm>
        </p:spPr>
        <p:txBody>
          <a:bodyPr>
            <a:noAutofit/>
          </a:bodyPr>
          <a:lstStyle/>
          <a:p>
            <a:pPr>
              <a:lnSpc>
                <a:spcPct val="150000"/>
              </a:lnSpc>
            </a:pPr>
            <a:r>
              <a:rPr lang="fr-FR" sz="2400" dirty="0" err="1" smtClean="0">
                <a:solidFill>
                  <a:srgbClr val="000000"/>
                </a:solidFill>
                <a:latin typeface="Tahoma" panose="020B0604030504040204" pitchFamily="34" charset="0"/>
              </a:rPr>
              <a:t>Niclosamide</a:t>
            </a:r>
            <a:r>
              <a:rPr lang="fr-FR" sz="2400" dirty="0" smtClean="0">
                <a:solidFill>
                  <a:srgbClr val="000000"/>
                </a:solidFill>
                <a:latin typeface="Tahoma" panose="020B0604030504040204" pitchFamily="34" charset="0"/>
              </a:rPr>
              <a:t> </a:t>
            </a:r>
            <a:r>
              <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a:t>
            </a:r>
            <a:r>
              <a:rPr lang="fr-FR" sz="24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tredemine</a:t>
            </a:r>
            <a:r>
              <a:rPr lang="fr-FR" sz="24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400" dirty="0">
                <a:solidFill>
                  <a:srgbClr val="000000"/>
                </a:solidFill>
                <a:latin typeface="Tahoma" panose="020B0604030504040204" pitchFamily="34" charset="0"/>
              </a:rPr>
              <a:t>comprimés à 500 mg </a:t>
            </a:r>
            <a:endParaRPr lang="fr-FR" sz="2400" dirty="0"/>
          </a:p>
          <a:p>
            <a:pPr>
              <a:lnSpc>
                <a:spcPct val="150000"/>
              </a:lnSpc>
            </a:pPr>
            <a:r>
              <a:rPr lang="fr-FR" sz="24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Posologie:</a:t>
            </a:r>
            <a:r>
              <a:rPr lang="fr-FR" sz="2400" dirty="0" smtClean="0"/>
              <a:t> </a:t>
            </a:r>
            <a:r>
              <a:rPr lang="fr-FR" sz="2400" dirty="0" smtClean="0">
                <a:solidFill>
                  <a:srgbClr val="000000"/>
                </a:solidFill>
                <a:latin typeface="Tahoma" panose="020B0604030504040204" pitchFamily="34" charset="0"/>
              </a:rPr>
              <a:t>2 </a:t>
            </a:r>
            <a:r>
              <a:rPr lang="fr-FR" sz="2400" dirty="0" err="1">
                <a:solidFill>
                  <a:srgbClr val="000000"/>
                </a:solidFill>
                <a:latin typeface="Tahoma" panose="020B0604030504040204" pitchFamily="34" charset="0"/>
              </a:rPr>
              <a:t>cp</a:t>
            </a:r>
            <a:r>
              <a:rPr lang="fr-FR" sz="2400" dirty="0">
                <a:solidFill>
                  <a:srgbClr val="000000"/>
                </a:solidFill>
                <a:latin typeface="Tahoma" panose="020B0604030504040204" pitchFamily="34" charset="0"/>
              </a:rPr>
              <a:t> à jeun </a:t>
            </a:r>
            <a:r>
              <a:rPr lang="fr-FR" sz="2400" dirty="0" smtClean="0">
                <a:solidFill>
                  <a:srgbClr val="000000"/>
                </a:solidFill>
                <a:latin typeface="Tahoma" panose="020B0604030504040204" pitchFamily="34" charset="0"/>
              </a:rPr>
              <a:t>à mâcher, attendre </a:t>
            </a:r>
            <a:r>
              <a:rPr lang="fr-FR" sz="2400" dirty="0">
                <a:solidFill>
                  <a:srgbClr val="000000"/>
                </a:solidFill>
                <a:latin typeface="Tahoma" panose="020B0604030504040204" pitchFamily="34" charset="0"/>
              </a:rPr>
              <a:t>une heure toujours à </a:t>
            </a:r>
            <a:r>
              <a:rPr lang="fr-FR" sz="2400" dirty="0" smtClean="0">
                <a:solidFill>
                  <a:srgbClr val="000000"/>
                </a:solidFill>
                <a:latin typeface="Tahoma" panose="020B0604030504040204" pitchFamily="34" charset="0"/>
              </a:rPr>
              <a:t>jeun,</a:t>
            </a:r>
            <a:r>
              <a:rPr lang="fr-FR" sz="2400" dirty="0" smtClean="0"/>
              <a:t> </a:t>
            </a:r>
            <a:r>
              <a:rPr lang="fr-FR" sz="2400" dirty="0" smtClean="0">
                <a:solidFill>
                  <a:srgbClr val="000000"/>
                </a:solidFill>
                <a:latin typeface="Tahoma" panose="020B0604030504040204" pitchFamily="34" charset="0"/>
              </a:rPr>
              <a:t>Prendre </a:t>
            </a:r>
            <a:r>
              <a:rPr lang="fr-FR" sz="2400" dirty="0">
                <a:solidFill>
                  <a:srgbClr val="000000"/>
                </a:solidFill>
                <a:latin typeface="Tahoma" panose="020B0604030504040204" pitchFamily="34" charset="0"/>
              </a:rPr>
              <a:t>2 </a:t>
            </a:r>
            <a:r>
              <a:rPr lang="fr-FR" sz="2400" dirty="0" err="1">
                <a:solidFill>
                  <a:srgbClr val="000000"/>
                </a:solidFill>
                <a:latin typeface="Tahoma" panose="020B0604030504040204" pitchFamily="34" charset="0"/>
              </a:rPr>
              <a:t>cp</a:t>
            </a:r>
            <a:r>
              <a:rPr lang="fr-FR" sz="2400" dirty="0">
                <a:solidFill>
                  <a:srgbClr val="000000"/>
                </a:solidFill>
                <a:latin typeface="Tahoma" panose="020B0604030504040204" pitchFamily="34" charset="0"/>
              </a:rPr>
              <a:t> comme </a:t>
            </a:r>
            <a:r>
              <a:rPr lang="fr-FR" sz="2400" dirty="0" smtClean="0">
                <a:solidFill>
                  <a:srgbClr val="000000"/>
                </a:solidFill>
                <a:latin typeface="Tahoma" panose="020B0604030504040204" pitchFamily="34" charset="0"/>
              </a:rPr>
              <a:t>précédemment,</a:t>
            </a:r>
            <a:r>
              <a:rPr lang="fr-FR" sz="2400" dirty="0" smtClean="0"/>
              <a:t> a</a:t>
            </a:r>
            <a:r>
              <a:rPr lang="fr-FR" sz="2400" dirty="0" smtClean="0">
                <a:solidFill>
                  <a:srgbClr val="000000"/>
                </a:solidFill>
                <a:latin typeface="Tahoma" panose="020B0604030504040204" pitchFamily="34" charset="0"/>
              </a:rPr>
              <a:t>ttendre </a:t>
            </a:r>
            <a:r>
              <a:rPr lang="fr-FR" sz="2400" dirty="0">
                <a:solidFill>
                  <a:srgbClr val="000000"/>
                </a:solidFill>
                <a:latin typeface="Tahoma" panose="020B0604030504040204" pitchFamily="34" charset="0"/>
              </a:rPr>
              <a:t>3 heures avant de se réalimenter,</a:t>
            </a:r>
            <a:endParaRPr lang="fr-FR" sz="2400" dirty="0"/>
          </a:p>
          <a:p>
            <a:pPr lvl="0">
              <a:lnSpc>
                <a:spcPct val="150000"/>
              </a:lnSpc>
              <a:buFont typeface="Symbol" panose="05050102010706020507" pitchFamily="18" charset="2"/>
              <a:buChar char=""/>
            </a:pPr>
            <a:r>
              <a:rPr lang="fr-FR" sz="2400" dirty="0">
                <a:solidFill>
                  <a:srgbClr val="000000"/>
                </a:solidFill>
                <a:latin typeface="Tahoma" panose="020B0604030504040204" pitchFamily="34" charset="0"/>
              </a:rPr>
              <a:t>Dans certains cas, on peut introduire le produit par tubage duodénal au contact du ver.</a:t>
            </a:r>
            <a:endParaRPr lang="fr-FR" sz="2400" dirty="0"/>
          </a:p>
          <a:p>
            <a:pPr>
              <a:lnSpc>
                <a:spcPct val="150000"/>
              </a:lnSpc>
            </a:pPr>
            <a:r>
              <a:rPr lang="fr-FR" sz="2000" b="1" i="1" u="sng" spc="-15" dirty="0">
                <a:solidFill>
                  <a:srgbClr val="00B0F0"/>
                </a:solidFill>
                <a:latin typeface="Tahoma" panose="020B0604030504040204" pitchFamily="34" charset="0"/>
                <a:ea typeface="Calibri" panose="020F0502020204030204" pitchFamily="34" charset="0"/>
                <a:cs typeface="Times New Roman" panose="02020603050405020304" pitchFamily="18" charset="0"/>
              </a:rPr>
              <a:t>NB</a:t>
            </a:r>
            <a:r>
              <a:rPr lang="fr-FR" sz="2000" i="1" spc="-15" dirty="0">
                <a:solidFill>
                  <a:srgbClr val="00B0F0"/>
                </a:solidFill>
                <a:latin typeface="Tahoma" panose="020B0604030504040204" pitchFamily="34" charset="0"/>
                <a:ea typeface="Calibri" panose="020F0502020204030204" pitchFamily="34" charset="0"/>
                <a:cs typeface="Times New Roman" panose="02020603050405020304" pitchFamily="18" charset="0"/>
              </a:rPr>
              <a:t> </a:t>
            </a:r>
            <a:r>
              <a:rPr lang="fr-FR" sz="2000" i="1" spc="-15" dirty="0" smtClean="0">
                <a:solidFill>
                  <a:srgbClr val="00B0F0"/>
                </a:solidFill>
                <a:latin typeface="Tahoma" panose="020B0604030504040204" pitchFamily="34" charset="0"/>
                <a:ea typeface="Calibri" panose="020F0502020204030204" pitchFamily="34" charset="0"/>
                <a:cs typeface="Times New Roman" panose="02020603050405020304" pitchFamily="18" charset="0"/>
              </a:rPr>
              <a:t>:</a:t>
            </a:r>
            <a:r>
              <a:rPr lang="fr-FR" sz="2000" i="1" dirty="0" smtClean="0">
                <a:solidFill>
                  <a:srgbClr val="00B0F0"/>
                </a:solidFill>
                <a:latin typeface="Tahoma" panose="020B0604030504040204" pitchFamily="34" charset="0"/>
              </a:rPr>
              <a:t>la </a:t>
            </a:r>
            <a:r>
              <a:rPr lang="fr-FR" sz="2000" i="1" dirty="0" err="1">
                <a:solidFill>
                  <a:srgbClr val="00B0F0"/>
                </a:solidFill>
                <a:latin typeface="Tahoma" panose="020B0604030504040204" pitchFamily="34" charset="0"/>
              </a:rPr>
              <a:t>Trédemine</a:t>
            </a:r>
            <a:r>
              <a:rPr lang="fr-FR" sz="2000" i="1" dirty="0">
                <a:solidFill>
                  <a:srgbClr val="00B0F0"/>
                </a:solidFill>
                <a:latin typeface="Tahoma" panose="020B0604030504040204" pitchFamily="34" charset="0"/>
              </a:rPr>
              <a:t> peut être administré sans danger chez la femme enceinte</a:t>
            </a:r>
            <a:r>
              <a:rPr lang="fr-FR" sz="2400" i="1" dirty="0">
                <a:latin typeface="Tahoma" panose="020B0604030504040204" pitchFamily="34" charset="0"/>
              </a:rPr>
              <a:t>.</a:t>
            </a:r>
            <a:endParaRPr lang="fr-FR" sz="2400" dirty="0"/>
          </a:p>
          <a:p>
            <a:pPr>
              <a:lnSpc>
                <a:spcPct val="150000"/>
              </a:lnSpc>
            </a:pPr>
            <a:r>
              <a:rPr lang="fr-FR" sz="2400" i="1" dirty="0" err="1" smtClean="0">
                <a:latin typeface="Tahoma" panose="020B0604030504040204" pitchFamily="34" charset="0"/>
              </a:rPr>
              <a:t>Praziquantel</a:t>
            </a:r>
            <a:r>
              <a:rPr lang="fr-FR" sz="2400" i="1" spc="-1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r>
              <a:rPr lang="fr-FR" sz="2400" i="1" spc="-15"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Biltricide</a:t>
            </a:r>
            <a:r>
              <a:rPr lang="fr-FR" sz="2400" i="1" spc="-1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r>
              <a:rPr lang="fr-FR" sz="2400" dirty="0" smtClean="0"/>
              <a:t> </a:t>
            </a:r>
            <a:r>
              <a:rPr lang="fr-FR" sz="2400" i="1" dirty="0" smtClean="0">
                <a:latin typeface="Tahoma" panose="020B0604030504040204" pitchFamily="34" charset="0"/>
              </a:rPr>
              <a:t>Posologie </a:t>
            </a:r>
            <a:r>
              <a:rPr lang="fr-FR" sz="2400" i="1" dirty="0">
                <a:latin typeface="Tahoma" panose="020B0604030504040204" pitchFamily="34" charset="0"/>
              </a:rPr>
              <a:t>: 10 mg/kg en 1 prise sans précaution de jeûne. Efficacité proche de 100%.</a:t>
            </a:r>
            <a:endParaRPr lang="fr-FR" sz="2400" dirty="0"/>
          </a:p>
          <a:p>
            <a:endParaRPr lang="fr-FR" sz="1600" dirty="0"/>
          </a:p>
        </p:txBody>
      </p:sp>
    </p:spTree>
    <p:extLst>
      <p:ext uri="{BB962C8B-B14F-4D97-AF65-F5344CB8AC3E}">
        <p14:creationId xmlns:p14="http://schemas.microsoft.com/office/powerpoint/2010/main" val="4272101346"/>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51155"/>
            <a:ext cx="8911687" cy="576893"/>
          </a:xfrm>
        </p:spPr>
        <p:txBody>
          <a:bodyPr>
            <a:normAutofit fontScale="90000"/>
          </a:bodyPr>
          <a:lstStyle/>
          <a:p>
            <a:pPr lvl="0" algn="ctr"/>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PROPHYLAXIE</a:t>
            </a:r>
            <a:r>
              <a:rPr lang="fr-FR" dirty="0">
                <a:solidFill>
                  <a:srgbClr val="000000"/>
                </a:solidFill>
                <a:latin typeface="Courier New" panose="02070309020205020404" pitchFamily="49" charset="0"/>
                <a:ea typeface="Arial Unicode MS" panose="020B0604020202020204" pitchFamily="34" charset="-128"/>
              </a:rPr>
              <a:t/>
            </a:r>
            <a:br>
              <a:rPr lang="fr-FR" dirty="0">
                <a:solidFill>
                  <a:srgbClr val="000000"/>
                </a:solidFill>
                <a:latin typeface="Courier New" panose="02070309020205020404" pitchFamily="49" charset="0"/>
                <a:ea typeface="Arial Unicode MS" panose="020B0604020202020204" pitchFamily="34" charset="-128"/>
              </a:rPr>
            </a:br>
            <a:endParaRPr lang="fr-FR" dirty="0"/>
          </a:p>
        </p:txBody>
      </p:sp>
      <p:sp>
        <p:nvSpPr>
          <p:cNvPr id="3" name="Espace réservé du contenu 2"/>
          <p:cNvSpPr>
            <a:spLocks noGrp="1"/>
          </p:cNvSpPr>
          <p:nvPr>
            <p:ph idx="1"/>
          </p:nvPr>
        </p:nvSpPr>
        <p:spPr>
          <a:xfrm>
            <a:off x="764275" y="928049"/>
            <a:ext cx="10740337" cy="5595582"/>
          </a:xfrm>
        </p:spPr>
        <p:txBody>
          <a:bodyPr>
            <a:normAutofit/>
          </a:bodyPr>
          <a:lstStyle/>
          <a:p>
            <a:pPr marL="457200" lvl="1" indent="0" algn="just">
              <a:buNone/>
            </a:pPr>
            <a:r>
              <a:rPr lang="fr-FR" sz="2400"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Mesures générales</a:t>
            </a:r>
            <a:endParaRPr lang="fr-FR" sz="2400" dirty="0">
              <a:solidFill>
                <a:srgbClr val="000000"/>
              </a:solidFill>
              <a:latin typeface="Courier New" panose="02070309020205020404" pitchFamily="49" charset="0"/>
              <a:ea typeface="Calibri" panose="020F0502020204030204" pitchFamily="34" charset="0"/>
            </a:endParaRPr>
          </a:p>
          <a:p>
            <a:pPr lvl="0" algn="just">
              <a:buFont typeface="Wingdings" panose="05000000000000000000" pitchFamily="2" charset="2"/>
              <a:buChar char=""/>
            </a:pPr>
            <a:r>
              <a:rPr lang="fr-FR" sz="2400" b="1" dirty="0">
                <a:solidFill>
                  <a:srgbClr val="000000"/>
                </a:solidFill>
                <a:latin typeface="Tahoma" panose="020B0604030504040204" pitchFamily="34" charset="0"/>
                <a:ea typeface="Courier New" panose="02070309020205020404" pitchFamily="49" charset="0"/>
              </a:rPr>
              <a:t>Mesures visant à empêcher l'infestation de l'hôte intermédiaire</a:t>
            </a:r>
            <a:endParaRPr lang="fr-FR" sz="2400" dirty="0">
              <a:solidFill>
                <a:srgbClr val="000000"/>
              </a:solidFill>
              <a:latin typeface="Courier New" panose="02070309020205020404" pitchFamily="49" charset="0"/>
              <a:ea typeface="Courier New" panose="02070309020205020404" pitchFamily="49" charset="0"/>
            </a:endParaRPr>
          </a:p>
          <a:p>
            <a:pPr lvl="0">
              <a:buFont typeface="Calibri" panose="020F0502020204030204" pitchFamily="34" charset="0"/>
              <a:buChar char="-"/>
            </a:pP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 de tous les porteurs de ténia,</a:t>
            </a:r>
            <a:endParaRPr lang="fr-FR" sz="2400" dirty="0">
              <a:ea typeface="Calibri" panose="020F0502020204030204" pitchFamily="34" charset="0"/>
              <a:cs typeface="Times New Roman" panose="02020603050405020304" pitchFamily="18" charset="0"/>
            </a:endParaRPr>
          </a:p>
          <a:p>
            <a:pPr lvl="0">
              <a:buFont typeface="Calibri" panose="020F0502020204030204" pitchFamily="34" charset="0"/>
              <a:buChar char="-"/>
            </a:pP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construction et utilisation des latrines,</a:t>
            </a:r>
            <a:endParaRPr lang="fr-FR" sz="2400" dirty="0">
              <a:ea typeface="Calibri" panose="020F0502020204030204" pitchFamily="34" charset="0"/>
              <a:cs typeface="Times New Roman" panose="02020603050405020304" pitchFamily="18" charset="0"/>
            </a:endParaRPr>
          </a:p>
          <a:p>
            <a:pPr lvl="0">
              <a:buFont typeface="Calibri" panose="020F0502020204030204" pitchFamily="34" charset="0"/>
              <a:buChar char="-"/>
            </a:pP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stabulation des animaux,</a:t>
            </a:r>
            <a:endParaRPr lang="fr-FR" sz="2400" dirty="0">
              <a:ea typeface="Calibri" panose="020F0502020204030204" pitchFamily="34" charset="0"/>
              <a:cs typeface="Times New Roman" panose="02020603050405020304" pitchFamily="18" charset="0"/>
            </a:endParaRPr>
          </a:p>
          <a:p>
            <a:pPr lvl="0">
              <a:buFont typeface="Calibri" panose="020F0502020204030204" pitchFamily="34" charset="0"/>
              <a:buChar char="-"/>
            </a:pP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 des eaux usées.</a:t>
            </a:r>
            <a:endParaRPr lang="fr-FR" sz="2400" dirty="0">
              <a:ea typeface="Calibri" panose="020F0502020204030204" pitchFamily="34" charset="0"/>
              <a:cs typeface="Times New Roman" panose="02020603050405020304" pitchFamily="18" charset="0"/>
            </a:endParaRPr>
          </a:p>
          <a:p>
            <a:pPr lvl="0" algn="just">
              <a:buFont typeface="Wingdings" panose="05000000000000000000" pitchFamily="2" charset="2"/>
              <a:buChar char=""/>
            </a:pPr>
            <a:r>
              <a:rPr lang="fr-FR" sz="2400" b="1" dirty="0">
                <a:solidFill>
                  <a:srgbClr val="000000"/>
                </a:solidFill>
                <a:latin typeface="Tahoma" panose="020B0604030504040204" pitchFamily="34" charset="0"/>
                <a:ea typeface="Courier New" panose="02070309020205020404" pitchFamily="49" charset="0"/>
              </a:rPr>
              <a:t>Mesures visant à empêcher l'infestation de l'homme</a:t>
            </a:r>
            <a:endParaRPr lang="fr-FR" sz="2400" dirty="0">
              <a:solidFill>
                <a:srgbClr val="000000"/>
              </a:solidFill>
              <a:latin typeface="Courier New" panose="02070309020205020404" pitchFamily="49" charset="0"/>
              <a:ea typeface="Courier New" panose="02070309020205020404" pitchFamily="49" charset="0"/>
            </a:endParaRPr>
          </a:p>
          <a:p>
            <a:pPr lvl="0">
              <a:buFont typeface="Calibri" panose="020F0502020204030204" pitchFamily="34" charset="0"/>
              <a:buChar char="-"/>
            </a:pP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surveillance vétérinaire de la viande</a:t>
            </a:r>
            <a:endParaRPr lang="fr-FR" sz="2400" dirty="0">
              <a:ea typeface="Calibri" panose="020F0502020204030204" pitchFamily="34" charset="0"/>
              <a:cs typeface="Times New Roman" panose="02020603050405020304" pitchFamily="18" charset="0"/>
            </a:endParaRPr>
          </a:p>
          <a:p>
            <a:pPr lvl="0">
              <a:buFont typeface="Calibri" panose="020F0502020204030204" pitchFamily="34" charset="0"/>
              <a:buChar char="-"/>
            </a:pPr>
            <a:r>
              <a:rPr lang="fr-FR" sz="2400" dirty="0">
                <a:solidFill>
                  <a:srgbClr val="000000"/>
                </a:solidFill>
                <a:latin typeface="Tahoma" panose="020B0604030504040204" pitchFamily="34" charset="0"/>
                <a:ea typeface="Calibri" panose="020F0502020204030204" pitchFamily="34" charset="0"/>
                <a:cs typeface="Times New Roman" panose="02020603050405020304" pitchFamily="18" charset="0"/>
              </a:rPr>
              <a:t>assainissement de la viande par congélation, vaccination à l'étude</a:t>
            </a:r>
            <a:r>
              <a:rPr lang="fr-FR" sz="24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400" dirty="0">
              <a:solidFill>
                <a:srgbClr val="000000"/>
              </a:solidFill>
              <a:latin typeface="Courier New" panose="02070309020205020404" pitchFamily="49" charset="0"/>
              <a:ea typeface="Courier New" panose="02070309020205020404" pitchFamily="49" charset="0"/>
            </a:endParaRPr>
          </a:p>
          <a:p>
            <a:pPr lvl="1" algn="just">
              <a:buFont typeface="+mj-lt"/>
              <a:buAutoNum type="arabicPeriod"/>
            </a:pPr>
            <a:r>
              <a:rPr lang="fr-FR" sz="2400" b="1" u="sng"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Mesures individuées</a:t>
            </a:r>
            <a:endParaRPr lang="fr-FR" sz="2400" dirty="0">
              <a:solidFill>
                <a:srgbClr val="000000"/>
              </a:solidFill>
              <a:latin typeface="Courier New" panose="02070309020205020404" pitchFamily="49" charset="0"/>
              <a:ea typeface="Calibri" panose="020F0502020204030204" pitchFamily="34" charset="0"/>
            </a:endParaRPr>
          </a:p>
          <a:p>
            <a:r>
              <a:rPr lang="fr-FR" sz="2400" dirty="0">
                <a:solidFill>
                  <a:srgbClr val="000000"/>
                </a:solidFill>
                <a:latin typeface="Tahoma" panose="020B0604030504040204" pitchFamily="34" charset="0"/>
                <a:ea typeface="Courier New" panose="02070309020205020404" pitchFamily="49" charset="0"/>
              </a:rPr>
              <a:t>Cuisson suffisante de la viande de bœuf</a:t>
            </a:r>
            <a:endParaRPr lang="fr-FR" sz="2400" dirty="0"/>
          </a:p>
        </p:txBody>
      </p:sp>
    </p:spTree>
    <p:extLst>
      <p:ext uri="{BB962C8B-B14F-4D97-AF65-F5344CB8AC3E}">
        <p14:creationId xmlns:p14="http://schemas.microsoft.com/office/powerpoint/2010/main" val="3739446179"/>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86075"/>
          </a:xfrm>
        </p:spPr>
        <p:txBody>
          <a:bodyPr>
            <a:normAutofit fontScale="90000"/>
          </a:bodyPr>
          <a:lstStyle/>
          <a:p>
            <a:pPr lvl="0"/>
            <a:r>
              <a:rPr lang="fr-FR" sz="28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TENIASE A TAENIA SOLIUM</a:t>
            </a:r>
            <a:r>
              <a:rPr lang="fr-FR" sz="2800" dirty="0">
                <a:solidFill>
                  <a:srgbClr val="000000"/>
                </a:solidFill>
                <a:latin typeface="Courier New" panose="02070309020205020404" pitchFamily="49" charset="0"/>
                <a:ea typeface="Arial Unicode MS" panose="020B0604020202020204" pitchFamily="34" charset="-128"/>
              </a:rPr>
              <a:t/>
            </a:r>
            <a:br>
              <a:rPr lang="fr-FR" sz="2800" dirty="0">
                <a:solidFill>
                  <a:srgbClr val="000000"/>
                </a:solidFill>
                <a:latin typeface="Courier New" panose="02070309020205020404" pitchFamily="49" charset="0"/>
                <a:ea typeface="Arial Unicode MS" panose="020B0604020202020204" pitchFamily="34" charset="-128"/>
              </a:rPr>
            </a:br>
            <a:endParaRPr lang="fr-FR" sz="2800" dirty="0"/>
          </a:p>
        </p:txBody>
      </p:sp>
      <p:sp>
        <p:nvSpPr>
          <p:cNvPr id="3" name="Espace réservé du contenu 2"/>
          <p:cNvSpPr>
            <a:spLocks noGrp="1"/>
          </p:cNvSpPr>
          <p:nvPr>
            <p:ph idx="1"/>
          </p:nvPr>
        </p:nvSpPr>
        <p:spPr>
          <a:xfrm>
            <a:off x="1310185" y="1146412"/>
            <a:ext cx="10194427" cy="5063319"/>
          </a:xfrm>
        </p:spPr>
        <p:txBody>
          <a:bodyPr>
            <a:normAutofit lnSpcReduction="10000"/>
          </a:bodyPr>
          <a:lstStyle/>
          <a:p>
            <a:pPr marL="0" lvl="0" indent="0" algn="just">
              <a:lnSpc>
                <a:spcPct val="150000"/>
              </a:lnSpc>
              <a:buNone/>
            </a:pPr>
            <a:endParaRPr lang="fr-FR" dirty="0">
              <a:solidFill>
                <a:srgbClr val="000000"/>
              </a:solidFill>
              <a:latin typeface="Courier New" panose="02070309020205020404" pitchFamily="49" charset="0"/>
              <a:ea typeface="Calibri" panose="020F0502020204030204" pitchFamily="34" charset="0"/>
            </a:endParaRPr>
          </a:p>
          <a:p>
            <a:pPr indent="-635000" algn="just">
              <a:lnSpc>
                <a:spcPct val="150000"/>
              </a:lnSpc>
              <a:spcBef>
                <a:spcPts val="1200"/>
              </a:spcBef>
            </a:pPr>
            <a:r>
              <a:rPr lang="fr-FR" sz="2800" spc="25"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Taenia</a:t>
            </a:r>
            <a:r>
              <a:rPr lang="fr-FR" sz="2800"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2800" spc="25"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solium</a:t>
            </a:r>
            <a:r>
              <a:rPr lang="fr-FR" sz="2800" spc="30" dirty="0" smtClean="0">
                <a:solidFill>
                  <a:srgbClr val="000000"/>
                </a:solidFill>
                <a:latin typeface="Tahoma" panose="020B0604030504040204" pitchFamily="34" charset="0"/>
                <a:ea typeface="Calibri" panose="020F0502020204030204" pitchFamily="34" charset="0"/>
              </a:rPr>
              <a:t> </a:t>
            </a:r>
            <a:r>
              <a:rPr lang="fr-FR" sz="2800" spc="30" dirty="0" smtClean="0">
                <a:solidFill>
                  <a:srgbClr val="000000"/>
                </a:solidFill>
                <a:latin typeface="Tahoma" panose="020B0604030504040204" pitchFamily="34" charset="0"/>
                <a:ea typeface="Times New Roman" panose="02020603050405020304" pitchFamily="18" charset="0"/>
              </a:rPr>
              <a:t>est </a:t>
            </a:r>
            <a:r>
              <a:rPr lang="fr-FR" sz="2800" spc="30" dirty="0">
                <a:solidFill>
                  <a:srgbClr val="000000"/>
                </a:solidFill>
                <a:latin typeface="Tahoma" panose="020B0604030504040204" pitchFamily="34" charset="0"/>
                <a:ea typeface="Times New Roman" panose="02020603050405020304" pitchFamily="18" charset="0"/>
              </a:rPr>
              <a:t>le tænia du porc. C’est un ver plat de 2 à 8 mètres de long qui comporte 1000 anneaux. Son scolex possède une petite saillie rétractile appelée rostre armée d'une double couronne de crochets « tænia armé ». Il vit dans l'intestin grêle de l'homme. De son </a:t>
            </a:r>
            <a:r>
              <a:rPr lang="fr-FR" sz="2800" spc="30" dirty="0" smtClean="0">
                <a:solidFill>
                  <a:srgbClr val="000000"/>
                </a:solidFill>
                <a:latin typeface="Tahoma" panose="020B0604030504040204" pitchFamily="34" charset="0"/>
                <a:ea typeface="Times New Roman" panose="02020603050405020304" pitchFamily="18" charset="0"/>
              </a:rPr>
              <a:t>strobile (chaine d’anneaux) </a:t>
            </a:r>
            <a:r>
              <a:rPr lang="fr-FR" sz="2800" spc="30" dirty="0">
                <a:solidFill>
                  <a:srgbClr val="000000"/>
                </a:solidFill>
                <a:latin typeface="Tahoma" panose="020B0604030504040204" pitchFamily="34" charset="0"/>
                <a:ea typeface="Times New Roman" panose="02020603050405020304" pitchFamily="18" charset="0"/>
              </a:rPr>
              <a:t>se détachent des anneaux murs par groupe de 5 à 10 et sont éliminés passivement dans les selles.</a:t>
            </a:r>
            <a:endParaRPr lang="fr-FR" sz="2800" spc="3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1280449673"/>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42800" y="351155"/>
            <a:ext cx="8911687" cy="590541"/>
          </a:xfrm>
        </p:spPr>
        <p:txBody>
          <a:bodyPr>
            <a:normAutofit fontScale="90000"/>
          </a:bodyPr>
          <a:lstStyle/>
          <a:p>
            <a:pPr lvl="0"/>
            <a:r>
              <a:rPr lang="fr-FR" sz="27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MODE DE CONTAMINATION-CYCLE BIOLOGIQUE</a:t>
            </a:r>
            <a:r>
              <a:rPr lang="fr-FR" sz="2700" dirty="0">
                <a:solidFill>
                  <a:srgbClr val="000000"/>
                </a:solidFill>
                <a:latin typeface="Courier New" panose="02070309020205020404" pitchFamily="49" charset="0"/>
                <a:ea typeface="Courier New" panose="02070309020205020404" pitchFamily="49" charset="0"/>
              </a:rPr>
              <a:t/>
            </a:r>
            <a:br>
              <a:rPr lang="fr-FR" sz="2700"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805219" y="941697"/>
            <a:ext cx="10699394" cy="5336274"/>
          </a:xfrm>
        </p:spPr>
        <p:txBody>
          <a:bodyPr>
            <a:noAutofit/>
          </a:bodyPr>
          <a:lstStyle/>
          <a:p>
            <a:pPr algn="just">
              <a:lnSpc>
                <a:spcPct val="150000"/>
              </a:lnSpc>
            </a:pPr>
            <a:r>
              <a:rPr lang="fr-FR" sz="2800" dirty="0">
                <a:solidFill>
                  <a:srgbClr val="000000"/>
                </a:solidFill>
                <a:latin typeface="Tahoma" panose="020B0604030504040204" pitchFamily="34" charset="0"/>
              </a:rPr>
              <a:t>Dans le milieu extérieur, les anneaux et les œufs répandus sur le sol sont avalés par le porc. Dans son tube digestif, l'embryon hexacanthe est libéré et gagne le tissu musculaire (cœur, langue) ou il se transforme en larve cysticerque appelée </a:t>
            </a:r>
            <a:r>
              <a:rPr lang="fr-FR" sz="2800" dirty="0" err="1" smtClean="0">
                <a:solidFill>
                  <a:srgbClr val="000000"/>
                </a:solidFill>
                <a:latin typeface="Tahoma" panose="020B0604030504040204" pitchFamily="34" charset="0"/>
              </a:rPr>
              <a:t>cysticercus</a:t>
            </a:r>
            <a:r>
              <a:rPr lang="fr-FR" sz="2800" dirty="0" smtClean="0">
                <a:solidFill>
                  <a:srgbClr val="000000"/>
                </a:solidFill>
                <a:latin typeface="Tahoma" panose="020B0604030504040204" pitchFamily="34" charset="0"/>
              </a:rPr>
              <a:t> </a:t>
            </a:r>
            <a:r>
              <a:rPr lang="fr-FR" sz="2800" dirty="0" err="1" smtClean="0">
                <a:solidFill>
                  <a:srgbClr val="000000"/>
                </a:solidFill>
                <a:latin typeface="Tahoma" panose="020B0604030504040204" pitchFamily="34" charset="0"/>
              </a:rPr>
              <a:t>cellulosae</a:t>
            </a:r>
            <a:r>
              <a:rPr lang="fr-FR" sz="2800" dirty="0">
                <a:solidFill>
                  <a:srgbClr val="000000"/>
                </a:solidFill>
                <a:latin typeface="Tahoma" panose="020B0604030504040204" pitchFamily="34" charset="0"/>
              </a:rPr>
              <a:t>.</a:t>
            </a:r>
            <a:endParaRPr lang="fr-FR" sz="2800" dirty="0"/>
          </a:p>
          <a:p>
            <a:pPr algn="just">
              <a:lnSpc>
                <a:spcPct val="150000"/>
              </a:lnSpc>
            </a:pPr>
            <a:r>
              <a:rPr lang="fr-FR" sz="2800" dirty="0">
                <a:solidFill>
                  <a:srgbClr val="000000"/>
                </a:solidFill>
                <a:latin typeface="Tahoma" panose="020B0604030504040204" pitchFamily="34" charset="0"/>
              </a:rPr>
              <a:t>Ce cysticerque ingéré par l'homme avec de la viande de porc mal cuite s'attache à la paroi de l'iléon et grossit pour devenir adulte en 3 mois. Des anneaux vont alors se détacher et être éliminés dans les selles.</a:t>
            </a:r>
            <a:endParaRPr lang="fr-FR" sz="2800" dirty="0"/>
          </a:p>
          <a:p>
            <a:endParaRPr lang="fr-FR" sz="2000" dirty="0"/>
          </a:p>
        </p:txBody>
      </p:sp>
    </p:spTree>
    <p:extLst>
      <p:ext uri="{BB962C8B-B14F-4D97-AF65-F5344CB8AC3E}">
        <p14:creationId xmlns:p14="http://schemas.microsoft.com/office/powerpoint/2010/main" val="1540246952"/>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576893"/>
          </a:xfrm>
        </p:spPr>
        <p:txBody>
          <a:bodyPr>
            <a:normAutofit fontScale="90000"/>
          </a:bodyPr>
          <a:lstStyle/>
          <a:p>
            <a:pPr lvl="0"/>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MANIFESTATIONS CLINIQUES</a:t>
            </a:r>
            <a:r>
              <a:rPr lang="fr-FR" sz="2800" dirty="0">
                <a:solidFill>
                  <a:srgbClr val="000000"/>
                </a:solidFill>
                <a:latin typeface="Courier New" panose="02070309020205020404" pitchFamily="49" charset="0"/>
                <a:ea typeface="Courier New" panose="02070309020205020404" pitchFamily="49" charset="0"/>
              </a:rPr>
              <a:t/>
            </a:r>
            <a:br>
              <a:rPr lang="fr-FR" sz="2800" dirty="0">
                <a:solidFill>
                  <a:srgbClr val="000000"/>
                </a:solidFill>
                <a:latin typeface="Courier New" panose="02070309020205020404" pitchFamily="49" charset="0"/>
                <a:ea typeface="Courier New" panose="02070309020205020404" pitchFamily="49" charset="0"/>
              </a:rPr>
            </a:br>
            <a:endParaRPr lang="fr-FR" sz="2800" dirty="0"/>
          </a:p>
        </p:txBody>
      </p:sp>
      <p:sp>
        <p:nvSpPr>
          <p:cNvPr id="3" name="Espace réservé du contenu 2"/>
          <p:cNvSpPr>
            <a:spLocks noGrp="1"/>
          </p:cNvSpPr>
          <p:nvPr>
            <p:ph idx="1"/>
          </p:nvPr>
        </p:nvSpPr>
        <p:spPr>
          <a:xfrm>
            <a:off x="655093" y="1201003"/>
            <a:ext cx="10849519" cy="5117910"/>
          </a:xfrm>
        </p:spPr>
        <p:txBody>
          <a:bodyPr>
            <a:normAutofit fontScale="92500" lnSpcReduction="20000"/>
          </a:bodyPr>
          <a:lstStyle/>
          <a:p>
            <a:pPr>
              <a:lnSpc>
                <a:spcPct val="150000"/>
              </a:lnSpc>
            </a:pPr>
            <a:r>
              <a:rPr lang="fr-FR" sz="2800" dirty="0" smtClean="0">
                <a:solidFill>
                  <a:srgbClr val="000000"/>
                </a:solidFill>
                <a:latin typeface="Tahoma" panose="020B0604030504040204" pitchFamily="34" charset="0"/>
              </a:rPr>
              <a:t>Voir </a:t>
            </a:r>
            <a:r>
              <a:rPr lang="fr-FR" sz="2800" dirty="0" err="1">
                <a:solidFill>
                  <a:srgbClr val="000000"/>
                </a:solidFill>
                <a:latin typeface="Tahoma" panose="020B0604030504040204" pitchFamily="34" charset="0"/>
              </a:rPr>
              <a:t>Taeniase</a:t>
            </a:r>
            <a:r>
              <a:rPr lang="fr-FR" sz="2800" dirty="0">
                <a:solidFill>
                  <a:srgbClr val="000000"/>
                </a:solidFill>
                <a:latin typeface="Tahoma" panose="020B0604030504040204" pitchFamily="34" charset="0"/>
              </a:rPr>
              <a:t> à </a:t>
            </a:r>
            <a:r>
              <a:rPr lang="fr-FR" sz="2800" dirty="0" err="1">
                <a:solidFill>
                  <a:srgbClr val="000000"/>
                </a:solidFill>
                <a:latin typeface="Tahoma" panose="020B0604030504040204" pitchFamily="34" charset="0"/>
              </a:rPr>
              <a:t>taeniasaginata</a:t>
            </a:r>
            <a:r>
              <a:rPr lang="fr-FR" sz="2800" dirty="0" smtClean="0">
                <a:solidFill>
                  <a:srgbClr val="000000"/>
                </a:solidFill>
                <a:latin typeface="Tahoma" panose="020B0604030504040204" pitchFamily="34" charset="0"/>
              </a:rPr>
              <a:t>.</a:t>
            </a:r>
            <a:endParaRPr lang="fr-FR" sz="2800" dirty="0"/>
          </a:p>
          <a:p>
            <a:pPr marL="0" lvl="0" indent="0" algn="just">
              <a:lnSpc>
                <a:spcPct val="150000"/>
              </a:lnSpc>
              <a:buNone/>
            </a:pPr>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DIAGNOSTIC</a:t>
            </a:r>
            <a:endParaRPr lang="fr-FR" sz="2800" dirty="0">
              <a:solidFill>
                <a:srgbClr val="000000"/>
              </a:solidFill>
              <a:latin typeface="Courier New" panose="02070309020205020404" pitchFamily="49" charset="0"/>
              <a:ea typeface="Courier New" panose="02070309020205020404" pitchFamily="49" charset="0"/>
            </a:endParaRPr>
          </a:p>
          <a:p>
            <a:pPr>
              <a:lnSpc>
                <a:spcPct val="150000"/>
              </a:lnSpc>
            </a:pPr>
            <a:r>
              <a:rPr lang="fr-FR" sz="2800" dirty="0">
                <a:solidFill>
                  <a:srgbClr val="000000"/>
                </a:solidFill>
                <a:latin typeface="Tahoma" panose="020B0604030504040204" pitchFamily="34" charset="0"/>
              </a:rPr>
              <a:t>Mise en évidence d'</a:t>
            </a:r>
            <a:r>
              <a:rPr lang="fr-FR" sz="2800" dirty="0" err="1">
                <a:solidFill>
                  <a:srgbClr val="000000"/>
                </a:solidFill>
                <a:latin typeface="Tahoma" panose="020B0604030504040204" pitchFamily="34" charset="0"/>
              </a:rPr>
              <a:t>embryophores</a:t>
            </a:r>
            <a:r>
              <a:rPr lang="fr-FR" sz="2800" dirty="0">
                <a:solidFill>
                  <a:srgbClr val="000000"/>
                </a:solidFill>
                <a:latin typeface="Tahoma" panose="020B0604030504040204" pitchFamily="34" charset="0"/>
              </a:rPr>
              <a:t> au niveau de la marge anale par le scotch test de GRAHAM</a:t>
            </a:r>
            <a:r>
              <a:rPr lang="fr-FR" sz="2800" dirty="0" smtClean="0">
                <a:solidFill>
                  <a:srgbClr val="000000"/>
                </a:solidFill>
                <a:latin typeface="Tahoma" panose="020B0604030504040204" pitchFamily="34" charset="0"/>
              </a:rPr>
              <a:t>.</a:t>
            </a:r>
            <a:endParaRPr lang="fr-FR" sz="2800" dirty="0"/>
          </a:p>
          <a:p>
            <a:pPr marL="0" lvl="0" indent="0" algn="just">
              <a:lnSpc>
                <a:spcPct val="150000"/>
              </a:lnSpc>
              <a:buNone/>
            </a:pPr>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a:t>
            </a:r>
            <a:endParaRPr lang="fr-FR" sz="2800" dirty="0">
              <a:solidFill>
                <a:srgbClr val="000000"/>
              </a:solidFill>
              <a:latin typeface="Courier New" panose="02070309020205020404" pitchFamily="49" charset="0"/>
              <a:ea typeface="Courier New" panose="02070309020205020404" pitchFamily="49" charset="0"/>
            </a:endParaRPr>
          </a:p>
          <a:p>
            <a:pPr marL="0" lvl="0" indent="0" algn="just">
              <a:lnSpc>
                <a:spcPct val="150000"/>
              </a:lnSpc>
              <a:buNone/>
            </a:pPr>
            <a:r>
              <a:rPr lang="fr-FR" sz="2800" spc="10" dirty="0">
                <a:solidFill>
                  <a:srgbClr val="000000"/>
                </a:solidFill>
                <a:latin typeface="Tahoma" panose="020B0604030504040204" pitchFamily="34" charset="0"/>
                <a:ea typeface="Times New Roman" panose="02020603050405020304" pitchFamily="18" charset="0"/>
              </a:rPr>
              <a:t>Voir </a:t>
            </a:r>
            <a:r>
              <a:rPr lang="fr-FR" sz="2800" spc="10" dirty="0" err="1">
                <a:solidFill>
                  <a:srgbClr val="000000"/>
                </a:solidFill>
                <a:latin typeface="Tahoma" panose="020B0604030504040204" pitchFamily="34" charset="0"/>
                <a:ea typeface="Times New Roman" panose="02020603050405020304" pitchFamily="18" charset="0"/>
              </a:rPr>
              <a:t>taeniase</a:t>
            </a:r>
            <a:r>
              <a:rPr lang="fr-FR" sz="2800" spc="10" dirty="0">
                <a:solidFill>
                  <a:srgbClr val="000000"/>
                </a:solidFill>
                <a:latin typeface="Tahoma" panose="020B0604030504040204" pitchFamily="34" charset="0"/>
                <a:ea typeface="Times New Roman" panose="02020603050405020304" pitchFamily="18" charset="0"/>
              </a:rPr>
              <a:t> à </a:t>
            </a:r>
            <a:r>
              <a:rPr lang="fr-FR" sz="2800" spc="10" dirty="0" err="1" smtClean="0">
                <a:solidFill>
                  <a:srgbClr val="000000"/>
                </a:solidFill>
                <a:latin typeface="Tahoma" panose="020B0604030504040204" pitchFamily="34" charset="0"/>
                <a:ea typeface="Times New Roman" panose="02020603050405020304" pitchFamily="18" charset="0"/>
              </a:rPr>
              <a:t>taeniasaginata</a:t>
            </a:r>
            <a:r>
              <a:rPr lang="fr-FR" sz="2800" spc="10" dirty="0" smtClean="0">
                <a:solidFill>
                  <a:srgbClr val="000000"/>
                </a:solidFill>
                <a:latin typeface="Tahoma" panose="020B0604030504040204" pitchFamily="34" charset="0"/>
                <a:ea typeface="Times New Roman" panose="02020603050405020304" pitchFamily="18" charset="0"/>
              </a:rPr>
              <a:t>.</a:t>
            </a:r>
            <a:r>
              <a:rPr lang="fr-FR" sz="2800" b="1" i="1" dirty="0">
                <a:solidFill>
                  <a:srgbClr val="C00000"/>
                </a:solidFill>
              </a:rPr>
              <a:t> </a:t>
            </a:r>
            <a:endParaRPr lang="fr-FR" sz="2800" b="1" i="1" dirty="0" smtClean="0">
              <a:solidFill>
                <a:srgbClr val="C00000"/>
              </a:solidFill>
            </a:endParaRPr>
          </a:p>
          <a:p>
            <a:pPr marL="0" lvl="0" indent="0" algn="just">
              <a:lnSpc>
                <a:spcPct val="150000"/>
              </a:lnSpc>
              <a:buNone/>
            </a:pPr>
            <a:r>
              <a:rPr lang="fr-FR" sz="28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PROPHYLAXIE</a:t>
            </a:r>
            <a:endParaRPr lang="fr-FR" sz="2800" dirty="0">
              <a:solidFill>
                <a:srgbClr val="000000"/>
              </a:solidFill>
              <a:latin typeface="Courier New" panose="02070309020205020404" pitchFamily="49" charset="0"/>
              <a:ea typeface="Courier New" panose="02070309020205020404" pitchFamily="49" charset="0"/>
            </a:endParaRPr>
          </a:p>
          <a:p>
            <a:pPr algn="just">
              <a:lnSpc>
                <a:spcPct val="150000"/>
              </a:lnSpc>
            </a:pPr>
            <a:r>
              <a:rPr lang="fr-FR" sz="2800"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Voir </a:t>
            </a:r>
            <a:r>
              <a:rPr lang="fr-FR" sz="2800" spc="25" dirty="0" err="1">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Teniase</a:t>
            </a:r>
            <a:r>
              <a:rPr lang="fr-FR" sz="2800"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  A </a:t>
            </a:r>
            <a:r>
              <a:rPr lang="fr-FR" sz="2800" spc="25" dirty="0" err="1">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TaeniaSaginator</a:t>
            </a:r>
            <a:endParaRPr lang="fr-FR" sz="2800" dirty="0">
              <a:solidFill>
                <a:srgbClr val="000000"/>
              </a:solidFill>
              <a:latin typeface="Courier New" panose="02070309020205020404" pitchFamily="49" charset="0"/>
              <a:ea typeface="Courier New" panose="02070309020205020404" pitchFamily="49" charset="0"/>
            </a:endParaRPr>
          </a:p>
          <a:p>
            <a:pPr algn="ctr"/>
            <a:endParaRPr lang="fr-FR" spc="1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700693185"/>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25415" y="624110"/>
            <a:ext cx="10379198" cy="576893"/>
          </a:xfrm>
        </p:spPr>
        <p:txBody>
          <a:bodyPr>
            <a:normAutofit fontScale="90000"/>
          </a:bodyPr>
          <a:lstStyle/>
          <a:p>
            <a:r>
              <a:rPr lang="fr-FR" sz="2200" b="1" spc="25" dirty="0">
                <a:solidFill>
                  <a:srgbClr val="000000"/>
                </a:solidFill>
                <a:latin typeface="Tahoma" panose="020B0604030504040204" pitchFamily="34" charset="0"/>
                <a:ea typeface="Arial Unicode MS" panose="020B0604020202020204" pitchFamily="34" charset="-128"/>
                <a:cs typeface="Times New Roman" panose="02020603050405020304" pitchFamily="18" charset="0"/>
              </a:rPr>
              <a:t>TENIASE A DIPHYLLOBOTRIUM LATUM OU BOTHRIOCEPHALES</a:t>
            </a:r>
            <a:r>
              <a:rPr lang="fr-FR" sz="2200" dirty="0">
                <a:solidFill>
                  <a:srgbClr val="000000"/>
                </a:solidFill>
                <a:latin typeface="Courier New" panose="02070309020205020404" pitchFamily="49" charset="0"/>
                <a:ea typeface="Courier New" panose="02070309020205020404" pitchFamily="49" charset="0"/>
              </a:rPr>
              <a:t/>
            </a:r>
            <a:br>
              <a:rPr lang="fr-FR" sz="2200" dirty="0">
                <a:solidFill>
                  <a:srgbClr val="000000"/>
                </a:solidFill>
                <a:latin typeface="Courier New" panose="02070309020205020404" pitchFamily="49" charset="0"/>
                <a:ea typeface="Courier New" panose="02070309020205020404" pitchFamily="49" charset="0"/>
              </a:rPr>
            </a:br>
            <a:endParaRPr lang="fr-FR" dirty="0"/>
          </a:p>
        </p:txBody>
      </p:sp>
      <p:sp>
        <p:nvSpPr>
          <p:cNvPr id="3" name="Espace réservé du contenu 2"/>
          <p:cNvSpPr>
            <a:spLocks noGrp="1"/>
          </p:cNvSpPr>
          <p:nvPr>
            <p:ph idx="1"/>
          </p:nvPr>
        </p:nvSpPr>
        <p:spPr>
          <a:xfrm>
            <a:off x="1125415" y="1337481"/>
            <a:ext cx="10379197" cy="5049671"/>
          </a:xfrm>
        </p:spPr>
        <p:txBody>
          <a:bodyPr>
            <a:normAutofit fontScale="92500"/>
          </a:bodyPr>
          <a:lstStyle/>
          <a:p>
            <a:pPr algn="just">
              <a:lnSpc>
                <a:spcPct val="150000"/>
              </a:lnSpc>
            </a:pPr>
            <a:r>
              <a:rPr lang="fr-FR" sz="2800" dirty="0">
                <a:solidFill>
                  <a:srgbClr val="000000"/>
                </a:solidFill>
                <a:latin typeface="Tahoma" panose="020B0604030504040204" pitchFamily="34" charset="0"/>
              </a:rPr>
              <a:t>C'est le plus grand des cestodes adultes puisque sa taille moyenne est de 2 à 8 m pouvant atteindre 20 mètres. Son scolex est ovoïde et présente 2 ventouses allongées. Son strobile est formé de3000 à 4000 </a:t>
            </a:r>
            <a:r>
              <a:rPr lang="fr-FR" sz="2800" dirty="0" smtClean="0">
                <a:solidFill>
                  <a:srgbClr val="000000"/>
                </a:solidFill>
                <a:latin typeface="Tahoma" panose="020B0604030504040204" pitchFamily="34" charset="0"/>
              </a:rPr>
              <a:t>anneaux contenant </a:t>
            </a:r>
            <a:r>
              <a:rPr lang="fr-FR" sz="2800" dirty="0">
                <a:solidFill>
                  <a:srgbClr val="000000"/>
                </a:solidFill>
                <a:latin typeface="Tahoma" panose="020B0604030504040204" pitchFamily="34" charset="0"/>
              </a:rPr>
              <a:t>à maturité au centre un utérus polylobe.</a:t>
            </a:r>
            <a:endParaRPr lang="fr-FR" sz="2800" dirty="0"/>
          </a:p>
          <a:p>
            <a:pPr algn="just">
              <a:lnSpc>
                <a:spcPct val="150000"/>
              </a:lnSpc>
            </a:pPr>
            <a:r>
              <a:rPr lang="fr-FR" sz="2800" dirty="0">
                <a:solidFill>
                  <a:srgbClr val="000000"/>
                </a:solidFill>
                <a:latin typeface="Tahoma" panose="020B0604030504040204" pitchFamily="34" charset="0"/>
              </a:rPr>
              <a:t>Contrairement aux autres ténias, il possède un orifice de ponte. Il n'est pas strictement inféodé à l'homme mais parasite également de nombreux animaux (chiens, chat, ours).</a:t>
            </a:r>
            <a:endParaRPr lang="fr-FR" sz="2800" dirty="0"/>
          </a:p>
          <a:p>
            <a:endParaRPr lang="fr-FR" dirty="0"/>
          </a:p>
        </p:txBody>
      </p:sp>
    </p:spTree>
    <p:extLst>
      <p:ext uri="{BB962C8B-B14F-4D97-AF65-F5344CB8AC3E}">
        <p14:creationId xmlns:p14="http://schemas.microsoft.com/office/powerpoint/2010/main" val="3266634669"/>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énia Solium Banque d'images et photos libres de droi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6" y="2389188"/>
            <a:ext cx="8047366" cy="406703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Diphyllobothrium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 name="AutoShape 6" descr="Diphyllobothrium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6" name="AutoShape 8" descr="Diphyllobothrium - Wikipedia"/>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fr-FR" dirty="0" err="1" smtClean="0"/>
              <a:t>diphyllobotrium</a:t>
            </a:r>
            <a:endParaRPr lang="fr-FR" dirty="0"/>
          </a:p>
        </p:txBody>
      </p:sp>
    </p:spTree>
    <p:extLst>
      <p:ext uri="{BB962C8B-B14F-4D97-AF65-F5344CB8AC3E}">
        <p14:creationId xmlns:p14="http://schemas.microsoft.com/office/powerpoint/2010/main" val="3376831120"/>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33798" y="160086"/>
            <a:ext cx="9957166" cy="658780"/>
          </a:xfrm>
        </p:spPr>
        <p:txBody>
          <a:bodyPr>
            <a:normAutofit fontScale="90000"/>
          </a:bodyPr>
          <a:lstStyle/>
          <a:p>
            <a:pPr lvl="0"/>
            <a:r>
              <a:rPr lang="fr-FR" sz="2700" b="1" spc="25" dirty="0">
                <a:solidFill>
                  <a:srgbClr val="000000"/>
                </a:solidFill>
                <a:latin typeface="Tahoma" panose="020B0604030504040204" pitchFamily="34" charset="0"/>
                <a:ea typeface="Times New Roman" panose="02020603050405020304" pitchFamily="18" charset="0"/>
              </a:rPr>
              <a:t>MODE DE CONTAMINATION &amp; CYCLE BIOLOGIQUE</a:t>
            </a:r>
            <a:r>
              <a:rPr lang="fr-FR" sz="2700" b="1" spc="25" dirty="0">
                <a:latin typeface="Times New Roman" panose="02020603050405020304" pitchFamily="18" charset="0"/>
                <a:ea typeface="Times New Roman" panose="02020603050405020304" pitchFamily="18" charset="0"/>
              </a:rPr>
              <a:t/>
            </a:r>
            <a:br>
              <a:rPr lang="fr-FR" sz="2700"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641445" y="818866"/>
            <a:ext cx="11273050" cy="5868537"/>
          </a:xfrm>
        </p:spPr>
        <p:txBody>
          <a:bodyPr>
            <a:noAutofit/>
          </a:bodyPr>
          <a:lstStyle/>
          <a:p>
            <a:pPr algn="just">
              <a:lnSpc>
                <a:spcPct val="150000"/>
              </a:lnSpc>
            </a:pPr>
            <a:r>
              <a:rPr lang="fr-FR" sz="2400" dirty="0">
                <a:solidFill>
                  <a:srgbClr val="000000"/>
                </a:solidFill>
                <a:latin typeface="Tahoma" panose="020B0604030504040204" pitchFamily="34" charset="0"/>
              </a:rPr>
              <a:t>Les vers adultes pondent des œufs non </a:t>
            </a:r>
            <a:r>
              <a:rPr lang="fr-FR" sz="2400" dirty="0" err="1">
                <a:solidFill>
                  <a:srgbClr val="000000"/>
                </a:solidFill>
                <a:latin typeface="Tahoma" panose="020B0604030504040204" pitchFamily="34" charset="0"/>
              </a:rPr>
              <a:t>embryonnés</a:t>
            </a:r>
            <a:r>
              <a:rPr lang="fr-FR" sz="2400" dirty="0">
                <a:solidFill>
                  <a:srgbClr val="000000"/>
                </a:solidFill>
                <a:latin typeface="Tahoma" panose="020B0604030504040204" pitchFamily="34" charset="0"/>
              </a:rPr>
              <a:t> qui sont éliminés dans les selles.</a:t>
            </a:r>
            <a:endParaRPr lang="fr-FR" sz="2400" dirty="0"/>
          </a:p>
          <a:p>
            <a:pPr algn="just">
              <a:lnSpc>
                <a:spcPct val="150000"/>
              </a:lnSpc>
            </a:pPr>
            <a:r>
              <a:rPr lang="fr-FR" sz="2400" dirty="0" smtClean="0">
                <a:solidFill>
                  <a:srgbClr val="000000"/>
                </a:solidFill>
                <a:latin typeface="Tahoma" panose="020B0604030504040204" pitchFamily="34" charset="0"/>
              </a:rPr>
              <a:t>Il se </a:t>
            </a:r>
            <a:r>
              <a:rPr lang="fr-FR" sz="2400" dirty="0">
                <a:solidFill>
                  <a:srgbClr val="000000"/>
                </a:solidFill>
                <a:latin typeface="Tahoma" panose="020B0604030504040204" pitchFamily="34" charset="0"/>
              </a:rPr>
              <a:t>forme en embryon en 10 à 15 jours. L'œuf éclot et libère une larve: </a:t>
            </a:r>
            <a:r>
              <a:rPr lang="fr-FR" sz="2400" dirty="0" err="1">
                <a:solidFill>
                  <a:srgbClr val="000000"/>
                </a:solidFill>
                <a:latin typeface="Tahoma" panose="020B0604030504040204" pitchFamily="34" charset="0"/>
              </a:rPr>
              <a:t>corracidium</a:t>
            </a:r>
            <a:r>
              <a:rPr lang="fr-FR" sz="2400" dirty="0">
                <a:solidFill>
                  <a:srgbClr val="000000"/>
                </a:solidFill>
                <a:latin typeface="Tahoma" panose="020B0604030504040204" pitchFamily="34" charset="0"/>
              </a:rPr>
              <a:t>. Nageant dans l'eau, le </a:t>
            </a:r>
            <a:r>
              <a:rPr lang="fr-FR" sz="2400" dirty="0" err="1">
                <a:solidFill>
                  <a:srgbClr val="000000"/>
                </a:solidFill>
                <a:latin typeface="Tahoma" panose="020B0604030504040204" pitchFamily="34" charset="0"/>
              </a:rPr>
              <a:t>corracidium</a:t>
            </a:r>
            <a:r>
              <a:rPr lang="fr-FR" sz="2400" dirty="0">
                <a:solidFill>
                  <a:srgbClr val="000000"/>
                </a:solidFill>
                <a:latin typeface="Tahoma" panose="020B0604030504040204" pitchFamily="34" charset="0"/>
              </a:rPr>
              <a:t> est avalé par un crustacé (cyclops) où il va se transformer au bout de 15 jours en larve </a:t>
            </a:r>
            <a:r>
              <a:rPr lang="fr-FR" sz="2400" dirty="0" err="1">
                <a:solidFill>
                  <a:srgbClr val="000000"/>
                </a:solidFill>
                <a:latin typeface="Tahoma" panose="020B0604030504040204" pitchFamily="34" charset="0"/>
              </a:rPr>
              <a:t>procercoïde</a:t>
            </a:r>
            <a:r>
              <a:rPr lang="fr-FR" sz="2400" dirty="0">
                <a:solidFill>
                  <a:srgbClr val="000000"/>
                </a:solidFill>
                <a:latin typeface="Tahoma" panose="020B0604030504040204" pitchFamily="34" charset="0"/>
              </a:rPr>
              <a:t>.</a:t>
            </a:r>
            <a:endParaRPr lang="fr-FR" sz="2400" dirty="0"/>
          </a:p>
          <a:p>
            <a:pPr algn="just">
              <a:lnSpc>
                <a:spcPct val="150000"/>
              </a:lnSpc>
            </a:pPr>
            <a:r>
              <a:rPr lang="fr-FR" sz="2400" dirty="0">
                <a:solidFill>
                  <a:srgbClr val="000000"/>
                </a:solidFill>
                <a:latin typeface="Tahoma" panose="020B0604030504040204" pitchFamily="34" charset="0"/>
              </a:rPr>
              <a:t>Si le cyclops est avalé par un poisson, la larve </a:t>
            </a:r>
            <a:r>
              <a:rPr lang="fr-FR" sz="2400" dirty="0" err="1">
                <a:solidFill>
                  <a:srgbClr val="000000"/>
                </a:solidFill>
                <a:latin typeface="Tahoma" panose="020B0604030504040204" pitchFamily="34" charset="0"/>
              </a:rPr>
              <a:t>procercoïde</a:t>
            </a:r>
            <a:r>
              <a:rPr lang="fr-FR" sz="2400" dirty="0">
                <a:solidFill>
                  <a:srgbClr val="000000"/>
                </a:solidFill>
                <a:latin typeface="Tahoma" panose="020B0604030504040204" pitchFamily="34" charset="0"/>
              </a:rPr>
              <a:t> va traverser le tube digestif, migrer dans tout l'organisme, se transformer en larve </a:t>
            </a:r>
            <a:r>
              <a:rPr lang="fr-FR" sz="2400" dirty="0" err="1">
                <a:solidFill>
                  <a:srgbClr val="000000"/>
                </a:solidFill>
                <a:latin typeface="Tahoma" panose="020B0604030504040204" pitchFamily="34" charset="0"/>
              </a:rPr>
              <a:t>plerocercoïde</a:t>
            </a:r>
            <a:r>
              <a:rPr lang="fr-FR" sz="2400" dirty="0">
                <a:solidFill>
                  <a:srgbClr val="000000"/>
                </a:solidFill>
                <a:latin typeface="Tahoma" panose="020B0604030504040204" pitchFamily="34" charset="0"/>
              </a:rPr>
              <a:t> qui est la forme </a:t>
            </a:r>
            <a:r>
              <a:rPr lang="fr-FR" sz="2400" dirty="0" err="1">
                <a:solidFill>
                  <a:srgbClr val="000000"/>
                </a:solidFill>
                <a:latin typeface="Tahoma" panose="020B0604030504040204" pitchFamily="34" charset="0"/>
              </a:rPr>
              <a:t>infestante</a:t>
            </a:r>
            <a:r>
              <a:rPr lang="fr-FR" sz="2400" dirty="0">
                <a:solidFill>
                  <a:srgbClr val="000000"/>
                </a:solidFill>
                <a:latin typeface="Tahoma" panose="020B0604030504040204" pitchFamily="34" charset="0"/>
              </a:rPr>
              <a:t> pour l'homme et certains </a:t>
            </a:r>
            <a:r>
              <a:rPr lang="fr-FR" sz="2400" dirty="0" smtClean="0">
                <a:solidFill>
                  <a:srgbClr val="000000"/>
                </a:solidFill>
                <a:latin typeface="Tahoma" panose="020B0604030504040204" pitchFamily="34" charset="0"/>
              </a:rPr>
              <a:t>mammifères.</a:t>
            </a:r>
            <a:endParaRPr lang="fr-FR" sz="2400" dirty="0" smtClean="0"/>
          </a:p>
          <a:p>
            <a:pPr algn="just">
              <a:lnSpc>
                <a:spcPct val="150000"/>
              </a:lnSpc>
            </a:pPr>
            <a:r>
              <a:rPr lang="fr-FR" sz="2400" dirty="0" smtClean="0">
                <a:solidFill>
                  <a:srgbClr val="000000"/>
                </a:solidFill>
                <a:latin typeface="Tahoma" panose="020B0604030504040204" pitchFamily="34" charset="0"/>
              </a:rPr>
              <a:t>C'est en ingérant l'un de ces poissons que l'homme ou divers mammifères contractent la </a:t>
            </a:r>
            <a:r>
              <a:rPr lang="fr-FR" sz="2400" dirty="0" err="1" smtClean="0">
                <a:solidFill>
                  <a:srgbClr val="000000"/>
                </a:solidFill>
                <a:latin typeface="Tahoma" panose="020B0604030504040204" pitchFamily="34" charset="0"/>
              </a:rPr>
              <a:t>bothriocéphaloses</a:t>
            </a:r>
            <a:r>
              <a:rPr lang="fr-FR" sz="2400" dirty="0" smtClean="0">
                <a:solidFill>
                  <a:srgbClr val="000000"/>
                </a:solidFill>
                <a:latin typeface="Tahoma" panose="020B0604030504040204" pitchFamily="34" charset="0"/>
              </a:rPr>
              <a:t>.</a:t>
            </a:r>
            <a:endParaRPr lang="fr-FR" sz="2400" dirty="0" smtClean="0"/>
          </a:p>
          <a:p>
            <a:endParaRPr lang="fr-FR" sz="2400" dirty="0"/>
          </a:p>
        </p:txBody>
      </p:sp>
    </p:spTree>
    <p:extLst>
      <p:ext uri="{BB962C8B-B14F-4D97-AF65-F5344CB8AC3E}">
        <p14:creationId xmlns:p14="http://schemas.microsoft.com/office/powerpoint/2010/main" val="1897859858"/>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419394"/>
            <a:ext cx="8911687" cy="713371"/>
          </a:xfrm>
        </p:spPr>
        <p:txBody>
          <a:bodyPr>
            <a:normAutofit fontScale="90000"/>
          </a:bodyPr>
          <a:lstStyle/>
          <a:p>
            <a:pPr lvl="0" algn="ctr"/>
            <a:r>
              <a:rPr lang="fr-FR" sz="3100" b="1" spc="25" dirty="0">
                <a:solidFill>
                  <a:srgbClr val="000000"/>
                </a:solidFill>
                <a:latin typeface="Tahoma" panose="020B0604030504040204" pitchFamily="34" charset="0"/>
                <a:ea typeface="Times New Roman" panose="02020603050405020304" pitchFamily="18" charset="0"/>
              </a:rPr>
              <a:t>MANIFESTATIONS CLINIQUES</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dirty="0"/>
          </a:p>
        </p:txBody>
      </p:sp>
      <p:sp>
        <p:nvSpPr>
          <p:cNvPr id="3" name="Espace réservé du contenu 2"/>
          <p:cNvSpPr>
            <a:spLocks noGrp="1"/>
          </p:cNvSpPr>
          <p:nvPr>
            <p:ph idx="1"/>
          </p:nvPr>
        </p:nvSpPr>
        <p:spPr>
          <a:xfrm>
            <a:off x="791570" y="1132765"/>
            <a:ext cx="10713042" cy="5186148"/>
          </a:xfrm>
        </p:spPr>
        <p:txBody>
          <a:bodyPr>
            <a:normAutofit fontScale="77500" lnSpcReduction="20000"/>
          </a:bodyPr>
          <a:lstStyle/>
          <a:p>
            <a:pPr marL="0" indent="0" algn="just">
              <a:lnSpc>
                <a:spcPct val="150000"/>
              </a:lnSpc>
              <a:buNone/>
              <a:tabLst>
                <a:tab pos="540385" algn="l"/>
              </a:tabLst>
            </a:pPr>
            <a:r>
              <a:rPr lang="fr-FR" sz="3000" dirty="0">
                <a:latin typeface="Tahoma" panose="020B0604030504040204" pitchFamily="34" charset="0"/>
                <a:ea typeface="Tahoma" panose="020B0604030504040204" pitchFamily="34" charset="0"/>
                <a:cs typeface="Tahoma" panose="020B0604030504040204" pitchFamily="34" charset="0"/>
              </a:rPr>
              <a:t>Le bothriocéphale détermine les troubles habituels de la </a:t>
            </a:r>
            <a:r>
              <a:rPr lang="fr-FR" sz="3000" dirty="0" err="1">
                <a:latin typeface="Tahoma" panose="020B0604030504040204" pitchFamily="34" charset="0"/>
                <a:ea typeface="Tahoma" panose="020B0604030504040204" pitchFamily="34" charset="0"/>
                <a:cs typeface="Tahoma" panose="020B0604030504040204" pitchFamily="34" charset="0"/>
              </a:rPr>
              <a:t>téniase</a:t>
            </a:r>
            <a:r>
              <a:rPr lang="fr-FR" sz="3000" dirty="0">
                <a:latin typeface="Tahoma" panose="020B0604030504040204" pitchFamily="34" charset="0"/>
                <a:ea typeface="Tahoma" panose="020B0604030504040204" pitchFamily="34" charset="0"/>
                <a:cs typeface="Tahoma" panose="020B0604030504040204" pitchFamily="34" charset="0"/>
              </a:rPr>
              <a:t> ; il engendre parfois une anémie macrocytaire et mégaloblastique (attribuée à l'avidité du ver pour la vitamine B12 à l'intérieur du tube digestif qui réaliserait une carence d'apport</a:t>
            </a:r>
            <a:r>
              <a:rPr lang="fr-FR" sz="3000" dirty="0" smtClean="0">
                <a:latin typeface="Tahoma" panose="020B0604030504040204" pitchFamily="34" charset="0"/>
                <a:ea typeface="Tahoma" panose="020B0604030504040204" pitchFamily="34" charset="0"/>
                <a:cs typeface="Tahoma" panose="020B0604030504040204" pitchFamily="34" charset="0"/>
              </a:rPr>
              <a:t>.</a:t>
            </a:r>
            <a:endParaRPr lang="fr-FR" sz="3000" b="1" spc="25"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50000"/>
              </a:lnSpc>
              <a:buNone/>
              <a:tabLst>
                <a:tab pos="540385" algn="l"/>
              </a:tabLst>
            </a:pPr>
            <a:r>
              <a:rPr lang="fr-FR" sz="2800" b="1" spc="25" dirty="0" smtClean="0">
                <a:solidFill>
                  <a:srgbClr val="000000"/>
                </a:solidFill>
                <a:latin typeface="Tahoma" panose="020B0604030504040204" pitchFamily="34" charset="0"/>
                <a:ea typeface="Times New Roman" panose="02020603050405020304" pitchFamily="18" charset="0"/>
              </a:rPr>
              <a:t>DIAGNOSTIC</a:t>
            </a:r>
            <a:endParaRPr lang="fr-FR" sz="2800" b="1" spc="25" dirty="0">
              <a:latin typeface="Times New Roman" panose="02020603050405020304" pitchFamily="18" charset="0"/>
              <a:ea typeface="Times New Roman" panose="02020603050405020304" pitchFamily="18" charset="0"/>
            </a:endParaRPr>
          </a:p>
          <a:p>
            <a:pPr>
              <a:lnSpc>
                <a:spcPct val="150000"/>
              </a:lnSpc>
            </a:pPr>
            <a:r>
              <a:rPr lang="fr-FR" sz="2800" dirty="0">
                <a:solidFill>
                  <a:srgbClr val="000000"/>
                </a:solidFill>
                <a:latin typeface="Tahoma" panose="020B0604030504040204" pitchFamily="34" charset="0"/>
              </a:rPr>
              <a:t>Le diagnostic repose sur la découverte d'œufs dans les selles brunâtres, opercules, non </a:t>
            </a:r>
            <a:r>
              <a:rPr lang="fr-FR" sz="2800" dirty="0" err="1">
                <a:solidFill>
                  <a:srgbClr val="000000"/>
                </a:solidFill>
                <a:latin typeface="Tahoma" panose="020B0604030504040204" pitchFamily="34" charset="0"/>
              </a:rPr>
              <a:t>embryonnés</a:t>
            </a:r>
            <a:r>
              <a:rPr lang="fr-FR" sz="2800" dirty="0" smtClean="0">
                <a:solidFill>
                  <a:srgbClr val="000000"/>
                </a:solidFill>
                <a:latin typeface="Tahoma" panose="020B0604030504040204" pitchFamily="34" charset="0"/>
              </a:rPr>
              <a:t>.</a:t>
            </a:r>
            <a:endParaRPr lang="fr-FR" sz="2800" dirty="0"/>
          </a:p>
          <a:p>
            <a:pPr marL="0" lvl="0" indent="0" algn="just">
              <a:lnSpc>
                <a:spcPct val="150000"/>
              </a:lnSpc>
              <a:buNone/>
              <a:tabLst>
                <a:tab pos="540385" algn="l"/>
              </a:tabLst>
            </a:pPr>
            <a:r>
              <a:rPr lang="fr-FR" sz="2800" b="1" spc="25" dirty="0">
                <a:solidFill>
                  <a:srgbClr val="000000"/>
                </a:solidFill>
                <a:latin typeface="Tahoma" panose="020B0604030504040204" pitchFamily="34" charset="0"/>
                <a:ea typeface="Times New Roman" panose="02020603050405020304" pitchFamily="18" charset="0"/>
              </a:rPr>
              <a:t>TRAITEMENT</a:t>
            </a:r>
            <a:endParaRPr lang="fr-FR" sz="2800" b="1" spc="25" dirty="0">
              <a:latin typeface="Times New Roman" panose="02020603050405020304" pitchFamily="18" charset="0"/>
              <a:ea typeface="Times New Roman" panose="02020603050405020304" pitchFamily="18" charset="0"/>
            </a:endParaRPr>
          </a:p>
          <a:p>
            <a:pPr lvl="0">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 spécifique du parasite :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Niclosamide</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Tredenine</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 d'anémie : Vitamine B 12</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p>
          <a:p>
            <a:endParaRPr lang="fr-FR" dirty="0"/>
          </a:p>
        </p:txBody>
      </p:sp>
    </p:spTree>
    <p:extLst>
      <p:ext uri="{BB962C8B-B14F-4D97-AF65-F5344CB8AC3E}">
        <p14:creationId xmlns:p14="http://schemas.microsoft.com/office/powerpoint/2010/main" val="2239008085"/>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82387" y="982639"/>
            <a:ext cx="11041039" cy="4928583"/>
          </a:xfrm>
        </p:spPr>
        <p:txBody>
          <a:bodyPr>
            <a:normAutofit fontScale="77500" lnSpcReduction="20000"/>
          </a:bodyPr>
          <a:lstStyle/>
          <a:p>
            <a:pPr marL="0" lvl="0" indent="0" algn="just">
              <a:lnSpc>
                <a:spcPct val="150000"/>
              </a:lnSpc>
              <a:buNone/>
              <a:tabLst>
                <a:tab pos="540385" algn="l"/>
              </a:tabLst>
            </a:pPr>
            <a:r>
              <a:rPr lang="fr-FR" sz="2800" b="1" spc="25" dirty="0">
                <a:solidFill>
                  <a:srgbClr val="000000"/>
                </a:solidFill>
                <a:latin typeface="Tahoma" panose="020B0604030504040204" pitchFamily="34" charset="0"/>
                <a:ea typeface="Times New Roman" panose="02020603050405020304" pitchFamily="18" charset="0"/>
              </a:rPr>
              <a:t>PROPHYLAXIE</a:t>
            </a:r>
            <a:endParaRPr lang="fr-FR" sz="2800" b="1" spc="25" dirty="0">
              <a:latin typeface="Times New Roman" panose="02020603050405020304" pitchFamily="18" charset="0"/>
              <a:ea typeface="Times New Roman" panose="02020603050405020304" pitchFamily="18" charset="0"/>
            </a:endParaRPr>
          </a:p>
          <a:p>
            <a:pPr indent="-635000" algn="just">
              <a:lnSpc>
                <a:spcPct val="150000"/>
              </a:lnSpc>
              <a:spcBef>
                <a:spcPts val="1200"/>
              </a:spcBef>
            </a:pPr>
            <a:r>
              <a:rPr lang="fr-FR" sz="2800" spc="30" dirty="0">
                <a:solidFill>
                  <a:srgbClr val="000000"/>
                </a:solidFill>
                <a:latin typeface="Tahoma" panose="020B0604030504040204" pitchFamily="34" charset="0"/>
                <a:ea typeface="Times New Roman" panose="02020603050405020304" pitchFamily="18" charset="0"/>
              </a:rPr>
              <a:t>Cuisson suffisante du poisson ou autres </a:t>
            </a:r>
            <a:r>
              <a:rPr lang="fr-FR" sz="2800" spc="30" dirty="0" smtClean="0">
                <a:solidFill>
                  <a:srgbClr val="000000"/>
                </a:solidFill>
                <a:latin typeface="Tahoma" panose="020B0604030504040204" pitchFamily="34" charset="0"/>
                <a:ea typeface="Times New Roman" panose="02020603050405020304" pitchFamily="18" charset="0"/>
              </a:rPr>
              <a:t>mammifères</a:t>
            </a:r>
          </a:p>
          <a:p>
            <a:pPr marL="0" indent="0" algn="just">
              <a:lnSpc>
                <a:spcPct val="150000"/>
              </a:lnSpc>
              <a:spcBef>
                <a:spcPts val="1200"/>
              </a:spcBef>
              <a:buNone/>
            </a:pPr>
            <a:r>
              <a:rPr lang="fr-FR" sz="3100" b="1"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AUTRES TAENIASES</a:t>
            </a:r>
            <a:endParaRPr lang="fr-FR" sz="3100" b="1"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D'autres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taeniases</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peuvent être observés:</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taeniase</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à </a:t>
            </a: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hymenolepis</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Nana</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taeniase</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à </a:t>
            </a:r>
            <a:r>
              <a:rPr lang="fr-FR" sz="28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hymenolepis</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28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Diminuta</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(contamination accidentelle d'un arthropode)</a:t>
            </a:r>
            <a:endParaRPr lang="fr-FR" sz="2800" dirty="0">
              <a:ea typeface="Calibri" panose="020F0502020204030204" pitchFamily="34" charset="0"/>
              <a:cs typeface="Times New Roman" panose="02020603050405020304" pitchFamily="18" charset="0"/>
            </a:endParaRPr>
          </a:p>
          <a:p>
            <a:pPr lvl="0">
              <a:lnSpc>
                <a:spcPct val="150000"/>
              </a:lnSpc>
              <a:buFont typeface="Calibri" panose="020F0502020204030204" pitchFamily="34" charset="0"/>
              <a:buChar char="-"/>
            </a:pPr>
            <a:r>
              <a:rPr lang="fr-FR" sz="280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taeniase</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à </a:t>
            </a:r>
            <a:r>
              <a:rPr lang="fr-FR" sz="28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Dipylidium</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2800"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Caninum</a:t>
            </a:r>
            <a:r>
              <a:rPr lang="fr-FR" sz="280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(indigestion de puce provenant du chien-chat).</a:t>
            </a:r>
            <a:endParaRPr lang="fr-FR" sz="2800" dirty="0">
              <a:ea typeface="Calibri" panose="020F0502020204030204" pitchFamily="34" charset="0"/>
              <a:cs typeface="Times New Roman" panose="02020603050405020304" pitchFamily="18" charset="0"/>
            </a:endParaRPr>
          </a:p>
          <a:p>
            <a:endParaRPr lang="fr-FR" sz="2800" dirty="0"/>
          </a:p>
        </p:txBody>
      </p:sp>
    </p:spTree>
    <p:extLst>
      <p:ext uri="{BB962C8B-B14F-4D97-AF65-F5344CB8AC3E}">
        <p14:creationId xmlns:p14="http://schemas.microsoft.com/office/powerpoint/2010/main" val="4072420261"/>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78217"/>
          </a:xfrm>
        </p:spPr>
        <p:style>
          <a:lnRef idx="3">
            <a:schemeClr val="lt1"/>
          </a:lnRef>
          <a:fillRef idx="1">
            <a:schemeClr val="accent6"/>
          </a:fillRef>
          <a:effectRef idx="1">
            <a:schemeClr val="accent6"/>
          </a:effectRef>
          <a:fontRef idx="minor">
            <a:schemeClr val="lt1"/>
          </a:fontRef>
        </p:style>
        <p:txBody>
          <a:bodyPr/>
          <a:lstStyle/>
          <a:p>
            <a:pPr algn="ctr"/>
            <a:r>
              <a:rPr lang="fr-FR" b="1" dirty="0" smtClean="0"/>
              <a:t>RECAP</a:t>
            </a:r>
            <a:endParaRPr lang="fr-FR" b="1" dirty="0"/>
          </a:p>
        </p:txBody>
      </p:sp>
      <p:sp>
        <p:nvSpPr>
          <p:cNvPr id="3" name="Espace réservé du contenu 2"/>
          <p:cNvSpPr>
            <a:spLocks noGrp="1"/>
          </p:cNvSpPr>
          <p:nvPr>
            <p:ph idx="1"/>
          </p:nvPr>
        </p:nvSpPr>
        <p:spPr>
          <a:xfrm>
            <a:off x="2589212" y="1468581"/>
            <a:ext cx="8915400" cy="5001491"/>
          </a:xfrm>
        </p:spPr>
        <p:txBody>
          <a:bodyPr>
            <a:normAutofit/>
          </a:bodyPr>
          <a:lstStyle/>
          <a:p>
            <a:r>
              <a:rPr lang="fr-FR" sz="2400" b="1" dirty="0" smtClean="0"/>
              <a:t>TAENIASES:</a:t>
            </a:r>
            <a:r>
              <a:rPr lang="fr-FR" sz="2400" dirty="0" smtClean="0"/>
              <a:t> </a:t>
            </a:r>
            <a:r>
              <a:rPr lang="fr-FR" sz="2400" b="1" dirty="0" smtClean="0">
                <a:solidFill>
                  <a:srgbClr val="7030A0"/>
                </a:solidFill>
              </a:rPr>
              <a:t>INGESTION A PARTIR DE LA VIANDE DE L’HOTE</a:t>
            </a:r>
          </a:p>
          <a:p>
            <a:pPr>
              <a:buFont typeface="Wingdings" panose="05000000000000000000" pitchFamily="2" charset="2"/>
              <a:buChar char="Ø"/>
            </a:pPr>
            <a:r>
              <a:rPr lang="fr-FR" b="1" dirty="0" smtClean="0">
                <a:solidFill>
                  <a:srgbClr val="FF0000"/>
                </a:solidFill>
              </a:rPr>
              <a:t>SAGINATA = VIANDE DE BŒUF</a:t>
            </a:r>
          </a:p>
          <a:p>
            <a:pPr>
              <a:buFont typeface="Wingdings" panose="05000000000000000000" pitchFamily="2" charset="2"/>
              <a:buChar char="§"/>
            </a:pPr>
            <a:r>
              <a:rPr lang="fr-FR" dirty="0" smtClean="0">
                <a:solidFill>
                  <a:srgbClr val="0070C0"/>
                </a:solidFill>
              </a:rPr>
              <a:t>ANNEAUX DETACHABLES AVEC LES OEUFS</a:t>
            </a:r>
          </a:p>
          <a:p>
            <a:pPr>
              <a:buFont typeface="Wingdings" panose="05000000000000000000" pitchFamily="2" charset="2"/>
              <a:buChar char="§"/>
            </a:pPr>
            <a:r>
              <a:rPr lang="fr-FR" dirty="0" smtClean="0">
                <a:solidFill>
                  <a:srgbClr val="0070C0"/>
                </a:solidFill>
              </a:rPr>
              <a:t>UNIQUEMENT HUMAIN</a:t>
            </a:r>
          </a:p>
          <a:p>
            <a:pPr>
              <a:buFont typeface="Wingdings" panose="05000000000000000000" pitchFamily="2" charset="2"/>
              <a:buChar char="Ø"/>
            </a:pPr>
            <a:r>
              <a:rPr lang="fr-FR" b="1" dirty="0" smtClean="0">
                <a:solidFill>
                  <a:srgbClr val="FF0000"/>
                </a:solidFill>
              </a:rPr>
              <a:t>SOLIUM = VIANDE PORC</a:t>
            </a:r>
          </a:p>
          <a:p>
            <a:pPr>
              <a:buFont typeface="Wingdings" panose="05000000000000000000" pitchFamily="2" charset="2"/>
              <a:buChar char="§"/>
            </a:pPr>
            <a:r>
              <a:rPr lang="fr-FR" dirty="0">
                <a:solidFill>
                  <a:srgbClr val="0070C0"/>
                </a:solidFill>
              </a:rPr>
              <a:t>ANNEAUX DETACHABLES AVEC LES OEUFS</a:t>
            </a:r>
          </a:p>
          <a:p>
            <a:pPr>
              <a:buFont typeface="Wingdings" panose="05000000000000000000" pitchFamily="2" charset="2"/>
              <a:buChar char="§"/>
            </a:pPr>
            <a:r>
              <a:rPr lang="fr-FR" dirty="0" smtClean="0">
                <a:solidFill>
                  <a:srgbClr val="0070C0"/>
                </a:solidFill>
              </a:rPr>
              <a:t>UNIQUEMENT HUMAIN</a:t>
            </a:r>
          </a:p>
          <a:p>
            <a:pPr>
              <a:buFont typeface="Wingdings" panose="05000000000000000000" pitchFamily="2" charset="2"/>
              <a:buChar char="Ø"/>
            </a:pPr>
            <a:r>
              <a:rPr lang="fr-FR" b="1" dirty="0" smtClean="0">
                <a:solidFill>
                  <a:srgbClr val="FF0000"/>
                </a:solidFill>
              </a:rPr>
              <a:t>BOTRICEPHALE = POISSON</a:t>
            </a:r>
          </a:p>
          <a:p>
            <a:pPr>
              <a:buFont typeface="Wingdings" panose="05000000000000000000" pitchFamily="2" charset="2"/>
              <a:buChar char="§"/>
            </a:pPr>
            <a:r>
              <a:rPr lang="fr-FR" dirty="0" smtClean="0">
                <a:solidFill>
                  <a:srgbClr val="0070C0"/>
                </a:solidFill>
              </a:rPr>
              <a:t>ANNEAUX NON DETACHABLES</a:t>
            </a:r>
            <a:endParaRPr lang="fr-FR" dirty="0">
              <a:solidFill>
                <a:srgbClr val="0070C0"/>
              </a:solidFill>
            </a:endParaRPr>
          </a:p>
          <a:p>
            <a:pPr>
              <a:buFont typeface="Wingdings" panose="05000000000000000000" pitchFamily="2" charset="2"/>
              <a:buChar char="§"/>
            </a:pPr>
            <a:r>
              <a:rPr lang="fr-FR" dirty="0" smtClean="0">
                <a:solidFill>
                  <a:srgbClr val="0070C0"/>
                </a:solidFill>
              </a:rPr>
              <a:t>POSSEDE UN ORIFICE DE PONTE</a:t>
            </a:r>
          </a:p>
          <a:p>
            <a:pPr>
              <a:buFont typeface="Wingdings" panose="05000000000000000000" pitchFamily="2" charset="2"/>
              <a:buChar char="§"/>
            </a:pPr>
            <a:r>
              <a:rPr lang="fr-FR" dirty="0" smtClean="0"/>
              <a:t>DEUX HOTES</a:t>
            </a:r>
          </a:p>
          <a:p>
            <a:pPr>
              <a:buFont typeface="Wingdings" panose="05000000000000000000" pitchFamily="2" charset="2"/>
              <a:buChar char="§"/>
            </a:pPr>
            <a:r>
              <a:rPr lang="fr-FR" dirty="0" smtClean="0"/>
              <a:t>PEUT PARASITER D’AUTRES MAMIFERES</a:t>
            </a:r>
          </a:p>
          <a:p>
            <a:pPr>
              <a:buFont typeface="Wingdings" panose="05000000000000000000" pitchFamily="2" charset="2"/>
              <a:buChar char="§"/>
            </a:pPr>
            <a:endParaRPr lang="fr-FR" dirty="0"/>
          </a:p>
          <a:p>
            <a:pPr>
              <a:buFont typeface="Wingdings" panose="05000000000000000000" pitchFamily="2" charset="2"/>
              <a:buChar char="Ø"/>
            </a:pPr>
            <a:endParaRPr lang="fr-FR" dirty="0"/>
          </a:p>
        </p:txBody>
      </p:sp>
    </p:spTree>
    <p:extLst>
      <p:ext uri="{BB962C8B-B14F-4D97-AF65-F5344CB8AC3E}">
        <p14:creationId xmlns:p14="http://schemas.microsoft.com/office/powerpoint/2010/main" val="813194044"/>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92099"/>
            <a:ext cx="8911687" cy="576893"/>
          </a:xfrm>
        </p:spPr>
        <p:txBody>
          <a:bodyPr>
            <a:normAutofit fontScale="90000"/>
          </a:bodyPr>
          <a:lstStyle/>
          <a:p>
            <a:r>
              <a:rPr lang="fr-FR" b="1" dirty="0">
                <a:latin typeface="Tahoma" panose="020B0604030504040204" pitchFamily="34" charset="0"/>
              </a:rPr>
              <a:t>FILARIOSE</a:t>
            </a:r>
            <a:r>
              <a:rPr lang="fr-FR" dirty="0"/>
              <a:t/>
            </a:r>
            <a:br>
              <a:rPr lang="fr-FR" dirty="0"/>
            </a:br>
            <a:endParaRPr lang="fr-FR" dirty="0"/>
          </a:p>
        </p:txBody>
      </p:sp>
      <p:sp>
        <p:nvSpPr>
          <p:cNvPr id="3" name="Espace réservé du contenu 2"/>
          <p:cNvSpPr>
            <a:spLocks noGrp="1"/>
          </p:cNvSpPr>
          <p:nvPr>
            <p:ph idx="1"/>
          </p:nvPr>
        </p:nvSpPr>
        <p:spPr>
          <a:xfrm>
            <a:off x="1392072" y="1105469"/>
            <a:ext cx="10112540" cy="5336273"/>
          </a:xfrm>
        </p:spPr>
        <p:txBody>
          <a:bodyPr>
            <a:normAutofit fontScale="92500" lnSpcReduction="20000"/>
          </a:bodyPr>
          <a:lstStyle/>
          <a:p>
            <a:pPr algn="just">
              <a:lnSpc>
                <a:spcPct val="150000"/>
              </a:lnSpc>
            </a:pPr>
            <a:r>
              <a:rPr lang="fr-FR" sz="2400" dirty="0">
                <a:solidFill>
                  <a:srgbClr val="000000"/>
                </a:solidFill>
                <a:latin typeface="Tahoma" panose="020B0604030504040204" pitchFamily="34" charset="0"/>
              </a:rPr>
              <a:t>On regroupe sous le nom de filarioses un ensemble de maladies causées par des parasites nommés filaires. Ces parasites provoquent chez l'homme des signes cliniques qui se manifestent généralement au niveau de la peau, du système lymphatique (ganglion) et de l'œil; elles évoluent lentement et sont rarement mortelles. Mais elles peuvent devenir graves en raison de l'incapacité fonctionnelle qu'elles créent: abcès de la jambe ou du pied, perte progressive de la vision etc.</a:t>
            </a:r>
            <a:endParaRPr lang="fr-FR" sz="2400" dirty="0"/>
          </a:p>
          <a:p>
            <a:pPr algn="just">
              <a:lnSpc>
                <a:spcPct val="150000"/>
              </a:lnSpc>
            </a:pPr>
            <a:r>
              <a:rPr lang="fr-FR" sz="2400" dirty="0">
                <a:solidFill>
                  <a:srgbClr val="000000"/>
                </a:solidFill>
                <a:latin typeface="Tahoma" panose="020B0604030504040204" pitchFamily="34" charset="0"/>
              </a:rPr>
              <a:t>Les principales filarioses humaines sont: la filariose lymphatique (</a:t>
            </a:r>
            <a:r>
              <a:rPr lang="fr-FR" sz="2400" dirty="0" err="1">
                <a:solidFill>
                  <a:srgbClr val="000000"/>
                </a:solidFill>
                <a:latin typeface="Tahoma" panose="020B0604030504040204" pitchFamily="34" charset="0"/>
              </a:rPr>
              <a:t>wuchereriabancrofti</a:t>
            </a:r>
            <a:r>
              <a:rPr lang="fr-FR" sz="2400" dirty="0">
                <a:solidFill>
                  <a:srgbClr val="000000"/>
                </a:solidFill>
                <a:latin typeface="Tahoma" panose="020B0604030504040204" pitchFamily="34" charset="0"/>
              </a:rPr>
              <a:t>), la filariose sous-cutanée ou base (</a:t>
            </a:r>
            <a:r>
              <a:rPr lang="fr-FR" sz="2400" dirty="0" err="1">
                <a:solidFill>
                  <a:srgbClr val="000000"/>
                </a:solidFill>
                <a:latin typeface="Tahoma" panose="020B0604030504040204" pitchFamily="34" charset="0"/>
              </a:rPr>
              <a:t>loa-loa</a:t>
            </a:r>
            <a:r>
              <a:rPr lang="fr-FR" sz="2400" dirty="0">
                <a:solidFill>
                  <a:srgbClr val="000000"/>
                </a:solidFill>
                <a:latin typeface="Tahoma" panose="020B0604030504040204" pitchFamily="34" charset="0"/>
              </a:rPr>
              <a:t>), l'onchocercose (</a:t>
            </a:r>
            <a:r>
              <a:rPr lang="fr-FR" sz="2400" dirty="0" err="1">
                <a:solidFill>
                  <a:srgbClr val="000000"/>
                </a:solidFill>
                <a:latin typeface="Tahoma" panose="020B0604030504040204" pitchFamily="34" charset="0"/>
              </a:rPr>
              <a:t>onchococerca</a:t>
            </a:r>
            <a:r>
              <a:rPr lang="fr-FR" sz="2400" dirty="0">
                <a:solidFill>
                  <a:srgbClr val="000000"/>
                </a:solidFill>
                <a:latin typeface="Tahoma" panose="020B0604030504040204" pitchFamily="34" charset="0"/>
              </a:rPr>
              <a:t> volvulus) et enfin la dracunculose (</a:t>
            </a:r>
            <a:r>
              <a:rPr lang="fr-FR" sz="2400" dirty="0" err="1">
                <a:solidFill>
                  <a:srgbClr val="000000"/>
                </a:solidFill>
                <a:latin typeface="Tahoma" panose="020B0604030504040204" pitchFamily="34" charset="0"/>
              </a:rPr>
              <a:t>dracunculusmedinensis</a:t>
            </a:r>
            <a:r>
              <a:rPr lang="fr-FR" sz="2400" dirty="0">
                <a:solidFill>
                  <a:srgbClr val="000000"/>
                </a:solidFill>
                <a:latin typeface="Tahoma" panose="020B0604030504040204" pitchFamily="34" charset="0"/>
              </a:rPr>
              <a:t>).</a:t>
            </a:r>
            <a:endParaRPr lang="fr-FR" sz="2400" dirty="0"/>
          </a:p>
          <a:p>
            <a:endParaRPr lang="fr-FR" dirty="0"/>
          </a:p>
        </p:txBody>
      </p:sp>
    </p:spTree>
    <p:extLst>
      <p:ext uri="{BB962C8B-B14F-4D97-AF65-F5344CB8AC3E}">
        <p14:creationId xmlns:p14="http://schemas.microsoft.com/office/powerpoint/2010/main" val="2611087326"/>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337507"/>
            <a:ext cx="8911687" cy="563245"/>
          </a:xfrm>
        </p:spPr>
        <p:txBody>
          <a:bodyPr/>
          <a:lstStyle/>
          <a:p>
            <a:pPr algn="ctr"/>
            <a:r>
              <a:rPr lang="fr-FR" sz="2800" b="1" spc="25" dirty="0">
                <a:solidFill>
                  <a:srgbClr val="000000"/>
                </a:solidFill>
                <a:latin typeface="Tahoma" panose="020B0604030504040204" pitchFamily="34" charset="0"/>
                <a:ea typeface="Courier New" panose="02070309020205020404" pitchFamily="49" charset="0"/>
                <a:cs typeface="Times New Roman" panose="02020603050405020304" pitchFamily="18" charset="0"/>
              </a:rPr>
              <a:t>DRACUNCULOSE</a:t>
            </a:r>
            <a:endParaRPr lang="fr-FR" dirty="0"/>
          </a:p>
        </p:txBody>
      </p:sp>
      <p:sp>
        <p:nvSpPr>
          <p:cNvPr id="3" name="Espace réservé du contenu 2"/>
          <p:cNvSpPr>
            <a:spLocks noGrp="1"/>
          </p:cNvSpPr>
          <p:nvPr>
            <p:ph idx="1"/>
          </p:nvPr>
        </p:nvSpPr>
        <p:spPr>
          <a:xfrm>
            <a:off x="723331" y="900753"/>
            <a:ext cx="10781281" cy="5523494"/>
          </a:xfrm>
        </p:spPr>
        <p:txBody>
          <a:bodyPr>
            <a:normAutofit lnSpcReduction="10000"/>
          </a:bodyPr>
          <a:lstStyle/>
          <a:p>
            <a:pPr>
              <a:lnSpc>
                <a:spcPct val="170000"/>
              </a:lnSpc>
            </a:pPr>
            <a:r>
              <a:rPr lang="fr-FR" sz="2800" spc="30" dirty="0">
                <a:solidFill>
                  <a:srgbClr val="000000"/>
                </a:solidFill>
                <a:latin typeface="Tahoma" panose="020B0604030504040204" pitchFamily="34" charset="0"/>
                <a:ea typeface="Times New Roman" panose="02020603050405020304" pitchFamily="18" charset="0"/>
              </a:rPr>
              <a:t>La dracunculose est une filariose due à un ver filiforme appelé </a:t>
            </a:r>
            <a:r>
              <a:rPr lang="fr-FR" sz="2800" spc="30" dirty="0" err="1" smtClean="0">
                <a:solidFill>
                  <a:srgbClr val="000000"/>
                </a:solidFill>
                <a:latin typeface="Tahoma" panose="020B0604030504040204" pitchFamily="34" charset="0"/>
                <a:ea typeface="Times New Roman" panose="02020603050405020304" pitchFamily="18" charset="0"/>
              </a:rPr>
              <a:t>dracunculus</a:t>
            </a:r>
            <a:r>
              <a:rPr lang="fr-FR" sz="2800" spc="30" dirty="0" smtClean="0">
                <a:solidFill>
                  <a:srgbClr val="000000"/>
                </a:solidFill>
                <a:latin typeface="Tahoma" panose="020B0604030504040204" pitchFamily="34" charset="0"/>
                <a:ea typeface="Times New Roman" panose="02020603050405020304" pitchFamily="18" charset="0"/>
              </a:rPr>
              <a:t> </a:t>
            </a:r>
            <a:r>
              <a:rPr lang="fr-FR" sz="2800" spc="30" dirty="0" err="1" smtClean="0">
                <a:solidFill>
                  <a:srgbClr val="000000"/>
                </a:solidFill>
                <a:latin typeface="Tahoma" panose="020B0604030504040204" pitchFamily="34" charset="0"/>
                <a:ea typeface="Times New Roman" panose="02020603050405020304" pitchFamily="18" charset="0"/>
              </a:rPr>
              <a:t>medinensis</a:t>
            </a:r>
            <a:r>
              <a:rPr lang="fr-FR" sz="2800" spc="30" dirty="0" smtClean="0">
                <a:solidFill>
                  <a:srgbClr val="000000"/>
                </a:solidFill>
                <a:latin typeface="Tahoma" panose="020B0604030504040204" pitchFamily="34" charset="0"/>
                <a:ea typeface="Times New Roman" panose="02020603050405020304" pitchFamily="18" charset="0"/>
              </a:rPr>
              <a:t> </a:t>
            </a:r>
            <a:r>
              <a:rPr lang="fr-FR" sz="2800" spc="30" dirty="0">
                <a:solidFill>
                  <a:srgbClr val="000000"/>
                </a:solidFill>
                <a:latin typeface="Tahoma" panose="020B0604030504040204" pitchFamily="34" charset="0"/>
                <a:ea typeface="Times New Roman" panose="02020603050405020304" pitchFamily="18" charset="0"/>
              </a:rPr>
              <a:t>qui se localise généralement dans le derme.</a:t>
            </a:r>
            <a:endParaRPr lang="fr-FR" sz="2800" spc="30" dirty="0">
              <a:latin typeface="Times New Roman" panose="02020603050405020304" pitchFamily="18" charset="0"/>
              <a:ea typeface="Times New Roman" panose="02020603050405020304" pitchFamily="18" charset="0"/>
            </a:endParaRPr>
          </a:p>
          <a:p>
            <a:pPr>
              <a:lnSpc>
                <a:spcPct val="150000"/>
              </a:lnSpc>
            </a:pPr>
            <a:r>
              <a:rPr lang="fr-FR" sz="2800" dirty="0" smtClean="0">
                <a:solidFill>
                  <a:srgbClr val="000000"/>
                </a:solidFill>
                <a:latin typeface="Tahoma" panose="020B0604030504040204" pitchFamily="34" charset="0"/>
              </a:rPr>
              <a:t>La </a:t>
            </a:r>
            <a:r>
              <a:rPr lang="fr-FR" sz="2800" dirty="0">
                <a:solidFill>
                  <a:srgbClr val="000000"/>
                </a:solidFill>
                <a:latin typeface="Tahoma" panose="020B0604030504040204" pitchFamily="34" charset="0"/>
              </a:rPr>
              <a:t>dracunculose se rencontre dans toutes les régions chaudes du monde. En Afrique, elle occupe toute la région tropicale et la vallée du Nil</a:t>
            </a:r>
            <a:r>
              <a:rPr lang="fr-FR" sz="2800" dirty="0" smtClean="0">
                <a:solidFill>
                  <a:srgbClr val="000000"/>
                </a:solidFill>
                <a:latin typeface="Tahoma" panose="020B0604030504040204" pitchFamily="34" charset="0"/>
              </a:rPr>
              <a:t>.</a:t>
            </a:r>
            <a:r>
              <a:rPr lang="fr-FR" sz="2800" dirty="0">
                <a:solidFill>
                  <a:srgbClr val="000000"/>
                </a:solidFill>
                <a:latin typeface="Tahoma" panose="020B0604030504040204" pitchFamily="34" charset="0"/>
              </a:rPr>
              <a:t> </a:t>
            </a:r>
            <a:endParaRPr lang="fr-FR" sz="2800" dirty="0"/>
          </a:p>
          <a:p>
            <a:pPr>
              <a:lnSpc>
                <a:spcPct val="150000"/>
              </a:lnSpc>
            </a:pPr>
            <a:r>
              <a:rPr lang="fr-FR" sz="2800" dirty="0" err="1" smtClean="0">
                <a:solidFill>
                  <a:srgbClr val="000000"/>
                </a:solidFill>
                <a:latin typeface="Tahoma" panose="020B0604030504040204" pitchFamily="34" charset="0"/>
              </a:rPr>
              <a:t>Dracunculus</a:t>
            </a:r>
            <a:r>
              <a:rPr lang="fr-FR" sz="2800" dirty="0" smtClean="0">
                <a:solidFill>
                  <a:srgbClr val="000000"/>
                </a:solidFill>
                <a:latin typeface="Tahoma" panose="020B0604030504040204" pitchFamily="34" charset="0"/>
              </a:rPr>
              <a:t> </a:t>
            </a:r>
            <a:r>
              <a:rPr lang="fr-FR" sz="2800" dirty="0" err="1" smtClean="0">
                <a:solidFill>
                  <a:srgbClr val="000000"/>
                </a:solidFill>
                <a:latin typeface="Tahoma" panose="020B0604030504040204" pitchFamily="34" charset="0"/>
              </a:rPr>
              <a:t>medinensis</a:t>
            </a:r>
            <a:r>
              <a:rPr lang="fr-FR" sz="2800" dirty="0" smtClean="0">
                <a:solidFill>
                  <a:srgbClr val="000000"/>
                </a:solidFill>
                <a:latin typeface="Tahoma" panose="020B0604030504040204" pitchFamily="34" charset="0"/>
              </a:rPr>
              <a:t> </a:t>
            </a:r>
            <a:r>
              <a:rPr lang="fr-FR" sz="2800" dirty="0">
                <a:solidFill>
                  <a:srgbClr val="000000"/>
                </a:solidFill>
                <a:latin typeface="Tahoma" panose="020B0604030504040204" pitchFamily="34" charset="0"/>
              </a:rPr>
              <a:t>est l'agent pathogène. La femelle mesure environ 80 à 100 cm</a:t>
            </a:r>
            <a:r>
              <a:rPr lang="fr-FR" sz="2800" dirty="0" smtClean="0">
                <a:solidFill>
                  <a:srgbClr val="000000"/>
                </a:solidFill>
                <a:latin typeface="Tahoma" panose="020B0604030504040204" pitchFamily="34" charset="0"/>
              </a:rPr>
              <a:t>.</a:t>
            </a:r>
            <a:endParaRPr lang="fr-FR" sz="2800" dirty="0"/>
          </a:p>
          <a:p>
            <a:pPr indent="-635000" algn="just">
              <a:lnSpc>
                <a:spcPct val="150000"/>
              </a:lnSpc>
              <a:spcBef>
                <a:spcPts val="1200"/>
              </a:spcBef>
            </a:pPr>
            <a:endParaRPr lang="fr-FR" spc="3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256334970"/>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6" y="624110"/>
            <a:ext cx="7382348" cy="705926"/>
          </a:xfrm>
        </p:spPr>
        <p:txBody>
          <a:bodyPr/>
          <a:lstStyle/>
          <a:p>
            <a:r>
              <a:rPr lang="fr-FR" b="1" spc="30" dirty="0" smtClean="0">
                <a:solidFill>
                  <a:srgbClr val="FF0000"/>
                </a:solidFill>
                <a:latin typeface="Tahoma" panose="020B0604030504040204" pitchFamily="34" charset="0"/>
                <a:ea typeface="Times New Roman" panose="02020603050405020304" pitchFamily="18" charset="0"/>
              </a:rPr>
              <a:t>DRACUNCULUS MEDINENSIS</a:t>
            </a:r>
            <a:endParaRPr lang="fr-FR" b="1" dirty="0">
              <a:solidFill>
                <a:srgbClr val="FF0000"/>
              </a:solidFill>
            </a:endParaRPr>
          </a:p>
        </p:txBody>
      </p:sp>
      <p:pic>
        <p:nvPicPr>
          <p:cNvPr id="1026" name="Picture 2" descr="Illustration d'un ver de guinée (Drakunculus medinensis) émergeant d'un  pied infecté. Le ver blanc de type filetage est vu au centre; le ver  femelle i Photo Stock - Alamy"/>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461"/>
          <a:stretch/>
        </p:blipFill>
        <p:spPr bwMode="auto">
          <a:xfrm>
            <a:off x="720437" y="1233054"/>
            <a:ext cx="6331528" cy="5181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racunculose — Wikipédia"/>
          <p:cNvPicPr>
            <a:picLocks noChangeAspect="1" noChangeArrowheads="1"/>
          </p:cNvPicPr>
          <p:nvPr/>
        </p:nvPicPr>
        <p:blipFill rotWithShape="1">
          <a:blip r:embed="rId3">
            <a:extLst>
              <a:ext uri="{28A0092B-C50C-407E-A947-70E740481C1C}">
                <a14:useLocalDpi xmlns:a14="http://schemas.microsoft.com/office/drawing/2010/main" val="0"/>
              </a:ext>
            </a:extLst>
          </a:blip>
          <a:srcRect r="15217"/>
          <a:stretch/>
        </p:blipFill>
        <p:spPr bwMode="auto">
          <a:xfrm>
            <a:off x="7412183" y="1233054"/>
            <a:ext cx="4322617"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950166"/>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60060" y="750627"/>
            <a:ext cx="10344552" cy="5595582"/>
          </a:xfrm>
        </p:spPr>
        <p:txBody>
          <a:bodyPr>
            <a:normAutofit/>
          </a:bodyPr>
          <a:lstStyle/>
          <a:p>
            <a:pPr marL="0" lvl="0" indent="0" algn="just">
              <a:lnSpc>
                <a:spcPct val="150000"/>
              </a:lnSpc>
              <a:buClr>
                <a:srgbClr val="000000"/>
              </a:buClr>
              <a:buSzPts val="1400"/>
              <a:buNone/>
            </a:pPr>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Réservoir de </a:t>
            </a:r>
            <a:r>
              <a:rPr lang="fr-FR" sz="28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germe</a:t>
            </a:r>
            <a:r>
              <a:rPr lang="fr-FR" sz="2800" spc="25" dirty="0" smtClean="0">
                <a:solidFill>
                  <a:srgbClr val="000000"/>
                </a:solidFill>
                <a:latin typeface="Courier New" panose="02070309020205020404" pitchFamily="49" charset="0"/>
                <a:ea typeface="Calibri" panose="020F0502020204030204" pitchFamily="34" charset="0"/>
              </a:rPr>
              <a:t> </a:t>
            </a:r>
            <a:r>
              <a:rPr lang="fr-FR" sz="2800" dirty="0" smtClean="0">
                <a:solidFill>
                  <a:srgbClr val="000000"/>
                </a:solidFill>
                <a:latin typeface="Tahoma" panose="020B0604030504040204" pitchFamily="34" charset="0"/>
              </a:rPr>
              <a:t>est </a:t>
            </a:r>
            <a:r>
              <a:rPr lang="fr-FR" sz="2800" dirty="0">
                <a:solidFill>
                  <a:srgbClr val="000000"/>
                </a:solidFill>
                <a:latin typeface="Tahoma" panose="020B0604030504040204" pitchFamily="34" charset="0"/>
              </a:rPr>
              <a:t>constitué uniquement de l'homme malade.</a:t>
            </a:r>
            <a:endParaRPr lang="fr-FR" sz="2800" dirty="0"/>
          </a:p>
          <a:p>
            <a:pPr indent="-635000" algn="just">
              <a:lnSpc>
                <a:spcPct val="150000"/>
              </a:lnSpc>
              <a:spcBef>
                <a:spcPts val="1200"/>
              </a:spcBef>
            </a:pPr>
            <a:r>
              <a:rPr lang="fr-FR" sz="2800" spc="30" dirty="0" smtClean="0">
                <a:solidFill>
                  <a:srgbClr val="000000"/>
                </a:solidFill>
                <a:latin typeface="Tahoma" panose="020B0604030504040204" pitchFamily="34" charset="0"/>
                <a:ea typeface="Times New Roman" panose="02020603050405020304" pitchFamily="18" charset="0"/>
              </a:rPr>
              <a:t>L’hôte </a:t>
            </a:r>
            <a:r>
              <a:rPr lang="fr-FR" sz="2800" spc="30" dirty="0">
                <a:solidFill>
                  <a:srgbClr val="000000"/>
                </a:solidFill>
                <a:latin typeface="Tahoma" panose="020B0604030504040204" pitchFamily="34" charset="0"/>
                <a:ea typeface="Times New Roman" panose="02020603050405020304" pitchFamily="18" charset="0"/>
              </a:rPr>
              <a:t>intermédiaire est un crustacé appelé </a:t>
            </a:r>
            <a:r>
              <a:rPr lang="fr-FR" sz="2800" spc="30" dirty="0" err="1">
                <a:solidFill>
                  <a:srgbClr val="000000"/>
                </a:solidFill>
                <a:latin typeface="Tahoma" panose="020B0604030504040204" pitchFamily="34" charset="0"/>
                <a:ea typeface="Times New Roman" panose="02020603050405020304" pitchFamily="18" charset="0"/>
              </a:rPr>
              <a:t>coronatus</a:t>
            </a:r>
            <a:r>
              <a:rPr lang="fr-FR" sz="2800" spc="30" dirty="0">
                <a:solidFill>
                  <a:srgbClr val="000000"/>
                </a:solidFill>
                <a:latin typeface="Tahoma" panose="020B0604030504040204" pitchFamily="34" charset="0"/>
                <a:ea typeface="Times New Roman" panose="02020603050405020304" pitchFamily="18" charset="0"/>
              </a:rPr>
              <a:t> qui vit dans les eaux douces dormantes et stagnantes.</a:t>
            </a:r>
          </a:p>
          <a:p>
            <a:pPr indent="-635000" algn="just">
              <a:lnSpc>
                <a:spcPct val="150000"/>
              </a:lnSpc>
              <a:spcBef>
                <a:spcPts val="1200"/>
              </a:spcBef>
            </a:pPr>
            <a:r>
              <a:rPr lang="fr-FR" sz="2800" dirty="0">
                <a:solidFill>
                  <a:srgbClr val="000000"/>
                </a:solidFill>
                <a:latin typeface="Tahoma" panose="020B0604030504040204" pitchFamily="34" charset="0"/>
                <a:ea typeface="Courier New" panose="02070309020205020404" pitchFamily="49" charset="0"/>
              </a:rPr>
              <a:t>Les localisations fréquentes du ver sont les membres inférieurs (98%) mais on peut retrouver le ver au niveau des organes génitaux, le creux axillaire, la langue</a:t>
            </a:r>
            <a:endParaRPr lang="fr-FR" sz="2800" spc="30" dirty="0">
              <a:solidFill>
                <a:srgbClr val="000000"/>
              </a:solidFill>
              <a:latin typeface="Tahoma" panose="020B0604030504040204" pitchFamily="34" charset="0"/>
              <a:ea typeface="Times New Roman" panose="02020603050405020304" pitchFamily="18" charset="0"/>
            </a:endParaRPr>
          </a:p>
          <a:p>
            <a:endParaRPr lang="fr-FR" dirty="0"/>
          </a:p>
        </p:txBody>
      </p:sp>
    </p:spTree>
    <p:extLst>
      <p:ext uri="{BB962C8B-B14F-4D97-AF65-F5344CB8AC3E}">
        <p14:creationId xmlns:p14="http://schemas.microsoft.com/office/powerpoint/2010/main" val="864721481"/>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47265" y="214677"/>
            <a:ext cx="8911687" cy="713371"/>
          </a:xfrm>
        </p:spPr>
        <p:txBody>
          <a:bodyPr>
            <a:normAutofit fontScale="90000"/>
          </a:bodyPr>
          <a:lstStyle/>
          <a:p>
            <a:pPr lvl="0" algn="ctr"/>
            <a:r>
              <a:rPr lang="fr-FR"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CYCLE PARASITAIRE</a:t>
            </a:r>
            <a:r>
              <a:rPr lang="fr-FR" spc="25" dirty="0">
                <a:ea typeface="Times New Roman" panose="02020603050405020304" pitchFamily="18" charset="0"/>
              </a:rPr>
              <a:t/>
            </a:r>
            <a:br>
              <a:rPr lang="fr-FR" spc="25" dirty="0">
                <a:ea typeface="Times New Roman" panose="02020603050405020304" pitchFamily="18" charset="0"/>
              </a:rPr>
            </a:br>
            <a:endParaRPr lang="fr-FR" dirty="0"/>
          </a:p>
        </p:txBody>
      </p:sp>
      <p:sp>
        <p:nvSpPr>
          <p:cNvPr id="3" name="Espace réservé du contenu 2"/>
          <p:cNvSpPr>
            <a:spLocks noGrp="1"/>
          </p:cNvSpPr>
          <p:nvPr>
            <p:ph idx="1"/>
          </p:nvPr>
        </p:nvSpPr>
        <p:spPr>
          <a:xfrm>
            <a:off x="504967" y="928047"/>
            <a:ext cx="11341290" cy="5527343"/>
          </a:xfrm>
        </p:spPr>
        <p:txBody>
          <a:bodyPr>
            <a:normAutofit/>
          </a:bodyPr>
          <a:lstStyle/>
          <a:p>
            <a:pPr algn="just">
              <a:lnSpc>
                <a:spcPct val="150000"/>
              </a:lnSpc>
            </a:pPr>
            <a:r>
              <a:rPr lang="fr-FR" sz="2800" dirty="0">
                <a:solidFill>
                  <a:srgbClr val="000000"/>
                </a:solidFill>
                <a:latin typeface="Tahoma" panose="020B0604030504040204" pitchFamily="34" charset="0"/>
              </a:rPr>
              <a:t>La filaire femelle adulte qui vit en général dans le derme au contact de l'eau se rapproche de la peau par son extrémité utérine pour libérer les larves.</a:t>
            </a:r>
            <a:endParaRPr lang="fr-FR" sz="2800" dirty="0"/>
          </a:p>
          <a:p>
            <a:pPr algn="just">
              <a:lnSpc>
                <a:spcPct val="150000"/>
              </a:lnSpc>
            </a:pPr>
            <a:r>
              <a:rPr lang="fr-FR" sz="2800" dirty="0">
                <a:solidFill>
                  <a:srgbClr val="000000"/>
                </a:solidFill>
                <a:latin typeface="Tahoma" panose="020B0604030504040204" pitchFamily="34" charset="0"/>
              </a:rPr>
              <a:t>Les larves expulsées par la femelle poursuivent leur développement une fois ingéré par le cyclops pour devenir infestant après 3 semaines d'évolution</a:t>
            </a:r>
            <a:r>
              <a:rPr lang="fr-FR" sz="2800" dirty="0" smtClean="0">
                <a:solidFill>
                  <a:srgbClr val="000000"/>
                </a:solidFill>
                <a:latin typeface="Tahoma" panose="020B0604030504040204" pitchFamily="34" charset="0"/>
              </a:rPr>
              <a:t>.</a:t>
            </a:r>
            <a:endParaRPr lang="fr-FR" sz="2800" dirty="0"/>
          </a:p>
        </p:txBody>
      </p:sp>
    </p:spTree>
    <p:extLst>
      <p:ext uri="{BB962C8B-B14F-4D97-AF65-F5344CB8AC3E}">
        <p14:creationId xmlns:p14="http://schemas.microsoft.com/office/powerpoint/2010/main" val="1630831433"/>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996287" y="682387"/>
            <a:ext cx="10508325" cy="5527343"/>
          </a:xfrm>
        </p:spPr>
        <p:txBody>
          <a:bodyPr>
            <a:normAutofit/>
          </a:bodyPr>
          <a:lstStyle/>
          <a:p>
            <a:pPr algn="just">
              <a:lnSpc>
                <a:spcPct val="150000"/>
              </a:lnSpc>
            </a:pPr>
            <a:r>
              <a:rPr lang="fr-FR" sz="2800" dirty="0">
                <a:solidFill>
                  <a:srgbClr val="000000"/>
                </a:solidFill>
                <a:latin typeface="Tahoma" panose="020B0604030504040204" pitchFamily="34" charset="0"/>
              </a:rPr>
              <a:t>L'homme se contamine buvant de l'eau contenant les cyclops qui vont être dissous par les sucs gastriques</a:t>
            </a:r>
            <a:r>
              <a:rPr lang="fr-FR" sz="2800" dirty="0" smtClean="0">
                <a:solidFill>
                  <a:srgbClr val="000000"/>
                </a:solidFill>
                <a:latin typeface="Tahoma" panose="020B0604030504040204" pitchFamily="34" charset="0"/>
              </a:rPr>
              <a:t>. Les </a:t>
            </a:r>
            <a:r>
              <a:rPr lang="fr-FR" sz="2800" dirty="0">
                <a:solidFill>
                  <a:srgbClr val="000000"/>
                </a:solidFill>
                <a:latin typeface="Tahoma" panose="020B0604030504040204" pitchFamily="34" charset="0"/>
              </a:rPr>
              <a:t>vers adultes libérés traversent la paroi du tube digestif pour atteindre les tissus. Les vers mâles meurent après fécondation avec la femelle. La femelle vient se placer sous la peau au niveau des membres inférieurs.</a:t>
            </a:r>
            <a:endParaRPr lang="fr-FR" sz="2800" dirty="0"/>
          </a:p>
          <a:p>
            <a:pPr algn="just">
              <a:lnSpc>
                <a:spcPct val="150000"/>
              </a:lnSpc>
            </a:pPr>
            <a:r>
              <a:rPr lang="fr-FR" sz="2800" dirty="0">
                <a:solidFill>
                  <a:srgbClr val="000000"/>
                </a:solidFill>
                <a:latin typeface="Tahoma" panose="020B0604030504040204" pitchFamily="34" charset="0"/>
              </a:rPr>
              <a:t>Ainsi, au contact de l'eau, la femelle libère plusieurs milliers de larves et le cycle recommence.</a:t>
            </a:r>
            <a:endParaRPr lang="fr-FR" sz="2800" dirty="0"/>
          </a:p>
          <a:p>
            <a:endParaRPr lang="fr-FR" dirty="0"/>
          </a:p>
          <a:p>
            <a:endParaRPr lang="fr-FR" dirty="0"/>
          </a:p>
        </p:txBody>
      </p:sp>
    </p:spTree>
    <p:extLst>
      <p:ext uri="{BB962C8B-B14F-4D97-AF65-F5344CB8AC3E}">
        <p14:creationId xmlns:p14="http://schemas.microsoft.com/office/powerpoint/2010/main" val="3812218999"/>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97391" y="337507"/>
            <a:ext cx="8911687" cy="713371"/>
          </a:xfrm>
        </p:spPr>
        <p:txBody>
          <a:bodyPr>
            <a:normAutofit fontScale="90000"/>
          </a:bodyPr>
          <a:lstStyle/>
          <a:p>
            <a:pPr lvl="0" algn="ctr"/>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ETUDE CLINIQUE</a:t>
            </a:r>
            <a:r>
              <a:rPr lang="fr-FR" sz="2800" spc="25" dirty="0">
                <a:ea typeface="Times New Roman" panose="02020603050405020304" pitchFamily="18" charset="0"/>
              </a:rPr>
              <a:t/>
            </a:r>
            <a:br>
              <a:rPr lang="fr-FR" sz="2800" spc="25" dirty="0">
                <a:ea typeface="Times New Roman" panose="02020603050405020304" pitchFamily="18" charset="0"/>
              </a:rPr>
            </a:br>
            <a:endParaRPr lang="fr-FR" sz="2800" dirty="0"/>
          </a:p>
        </p:txBody>
      </p:sp>
      <p:sp>
        <p:nvSpPr>
          <p:cNvPr id="3" name="Espace réservé du contenu 2"/>
          <p:cNvSpPr>
            <a:spLocks noGrp="1"/>
          </p:cNvSpPr>
          <p:nvPr>
            <p:ph idx="1"/>
          </p:nvPr>
        </p:nvSpPr>
        <p:spPr>
          <a:xfrm>
            <a:off x="504967" y="1050878"/>
            <a:ext cx="10999645" cy="5281683"/>
          </a:xfrm>
        </p:spPr>
        <p:txBody>
          <a:bodyPr>
            <a:normAutofit fontScale="92500"/>
          </a:bodyPr>
          <a:lstStyle/>
          <a:p>
            <a:pPr marL="457200" lvl="1" indent="0" algn="just">
              <a:lnSpc>
                <a:spcPct val="120000"/>
              </a:lnSpc>
              <a:buNone/>
            </a:pPr>
            <a:r>
              <a:rPr lang="fr-FR" sz="29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Période </a:t>
            </a:r>
            <a:r>
              <a:rPr lang="fr-FR" sz="29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d’incubation </a:t>
            </a:r>
            <a:r>
              <a:rPr lang="fr-FR" sz="2900" dirty="0" smtClean="0">
                <a:solidFill>
                  <a:srgbClr val="000000"/>
                </a:solidFill>
                <a:latin typeface="Tahoma" panose="020B0604030504040204" pitchFamily="34" charset="0"/>
              </a:rPr>
              <a:t>est </a:t>
            </a:r>
            <a:r>
              <a:rPr lang="fr-FR" sz="2900" dirty="0">
                <a:solidFill>
                  <a:srgbClr val="000000"/>
                </a:solidFill>
                <a:latin typeface="Tahoma" panose="020B0604030504040204" pitchFamily="34" charset="0"/>
              </a:rPr>
              <a:t>asymptomatique et dure environ un an</a:t>
            </a:r>
            <a:r>
              <a:rPr lang="fr-FR" sz="2900" dirty="0" smtClean="0">
                <a:solidFill>
                  <a:srgbClr val="000000"/>
                </a:solidFill>
                <a:latin typeface="Tahoma" panose="020B0604030504040204" pitchFamily="34" charset="0"/>
              </a:rPr>
              <a:t>.</a:t>
            </a:r>
            <a:endParaRPr lang="fr-FR" sz="2900" dirty="0"/>
          </a:p>
          <a:p>
            <a:pPr marL="457200" lvl="1" indent="0" algn="just">
              <a:lnSpc>
                <a:spcPct val="120000"/>
              </a:lnSpc>
              <a:buNone/>
            </a:pPr>
            <a:r>
              <a:rPr lang="fr-FR" sz="29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Période </a:t>
            </a:r>
            <a:r>
              <a:rPr lang="fr-FR" sz="29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d’invasion</a:t>
            </a:r>
            <a:r>
              <a:rPr lang="fr-FR" sz="2900" dirty="0" smtClean="0">
                <a:solidFill>
                  <a:srgbClr val="000000"/>
                </a:solidFill>
                <a:latin typeface="Tahoma" panose="020B0604030504040204" pitchFamily="34" charset="0"/>
              </a:rPr>
              <a:t> </a:t>
            </a:r>
            <a:r>
              <a:rPr lang="fr-FR" sz="2900" dirty="0">
                <a:solidFill>
                  <a:srgbClr val="000000"/>
                </a:solidFill>
                <a:latin typeface="Tahoma" panose="020B0604030504040204" pitchFamily="34" charset="0"/>
              </a:rPr>
              <a:t>est marquée par </a:t>
            </a:r>
            <a:r>
              <a:rPr lang="fr-FR" sz="29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une </a:t>
            </a:r>
            <a:r>
              <a:rPr lang="fr-FR" sz="29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poussée </a:t>
            </a:r>
            <a:r>
              <a:rPr lang="fr-FR" sz="2900" spc="3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urticarienne</a:t>
            </a:r>
            <a:r>
              <a:rPr lang="fr-FR" sz="29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 (démangeaison) précédant la sortie du </a:t>
            </a:r>
            <a:r>
              <a:rPr lang="fr-FR" sz="29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ver,</a:t>
            </a:r>
            <a:r>
              <a:rPr lang="fr-FR" sz="2900" spc="30" dirty="0">
                <a:ea typeface="Calibri" panose="020F0502020204030204" pitchFamily="34" charset="0"/>
                <a:cs typeface="Times New Roman" panose="02020603050405020304" pitchFamily="18" charset="0"/>
              </a:rPr>
              <a:t> </a:t>
            </a:r>
            <a:r>
              <a:rPr lang="fr-FR" sz="29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un </a:t>
            </a:r>
            <a:r>
              <a:rPr lang="fr-FR" sz="29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pseudo-phlegmon </a:t>
            </a:r>
            <a:r>
              <a:rPr lang="fr-FR" sz="2900" spc="30" dirty="0" err="1">
                <a:solidFill>
                  <a:srgbClr val="000000"/>
                </a:solidFill>
                <a:latin typeface="Tahoma" panose="020B0604030504040204" pitchFamily="34" charset="0"/>
                <a:ea typeface="Calibri" panose="020F0502020204030204" pitchFamily="34" charset="0"/>
                <a:cs typeface="Times New Roman" panose="02020603050405020304" pitchFamily="18" charset="0"/>
              </a:rPr>
              <a:t>fistulisé</a:t>
            </a:r>
            <a:r>
              <a:rPr lang="fr-FR" sz="29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 de la jambe laissant apparaître l'extrémité du </a:t>
            </a:r>
            <a:r>
              <a:rPr lang="fr-FR" sz="29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ver et des </a:t>
            </a:r>
            <a:r>
              <a:rPr lang="fr-FR" sz="29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troubles digestifs : nausées ou vomissements ou </a:t>
            </a:r>
            <a:r>
              <a:rPr lang="fr-FR" sz="29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diarrhée.</a:t>
            </a:r>
            <a:endParaRPr lang="fr-FR" sz="2900" dirty="0"/>
          </a:p>
          <a:p>
            <a:pPr marL="457200" lvl="1" indent="0" algn="just">
              <a:lnSpc>
                <a:spcPct val="120000"/>
              </a:lnSpc>
              <a:buNone/>
            </a:pPr>
            <a:r>
              <a:rPr lang="fr-FR" sz="29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Période </a:t>
            </a:r>
            <a:r>
              <a:rPr lang="fr-FR" sz="29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d’état : phase </a:t>
            </a:r>
            <a:r>
              <a:rPr lang="fr-FR" sz="29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importante</a:t>
            </a:r>
            <a:r>
              <a:rPr lang="fr-FR" sz="2900" dirty="0">
                <a:solidFill>
                  <a:srgbClr val="000000"/>
                </a:solidFill>
                <a:latin typeface="Courier New" panose="02070309020205020404" pitchFamily="49" charset="0"/>
                <a:ea typeface="Calibri" panose="020F0502020204030204" pitchFamily="34" charset="0"/>
              </a:rPr>
              <a:t> </a:t>
            </a:r>
            <a:r>
              <a:rPr lang="fr-FR" sz="2900" spc="10" dirty="0" smtClean="0">
                <a:solidFill>
                  <a:srgbClr val="000000"/>
                </a:solidFill>
                <a:latin typeface="Tahoma" panose="020B0604030504040204" pitchFamily="34" charset="0"/>
                <a:ea typeface="Times New Roman" panose="02020603050405020304" pitchFamily="18" charset="0"/>
              </a:rPr>
              <a:t>est </a:t>
            </a:r>
            <a:r>
              <a:rPr lang="fr-FR" sz="2900" spc="10" dirty="0">
                <a:solidFill>
                  <a:srgbClr val="000000"/>
                </a:solidFill>
                <a:latin typeface="Tahoma" panose="020B0604030504040204" pitchFamily="34" charset="0"/>
                <a:ea typeface="Times New Roman" panose="02020603050405020304" pitchFamily="18" charset="0"/>
              </a:rPr>
              <a:t>caractérisée par une impotence fonctionnelle de 2 à 3 semaines correspondant à l'expulsion totale du ver ou des vers en l'absence de toutes</a:t>
            </a:r>
            <a:br>
              <a:rPr lang="fr-FR" sz="2900" spc="10" dirty="0">
                <a:solidFill>
                  <a:srgbClr val="000000"/>
                </a:solidFill>
                <a:latin typeface="Tahoma" panose="020B0604030504040204" pitchFamily="34" charset="0"/>
                <a:ea typeface="Times New Roman" panose="02020603050405020304" pitchFamily="18" charset="0"/>
              </a:rPr>
            </a:br>
            <a:r>
              <a:rPr lang="fr-FR" sz="2900" spc="10" dirty="0">
                <a:solidFill>
                  <a:srgbClr val="000000"/>
                </a:solidFill>
                <a:latin typeface="Tahoma" panose="020B0604030504040204" pitchFamily="34" charset="0"/>
                <a:ea typeface="Times New Roman" panose="02020603050405020304" pitchFamily="18" charset="0"/>
              </a:rPr>
              <a:t>complications.</a:t>
            </a:r>
            <a:endParaRPr lang="fr-FR" sz="2900" spc="10" dirty="0">
              <a:latin typeface="Times New Roman" panose="02020603050405020304" pitchFamily="18" charset="0"/>
              <a:ea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1116128462"/>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96564"/>
            <a:ext cx="8911687" cy="576893"/>
          </a:xfrm>
        </p:spPr>
        <p:txBody>
          <a:bodyPr>
            <a:normAutofit fontScale="90000"/>
          </a:bodyPr>
          <a:lstStyle/>
          <a:p>
            <a:pPr lvl="0"/>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COMPLICATIONS</a:t>
            </a:r>
            <a:r>
              <a:rPr lang="fr-FR" sz="2800" spc="25" dirty="0">
                <a:ea typeface="Times New Roman" panose="02020603050405020304" pitchFamily="18" charset="0"/>
              </a:rPr>
              <a:t/>
            </a:r>
            <a:br>
              <a:rPr lang="fr-FR" sz="2800" spc="25" dirty="0">
                <a:ea typeface="Times New Roman" panose="02020603050405020304" pitchFamily="18" charset="0"/>
              </a:rPr>
            </a:br>
            <a:endParaRPr lang="fr-FR" sz="2800" dirty="0"/>
          </a:p>
        </p:txBody>
      </p:sp>
      <p:sp>
        <p:nvSpPr>
          <p:cNvPr id="3" name="Espace réservé du contenu 2"/>
          <p:cNvSpPr>
            <a:spLocks noGrp="1"/>
          </p:cNvSpPr>
          <p:nvPr>
            <p:ph idx="1"/>
          </p:nvPr>
        </p:nvSpPr>
        <p:spPr>
          <a:xfrm>
            <a:off x="818866" y="873457"/>
            <a:ext cx="10685746" cy="5404513"/>
          </a:xfrm>
        </p:spPr>
        <p:txBody>
          <a:bodyPr>
            <a:noAutofit/>
          </a:bodyPr>
          <a:lstStyle/>
          <a:p>
            <a:pPr algn="just">
              <a:lnSpc>
                <a:spcPct val="150000"/>
              </a:lnSpc>
            </a:pPr>
            <a:r>
              <a:rPr lang="fr-FR" sz="2800" dirty="0">
                <a:solidFill>
                  <a:srgbClr val="000000"/>
                </a:solidFill>
                <a:latin typeface="Tahoma" panose="020B0604030504040204" pitchFamily="34" charset="0"/>
              </a:rPr>
              <a:t>Elles font tout l'intérêt de la maladie et elles sont constituées par :</a:t>
            </a:r>
            <a:endParaRPr lang="fr-FR" sz="2800" dirty="0"/>
          </a:p>
          <a:p>
            <a:pPr lvl="0" algn="just">
              <a:lnSpc>
                <a:spcPct val="150000"/>
              </a:lnSpc>
              <a:buClr>
                <a:srgbClr val="000000"/>
              </a:buClr>
              <a:buSzPts val="1200"/>
              <a:buFont typeface="Calibri" panose="020F0502020204030204" pitchFamily="34" charset="0"/>
              <a:buChar char="-"/>
            </a:pPr>
            <a:r>
              <a:rPr lang="fr-FR" sz="28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infectieuses: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tétanos, abcès, gangrène, septicémie, etc.</a:t>
            </a:r>
            <a:endParaRPr lang="fr-FR" sz="2800" spc="30" dirty="0">
              <a:ea typeface="Calibri" panose="020F0502020204030204" pitchFamily="34" charset="0"/>
              <a:cs typeface="Times New Roman" panose="02020603050405020304" pitchFamily="18" charset="0"/>
            </a:endParaRPr>
          </a:p>
          <a:p>
            <a:pPr lvl="0" algn="just">
              <a:lnSpc>
                <a:spcPct val="150000"/>
              </a:lnSpc>
              <a:buClr>
                <a:srgbClr val="000000"/>
              </a:buClr>
              <a:buSzPts val="1200"/>
              <a:buFont typeface="Calibri" panose="020F0502020204030204" pitchFamily="34" charset="0"/>
              <a:buChar char="-"/>
            </a:pPr>
            <a:r>
              <a:rPr lang="fr-FR" sz="2800" b="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séquelles: </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ankylose articulaire, rétraction tendineuse</a:t>
            </a: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dirty="0"/>
          </a:p>
          <a:p>
            <a:pPr marL="0" indent="0" algn="just">
              <a:lnSpc>
                <a:spcPct val="150000"/>
              </a:lnSpc>
              <a:spcBef>
                <a:spcPts val="300"/>
              </a:spcBef>
              <a:buNone/>
            </a:pPr>
            <a:r>
              <a:rPr lang="fr-FR" sz="2800" spc="10" dirty="0" smtClean="0">
                <a:solidFill>
                  <a:srgbClr val="000000"/>
                </a:solidFill>
                <a:latin typeface="Tahoma" panose="020B0604030504040204" pitchFamily="34" charset="0"/>
                <a:ea typeface="Times New Roman" panose="02020603050405020304" pitchFamily="18" charset="0"/>
              </a:rPr>
              <a:t>Le </a:t>
            </a:r>
            <a:r>
              <a:rPr lang="fr-FR" sz="2800" spc="10" dirty="0">
                <a:solidFill>
                  <a:srgbClr val="000000"/>
                </a:solidFill>
                <a:latin typeface="Tahoma" panose="020B0604030504040204" pitchFamily="34" charset="0"/>
                <a:ea typeface="Times New Roman" panose="02020603050405020304" pitchFamily="18" charset="0"/>
              </a:rPr>
              <a:t>diagnostic positif repose uniquement sur la mise en évidence du ver adulte par la vision.</a:t>
            </a:r>
            <a:endParaRPr lang="fr-FR" sz="2800" spc="10" dirty="0">
              <a:latin typeface="Times New Roman" panose="02020603050405020304" pitchFamily="18" charset="0"/>
              <a:ea typeface="Times New Roman" panose="02020603050405020304" pitchFamily="18" charset="0"/>
            </a:endParaRPr>
          </a:p>
          <a:p>
            <a:pPr algn="just">
              <a:lnSpc>
                <a:spcPct val="150000"/>
              </a:lnSpc>
            </a:pPr>
            <a:r>
              <a:rPr lang="fr-FR" sz="2800" b="1" i="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NB</a:t>
            </a:r>
            <a:r>
              <a:rPr lang="fr-FR" sz="2800" b="1" i="1" spc="25" dirty="0">
                <a:solidFill>
                  <a:srgbClr val="000000"/>
                </a:solidFill>
                <a:latin typeface="Tahoma" panose="020B0604030504040204" pitchFamily="34" charset="0"/>
                <a:ea typeface="Tahoma" panose="020B0604030504040204" pitchFamily="34" charset="0"/>
                <a:cs typeface="Times New Roman" panose="02020603050405020304" pitchFamily="18" charset="0"/>
              </a:rPr>
              <a:t>: </a:t>
            </a:r>
            <a:r>
              <a:rPr lang="fr-FR" sz="2800" i="1" dirty="0">
                <a:latin typeface="Tahoma" panose="020B0604030504040204" pitchFamily="34" charset="0"/>
              </a:rPr>
              <a:t>Les adultes ou les embryons ne se recherchent pas dans les selles, ni dans le sang encore moins dans les urines.</a:t>
            </a:r>
            <a:endParaRPr lang="fr-FR" sz="2800" dirty="0"/>
          </a:p>
          <a:p>
            <a:pPr algn="just"/>
            <a:endParaRPr lang="fr-FR" sz="2400" dirty="0"/>
          </a:p>
        </p:txBody>
      </p:sp>
    </p:spTree>
    <p:extLst>
      <p:ext uri="{BB962C8B-B14F-4D97-AF65-F5344CB8AC3E}">
        <p14:creationId xmlns:p14="http://schemas.microsoft.com/office/powerpoint/2010/main" val="4284197311"/>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269268"/>
            <a:ext cx="8911687" cy="576893"/>
          </a:xfrm>
        </p:spPr>
        <p:txBody>
          <a:bodyPr>
            <a:normAutofit/>
          </a:bodyPr>
          <a:lstStyle/>
          <a:p>
            <a:r>
              <a:rPr lang="fr-FR" sz="2800" dirty="0" smtClean="0">
                <a:solidFill>
                  <a:srgbClr val="000000"/>
                </a:solidFill>
                <a:latin typeface="Tahoma" panose="020B0604030504040204" pitchFamily="34" charset="0"/>
                <a:ea typeface="Courier New" panose="02070309020205020404" pitchFamily="49" charset="0"/>
              </a:rPr>
              <a:t>TRAITEMENT ET PROPHYLAXIE</a:t>
            </a:r>
            <a:endParaRPr lang="fr-FR" sz="2800" dirty="0"/>
          </a:p>
        </p:txBody>
      </p:sp>
      <p:sp>
        <p:nvSpPr>
          <p:cNvPr id="3" name="Espace réservé du contenu 2"/>
          <p:cNvSpPr>
            <a:spLocks noGrp="1"/>
          </p:cNvSpPr>
          <p:nvPr>
            <p:ph idx="1"/>
          </p:nvPr>
        </p:nvSpPr>
        <p:spPr>
          <a:xfrm>
            <a:off x="614149" y="846161"/>
            <a:ext cx="11232108" cy="5431809"/>
          </a:xfrm>
        </p:spPr>
        <p:txBody>
          <a:bodyPr>
            <a:normAutofit/>
          </a:bodyPr>
          <a:lstStyle/>
          <a:p>
            <a:pPr lvl="0">
              <a:lnSpc>
                <a:spcPct val="150000"/>
              </a:lnSpc>
              <a:buClr>
                <a:srgbClr val="000000"/>
              </a:buClr>
              <a:buSzPts val="1200"/>
              <a:buFont typeface="Calibri" panose="020F0502020204030204" pitchFamily="34" charset="0"/>
              <a:buChar char="-"/>
            </a:pP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L'extirpation du ver de façon mécanique par enroulement progressif (1 tour/ jour) autour d'une allumette ou d'un bâtonnet, sans le casser demeure le </a:t>
            </a:r>
            <a:r>
              <a:rPr lang="fr-FR" sz="2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moyen le </a:t>
            </a: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plus efficace de supprimer le parasite mais elle est lente (2 à 3 semaines) et délicate.</a:t>
            </a:r>
            <a:endParaRPr lang="fr-FR" sz="2400" spc="30" dirty="0">
              <a:ea typeface="Calibri" panose="020F0502020204030204" pitchFamily="34" charset="0"/>
              <a:cs typeface="Times New Roman" panose="02020603050405020304" pitchFamily="18" charset="0"/>
            </a:endParaRPr>
          </a:p>
          <a:p>
            <a:pPr lvl="0">
              <a:lnSpc>
                <a:spcPct val="150000"/>
              </a:lnSpc>
              <a:buClr>
                <a:srgbClr val="000000"/>
              </a:buClr>
              <a:buSzPts val="1200"/>
              <a:buFont typeface="Calibri" panose="020F0502020204030204" pitchFamily="34" charset="0"/>
              <a:buChar char="-"/>
            </a:pP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Antibiothérapie et renouvellement journalier du pansement</a:t>
            </a:r>
            <a:r>
              <a:rPr lang="fr-FR" sz="2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400" dirty="0"/>
          </a:p>
          <a:p>
            <a:pPr>
              <a:lnSpc>
                <a:spcPct val="150000"/>
              </a:lnSpc>
            </a:pPr>
            <a:r>
              <a:rPr lang="fr-FR" sz="2400" dirty="0" smtClean="0">
                <a:solidFill>
                  <a:srgbClr val="000000"/>
                </a:solidFill>
                <a:latin typeface="Tahoma" panose="020B0604030504040204" pitchFamily="34" charset="0"/>
              </a:rPr>
              <a:t>La prophylaxie consiste à </a:t>
            </a:r>
            <a:r>
              <a:rPr lang="fr-FR" sz="2400" dirty="0">
                <a:solidFill>
                  <a:srgbClr val="000000"/>
                </a:solidFill>
                <a:latin typeface="Tahoma" panose="020B0604030504040204" pitchFamily="34" charset="0"/>
              </a:rPr>
              <a:t>i</a:t>
            </a:r>
            <a:r>
              <a:rPr lang="fr-FR" sz="2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soler </a:t>
            </a: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et traiter les maladies </a:t>
            </a:r>
            <a:r>
              <a:rPr lang="fr-FR" sz="24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identifiées; instaurer </a:t>
            </a:r>
            <a:r>
              <a:rPr lang="fr-FR" sz="24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communication pour le changement de comportement avec les malades et les communautés :</a:t>
            </a:r>
            <a:endParaRPr lang="fr-FR" sz="2400" spc="3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218952278"/>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37229" y="532263"/>
            <a:ext cx="10686197" cy="5854889"/>
          </a:xfrm>
        </p:spPr>
        <p:txBody>
          <a:bodyPr>
            <a:normAutofit fontScale="85000" lnSpcReduction="10000"/>
          </a:bodyPr>
          <a:lstStyle/>
          <a:p>
            <a:pPr>
              <a:lnSpc>
                <a:spcPct val="150000"/>
              </a:lnSpc>
              <a:buFont typeface="Wingdings" panose="05000000000000000000" pitchFamily="2" charset="2"/>
              <a:buChar char=""/>
            </a:pPr>
            <a:r>
              <a:rPr lang="fr-FR" sz="2800" dirty="0" smtClean="0">
                <a:solidFill>
                  <a:srgbClr val="000000"/>
                </a:solidFill>
                <a:latin typeface="Tahoma" panose="020B0604030504040204" pitchFamily="34" charset="0"/>
              </a:rPr>
              <a:t>Demander aux </a:t>
            </a:r>
            <a:r>
              <a:rPr lang="fr-FR" sz="2800" dirty="0">
                <a:solidFill>
                  <a:srgbClr val="000000"/>
                </a:solidFill>
                <a:latin typeface="Tahoma" panose="020B0604030504040204" pitchFamily="34" charset="0"/>
              </a:rPr>
              <a:t>malades de s'abstenir de mettre les pieds dans l'eau, construire des puits avec  margelle</a:t>
            </a:r>
            <a:r>
              <a:rPr lang="fr-FR" sz="2800" dirty="0"/>
              <a:t>, </a:t>
            </a:r>
            <a:r>
              <a:rPr lang="fr-FR" sz="2800" dirty="0">
                <a:solidFill>
                  <a:srgbClr val="000000"/>
                </a:solidFill>
                <a:latin typeface="Tahoma" panose="020B0604030504040204" pitchFamily="34" charset="0"/>
              </a:rPr>
              <a:t>conseiller aux populations de boire de l’eau potable</a:t>
            </a:r>
            <a:r>
              <a:rPr lang="fr-FR" sz="2800" dirty="0" smtClean="0">
                <a:solidFill>
                  <a:srgbClr val="000000"/>
                </a:solidFill>
                <a:latin typeface="Tahoma" panose="020B0604030504040204" pitchFamily="34" charset="0"/>
              </a:rPr>
              <a:t>.</a:t>
            </a:r>
          </a:p>
          <a:p>
            <a:pPr lvl="0">
              <a:lnSpc>
                <a:spcPct val="150000"/>
              </a:lnSpc>
              <a:buFont typeface="Wingdings" panose="05000000000000000000" pitchFamily="2" charset="2"/>
              <a:buChar char=""/>
            </a:pPr>
            <a:r>
              <a:rPr lang="fr-FR" sz="2800" dirty="0" smtClean="0">
                <a:solidFill>
                  <a:srgbClr val="000000"/>
                </a:solidFill>
                <a:latin typeface="Tahoma" panose="020B0604030504040204" pitchFamily="34" charset="0"/>
              </a:rPr>
              <a:t>Enseigner les </a:t>
            </a:r>
            <a:r>
              <a:rPr lang="fr-FR" sz="2800" dirty="0">
                <a:solidFill>
                  <a:srgbClr val="000000"/>
                </a:solidFill>
                <a:latin typeface="Tahoma" panose="020B0604030504040204" pitchFamily="34" charset="0"/>
              </a:rPr>
              <a:t>procédés de potabilisation de l'eau à domicile :</a:t>
            </a:r>
            <a:endParaRPr lang="fr-FR" sz="2800" dirty="0"/>
          </a:p>
          <a:p>
            <a:pPr lvl="0">
              <a:lnSpc>
                <a:spcPct val="150000"/>
              </a:lnSpc>
              <a:buClr>
                <a:srgbClr val="000000"/>
              </a:buClr>
              <a:buSzPts val="1200"/>
              <a:buFont typeface="Calibri" panose="020F0502020204030204" pitchFamily="34" charset="0"/>
              <a:buChar char="-"/>
            </a:pP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Filtration: très efficace avec un simple pagne ou tissu propre</a:t>
            </a:r>
            <a:endParaRPr lang="fr-FR" sz="2800" spc="30" dirty="0">
              <a:ea typeface="Calibri" panose="020F0502020204030204" pitchFamily="34" charset="0"/>
              <a:cs typeface="Times New Roman" panose="02020603050405020304" pitchFamily="18" charset="0"/>
            </a:endParaRPr>
          </a:p>
          <a:p>
            <a:pPr lvl="0">
              <a:lnSpc>
                <a:spcPct val="150000"/>
              </a:lnSpc>
              <a:buClr>
                <a:srgbClr val="000000"/>
              </a:buClr>
              <a:buSzPts val="1200"/>
              <a:buFont typeface="Calibri" panose="020F0502020204030204" pitchFamily="34" charset="0"/>
              <a:buChar char="-"/>
            </a:pP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Ebullition de l'eau</a:t>
            </a:r>
            <a:endParaRPr lang="fr-FR" sz="2800" spc="30" dirty="0">
              <a:ea typeface="Calibri" panose="020F0502020204030204" pitchFamily="34" charset="0"/>
              <a:cs typeface="Times New Roman" panose="02020603050405020304" pitchFamily="18" charset="0"/>
            </a:endParaRPr>
          </a:p>
          <a:p>
            <a:pPr lvl="0">
              <a:lnSpc>
                <a:spcPct val="150000"/>
              </a:lnSpc>
              <a:buClr>
                <a:srgbClr val="000000"/>
              </a:buClr>
              <a:buSzPts val="1200"/>
              <a:buFont typeface="Calibri" panose="020F0502020204030204" pitchFamily="34" charset="0"/>
              <a:buChar char="-"/>
            </a:pP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Désinfection chimique : javellisation</a:t>
            </a:r>
            <a:endParaRPr lang="fr-FR" sz="2800" spc="30" dirty="0">
              <a:ea typeface="Calibri" panose="020F0502020204030204" pitchFamily="34" charset="0"/>
              <a:cs typeface="Times New Roman" panose="02020603050405020304" pitchFamily="18" charset="0"/>
            </a:endParaRPr>
          </a:p>
          <a:p>
            <a:pPr lvl="0">
              <a:lnSpc>
                <a:spcPct val="150000"/>
              </a:lnSpc>
              <a:buBlip>
                <a:blip r:embed="rId2"/>
              </a:buBlip>
            </a:pPr>
            <a:r>
              <a:rPr lang="fr-FR" sz="2800" dirty="0">
                <a:solidFill>
                  <a:srgbClr val="000000"/>
                </a:solidFill>
                <a:latin typeface="Tahoma" panose="020B0604030504040204" pitchFamily="34" charset="0"/>
              </a:rPr>
              <a:t>Procéder à la destruction des cyclops dans toutes les zones identifiées.</a:t>
            </a:r>
            <a:endParaRPr lang="fr-FR" sz="2800" dirty="0"/>
          </a:p>
          <a:p>
            <a:pPr lvl="0">
              <a:lnSpc>
                <a:spcPct val="150000"/>
              </a:lnSpc>
              <a:buBlip>
                <a:blip r:embed="rId2"/>
              </a:buBlip>
            </a:pPr>
            <a:r>
              <a:rPr lang="fr-FR" sz="2800" dirty="0" smtClean="0">
                <a:solidFill>
                  <a:srgbClr val="000000"/>
                </a:solidFill>
                <a:latin typeface="Tahoma" panose="020B0604030504040204" pitchFamily="34" charset="0"/>
              </a:rPr>
              <a:t>Assurer </a:t>
            </a:r>
            <a:r>
              <a:rPr lang="fr-FR" sz="2800" dirty="0">
                <a:solidFill>
                  <a:srgbClr val="000000"/>
                </a:solidFill>
                <a:latin typeface="Tahoma" panose="020B0604030504040204" pitchFamily="34" charset="0"/>
              </a:rPr>
              <a:t>une surveillance épidémiologie accrue dans les zones d'endémie.</a:t>
            </a:r>
            <a:endParaRPr lang="fr-FR" sz="2800" dirty="0"/>
          </a:p>
          <a:p>
            <a:endParaRPr lang="fr-FR" dirty="0"/>
          </a:p>
        </p:txBody>
      </p:sp>
    </p:spTree>
    <p:extLst>
      <p:ext uri="{BB962C8B-B14F-4D97-AF65-F5344CB8AC3E}">
        <p14:creationId xmlns:p14="http://schemas.microsoft.com/office/powerpoint/2010/main" val="3794628270"/>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0501" y="624110"/>
            <a:ext cx="10904111" cy="699723"/>
          </a:xfrm>
        </p:spPr>
        <p:txBody>
          <a:bodyPr>
            <a:normAutofit fontScale="90000"/>
          </a:bodyPr>
          <a:lstStyle/>
          <a:p>
            <a:pPr lvl="0" algn="ctr"/>
            <a:r>
              <a:rPr lang="fr-FR" sz="2800" b="1" spc="25"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L’ONCHOCERCOSE </a:t>
            </a:r>
            <a:r>
              <a:rPr lang="fr-FR" b="1" spc="25" dirty="0" smtClean="0">
                <a:solidFill>
                  <a:srgbClr val="000000"/>
                </a:solidFill>
                <a:latin typeface="Tahoma" panose="020B0604030504040204" pitchFamily="34" charset="0"/>
                <a:ea typeface="Times New Roman" panose="02020603050405020304" pitchFamily="18" charset="0"/>
              </a:rPr>
              <a:t>ou</a:t>
            </a:r>
            <a:r>
              <a:rPr lang="fr-FR" spc="25" dirty="0" smtClean="0">
                <a:solidFill>
                  <a:srgbClr val="000000"/>
                </a:solidFill>
                <a:latin typeface="Tahoma" panose="020B0604030504040204" pitchFamily="34" charset="0"/>
                <a:ea typeface="Times New Roman" panose="02020603050405020304" pitchFamily="18" charset="0"/>
              </a:rPr>
              <a:t> </a:t>
            </a:r>
            <a:r>
              <a:rPr lang="fr-FR" b="1" spc="25" dirty="0" smtClean="0">
                <a:solidFill>
                  <a:srgbClr val="000000"/>
                </a:solidFill>
                <a:latin typeface="Tahoma" panose="020B0604030504040204" pitchFamily="34" charset="0"/>
                <a:ea typeface="Times New Roman" panose="02020603050405020304" pitchFamily="18" charset="0"/>
              </a:rPr>
              <a:t>la</a:t>
            </a:r>
            <a:r>
              <a:rPr lang="fr-FR" spc="25" dirty="0" smtClean="0">
                <a:solidFill>
                  <a:srgbClr val="000000"/>
                </a:solidFill>
                <a:latin typeface="Tahoma" panose="020B0604030504040204" pitchFamily="34" charset="0"/>
                <a:ea typeface="Times New Roman" panose="02020603050405020304" pitchFamily="18" charset="0"/>
              </a:rPr>
              <a:t> </a:t>
            </a:r>
            <a:r>
              <a:rPr lang="fr-FR" b="1" spc="25" dirty="0">
                <a:solidFill>
                  <a:srgbClr val="000000"/>
                </a:solidFill>
                <a:latin typeface="Tahoma" panose="020B0604030504040204" pitchFamily="34" charset="0"/>
                <a:ea typeface="Times New Roman" panose="02020603050405020304" pitchFamily="18" charset="0"/>
              </a:rPr>
              <a:t>cécité des </a:t>
            </a:r>
            <a:r>
              <a:rPr lang="fr-FR" b="1" spc="25" dirty="0" smtClean="0">
                <a:solidFill>
                  <a:srgbClr val="000000"/>
                </a:solidFill>
                <a:latin typeface="Tahoma" panose="020B0604030504040204" pitchFamily="34" charset="0"/>
                <a:ea typeface="Times New Roman" panose="02020603050405020304" pitchFamily="18" charset="0"/>
              </a:rPr>
              <a:t>rivières</a:t>
            </a:r>
            <a:r>
              <a:rPr lang="fr-FR" b="1" spc="25" dirty="0">
                <a:latin typeface="Times New Roman" panose="02020603050405020304" pitchFamily="18" charset="0"/>
                <a:ea typeface="Times New Roman" panose="02020603050405020304" pitchFamily="18" charset="0"/>
              </a:rPr>
              <a:t/>
            </a:r>
            <a:br>
              <a:rPr lang="fr-FR" b="1" spc="25" dirty="0">
                <a:latin typeface="Times New Roman" panose="02020603050405020304" pitchFamily="18" charset="0"/>
                <a:ea typeface="Times New Roman" panose="02020603050405020304" pitchFamily="18" charset="0"/>
              </a:rPr>
            </a:br>
            <a:endParaRPr lang="fr-FR" b="1" dirty="0"/>
          </a:p>
        </p:txBody>
      </p:sp>
      <p:sp>
        <p:nvSpPr>
          <p:cNvPr id="3" name="Espace réservé du contenu 2"/>
          <p:cNvSpPr>
            <a:spLocks noGrp="1"/>
          </p:cNvSpPr>
          <p:nvPr>
            <p:ph idx="1"/>
          </p:nvPr>
        </p:nvSpPr>
        <p:spPr>
          <a:xfrm>
            <a:off x="600501" y="1446663"/>
            <a:ext cx="10904111" cy="4899546"/>
          </a:xfrm>
        </p:spPr>
        <p:txBody>
          <a:bodyPr>
            <a:normAutofit fontScale="92500" lnSpcReduction="10000"/>
          </a:bodyPr>
          <a:lstStyle/>
          <a:p>
            <a:pPr>
              <a:lnSpc>
                <a:spcPct val="150000"/>
              </a:lnSpc>
            </a:pPr>
            <a:r>
              <a:rPr lang="fr-FR" sz="2800" dirty="0">
                <a:solidFill>
                  <a:srgbClr val="000000"/>
                </a:solidFill>
                <a:latin typeface="Tahoma" panose="020B0604030504040204" pitchFamily="34" charset="0"/>
              </a:rPr>
              <a:t>L'onchocercose est une filariose provoquée par l'infestation de la peau et des yeux par un ver nématode, </a:t>
            </a:r>
            <a:r>
              <a:rPr lang="fr-FR" sz="2800" dirty="0" err="1">
                <a:solidFill>
                  <a:srgbClr val="000000"/>
                </a:solidFill>
                <a:latin typeface="Tahoma" panose="020B0604030504040204" pitchFamily="34" charset="0"/>
              </a:rPr>
              <a:t>onchocerca</a:t>
            </a:r>
            <a:r>
              <a:rPr lang="fr-FR" sz="2800" dirty="0">
                <a:solidFill>
                  <a:srgbClr val="000000"/>
                </a:solidFill>
                <a:latin typeface="Tahoma" panose="020B0604030504040204" pitchFamily="34" charset="0"/>
              </a:rPr>
              <a:t> volvulus</a:t>
            </a:r>
            <a:r>
              <a:rPr lang="fr-FR" sz="2800" dirty="0" smtClean="0">
                <a:solidFill>
                  <a:srgbClr val="000000"/>
                </a:solidFill>
                <a:latin typeface="Tahoma" panose="020B0604030504040204" pitchFamily="34" charset="0"/>
              </a:rPr>
              <a:t>.</a:t>
            </a:r>
            <a:endParaRPr lang="fr-FR" sz="2800" dirty="0"/>
          </a:p>
          <a:p>
            <a:pPr>
              <a:lnSpc>
                <a:spcPct val="150000"/>
              </a:lnSpc>
            </a:pPr>
            <a:r>
              <a:rPr lang="fr-FR" sz="2800" dirty="0" smtClean="0">
                <a:solidFill>
                  <a:srgbClr val="000000"/>
                </a:solidFill>
                <a:latin typeface="Tahoma" panose="020B0604030504040204" pitchFamily="34" charset="0"/>
              </a:rPr>
              <a:t>L'onchocercose </a:t>
            </a:r>
            <a:r>
              <a:rPr lang="fr-FR" sz="2800" dirty="0">
                <a:solidFill>
                  <a:srgbClr val="000000"/>
                </a:solidFill>
                <a:latin typeface="Tahoma" panose="020B0604030504040204" pitchFamily="34" charset="0"/>
              </a:rPr>
              <a:t>est surtout répandu dans de nombreux pays d'Afrique intertropicale comme le Bénin, le Burkina-Faso, la Côte d'ivoire, le Ghana, la Guinée, l'Ouganda, le Zaïre et constitue l'une des principales causes de cécité. Il existe par ailleurs quelques foyers en Amérique Centrale</a:t>
            </a:r>
            <a:r>
              <a:rPr lang="fr-FR" sz="2800" dirty="0" smtClean="0">
                <a:solidFill>
                  <a:srgbClr val="000000"/>
                </a:solidFill>
                <a:latin typeface="Tahoma" panose="020B0604030504040204" pitchFamily="34" charset="0"/>
              </a:rPr>
              <a:t>.</a:t>
            </a:r>
            <a:endParaRPr lang="fr-FR" sz="2800" dirty="0"/>
          </a:p>
          <a:p>
            <a:pPr marL="0" indent="0" algn="just">
              <a:lnSpc>
                <a:spcPct val="150000"/>
              </a:lnSpc>
              <a:spcBef>
                <a:spcPts val="1200"/>
              </a:spcBef>
              <a:buNone/>
            </a:pPr>
            <a:r>
              <a:rPr lang="fr-FR" sz="2800" spc="30" dirty="0" smtClean="0">
                <a:solidFill>
                  <a:srgbClr val="000000"/>
                </a:solidFill>
                <a:latin typeface="Tahoma" panose="020B0604030504040204" pitchFamily="34" charset="0"/>
                <a:ea typeface="Times New Roman" panose="02020603050405020304" pitchFamily="18" charset="0"/>
              </a:rPr>
              <a:t>L'agent </a:t>
            </a:r>
            <a:r>
              <a:rPr lang="fr-FR" sz="2800" spc="30" dirty="0">
                <a:solidFill>
                  <a:srgbClr val="000000"/>
                </a:solidFill>
                <a:latin typeface="Tahoma" panose="020B0604030504040204" pitchFamily="34" charset="0"/>
                <a:ea typeface="Times New Roman" panose="02020603050405020304" pitchFamily="18" charset="0"/>
              </a:rPr>
              <a:t>pathogène est </a:t>
            </a:r>
            <a:r>
              <a:rPr lang="fr-FR" sz="2800" spc="30" dirty="0" err="1">
                <a:solidFill>
                  <a:srgbClr val="000000"/>
                </a:solidFill>
                <a:latin typeface="Tahoma" panose="020B0604030504040204" pitchFamily="34" charset="0"/>
                <a:ea typeface="Times New Roman" panose="02020603050405020304" pitchFamily="18" charset="0"/>
              </a:rPr>
              <a:t>onchocerca</a:t>
            </a:r>
            <a:r>
              <a:rPr lang="fr-FR" sz="2800" spc="30" dirty="0">
                <a:solidFill>
                  <a:srgbClr val="000000"/>
                </a:solidFill>
                <a:latin typeface="Tahoma" panose="020B0604030504040204" pitchFamily="34" charset="0"/>
                <a:ea typeface="Times New Roman" panose="02020603050405020304" pitchFamily="18" charset="0"/>
              </a:rPr>
              <a:t> volvulus.</a:t>
            </a:r>
            <a:endParaRPr lang="fr-FR" sz="2800" spc="3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713591826"/>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97169" y="832513"/>
            <a:ext cx="10707443" cy="5078709"/>
          </a:xfrm>
        </p:spPr>
        <p:txBody>
          <a:bodyPr>
            <a:noAutofit/>
          </a:bodyPr>
          <a:lstStyle/>
          <a:p>
            <a:pPr>
              <a:lnSpc>
                <a:spcPct val="150000"/>
              </a:lnSpc>
            </a:pPr>
            <a:r>
              <a:rPr lang="fr-FR" sz="2800" dirty="0" smtClean="0">
                <a:solidFill>
                  <a:srgbClr val="000000"/>
                </a:solidFill>
                <a:latin typeface="Tahoma" panose="020B0604030504040204" pitchFamily="34" charset="0"/>
              </a:rPr>
              <a:t>Le </a:t>
            </a:r>
            <a:r>
              <a:rPr lang="fr-FR" sz="2800" dirty="0">
                <a:solidFill>
                  <a:srgbClr val="000000"/>
                </a:solidFill>
                <a:latin typeface="Tahoma" panose="020B0604030504040204" pitchFamily="34" charset="0"/>
              </a:rPr>
              <a:t>vecteur qui est l'hôte intermédiaire est la simulie ou </a:t>
            </a:r>
            <a:r>
              <a:rPr lang="fr-FR" sz="2800" dirty="0" err="1">
                <a:solidFill>
                  <a:srgbClr val="000000"/>
                </a:solidFill>
                <a:latin typeface="Tahoma" panose="020B0604030504040204" pitchFamily="34" charset="0"/>
              </a:rPr>
              <a:t>simuliumdamnosum</a:t>
            </a:r>
            <a:r>
              <a:rPr lang="fr-FR" sz="2800" dirty="0">
                <a:solidFill>
                  <a:srgbClr val="000000"/>
                </a:solidFill>
                <a:latin typeface="Tahoma" panose="020B0604030504040204" pitchFamily="34" charset="0"/>
              </a:rPr>
              <a:t>. Elle se rencontre le plus souvent le long des fleuves et des rivières aux courants rapides favorables à la ponte et aux développements des œufs</a:t>
            </a:r>
            <a:r>
              <a:rPr lang="fr-FR" sz="2800" dirty="0" smtClean="0">
                <a:solidFill>
                  <a:srgbClr val="000000"/>
                </a:solidFill>
                <a:latin typeface="Tahoma" panose="020B0604030504040204" pitchFamily="34" charset="0"/>
              </a:rPr>
              <a:t>.</a:t>
            </a:r>
            <a:endParaRPr lang="fr-FR" sz="2800" dirty="0"/>
          </a:p>
          <a:p>
            <a:pPr indent="-635000" algn="just">
              <a:lnSpc>
                <a:spcPct val="150000"/>
              </a:lnSpc>
              <a:spcBef>
                <a:spcPts val="1200"/>
              </a:spcBef>
            </a:pPr>
            <a:r>
              <a:rPr lang="fr-FR" sz="2800" spc="30" dirty="0" smtClean="0">
                <a:solidFill>
                  <a:srgbClr val="000000"/>
                </a:solidFill>
                <a:latin typeface="Tahoma" panose="020B0604030504040204" pitchFamily="34" charset="0"/>
                <a:ea typeface="Times New Roman" panose="02020603050405020304" pitchFamily="18" charset="0"/>
              </a:rPr>
              <a:t>La </a:t>
            </a:r>
            <a:r>
              <a:rPr lang="fr-FR" sz="2800" spc="30" dirty="0">
                <a:solidFill>
                  <a:srgbClr val="000000"/>
                </a:solidFill>
                <a:latin typeface="Tahoma" panose="020B0604030504040204" pitchFamily="34" charset="0"/>
                <a:ea typeface="Times New Roman" panose="02020603050405020304" pitchFamily="18" charset="0"/>
              </a:rPr>
              <a:t>transmission se fait essentiellement par la piqûre de la simulie.</a:t>
            </a:r>
            <a:endParaRPr lang="fr-FR" sz="2800" spc="30" dirty="0">
              <a:latin typeface="Times New Roman" panose="02020603050405020304" pitchFamily="18" charset="0"/>
              <a:ea typeface="Times New Roman" panose="02020603050405020304" pitchFamily="18" charset="0"/>
            </a:endParaRPr>
          </a:p>
          <a:p>
            <a:endParaRPr lang="fr-FR" sz="2800" dirty="0"/>
          </a:p>
        </p:txBody>
      </p:sp>
    </p:spTree>
    <p:extLst>
      <p:ext uri="{BB962C8B-B14F-4D97-AF65-F5344CB8AC3E}">
        <p14:creationId xmlns:p14="http://schemas.microsoft.com/office/powerpoint/2010/main" val="2437828669"/>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96537" y="624110"/>
            <a:ext cx="10208075" cy="549597"/>
          </a:xfrm>
        </p:spPr>
        <p:txBody>
          <a:bodyPr>
            <a:normAutofit fontScale="90000"/>
          </a:bodyPr>
          <a:lstStyle/>
          <a:p>
            <a:pPr lvl="0" algn="ctr"/>
            <a:r>
              <a:rPr lang="fr-FR" sz="31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CYCLE PARASITAIRE</a:t>
            </a:r>
            <a:r>
              <a:rPr lang="fr-FR" spc="25" dirty="0">
                <a:ea typeface="Times New Roman" panose="02020603050405020304" pitchFamily="18" charset="0"/>
              </a:rPr>
              <a:t/>
            </a:r>
            <a:br>
              <a:rPr lang="fr-FR" spc="25" dirty="0">
                <a:ea typeface="Times New Roman" panose="02020603050405020304" pitchFamily="18" charset="0"/>
              </a:rPr>
            </a:br>
            <a:endParaRPr lang="fr-FR" dirty="0"/>
          </a:p>
        </p:txBody>
      </p:sp>
      <p:sp>
        <p:nvSpPr>
          <p:cNvPr id="3" name="Espace réservé du contenu 2"/>
          <p:cNvSpPr>
            <a:spLocks noGrp="1"/>
          </p:cNvSpPr>
          <p:nvPr>
            <p:ph idx="1"/>
          </p:nvPr>
        </p:nvSpPr>
        <p:spPr>
          <a:xfrm>
            <a:off x="961292" y="1419367"/>
            <a:ext cx="10543320" cy="5022376"/>
          </a:xfrm>
        </p:spPr>
        <p:txBody>
          <a:bodyPr>
            <a:normAutofit lnSpcReduction="10000"/>
          </a:bodyPr>
          <a:lstStyle/>
          <a:p>
            <a:pPr algn="just">
              <a:lnSpc>
                <a:spcPct val="150000"/>
              </a:lnSpc>
            </a:pPr>
            <a:r>
              <a:rPr lang="fr-FR" sz="2400" dirty="0">
                <a:solidFill>
                  <a:srgbClr val="000000"/>
                </a:solidFill>
                <a:latin typeface="Tahoma" panose="020B0604030504040204" pitchFamily="34" charset="0"/>
              </a:rPr>
              <a:t>La femelle pond ses œufs dans les eaux courantes sur les objets émergents (herbes, branches). Une dizaine de jours plus tard, après être passés les stades larvaires, puis nymphe, les jeunes adultes (simulie) s'envolent.</a:t>
            </a:r>
            <a:endParaRPr lang="fr-FR" sz="2400" dirty="0"/>
          </a:p>
          <a:p>
            <a:pPr algn="just">
              <a:lnSpc>
                <a:spcPct val="150000"/>
              </a:lnSpc>
            </a:pPr>
            <a:r>
              <a:rPr lang="fr-FR" sz="2400" dirty="0">
                <a:solidFill>
                  <a:srgbClr val="000000"/>
                </a:solidFill>
                <a:latin typeface="Tahoma" panose="020B0604030504040204" pitchFamily="34" charset="0"/>
              </a:rPr>
              <a:t>A l'occasion d'une piqûre sur un sujet infecté, la simulie absorbe les microfilaires (embryons de ver). Après plusieurs mues, celles-ci deviennent </a:t>
            </a:r>
            <a:r>
              <a:rPr lang="fr-FR" sz="2400" dirty="0" err="1">
                <a:solidFill>
                  <a:srgbClr val="000000"/>
                </a:solidFill>
                <a:latin typeface="Tahoma" panose="020B0604030504040204" pitchFamily="34" charset="0"/>
              </a:rPr>
              <a:t>infestantes</a:t>
            </a:r>
            <a:r>
              <a:rPr lang="fr-FR" sz="2400" dirty="0">
                <a:solidFill>
                  <a:srgbClr val="000000"/>
                </a:solidFill>
                <a:latin typeface="Tahoma" panose="020B0604030504040204" pitchFamily="34" charset="0"/>
              </a:rPr>
              <a:t>.</a:t>
            </a:r>
            <a:endParaRPr lang="fr-FR" sz="2400" dirty="0"/>
          </a:p>
          <a:p>
            <a:pPr algn="just">
              <a:lnSpc>
                <a:spcPct val="150000"/>
              </a:lnSpc>
            </a:pPr>
            <a:r>
              <a:rPr lang="fr-FR" sz="2400" dirty="0">
                <a:solidFill>
                  <a:srgbClr val="000000"/>
                </a:solidFill>
                <a:latin typeface="Tahoma" panose="020B0604030504040204" pitchFamily="34" charset="0"/>
              </a:rPr>
              <a:t>Dès lors, elles peuvent être inoculées à un individu sain, chez qui elles achèveront leur croissance pour donner des filaires mâles et femelles.</a:t>
            </a:r>
            <a:endParaRPr lang="fr-FR" sz="2400" dirty="0"/>
          </a:p>
          <a:p>
            <a:endParaRPr lang="fr-FR" dirty="0"/>
          </a:p>
        </p:txBody>
      </p:sp>
    </p:spTree>
    <p:extLst>
      <p:ext uri="{BB962C8B-B14F-4D97-AF65-F5344CB8AC3E}">
        <p14:creationId xmlns:p14="http://schemas.microsoft.com/office/powerpoint/2010/main" val="878245559"/>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08945"/>
          </a:xfrm>
        </p:spPr>
        <p:txBody>
          <a:bodyPr>
            <a:normAutofit fontScale="90000"/>
          </a:bodyPr>
          <a:lstStyle/>
          <a:p>
            <a:endParaRPr lang="fr-FR" dirty="0"/>
          </a:p>
        </p:txBody>
      </p:sp>
      <p:pic>
        <p:nvPicPr>
          <p:cNvPr id="2050" name="Picture 2" descr="https://www.memoireonline.com/01/09/1879/La-mouche-noire-et-le-comportement-des-populations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5" y="1233055"/>
            <a:ext cx="8911687" cy="5347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712691"/>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6" y="392099"/>
            <a:ext cx="8911687" cy="495006"/>
          </a:xfrm>
        </p:spPr>
        <p:txBody>
          <a:bodyPr>
            <a:normAutofit fontScale="90000"/>
          </a:bodyPr>
          <a:lstStyle/>
          <a:p>
            <a:pPr lvl="0" algn="ctr"/>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ETUDE CLINIQUE</a:t>
            </a:r>
            <a:r>
              <a:rPr lang="fr-FR" sz="2800" spc="25" dirty="0">
                <a:ea typeface="Times New Roman" panose="02020603050405020304" pitchFamily="18" charset="0"/>
              </a:rPr>
              <a:t/>
            </a:r>
            <a:br>
              <a:rPr lang="fr-FR" sz="2800" spc="25" dirty="0">
                <a:ea typeface="Times New Roman" panose="02020603050405020304" pitchFamily="18" charset="0"/>
              </a:rPr>
            </a:br>
            <a:endParaRPr lang="fr-FR" dirty="0"/>
          </a:p>
        </p:txBody>
      </p:sp>
      <p:sp>
        <p:nvSpPr>
          <p:cNvPr id="3" name="Espace réservé du contenu 2"/>
          <p:cNvSpPr>
            <a:spLocks noGrp="1"/>
          </p:cNvSpPr>
          <p:nvPr>
            <p:ph idx="1"/>
          </p:nvPr>
        </p:nvSpPr>
        <p:spPr>
          <a:xfrm>
            <a:off x="682389" y="887105"/>
            <a:ext cx="11027390" cy="5431807"/>
          </a:xfrm>
        </p:spPr>
        <p:txBody>
          <a:bodyPr>
            <a:normAutofit/>
          </a:bodyPr>
          <a:lstStyle/>
          <a:p>
            <a:pPr marL="457200" lvl="1" indent="0" algn="just">
              <a:lnSpc>
                <a:spcPct val="150000"/>
              </a:lnSpc>
              <a:buNone/>
            </a:pPr>
            <a:r>
              <a:rPr lang="fr-FR" sz="28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L’incubation</a:t>
            </a:r>
            <a:r>
              <a:rPr lang="fr-FR" sz="2800" dirty="0">
                <a:solidFill>
                  <a:srgbClr val="000000"/>
                </a:solidFill>
                <a:latin typeface="Courier New" panose="02070309020205020404" pitchFamily="49" charset="0"/>
                <a:ea typeface="Calibri" panose="020F0502020204030204" pitchFamily="34" charset="0"/>
              </a:rPr>
              <a:t> </a:t>
            </a:r>
            <a:r>
              <a:rPr lang="fr-FR" sz="2800" dirty="0" smtClean="0">
                <a:solidFill>
                  <a:srgbClr val="000000"/>
                </a:solidFill>
                <a:latin typeface="Tahoma" panose="020B0604030504040204" pitchFamily="34" charset="0"/>
              </a:rPr>
              <a:t>est </a:t>
            </a:r>
            <a:r>
              <a:rPr lang="fr-FR" sz="2800" dirty="0">
                <a:solidFill>
                  <a:srgbClr val="000000"/>
                </a:solidFill>
                <a:latin typeface="Tahoma" panose="020B0604030504040204" pitchFamily="34" charset="0"/>
              </a:rPr>
              <a:t>silencieuse et dure entre : 3- 6 </a:t>
            </a:r>
            <a:r>
              <a:rPr lang="fr-FR" sz="2800" dirty="0" smtClean="0">
                <a:solidFill>
                  <a:srgbClr val="000000"/>
                </a:solidFill>
                <a:latin typeface="Tahoma" panose="020B0604030504040204" pitchFamily="34" charset="0"/>
              </a:rPr>
              <a:t>mois et dominée </a:t>
            </a:r>
            <a:r>
              <a:rPr lang="fr-FR" sz="2800" dirty="0">
                <a:solidFill>
                  <a:srgbClr val="000000"/>
                </a:solidFill>
                <a:latin typeface="Tahoma" panose="020B0604030504040204" pitchFamily="34" charset="0"/>
              </a:rPr>
              <a:t>essentiellement par des manifestations cutanées :</a:t>
            </a:r>
            <a:endParaRPr lang="fr-FR" sz="2800" dirty="0"/>
          </a:p>
          <a:p>
            <a:pPr lvl="0" algn="just">
              <a:lnSpc>
                <a:spcPct val="150000"/>
              </a:lnSpc>
              <a:buClr>
                <a:srgbClr val="000000"/>
              </a:buClr>
              <a:buSzPts val="1200"/>
              <a:buFont typeface="Calibri" panose="020F0502020204030204" pitchFamily="34" charset="0"/>
              <a:buChar char="-"/>
            </a:pPr>
            <a:r>
              <a:rPr lang="fr-FR" sz="28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Onchocercomes</a:t>
            </a: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ou kystes </a:t>
            </a:r>
            <a:r>
              <a:rPr lang="fr-FR" sz="28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onchocerquiens</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 qui sont des nodules fermes, mobiles sous la peau, de taille très variable, unique ou multiples. Ces kystes siègent généralement au niveau du grand trochanter; du gril costal ; des crêtes iliaques chez l'adulte ; et particulièrement chez l'enfant et l'adolescent au niveau de la tête.</a:t>
            </a:r>
            <a:endParaRPr lang="fr-FR" sz="2800" spc="3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80422069"/>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914401" y="723331"/>
            <a:ext cx="10590212" cy="5459105"/>
          </a:xfrm>
        </p:spPr>
        <p:txBody>
          <a:bodyPr/>
          <a:lstStyle/>
          <a:p>
            <a:pPr marL="342900" lvl="1" indent="-342900" algn="just">
              <a:lnSpc>
                <a:spcPct val="150000"/>
              </a:lnSpc>
            </a:pP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Prurits </a:t>
            </a:r>
            <a:r>
              <a:rPr lang="fr-FR" sz="28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onchocerquiens</a:t>
            </a:r>
            <a:r>
              <a:rPr lang="fr-FR" sz="2800" b="1" spc="25"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ou gale </a:t>
            </a:r>
            <a:r>
              <a:rPr lang="fr-FR" sz="2800" b="1" spc="25"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filarienne</a:t>
            </a: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 il s'agit de lésions très prurigineuses de la peau; qui siègent au niveau des fesses, des cuisses, aux avant-bras et au thorax. Elles s'accompagnent d'une pachydermie</a:t>
            </a:r>
            <a:r>
              <a:rPr lang="fr-FR" sz="2800" spc="30"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a:t>
            </a:r>
            <a:endParaRPr lang="fr-FR" sz="2800" b="1" u="sng"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endParaRPr>
          </a:p>
          <a:p>
            <a:pPr marL="342900" lvl="1" indent="-342900">
              <a:lnSpc>
                <a:spcPct val="150000"/>
              </a:lnSpc>
            </a:pPr>
            <a:r>
              <a:rPr lang="fr-FR" sz="28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La Période d'état</a:t>
            </a:r>
            <a:r>
              <a:rPr lang="fr-FR" sz="2800" dirty="0" smtClean="0">
                <a:solidFill>
                  <a:srgbClr val="000000"/>
                </a:solidFill>
                <a:latin typeface="Courier New" panose="02070309020205020404" pitchFamily="49" charset="0"/>
                <a:ea typeface="Calibri" panose="020F0502020204030204" pitchFamily="34" charset="0"/>
              </a:rPr>
              <a:t> </a:t>
            </a:r>
            <a:r>
              <a:rPr lang="fr-FR" sz="2800" spc="30" dirty="0" smtClean="0">
                <a:solidFill>
                  <a:srgbClr val="000000"/>
                </a:solidFill>
                <a:latin typeface="Tahoma" panose="020B0604030504040204" pitchFamily="34" charset="0"/>
                <a:ea typeface="Times New Roman" panose="02020603050405020304" pitchFamily="18" charset="0"/>
              </a:rPr>
              <a:t>est </a:t>
            </a:r>
            <a:r>
              <a:rPr lang="fr-FR" sz="2800" spc="30" dirty="0">
                <a:solidFill>
                  <a:srgbClr val="000000"/>
                </a:solidFill>
                <a:latin typeface="Tahoma" panose="020B0604030504040204" pitchFamily="34" charset="0"/>
                <a:ea typeface="Times New Roman" panose="02020603050405020304" pitchFamily="18" charset="0"/>
              </a:rPr>
              <a:t>dominée par les troubles oculaires tardifs progressifs, bilatéraux et irréversibles car les yeux sont atteints dans tous les segments (cornée - iris - rétine), entraînant à la longue une cécité</a:t>
            </a:r>
            <a:r>
              <a:rPr lang="fr-FR" spc="30" dirty="0">
                <a:solidFill>
                  <a:srgbClr val="000000"/>
                </a:solidFill>
                <a:latin typeface="Tahoma" panose="020B0604030504040204" pitchFamily="34" charset="0"/>
                <a:ea typeface="Times New Roman" panose="02020603050405020304" pitchFamily="18" charset="0"/>
              </a:rPr>
              <a:t>.</a:t>
            </a:r>
            <a:endParaRPr lang="fr-FR" spc="30" dirty="0">
              <a:latin typeface="Times New Roman" panose="02020603050405020304" pitchFamily="18" charset="0"/>
              <a:ea typeface="Times New Roman" panose="02020603050405020304" pitchFamily="18" charset="0"/>
            </a:endParaRPr>
          </a:p>
          <a:p>
            <a:endParaRPr lang="fr-FR" dirty="0"/>
          </a:p>
        </p:txBody>
      </p:sp>
    </p:spTree>
    <p:extLst>
      <p:ext uri="{BB962C8B-B14F-4D97-AF65-F5344CB8AC3E}">
        <p14:creationId xmlns:p14="http://schemas.microsoft.com/office/powerpoint/2010/main" val="1544246964"/>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55845" y="624110"/>
            <a:ext cx="9948767" cy="740666"/>
          </a:xfrm>
        </p:spPr>
        <p:txBody>
          <a:bodyPr>
            <a:normAutofit fontScale="90000"/>
          </a:bodyPr>
          <a:lstStyle/>
          <a:p>
            <a:pPr lvl="1" algn="l" defTabSz="457200" rtl="0">
              <a:spcBef>
                <a:spcPct val="0"/>
              </a:spcBef>
            </a:pP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Signes cliniques annonciateurs</a:t>
            </a:r>
            <a:r>
              <a:rPr lang="fr-FR" sz="2800" dirty="0">
                <a:solidFill>
                  <a:srgbClr val="000000"/>
                </a:solidFill>
                <a:latin typeface="Courier New" panose="02070309020205020404" pitchFamily="49" charset="0"/>
                <a:ea typeface="Calibri" panose="020F0502020204030204" pitchFamily="34" charset="0"/>
              </a:rPr>
              <a:t/>
            </a:r>
            <a:br>
              <a:rPr lang="fr-FR" sz="2800" dirty="0">
                <a:solidFill>
                  <a:srgbClr val="000000"/>
                </a:solidFill>
                <a:latin typeface="Courier New" panose="02070309020205020404" pitchFamily="49" charset="0"/>
                <a:ea typeface="Calibri" panose="020F0502020204030204" pitchFamily="34" charset="0"/>
              </a:rPr>
            </a:br>
            <a:endParaRPr lang="fr-FR" sz="1600" dirty="0"/>
          </a:p>
        </p:txBody>
      </p:sp>
      <p:sp>
        <p:nvSpPr>
          <p:cNvPr id="3" name="Espace réservé du contenu 2"/>
          <p:cNvSpPr>
            <a:spLocks noGrp="1"/>
          </p:cNvSpPr>
          <p:nvPr>
            <p:ph idx="1"/>
          </p:nvPr>
        </p:nvSpPr>
        <p:spPr>
          <a:xfrm>
            <a:off x="982639" y="1583140"/>
            <a:ext cx="10713492" cy="4328082"/>
          </a:xfrm>
        </p:spPr>
        <p:txBody>
          <a:bodyPr>
            <a:normAutofit/>
          </a:bodyPr>
          <a:lstStyle/>
          <a:p>
            <a:pPr>
              <a:lnSpc>
                <a:spcPct val="150000"/>
              </a:lnSpc>
            </a:pPr>
            <a:r>
              <a:rPr lang="fr-FR" sz="2800" dirty="0">
                <a:solidFill>
                  <a:srgbClr val="000000"/>
                </a:solidFill>
                <a:latin typeface="Tahoma" panose="020B0604030504040204" pitchFamily="34" charset="0"/>
              </a:rPr>
              <a:t>Penser à l’onchocercose chez tout patient en zone d'endémie </a:t>
            </a:r>
            <a:r>
              <a:rPr lang="fr-FR" sz="2800" dirty="0" err="1">
                <a:solidFill>
                  <a:srgbClr val="000000"/>
                </a:solidFill>
                <a:latin typeface="Tahoma" panose="020B0604030504040204" pitchFamily="34" charset="0"/>
              </a:rPr>
              <a:t>onchocerquienne</a:t>
            </a:r>
            <a:r>
              <a:rPr lang="fr-FR" sz="2800" dirty="0">
                <a:solidFill>
                  <a:srgbClr val="000000"/>
                </a:solidFill>
                <a:latin typeface="Tahoma" panose="020B0604030504040204" pitchFamily="34" charset="0"/>
              </a:rPr>
              <a:t> se plaignant soit de :</a:t>
            </a:r>
            <a:endParaRPr lang="fr-FR" sz="2800" dirty="0"/>
          </a:p>
          <a:p>
            <a:pPr lvl="0">
              <a:lnSpc>
                <a:spcPct val="150000"/>
              </a:lnSpc>
              <a:buClr>
                <a:srgbClr val="000000"/>
              </a:buClr>
              <a:buSzPts val="1200"/>
              <a:buFont typeface="Calibri" panose="020F0502020204030204" pitchFamily="34" charset="0"/>
              <a:buChar char="-"/>
            </a:pP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troubles oculaires : héméralopie ou d'une baisse de l'acuité visuelle, de douleurs oculaires et larmoiement</a:t>
            </a:r>
            <a:endParaRPr lang="fr-FR" sz="2800" spc="30" dirty="0">
              <a:ea typeface="Calibri" panose="020F0502020204030204" pitchFamily="34" charset="0"/>
              <a:cs typeface="Times New Roman" panose="02020603050405020304" pitchFamily="18" charset="0"/>
            </a:endParaRPr>
          </a:p>
          <a:p>
            <a:pPr lvl="0">
              <a:lnSpc>
                <a:spcPct val="150000"/>
              </a:lnSpc>
              <a:buClr>
                <a:srgbClr val="000000"/>
              </a:buClr>
              <a:buSzPts val="1200"/>
              <a:buFont typeface="Calibri" panose="020F0502020204030204" pitchFamily="34" charset="0"/>
              <a:buChar char="-"/>
            </a:pP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un ou plusieurs nodules prurit généralisé et persistant</a:t>
            </a:r>
            <a:endParaRPr lang="fr-FR" sz="2800" spc="30" dirty="0">
              <a:ea typeface="Calibri" panose="020F0502020204030204" pitchFamily="34" charset="0"/>
              <a:cs typeface="Times New Roman" panose="02020603050405020304" pitchFamily="18" charset="0"/>
            </a:endParaRPr>
          </a:p>
          <a:p>
            <a:pPr>
              <a:lnSpc>
                <a:spcPct val="150000"/>
              </a:lnSpc>
            </a:pPr>
            <a:r>
              <a:rPr lang="fr-FR" sz="2800" dirty="0">
                <a:solidFill>
                  <a:srgbClr val="000000"/>
                </a:solidFill>
                <a:latin typeface="Tahoma" panose="020B0604030504040204" pitchFamily="34" charset="0"/>
              </a:rPr>
              <a:t> </a:t>
            </a:r>
            <a:endParaRPr lang="fr-FR" sz="2800" dirty="0"/>
          </a:p>
          <a:p>
            <a:endParaRPr lang="fr-FR" dirty="0"/>
          </a:p>
        </p:txBody>
      </p:sp>
    </p:spTree>
    <p:extLst>
      <p:ext uri="{BB962C8B-B14F-4D97-AF65-F5344CB8AC3E}">
        <p14:creationId xmlns:p14="http://schemas.microsoft.com/office/powerpoint/2010/main" val="2461658099"/>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645132"/>
          </a:xfrm>
        </p:spPr>
        <p:txBody>
          <a:bodyPr>
            <a:normAutofit fontScale="90000"/>
          </a:bodyPr>
          <a:lstStyle/>
          <a:p>
            <a:pPr lvl="1" algn="l" defTabSz="457200" rtl="0">
              <a:spcBef>
                <a:spcPct val="0"/>
              </a:spcBef>
            </a:pPr>
            <a:r>
              <a:rPr lang="fr-FR" sz="36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Examens précliniques</a:t>
            </a:r>
            <a:r>
              <a:rPr lang="fr-FR" sz="3200" dirty="0">
                <a:solidFill>
                  <a:srgbClr val="000000"/>
                </a:solidFill>
                <a:latin typeface="Courier New" panose="02070309020205020404" pitchFamily="49" charset="0"/>
                <a:ea typeface="Calibri" panose="020F0502020204030204" pitchFamily="34" charset="0"/>
              </a:rPr>
              <a:t/>
            </a:r>
            <a:br>
              <a:rPr lang="fr-FR" sz="3200" dirty="0">
                <a:solidFill>
                  <a:srgbClr val="000000"/>
                </a:solidFill>
                <a:latin typeface="Courier New" panose="02070309020205020404" pitchFamily="49" charset="0"/>
                <a:ea typeface="Calibri" panose="020F0502020204030204" pitchFamily="34" charset="0"/>
              </a:rPr>
            </a:br>
            <a:endParaRPr lang="fr-FR" sz="1400" dirty="0"/>
          </a:p>
        </p:txBody>
      </p:sp>
      <p:sp>
        <p:nvSpPr>
          <p:cNvPr id="3" name="Espace réservé du contenu 2"/>
          <p:cNvSpPr>
            <a:spLocks noGrp="1"/>
          </p:cNvSpPr>
          <p:nvPr>
            <p:ph idx="1"/>
          </p:nvPr>
        </p:nvSpPr>
        <p:spPr>
          <a:xfrm>
            <a:off x="1276226" y="1269242"/>
            <a:ext cx="10228385" cy="5022376"/>
          </a:xfrm>
        </p:spPr>
        <p:txBody>
          <a:bodyPr/>
          <a:lstStyle/>
          <a:p>
            <a:pPr>
              <a:lnSpc>
                <a:spcPct val="150000"/>
              </a:lnSpc>
            </a:pPr>
            <a:r>
              <a:rPr lang="fr-FR" sz="2800" dirty="0">
                <a:solidFill>
                  <a:srgbClr val="000000"/>
                </a:solidFill>
                <a:latin typeface="Tahoma" panose="020B0604030504040204" pitchFamily="34" charset="0"/>
              </a:rPr>
              <a:t>La biopsie cutanée exsangue permet de :</a:t>
            </a:r>
            <a:endParaRPr lang="fr-FR" sz="2800" dirty="0"/>
          </a:p>
          <a:p>
            <a:pPr lvl="0">
              <a:lnSpc>
                <a:spcPct val="150000"/>
              </a:lnSpc>
              <a:buClr>
                <a:srgbClr val="000000"/>
              </a:buClr>
              <a:buSzPts val="1200"/>
              <a:buFont typeface="Calibri" panose="020F0502020204030204" pitchFamily="34" charset="0"/>
              <a:buChar char="-"/>
            </a:pP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confirmer le diagnostic par la découverte des microfilaires</a:t>
            </a:r>
            <a:endParaRPr lang="fr-FR" sz="2800" spc="30" dirty="0">
              <a:ea typeface="Calibri" panose="020F0502020204030204" pitchFamily="34" charset="0"/>
              <a:cs typeface="Times New Roman" panose="02020603050405020304" pitchFamily="18" charset="0"/>
            </a:endParaRPr>
          </a:p>
          <a:p>
            <a:pPr lvl="0">
              <a:lnSpc>
                <a:spcPct val="150000"/>
              </a:lnSpc>
              <a:buClr>
                <a:srgbClr val="000000"/>
              </a:buClr>
              <a:buSzPts val="1200"/>
              <a:buFont typeface="Calibri" panose="020F0502020204030204" pitchFamily="34" charset="0"/>
              <a:buChar char="-"/>
            </a:pPr>
            <a:r>
              <a:rPr lang="fr-FR" sz="2800" spc="30" dirty="0">
                <a:solidFill>
                  <a:srgbClr val="000000"/>
                </a:solidFill>
                <a:latin typeface="Tahoma" panose="020B0604030504040204" pitchFamily="34" charset="0"/>
                <a:ea typeface="Calibri" panose="020F0502020204030204" pitchFamily="34" charset="0"/>
                <a:cs typeface="Times New Roman" panose="02020603050405020304" pitchFamily="18" charset="0"/>
              </a:rPr>
              <a:t>apprécier l'importance de l'infestation (charge parasitaire)</a:t>
            </a:r>
            <a:endParaRPr lang="fr-FR" sz="2800" spc="30" dirty="0">
              <a:ea typeface="Calibri" panose="020F0502020204030204" pitchFamily="34" charset="0"/>
              <a:cs typeface="Times New Roman" panose="02020603050405020304" pitchFamily="18" charset="0"/>
            </a:endParaRPr>
          </a:p>
          <a:p>
            <a:pPr lvl="0">
              <a:lnSpc>
                <a:spcPct val="150000"/>
              </a:lnSpc>
              <a:buClr>
                <a:srgbClr val="000000"/>
              </a:buClr>
              <a:buSzPts val="1200"/>
              <a:buFont typeface="Arial" panose="020B0604020202020204" pitchFamily="34" charset="0"/>
              <a:buChar char="•"/>
            </a:pPr>
            <a:r>
              <a:rPr lang="fr-FR" sz="2800" spc="3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charge faible : 0-10 microfilaires</a:t>
            </a:r>
            <a:endParaRPr lang="fr-FR" sz="2800" spc="30" dirty="0">
              <a:latin typeface="Times New Roman" panose="02020603050405020304" pitchFamily="18" charset="0"/>
              <a:ea typeface="Times New Roman" panose="02020603050405020304" pitchFamily="18" charset="0"/>
              <a:cs typeface="Times New Roman" panose="02020603050405020304" pitchFamily="18" charset="0"/>
            </a:endParaRPr>
          </a:p>
          <a:p>
            <a:pPr lvl="0">
              <a:lnSpc>
                <a:spcPct val="150000"/>
              </a:lnSpc>
              <a:buClr>
                <a:srgbClr val="000000"/>
              </a:buClr>
              <a:buSzPts val="1200"/>
              <a:buFont typeface="Arial" panose="020B0604020202020204" pitchFamily="34" charset="0"/>
              <a:buChar char="•"/>
            </a:pPr>
            <a:r>
              <a:rPr lang="fr-FR" sz="2800" spc="3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charge moyenne: 11-50 microfilaires</a:t>
            </a:r>
            <a:endParaRPr lang="fr-FR" sz="2800" spc="30" dirty="0">
              <a:latin typeface="Times New Roman" panose="02020603050405020304" pitchFamily="18" charset="0"/>
              <a:ea typeface="Times New Roman" panose="02020603050405020304" pitchFamily="18" charset="0"/>
              <a:cs typeface="Times New Roman" panose="02020603050405020304" pitchFamily="18" charset="0"/>
            </a:endParaRPr>
          </a:p>
          <a:p>
            <a:pPr lvl="0">
              <a:lnSpc>
                <a:spcPct val="150000"/>
              </a:lnSpc>
              <a:buClr>
                <a:srgbClr val="000000"/>
              </a:buClr>
              <a:buSzPts val="1200"/>
              <a:buFont typeface="Arial" panose="020B0604020202020204" pitchFamily="34" charset="0"/>
              <a:buChar char="•"/>
            </a:pPr>
            <a:r>
              <a:rPr lang="fr-FR" sz="2800" spc="3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charge forte : &gt; 50 microfilaires.</a:t>
            </a:r>
            <a:endParaRPr lang="fr-FR" sz="2800" spc="30" dirty="0">
              <a:latin typeface="Times New Roman" panose="02020603050405020304" pitchFamily="18" charset="0"/>
              <a:ea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228178647"/>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3742" y="351155"/>
            <a:ext cx="8911687" cy="549597"/>
          </a:xfrm>
        </p:spPr>
        <p:txBody>
          <a:bodyPr>
            <a:normAutofit fontScale="90000"/>
          </a:bodyPr>
          <a:lstStyle/>
          <a:p>
            <a:pPr lvl="0" algn="ctr"/>
            <a:r>
              <a:rPr lang="fr-FR" sz="32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a:t>
            </a:r>
            <a:r>
              <a:rPr lang="fr-FR" sz="3200" spc="25" dirty="0">
                <a:solidFill>
                  <a:srgbClr val="000000"/>
                </a:solidFill>
                <a:latin typeface="Courier New" panose="02070309020205020404" pitchFamily="49" charset="0"/>
                <a:ea typeface="Times New Roman" panose="02020603050405020304" pitchFamily="18" charset="0"/>
              </a:rPr>
              <a:t/>
            </a:r>
            <a:br>
              <a:rPr lang="fr-FR" sz="3200" spc="25" dirty="0">
                <a:solidFill>
                  <a:srgbClr val="000000"/>
                </a:solidFill>
                <a:latin typeface="Courier New" panose="02070309020205020404" pitchFamily="49" charset="0"/>
                <a:ea typeface="Times New Roman" panose="02020603050405020304" pitchFamily="18" charset="0"/>
              </a:rPr>
            </a:br>
            <a:endParaRPr lang="fr-FR" dirty="0"/>
          </a:p>
        </p:txBody>
      </p:sp>
      <p:sp>
        <p:nvSpPr>
          <p:cNvPr id="3" name="Espace réservé du contenu 2"/>
          <p:cNvSpPr>
            <a:spLocks noGrp="1"/>
          </p:cNvSpPr>
          <p:nvPr>
            <p:ph idx="1"/>
          </p:nvPr>
        </p:nvSpPr>
        <p:spPr>
          <a:xfrm>
            <a:off x="867508" y="996287"/>
            <a:ext cx="10637104" cy="5513695"/>
          </a:xfrm>
        </p:spPr>
        <p:txBody>
          <a:bodyPr>
            <a:noAutofit/>
          </a:bodyPr>
          <a:lstStyle/>
          <a:p>
            <a:pPr marL="457200" lvl="1" indent="0" algn="just">
              <a:lnSpc>
                <a:spcPct val="150000"/>
              </a:lnSpc>
              <a:buNone/>
            </a:pPr>
            <a:r>
              <a:rPr lang="fr-FR" sz="26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 </a:t>
            </a:r>
            <a:r>
              <a:rPr lang="fr-FR" sz="26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médical</a:t>
            </a:r>
            <a:r>
              <a:rPr lang="fr-FR" sz="2600" spc="10" dirty="0" smtClean="0">
                <a:solidFill>
                  <a:srgbClr val="000000"/>
                </a:solidFill>
                <a:latin typeface="Tahoma" panose="020B0604030504040204" pitchFamily="34" charset="0"/>
                <a:ea typeface="Times New Roman" panose="02020603050405020304" pitchFamily="18" charset="0"/>
              </a:rPr>
              <a:t> </a:t>
            </a:r>
            <a:r>
              <a:rPr lang="fr-FR" sz="2600" spc="10" dirty="0">
                <a:solidFill>
                  <a:srgbClr val="000000"/>
                </a:solidFill>
                <a:latin typeface="Tahoma" panose="020B0604030504040204" pitchFamily="34" charset="0"/>
                <a:ea typeface="Times New Roman" panose="02020603050405020304" pitchFamily="18" charset="0"/>
              </a:rPr>
              <a:t>repose à l’heure actuelle sur un médicament très puissant et qui vise à stériliser l'organisme du malade en détruisant les microfilaires et les vers adultes</a:t>
            </a:r>
            <a:r>
              <a:rPr lang="fr-FR" sz="2600" spc="10" dirty="0" smtClean="0">
                <a:solidFill>
                  <a:srgbClr val="000000"/>
                </a:solidFill>
                <a:latin typeface="Tahoma" panose="020B0604030504040204" pitchFamily="34" charset="0"/>
                <a:ea typeface="Times New Roman" panose="02020603050405020304" pitchFamily="18" charset="0"/>
              </a:rPr>
              <a:t>.</a:t>
            </a:r>
            <a:endParaRPr lang="fr-FR" sz="2600" dirty="0"/>
          </a:p>
          <a:p>
            <a:pPr>
              <a:lnSpc>
                <a:spcPct val="150000"/>
              </a:lnSpc>
            </a:pPr>
            <a:r>
              <a:rPr lang="fr-FR" sz="2600" dirty="0">
                <a:solidFill>
                  <a:srgbClr val="000000"/>
                </a:solidFill>
                <a:latin typeface="Tahoma" panose="020B0604030504040204" pitchFamily="34" charset="0"/>
              </a:rPr>
              <a:t>IVERMECTINE </a:t>
            </a:r>
            <a:r>
              <a:rPr lang="fr-FR" sz="2600" spc="10" dirty="0" err="1">
                <a:solidFill>
                  <a:srgbClr val="000000"/>
                </a:solidFill>
                <a:latin typeface="Tahoma" panose="020B0604030504040204" pitchFamily="34" charset="0"/>
                <a:ea typeface="Times New Roman" panose="02020603050405020304" pitchFamily="18" charset="0"/>
                <a:cs typeface="Times New Roman" panose="02020603050405020304" pitchFamily="18" charset="0"/>
              </a:rPr>
              <a:t>cp</a:t>
            </a:r>
            <a:r>
              <a:rPr lang="fr-FR" sz="2600" spc="10" dirty="0">
                <a:solidFill>
                  <a:srgbClr val="000000"/>
                </a:solidFill>
                <a:latin typeface="Tahoma" panose="020B0604030504040204" pitchFamily="34" charset="0"/>
                <a:ea typeface="Times New Roman" panose="02020603050405020304" pitchFamily="18" charset="0"/>
                <a:cs typeface="Times New Roman" panose="02020603050405020304" pitchFamily="18" charset="0"/>
              </a:rPr>
              <a:t>= </a:t>
            </a:r>
            <a:r>
              <a:rPr lang="fr-FR" sz="2600" spc="10" dirty="0" smtClean="0">
                <a:solidFill>
                  <a:srgbClr val="000000"/>
                </a:solidFill>
                <a:latin typeface="Tahoma" panose="020B0604030504040204" pitchFamily="34" charset="0"/>
                <a:ea typeface="Times New Roman" panose="02020603050405020304" pitchFamily="18" charset="0"/>
                <a:cs typeface="Times New Roman" panose="02020603050405020304" pitchFamily="18" charset="0"/>
              </a:rPr>
              <a:t>6mg</a:t>
            </a:r>
            <a:r>
              <a:rPr lang="fr-FR" sz="2600" dirty="0"/>
              <a:t> </a:t>
            </a:r>
            <a:r>
              <a:rPr lang="fr-FR" sz="2600" dirty="0" smtClean="0"/>
              <a:t>à la </a:t>
            </a:r>
            <a:r>
              <a:rPr lang="fr-FR" sz="2600" b="1" spc="25" dirty="0" smtClean="0">
                <a:solidFill>
                  <a:srgbClr val="000000"/>
                </a:solidFill>
                <a:latin typeface="Tahoma" panose="020B0604030504040204" pitchFamily="34" charset="0"/>
                <a:ea typeface="Tahoma" panose="020B0604030504040204" pitchFamily="34" charset="0"/>
                <a:cs typeface="Times New Roman" panose="02020603050405020304" pitchFamily="18" charset="0"/>
              </a:rPr>
              <a:t>Posologie de </a:t>
            </a:r>
            <a:r>
              <a:rPr lang="fr-FR" sz="2600" dirty="0">
                <a:solidFill>
                  <a:srgbClr val="000000"/>
                </a:solidFill>
                <a:latin typeface="Tahoma" panose="020B0604030504040204" pitchFamily="34" charset="0"/>
              </a:rPr>
              <a:t>15-24 kg = 3 mg soit ½ </a:t>
            </a:r>
            <a:r>
              <a:rPr lang="fr-FR" sz="2600" dirty="0" err="1">
                <a:solidFill>
                  <a:srgbClr val="000000"/>
                </a:solidFill>
                <a:latin typeface="Tahoma" panose="020B0604030504040204" pitchFamily="34" charset="0"/>
              </a:rPr>
              <a:t>cp</a:t>
            </a:r>
            <a:r>
              <a:rPr lang="fr-FR" sz="2600" dirty="0">
                <a:solidFill>
                  <a:srgbClr val="000000"/>
                </a:solidFill>
                <a:latin typeface="Tahoma" panose="020B0604030504040204" pitchFamily="34" charset="0"/>
              </a:rPr>
              <a:t> en 1 prise unique 25-44 kg = 6 mg soit 1 </a:t>
            </a:r>
            <a:r>
              <a:rPr lang="fr-FR" sz="2600" dirty="0" err="1">
                <a:solidFill>
                  <a:srgbClr val="000000"/>
                </a:solidFill>
                <a:latin typeface="Tahoma" panose="020B0604030504040204" pitchFamily="34" charset="0"/>
              </a:rPr>
              <a:t>cp</a:t>
            </a:r>
            <a:r>
              <a:rPr lang="fr-FR" sz="2600" dirty="0">
                <a:solidFill>
                  <a:srgbClr val="000000"/>
                </a:solidFill>
                <a:latin typeface="Tahoma" panose="020B0604030504040204" pitchFamily="34" charset="0"/>
              </a:rPr>
              <a:t> en 1 prise unique </a:t>
            </a:r>
            <a:r>
              <a:rPr lang="fr-FR" sz="2600" b="1" spc="25" dirty="0" smtClean="0">
                <a:solidFill>
                  <a:srgbClr val="000000"/>
                </a:solidFill>
                <a:latin typeface="Tahoma" panose="020B0604030504040204" pitchFamily="34" charset="0"/>
                <a:ea typeface="Calibri" panose="020F0502020204030204" pitchFamily="34" charset="0"/>
                <a:cs typeface="Times New Roman" panose="02020603050405020304" pitchFamily="18" charset="0"/>
              </a:rPr>
              <a:t>Traitement </a:t>
            </a:r>
            <a:r>
              <a:rPr lang="fr-FR" sz="2600" b="1" spc="25" dirty="0" err="1" smtClean="0">
                <a:solidFill>
                  <a:srgbClr val="000000"/>
                </a:solidFill>
                <a:latin typeface="Tahoma" panose="020B0604030504040204" pitchFamily="34" charset="0"/>
                <a:ea typeface="Calibri" panose="020F0502020204030204" pitchFamily="34" charset="0"/>
                <a:cs typeface="Times New Roman" panose="02020603050405020304" pitchFamily="18" charset="0"/>
              </a:rPr>
              <a:t>chirurgical</a:t>
            </a:r>
            <a:r>
              <a:rPr lang="fr-FR" sz="2600" dirty="0" err="1" smtClean="0">
                <a:solidFill>
                  <a:srgbClr val="000000"/>
                </a:solidFill>
                <a:latin typeface="Tahoma" panose="020B0604030504040204" pitchFamily="34" charset="0"/>
                <a:ea typeface="Courier New" panose="02070309020205020404" pitchFamily="49" charset="0"/>
              </a:rPr>
              <a:t>Dans</a:t>
            </a:r>
            <a:r>
              <a:rPr lang="fr-FR" sz="2600" dirty="0" smtClean="0">
                <a:solidFill>
                  <a:srgbClr val="000000"/>
                </a:solidFill>
                <a:latin typeface="Tahoma" panose="020B0604030504040204" pitchFamily="34" charset="0"/>
                <a:ea typeface="Courier New" panose="02070309020205020404" pitchFamily="49" charset="0"/>
              </a:rPr>
              <a:t> </a:t>
            </a:r>
            <a:r>
              <a:rPr lang="fr-FR" sz="2600" dirty="0">
                <a:solidFill>
                  <a:srgbClr val="000000"/>
                </a:solidFill>
                <a:latin typeface="Tahoma" panose="020B0604030504040204" pitchFamily="34" charset="0"/>
                <a:ea typeface="Courier New" panose="02070309020205020404" pitchFamily="49" charset="0"/>
              </a:rPr>
              <a:t>la destruction des vers adultes, l'on pratique dans certains cas une </a:t>
            </a:r>
            <a:r>
              <a:rPr lang="fr-FR" sz="2600" dirty="0" err="1">
                <a:solidFill>
                  <a:srgbClr val="000000"/>
                </a:solidFill>
                <a:latin typeface="Tahoma" panose="020B0604030504040204" pitchFamily="34" charset="0"/>
                <a:ea typeface="Courier New" panose="02070309020205020404" pitchFamily="49" charset="0"/>
              </a:rPr>
              <a:t>nodulectomie</a:t>
            </a:r>
            <a:r>
              <a:rPr lang="fr-FR" sz="2600" dirty="0">
                <a:solidFill>
                  <a:srgbClr val="000000"/>
                </a:solidFill>
                <a:latin typeface="Tahoma" panose="020B0604030504040204" pitchFamily="34" charset="0"/>
                <a:ea typeface="Courier New" panose="02070309020205020404" pitchFamily="49" charset="0"/>
              </a:rPr>
              <a:t> (extirpation chirurgicale des kystes ou nodules). Cette opération est sans danger, mais elle est insuffisante car elle n'atteint qu'un nombre assez faible de </a:t>
            </a:r>
            <a:r>
              <a:rPr lang="fr-FR" sz="2600" dirty="0" err="1">
                <a:solidFill>
                  <a:srgbClr val="000000"/>
                </a:solidFill>
                <a:latin typeface="Tahoma" panose="020B0604030504040204" pitchFamily="34" charset="0"/>
                <a:ea typeface="Courier New" panose="02070309020205020404" pitchFamily="49" charset="0"/>
              </a:rPr>
              <a:t>fïlaires</a:t>
            </a:r>
            <a:endParaRPr lang="fr-FR" sz="2600" dirty="0"/>
          </a:p>
        </p:txBody>
      </p:sp>
    </p:spTree>
    <p:extLst>
      <p:ext uri="{BB962C8B-B14F-4D97-AF65-F5344CB8AC3E}">
        <p14:creationId xmlns:p14="http://schemas.microsoft.com/office/powerpoint/2010/main" val="2393552499"/>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419394"/>
            <a:ext cx="8911687" cy="440415"/>
          </a:xfrm>
        </p:spPr>
        <p:txBody>
          <a:bodyPr>
            <a:noAutofit/>
          </a:bodyPr>
          <a:lstStyle/>
          <a:p>
            <a:pPr lvl="0"/>
            <a:r>
              <a:rPr lang="fr-FR" sz="2800" b="1" spc="25" dirty="0">
                <a:solidFill>
                  <a:srgbClr val="000000"/>
                </a:solidFill>
                <a:latin typeface="Tahoma" panose="020B0604030504040204" pitchFamily="34" charset="0"/>
                <a:ea typeface="Calibri" panose="020F0502020204030204" pitchFamily="34" charset="0"/>
                <a:cs typeface="Times New Roman" panose="02020603050405020304" pitchFamily="18" charset="0"/>
              </a:rPr>
              <a:t>PROPHYLAXIE</a:t>
            </a:r>
            <a:r>
              <a:rPr lang="fr-FR" sz="2800" spc="25" dirty="0">
                <a:solidFill>
                  <a:srgbClr val="000000"/>
                </a:solidFill>
                <a:latin typeface="Courier New" panose="02070309020205020404" pitchFamily="49" charset="0"/>
                <a:ea typeface="Times New Roman" panose="02020603050405020304" pitchFamily="18" charset="0"/>
              </a:rPr>
              <a:t/>
            </a:r>
            <a:br>
              <a:rPr lang="fr-FR" sz="2800" spc="25" dirty="0">
                <a:solidFill>
                  <a:srgbClr val="000000"/>
                </a:solidFill>
                <a:latin typeface="Courier New" panose="02070309020205020404" pitchFamily="49" charset="0"/>
                <a:ea typeface="Times New Roman" panose="02020603050405020304" pitchFamily="18" charset="0"/>
              </a:rPr>
            </a:br>
            <a:endParaRPr lang="fr-FR" sz="2800" dirty="0"/>
          </a:p>
        </p:txBody>
      </p:sp>
      <p:sp>
        <p:nvSpPr>
          <p:cNvPr id="3" name="Espace réservé du contenu 2"/>
          <p:cNvSpPr>
            <a:spLocks noGrp="1"/>
          </p:cNvSpPr>
          <p:nvPr>
            <p:ph idx="1"/>
          </p:nvPr>
        </p:nvSpPr>
        <p:spPr>
          <a:xfrm>
            <a:off x="984738" y="859809"/>
            <a:ext cx="10519874" cy="5486399"/>
          </a:xfrm>
        </p:spPr>
        <p:txBody>
          <a:bodyPr>
            <a:noAutofit/>
          </a:bodyPr>
          <a:lstStyle/>
          <a:p>
            <a:pPr algn="just">
              <a:lnSpc>
                <a:spcPct val="150000"/>
              </a:lnSpc>
            </a:pPr>
            <a:r>
              <a:rPr lang="fr-FR" sz="2800" dirty="0">
                <a:solidFill>
                  <a:srgbClr val="000000"/>
                </a:solidFill>
                <a:latin typeface="Tahoma" panose="020B0604030504040204" pitchFamily="34" charset="0"/>
              </a:rPr>
              <a:t>L'OMS a mis en place un dispositif qui associe la lutte contre les simulies, le traitement des populations atteintes à un programme de recherches scientifiques. Ce programme fait l'objet de campagne de l'OMS depuis 1974 dans sept pays d'Afrique de l'Ouest touchés par ce fléau (y compris la C-I). Il consiste en </a:t>
            </a:r>
            <a:r>
              <a:rPr lang="fr-FR" sz="2800" dirty="0" smtClean="0">
                <a:solidFill>
                  <a:srgbClr val="000000"/>
                </a:solidFill>
                <a:latin typeface="Tahoma" panose="020B0604030504040204" pitchFamily="34" charset="0"/>
              </a:rPr>
              <a:t>:</a:t>
            </a:r>
            <a:endParaRPr lang="fr-FR" sz="2800" dirty="0"/>
          </a:p>
        </p:txBody>
      </p:sp>
    </p:spTree>
    <p:extLst>
      <p:ext uri="{BB962C8B-B14F-4D97-AF65-F5344CB8AC3E}">
        <p14:creationId xmlns:p14="http://schemas.microsoft.com/office/powerpoint/2010/main" val="1248018642"/>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60060" y="777922"/>
            <a:ext cx="10344552" cy="5500048"/>
          </a:xfrm>
        </p:spPr>
        <p:txBody>
          <a:bodyPr>
            <a:normAutofit/>
          </a:bodyPr>
          <a:lstStyle/>
          <a:p>
            <a:endParaRPr lang="fr-FR" dirty="0"/>
          </a:p>
          <a:p>
            <a:pPr lvl="0" algn="just">
              <a:lnSpc>
                <a:spcPct val="150000"/>
              </a:lnSpc>
            </a:pP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 dépistage précoce et un traitement des cas identifiés ;</a:t>
            </a:r>
            <a:r>
              <a:rPr lang="fr-FR" sz="2800" dirty="0">
                <a:ea typeface="Calibri" panose="020F0502020204030204" pitchFamily="34" charset="0"/>
                <a:cs typeface="Times New Roman" panose="02020603050405020304" pitchFamily="18" charset="0"/>
              </a:rPr>
              <a:t> </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une sensibilisation des populations sur la nécessite de se protéger contre les piqûres de simulie par le port de vêtement approprié, par l'utilisation de produits répulsifs</a:t>
            </a:r>
            <a:r>
              <a:rPr lang="fr-FR" sz="2800" dirty="0">
                <a:ea typeface="Calibri" panose="020F0502020204030204" pitchFamily="34" charset="0"/>
                <a:cs typeface="Times New Roman" panose="02020603050405020304" pitchFamily="18" charset="0"/>
              </a:rPr>
              <a:t> et la</a:t>
            </a:r>
            <a:r>
              <a:rPr lang="fr-FR" sz="2800" dirty="0">
                <a:solidFill>
                  <a:srgbClr val="000000"/>
                </a:solidFill>
                <a:latin typeface="Tahoma" panose="020B0604030504040204" pitchFamily="34" charset="0"/>
                <a:ea typeface="Calibri" panose="020F0502020204030204" pitchFamily="34" charset="0"/>
                <a:cs typeface="Times New Roman" panose="02020603050405020304" pitchFamily="18" charset="0"/>
              </a:rPr>
              <a:t> destruction des foyers de reproduction et des mouches tsé-tsé par la pulvérisation aérienne ou au sol d'insecticide (ex: DDT) et par l'utilisation de piège à glossine ;</a:t>
            </a:r>
            <a:endParaRPr lang="fr-FR" sz="2800" dirty="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952395433"/>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92925" y="624110"/>
            <a:ext cx="8911687" cy="733635"/>
          </a:xfrm>
        </p:spPr>
        <p:style>
          <a:lnRef idx="1">
            <a:schemeClr val="accent5"/>
          </a:lnRef>
          <a:fillRef idx="2">
            <a:schemeClr val="accent5"/>
          </a:fillRef>
          <a:effectRef idx="1">
            <a:schemeClr val="accent5"/>
          </a:effectRef>
          <a:fontRef idx="minor">
            <a:schemeClr val="dk1"/>
          </a:fontRef>
        </p:style>
        <p:txBody>
          <a:bodyPr/>
          <a:lstStyle/>
          <a:p>
            <a:pPr algn="ctr"/>
            <a:r>
              <a:rPr lang="fr-FR" b="1" dirty="0" smtClean="0">
                <a:solidFill>
                  <a:srgbClr val="FF0000"/>
                </a:solidFill>
              </a:rPr>
              <a:t>RECAP</a:t>
            </a:r>
            <a:endParaRPr lang="fr-FR" b="1" dirty="0">
              <a:solidFill>
                <a:srgbClr val="FF0000"/>
              </a:solidFill>
            </a:endParaRPr>
          </a:p>
        </p:txBody>
      </p:sp>
      <p:sp>
        <p:nvSpPr>
          <p:cNvPr id="3" name="Espace réservé du contenu 2"/>
          <p:cNvSpPr>
            <a:spLocks noGrp="1"/>
          </p:cNvSpPr>
          <p:nvPr>
            <p:ph idx="1"/>
          </p:nvPr>
        </p:nvSpPr>
        <p:spPr>
          <a:xfrm>
            <a:off x="2589212" y="1648691"/>
            <a:ext cx="8915400" cy="4765964"/>
          </a:xfrm>
        </p:spPr>
        <p:style>
          <a:lnRef idx="2">
            <a:schemeClr val="accent2"/>
          </a:lnRef>
          <a:fillRef idx="1">
            <a:schemeClr val="lt1"/>
          </a:fillRef>
          <a:effectRef idx="0">
            <a:schemeClr val="accent2"/>
          </a:effectRef>
          <a:fontRef idx="minor">
            <a:schemeClr val="dk1"/>
          </a:fontRef>
        </p:style>
        <p:txBody>
          <a:bodyPr>
            <a:noAutofit/>
          </a:bodyPr>
          <a:lstStyle/>
          <a:p>
            <a:r>
              <a:rPr lang="fr-FR" sz="2400" b="1" dirty="0" smtClean="0">
                <a:solidFill>
                  <a:srgbClr val="002060"/>
                </a:solidFill>
                <a:latin typeface="+mj-lt"/>
              </a:rPr>
              <a:t>DRACUNCULOSE:</a:t>
            </a:r>
          </a:p>
          <a:p>
            <a:pPr>
              <a:buFont typeface="Wingdings" panose="05000000000000000000" pitchFamily="2" charset="2"/>
              <a:buChar char="§"/>
            </a:pPr>
            <a:r>
              <a:rPr lang="fr-FR" sz="2400" dirty="0" smtClean="0">
                <a:latin typeface="+mj-lt"/>
              </a:rPr>
              <a:t>AGENT PATHOGENE =DRACUNCULUS MEDINENSIS</a:t>
            </a:r>
          </a:p>
          <a:p>
            <a:pPr>
              <a:buFont typeface="Wingdings" panose="05000000000000000000" pitchFamily="2" charset="2"/>
              <a:buChar char="§"/>
            </a:pPr>
            <a:r>
              <a:rPr lang="fr-FR" sz="2400" dirty="0" smtClean="0">
                <a:latin typeface="+mj-lt"/>
              </a:rPr>
              <a:t>MODE DE TRANSMISSION = INGESTION DE </a:t>
            </a:r>
            <a:r>
              <a:rPr lang="fr-FR" sz="2400" dirty="0" smtClean="0">
                <a:solidFill>
                  <a:srgbClr val="000000"/>
                </a:solidFill>
                <a:latin typeface="+mj-lt"/>
              </a:rPr>
              <a:t>CYCLOPS</a:t>
            </a:r>
            <a:r>
              <a:rPr lang="fr-FR" sz="2400" dirty="0" smtClean="0">
                <a:latin typeface="+mj-lt"/>
              </a:rPr>
              <a:t> PAR EAU DE BOISSON</a:t>
            </a:r>
          </a:p>
          <a:p>
            <a:pPr>
              <a:buFont typeface="Wingdings" panose="05000000000000000000" pitchFamily="2" charset="2"/>
              <a:buChar char="§"/>
            </a:pPr>
            <a:r>
              <a:rPr lang="fr-FR" sz="2400" dirty="0" smtClean="0">
                <a:latin typeface="+mj-lt"/>
              </a:rPr>
              <a:t>VER VISIBLE A L’ŒIL NU MAIS JAMAIS DANS LES SELLES</a:t>
            </a:r>
          </a:p>
          <a:p>
            <a:r>
              <a:rPr lang="fr-FR" sz="2400" b="1" dirty="0" smtClean="0">
                <a:solidFill>
                  <a:srgbClr val="002060"/>
                </a:solidFill>
                <a:latin typeface="+mj-lt"/>
              </a:rPr>
              <a:t>ONCHOCERCOSE</a:t>
            </a:r>
          </a:p>
          <a:p>
            <a:pPr>
              <a:buFont typeface="Wingdings" panose="05000000000000000000" pitchFamily="2" charset="2"/>
              <a:buChar char="§"/>
            </a:pPr>
            <a:r>
              <a:rPr lang="fr-FR" sz="2400" dirty="0" smtClean="0">
                <a:latin typeface="+mj-lt"/>
              </a:rPr>
              <a:t>AGENT PATHOGENE = ONCHOCERCA VOLVULUS</a:t>
            </a:r>
          </a:p>
          <a:p>
            <a:pPr>
              <a:buFont typeface="Wingdings" panose="05000000000000000000" pitchFamily="2" charset="2"/>
              <a:buChar char="§"/>
            </a:pPr>
            <a:r>
              <a:rPr lang="fr-FR" sz="2400" dirty="0" smtClean="0">
                <a:latin typeface="+mj-lt"/>
              </a:rPr>
              <a:t>VECTEUR = SIMULIE</a:t>
            </a:r>
          </a:p>
          <a:p>
            <a:pPr>
              <a:buFont typeface="Wingdings" panose="05000000000000000000" pitchFamily="2" charset="2"/>
              <a:buChar char="§"/>
            </a:pPr>
            <a:r>
              <a:rPr lang="fr-FR" sz="2400" dirty="0" smtClean="0">
                <a:latin typeface="+mj-lt"/>
              </a:rPr>
              <a:t>MODE DE TRANSMISSION = PIQURE DE LA SIMULIE</a:t>
            </a:r>
            <a:endParaRPr lang="fr-FR" sz="2400" dirty="0">
              <a:latin typeface="+mj-lt"/>
            </a:endParaRPr>
          </a:p>
        </p:txBody>
      </p:sp>
    </p:spTree>
    <p:extLst>
      <p:ext uri="{BB962C8B-B14F-4D97-AF65-F5344CB8AC3E}">
        <p14:creationId xmlns:p14="http://schemas.microsoft.com/office/powerpoint/2010/main" val="3867440051"/>
      </p:ext>
    </p:extLst>
  </p:cSld>
  <p:clrMapOvr>
    <a:masterClrMapping/>
  </p:clrMapOvr>
  <p:timing>
    <p:tnLst>
      <p:par>
        <p:cTn id="1" dur="indefinite" restart="never" nodeType="tmRoot"/>
      </p:par>
    </p:tnLst>
  </p:timing>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46717</TotalTime>
  <Words>10633</Words>
  <Application>Microsoft Office PowerPoint</Application>
  <PresentationFormat>Grand écran</PresentationFormat>
  <Paragraphs>790</Paragraphs>
  <Slides>197</Slides>
  <Notes>1</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197</vt:i4>
      </vt:variant>
    </vt:vector>
  </HeadingPairs>
  <TitlesOfParts>
    <vt:vector size="210" baseType="lpstr">
      <vt:lpstr>Arial</vt:lpstr>
      <vt:lpstr>Arial Unicode MS</vt:lpstr>
      <vt:lpstr>Articulate</vt:lpstr>
      <vt:lpstr>Calibri</vt:lpstr>
      <vt:lpstr>Century Gothic</vt:lpstr>
      <vt:lpstr>Copperplate Gothic Bold</vt:lpstr>
      <vt:lpstr>Courier New</vt:lpstr>
      <vt:lpstr>Symbol</vt:lpstr>
      <vt:lpstr>Tahoma</vt:lpstr>
      <vt:lpstr>Times New Roman</vt:lpstr>
      <vt:lpstr>Wingdings</vt:lpstr>
      <vt:lpstr>Wingdings 3</vt:lpstr>
      <vt:lpstr>Brin</vt:lpstr>
      <vt:lpstr>SOINS INFIRMIERS DANS LES PATHOLOGIES  TROPICALES</vt:lpstr>
      <vt:lpstr>BILHARZIOSES (SYN. SCHISTOSOMIASES-SCHISTOSOMOSES) </vt:lpstr>
      <vt:lpstr>HISTORIQUE </vt:lpstr>
      <vt:lpstr>HISTORIQUE (SUITE)</vt:lpstr>
      <vt:lpstr>RÉPARTITION GÉOGRAPHIQUE </vt:lpstr>
      <vt:lpstr>AGENTS PATHOGÈNES </vt:lpstr>
      <vt:lpstr>Réservoir de germes et Hôtes Intermédiaires (HI)  </vt:lpstr>
      <vt:lpstr>FACTEURS FAVORISANT </vt:lpstr>
      <vt:lpstr>MODE DE CONTAMINATION / CYCLE PARASITAIRE </vt:lpstr>
      <vt:lpstr>MODE DE CONTAMINATION / CYCLE PARASITAIRE (suite)</vt:lpstr>
      <vt:lpstr>LES DIFFÉRENTES PHASES DE LA SYMPTOMATOLOGIE DE LA BILHARZIOSE </vt:lpstr>
      <vt:lpstr>LES DIFFÉRENTES PHASES DE LA SYMPTOMATOLOGIE DE LA BILHARZIOSE </vt:lpstr>
      <vt:lpstr>BILHARZIOSE À SCHISTOSOMA HAEMATOBIUM </vt:lpstr>
      <vt:lpstr>BILHARZIOSE À SCHISTOSOMA MANSONI</vt:lpstr>
      <vt:lpstr>BILHARZIOSE À SCHISTOSOMA JAPONICUM &amp; B. À .S. MEKONGI </vt:lpstr>
      <vt:lpstr>BILHARZIOSE À SCHISTOSOMA INTERCALATUM </vt:lpstr>
      <vt:lpstr>DIAGNOSTIC </vt:lpstr>
      <vt:lpstr>COMPLICATIONS </vt:lpstr>
      <vt:lpstr>TRAITEMENTS  </vt:lpstr>
      <vt:lpstr>SERPENTS ET MORSURES DE SERPENTS </vt:lpstr>
      <vt:lpstr>Présentation PowerPoint</vt:lpstr>
      <vt:lpstr>Présentation PowerPoint</vt:lpstr>
      <vt:lpstr>SOLENOGLYPHE</vt:lpstr>
      <vt:lpstr>VENIN PATHOLOGIE </vt:lpstr>
      <vt:lpstr>Morsure par les élapidés</vt:lpstr>
      <vt:lpstr>MORSURES PAR VIPÉRIDÉS </vt:lpstr>
      <vt:lpstr>COMPLICATIONS </vt:lpstr>
      <vt:lpstr>TRAITEMENT </vt:lpstr>
      <vt:lpstr>Rôle de l'infirmier devant une morsure de serpent</vt:lpstr>
      <vt:lpstr>Rôle de l'infirmier devant une morsure de serpent</vt:lpstr>
      <vt:lpstr>PATHOLOGIE DUE AU SERPENT CRACHEUR </vt:lpstr>
      <vt:lpstr>TREPONEMATOSES </vt:lpstr>
      <vt:lpstr>TREPONEMATOSES </vt:lpstr>
      <vt:lpstr>Présentation PowerPoint</vt:lpstr>
      <vt:lpstr>LA SYPHILIS VENERIENNE </vt:lpstr>
      <vt:lpstr>SYMPTOMATOLOGIE  </vt:lpstr>
      <vt:lpstr>Stade secondaire ou syphilis secondaire </vt:lpstr>
      <vt:lpstr>stade secondaire</vt:lpstr>
      <vt:lpstr>Présentation PowerPoint</vt:lpstr>
      <vt:lpstr>Présentation PowerPoint</vt:lpstr>
      <vt:lpstr>Stade tertiaire ou syphilis tertiaire </vt:lpstr>
      <vt:lpstr>GANGOSA</vt:lpstr>
      <vt:lpstr>DIAGNOSTIC </vt:lpstr>
      <vt:lpstr>Syphilis primaire et secondaire </vt:lpstr>
      <vt:lpstr>PIAN </vt:lpstr>
      <vt:lpstr>Présentation PowerPoint</vt:lpstr>
      <vt:lpstr>EPIDEMIOLOGIE </vt:lpstr>
      <vt:lpstr>SYMPTOMATOLOGIE </vt:lpstr>
      <vt:lpstr>Phase primaire ou pian précoce </vt:lpstr>
      <vt:lpstr>Présentation PowerPoint</vt:lpstr>
      <vt:lpstr>Phase secondaire </vt:lpstr>
      <vt:lpstr>Présentation PowerPoint</vt:lpstr>
      <vt:lpstr>Phase tertiaire </vt:lpstr>
      <vt:lpstr>Diagnostic différentiel </vt:lpstr>
      <vt:lpstr>Diagnostic positif </vt:lpstr>
      <vt:lpstr>TRAITEMENT </vt:lpstr>
      <vt:lpstr>PROPHYLAXIE  </vt:lpstr>
      <vt:lpstr>Présentation PowerPoint</vt:lpstr>
      <vt:lpstr>SYNDROMES DYSENTERIQUES </vt:lpstr>
      <vt:lpstr>SHIGELLOSE OU DYSENTERIE BACILLAIRE </vt:lpstr>
      <vt:lpstr>SHIGUELLE/ SHIGULLA</vt:lpstr>
      <vt:lpstr>Présentation PowerPoint</vt:lpstr>
      <vt:lpstr>Physiopathologie </vt:lpstr>
      <vt:lpstr>Symptomatologie</vt:lpstr>
      <vt:lpstr>Présentation PowerPoint</vt:lpstr>
      <vt:lpstr>Diagnostic et complications</vt:lpstr>
      <vt:lpstr>Complications </vt:lpstr>
      <vt:lpstr>Traitement </vt:lpstr>
      <vt:lpstr>Prophylaxie</vt:lpstr>
      <vt:lpstr>GIARDIASE OU LAMBLIASE </vt:lpstr>
      <vt:lpstr>giardia intestinalis</vt:lpstr>
      <vt:lpstr>La forme végétative </vt:lpstr>
      <vt:lpstr>La forme kystique </vt:lpstr>
      <vt:lpstr>Symptomatologie </vt:lpstr>
      <vt:lpstr>Période d'état </vt:lpstr>
      <vt:lpstr>Diagnostic </vt:lpstr>
      <vt:lpstr>Complications  </vt:lpstr>
      <vt:lpstr>     Traitement </vt:lpstr>
      <vt:lpstr>Prophylaxie </vt:lpstr>
      <vt:lpstr>AMIBIASE </vt:lpstr>
      <vt:lpstr>AMIBE</vt:lpstr>
      <vt:lpstr>EPIDEMIQLOGIE </vt:lpstr>
      <vt:lpstr>Présentation PowerPoint</vt:lpstr>
      <vt:lpstr>CYCLE PARASITAIRE </vt:lpstr>
      <vt:lpstr>Présentation PowerPoint</vt:lpstr>
      <vt:lpstr>Présentation PowerPoint</vt:lpstr>
      <vt:lpstr>FORMES CLINIQUES DE L’AMIBIASE </vt:lpstr>
      <vt:lpstr>Présentation PowerPoint</vt:lpstr>
      <vt:lpstr>Traitement </vt:lpstr>
      <vt:lpstr>Présentation PowerPoint</vt:lpstr>
      <vt:lpstr>Prophylaxie </vt:lpstr>
      <vt:lpstr>Amibiase hépatique(amibiase suppurée)</vt:lpstr>
      <vt:lpstr>Phase d'état: </vt:lpstr>
      <vt:lpstr>Diagnostic </vt:lpstr>
      <vt:lpstr>Évolution et Traitement</vt:lpstr>
      <vt:lpstr>TRYPANOSOMIASES HUMAINES AFRICAINES OU  MALADIE DU SOMMEIL </vt:lpstr>
      <vt:lpstr>DEFINITION </vt:lpstr>
      <vt:lpstr>MOUCHE TSE-TSE OU GLOSSINE</vt:lpstr>
      <vt:lpstr>EPIDEMIOLOGIE </vt:lpstr>
      <vt:lpstr>Trypanosomiase à trypanosoma gambiense</vt:lpstr>
      <vt:lpstr>Trypanosomiase à trypanosoma rhodésien </vt:lpstr>
      <vt:lpstr>MODE DE CONTAMINATION / CYCLE BIOLOGIQUE </vt:lpstr>
      <vt:lpstr>Forme typique de la trypanosomiase T. gambiense </vt:lpstr>
      <vt:lpstr>Première période: phase lymphatico-sanguine ou phase de généralisation </vt:lpstr>
      <vt:lpstr>Présentation PowerPoint</vt:lpstr>
      <vt:lpstr>2ème période: Phase de polarisation cérébrale ou phase meningo-encéphalique </vt:lpstr>
      <vt:lpstr>Présentation PowerPoint</vt:lpstr>
      <vt:lpstr>EVOLUTION </vt:lpstr>
      <vt:lpstr>DIAGNOSTIC POSITIF et TRAITEMENT </vt:lpstr>
      <vt:lpstr>PROPHYLAXIE </vt:lpstr>
      <vt:lpstr> PARASITOSES INTESTINALES </vt:lpstr>
      <vt:lpstr>NEMATODOSES INTESTINALES</vt:lpstr>
      <vt:lpstr>ASCARIS           ANGUILLULE                    ANKYLOSTOME</vt:lpstr>
      <vt:lpstr>ASCARIDIOSE OU ASCARIDIASE </vt:lpstr>
      <vt:lpstr>Présentation PowerPoint</vt:lpstr>
      <vt:lpstr>         MODE DE CONTAMINATION - CYCLE BIOLOGIQUE </vt:lpstr>
      <vt:lpstr>Présentation PowerPoint</vt:lpstr>
      <vt:lpstr>MANIFESTATIONS CLINIQUES </vt:lpstr>
      <vt:lpstr>Présentation PowerPoint</vt:lpstr>
      <vt:lpstr>COMPLICATIONS </vt:lpstr>
      <vt:lpstr>DIAGNOSTIC </vt:lpstr>
      <vt:lpstr>TRAITEMENT</vt:lpstr>
      <vt:lpstr>PROPHYLAXIE </vt:lpstr>
      <vt:lpstr>Présentation PowerPoint</vt:lpstr>
      <vt:lpstr>ANKYLOSTOMIASE OU ANKYLOSTOMOSE </vt:lpstr>
      <vt:lpstr>DESCRIPTION DES PARASITES </vt:lpstr>
      <vt:lpstr>Présentation PowerPoint</vt:lpstr>
      <vt:lpstr>               MODE DE CONTAMINATION-CYCLE BIOLOGIQUE </vt:lpstr>
      <vt:lpstr>Présentation PowerPoint</vt:lpstr>
      <vt:lpstr>Présentation PowerPoint</vt:lpstr>
      <vt:lpstr>ANKYLOSTOME</vt:lpstr>
      <vt:lpstr>MANIFESTATIONS CLINIQUES </vt:lpstr>
      <vt:lpstr>Phase endocavitaire ou période de fixation digestive </vt:lpstr>
      <vt:lpstr>Présentation PowerPoint</vt:lpstr>
      <vt:lpstr>COMPLICATIONS et DIAGNOSTIC </vt:lpstr>
      <vt:lpstr>TRAITEMENT </vt:lpstr>
      <vt:lpstr>PROPHYLAXIE </vt:lpstr>
      <vt:lpstr>ANGUILLULOSE OU STRONGYLOÏDOSE  </vt:lpstr>
      <vt:lpstr>MODE DE CONTAMINATION-CYCLE BIOLOGIQUE </vt:lpstr>
      <vt:lpstr>CYCLE EXTERNE, ASEXUÉ-DIRECT </vt:lpstr>
      <vt:lpstr>   CYCLE EXTERNE, SEXUE, INDIRECT OU HETEROGONIQUE </vt:lpstr>
      <vt:lpstr>CYCLE INTERNE OU CYCLE D'AUTOREINFESTATION ENDOGENE </vt:lpstr>
      <vt:lpstr>ANGUILLULOSE</vt:lpstr>
      <vt:lpstr>MANIFESTATIONS CLINIQUES </vt:lpstr>
      <vt:lpstr>Présentation PowerPoint</vt:lpstr>
      <vt:lpstr>ANGUILLULOSE DISSÉMINÉE OU MALIGNE </vt:lpstr>
      <vt:lpstr>Présentation PowerPoint</vt:lpstr>
      <vt:lpstr>OXYUROSE </vt:lpstr>
      <vt:lpstr>DESCRIPTION DU PARASITE </vt:lpstr>
      <vt:lpstr>MODE DE CONTAMINATION-CYCLE BIOLOGIQUE </vt:lpstr>
      <vt:lpstr>OXYURE</vt:lpstr>
      <vt:lpstr>MANIFESTATIONS CLINIQUES </vt:lpstr>
      <vt:lpstr>DIAGNOSTIC</vt:lpstr>
      <vt:lpstr>TRAITEMENT </vt:lpstr>
      <vt:lpstr>PROPHYLAXIE</vt:lpstr>
      <vt:lpstr>RECAP: MODE DE CONTAMINATION</vt:lpstr>
      <vt:lpstr>LES CESTODOSES</vt:lpstr>
      <vt:lpstr>TENIASE A TAENIA SAGINATA </vt:lpstr>
      <vt:lpstr>Présentation PowerPoint</vt:lpstr>
      <vt:lpstr>Présentation PowerPoint</vt:lpstr>
      <vt:lpstr>MODE DE CONTAMINATION-CYCLE BIOLOGIQUE </vt:lpstr>
      <vt:lpstr>Présentation PowerPoint</vt:lpstr>
      <vt:lpstr>MANIFESTATIONS CLINIQUES </vt:lpstr>
      <vt:lpstr>DIAGNOSTIC </vt:lpstr>
      <vt:lpstr>TRAITEMENT</vt:lpstr>
      <vt:lpstr>PROPHYLAXIE </vt:lpstr>
      <vt:lpstr>TENIASE A TAENIA SOLIUM </vt:lpstr>
      <vt:lpstr>MODE DE CONTAMINATION-CYCLE BIOLOGIQUE </vt:lpstr>
      <vt:lpstr>MANIFESTATIONS CLINIQUES </vt:lpstr>
      <vt:lpstr>TENIASE A DIPHYLLOBOTRIUM LATUM OU BOTHRIOCEPHALES </vt:lpstr>
      <vt:lpstr>diphyllobotrium</vt:lpstr>
      <vt:lpstr>MODE DE CONTAMINATION &amp; CYCLE BIOLOGIQUE </vt:lpstr>
      <vt:lpstr>MANIFESTATIONS CLINIQUES </vt:lpstr>
      <vt:lpstr>Présentation PowerPoint</vt:lpstr>
      <vt:lpstr>RECAP</vt:lpstr>
      <vt:lpstr>FILARIOSE </vt:lpstr>
      <vt:lpstr>DRACUNCULOSE</vt:lpstr>
      <vt:lpstr>DRACUNCULUS MEDINENSIS</vt:lpstr>
      <vt:lpstr>Présentation PowerPoint</vt:lpstr>
      <vt:lpstr>CYCLE PARASITAIRE </vt:lpstr>
      <vt:lpstr>Présentation PowerPoint</vt:lpstr>
      <vt:lpstr>ETUDE CLINIQUE </vt:lpstr>
      <vt:lpstr>COMPLICATIONS </vt:lpstr>
      <vt:lpstr>TRAITEMENT ET PROPHYLAXIE</vt:lpstr>
      <vt:lpstr>Présentation PowerPoint</vt:lpstr>
      <vt:lpstr>L’ONCHOCERCOSE ou la cécité des rivières </vt:lpstr>
      <vt:lpstr>Présentation PowerPoint</vt:lpstr>
      <vt:lpstr>CYCLE PARASITAIRE </vt:lpstr>
      <vt:lpstr>Présentation PowerPoint</vt:lpstr>
      <vt:lpstr>ETUDE CLINIQUE </vt:lpstr>
      <vt:lpstr>Présentation PowerPoint</vt:lpstr>
      <vt:lpstr>Signes cliniques annonciateurs </vt:lpstr>
      <vt:lpstr>Examens précliniques </vt:lpstr>
      <vt:lpstr>TRAITEMENT </vt:lpstr>
      <vt:lpstr>PROPHYLAXIE </vt:lpstr>
      <vt:lpstr>Présentation PowerPoint</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SOINS INFIRMIERS DANS LES PATHOLOGIES  TROPICALES</dc:title>
  <dc:creator>M ZOH</dc:creator>
  <cp:lastModifiedBy>M ZOH</cp:lastModifiedBy>
  <cp:revision>239</cp:revision>
  <dcterms:created xsi:type="dcterms:W3CDTF">2018-05-23T17:40:05Z</dcterms:created>
  <dcterms:modified xsi:type="dcterms:W3CDTF">2022-05-06T07:34:47Z</dcterms:modified>
</cp:coreProperties>
</file>