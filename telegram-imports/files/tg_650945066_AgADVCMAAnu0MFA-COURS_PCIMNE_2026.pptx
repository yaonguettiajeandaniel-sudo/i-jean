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60" r:id="rId3"/>
    <p:sldId id="278" r:id="rId4"/>
    <p:sldId id="361" r:id="rId5"/>
    <p:sldId id="362" r:id="rId6"/>
    <p:sldId id="363" r:id="rId7"/>
    <p:sldId id="364" r:id="rId8"/>
    <p:sldId id="365" r:id="rId9"/>
    <p:sldId id="352" r:id="rId10"/>
    <p:sldId id="279" r:id="rId11"/>
    <p:sldId id="280" r:id="rId12"/>
    <p:sldId id="286" r:id="rId13"/>
    <p:sldId id="287" r:id="rId14"/>
    <p:sldId id="331" r:id="rId15"/>
    <p:sldId id="351" r:id="rId16"/>
    <p:sldId id="347" r:id="rId17"/>
    <p:sldId id="354" r:id="rId18"/>
    <p:sldId id="355" r:id="rId19"/>
    <p:sldId id="337" r:id="rId20"/>
    <p:sldId id="338" r:id="rId21"/>
    <p:sldId id="357" r:id="rId22"/>
    <p:sldId id="344" r:id="rId23"/>
    <p:sldId id="345" r:id="rId24"/>
    <p:sldId id="334" r:id="rId25"/>
    <p:sldId id="296" r:id="rId26"/>
    <p:sldId id="299" r:id="rId27"/>
    <p:sldId id="298" r:id="rId28"/>
    <p:sldId id="292" r:id="rId29"/>
    <p:sldId id="300" r:id="rId30"/>
    <p:sldId id="302" r:id="rId31"/>
    <p:sldId id="304" r:id="rId32"/>
    <p:sldId id="306" r:id="rId33"/>
    <p:sldId id="312" r:id="rId34"/>
    <p:sldId id="319" r:id="rId35"/>
    <p:sldId id="320" r:id="rId36"/>
    <p:sldId id="359" r:id="rId37"/>
    <p:sldId id="321" r:id="rId38"/>
    <p:sldId id="314" r:id="rId39"/>
    <p:sldId id="31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FFCCCC"/>
    <a:srgbClr val="EC7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2" d="100"/>
          <a:sy n="82" d="100"/>
        </p:scale>
        <p:origin x="72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F:\INVESTMENT%20CASE\Classeur1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2907774950241391"/>
          <c:y val="0.15089514949264429"/>
          <c:w val="0.79311711454169909"/>
          <c:h val="0.75768748961440835"/>
        </c:manualLayout>
      </c:layout>
      <c:ofPieChart>
        <c:ofPieType val="bar"/>
        <c:varyColors val="1"/>
        <c:ser>
          <c:idx val="0"/>
          <c:order val="0"/>
          <c:dPt>
            <c:idx val="1"/>
            <c:bubble3D val="0"/>
            <c:spPr>
              <a:solidFill>
                <a:srgbClr val="FF66CC"/>
              </a:solidFill>
            </c:spPr>
            <c:extLst>
              <c:ext xmlns:c16="http://schemas.microsoft.com/office/drawing/2014/chart" uri="{C3380CC4-5D6E-409C-BE32-E72D297353CC}">
                <c16:uniqueId val="{00000001-575A-46E8-A59E-A64A4D77414B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575A-46E8-A59E-A64A4D77414B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5-575A-46E8-A59E-A64A4D77414B}"/>
              </c:ext>
            </c:extLst>
          </c:dPt>
          <c:dPt>
            <c:idx val="4"/>
            <c:bubble3D val="0"/>
            <c:spPr>
              <a:solidFill>
                <a:schemeClr val="accent3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575A-46E8-A59E-A64A4D77414B}"/>
              </c:ext>
            </c:extLst>
          </c:dPt>
          <c:dPt>
            <c:idx val="6"/>
            <c:bubble3D val="0"/>
            <c:spPr>
              <a:solidFill>
                <a:srgbClr val="FFFF00"/>
              </a:solidFill>
            </c:spPr>
            <c:extLst>
              <c:ext xmlns:c16="http://schemas.microsoft.com/office/drawing/2014/chart" uri="{C3380CC4-5D6E-409C-BE32-E72D297353CC}">
                <c16:uniqueId val="{00000009-575A-46E8-A59E-A64A4D77414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B-575A-46E8-A59E-A64A4D77414B}"/>
              </c:ext>
            </c:extLst>
          </c:dPt>
          <c:dPt>
            <c:idx val="9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D-575A-46E8-A59E-A64A4D77414B}"/>
              </c:ext>
            </c:extLst>
          </c:dPt>
          <c:dPt>
            <c:idx val="1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575A-46E8-A59E-A64A4D77414B}"/>
              </c:ext>
            </c:extLst>
          </c:dPt>
          <c:dPt>
            <c:idx val="11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11-575A-46E8-A59E-A64A4D77414B}"/>
              </c:ext>
            </c:extLst>
          </c:dPt>
          <c:dPt>
            <c:idx val="13"/>
            <c:bubble3D val="0"/>
            <c:spPr>
              <a:solidFill>
                <a:srgbClr val="009999"/>
              </a:solidFill>
            </c:spPr>
            <c:extLst>
              <c:ext xmlns:c16="http://schemas.microsoft.com/office/drawing/2014/chart" uri="{C3380CC4-5D6E-409C-BE32-E72D297353CC}">
                <c16:uniqueId val="{00000013-575A-46E8-A59E-A64A4D77414B}"/>
              </c:ext>
            </c:extLst>
          </c:dPt>
          <c:dPt>
            <c:idx val="14"/>
            <c:bubble3D val="0"/>
            <c:spPr>
              <a:solidFill>
                <a:schemeClr val="accent5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575A-46E8-A59E-A64A4D77414B}"/>
              </c:ext>
            </c:extLst>
          </c:dPt>
          <c:dLbls>
            <c:dLbl>
              <c:idx val="1"/>
              <c:layout>
                <c:manualLayout>
                  <c:x val="6.9742478203404124E-2"/>
                  <c:y val="5.7402567788589114E-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5A-46E8-A59E-A64A4D77414B}"/>
                </c:ext>
              </c:extLst>
            </c:dLbl>
            <c:dLbl>
              <c:idx val="2"/>
              <c:layout>
                <c:manualLayout>
                  <c:x val="1.4159011373578298E-2"/>
                  <c:y val="2.569845435987166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5A-46E8-A59E-A64A4D77414B}"/>
                </c:ext>
              </c:extLst>
            </c:dLbl>
            <c:dLbl>
              <c:idx val="3"/>
              <c:layout>
                <c:manualLayout>
                  <c:x val="-8.819444444444784E-3"/>
                  <c:y val="-5.141367745698604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5A-46E8-A59E-A64A4D77414B}"/>
                </c:ext>
              </c:extLst>
            </c:dLbl>
            <c:dLbl>
              <c:idx val="4"/>
              <c:layout>
                <c:manualLayout>
                  <c:x val="3.3606736657917802E-2"/>
                  <c:y val="-3.837379702537268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5A-46E8-A59E-A64A4D77414B}"/>
                </c:ext>
              </c:extLst>
            </c:dLbl>
            <c:dLbl>
              <c:idx val="5"/>
              <c:layout>
                <c:manualLayout>
                  <c:x val="-4.2021289599152795E-3"/>
                  <c:y val="-2.05762713619469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575A-46E8-A59E-A64A4D77414B}"/>
                </c:ext>
              </c:extLst>
            </c:dLbl>
            <c:dLbl>
              <c:idx val="7"/>
              <c:layout>
                <c:manualLayout>
                  <c:x val="7.1080489938759213E-3"/>
                  <c:y val="2.8072324292796737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Asphyxie. 19%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75A-46E8-A59E-A64A4D77414B}"/>
                </c:ext>
              </c:extLst>
            </c:dLbl>
            <c:dLbl>
              <c:idx val="8"/>
              <c:layout>
                <c:manualLayout>
                  <c:x val="-1.1290296450490933E-2"/>
                  <c:y val="-8.2730818868637247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Prématurité. 29%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575A-46E8-A59E-A64A4D77414B}"/>
                </c:ext>
              </c:extLst>
            </c:dLbl>
            <c:dLbl>
              <c:idx val="9"/>
              <c:layout>
                <c:manualLayout>
                  <c:x val="2.8075459317585278E-2"/>
                  <c:y val="-3.753937007874136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Infection sévère. 23%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575A-46E8-A59E-A64A4D77414B}"/>
                </c:ext>
              </c:extLst>
            </c:dLbl>
            <c:dLbl>
              <c:idx val="10"/>
              <c:layout>
                <c:manualLayout>
                  <c:x val="2.6309393769830061E-3"/>
                  <c:y val="-1.0454964094498517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Tétanos. 12%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575A-46E8-A59E-A64A4D77414B}"/>
                </c:ext>
              </c:extLst>
            </c:dLbl>
            <c:dLbl>
              <c:idx val="11"/>
              <c:layout>
                <c:manualLayout>
                  <c:x val="1.9275651021771541E-3"/>
                  <c:y val="-6.2954423514742083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Congénital. 5%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575A-46E8-A59E-A64A4D77414B}"/>
                </c:ext>
              </c:extLst>
            </c:dLbl>
            <c:dLbl>
              <c:idx val="12"/>
              <c:layout>
                <c:manualLayout>
                  <c:x val="5.3856194367685514E-3"/>
                  <c:y val="-2.5727585156827782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Diarrhée. 6%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575A-46E8-A59E-A64A4D77414B}"/>
                </c:ext>
              </c:extLst>
            </c:dLbl>
            <c:dLbl>
              <c:idx val="13"/>
              <c:layout>
                <c:manualLayout>
                  <c:x val="9.3230533683291723E-3"/>
                  <c:y val="1.8722659667542076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Autres. 6%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575A-46E8-A59E-A64A4D77414B}"/>
                </c:ext>
              </c:extLst>
            </c:dLbl>
            <c:dLbl>
              <c:idx val="14"/>
              <c:layout>
                <c:manualLayout>
                  <c:x val="-7.9932507180748874E-2"/>
                  <c:y val="-7.08626615043306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Néonatal.33%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575A-46E8-A59E-A64A4D7741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.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MORTALITE!$E$27:$E$40</c:f>
              <c:strCache>
                <c:ptCount val="14"/>
                <c:pt idx="0">
                  <c:v>Causes MIJ</c:v>
                </c:pt>
                <c:pt idx="1">
                  <c:v>Diarrhée</c:v>
                </c:pt>
                <c:pt idx="2">
                  <c:v>Paludisme</c:v>
                </c:pt>
                <c:pt idx="3">
                  <c:v>Rougeole</c:v>
                </c:pt>
                <c:pt idx="4">
                  <c:v>Pneumonie</c:v>
                </c:pt>
                <c:pt idx="5">
                  <c:v>SIDA</c:v>
                </c:pt>
                <c:pt idx="6">
                  <c:v>Accidents</c:v>
                </c:pt>
                <c:pt idx="7">
                  <c:v>Asphyxie</c:v>
                </c:pt>
                <c:pt idx="8">
                  <c:v>Prématurité</c:v>
                </c:pt>
                <c:pt idx="9">
                  <c:v>Infection sévère</c:v>
                </c:pt>
                <c:pt idx="10">
                  <c:v>Tétanos</c:v>
                </c:pt>
                <c:pt idx="11">
                  <c:v>Congénital</c:v>
                </c:pt>
                <c:pt idx="12">
                  <c:v>Diarrhée</c:v>
                </c:pt>
                <c:pt idx="13">
                  <c:v>Autres</c:v>
                </c:pt>
              </c:strCache>
            </c:strRef>
          </c:cat>
          <c:val>
            <c:numRef>
              <c:f>MORTALITE!$F$27:$F$40</c:f>
              <c:numCache>
                <c:formatCode>0%</c:formatCode>
                <c:ptCount val="14"/>
                <c:pt idx="1">
                  <c:v>0.15000000000000024</c:v>
                </c:pt>
                <c:pt idx="2">
                  <c:v>0.21000000000000021</c:v>
                </c:pt>
                <c:pt idx="3">
                  <c:v>3.0000000000000433E-2</c:v>
                </c:pt>
                <c:pt idx="4">
                  <c:v>0.2</c:v>
                </c:pt>
                <c:pt idx="5">
                  <c:v>6.0000000000000817E-2</c:v>
                </c:pt>
                <c:pt idx="6">
                  <c:v>2.0000000000000052E-2</c:v>
                </c:pt>
                <c:pt idx="7">
                  <c:v>6.270000000000113E-2</c:v>
                </c:pt>
                <c:pt idx="8">
                  <c:v>9.5700000000000743E-2</c:v>
                </c:pt>
                <c:pt idx="9">
                  <c:v>7.5900000000000134E-2</c:v>
                </c:pt>
                <c:pt idx="10">
                  <c:v>3.9599999999999996E-2</c:v>
                </c:pt>
                <c:pt idx="11">
                  <c:v>1.6500000000000344E-2</c:v>
                </c:pt>
                <c:pt idx="12">
                  <c:v>1.9800000000000369E-2</c:v>
                </c:pt>
                <c:pt idx="13">
                  <c:v>1.9799999999999998E-2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75A-46E8-A59E-A64A4D7741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plitType val="pos"/>
        <c:splitPos val="7"/>
        <c:secondPieSize val="75"/>
        <c:serLines/>
      </c:ofPieChart>
      <c:spPr>
        <a:scene3d>
          <a:camera prst="orthographicFront"/>
          <a:lightRig rig="threePt" dir="t"/>
        </a:scene3d>
        <a:sp3d>
          <a:bevelT w="6350"/>
        </a:sp3d>
      </c:spPr>
    </c:plotArea>
    <c:plotVisOnly val="1"/>
    <c:dispBlanksAs val="zero"/>
    <c:showDLblsOverMax val="0"/>
  </c:chart>
  <c:spPr>
    <a:gradFill>
      <a:gsLst>
        <a:gs pos="0">
          <a:srgbClr val="9BBB59">
            <a:lumMod val="75000"/>
          </a:srgbClr>
        </a:gs>
        <a:gs pos="39999">
          <a:srgbClr val="85C2FF"/>
        </a:gs>
        <a:gs pos="70000">
          <a:srgbClr val="C4D6EB"/>
        </a:gs>
        <a:gs pos="100000">
          <a:srgbClr val="FFEBFA"/>
        </a:gs>
      </a:gsLst>
      <a:lin ang="600000" scaled="0"/>
    </a:gradFill>
    <a:ln>
      <a:noFill/>
    </a:ln>
    <a:scene3d>
      <a:camera prst="orthographicFront"/>
      <a:lightRig rig="chilly" dir="t"/>
    </a:scene3d>
    <a:sp3d>
      <a:bevelT w="44450"/>
    </a:sp3d>
  </c:spPr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0.2153</cdr:x>
      <cdr:y>0</cdr:y>
    </cdr:from>
    <cdr:to>
      <cdr:x>0.93739</cdr:x>
      <cdr:y>0.08257</cdr:y>
    </cdr:to>
    <cdr:sp macro="" textlink="">
      <cdr:nvSpPr>
        <cdr:cNvPr id="2" name="ZoneTexte 1"/>
        <cdr:cNvSpPr txBox="1"/>
      </cdr:nvSpPr>
      <cdr:spPr>
        <a:xfrm xmlns:a="http://schemas.openxmlformats.org/drawingml/2006/main">
          <a:off x="1837438" y="0"/>
          <a:ext cx="6162418" cy="4934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fr-FR" sz="1800" b="1" i="1" u="sng" dirty="0">
              <a:solidFill>
                <a:schemeClr val="accent6">
                  <a:lumMod val="50000"/>
                </a:schemeClr>
              </a:solidFill>
              <a:latin typeface="+mn-lt"/>
              <a:ea typeface="+mn-ea"/>
              <a:cs typeface="+mn-cs"/>
            </a:rPr>
            <a:t>Principales causes de mortalité infantile et néonatale</a:t>
          </a:r>
          <a:endParaRPr lang="fr-FR" sz="1800" b="1" i="1" u="sng" dirty="0">
            <a:solidFill>
              <a:schemeClr val="accent6">
                <a:lumMod val="50000"/>
              </a:schemeClr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02A7D-4588-4CA3-B353-C194E3E2B475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F06EF-95B6-4F85-8B4E-ACF48E30F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37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108A9E3-8081-9538-EE3D-E41BD5728B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AEB89C-D9B8-48C3-BAF7-E61403A3D801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08D798F-862F-0D4F-7235-FDC514B38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B7487421-AAF1-8C39-FA8C-DCD9528E3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6A59EF8-F78C-6707-B5B8-F9285EAF4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E4CBDE-37E1-4BC5-9062-B8249639BF8B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7CB8A18-76DA-1DEE-D276-A7AC5DCB0A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ED8C5A2-4259-4ACE-8423-957C26920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>
            <a:extLst>
              <a:ext uri="{FF2B5EF4-FFF2-40B4-BE49-F238E27FC236}">
                <a16:creationId xmlns:a16="http://schemas.microsoft.com/office/drawing/2014/main" id="{55F96A4E-1645-8983-CD65-C2C473658D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ce réservé des commentaires 2">
            <a:extLst>
              <a:ext uri="{FF2B5EF4-FFF2-40B4-BE49-F238E27FC236}">
                <a16:creationId xmlns:a16="http://schemas.microsoft.com/office/drawing/2014/main" id="{140AA957-605E-7AD8-6221-A2F8029D95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32772" name="Espace réservé du numéro de diapositive 3">
            <a:extLst>
              <a:ext uri="{FF2B5EF4-FFF2-40B4-BE49-F238E27FC236}">
                <a16:creationId xmlns:a16="http://schemas.microsoft.com/office/drawing/2014/main" id="{E232285E-6D38-EA05-44E8-1CF213236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E74C4A-506A-4B8D-BD12-C7673130E658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4EFCCD6-086A-10FF-949D-138B706AEA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D0C0E4-A6ED-4C44-8934-F467A14730D0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7354ABE-6FD9-0B87-A30F-9568F047E2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C909274-9E65-896B-140B-14253E5DD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D241AF9-9F33-431D-9920-8B81FCE53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12D0E8-1BAE-40E9-94D7-2AF24A494540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84F1143-632A-C6A9-D604-DA1440F30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6575"/>
            <a:ext cx="5029200" cy="3851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4962" tIns="46648" rIns="94962" bIns="4664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fr-FR"/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116DE3B-22FE-A821-D543-90D6675E88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87463" y="795338"/>
            <a:ext cx="4278312" cy="3208337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11BB2E0F-E060-2188-F9AC-25E1339C5E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D1C579-F953-4A9C-BEEE-A18ADC24526F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C37539D-C7F0-DE34-4EDE-DCBCEFA0A0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31EA05E-13D3-F5B8-D878-80DEA49EB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058981C-9C17-8337-5F46-1E7CA4598D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A76F8D-F582-4958-ADDA-609B2BD24810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30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E46743F-6B17-077B-013D-839AB1160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9797267-6A62-8F34-24AD-3B11E47FB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B613B2D-BF8A-E99A-69C2-BF6E6B3DEF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5DAFBF-8209-447B-8319-0886A4B616CF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DA08E62-609F-4112-9E07-DAE0F94990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766A445-E44F-6563-246F-06E112E5F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11AE3A7-2B85-CBFE-4A03-8536670E41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E31425-93C9-426A-9DEE-0EF34B278CE5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F2301F7-5A8C-22BE-0FA6-35C965C33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A68D8E2-2E90-E267-61E3-83C193FD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8911C60D-CDF9-5930-FEFE-1311538C1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2186B3-BFC3-4FE4-B6D0-F1D42FDB51BD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F7336F5D-4F35-578A-7BC8-732A6C8D24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88E1460F-3218-9812-1595-71539D2E1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26A0092A-5905-01C9-581A-5CC0204E8B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452B2D-F39E-46CA-93B8-3124F19F3059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188D3CA-1787-6AED-B30C-AC2C00EA3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ABA75C0E-FB81-7105-EDC5-A24B96CEF6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1740F77F-B11B-2555-7A18-F517DB369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8F0C7C-AE42-46C2-A007-4E78D8D2017E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D864DDA-24D4-29DC-EF63-A600428847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D03FF17F-819A-D458-D513-5F60AA643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4755EFEB-507F-D4DA-D85D-2878667A98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E9AC10-40FA-4A25-9B0E-9607682D609F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2BBC93B-18CA-CADA-2DAC-091724A2D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6DAA413-85EE-C4A6-5806-494407B20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D0805391-F685-4E1C-7DB2-5960BE51B5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2CFECD-75FF-46D3-8566-AD968AC05616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D3A868A-077E-2D74-71D0-B31CEEBE0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D5AA64C-DD99-AEA0-9F43-2C4BE5267F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4C1076A-9F29-B5A2-34B4-DDF2ECDCA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CFC7C6-D533-44D3-A01B-C19FD51BB986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284AEFD-AD5F-5AB8-91CE-85315515C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DD79664-6E07-70CC-17C8-2DA1D10FA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828E480-D56C-86ED-5C66-A03123DCF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6A3CDB-46DC-4F72-A960-D1027BB344FB}" type="slidenum">
              <a:rPr lang="fr-FR" altLang="fr-F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8A044228-F0FD-9153-5C99-545FC55984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8BFFD31-2279-54A0-1C91-92B6CB00A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'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6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8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5230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35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2B3882-3DD3-03E6-B4AF-D6713D4F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A765E-153A-447E-BB3E-9289EDD87315}" type="datetimeFigureOut">
              <a:rPr lang="fr-FR"/>
              <a:pPr>
                <a:defRPr/>
              </a:pPr>
              <a:t>30/06/2026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F4566F-6D14-B2F8-3A75-584B1A01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F2035E-D866-EBDA-4911-C385975F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D14E1-D914-4334-B57F-0E1BB661345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8744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3D95701F-9709-124E-7418-0BCBDF1B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41F1A-186F-432E-8E8B-623EA210BE5E}" type="datetimeFigureOut">
              <a:rPr lang="fr-FR"/>
              <a:pPr>
                <a:defRPr/>
              </a:pPr>
              <a:t>30/06/2026</a:t>
            </a:fld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E05AFE38-5BC2-F95F-E857-7707AC03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E91954A9-FBC0-6271-3985-BE27E7AD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C8A58-D746-4E2D-B9ED-711D1542F48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2006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28266E-4EDE-E2D3-F521-9CD8E0759E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DD36C0-FAF8-2E40-B596-CC87EB76D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CE95488E-32B2-9F9D-3225-E54D2CEBD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3D174-5276-4F2C-99C8-3301816519A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875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66337" y="773722"/>
            <a:ext cx="10317480" cy="81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-2068" y="6628503"/>
            <a:ext cx="12204000" cy="252000"/>
          </a:xfrm>
          <a:prstGeom prst="rect">
            <a:avLst/>
          </a:prstGeom>
          <a:solidFill>
            <a:srgbClr val="00B050"/>
          </a:solidFill>
          <a:ln w="12700" cmpd="sng">
            <a:solidFill>
              <a:srgbClr val="00B050"/>
            </a:solidFill>
          </a:ln>
        </p:spPr>
        <p:txBody>
          <a:bodyPr wrap="square" tIns="0" bIns="0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 dirty="0">
              <a:solidFill>
                <a:schemeClr val="bg1"/>
              </a:solidFill>
              <a:latin typeface="Arial Black" pitchFamily="34" charset="0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 err="1">
                <a:solidFill>
                  <a:schemeClr val="bg1"/>
                </a:solidFill>
                <a:latin typeface="Arial Black" pitchFamily="34" charset="0"/>
              </a:rPr>
              <a:t>Blvd</a:t>
            </a:r>
            <a:r>
              <a:rPr lang="fr-FR" sz="1400" dirty="0">
                <a:solidFill>
                  <a:schemeClr val="bg1"/>
                </a:solidFill>
                <a:latin typeface="Arial Black" pitchFamily="34" charset="0"/>
              </a:rPr>
              <a:t> de Marseille, 18 BP 720 Abidjan 18, Tel.: (225) 21005660 / 21001906 – Email: info@infas.ci – site web: www.infas.ci</a:t>
            </a:r>
          </a:p>
        </p:txBody>
      </p:sp>
      <p:sp>
        <p:nvSpPr>
          <p:cNvPr id="8" name="ZoneTexte 7"/>
          <p:cNvSpPr txBox="1"/>
          <p:nvPr userDrawn="1"/>
        </p:nvSpPr>
        <p:spPr>
          <a:xfrm>
            <a:off x="0" y="6274189"/>
            <a:ext cx="12192000" cy="307777"/>
          </a:xfrm>
          <a:prstGeom prst="rect">
            <a:avLst/>
          </a:prstGeom>
          <a:solidFill>
            <a:srgbClr val="EC7320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bg1"/>
                </a:solidFill>
                <a:latin typeface="Arial Black" pitchFamily="34" charset="0"/>
              </a:rPr>
              <a:t>INSTITUT NATIONAL DE FORMATION DES AGENTS DE SANTE - INFAS </a:t>
            </a:r>
          </a:p>
        </p:txBody>
      </p:sp>
      <p:pic>
        <p:nvPicPr>
          <p:cNvPr id="9" name="Image 8" descr="b"/>
          <p:cNvPicPr/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068" y="20791"/>
            <a:ext cx="928467" cy="88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 9" descr="Résultat de recherche d'images pour &quot;logo mshp&quot;"/>
          <p:cNvPicPr/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1029070" y="33240"/>
            <a:ext cx="1148861" cy="88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398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0618" y="4808553"/>
            <a:ext cx="10075070" cy="812800"/>
          </a:xfrm>
        </p:spPr>
        <p:txBody>
          <a:bodyPr>
            <a:normAutofit/>
          </a:bodyPr>
          <a:lstStyle/>
          <a:p>
            <a:r>
              <a:rPr lang="en-US" sz="3200" dirty="0" err="1"/>
              <a:t>Informations</a:t>
            </a:r>
            <a:r>
              <a:rPr lang="en-US" sz="3200" dirty="0"/>
              <a:t> sur les Auteurs (</a:t>
            </a:r>
            <a:r>
              <a:rPr lang="en-US" sz="3200" dirty="0" err="1"/>
              <a:t>Titre</a:t>
            </a:r>
            <a:r>
              <a:rPr lang="en-US" sz="3200" dirty="0"/>
              <a:t>, Nom, </a:t>
            </a:r>
            <a:r>
              <a:rPr lang="en-US" sz="3200"/>
              <a:t>Diplôme</a:t>
            </a:r>
            <a:r>
              <a:rPr lang="en-US" sz="3200" dirty="0"/>
              <a:t> etc.)</a:t>
            </a:r>
          </a:p>
        </p:txBody>
      </p:sp>
      <p:sp>
        <p:nvSpPr>
          <p:cNvPr id="4" name="Titre 5">
            <a:extLst>
              <a:ext uri="{FF2B5EF4-FFF2-40B4-BE49-F238E27FC236}">
                <a16:creationId xmlns:a16="http://schemas.microsoft.com/office/drawing/2014/main" id="{CE5792DB-C530-45D2-B903-0EEB26F09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43047"/>
            <a:ext cx="9143999" cy="2357454"/>
          </a:xfrm>
          <a:solidFill>
            <a:srgbClr val="D9D9D9"/>
          </a:solidFill>
          <a:ln w="76200" cap="flat">
            <a:solidFill>
              <a:schemeClr val="accent1"/>
            </a:solidFill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>
            <a:normAutofit fontScale="90000"/>
          </a:bodyPr>
          <a:lstStyle/>
          <a:p>
            <a:br>
              <a:rPr lang="fr-FR" altLang="fr-FR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</a:br>
            <a:r>
              <a:rPr lang="fr-FR" altLang="fr-FR" sz="4000" b="1" dirty="0">
                <a:solidFill>
                  <a:srgbClr val="FF0000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TITRE DU COURS</a:t>
            </a:r>
            <a:r>
              <a:rPr lang="fr-FR" altLang="fr-FR" sz="3100" b="1" dirty="0">
                <a:solidFill>
                  <a:srgbClr val="FF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  <a:t> </a:t>
            </a:r>
            <a:br>
              <a:rPr lang="fr-FR" altLang="fr-FR" sz="3100" b="1" dirty="0">
                <a:solidFill>
                  <a:srgbClr val="FF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</a:br>
            <a:br>
              <a:rPr lang="fr-FR" altLang="fr-FR" sz="3100" b="1" dirty="0">
                <a:solidFill>
                  <a:srgbClr val="FF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</a:br>
            <a:r>
              <a:rPr lang="fr-FR" altLang="fr-FR" sz="3100" b="1" dirty="0">
                <a:solidFill>
                  <a:srgbClr val="00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  <a:t>Filière, Année d’étude, Semestre etc.</a:t>
            </a:r>
            <a:br>
              <a:rPr lang="fr-FR" altLang="fr-FR" sz="3100" b="1" dirty="0">
                <a:solidFill>
                  <a:srgbClr val="FFFFFF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</a:br>
            <a:endParaRPr lang="fr-FR" altLang="fr-FR" sz="3100" b="1" dirty="0">
              <a:solidFill>
                <a:srgbClr val="FFFFFF"/>
              </a:solidFill>
              <a:latin typeface="Comic Sans MS" panose="030F0702030302020204" pitchFamily="66" charset="0"/>
              <a:ea typeface="Arial Black" pitchFamily="34" charset="0"/>
              <a:cs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96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>
            <a:extLst>
              <a:ext uri="{FF2B5EF4-FFF2-40B4-BE49-F238E27FC236}">
                <a16:creationId xmlns:a16="http://schemas.microsoft.com/office/drawing/2014/main" id="{27167FF4-7E43-CC19-D3CF-BC2E9CD8A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690" y="1017037"/>
            <a:ext cx="10254343" cy="2626276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fr-FR" altLang="fr-FR" dirty="0">
                <a:solidFill>
                  <a:schemeClr val="bg2"/>
                </a:solidFill>
              </a:rPr>
              <a:t>GENERALITES SUR LA PCIMNE</a:t>
            </a:r>
          </a:p>
        </p:txBody>
      </p:sp>
      <p:sp>
        <p:nvSpPr>
          <p:cNvPr id="4099" name="Sous-titre 2">
            <a:extLst>
              <a:ext uri="{FF2B5EF4-FFF2-40B4-BE49-F238E27FC236}">
                <a16:creationId xmlns:a16="http://schemas.microsoft.com/office/drawing/2014/main" id="{A91BEB92-4F0A-1FE1-2216-A696FE8F7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4125" y="4643438"/>
            <a:ext cx="7429500" cy="18288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fr-FR" altLang="fr-FR" sz="2800">
                <a:latin typeface="Arial" panose="020B0604020202020204" pitchFamily="34" charset="0"/>
                <a:cs typeface="Arial" panose="020B0604020202020204" pitchFamily="34" charset="0"/>
              </a:rPr>
              <a:t>OUATTARA AISSA EPOUSE KOUADIO</a:t>
            </a:r>
          </a:p>
          <a:p>
            <a:pPr>
              <a:spcBef>
                <a:spcPct val="0"/>
              </a:spcBef>
            </a:pPr>
            <a:endParaRPr lang="fr-FR" altLang="fr-FR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>
            <a:extLst>
              <a:ext uri="{FF2B5EF4-FFF2-40B4-BE49-F238E27FC236}">
                <a16:creationId xmlns:a16="http://schemas.microsoft.com/office/drawing/2014/main" id="{D52F930E-CBDB-9BDD-C26D-C53213AD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950" y="1"/>
            <a:ext cx="9036050" cy="1052513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(1/2)</a:t>
            </a:r>
          </a:p>
        </p:txBody>
      </p:sp>
      <p:sp>
        <p:nvSpPr>
          <p:cNvPr id="6147" name="Sous-titre 2">
            <a:extLst>
              <a:ext uri="{FF2B5EF4-FFF2-40B4-BE49-F238E27FC236}">
                <a16:creationId xmlns:a16="http://schemas.microsoft.com/office/drawing/2014/main" id="{A15141B4-7A31-13EF-ECA7-FDD2DEA3B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6976"/>
            <a:ext cx="9144000" cy="5661025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q"/>
              <a:defRPr/>
            </a:pPr>
            <a:r>
              <a:rPr lang="fr-FR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Constat du taux élevé de la mortalité chez les moins de 5 ans; </a:t>
            </a:r>
          </a:p>
          <a:p>
            <a:pPr algn="l" eaLnBrk="1" hangingPunct="1">
              <a:buFont typeface="Wingdings" panose="05000000000000000000" pitchFamily="2" charset="2"/>
              <a:buChar char="q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70% des décès chez l’enfant de moins de 5 ans :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affections néonatales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Paludisme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Infections respiratoires aigue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Diarrhée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Rougeole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VIH /Sida </a:t>
            </a:r>
          </a:p>
          <a:p>
            <a:pPr marL="457200" indent="-457200" algn="l">
              <a:buFont typeface="Wingdings" panose="05000000000000000000" pitchFamily="2" charset="2"/>
              <a:buChar char="ü"/>
              <a:defRPr/>
            </a:pPr>
            <a:r>
              <a:rPr lang="fr-BE" altLang="fr-FR" sz="2800" dirty="0">
                <a:latin typeface="Arial" panose="020B0604020202020204" pitchFamily="34" charset="0"/>
                <a:cs typeface="Arial" panose="020B0604020202020204" pitchFamily="34" charset="0"/>
              </a:rPr>
              <a:t>malnutrition</a:t>
            </a:r>
            <a:endParaRPr lang="fr-FR" alt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>
            <a:extLst>
              <a:ext uri="{FF2B5EF4-FFF2-40B4-BE49-F238E27FC236}">
                <a16:creationId xmlns:a16="http://schemas.microsoft.com/office/drawing/2014/main" id="{8DFD0414-3C92-B38B-7000-6AFCC6661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036050" cy="76517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fr-FR" altLang="fr-FR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(2/2)</a:t>
            </a:r>
          </a:p>
        </p:txBody>
      </p:sp>
      <p:sp>
        <p:nvSpPr>
          <p:cNvPr id="6147" name="Sous-titre 2">
            <a:extLst>
              <a:ext uri="{FF2B5EF4-FFF2-40B4-BE49-F238E27FC236}">
                <a16:creationId xmlns:a16="http://schemas.microsoft.com/office/drawing/2014/main" id="{BF7E69DC-C501-3C85-724F-9CCC5D24A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65176"/>
            <a:ext cx="9144000" cy="6092825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Stratégie née à la conférence mondiale de l’enfance à New York en 1990;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Constat du taux élevé de la mortalité chez les moins de 5 ans; 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OMS et UNICEF responsabilisés pour proposer des approches pour réduire de 50 % le taux de </a:t>
            </a:r>
            <a:r>
              <a:rPr lang="fr-FR" altLang="fr-FR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fr-FR" altLang="fr-FR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fr-F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mortalité à l’an 2000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dans les Objectifs Du Millénaire (ODM) la réduction de la mortalité des enfants de moins de 5 ans; </a:t>
            </a:r>
            <a:endParaRPr lang="fr-FR" altLang="fr-FR" sz="2800"/>
          </a:p>
          <a:p>
            <a:pPr algn="just" eaLnBrk="1" hangingPunct="1"/>
            <a:endParaRPr lang="fr-FR" altLang="fr-FR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>
            <a:extLst>
              <a:ext uri="{FF2B5EF4-FFF2-40B4-BE49-F238E27FC236}">
                <a16:creationId xmlns:a16="http://schemas.microsoft.com/office/drawing/2014/main" id="{374041FC-F00D-D261-FB61-980F214CD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142875"/>
            <a:ext cx="8613418" cy="1214438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OBJECTIF GENERAL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9B65A4-1A3E-41DA-3D4C-ED2772D38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850" y="1643064"/>
            <a:ext cx="8496300" cy="2643187"/>
          </a:xfrm>
        </p:spPr>
        <p:txBody>
          <a:bodyPr/>
          <a:lstStyle/>
          <a:p>
            <a:pPr algn="just"/>
            <a:r>
              <a:rPr lang="fr-FR" altLang="fr-FR" sz="4800"/>
              <a:t>Ce cours vise à faire connaitre la PCIMNE</a:t>
            </a:r>
          </a:p>
          <a:p>
            <a:pPr algn="just"/>
            <a:endParaRPr lang="fr-FR" altLang="fr-FR" sz="4800" b="1"/>
          </a:p>
          <a:p>
            <a:pPr algn="just"/>
            <a:endParaRPr lang="fr-FR" altLang="fr-FR" sz="4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>
            <a:extLst>
              <a:ext uri="{FF2B5EF4-FFF2-40B4-BE49-F238E27FC236}">
                <a16:creationId xmlns:a16="http://schemas.microsoft.com/office/drawing/2014/main" id="{76FA8215-601C-6B25-FA2B-AA2B356A1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0"/>
            <a:ext cx="10235682" cy="1643064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fr-FR" altLang="fr-FR" dirty="0">
                <a:solidFill>
                  <a:schemeClr val="bg1"/>
                </a:solidFill>
              </a:rPr>
              <a:t>OBJECTIFS SPECIFIQUES(1/2)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2E219D-5DA7-1635-E7C2-0E423EE06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539" y="1643064"/>
            <a:ext cx="11094097" cy="4954587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fr-FR" altLang="fr-FR" sz="3600" dirty="0"/>
              <a:t>A la fin de la séance , vous devez être capable de :</a:t>
            </a:r>
            <a:endParaRPr lang="fr-FR" sz="3600" dirty="0"/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fr-FR" sz="3600" dirty="0"/>
              <a:t>Donner la définition  de la PCIMNE selon le cours</a:t>
            </a:r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fr-FR" sz="3600" dirty="0"/>
              <a:t>Citer toutes les maladies cibles de la PCIMNE</a:t>
            </a:r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fr-FR" sz="3600" dirty="0"/>
              <a:t>Enumérer toutes les stratégies de la PCIMNE</a:t>
            </a:r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fr-FR" sz="3600" dirty="0"/>
              <a:t> Décrire l’objectif de la PCIMNE en s’appuyant sur les trois composantes</a:t>
            </a:r>
          </a:p>
          <a:p>
            <a:pPr algn="l">
              <a:defRPr/>
            </a:pPr>
            <a:endParaRPr lang="fr-FR" sz="3600" dirty="0"/>
          </a:p>
          <a:p>
            <a:pPr algn="just">
              <a:defRPr/>
            </a:pPr>
            <a:endParaRPr lang="fr-FR" sz="3600" dirty="0"/>
          </a:p>
          <a:p>
            <a:pPr algn="just">
              <a:defRPr/>
            </a:pPr>
            <a:endParaRPr lang="fr-F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>
            <a:extLst>
              <a:ext uri="{FF2B5EF4-FFF2-40B4-BE49-F238E27FC236}">
                <a16:creationId xmlns:a16="http://schemas.microsoft.com/office/drawing/2014/main" id="{E908B844-C5D1-C33A-A3B6-FBDEC00FA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302" y="0"/>
            <a:ext cx="9825135" cy="1643064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fr-FR" altLang="fr-FR" dirty="0">
                <a:solidFill>
                  <a:schemeClr val="bg1"/>
                </a:solidFill>
              </a:rPr>
              <a:t>OBJECTIFS SPECIFIQUES(2/2)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7C4B159-D03B-69E3-6E73-78D4F009A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43064"/>
            <a:ext cx="9144000" cy="4429125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fr-FR" altLang="fr-FR" sz="3600"/>
              <a:t>5. Citer tous les principes de la PCIMNE</a:t>
            </a:r>
          </a:p>
          <a:p>
            <a:pPr algn="just">
              <a:lnSpc>
                <a:spcPct val="150000"/>
              </a:lnSpc>
            </a:pPr>
            <a:r>
              <a:rPr lang="fr-FR" altLang="fr-FR" sz="3600"/>
              <a:t>6. Citer les cinq signes généraux de dangers</a:t>
            </a:r>
          </a:p>
          <a:p>
            <a:pPr algn="just">
              <a:lnSpc>
                <a:spcPct val="150000"/>
              </a:lnSpc>
            </a:pPr>
            <a:r>
              <a:rPr lang="fr-FR" altLang="fr-FR" sz="3600"/>
              <a:t>7. Décrire les trois fiches de prise en charge</a:t>
            </a:r>
          </a:p>
          <a:p>
            <a:pPr algn="just">
              <a:lnSpc>
                <a:spcPct val="150000"/>
              </a:lnSpc>
            </a:pPr>
            <a:r>
              <a:rPr lang="fr-FR" altLang="fr-FR" sz="3600">
                <a:cs typeface="Tahoma" panose="020B0604030504040204" pitchFamily="34" charset="0"/>
              </a:rPr>
              <a:t>8. Décrire la procédure de la prise en charge de </a:t>
            </a:r>
            <a:br>
              <a:rPr lang="fr-FR" altLang="fr-FR" sz="3600">
                <a:cs typeface="Tahoma" panose="020B0604030504040204" pitchFamily="34" charset="0"/>
              </a:rPr>
            </a:br>
            <a:r>
              <a:rPr lang="fr-FR" altLang="fr-FR" sz="3600">
                <a:cs typeface="Tahoma" panose="020B0604030504040204" pitchFamily="34" charset="0"/>
              </a:rPr>
              <a:t>l’enfant malade</a:t>
            </a:r>
            <a:endParaRPr lang="fr-FR" altLang="fr-FR" sz="3600"/>
          </a:p>
          <a:p>
            <a:pPr algn="l">
              <a:lnSpc>
                <a:spcPct val="150000"/>
              </a:lnSpc>
            </a:pPr>
            <a:endParaRPr lang="fr-FR" altLang="fr-FR" sz="3600"/>
          </a:p>
          <a:p>
            <a:pPr algn="just">
              <a:lnSpc>
                <a:spcPct val="150000"/>
              </a:lnSpc>
            </a:pPr>
            <a:endParaRPr lang="fr-FR" altLang="fr-FR" sz="3600"/>
          </a:p>
          <a:p>
            <a:pPr algn="just">
              <a:lnSpc>
                <a:spcPct val="150000"/>
              </a:lnSpc>
            </a:pPr>
            <a:endParaRPr lang="fr-FR" altLang="fr-FR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>
            <a:extLst>
              <a:ext uri="{FF2B5EF4-FFF2-40B4-BE49-F238E27FC236}">
                <a16:creationId xmlns:a16="http://schemas.microsoft.com/office/drawing/2014/main" id="{62B5C4C2-70CB-AFC3-92A5-EC7541B45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142875"/>
            <a:ext cx="7772400" cy="1214438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PLAN DU COURS</a:t>
            </a:r>
          </a:p>
        </p:txBody>
      </p:sp>
      <p:sp>
        <p:nvSpPr>
          <p:cNvPr id="10243" name="Sous-titre 2">
            <a:extLst>
              <a:ext uri="{FF2B5EF4-FFF2-40B4-BE49-F238E27FC236}">
                <a16:creationId xmlns:a16="http://schemas.microsoft.com/office/drawing/2014/main" id="{5FB276CE-25F7-6511-451C-D88104C2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43064"/>
            <a:ext cx="9144000" cy="5214937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 b="1">
                <a:solidFill>
                  <a:schemeClr val="tx1"/>
                </a:solidFill>
              </a:rPr>
              <a:t> </a:t>
            </a:r>
            <a:r>
              <a:rPr lang="fr-FR" altLang="fr-FR">
                <a:solidFill>
                  <a:schemeClr val="tx1"/>
                </a:solidFill>
                <a:latin typeface="Arial Rounded MT Bold" panose="020F0704030504030204" pitchFamily="34" charset="0"/>
              </a:rPr>
              <a:t>Historique de la PCIMNE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 Rounded MT Bold" panose="020F0704030504030204" pitchFamily="34" charset="0"/>
              </a:rPr>
              <a:t>Définition du sigle PCIMNE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 Rounded MT Bold" panose="020F0704030504030204" pitchFamily="34" charset="0"/>
              </a:rPr>
              <a:t>Concept de la PCIMNE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endParaRPr lang="fr-FR" altLang="fr-FR" sz="700">
              <a:latin typeface="Arial Rounded MT Bold" panose="020F0704030504030204" pitchFamily="34" charset="0"/>
            </a:endParaRP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 Rounded MT Bold" panose="020F0704030504030204" pitchFamily="34" charset="0"/>
              </a:rPr>
              <a:t>Objectifs de la PCIMNE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 Rounded MT Bold" panose="020F0704030504030204" pitchFamily="34" charset="0"/>
              </a:rPr>
              <a:t>Justification  la PCIMNE </a:t>
            </a:r>
          </a:p>
          <a:p>
            <a:pPr algn="l" eaLnBrk="1" hangingPunct="1">
              <a:buFont typeface="Wingdings" panose="05000000000000000000" pitchFamily="2" charset="2"/>
              <a:buChar char="q"/>
            </a:pPr>
            <a:endParaRPr lang="fr-FR" altLang="fr-FR" sz="700">
              <a:latin typeface="Arial Rounded MT Bold" panose="020F0704030504030204" pitchFamily="34" charset="0"/>
            </a:endParaRPr>
          </a:p>
          <a:p>
            <a:pPr algn="l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  <a:latin typeface="Arial Rounded MT Bold" panose="020F0704030504030204" pitchFamily="34" charset="0"/>
              </a:rPr>
              <a:t>Principes de base de la PCIMNE</a:t>
            </a:r>
          </a:p>
          <a:p>
            <a:pPr algn="just" eaLnBrk="1" hangingPunct="1"/>
            <a:endParaRPr lang="fr-FR" altLang="fr-FR" sz="2800"/>
          </a:p>
          <a:p>
            <a:pPr algn="just" eaLnBrk="1" hangingPunct="1"/>
            <a:endParaRPr lang="fr-FR" altLang="fr-FR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>
            <a:extLst>
              <a:ext uri="{FF2B5EF4-FFF2-40B4-BE49-F238E27FC236}">
                <a16:creationId xmlns:a16="http://schemas.microsoft.com/office/drawing/2014/main" id="{F379EDE0-8DF9-3635-BB88-D4D45D53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5888"/>
            <a:ext cx="9144000" cy="1009650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br>
              <a:rPr lang="fr-FR" altLang="fr-FR" sz="440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fr-FR" altLang="fr-FR" sz="4400">
                <a:solidFill>
                  <a:schemeClr val="bg1"/>
                </a:solidFill>
                <a:latin typeface="Arial Rounded MT Bold" panose="020F0704030504030204" pitchFamily="34" charset="0"/>
              </a:rPr>
              <a:t>DÉFINITION DU SIGLE PCIMNE</a:t>
            </a:r>
            <a:br>
              <a:rPr lang="fr-FR" altLang="fr-FR" sz="440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fr-CA" altLang="fr-FR" sz="440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C8C98B-6DB7-68D6-E3AB-BD4AC9248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9" y="1125538"/>
            <a:ext cx="10195249" cy="5732462"/>
          </a:xfrm>
        </p:spPr>
        <p:txBody>
          <a:bodyPr/>
          <a:lstStyle/>
          <a:p>
            <a:pPr marL="0" indent="0">
              <a:buNone/>
              <a:defRPr/>
            </a:pPr>
            <a:endParaRPr lang="fr-CA" sz="4400" dirty="0"/>
          </a:p>
          <a:p>
            <a:pPr marL="0" indent="0">
              <a:buNone/>
              <a:defRPr/>
            </a:pPr>
            <a:r>
              <a:rPr lang="fr-CA" sz="4400" b="1" dirty="0"/>
              <a:t>P</a:t>
            </a:r>
            <a:r>
              <a:rPr lang="fr-CA" sz="4400" dirty="0"/>
              <a:t>rise en </a:t>
            </a:r>
            <a:r>
              <a:rPr lang="fr-CA" sz="4400" b="1" dirty="0"/>
              <a:t>C</a:t>
            </a:r>
            <a:r>
              <a:rPr lang="fr-CA" sz="4400" dirty="0"/>
              <a:t>harge </a:t>
            </a:r>
            <a:r>
              <a:rPr lang="fr-CA" sz="4400" b="1" dirty="0"/>
              <a:t>I</a:t>
            </a:r>
            <a:r>
              <a:rPr lang="fr-CA" sz="4400" dirty="0"/>
              <a:t>ntégrée des </a:t>
            </a:r>
            <a:r>
              <a:rPr lang="fr-CA" sz="4400" b="1" dirty="0"/>
              <a:t>M</a:t>
            </a:r>
            <a:r>
              <a:rPr lang="fr-CA" sz="4400" dirty="0"/>
              <a:t>aladies </a:t>
            </a:r>
            <a:r>
              <a:rPr lang="fr-CA" sz="4400" b="1" dirty="0"/>
              <a:t>N</a:t>
            </a:r>
            <a:r>
              <a:rPr lang="fr-CA" sz="4400" dirty="0"/>
              <a:t>ouveau-né et de l’</a:t>
            </a:r>
            <a:r>
              <a:rPr lang="fr-CA" sz="4400" b="1" dirty="0"/>
              <a:t>E</a:t>
            </a:r>
            <a:r>
              <a:rPr lang="fr-CA" sz="4400" dirty="0"/>
              <a:t>nfant;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fr-CA" altLang="fr-FR" sz="4400" dirty="0"/>
          </a:p>
          <a:p>
            <a:pPr marL="457200" lvl="1" indent="0">
              <a:buNone/>
              <a:defRPr/>
            </a:pPr>
            <a:endParaRPr lang="fr-FR" altLang="fr-FR" sz="4400" dirty="0">
              <a:latin typeface="Tahoma" panose="020B0604030504040204" pitchFamily="34" charset="0"/>
            </a:endParaRPr>
          </a:p>
          <a:p>
            <a:pPr marL="0" indent="0">
              <a:buNone/>
              <a:defRPr/>
            </a:pPr>
            <a:endParaRPr lang="fr-CA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re 1">
            <a:extLst>
              <a:ext uri="{FF2B5EF4-FFF2-40B4-BE49-F238E27FC236}">
                <a16:creationId xmlns:a16="http://schemas.microsoft.com/office/drawing/2014/main" id="{13B3AF20-4062-3E79-98E9-D0D90759C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142875"/>
            <a:ext cx="7772400" cy="1214438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5400" b="1">
                <a:solidFill>
                  <a:schemeClr val="bg1"/>
                </a:solidFill>
              </a:rPr>
              <a:t>CONCEPT</a:t>
            </a:r>
          </a:p>
        </p:txBody>
      </p:sp>
      <p:sp>
        <p:nvSpPr>
          <p:cNvPr id="12291" name="Sous-titre 2">
            <a:extLst>
              <a:ext uri="{FF2B5EF4-FFF2-40B4-BE49-F238E27FC236}">
                <a16:creationId xmlns:a16="http://schemas.microsoft.com/office/drawing/2014/main" id="{CD26029F-9C40-8529-F852-E84B9DEB9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376" y="1643064"/>
            <a:ext cx="7572375" cy="3857625"/>
          </a:xfrm>
        </p:spPr>
        <p:txBody>
          <a:bodyPr/>
          <a:lstStyle/>
          <a:p>
            <a:pPr algn="l" eaLnBrk="1" hangingPunct="1"/>
            <a:endParaRPr lang="fr-FR" altLang="fr-FR" sz="2800"/>
          </a:p>
          <a:p>
            <a:pPr algn="just" eaLnBrk="1" hangingPunct="1"/>
            <a:endParaRPr lang="fr-FR" altLang="fr-FR" sz="2800"/>
          </a:p>
        </p:txBody>
      </p:sp>
      <p:pic>
        <p:nvPicPr>
          <p:cNvPr id="12292" name="Picture 8" descr="100_0505">
            <a:extLst>
              <a:ext uri="{FF2B5EF4-FFF2-40B4-BE49-F238E27FC236}">
                <a16:creationId xmlns:a16="http://schemas.microsoft.com/office/drawing/2014/main" id="{F2BC67C2-72F7-EC1E-CCA2-16DA91EA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1643064"/>
            <a:ext cx="728662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>
            <a:extLst>
              <a:ext uri="{FF2B5EF4-FFF2-40B4-BE49-F238E27FC236}">
                <a16:creationId xmlns:a16="http://schemas.microsoft.com/office/drawing/2014/main" id="{2E1535F7-B38B-B1B5-24A2-06F262DE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357313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4800" b="1">
                <a:solidFill>
                  <a:schemeClr val="bg1"/>
                </a:solidFill>
                <a:latin typeface="Tahoma" panose="020B0604030504040204" pitchFamily="34" charset="0"/>
              </a:rPr>
              <a:t>STRATÉGIE(1/3)</a:t>
            </a:r>
            <a:endParaRPr lang="fr-FR" altLang="fr-FR" sz="4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Sous-titre 2">
            <a:extLst>
              <a:ext uri="{FF2B5EF4-FFF2-40B4-BE49-F238E27FC236}">
                <a16:creationId xmlns:a16="http://schemas.microsoft.com/office/drawing/2014/main" id="{8CC52908-7639-382D-DC63-11CD93329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7314"/>
            <a:ext cx="9144000" cy="5500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fr-FR" altLang="fr-FR" sz="2800" b="1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fr-FR" sz="2800" b="1">
                <a:latin typeface="Tahoma" panose="020B0604030504040204" pitchFamily="34" charset="0"/>
              </a:rPr>
              <a:t>Est une stratégie qui :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 sz="4400">
                <a:latin typeface="Tahoma" panose="020B0604030504040204" pitchFamily="34" charset="0"/>
              </a:rPr>
              <a:t>Focaliser sur les enfants de la 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4400">
              <a:latin typeface="Tahoma" panose="020B060403050404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fr-FR" altLang="fr-FR" sz="4400">
                <a:latin typeface="Tahoma" panose="020B0604030504040204" pitchFamily="34" charset="0"/>
              </a:rPr>
              <a:t>tranche d ’âge 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4400" b="1">
                <a:latin typeface="Tahoma" panose="020B0604030504040204" pitchFamily="34" charset="0"/>
              </a:rPr>
              <a:t>0-5ans;</a:t>
            </a:r>
          </a:p>
          <a:p>
            <a:pPr lvl="1" algn="l" eaLnBrk="1" hangingPunct="1">
              <a:lnSpc>
                <a:spcPct val="90000"/>
              </a:lnSpc>
            </a:pPr>
            <a:endParaRPr lang="fr-FR" altLang="fr-FR" sz="4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>
            <a:extLst>
              <a:ext uri="{FF2B5EF4-FFF2-40B4-BE49-F238E27FC236}">
                <a16:creationId xmlns:a16="http://schemas.microsoft.com/office/drawing/2014/main" id="{791564E4-42FA-7D02-63AE-E9B94C2E9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0013"/>
            <a:ext cx="9144000" cy="1457326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b="1">
                <a:solidFill>
                  <a:schemeClr val="bg1"/>
                </a:solidFill>
                <a:latin typeface="Tahoma" panose="020B0604030504040204" pitchFamily="34" charset="0"/>
              </a:rPr>
              <a:t>STRATÉGIE (2/3)</a:t>
            </a:r>
            <a:endParaRPr lang="fr-FR" alt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Sous-titre 2">
            <a:extLst>
              <a:ext uri="{FF2B5EF4-FFF2-40B4-BE49-F238E27FC236}">
                <a16:creationId xmlns:a16="http://schemas.microsoft.com/office/drawing/2014/main" id="{857F27D7-7467-2440-B94D-E8CEB0115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820" y="1357314"/>
            <a:ext cx="10842172" cy="5500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altLang="fr-FR" sz="2800" b="1" dirty="0">
                <a:latin typeface="Tahoma" panose="020B0604030504040204" pitchFamily="34" charset="0"/>
              </a:rPr>
              <a:t>Est une stratégie qui :</a:t>
            </a:r>
            <a:endParaRPr lang="fr-FR" altLang="fr-FR" sz="2800" dirty="0">
              <a:latin typeface="Tahoma" panose="020B0604030504040204" pitchFamily="34" charset="0"/>
            </a:endParaRPr>
          </a:p>
          <a:p>
            <a:pPr lvl="1" algn="l" eaLnBrk="1" hangingPunct="1">
              <a:lnSpc>
                <a:spcPct val="90000"/>
              </a:lnSpc>
              <a:defRPr/>
            </a:pPr>
            <a:endParaRPr lang="fr-FR" altLang="fr-FR" sz="1600" dirty="0">
              <a:latin typeface="Tahoma" panose="020B060403050404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  <a:defRPr/>
            </a:pPr>
            <a:r>
              <a:rPr lang="fr-FR" altLang="fr-FR" sz="3600" dirty="0">
                <a:latin typeface="Tahoma" panose="020B0604030504040204" pitchFamily="34" charset="0"/>
              </a:rPr>
              <a:t>Intègre les interventions </a:t>
            </a:r>
            <a:r>
              <a:rPr lang="fr-FR" altLang="fr-FR" sz="3600" b="1" dirty="0">
                <a:latin typeface="Tahoma" panose="020B0604030504040204" pitchFamily="34" charset="0"/>
              </a:rPr>
              <a:t>curatives</a:t>
            </a:r>
            <a:r>
              <a:rPr lang="fr-FR" altLang="fr-FR" sz="3600" dirty="0">
                <a:latin typeface="Tahoma" panose="020B0604030504040204" pitchFamily="34" charset="0"/>
              </a:rPr>
              <a:t>, </a:t>
            </a:r>
            <a:r>
              <a:rPr lang="fr-FR" altLang="fr-FR" sz="3600" b="1" dirty="0">
                <a:latin typeface="Tahoma" panose="020B0604030504040204" pitchFamily="34" charset="0"/>
              </a:rPr>
              <a:t>préventives</a:t>
            </a:r>
            <a:r>
              <a:rPr lang="fr-FR" altLang="fr-FR" sz="3600" dirty="0">
                <a:latin typeface="Tahoma" panose="020B0604030504040204" pitchFamily="34" charset="0"/>
              </a:rPr>
              <a:t> et </a:t>
            </a:r>
            <a:r>
              <a:rPr lang="fr-FR" altLang="fr-FR" sz="3600" b="1" dirty="0">
                <a:latin typeface="Tahoma" panose="020B0604030504040204" pitchFamily="34" charset="0"/>
              </a:rPr>
              <a:t>promotionnelles</a:t>
            </a:r>
            <a:r>
              <a:rPr lang="fr-FR" altLang="fr-FR" sz="3600" dirty="0">
                <a:latin typeface="Tahoma" panose="020B0604030504040204" pitchFamily="34" charset="0"/>
              </a:rPr>
              <a:t>;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  <a:defRPr/>
            </a:pPr>
            <a:endParaRPr lang="fr-FR" altLang="fr-FR" sz="3600" dirty="0">
              <a:latin typeface="Tahoma" panose="020B060403050404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  <a:defRPr/>
            </a:pPr>
            <a:r>
              <a:rPr lang="fr-FR" altLang="fr-FR" sz="3600" dirty="0">
                <a:latin typeface="Tahoma" panose="020B0604030504040204" pitchFamily="34" charset="0"/>
              </a:rPr>
              <a:t> Intervient au niveau des formations sanitaires, et au niveau des familles et des communautés;</a:t>
            </a:r>
            <a:r>
              <a:rPr lang="fr-FR" altLang="fr-FR" sz="3600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>
            <a:extLst>
              <a:ext uri="{FF2B5EF4-FFF2-40B4-BE49-F238E27FC236}">
                <a16:creationId xmlns:a16="http://schemas.microsoft.com/office/drawing/2014/main" id="{C28EABFF-9011-2883-5204-BDFD4A5BD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76517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 </a:t>
            </a:r>
            <a:r>
              <a:rPr lang="fr-FR" altLang="fr-FR" b="1">
                <a:solidFill>
                  <a:schemeClr val="bg1"/>
                </a:solidFill>
                <a:latin typeface="Tahoma" panose="020B0604030504040204" pitchFamily="34" charset="0"/>
              </a:rPr>
              <a:t>STRATÉGIE (3/3)</a:t>
            </a:r>
            <a:endParaRPr lang="fr-FR" altLang="fr-FR">
              <a:solidFill>
                <a:schemeClr val="bg1"/>
              </a:solidFill>
            </a:endParaRPr>
          </a:p>
        </p:txBody>
      </p:sp>
      <p:sp>
        <p:nvSpPr>
          <p:cNvPr id="5123" name="Sous-titre 2">
            <a:extLst>
              <a:ext uri="{FF2B5EF4-FFF2-40B4-BE49-F238E27FC236}">
                <a16:creationId xmlns:a16="http://schemas.microsoft.com/office/drawing/2014/main" id="{63393489-2091-B62A-FFF1-F8341410B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65176"/>
            <a:ext cx="9144000" cy="6092825"/>
          </a:xfrm>
        </p:spPr>
        <p:txBody>
          <a:bodyPr/>
          <a:lstStyle/>
          <a:p>
            <a:pPr lvl="1" algn="l" eaLnBrk="1" hangingPunct="1">
              <a:lnSpc>
                <a:spcPct val="90000"/>
              </a:lnSpc>
              <a:defRPr/>
            </a:pPr>
            <a:r>
              <a:rPr lang="fr-FR" sz="3600" b="1" dirty="0">
                <a:latin typeface="Tahoma" pitchFamily="34" charset="0"/>
              </a:rPr>
              <a:t>7 principales causes de mortalité </a:t>
            </a:r>
            <a:r>
              <a:rPr lang="fr-FR" sz="3600" dirty="0">
                <a:latin typeface="Tahoma" pitchFamily="34" charset="0"/>
              </a:rPr>
              <a:t>: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Affections néonatales graves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Paludisme;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IRA;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Diarrhée;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 Rougeole; 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Malnutrition;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  <a:defRPr/>
            </a:pPr>
            <a:r>
              <a:rPr lang="fr-FR" sz="3600" dirty="0">
                <a:latin typeface="Tahoma" pitchFamily="34" charset="0"/>
              </a:rPr>
              <a:t>VIH/SIDA</a:t>
            </a:r>
          </a:p>
          <a:p>
            <a:pPr lvl="1" algn="l" eaLnBrk="1" hangingPunct="1">
              <a:lnSpc>
                <a:spcPct val="90000"/>
              </a:lnSpc>
              <a:defRPr/>
            </a:pPr>
            <a:endParaRPr lang="fr-FR" sz="1600" dirty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re 1">
            <a:extLst>
              <a:ext uri="{FF2B5EF4-FFF2-40B4-BE49-F238E27FC236}">
                <a16:creationId xmlns:a16="http://schemas.microsoft.com/office/drawing/2014/main" id="{6E28B5DB-41AA-50A1-1CC8-39B161207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142875"/>
            <a:ext cx="7772400" cy="838200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5400" b="1" dirty="0">
                <a:solidFill>
                  <a:schemeClr val="bg1"/>
                </a:solidFill>
              </a:rPr>
              <a:t>OBJECTIF</a:t>
            </a:r>
            <a:r>
              <a:rPr lang="fr-FR" altLang="fr-FR" sz="5400" b="1" dirty="0">
                <a:solidFill>
                  <a:schemeClr val="bg1"/>
                </a:solidFill>
                <a:latin typeface="Tahoma" panose="020B0604030504040204" pitchFamily="34" charset="0"/>
              </a:rPr>
              <a:t> (1/7)</a:t>
            </a:r>
            <a:endParaRPr lang="fr-FR" altLang="fr-FR" sz="5400" b="1" dirty="0">
              <a:solidFill>
                <a:schemeClr val="bg1"/>
              </a:solidFill>
            </a:endParaRPr>
          </a:p>
        </p:txBody>
      </p:sp>
      <p:sp>
        <p:nvSpPr>
          <p:cNvPr id="11267" name="Sous-titre 2">
            <a:extLst>
              <a:ext uri="{FF2B5EF4-FFF2-40B4-BE49-F238E27FC236}">
                <a16:creationId xmlns:a16="http://schemas.microsoft.com/office/drawing/2014/main" id="{C456B7B5-E1C5-8210-2796-A04031853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981076"/>
            <a:ext cx="8893175" cy="5876925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fr-FR" sz="3600" dirty="0">
                <a:latin typeface="Arial" panose="020B0604020202020204" pitchFamily="34" charset="0"/>
              </a:rPr>
              <a:t>Contribuer à la réduction de la morbidité et la mortalité des enfants de &lt;5 ans en s’appuyant sur 3 composantes:</a:t>
            </a:r>
          </a:p>
          <a:p>
            <a:pPr marL="571500" indent="-571500" algn="l">
              <a:buFont typeface="Wingdings" panose="05000000000000000000" pitchFamily="2" charset="2"/>
              <a:buChar char="Ø"/>
              <a:defRPr/>
            </a:pPr>
            <a:r>
              <a:rPr lang="en-US" altLang="fr-FR" sz="3600" b="1" dirty="0">
                <a:latin typeface="Arial" panose="020B0604020202020204" pitchFamily="34" charset="0"/>
              </a:rPr>
              <a:t>Composante N°1: </a:t>
            </a:r>
            <a:r>
              <a:rPr lang="en-US" altLang="fr-FR" sz="3600" dirty="0">
                <a:latin typeface="Arial" panose="020B0604020202020204" pitchFamily="34" charset="0"/>
              </a:rPr>
              <a:t>amélioration des compétences des agents de santé</a:t>
            </a:r>
          </a:p>
          <a:p>
            <a:pPr marL="571500" indent="-571500" algn="l">
              <a:buFont typeface="Wingdings" panose="05000000000000000000" pitchFamily="2" charset="2"/>
              <a:buChar char="Ø"/>
              <a:defRPr/>
            </a:pPr>
            <a:r>
              <a:rPr lang="en-US" altLang="fr-FR" sz="3600" b="1" dirty="0">
                <a:latin typeface="Arial" panose="020B0604020202020204" pitchFamily="34" charset="0"/>
              </a:rPr>
              <a:t>Composante N°2: </a:t>
            </a:r>
            <a:r>
              <a:rPr lang="en-US" altLang="fr-FR" sz="3600" dirty="0">
                <a:latin typeface="Arial" panose="020B0604020202020204" pitchFamily="34" charset="0"/>
              </a:rPr>
              <a:t>renforcement du système de santé</a:t>
            </a:r>
          </a:p>
          <a:p>
            <a:pPr marL="571500" indent="-571500" algn="l">
              <a:buFont typeface="Wingdings" panose="05000000000000000000" pitchFamily="2" charset="2"/>
              <a:buChar char="Ø"/>
              <a:defRPr/>
            </a:pPr>
            <a:r>
              <a:rPr lang="en-US" altLang="fr-FR" sz="3600" b="1" dirty="0">
                <a:latin typeface="Arial" panose="020B0604020202020204" pitchFamily="34" charset="0"/>
              </a:rPr>
              <a:t>Composante N°3: </a:t>
            </a:r>
            <a:r>
              <a:rPr lang="en-US" altLang="fr-FR" sz="3600" dirty="0">
                <a:latin typeface="Arial" panose="020B0604020202020204" pitchFamily="34" charset="0"/>
              </a:rPr>
              <a:t>promotion des Pratiques Familiales Essentielles dans les familles et communautés</a:t>
            </a:r>
          </a:p>
          <a:p>
            <a:pPr algn="just" eaLnBrk="1" hangingPunct="1">
              <a:defRPr/>
            </a:pPr>
            <a:endParaRPr lang="fr-FR" altLang="fr-F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CB18645-5AE1-57A5-0468-D4A312C86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1375" y="342900"/>
            <a:ext cx="7543800" cy="1028700"/>
          </a:xfrm>
          <a:solidFill>
            <a:srgbClr val="FF9900"/>
          </a:solidFill>
        </p:spPr>
        <p:txBody>
          <a:bodyPr vert="horz" lIns="104498" tIns="52249" rIns="104498" bIns="52249" rtlCol="0" anchor="ctr">
            <a:normAutofit fontScale="90000"/>
          </a:bodyPr>
          <a:lstStyle/>
          <a:p>
            <a:pPr eaLnBrk="1" hangingPunct="1">
              <a:defRPr/>
            </a:pPr>
            <a:br>
              <a:rPr lang="fr-FR" altLang="fr-FR" sz="4000" b="1" dirty="0">
                <a:latin typeface="+mn-lt"/>
              </a:rPr>
            </a:br>
            <a:r>
              <a:rPr lang="fr-FR" altLang="fr-FR" sz="4000" b="1" dirty="0">
                <a:latin typeface="+mn-lt"/>
              </a:rPr>
              <a:t>COMPOSANTES DE LA PCIMNE</a:t>
            </a:r>
            <a:br>
              <a:rPr lang="fr-FR" altLang="fr-FR" sz="4000" b="1" dirty="0">
                <a:latin typeface="+mn-lt"/>
              </a:rPr>
            </a:br>
            <a:endParaRPr lang="fr-FR" altLang="fr-FR" sz="4000" b="1" dirty="0">
              <a:latin typeface="+mn-lt"/>
            </a:endParaRP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7A5634A3-4ABC-3962-53E1-D481F03C3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825" y="34242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63B38956-7A31-D8A5-7230-58DF01057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225" y="35766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5">
            <a:extLst>
              <a:ext uri="{FF2B5EF4-FFF2-40B4-BE49-F238E27FC236}">
                <a16:creationId xmlns:a16="http://schemas.microsoft.com/office/drawing/2014/main" id="{0C78BF56-5FB5-0A03-B06C-8922A0974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133601"/>
            <a:ext cx="990600" cy="597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98" tIns="52249" rIns="104498" bIns="52249">
            <a:spAutoFit/>
          </a:bodyPr>
          <a:lstStyle>
            <a:lvl1pPr defTabSz="10445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4457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44575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44575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44575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chemeClr val="bg1"/>
                </a:solidFill>
                <a:latin typeface="Arial" panose="020B0604020202020204" pitchFamily="34" charset="0"/>
              </a:rPr>
              <a:t>cs</a:t>
            </a:r>
            <a:endParaRPr lang="fr-FR" altLang="fr-FR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7D12A8D2-7DCE-0354-7CBC-0AEB3C1F6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6" y="3725864"/>
            <a:ext cx="398057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FF0066"/>
                </a:solidFill>
                <a:latin typeface="Arial" panose="020B0604020202020204" pitchFamily="34" charset="0"/>
              </a:rPr>
              <a:t>Pratiques familiales 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FF0066"/>
                </a:solidFill>
                <a:latin typeface="Arial" panose="020B0604020202020204" pitchFamily="34" charset="0"/>
              </a:rPr>
              <a:t>communautaires</a:t>
            </a:r>
            <a:endParaRPr lang="fr-FR" altLang="fr-FR" sz="1800" b="1">
              <a:solidFill>
                <a:srgbClr val="FF0066"/>
              </a:solidFill>
              <a:latin typeface="Arial" panose="020B0604020202020204" pitchFamily="34" charset="0"/>
            </a:endParaRP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05AC9F78-0C2B-53AE-0CA6-AA4ED6534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4724401"/>
            <a:ext cx="308289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FF0066"/>
                </a:solidFill>
                <a:latin typeface="Arial" panose="020B0604020202020204" pitchFamily="34" charset="0"/>
              </a:rPr>
              <a:t>Compétences du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FF0066"/>
                </a:solidFill>
                <a:latin typeface="Arial" panose="020B0604020202020204" pitchFamily="34" charset="0"/>
              </a:rPr>
              <a:t>personnel</a:t>
            </a:r>
            <a:endParaRPr lang="fr-FR" altLang="fr-FR" sz="1800">
              <a:solidFill>
                <a:srgbClr val="FF0066"/>
              </a:solidFill>
              <a:latin typeface="Arial" panose="020B0604020202020204" pitchFamily="34" charset="0"/>
            </a:endParaRP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6DB03CC5-FD50-0410-9871-A728FE9A4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1988" y="3429000"/>
            <a:ext cx="2133918" cy="36933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Système de santé</a:t>
            </a:r>
            <a:endParaRPr lang="fr-FR" altLang="fr-FR" sz="2000">
              <a:latin typeface="Arial" panose="020B0604020202020204" pitchFamily="34" charset="0"/>
            </a:endParaRPr>
          </a:p>
        </p:txBody>
      </p:sp>
      <p:grpSp>
        <p:nvGrpSpPr>
          <p:cNvPr id="17417" name="Group 9">
            <a:extLst>
              <a:ext uri="{FF2B5EF4-FFF2-40B4-BE49-F238E27FC236}">
                <a16:creationId xmlns:a16="http://schemas.microsoft.com/office/drawing/2014/main" id="{380B52B2-20F4-1F06-2035-37A9C098AB4D}"/>
              </a:ext>
            </a:extLst>
          </p:cNvPr>
          <p:cNvGrpSpPr>
            <a:grpSpLocks/>
          </p:cNvGrpSpPr>
          <p:nvPr/>
        </p:nvGrpSpPr>
        <p:grpSpPr bwMode="auto">
          <a:xfrm>
            <a:off x="2046288" y="2362201"/>
            <a:ext cx="2297112" cy="3459163"/>
            <a:chOff x="329" y="1469"/>
            <a:chExt cx="1447" cy="2179"/>
          </a:xfrm>
        </p:grpSpPr>
        <p:pic>
          <p:nvPicPr>
            <p:cNvPr id="17430" name="Picture 10">
              <a:extLst>
                <a:ext uri="{FF2B5EF4-FFF2-40B4-BE49-F238E27FC236}">
                  <a16:creationId xmlns:a16="http://schemas.microsoft.com/office/drawing/2014/main" id="{5590BE0A-31A8-C511-529B-953DEDBE5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736"/>
              <a:ext cx="1200" cy="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31" name="Text Box 11">
              <a:extLst>
                <a:ext uri="{FF2B5EF4-FFF2-40B4-BE49-F238E27FC236}">
                  <a16:creationId xmlns:a16="http://schemas.microsoft.com/office/drawing/2014/main" id="{EB2D3986-61A7-D30E-6498-5B996E314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904"/>
              <a:ext cx="781" cy="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98" tIns="52249" rIns="104498" bIns="52249">
              <a:spAutoFit/>
            </a:bodyPr>
            <a:lstStyle>
              <a:lvl1pPr defTabSz="1044575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04457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044575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044575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044575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100">
                  <a:latin typeface="Arial" panose="020B0604020202020204" pitchFamily="34" charset="0"/>
                </a:rPr>
                <a:t>Domicile</a:t>
              </a:r>
              <a:endParaRPr lang="fr-FR" altLang="fr-FR" sz="2700">
                <a:latin typeface="Arial" panose="020B0604020202020204" pitchFamily="34" charset="0"/>
              </a:endParaRPr>
            </a:p>
          </p:txBody>
        </p:sp>
        <p:grpSp>
          <p:nvGrpSpPr>
            <p:cNvPr id="17432" name="Group 12">
              <a:extLst>
                <a:ext uri="{FF2B5EF4-FFF2-40B4-BE49-F238E27FC236}">
                  <a16:creationId xmlns:a16="http://schemas.microsoft.com/office/drawing/2014/main" id="{37E25599-5ECA-6E87-9489-EC47A0F6BD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" y="1469"/>
              <a:ext cx="1200" cy="912"/>
              <a:chOff x="329" y="1469"/>
              <a:chExt cx="1200" cy="912"/>
            </a:xfrm>
          </p:grpSpPr>
          <p:pic>
            <p:nvPicPr>
              <p:cNvPr id="17433" name="Picture 13">
                <a:extLst>
                  <a:ext uri="{FF2B5EF4-FFF2-40B4-BE49-F238E27FC236}">
                    <a16:creationId xmlns:a16="http://schemas.microsoft.com/office/drawing/2014/main" id="{0BF5360F-53A7-2BFF-0B70-3AD63C750B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9" y="1469"/>
                <a:ext cx="1200" cy="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34" name="Text Box 14">
                <a:extLst>
                  <a:ext uri="{FF2B5EF4-FFF2-40B4-BE49-F238E27FC236}">
                    <a16:creationId xmlns:a16="http://schemas.microsoft.com/office/drawing/2014/main" id="{BB6D7777-A876-773B-66C7-19DF15BD6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1598"/>
                <a:ext cx="781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4498" tIns="52249" rIns="104498" bIns="52249">
                <a:spAutoFit/>
              </a:bodyPr>
              <a:lstStyle>
                <a:lvl1pPr defTabSz="104457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defTabSz="104457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defTabSz="104457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defTabSz="1044575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defTabSz="1044575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104457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104457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104457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1044575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100">
                    <a:latin typeface="Arial" panose="020B0604020202020204" pitchFamily="34" charset="0"/>
                  </a:rPr>
                  <a:t>Domicile</a:t>
                </a:r>
                <a:endParaRPr lang="fr-FR" altLang="fr-FR" sz="27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418" name="Text Box 15">
            <a:extLst>
              <a:ext uri="{FF2B5EF4-FFF2-40B4-BE49-F238E27FC236}">
                <a16:creationId xmlns:a16="http://schemas.microsoft.com/office/drawing/2014/main" id="{DD01500C-3C46-D7AE-9A76-40A96AD4C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4953001"/>
            <a:ext cx="441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36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19" name="Text Box 16">
            <a:extLst>
              <a:ext uri="{FF2B5EF4-FFF2-40B4-BE49-F238E27FC236}">
                <a16:creationId xmlns:a16="http://schemas.microsoft.com/office/drawing/2014/main" id="{076BC7D7-B3A7-55AF-60D8-2E4CEA6F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4325" y="2686051"/>
            <a:ext cx="4122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20" name="Text Box 17">
            <a:extLst>
              <a:ext uri="{FF2B5EF4-FFF2-40B4-BE49-F238E27FC236}">
                <a16:creationId xmlns:a16="http://schemas.microsoft.com/office/drawing/2014/main" id="{D251B3AA-4F2A-5C97-7CC8-CC4FFC7D6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3905250"/>
            <a:ext cx="412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17421" name="Group 18">
            <a:extLst>
              <a:ext uri="{FF2B5EF4-FFF2-40B4-BE49-F238E27FC236}">
                <a16:creationId xmlns:a16="http://schemas.microsoft.com/office/drawing/2014/main" id="{642DB2C7-CB7B-3A4D-496C-EF7CCDCF2307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920875"/>
            <a:ext cx="4343400" cy="4495800"/>
            <a:chOff x="2688" y="1210"/>
            <a:chExt cx="2736" cy="2832"/>
          </a:xfrm>
        </p:grpSpPr>
        <p:grpSp>
          <p:nvGrpSpPr>
            <p:cNvPr id="17422" name="Group 19">
              <a:extLst>
                <a:ext uri="{FF2B5EF4-FFF2-40B4-BE49-F238E27FC236}">
                  <a16:creationId xmlns:a16="http://schemas.microsoft.com/office/drawing/2014/main" id="{DF4EB0D9-0446-61E4-AE78-012AF6F504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210"/>
              <a:ext cx="2736" cy="2832"/>
              <a:chOff x="2688" y="1210"/>
              <a:chExt cx="2736" cy="2832"/>
            </a:xfrm>
          </p:grpSpPr>
          <p:grpSp>
            <p:nvGrpSpPr>
              <p:cNvPr id="17424" name="Group 20">
                <a:extLst>
                  <a:ext uri="{FF2B5EF4-FFF2-40B4-BE49-F238E27FC236}">
                    <a16:creationId xmlns:a16="http://schemas.microsoft.com/office/drawing/2014/main" id="{0FC2FCE1-2D9F-4B9F-A709-E0D5C9581B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210"/>
                <a:ext cx="2736" cy="2832"/>
                <a:chOff x="2688" y="1210"/>
                <a:chExt cx="2736" cy="2832"/>
              </a:xfrm>
            </p:grpSpPr>
            <p:pic>
              <p:nvPicPr>
                <p:cNvPr id="17426" name="Picture 21">
                  <a:extLst>
                    <a:ext uri="{FF2B5EF4-FFF2-40B4-BE49-F238E27FC236}">
                      <a16:creationId xmlns:a16="http://schemas.microsoft.com/office/drawing/2014/main" id="{CEA6C7F2-BCBE-D58B-DC28-247524A3A63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7" y="1296"/>
                  <a:ext cx="1200" cy="9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427" name="Picture 22">
                  <a:extLst>
                    <a:ext uri="{FF2B5EF4-FFF2-40B4-BE49-F238E27FC236}">
                      <a16:creationId xmlns:a16="http://schemas.microsoft.com/office/drawing/2014/main" id="{313D4CAC-C49C-222C-CAB3-78B77041DEC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40" y="2400"/>
                  <a:ext cx="1199" cy="1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428" name="Text Box 23">
                  <a:extLst>
                    <a:ext uri="{FF2B5EF4-FFF2-40B4-BE49-F238E27FC236}">
                      <a16:creationId xmlns:a16="http://schemas.microsoft.com/office/drawing/2014/main" id="{8C34BD8C-8F79-7025-8653-B5EA639C49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21531335">
                  <a:off x="3901" y="2579"/>
                  <a:ext cx="1183" cy="2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4498" tIns="52249" rIns="104498" bIns="52249">
                  <a:spAutoFit/>
                </a:bodyPr>
                <a:lstStyle>
                  <a:lvl1pPr defTabSz="1044575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 defTabSz="1044575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 defTabSz="1044575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 defTabSz="1044575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 defTabSz="1044575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10445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10445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10445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104457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fr-FR" altLang="fr-FR" sz="1800" b="1">
                      <a:solidFill>
                        <a:schemeClr val="bg1"/>
                      </a:solidFill>
                      <a:latin typeface="Arial" panose="020B0604020202020204" pitchFamily="34" charset="0"/>
                    </a:rPr>
                    <a:t>Hôpital général</a:t>
                  </a:r>
                  <a:endParaRPr lang="fr-FR" altLang="fr-FR" sz="27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29" name="Oval 24">
                  <a:extLst>
                    <a:ext uri="{FF2B5EF4-FFF2-40B4-BE49-F238E27FC236}">
                      <a16:creationId xmlns:a16="http://schemas.microsoft.com/office/drawing/2014/main" id="{9E8246DB-4F29-7EFC-1EDB-047CAAB515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8" y="1210"/>
                  <a:ext cx="2736" cy="2832"/>
                </a:xfrm>
                <a:prstGeom prst="ellips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Arial" panose="020B0604020202020204" pitchFamily="34" charset="0"/>
                  </a:endParaRPr>
                </a:p>
              </p:txBody>
            </p:sp>
          </p:grpSp>
          <p:graphicFrame>
            <p:nvGraphicFramePr>
              <p:cNvPr id="17425" name="Object 25">
                <a:extLst>
                  <a:ext uri="{FF2B5EF4-FFF2-40B4-BE49-F238E27FC236}">
                    <a16:creationId xmlns:a16="http://schemas.microsoft.com/office/drawing/2014/main" id="{1857D314-BCF9-472A-A7F2-4296D350FE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19" y="2246"/>
              <a:ext cx="864" cy="8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2285350" imgH="2160481" progId="MS_ClipArt_Gallery.2">
                      <p:embed/>
                    </p:oleObj>
                  </mc:Choice>
                  <mc:Fallback>
                    <p:oleObj name="Clip" r:id="rId5" imgW="2285350" imgH="2160481" progId="MS_ClipArt_Gallery.2">
                      <p:embed/>
                      <p:pic>
                        <p:nvPicPr>
                          <p:cNvPr id="17425" name="Object 25">
                            <a:extLst>
                              <a:ext uri="{FF2B5EF4-FFF2-40B4-BE49-F238E27FC236}">
                                <a16:creationId xmlns:a16="http://schemas.microsoft.com/office/drawing/2014/main" id="{1857D314-BCF9-472A-A7F2-4296D350FEA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19" y="2246"/>
                            <a:ext cx="864" cy="8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423" name="Text Box 26">
              <a:extLst>
                <a:ext uri="{FF2B5EF4-FFF2-40B4-BE49-F238E27FC236}">
                  <a16:creationId xmlns:a16="http://schemas.microsoft.com/office/drawing/2014/main" id="{1C0A36C4-164B-A26E-C18D-BBF09B04A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1418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Arial" panose="020B0604020202020204" pitchFamily="34" charset="0"/>
                </a:rPr>
                <a:t>CS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ous-titre 2">
            <a:extLst>
              <a:ext uri="{FF2B5EF4-FFF2-40B4-BE49-F238E27FC236}">
                <a16:creationId xmlns:a16="http://schemas.microsoft.com/office/drawing/2014/main" id="{583AFB48-BCEC-DD14-EBC2-9791BBAF2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869" y="981076"/>
            <a:ext cx="11140751" cy="58769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fr-FR" sz="3600" dirty="0">
                <a:latin typeface="Arial" panose="020B0604020202020204" pitchFamily="34" charset="0"/>
              </a:rPr>
              <a:t> </a:t>
            </a:r>
            <a:r>
              <a:rPr lang="en-US" altLang="fr-FR" sz="3600" b="1" dirty="0">
                <a:solidFill>
                  <a:srgbClr val="FF0000"/>
                </a:solidFill>
                <a:latin typeface="Arial" panose="020B0604020202020204" pitchFamily="34" charset="0"/>
              </a:rPr>
              <a:t>12 Pratiques </a:t>
            </a:r>
            <a:r>
              <a:rPr lang="en-US" altLang="fr-FR" sz="3600" b="1" dirty="0" err="1">
                <a:solidFill>
                  <a:srgbClr val="FF0000"/>
                </a:solidFill>
                <a:latin typeface="Arial" panose="020B0604020202020204" pitchFamily="34" charset="0"/>
              </a:rPr>
              <a:t>Familiales</a:t>
            </a:r>
            <a:r>
              <a:rPr lang="en-US" altLang="fr-FR" sz="3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fr-FR" sz="3600" b="1" dirty="0" err="1">
                <a:solidFill>
                  <a:srgbClr val="FF0000"/>
                </a:solidFill>
                <a:latin typeface="Arial" panose="020B0604020202020204" pitchFamily="34" charset="0"/>
              </a:rPr>
              <a:t>Essentielles</a:t>
            </a:r>
            <a:endParaRPr lang="en-US" altLang="fr-FR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fr-FR" sz="3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fr-FR" sz="3600" b="1" dirty="0">
                <a:latin typeface="Arial" panose="020B0604020202020204" pitchFamily="34" charset="0"/>
              </a:rPr>
              <a:t>GROUPE 1: promotion de  la croissance et du developpement du nouveau-né et de l’enfant</a:t>
            </a:r>
          </a:p>
          <a:p>
            <a:pPr algn="l" eaLnBrk="1" hangingPunct="1"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La mère, le père ou la personne à charge de l’enfant prend en charge le nouveau-né;</a:t>
            </a:r>
          </a:p>
          <a:p>
            <a:pPr marL="571500" indent="-571500" algn="l"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Allaite exclusif jusqu’à l’âge de 6 mois;</a:t>
            </a:r>
          </a:p>
          <a:p>
            <a:pPr algn="just" eaLnBrk="1" hangingPunct="1">
              <a:defRPr/>
            </a:pPr>
            <a:endParaRPr lang="fr-FR" altLang="fr-FR" sz="3600" dirty="0"/>
          </a:p>
        </p:txBody>
      </p:sp>
      <p:sp>
        <p:nvSpPr>
          <p:cNvPr id="19460" name="Titre 1">
            <a:extLst>
              <a:ext uri="{FF2B5EF4-FFF2-40B4-BE49-F238E27FC236}">
                <a16:creationId xmlns:a16="http://schemas.microsoft.com/office/drawing/2014/main" id="{2418BD40-0EA9-4E74-D854-33BB35F34CFD}"/>
              </a:ext>
            </a:extLst>
          </p:cNvPr>
          <p:cNvSpPr txBox="1">
            <a:spLocks/>
          </p:cNvSpPr>
          <p:nvPr/>
        </p:nvSpPr>
        <p:spPr bwMode="auto">
          <a:xfrm>
            <a:off x="2132044" y="142876"/>
            <a:ext cx="7772400" cy="838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5400" b="1" dirty="0">
                <a:solidFill>
                  <a:schemeClr val="bg1"/>
                </a:solidFill>
              </a:rPr>
              <a:t>OBJECTIF</a:t>
            </a:r>
            <a:r>
              <a:rPr lang="fr-FR" altLang="fr-FR" sz="5400" b="1" dirty="0">
                <a:solidFill>
                  <a:schemeClr val="bg1"/>
                </a:solidFill>
                <a:latin typeface="Tahoma" panose="020B0604030504040204" pitchFamily="34" charset="0"/>
              </a:rPr>
              <a:t> (2/7)</a:t>
            </a:r>
            <a:endParaRPr lang="fr-FR" altLang="fr-FR" sz="5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ous-titre 2">
            <a:extLst>
              <a:ext uri="{FF2B5EF4-FFF2-40B4-BE49-F238E27FC236}">
                <a16:creationId xmlns:a16="http://schemas.microsoft.com/office/drawing/2014/main" id="{10C1AB5B-4147-AE8E-683A-D0370A932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118" y="1125538"/>
            <a:ext cx="10972800" cy="58166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fr-FR" sz="3200" b="1" dirty="0">
                <a:solidFill>
                  <a:srgbClr val="FF0000"/>
                </a:solidFill>
                <a:latin typeface="Arial" panose="020B0604020202020204" pitchFamily="34" charset="0"/>
              </a:rPr>
              <a:t>12 Pratiques </a:t>
            </a:r>
            <a:r>
              <a:rPr lang="en-US" altLang="fr-FR" sz="3200" b="1" dirty="0" err="1">
                <a:solidFill>
                  <a:srgbClr val="FF0000"/>
                </a:solidFill>
                <a:latin typeface="Arial" panose="020B0604020202020204" pitchFamily="34" charset="0"/>
              </a:rPr>
              <a:t>Familiales</a:t>
            </a:r>
            <a:r>
              <a:rPr lang="en-US" altLang="fr-FR" sz="32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Arial" panose="020B0604020202020204" pitchFamily="34" charset="0"/>
              </a:rPr>
              <a:t>Essentielles</a:t>
            </a:r>
            <a:r>
              <a:rPr lang="en-US" altLang="fr-FR" sz="32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  <a:p>
            <a:pPr algn="l" eaLnBrk="1" hangingPunct="1">
              <a:defRPr/>
            </a:pPr>
            <a:r>
              <a:rPr lang="en-US" altLang="fr-FR" sz="3200" b="1" dirty="0">
                <a:solidFill>
                  <a:schemeClr val="tx1"/>
                </a:solidFill>
                <a:latin typeface="Arial" panose="020B0604020202020204" pitchFamily="34" charset="0"/>
              </a:rPr>
              <a:t>GROUPE 1</a:t>
            </a:r>
          </a:p>
          <a:p>
            <a:pPr marL="457200" indent="-457200" algn="l">
              <a:buFont typeface="Wingdings" panose="05000000000000000000" pitchFamily="2" charset="2"/>
              <a:buChar char="q"/>
              <a:defRPr/>
            </a:pPr>
            <a:r>
              <a:rPr lang="fr-FR" altLang="fr-FR" sz="3200" dirty="0">
                <a:solidFill>
                  <a:schemeClr val="tx1"/>
                </a:solidFill>
              </a:rPr>
              <a:t>à partir de l’âge de 6 mois aliments de complément équilibrés</a:t>
            </a:r>
            <a:r>
              <a:rPr lang="fr-FR" altLang="fr-FR" sz="3200" dirty="0">
                <a:solidFill>
                  <a:srgbClr val="FF0000"/>
                </a:solidFill>
              </a:rPr>
              <a:t> </a:t>
            </a:r>
            <a:r>
              <a:rPr lang="fr-FR" altLang="fr-FR" sz="3200" dirty="0">
                <a:solidFill>
                  <a:schemeClr val="tx1"/>
                </a:solidFill>
              </a:rPr>
              <a:t>en continuant à l’allaiter jusqu’à 24 mois; </a:t>
            </a:r>
          </a:p>
          <a:p>
            <a:pPr algn="l" eaLnBrk="1" hangingPunct="1">
              <a:buFont typeface="Wingdings" panose="05000000000000000000" pitchFamily="2" charset="2"/>
              <a:buChar char="q"/>
              <a:defRPr/>
            </a:pPr>
            <a:r>
              <a:rPr lang="fr-FR" altLang="fr-FR" sz="3200" dirty="0">
                <a:solidFill>
                  <a:schemeClr val="tx1"/>
                </a:solidFill>
              </a:rPr>
              <a:t> Tous les 6 mois , supplémentation en vitamine A de l’enfant âgé de 6 à 59 mois et déparasitage à partir de 12 mois;</a:t>
            </a:r>
          </a:p>
          <a:p>
            <a:pPr algn="l" eaLnBrk="1" hangingPunct="1">
              <a:buFont typeface="Wingdings" panose="05000000000000000000" pitchFamily="2" charset="2"/>
              <a:buChar char="q"/>
              <a:defRPr/>
            </a:pPr>
            <a:r>
              <a:rPr lang="fr-FR" altLang="fr-FR" sz="3200" dirty="0">
                <a:solidFill>
                  <a:schemeClr val="tx1"/>
                </a:solidFill>
              </a:rPr>
              <a:t>Consomment tous les jours du sel iodé dans l’alimentation des ménages;</a:t>
            </a:r>
          </a:p>
          <a:p>
            <a:pPr algn="l" eaLnBrk="1" hangingPunct="1">
              <a:defRPr/>
            </a:pPr>
            <a:endParaRPr lang="fr-FR" altLang="fr-FR" sz="3200" dirty="0">
              <a:solidFill>
                <a:schemeClr val="tx1"/>
              </a:solidFill>
            </a:endParaRPr>
          </a:p>
        </p:txBody>
      </p:sp>
      <p:sp>
        <p:nvSpPr>
          <p:cNvPr id="20484" name="Titre 1">
            <a:extLst>
              <a:ext uri="{FF2B5EF4-FFF2-40B4-BE49-F238E27FC236}">
                <a16:creationId xmlns:a16="http://schemas.microsoft.com/office/drawing/2014/main" id="{91381EAF-AFE8-C267-26DF-E2859B089A9E}"/>
              </a:ext>
            </a:extLst>
          </p:cNvPr>
          <p:cNvSpPr txBox="1">
            <a:spLocks/>
          </p:cNvSpPr>
          <p:nvPr/>
        </p:nvSpPr>
        <p:spPr bwMode="auto">
          <a:xfrm>
            <a:off x="2133600" y="316691"/>
            <a:ext cx="7924800" cy="838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5400" b="1" dirty="0">
                <a:solidFill>
                  <a:schemeClr val="bg1"/>
                </a:solidFill>
              </a:rPr>
              <a:t>OBJECTIF</a:t>
            </a:r>
            <a:r>
              <a:rPr lang="fr-FR" altLang="fr-FR" sz="5400" b="1" dirty="0">
                <a:solidFill>
                  <a:schemeClr val="bg1"/>
                </a:solidFill>
                <a:latin typeface="Tahoma" panose="020B0604030504040204" pitchFamily="34" charset="0"/>
              </a:rPr>
              <a:t> (3/7)</a:t>
            </a:r>
            <a:endParaRPr lang="fr-FR" altLang="fr-FR" sz="5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>
            <a:extLst>
              <a:ext uri="{FF2B5EF4-FFF2-40B4-BE49-F238E27FC236}">
                <a16:creationId xmlns:a16="http://schemas.microsoft.com/office/drawing/2014/main" id="{57A83C48-9C7B-D4D4-8B8F-31A10825C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0"/>
            <a:ext cx="7772400" cy="1125538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5400" b="1">
                <a:solidFill>
                  <a:schemeClr val="bg1"/>
                </a:solidFill>
              </a:rPr>
              <a:t>OBJECTIF</a:t>
            </a:r>
            <a:r>
              <a:rPr lang="fr-FR" altLang="fr-FR" sz="5400" b="1">
                <a:solidFill>
                  <a:schemeClr val="bg1"/>
                </a:solidFill>
                <a:latin typeface="Tahoma" panose="020B0604030504040204" pitchFamily="34" charset="0"/>
              </a:rPr>
              <a:t> (4/7)</a:t>
            </a:r>
            <a:endParaRPr lang="fr-FR" altLang="fr-FR" sz="5400" b="1">
              <a:solidFill>
                <a:schemeClr val="bg1"/>
              </a:solidFill>
            </a:endParaRPr>
          </a:p>
        </p:txBody>
      </p:sp>
      <p:sp>
        <p:nvSpPr>
          <p:cNvPr id="15363" name="Sous-titre 2">
            <a:extLst>
              <a:ext uri="{FF2B5EF4-FFF2-40B4-BE49-F238E27FC236}">
                <a16:creationId xmlns:a16="http://schemas.microsoft.com/office/drawing/2014/main" id="{83F15C58-5637-7C59-A0DB-1C8D0B281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25538"/>
            <a:ext cx="9144000" cy="57324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  <a:latin typeface="Arial" panose="020B0604020202020204" pitchFamily="34" charset="0"/>
              </a:rPr>
              <a:t>12 Pratiques </a:t>
            </a:r>
            <a:r>
              <a:rPr lang="en-US" altLang="fr-FR" b="1" dirty="0" err="1">
                <a:solidFill>
                  <a:srgbClr val="FF0000"/>
                </a:solidFill>
                <a:latin typeface="Arial" panose="020B0604020202020204" pitchFamily="34" charset="0"/>
              </a:rPr>
              <a:t>Familiales</a:t>
            </a:r>
            <a:r>
              <a:rPr lang="en-US" altLang="fr-FR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fr-FR" b="1" dirty="0" err="1">
                <a:solidFill>
                  <a:srgbClr val="FF0000"/>
                </a:solidFill>
                <a:latin typeface="Arial" panose="020B0604020202020204" pitchFamily="34" charset="0"/>
              </a:rPr>
              <a:t>Essentielles</a:t>
            </a:r>
            <a:r>
              <a:rPr lang="en-US" altLang="fr-FR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fr-FR" sz="2800" b="1" dirty="0">
                <a:latin typeface="Arial" panose="020B0604020202020204" pitchFamily="34" charset="0"/>
              </a:rPr>
              <a:t>GROUPE 2: PREVENTION DES MALADIES</a:t>
            </a:r>
            <a:endParaRPr lang="en-US" altLang="fr-FR" sz="2800" dirty="0">
              <a:latin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fr-FR" altLang="fr-FR" sz="2800" dirty="0"/>
              <a:t>Vacciner complètement l’enfant avant l’âge de 1 an;</a:t>
            </a:r>
          </a:p>
          <a:p>
            <a:pPr algn="just" eaLnBrk="1" hangingPunct="1">
              <a:buFont typeface="Wingdings" panose="05000000000000000000" pitchFamily="2" charset="2"/>
              <a:buChar char="q"/>
              <a:defRPr/>
            </a:pPr>
            <a:r>
              <a:rPr lang="fr-FR" altLang="fr-FR" sz="2800" dirty="0"/>
              <a:t> Se laver les mains avec de l’eau propre et du savon et observe les bonnes pratiques d’hygiène du milieu: avant de préparer les repas des enfants , de nourrir les enfants et après avoir éliminé correctement les selles des enfants;</a:t>
            </a:r>
          </a:p>
          <a:p>
            <a:pPr algn="just" eaLnBrk="1" hangingPunct="1">
              <a:buFont typeface="Wingdings" panose="05000000000000000000" pitchFamily="2" charset="2"/>
              <a:buChar char="q"/>
              <a:defRPr/>
            </a:pPr>
            <a:r>
              <a:rPr lang="fr-FR" altLang="fr-FR" sz="2800" dirty="0"/>
              <a:t> Les gestantes et les enfants de 0 à 5 ans doivent dormir toutes les nuits sous moustiquaire imprégnée d’insecticide à longue durée d’action (</a:t>
            </a:r>
            <a:r>
              <a:rPr lang="fr-FR" altLang="fr-FR" sz="2800" b="1" dirty="0"/>
              <a:t>MILDA</a:t>
            </a:r>
            <a:r>
              <a:rPr lang="fr-FR" altLang="fr-FR" sz="2800" dirty="0"/>
              <a:t>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>
            <a:extLst>
              <a:ext uri="{FF2B5EF4-FFF2-40B4-BE49-F238E27FC236}">
                <a16:creationId xmlns:a16="http://schemas.microsoft.com/office/drawing/2014/main" id="{45ABB027-73E7-FBF3-57E1-A3A99DF24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142875"/>
            <a:ext cx="7772400" cy="1125538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5400" b="1">
                <a:solidFill>
                  <a:schemeClr val="bg1"/>
                </a:solidFill>
              </a:rPr>
              <a:t>OBJECTIF</a:t>
            </a:r>
            <a:r>
              <a:rPr lang="fr-FR" altLang="fr-FR" sz="5400" b="1">
                <a:solidFill>
                  <a:schemeClr val="bg1"/>
                </a:solidFill>
                <a:latin typeface="Tahoma" panose="020B0604030504040204" pitchFamily="34" charset="0"/>
              </a:rPr>
              <a:t> (5/7)</a:t>
            </a:r>
            <a:endParaRPr lang="fr-FR" altLang="fr-FR" sz="5400">
              <a:solidFill>
                <a:schemeClr val="bg1"/>
              </a:solidFill>
            </a:endParaRPr>
          </a:p>
        </p:txBody>
      </p:sp>
      <p:sp>
        <p:nvSpPr>
          <p:cNvPr id="22531" name="Sous-titre 2">
            <a:extLst>
              <a:ext uri="{FF2B5EF4-FFF2-40B4-BE49-F238E27FC236}">
                <a16:creationId xmlns:a16="http://schemas.microsoft.com/office/drawing/2014/main" id="{2F45D94B-31DC-0A04-0B29-EB9960F0C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8414"/>
            <a:ext cx="9144000" cy="5589587"/>
          </a:xfrm>
        </p:spPr>
        <p:txBody>
          <a:bodyPr/>
          <a:lstStyle/>
          <a:p>
            <a:pPr eaLnBrk="1" hangingPunct="1"/>
            <a:r>
              <a:rPr lang="en-US" altLang="fr-FR" b="1">
                <a:solidFill>
                  <a:srgbClr val="FF0000"/>
                </a:solidFill>
                <a:latin typeface="Arial" panose="020B0604020202020204" pitchFamily="34" charset="0"/>
              </a:rPr>
              <a:t>12 Pratiques Familiales Essentielles </a:t>
            </a:r>
          </a:p>
          <a:p>
            <a:pPr eaLnBrk="1" hangingPunct="1"/>
            <a:r>
              <a:rPr lang="en-US" altLang="fr-FR" b="1">
                <a:solidFill>
                  <a:schemeClr val="tx1"/>
                </a:solidFill>
                <a:latin typeface="Arial" panose="020B0604020202020204" pitchFamily="34" charset="0"/>
              </a:rPr>
              <a:t>GROUPE 3: PRISE EN CHARGE DES CAS A DOMICILE</a:t>
            </a:r>
            <a:endParaRPr lang="en-US" altLang="fr-FR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fr-FR" altLang="fr-FR">
                <a:solidFill>
                  <a:schemeClr val="tx1"/>
                </a:solidFill>
              </a:rPr>
              <a:t>Donner à l’enfant le traitement adéquat à domicile: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fr-FR" altLang="fr-FR" sz="3200"/>
              <a:t> De la diarrhée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fr-FR" altLang="fr-FR" sz="3200"/>
              <a:t> De la fièvre et du paludisme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fr-FR" altLang="fr-FR" sz="3200"/>
              <a:t> Des infections respiratoires aigues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>
            <a:extLst>
              <a:ext uri="{FF2B5EF4-FFF2-40B4-BE49-F238E27FC236}">
                <a16:creationId xmlns:a16="http://schemas.microsoft.com/office/drawing/2014/main" id="{62D00481-6C6F-2B9D-4C66-78EC8E03E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688" y="142875"/>
            <a:ext cx="7772400" cy="1214438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5400" b="1">
                <a:solidFill>
                  <a:schemeClr val="bg1"/>
                </a:solidFill>
              </a:rPr>
              <a:t>OBJECTIF</a:t>
            </a:r>
            <a:r>
              <a:rPr lang="fr-FR" altLang="fr-FR" sz="5400" b="1">
                <a:solidFill>
                  <a:schemeClr val="bg1"/>
                </a:solidFill>
                <a:latin typeface="Tahoma" panose="020B0604030504040204" pitchFamily="34" charset="0"/>
              </a:rPr>
              <a:t> (6/7)</a:t>
            </a:r>
            <a:endParaRPr lang="fr-FR" altLang="fr-FR" sz="5400">
              <a:solidFill>
                <a:schemeClr val="bg1"/>
              </a:solidFill>
            </a:endParaRPr>
          </a:p>
        </p:txBody>
      </p:sp>
      <p:sp>
        <p:nvSpPr>
          <p:cNvPr id="23555" name="Sous-titre 2">
            <a:extLst>
              <a:ext uri="{FF2B5EF4-FFF2-40B4-BE49-F238E27FC236}">
                <a16:creationId xmlns:a16="http://schemas.microsoft.com/office/drawing/2014/main" id="{366FC2D3-9DD4-48A5-19A3-38458A5CF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7314"/>
            <a:ext cx="9144000" cy="5500687"/>
          </a:xfrm>
        </p:spPr>
        <p:txBody>
          <a:bodyPr/>
          <a:lstStyle/>
          <a:p>
            <a:pPr eaLnBrk="1" hangingPunct="1"/>
            <a:r>
              <a:rPr lang="en-US" altLang="fr-FR" sz="3600" b="1">
                <a:solidFill>
                  <a:srgbClr val="FF0000"/>
                </a:solidFill>
                <a:latin typeface="Arial" panose="020B0604020202020204" pitchFamily="34" charset="0"/>
              </a:rPr>
              <a:t>12 Pratiques Familiales Essentielles </a:t>
            </a:r>
            <a:r>
              <a:rPr lang="en-US" altLang="fr-FR" sz="3600" b="1">
                <a:latin typeface="Arial" panose="020B0604020202020204" pitchFamily="34" charset="0"/>
              </a:rPr>
              <a:t>GROUPE 4: RECHERCHE DES SOINS AU CENTRE DE SANTE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fr-FR" altLang="fr-FR" sz="3600"/>
              <a:t>Reconnaitre les signes de danger et de gravité afin de l’emmener à temps chez le prestataire qualifié au centre de santé pour recevoir les soins appropriés;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endParaRPr lang="fr-FR" altLang="fr-FR"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ous-titre 2">
            <a:extLst>
              <a:ext uri="{FF2B5EF4-FFF2-40B4-BE49-F238E27FC236}">
                <a16:creationId xmlns:a16="http://schemas.microsoft.com/office/drawing/2014/main" id="{862A7E5D-89F7-2EF0-5944-D7CAEEB02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7314"/>
            <a:ext cx="9144000" cy="55006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fr-FR" sz="3200" b="1" dirty="0">
                <a:solidFill>
                  <a:srgbClr val="FF0000"/>
                </a:solidFill>
                <a:latin typeface="Arial" panose="020B0604020202020204" pitchFamily="34" charset="0"/>
              </a:rPr>
              <a:t>12 Pratiques </a:t>
            </a:r>
            <a:r>
              <a:rPr lang="en-US" altLang="fr-FR" sz="3200" b="1" dirty="0" err="1">
                <a:solidFill>
                  <a:srgbClr val="FF0000"/>
                </a:solidFill>
                <a:latin typeface="Arial" panose="020B0604020202020204" pitchFamily="34" charset="0"/>
              </a:rPr>
              <a:t>Familiales</a:t>
            </a:r>
            <a:r>
              <a:rPr lang="en-US" altLang="fr-FR" sz="32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Arial" panose="020B0604020202020204" pitchFamily="34" charset="0"/>
              </a:rPr>
              <a:t>Essentielles</a:t>
            </a:r>
            <a:r>
              <a:rPr lang="en-US" altLang="fr-FR" sz="32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fr-FR" sz="3200" b="1" dirty="0">
                <a:solidFill>
                  <a:schemeClr val="tx1"/>
                </a:solidFill>
                <a:latin typeface="Arial" panose="020B0604020202020204" pitchFamily="34" charset="0"/>
              </a:rPr>
              <a:t>GROUPE 4: RECHERCHE DES SOINS AU CENTRE DE SANTE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fr-FR" altLang="fr-FR" sz="3200" dirty="0">
                <a:solidFill>
                  <a:schemeClr val="tx1"/>
                </a:solidFill>
              </a:rPr>
              <a:t>La femme enceinte se fait suivre en CPN recentrée et accouche sous la surveillance d’un personnel qualifié;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fr-FR" altLang="fr-FR" sz="3200" dirty="0">
                <a:solidFill>
                  <a:schemeClr val="tx1"/>
                </a:solidFill>
              </a:rPr>
              <a:t> La mère et l’enfant se font suivre après l’accouchement par un personnel qualifié;</a:t>
            </a:r>
          </a:p>
        </p:txBody>
      </p:sp>
      <p:sp>
        <p:nvSpPr>
          <p:cNvPr id="24579" name="Titre 1">
            <a:extLst>
              <a:ext uri="{FF2B5EF4-FFF2-40B4-BE49-F238E27FC236}">
                <a16:creationId xmlns:a16="http://schemas.microsoft.com/office/drawing/2014/main" id="{A1B7079C-FB3B-843F-2CED-0B8A262F7317}"/>
              </a:ext>
            </a:extLst>
          </p:cNvPr>
          <p:cNvSpPr txBox="1">
            <a:spLocks/>
          </p:cNvSpPr>
          <p:nvPr/>
        </p:nvSpPr>
        <p:spPr bwMode="auto">
          <a:xfrm>
            <a:off x="2640013" y="171450"/>
            <a:ext cx="7772400" cy="121443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5400" b="1">
                <a:solidFill>
                  <a:schemeClr val="bg1"/>
                </a:solidFill>
              </a:rPr>
              <a:t>OBJECTIF</a:t>
            </a:r>
            <a:r>
              <a:rPr lang="fr-FR" altLang="fr-FR" sz="5400" b="1">
                <a:solidFill>
                  <a:schemeClr val="bg1"/>
                </a:solidFill>
                <a:latin typeface="Tahoma" panose="020B0604030504040204" pitchFamily="34" charset="0"/>
              </a:rPr>
              <a:t> (7/7)</a:t>
            </a:r>
            <a:endParaRPr lang="fr-FR" altLang="fr-FR" sz="5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CC9EB9F-5F4F-BF7A-0E4A-E4461826BA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24063" y="214314"/>
            <a:ext cx="8229600" cy="693737"/>
          </a:xfrm>
          <a:solidFill>
            <a:schemeClr val="tx1"/>
          </a:solidFill>
        </p:spPr>
        <p:txBody>
          <a:bodyPr/>
          <a:lstStyle/>
          <a:p>
            <a:pPr algn="ctr" eaLnBrk="1" hangingPunct="1"/>
            <a:r>
              <a:rPr lang="fr-FR" altLang="fr-FR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JUSTIFICATION</a:t>
            </a:r>
          </a:p>
        </p:txBody>
      </p:sp>
      <p:sp>
        <p:nvSpPr>
          <p:cNvPr id="27651" name="Espace réservé du numéro de diapositive 19">
            <a:extLst>
              <a:ext uri="{FF2B5EF4-FFF2-40B4-BE49-F238E27FC236}">
                <a16:creationId xmlns:a16="http://schemas.microsoft.com/office/drawing/2014/main" id="{5A2D7BDE-3D32-CDE2-6FAF-A3319CB6B34F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191D8C1-C069-43FF-BBAC-385A3175F0A9}" type="slidenum">
              <a:rPr lang="fr-FR" altLang="fr-FR" sz="1400"/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fr-FR" altLang="fr-FR" sz="1400"/>
          </a:p>
        </p:txBody>
      </p:sp>
      <p:sp>
        <p:nvSpPr>
          <p:cNvPr id="3081" name="Espace réservé de la date 18">
            <a:extLst>
              <a:ext uri="{FF2B5EF4-FFF2-40B4-BE49-F238E27FC236}">
                <a16:creationId xmlns:a16="http://schemas.microsoft.com/office/drawing/2014/main" id="{184BCE38-2E61-EE96-9540-2BCD6DE65A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7ECC6A91-BC5E-443F-9606-2669244A39A5}" type="datetimeFigureOut">
              <a:rPr lang="fr-FR" smtClean="0"/>
              <a:pPr>
                <a:defRPr/>
              </a:pPr>
              <a:t>30/06/2026</a:t>
            </a:fld>
            <a:endParaRPr lang="fr-FR" dirty="0"/>
          </a:p>
        </p:txBody>
      </p:sp>
      <p:sp>
        <p:nvSpPr>
          <p:cNvPr id="27653" name="Espace réservé du numéro de diapositive 19">
            <a:extLst>
              <a:ext uri="{FF2B5EF4-FFF2-40B4-BE49-F238E27FC236}">
                <a16:creationId xmlns:a16="http://schemas.microsoft.com/office/drawing/2014/main" id="{DDB05544-253C-25D2-E240-1E8FDE2B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66F9276-14A5-4BFC-8A35-3965AEA6C71A}" type="slidenum">
              <a:rPr lang="fr-FR" altLang="fr-FR" smtClean="0"/>
              <a:pPr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fr-FR" altLang="fr-FR" sz="1200">
              <a:solidFill>
                <a:srgbClr val="898989"/>
              </a:solidFill>
            </a:endParaRPr>
          </a:p>
        </p:txBody>
      </p:sp>
      <p:sp>
        <p:nvSpPr>
          <p:cNvPr id="3083" name="Espace réservé du pied de page 20">
            <a:extLst>
              <a:ext uri="{FF2B5EF4-FFF2-40B4-BE49-F238E27FC236}">
                <a16:creationId xmlns:a16="http://schemas.microsoft.com/office/drawing/2014/main" id="{59F5D15E-1075-9D8F-10B7-E00E6644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FR" dirty="0"/>
          </a:p>
        </p:txBody>
      </p:sp>
      <p:graphicFrame>
        <p:nvGraphicFramePr>
          <p:cNvPr id="23" name="Graphique 22">
            <a:extLst>
              <a:ext uri="{FF2B5EF4-FFF2-40B4-BE49-F238E27FC236}">
                <a16:creationId xmlns:a16="http://schemas.microsoft.com/office/drawing/2014/main" id="{AE9036C5-D55E-ECF1-CBFF-DC79BF3AA3EB}"/>
              </a:ext>
            </a:extLst>
          </p:cNvPr>
          <p:cNvGraphicFramePr/>
          <p:nvPr/>
        </p:nvGraphicFramePr>
        <p:xfrm>
          <a:off x="1703512" y="1124744"/>
          <a:ext cx="8496944" cy="5431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2AB6C3F-FDBF-FC03-A47E-410BB85FCF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24063" y="214314"/>
            <a:ext cx="8229600" cy="693737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fr-FR" altLang="fr-FR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ET JUSTIFICATION</a:t>
            </a:r>
          </a:p>
        </p:txBody>
      </p:sp>
      <p:grpSp>
        <p:nvGrpSpPr>
          <p:cNvPr id="28675" name="Group 4">
            <a:extLst>
              <a:ext uri="{FF2B5EF4-FFF2-40B4-BE49-F238E27FC236}">
                <a16:creationId xmlns:a16="http://schemas.microsoft.com/office/drawing/2014/main" id="{D97841D3-708E-BD2E-86E3-9B50C8B9A0B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516064"/>
            <a:ext cx="9144000" cy="5341937"/>
            <a:chOff x="343" y="1056"/>
            <a:chExt cx="4553" cy="2782"/>
          </a:xfrm>
        </p:grpSpPr>
        <p:sp>
          <p:nvSpPr>
            <p:cNvPr id="9221" name="Rectangle 5">
              <a:extLst>
                <a:ext uri="{FF2B5EF4-FFF2-40B4-BE49-F238E27FC236}">
                  <a16:creationId xmlns:a16="http://schemas.microsoft.com/office/drawing/2014/main" id="{6AF3BEA6-D295-2B8F-7706-CECC0CFB6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56"/>
              <a:ext cx="1248" cy="27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/>
            <a:lstStyle/>
            <a:p>
              <a:pPr>
                <a:spcBef>
                  <a:spcPct val="20000"/>
                </a:spcBef>
                <a:defRPr/>
              </a:pPr>
              <a:endParaRPr lang="en-GB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>
                <a:spcBef>
                  <a:spcPct val="20000"/>
                </a:spcBef>
                <a:defRPr/>
              </a:pPr>
              <a:endParaRPr lang="en-GB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  <a:defRPr/>
              </a:pPr>
              <a:r>
                <a:rPr 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– 2%</a:t>
              </a:r>
              <a:endParaRPr lang="fr-FR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defRPr/>
              </a:pPr>
              <a:endParaRPr lang="fr-FR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defRPr/>
              </a:pPr>
              <a:endParaRPr lang="fr-FR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>
                <a:spcBef>
                  <a:spcPct val="20000"/>
                </a:spcBef>
                <a:defRPr/>
              </a:pPr>
              <a:endParaRPr lang="fr-FR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>
                <a:spcBef>
                  <a:spcPct val="20000"/>
                </a:spcBef>
                <a:defRPr/>
              </a:pPr>
              <a:endParaRPr lang="fr-FR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  <a:defRPr/>
              </a:pPr>
              <a:r>
                <a:rPr 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20 – 50%</a:t>
              </a:r>
              <a:endPara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defRPr/>
              </a:pPr>
              <a:endPara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  <a:defRPr/>
              </a:pPr>
              <a:endParaRPr lang="fr-FR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>
                <a:spcBef>
                  <a:spcPct val="20000"/>
                </a:spcBef>
                <a:defRPr/>
              </a:pPr>
              <a:endParaRPr lang="fr-FR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  <a:defRPr/>
              </a:pPr>
              <a:endParaRPr lang="fr-FR" sz="22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  <a:defRPr/>
              </a:pPr>
              <a:r>
                <a:rPr lang="en-US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50 – 80%</a:t>
              </a:r>
              <a:endParaRPr lang="fr-FR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  <a:defRPr/>
              </a:pPr>
              <a:endParaRPr lang="en-GB" sz="22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8682" name="Rectangle 6">
              <a:extLst>
                <a:ext uri="{FF2B5EF4-FFF2-40B4-BE49-F238E27FC236}">
                  <a16:creationId xmlns:a16="http://schemas.microsoft.com/office/drawing/2014/main" id="{8CB5582A-C152-F604-B711-45123E7E7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" y="1632"/>
              <a:ext cx="803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Hôpital</a:t>
              </a:r>
              <a:r>
                <a:rPr lang="fr-FR" altLang="fr-FR" sz="1800">
                  <a:solidFill>
                    <a:schemeClr val="bg1"/>
                  </a:solidFill>
                </a:rPr>
                <a:t> </a:t>
              </a:r>
              <a:r>
                <a:rPr lang="fr-FR" altLang="fr-FR" sz="1800"/>
                <a:t>général</a:t>
              </a:r>
            </a:p>
          </p:txBody>
        </p:sp>
        <p:sp>
          <p:nvSpPr>
            <p:cNvPr id="28683" name="Rectangle 7">
              <a:extLst>
                <a:ext uri="{FF2B5EF4-FFF2-40B4-BE49-F238E27FC236}">
                  <a16:creationId xmlns:a16="http://schemas.microsoft.com/office/drawing/2014/main" id="{EB30A9C0-7A37-0FE5-1C45-BD765D8F9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" y="2688"/>
              <a:ext cx="828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/>
                <a:t>Centre de santé</a:t>
              </a:r>
            </a:p>
          </p:txBody>
        </p:sp>
        <p:graphicFrame>
          <p:nvGraphicFramePr>
            <p:cNvPr id="28684" name="Object 8">
              <a:hlinkClick r:id="" action="ppaction://ole?verb=0"/>
              <a:extLst>
                <a:ext uri="{FF2B5EF4-FFF2-40B4-BE49-F238E27FC236}">
                  <a16:creationId xmlns:a16="http://schemas.microsoft.com/office/drawing/2014/main" id="{6521949A-BD8E-9E43-065E-F6D61814973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91" y="1152"/>
            <a:ext cx="993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5281613" imgH="2430463" progId="">
                    <p:embed/>
                  </p:oleObj>
                </mc:Choice>
                <mc:Fallback>
                  <p:oleObj name="Clip" r:id="rId2" imgW="5281613" imgH="2430463" progId="">
                    <p:embed/>
                    <p:pic>
                      <p:nvPicPr>
                        <p:cNvPr id="28684" name="Object 8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6521949A-BD8E-9E43-065E-F6D61814973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" y="1152"/>
                          <a:ext cx="993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5" name="Object 9">
              <a:extLst>
                <a:ext uri="{FF2B5EF4-FFF2-40B4-BE49-F238E27FC236}">
                  <a16:creationId xmlns:a16="http://schemas.microsoft.com/office/drawing/2014/main" id="{3BB255DB-D650-907A-2D15-599C02AE26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7" y="3024"/>
            <a:ext cx="491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4" imgW="2331720" imgH="2761488" progId="">
                    <p:embed/>
                  </p:oleObj>
                </mc:Choice>
                <mc:Fallback>
                  <p:oleObj name="CorelDRAW" r:id="rId4" imgW="2331720" imgH="2761488" progId="">
                    <p:embed/>
                    <p:pic>
                      <p:nvPicPr>
                        <p:cNvPr id="28685" name="Object 9">
                          <a:extLst>
                            <a:ext uri="{FF2B5EF4-FFF2-40B4-BE49-F238E27FC236}">
                              <a16:creationId xmlns:a16="http://schemas.microsoft.com/office/drawing/2014/main" id="{3BB255DB-D650-907A-2D15-599C02AE26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3024"/>
                          <a:ext cx="491" cy="5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86" name="Group 10">
              <a:extLst>
                <a:ext uri="{FF2B5EF4-FFF2-40B4-BE49-F238E27FC236}">
                  <a16:creationId xmlns:a16="http://schemas.microsoft.com/office/drawing/2014/main" id="{0B38BEB9-2BE0-CEE9-47CF-844CBE9A37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" y="1968"/>
              <a:ext cx="693" cy="906"/>
              <a:chOff x="2400" y="768"/>
              <a:chExt cx="693" cy="1049"/>
            </a:xfrm>
          </p:grpSpPr>
          <p:sp>
            <p:nvSpPr>
              <p:cNvPr id="9227" name="Text Box 11">
                <a:extLst>
                  <a:ext uri="{FF2B5EF4-FFF2-40B4-BE49-F238E27FC236}">
                    <a16:creationId xmlns:a16="http://schemas.microsoft.com/office/drawing/2014/main" id="{66F6328A-C881-FA4A-2531-4FF41AE5E3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4" y="1576"/>
                <a:ext cx="92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endParaRPr lang="fr-BE" sz="20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grpSp>
            <p:nvGrpSpPr>
              <p:cNvPr id="28692" name="Group 12">
                <a:extLst>
                  <a:ext uri="{FF2B5EF4-FFF2-40B4-BE49-F238E27FC236}">
                    <a16:creationId xmlns:a16="http://schemas.microsoft.com/office/drawing/2014/main" id="{64C911CE-847F-5508-2577-BBE59D3B2A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768"/>
                <a:ext cx="693" cy="822"/>
                <a:chOff x="1728" y="960"/>
                <a:chExt cx="693" cy="822"/>
              </a:xfrm>
            </p:grpSpPr>
            <p:graphicFrame>
              <p:nvGraphicFramePr>
                <p:cNvPr id="28693" name="Object 13">
                  <a:extLst>
                    <a:ext uri="{FF2B5EF4-FFF2-40B4-BE49-F238E27FC236}">
                      <a16:creationId xmlns:a16="http://schemas.microsoft.com/office/drawing/2014/main" id="{C05F876F-C35E-EFA1-2A75-5070E10A256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28" y="960"/>
                <a:ext cx="693" cy="8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orelDRAW" r:id="rId4" imgW="2331720" imgH="2761488" progId="">
                        <p:embed/>
                      </p:oleObj>
                    </mc:Choice>
                    <mc:Fallback>
                      <p:oleObj name="CorelDRAW" r:id="rId4" imgW="2331720" imgH="2761488" progId="">
                        <p:embed/>
                        <p:pic>
                          <p:nvPicPr>
                            <p:cNvPr id="28693" name="Object 13">
                              <a:extLst>
                                <a:ext uri="{FF2B5EF4-FFF2-40B4-BE49-F238E27FC236}">
                                  <a16:creationId xmlns:a16="http://schemas.microsoft.com/office/drawing/2014/main" id="{C05F876F-C35E-EFA1-2A75-5070E10A256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28" y="960"/>
                              <a:ext cx="693" cy="8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694" name="Object 14">
                  <a:extLst>
                    <a:ext uri="{FF2B5EF4-FFF2-40B4-BE49-F238E27FC236}">
                      <a16:creationId xmlns:a16="http://schemas.microsoft.com/office/drawing/2014/main" id="{E098E2E0-5722-F04E-DC25-9EE24DD9DFD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968" y="1008"/>
                <a:ext cx="233" cy="2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orelDRAW" r:id="rId6" imgW="2721864" imgH="2679192" progId="">
                        <p:embed/>
                      </p:oleObj>
                    </mc:Choice>
                    <mc:Fallback>
                      <p:oleObj name="CorelDRAW" r:id="rId6" imgW="2721864" imgH="2679192" progId="">
                        <p:embed/>
                        <p:pic>
                          <p:nvPicPr>
                            <p:cNvPr id="28694" name="Object 14">
                              <a:extLst>
                                <a:ext uri="{FF2B5EF4-FFF2-40B4-BE49-F238E27FC236}">
                                  <a16:creationId xmlns:a16="http://schemas.microsoft.com/office/drawing/2014/main" id="{E098E2E0-5722-F04E-DC25-9EE24DD9DFD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68" y="1008"/>
                              <a:ext cx="233" cy="22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8687" name="Rectangle 15">
              <a:extLst>
                <a:ext uri="{FF2B5EF4-FFF2-40B4-BE49-F238E27FC236}">
                  <a16:creationId xmlns:a16="http://schemas.microsoft.com/office/drawing/2014/main" id="{EBC20597-31EA-4F57-6D52-4D15F4066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" y="3552"/>
              <a:ext cx="473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/>
                <a:t>Ménage</a:t>
              </a:r>
            </a:p>
          </p:txBody>
        </p:sp>
        <p:sp>
          <p:nvSpPr>
            <p:cNvPr id="28688" name="AutoShape 16">
              <a:extLst>
                <a:ext uri="{FF2B5EF4-FFF2-40B4-BE49-F238E27FC236}">
                  <a16:creationId xmlns:a16="http://schemas.microsoft.com/office/drawing/2014/main" id="{354F1FF2-B118-6ACD-4EFC-F1DB028CC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488"/>
              <a:ext cx="1008" cy="240"/>
            </a:xfrm>
            <a:prstGeom prst="rightArrow">
              <a:avLst>
                <a:gd name="adj1" fmla="val 50000"/>
                <a:gd name="adj2" fmla="val 105000"/>
              </a:avLst>
            </a:prstGeom>
            <a:solidFill>
              <a:srgbClr val="00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BE" altLang="fr-FR" sz="1800"/>
            </a:p>
          </p:txBody>
        </p:sp>
        <p:sp>
          <p:nvSpPr>
            <p:cNvPr id="28689" name="AutoShape 17">
              <a:extLst>
                <a:ext uri="{FF2B5EF4-FFF2-40B4-BE49-F238E27FC236}">
                  <a16:creationId xmlns:a16="http://schemas.microsoft.com/office/drawing/2014/main" id="{9E525462-B23D-854D-89C7-83CD1CC3C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304"/>
              <a:ext cx="1008" cy="240"/>
            </a:xfrm>
            <a:prstGeom prst="rightArrow">
              <a:avLst>
                <a:gd name="adj1" fmla="val 50000"/>
                <a:gd name="adj2" fmla="val 105000"/>
              </a:avLst>
            </a:prstGeom>
            <a:solidFill>
              <a:srgbClr val="00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BE" altLang="fr-FR" sz="1800"/>
            </a:p>
          </p:txBody>
        </p:sp>
        <p:sp>
          <p:nvSpPr>
            <p:cNvPr id="28690" name="AutoShape 18">
              <a:extLst>
                <a:ext uri="{FF2B5EF4-FFF2-40B4-BE49-F238E27FC236}">
                  <a16:creationId xmlns:a16="http://schemas.microsoft.com/office/drawing/2014/main" id="{0A6D0AD6-5589-C7B5-1724-3C13CE2D8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216"/>
              <a:ext cx="1008" cy="240"/>
            </a:xfrm>
            <a:prstGeom prst="rightArrow">
              <a:avLst>
                <a:gd name="adj1" fmla="val 50000"/>
                <a:gd name="adj2" fmla="val 105000"/>
              </a:avLst>
            </a:prstGeom>
            <a:solidFill>
              <a:srgbClr val="00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BE" altLang="fr-FR" sz="1800"/>
            </a:p>
          </p:txBody>
        </p:sp>
      </p:grpSp>
      <p:sp>
        <p:nvSpPr>
          <p:cNvPr id="28676" name="Espace réservé du numéro de diapositive 19">
            <a:extLst>
              <a:ext uri="{FF2B5EF4-FFF2-40B4-BE49-F238E27FC236}">
                <a16:creationId xmlns:a16="http://schemas.microsoft.com/office/drawing/2014/main" id="{3B2944AD-E01A-BFA7-8D9A-7C9B9D734D4F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0328DA8-8C28-4CF8-AC35-278BE4B64478}" type="slidenum">
              <a:rPr lang="fr-FR" altLang="fr-FR" sz="1400"/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fr-FR" altLang="fr-FR" sz="1400"/>
          </a:p>
        </p:txBody>
      </p:sp>
      <p:sp>
        <p:nvSpPr>
          <p:cNvPr id="3081" name="Espace réservé de la date 18">
            <a:extLst>
              <a:ext uri="{FF2B5EF4-FFF2-40B4-BE49-F238E27FC236}">
                <a16:creationId xmlns:a16="http://schemas.microsoft.com/office/drawing/2014/main" id="{4EE256F0-F83D-8065-88C7-067B26FCE5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7ECC6A91-BC5E-443F-9606-2669244A39A5}" type="datetimeFigureOut">
              <a:rPr lang="fr-FR" smtClean="0"/>
              <a:pPr>
                <a:defRPr/>
              </a:pPr>
              <a:t>30/06/2026</a:t>
            </a:fld>
            <a:endParaRPr lang="fr-FR" dirty="0"/>
          </a:p>
        </p:txBody>
      </p:sp>
      <p:sp>
        <p:nvSpPr>
          <p:cNvPr id="28678" name="Espace réservé du numéro de diapositive 19">
            <a:extLst>
              <a:ext uri="{FF2B5EF4-FFF2-40B4-BE49-F238E27FC236}">
                <a16:creationId xmlns:a16="http://schemas.microsoft.com/office/drawing/2014/main" id="{D4978C31-10BD-BF74-2B09-16A0B495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66F9276-14A5-4BFC-8A35-3965AEA6C71A}" type="slidenum">
              <a:rPr lang="fr-FR" altLang="fr-FR" smtClean="0"/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fr-FR" altLang="fr-FR" sz="1200">
              <a:solidFill>
                <a:srgbClr val="898989"/>
              </a:solidFill>
            </a:endParaRPr>
          </a:p>
        </p:txBody>
      </p:sp>
      <p:sp>
        <p:nvSpPr>
          <p:cNvPr id="3083" name="Espace réservé du pied de page 20">
            <a:extLst>
              <a:ext uri="{FF2B5EF4-FFF2-40B4-BE49-F238E27FC236}">
                <a16:creationId xmlns:a16="http://schemas.microsoft.com/office/drawing/2014/main" id="{C8B3B86A-4F8A-B25E-B4BE-06F2B23B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FR" dirty="0"/>
          </a:p>
        </p:txBody>
      </p:sp>
      <p:sp>
        <p:nvSpPr>
          <p:cNvPr id="28680" name="ZoneTexte 21">
            <a:extLst>
              <a:ext uri="{FF2B5EF4-FFF2-40B4-BE49-F238E27FC236}">
                <a16:creationId xmlns:a16="http://schemas.microsoft.com/office/drawing/2014/main" id="{7DF9B637-7743-FD77-EBBC-A390D262C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9" y="981075"/>
            <a:ext cx="74898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Les lieux de décès de ces enfants sont connus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8039286-B4EE-2B56-01E4-4FFE446AC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007" y="260538"/>
            <a:ext cx="10317480" cy="815927"/>
          </a:xfrm>
          <a:solidFill>
            <a:schemeClr val="tx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fr-FR" altLang="fr-FR" sz="5400" b="1" dirty="0">
                <a:solidFill>
                  <a:schemeClr val="bg1"/>
                </a:solidFill>
                <a:latin typeface="+mn-lt"/>
                <a:cs typeface="Tahoma" panose="020B0604030504040204" pitchFamily="34" charset="0"/>
              </a:rPr>
              <a:t>PRINCIPES 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A0C7679-41ED-8E79-7DD1-D2F85F537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117" y="1076465"/>
            <a:ext cx="11010124" cy="578153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Destinée aux agents de santé des ESPC;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Approche syndromique;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Approche systématique;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Utilisation des signes spécifiques pour la classification de la maladie;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Approche rationnelle pour le traitement          (choisir le traitement et traiter l’enfant);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Conseiller la mère;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r-FR" altLang="fr-FR" sz="3600" dirty="0"/>
              <a:t>Organiser  la continuité des soins (suivi);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>
            <a:extLst>
              <a:ext uri="{FF2B5EF4-FFF2-40B4-BE49-F238E27FC236}">
                <a16:creationId xmlns:a16="http://schemas.microsoft.com/office/drawing/2014/main" id="{D073EF6C-4C4F-A613-9E2A-3C40405E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274639"/>
            <a:ext cx="9336832" cy="922337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fr-FR" altLang="fr-FR" sz="4000" b="1">
                <a:solidFill>
                  <a:schemeClr val="bg1"/>
                </a:solidFill>
              </a:rPr>
              <a:t> SIGNES GENERAUX DE DANGERS</a:t>
            </a:r>
          </a:p>
        </p:txBody>
      </p:sp>
      <p:sp>
        <p:nvSpPr>
          <p:cNvPr id="24579" name="Espace réservé du contenu 2">
            <a:extLst>
              <a:ext uri="{FF2B5EF4-FFF2-40B4-BE49-F238E27FC236}">
                <a16:creationId xmlns:a16="http://schemas.microsoft.com/office/drawing/2014/main" id="{FA4C46C6-6DEB-0FBC-49C9-74A5D8E0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89" y="1196976"/>
            <a:ext cx="10804849" cy="56610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fr-FR" altLang="fr-FR" sz="3600" b="1" dirty="0"/>
              <a:t>Cinq signes généraux </a:t>
            </a:r>
            <a:r>
              <a:rPr lang="fr-FR" altLang="fr-FR" sz="3600" dirty="0"/>
              <a:t>de dangers: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 L’enfant vomit tout ce qu’il boit ou tout ce qu’il consomme;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 L’enfant est incapable de boire ou de prendre le sein;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 L’enfant a eu des antécédents de convulsions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 L’enfant a des convulsions actuelles;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fr-FR" altLang="fr-FR" sz="3600" dirty="0"/>
              <a:t> L’enfant est léthargique ou inconscient;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re 1">
            <a:extLst>
              <a:ext uri="{FF2B5EF4-FFF2-40B4-BE49-F238E27FC236}">
                <a16:creationId xmlns:a16="http://schemas.microsoft.com/office/drawing/2014/main" id="{D6E2C514-F50C-610A-36DD-81C43DFD1F6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fr-FR" altLang="fr-FR" sz="4800" b="1">
                <a:solidFill>
                  <a:schemeClr val="bg1"/>
                </a:solidFill>
              </a:rPr>
              <a:t> FICHES DE PRISE EN CHARGE</a:t>
            </a:r>
          </a:p>
        </p:txBody>
      </p:sp>
      <p:sp>
        <p:nvSpPr>
          <p:cNvPr id="26627" name="Espace réservé du contenu 2">
            <a:extLst>
              <a:ext uri="{FF2B5EF4-FFF2-40B4-BE49-F238E27FC236}">
                <a16:creationId xmlns:a16="http://schemas.microsoft.com/office/drawing/2014/main" id="{07828ECB-9D65-A3E9-8A70-BFE911142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417638"/>
            <a:ext cx="9144000" cy="544036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fr-FR" altLang="fr-FR" sz="3600" dirty="0"/>
              <a:t> </a:t>
            </a:r>
          </a:p>
          <a:p>
            <a:pPr>
              <a:defRPr/>
            </a:pPr>
            <a:r>
              <a:rPr lang="fr-FR" altLang="fr-FR" sz="3600" dirty="0"/>
              <a:t>La fiche des nouveaux nés de </a:t>
            </a:r>
            <a:r>
              <a:rPr lang="fr-FR" altLang="fr-FR" sz="3600" b="1" dirty="0"/>
              <a:t>0 à 1 semaine;</a:t>
            </a:r>
          </a:p>
          <a:p>
            <a:pPr marL="0" indent="0">
              <a:buNone/>
              <a:defRPr/>
            </a:pPr>
            <a:endParaRPr lang="fr-FR" altLang="fr-FR" sz="3600" dirty="0"/>
          </a:p>
          <a:p>
            <a:pPr>
              <a:defRPr/>
            </a:pPr>
            <a:r>
              <a:rPr lang="fr-FR" altLang="fr-FR" sz="3600" dirty="0"/>
              <a:t> la fiche des enfants d’</a:t>
            </a:r>
            <a:r>
              <a:rPr lang="fr-FR" altLang="fr-FR" sz="3600" b="1" dirty="0"/>
              <a:t>1 semaine à 2 mois;</a:t>
            </a:r>
          </a:p>
          <a:p>
            <a:pPr marL="0" indent="0">
              <a:buNone/>
              <a:defRPr/>
            </a:pPr>
            <a:endParaRPr lang="fr-FR" altLang="fr-FR" sz="3600" dirty="0"/>
          </a:p>
          <a:p>
            <a:pPr>
              <a:defRPr/>
            </a:pPr>
            <a:r>
              <a:rPr lang="fr-FR" altLang="fr-FR" sz="3600" dirty="0"/>
              <a:t> la fiche des enfants de </a:t>
            </a:r>
            <a:r>
              <a:rPr lang="fr-FR" altLang="fr-FR" sz="3600" b="1" dirty="0"/>
              <a:t>2 mois à 5 ans;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63677B3-7854-197C-1C59-55048821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9144000" cy="838200"/>
          </a:xfrm>
          <a:solidFill>
            <a:schemeClr val="tx1"/>
          </a:solidFill>
        </p:spPr>
        <p:txBody>
          <a:bodyPr/>
          <a:lstStyle/>
          <a:p>
            <a:pPr eaLnBrk="1" hangingPunct="1"/>
            <a:r>
              <a:rPr lang="en-US" altLang="fr-FR" sz="3200" b="1">
                <a:solidFill>
                  <a:schemeClr val="bg1"/>
                </a:solidFill>
                <a:latin typeface="Arial" panose="020B0604020202020204" pitchFamily="34" charset="0"/>
              </a:rPr>
              <a:t>DIFFERENTES BANDES DE LA PCIMNE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D9E0657-EA71-7E53-B426-B58C6184C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219200"/>
            <a:ext cx="9144000" cy="56388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fr-FR" sz="2400" b="1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4820" name="Text Box 8">
            <a:extLst>
              <a:ext uri="{FF2B5EF4-FFF2-40B4-BE49-F238E27FC236}">
                <a16:creationId xmlns:a16="http://schemas.microsoft.com/office/drawing/2014/main" id="{904D7CF3-D5EB-8175-99B4-6BACD1CD7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4" y="2214563"/>
            <a:ext cx="2160587" cy="369332"/>
          </a:xfrm>
          <a:prstGeom prst="rect">
            <a:avLst/>
          </a:prstGeom>
          <a:solidFill>
            <a:srgbClr val="FF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1800">
                <a:latin typeface="Arial" panose="020B0604020202020204" pitchFamily="34" charset="0"/>
              </a:rPr>
              <a:t>Rose</a:t>
            </a:r>
          </a:p>
        </p:txBody>
      </p:sp>
      <p:sp>
        <p:nvSpPr>
          <p:cNvPr id="34821" name="Text Box 9">
            <a:extLst>
              <a:ext uri="{FF2B5EF4-FFF2-40B4-BE49-F238E27FC236}">
                <a16:creationId xmlns:a16="http://schemas.microsoft.com/office/drawing/2014/main" id="{20A3C732-88D3-C2EB-6255-A3B57743A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9" y="3643313"/>
            <a:ext cx="2160587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1800">
                <a:latin typeface="Arial" panose="020B0604020202020204" pitchFamily="34" charset="0"/>
              </a:rPr>
              <a:t>Jaune</a:t>
            </a:r>
          </a:p>
        </p:txBody>
      </p:sp>
      <p:sp>
        <p:nvSpPr>
          <p:cNvPr id="34822" name="Text Box 10">
            <a:extLst>
              <a:ext uri="{FF2B5EF4-FFF2-40B4-BE49-F238E27FC236}">
                <a16:creationId xmlns:a16="http://schemas.microsoft.com/office/drawing/2014/main" id="{3D14DB85-09A7-35A5-ADF8-C158F5AFA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9" y="5429250"/>
            <a:ext cx="2160587" cy="369332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1800">
                <a:latin typeface="Arial" panose="020B0604020202020204" pitchFamily="34" charset="0"/>
              </a:rPr>
              <a:t>Vert</a:t>
            </a:r>
          </a:p>
        </p:txBody>
      </p:sp>
      <p:sp>
        <p:nvSpPr>
          <p:cNvPr id="34823" name="Text Box 12">
            <a:extLst>
              <a:ext uri="{FF2B5EF4-FFF2-40B4-BE49-F238E27FC236}">
                <a16:creationId xmlns:a16="http://schemas.microsoft.com/office/drawing/2014/main" id="{90529A77-CB41-6E57-8670-9215CB845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2214563"/>
            <a:ext cx="2667000" cy="862012"/>
          </a:xfrm>
          <a:prstGeom prst="rect">
            <a:avLst/>
          </a:prstGeom>
          <a:solidFill>
            <a:srgbClr val="FF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000">
                <a:latin typeface="Arial" panose="020B0604020202020204" pitchFamily="34" charset="0"/>
              </a:rPr>
              <a:t>Référence d’urgence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000">
                <a:latin typeface="Arial" panose="020B0604020202020204" pitchFamily="34" charset="0"/>
              </a:rPr>
              <a:t>Après les 1ers soins</a:t>
            </a:r>
          </a:p>
        </p:txBody>
      </p:sp>
      <p:sp>
        <p:nvSpPr>
          <p:cNvPr id="34824" name="Text Box 13">
            <a:extLst>
              <a:ext uri="{FF2B5EF4-FFF2-40B4-BE49-F238E27FC236}">
                <a16:creationId xmlns:a16="http://schemas.microsoft.com/office/drawing/2014/main" id="{25452D06-1459-C708-E21C-A1E078C9F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3786188"/>
            <a:ext cx="2667000" cy="70788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000">
                <a:latin typeface="Arial" panose="020B0604020202020204" pitchFamily="34" charset="0"/>
              </a:rPr>
              <a:t> Traitement spécifique</a:t>
            </a:r>
          </a:p>
        </p:txBody>
      </p:sp>
      <p:sp>
        <p:nvSpPr>
          <p:cNvPr id="34825" name="Text Box 14">
            <a:extLst>
              <a:ext uri="{FF2B5EF4-FFF2-40B4-BE49-F238E27FC236}">
                <a16:creationId xmlns:a16="http://schemas.microsoft.com/office/drawing/2014/main" id="{4F76F51E-4CB3-13F9-D636-0CC64779F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5357813"/>
            <a:ext cx="2590800" cy="707886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000">
                <a:latin typeface="Arial" panose="020B0604020202020204" pitchFamily="34" charset="0"/>
              </a:rPr>
              <a:t>Prise en charge à domicile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  <p:bldP spid="34821" grpId="0" animBg="1"/>
      <p:bldP spid="34822" grpId="0" animBg="1"/>
      <p:bldP spid="34823" grpId="0" animBg="1"/>
      <p:bldP spid="34824" grpId="0" animBg="1"/>
      <p:bldP spid="348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D53265C-8499-CA8B-7845-8121726CF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58751"/>
            <a:ext cx="8382000" cy="887413"/>
          </a:xfrm>
          <a:solidFill>
            <a:schemeClr val="tx1"/>
          </a:solidFill>
          <a:ln w="50800" cap="flat">
            <a:solidFill>
              <a:schemeClr val="tx2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/>
            <a:r>
              <a:rPr lang="fr-FR" altLang="fr-FR" sz="2800" b="1">
                <a:latin typeface="Comic Sans MS" panose="030F0702030302020204" pitchFamily="66" charset="0"/>
              </a:rPr>
              <a:t> </a:t>
            </a:r>
            <a: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PROCEDURE DE LA PRISE EN CHARGE DE </a:t>
            </a:r>
            <a:b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L’ENFANT MALADE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6197792-8371-3C6A-2D5F-203E9CD46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295401"/>
            <a:ext cx="9036050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063DE8"/>
                </a:solidFill>
                <a:latin typeface="Comic Sans MS" panose="030F0702030302020204" pitchFamily="66" charset="0"/>
              </a:rPr>
              <a:t>1.  Evaluer l’enfant malade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63DE8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FC0128"/>
                </a:solidFill>
                <a:latin typeface="Comic Sans MS" panose="030F0702030302020204" pitchFamily="66" charset="0"/>
              </a:rPr>
              <a:t>2. Classer la maladie de l’enfant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63DE8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063DE8"/>
                </a:solidFill>
                <a:latin typeface="Comic Sans MS" panose="030F0702030302020204" pitchFamily="66" charset="0"/>
              </a:rPr>
              <a:t>3. Choisir ou identifier le traitement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63DE8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438E00"/>
                </a:solidFill>
                <a:latin typeface="Comic Sans MS" panose="030F0702030302020204" pitchFamily="66" charset="0"/>
              </a:rPr>
              <a:t>4. Traiter l’enfant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63DE8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063DE8"/>
                </a:solidFill>
                <a:latin typeface="Comic Sans MS" panose="030F0702030302020204" pitchFamily="66" charset="0"/>
              </a:rPr>
              <a:t>5. Conseiller la mère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63DE8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rgbClr val="4C2E00"/>
                </a:solidFill>
                <a:latin typeface="Comic Sans MS" panose="030F0702030302020204" pitchFamily="66" charset="0"/>
              </a:rPr>
              <a:t>6. Assurer le suivi de l’enfant malade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87580CB-D7F9-20C0-ABD0-501D8F737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"/>
            <a:ext cx="7772400" cy="715963"/>
          </a:xfrm>
          <a:solidFill>
            <a:schemeClr val="tx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1. Evaluer l’enfant  malade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5C82B52-83CB-8F7B-F34D-822BFB9E4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1792289"/>
            <a:ext cx="4064000" cy="4770437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C0128"/>
                </a:solidFill>
                <a:latin typeface="Arial" panose="020B0604020202020204" pitchFamily="34" charset="0"/>
              </a:rPr>
              <a:t>Rechercher les signes de danger</a:t>
            </a:r>
            <a:endParaRPr lang="fr-FR" altLang="fr-FR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F5008"/>
                </a:solidFill>
                <a:latin typeface="Arial" panose="020B0604020202020204" pitchFamily="34" charset="0"/>
              </a:rPr>
              <a:t>Demander</a:t>
            </a:r>
            <a:r>
              <a:rPr lang="fr-FR" altLang="fr-FR" sz="1800" b="1">
                <a:solidFill>
                  <a:srgbClr val="FF5008"/>
                </a:solidFill>
                <a:latin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 b="1">
                <a:latin typeface="Arial" panose="020B0604020202020204" pitchFamily="34" charset="0"/>
              </a:rPr>
              <a:t>Si l’enfant tousse ou a des difficultés respiratoires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 b="1">
                <a:latin typeface="Arial" panose="020B0604020202020204" pitchFamily="34" charset="0"/>
              </a:rPr>
              <a:t>L’enfant a-t il la diarrhée?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 b="1">
                <a:latin typeface="Arial" panose="020B0604020202020204" pitchFamily="34" charset="0"/>
              </a:rPr>
              <a:t>L’enfant a-t il la fièvre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>
                <a:latin typeface="Arial" panose="020B0604020202020204" pitchFamily="34" charset="0"/>
              </a:rPr>
              <a:t>L’enfant a-t il un problème d’oreille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800" b="1" i="1">
              <a:solidFill>
                <a:srgbClr val="FC0128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C0128"/>
                </a:solidFill>
                <a:latin typeface="Arial" panose="020B0604020202020204" pitchFamily="34" charset="0"/>
              </a:rPr>
              <a:t>Ensuite</a:t>
            </a:r>
            <a:r>
              <a:rPr lang="fr-FR" altLang="fr-FR" sz="1800" b="1">
                <a:solidFill>
                  <a:srgbClr val="FC0128"/>
                </a:solidFill>
                <a:latin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>
                <a:solidFill>
                  <a:srgbClr val="063DE8"/>
                </a:solidFill>
                <a:latin typeface="Arial" panose="020B0604020202020204" pitchFamily="34" charset="0"/>
              </a:rPr>
              <a:t>Vérifier l’état nutritionnel et rechercher</a:t>
            </a:r>
            <a:endParaRPr lang="fr-FR" altLang="fr-FR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63DE8"/>
                </a:solidFill>
                <a:latin typeface="Arial" panose="020B0604020202020204" pitchFamily="34" charset="0"/>
              </a:rPr>
              <a:t>l’anémie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C0128"/>
                </a:solidFill>
                <a:latin typeface="Arial" panose="020B0604020202020204" pitchFamily="34" charset="0"/>
              </a:rPr>
              <a:t>Ensuite</a:t>
            </a:r>
            <a:endParaRPr lang="fr-FR" altLang="fr-FR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>
                <a:latin typeface="Arial" panose="020B0604020202020204" pitchFamily="34" charset="0"/>
              </a:rPr>
              <a:t>Vérifier l’état vaccinal de l’enfant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Arial" panose="020B0604020202020204" pitchFamily="34" charset="0"/>
              </a:rPr>
              <a:t>Ensuite </a:t>
            </a:r>
            <a:r>
              <a:rPr lang="fr-FR" altLang="fr-FR" sz="1800">
                <a:latin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800">
                <a:latin typeface="Arial" panose="020B0604020202020204" pitchFamily="34" charset="0"/>
              </a:rPr>
              <a:t>demander s’il y a d’autres problèmes</a:t>
            </a:r>
          </a:p>
          <a:p>
            <a:pPr latinLnBrk="1">
              <a:spcBef>
                <a:spcPct val="0"/>
              </a:spcBef>
              <a:buFontTx/>
              <a:buNone/>
            </a:pPr>
            <a:endParaRPr lang="fr-FR" altLang="fr-FR" sz="1800">
              <a:latin typeface="Arial" panose="020B0604020202020204" pitchFamily="34" charset="0"/>
            </a:endParaRPr>
          </a:p>
        </p:txBody>
      </p:sp>
      <p:sp>
        <p:nvSpPr>
          <p:cNvPr id="38916" name="AutoShape 4">
            <a:extLst>
              <a:ext uri="{FF2B5EF4-FFF2-40B4-BE49-F238E27FC236}">
                <a16:creationId xmlns:a16="http://schemas.microsoft.com/office/drawing/2014/main" id="{26DA126F-CF42-1D94-08F0-5A599F53A9F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-33337" y="3762376"/>
            <a:ext cx="4187825" cy="200025"/>
          </a:xfrm>
          <a:prstGeom prst="rightArrow">
            <a:avLst>
              <a:gd name="adj1" fmla="val 50000"/>
              <a:gd name="adj2" fmla="val 1046922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Arial" panose="020B0604020202020204" pitchFamily="34" charset="0"/>
            </a:endParaRP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6F49DD4D-F46C-8EF1-CC38-0881AC0B1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2005014"/>
            <a:ext cx="2697162" cy="376237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C0128"/>
                </a:solidFill>
                <a:latin typeface="Arial" panose="020B0604020202020204" pitchFamily="34" charset="0"/>
              </a:rPr>
              <a:t>Pour toute réponse “oui”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18506D56-A4D5-5B71-08FE-4641B523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4" y="2719388"/>
            <a:ext cx="1171575" cy="925512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Poser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d’autres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questions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66721732-3389-FB3D-877D-D2095230B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164" y="2770189"/>
            <a:ext cx="2149475" cy="6508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63DE8"/>
                </a:solidFill>
                <a:latin typeface="Arial" panose="020B0604020202020204" pitchFamily="34" charset="0"/>
              </a:rPr>
              <a:t>Regarder, écouter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63DE8"/>
                </a:solidFill>
                <a:latin typeface="Arial" panose="020B0604020202020204" pitchFamily="34" charset="0"/>
              </a:rPr>
              <a:t>et palper</a:t>
            </a: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37BB4320-08C3-714C-1508-2299D9E93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1" y="4157664"/>
            <a:ext cx="93936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Signes</a:t>
            </a:r>
            <a:endParaRPr lang="fr-FR" altLang="fr-FR" sz="1800">
              <a:latin typeface="Arial" panose="020B0604020202020204" pitchFamily="34" charset="0"/>
            </a:endParaRPr>
          </a:p>
        </p:txBody>
      </p:sp>
      <p:sp>
        <p:nvSpPr>
          <p:cNvPr id="38921" name="Rectangle 9">
            <a:extLst>
              <a:ext uri="{FF2B5EF4-FFF2-40B4-BE49-F238E27FC236}">
                <a16:creationId xmlns:a16="http://schemas.microsoft.com/office/drawing/2014/main" id="{D7790214-6403-DEC3-4A9D-9FAD24E9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181601"/>
            <a:ext cx="1676400" cy="1476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600" b="1" i="1">
                <a:latin typeface="Arial" panose="020B0604020202020204" pitchFamily="34" charset="0"/>
              </a:rPr>
              <a:t>Classer la maladie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fr-FR" altLang="fr-FR" sz="1600" b="1" i="1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600" b="1" i="1">
                <a:latin typeface="Arial" panose="020B0604020202020204" pitchFamily="34" charset="0"/>
              </a:rPr>
              <a:t>Choisir le traitement</a:t>
            </a:r>
            <a:endParaRPr lang="fr-FR" altLang="fr-FR" sz="140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Char char="•"/>
            </a:pPr>
            <a:endParaRPr lang="fr-FR" altLang="fr-FR" sz="1000">
              <a:solidFill>
                <a:srgbClr val="FC0128"/>
              </a:solidFill>
              <a:latin typeface="Arial" panose="020B0604020202020204" pitchFamily="34" charset="0"/>
            </a:endParaRPr>
          </a:p>
        </p:txBody>
      </p:sp>
      <p:sp>
        <p:nvSpPr>
          <p:cNvPr id="38922" name="Oval 10">
            <a:extLst>
              <a:ext uri="{FF2B5EF4-FFF2-40B4-BE49-F238E27FC236}">
                <a16:creationId xmlns:a16="http://schemas.microsoft.com/office/drawing/2014/main" id="{EC2EC65D-2270-CFCE-1113-19A049E2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1" y="3978275"/>
            <a:ext cx="1273175" cy="725488"/>
          </a:xfrm>
          <a:prstGeom prst="ellipse">
            <a:avLst/>
          </a:prstGeom>
          <a:noFill/>
          <a:ln w="12700">
            <a:solidFill>
              <a:srgbClr val="FC012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Arial" panose="020B0604020202020204" pitchFamily="34" charset="0"/>
            </a:endParaRPr>
          </a:p>
        </p:txBody>
      </p:sp>
      <p:sp>
        <p:nvSpPr>
          <p:cNvPr id="38923" name="Line 11">
            <a:extLst>
              <a:ext uri="{FF2B5EF4-FFF2-40B4-BE49-F238E27FC236}">
                <a16:creationId xmlns:a16="http://schemas.microsoft.com/office/drawing/2014/main" id="{26C63D5A-B799-45AF-598A-27906D443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703638"/>
            <a:ext cx="496888" cy="23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924" name="Line 12">
            <a:extLst>
              <a:ext uri="{FF2B5EF4-FFF2-40B4-BE49-F238E27FC236}">
                <a16:creationId xmlns:a16="http://schemas.microsoft.com/office/drawing/2014/main" id="{7CDDB446-E9E6-1D02-FAF8-1FD5B76BDE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9539" y="3597275"/>
            <a:ext cx="669925" cy="330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F3DC7952-60B8-8BBA-8183-BF85AB743277}"/>
              </a:ext>
            </a:extLst>
          </p:cNvPr>
          <p:cNvSpPr>
            <a:spLocks noChangeShapeType="1"/>
          </p:cNvSpPr>
          <p:nvPr/>
        </p:nvSpPr>
        <p:spPr bwMode="auto">
          <a:xfrm rot="1715080">
            <a:off x="7924801" y="4572000"/>
            <a:ext cx="41275" cy="5857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926" name="Text Box 14">
            <a:extLst>
              <a:ext uri="{FF2B5EF4-FFF2-40B4-BE49-F238E27FC236}">
                <a16:creationId xmlns:a16="http://schemas.microsoft.com/office/drawing/2014/main" id="{BE3C9BAE-9FE1-27CD-0D40-1DD32DF1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295400"/>
            <a:ext cx="6356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accent2"/>
                </a:solidFill>
                <a:latin typeface="Comic Sans MS" panose="030F0702030302020204" pitchFamily="66" charset="0"/>
              </a:rPr>
              <a:t>Demander à la mère quels sont les  problèmes de l ’enfant</a:t>
            </a:r>
          </a:p>
        </p:txBody>
      </p:sp>
      <p:sp>
        <p:nvSpPr>
          <p:cNvPr id="38927" name="AutoShape 15">
            <a:extLst>
              <a:ext uri="{FF2B5EF4-FFF2-40B4-BE49-F238E27FC236}">
                <a16:creationId xmlns:a16="http://schemas.microsoft.com/office/drawing/2014/main" id="{1B45C0DB-5C76-0032-4CEF-A94B4B106615}"/>
              </a:ext>
            </a:extLst>
          </p:cNvPr>
          <p:cNvSpPr>
            <a:spLocks/>
          </p:cNvSpPr>
          <p:nvPr/>
        </p:nvSpPr>
        <p:spPr bwMode="auto">
          <a:xfrm>
            <a:off x="5943600" y="1989138"/>
            <a:ext cx="457200" cy="1782762"/>
          </a:xfrm>
          <a:prstGeom prst="rightBrace">
            <a:avLst>
              <a:gd name="adj1" fmla="val 3249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Arial" panose="020B0604020202020204" pitchFamily="34" charset="0"/>
            </a:endParaRPr>
          </a:p>
        </p:txBody>
      </p:sp>
      <p:sp>
        <p:nvSpPr>
          <p:cNvPr id="38928" name="Line 16">
            <a:extLst>
              <a:ext uri="{FF2B5EF4-FFF2-40B4-BE49-F238E27FC236}">
                <a16:creationId xmlns:a16="http://schemas.microsoft.com/office/drawing/2014/main" id="{39838897-D814-3371-3E33-C20CFA5358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332038"/>
            <a:ext cx="609600" cy="411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929" name="Line 17">
            <a:extLst>
              <a:ext uri="{FF2B5EF4-FFF2-40B4-BE49-F238E27FC236}">
                <a16:creationId xmlns:a16="http://schemas.microsoft.com/office/drawing/2014/main" id="{42576E87-A886-0131-9270-6B42E46B7B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2400300"/>
            <a:ext cx="457200" cy="2746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930" name="Line 18">
            <a:extLst>
              <a:ext uri="{FF2B5EF4-FFF2-40B4-BE49-F238E27FC236}">
                <a16:creationId xmlns:a16="http://schemas.microsoft.com/office/drawing/2014/main" id="{A4675FD8-6828-BBFD-7F41-8284F2B4AF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2400300"/>
            <a:ext cx="609600" cy="2746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931" name="Rectangle 19">
            <a:extLst>
              <a:ext uri="{FF2B5EF4-FFF2-40B4-BE49-F238E27FC236}">
                <a16:creationId xmlns:a16="http://schemas.microsoft.com/office/drawing/2014/main" id="{33B31EEE-66D3-A784-B01D-6171C182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105401"/>
            <a:ext cx="1828800" cy="1476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600" b="1" i="1">
                <a:latin typeface="Arial" panose="020B0604020202020204" pitchFamily="34" charset="0"/>
              </a:rPr>
              <a:t> Traiter l ’enfant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600" b="1" i="1">
                <a:latin typeface="Arial" panose="020B0604020202020204" pitchFamily="34" charset="0"/>
              </a:rPr>
              <a:t> Conseiller la mère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fr-FR" altLang="fr-FR" sz="1600" b="1" i="1">
                <a:latin typeface="Arial" panose="020B0604020202020204" pitchFamily="34" charset="0"/>
              </a:rPr>
              <a:t> Suivre l ’enfant  malade</a:t>
            </a:r>
            <a:endParaRPr lang="fr-FR" altLang="fr-FR" sz="140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fr-FR" altLang="fr-FR" sz="1000">
              <a:solidFill>
                <a:srgbClr val="FC0128"/>
              </a:solidFill>
              <a:latin typeface="Arial" panose="020B0604020202020204" pitchFamily="34" charset="0"/>
            </a:endParaRPr>
          </a:p>
        </p:txBody>
      </p:sp>
      <p:sp>
        <p:nvSpPr>
          <p:cNvPr id="38932" name="Line 20">
            <a:extLst>
              <a:ext uri="{FF2B5EF4-FFF2-40B4-BE49-F238E27FC236}">
                <a16:creationId xmlns:a16="http://schemas.microsoft.com/office/drawing/2014/main" id="{F4799515-7BD9-1861-4CCA-75976C64A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59436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82443FE-4EE9-8BE9-A475-F40434BC4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5200" y="635000"/>
            <a:ext cx="7721600" cy="1092200"/>
          </a:xfrm>
          <a:solidFill>
            <a:schemeClr val="tx1"/>
          </a:solidFill>
          <a:ln w="50800" cap="flat">
            <a:solidFill>
              <a:schemeClr val="tx2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2. Classer la (les) maladie(s)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5CE78EB-0E08-86A7-727F-19CAE063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139" y="2728914"/>
            <a:ext cx="3875087" cy="366767"/>
          </a:xfrm>
          <a:prstGeom prst="rect">
            <a:avLst/>
          </a:prstGeom>
          <a:solidFill>
            <a:srgbClr val="E816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AFD00"/>
                </a:solidFill>
                <a:latin typeface="Arial" panose="020B0604020202020204" pitchFamily="34" charset="0"/>
              </a:rPr>
              <a:t>REFERER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5546D260-1C85-646B-7362-E566CE282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4" y="4014788"/>
            <a:ext cx="3016917" cy="643766"/>
          </a:xfrm>
          <a:prstGeom prst="rect">
            <a:avLst/>
          </a:pr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Traiter au CS et conseiller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 la mère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A70DA6EA-8670-586B-9764-17B98F6CE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4" y="5348288"/>
            <a:ext cx="3183565" cy="643766"/>
          </a:xfrm>
          <a:prstGeom prst="rect">
            <a:avLst/>
          </a:prstGeom>
          <a:solidFill>
            <a:srgbClr val="7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Conseiller pour les soins à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domicile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6C9D734C-4229-B61F-E799-9B9A21E12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3935413"/>
            <a:ext cx="1154112" cy="4064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1">
                <a:latin typeface="Arial" panose="020B0604020202020204" pitchFamily="34" charset="0"/>
              </a:rPr>
              <a:t>SIGNES</a:t>
            </a:r>
          </a:p>
        </p:txBody>
      </p:sp>
      <p:grpSp>
        <p:nvGrpSpPr>
          <p:cNvPr id="40967" name="Group 7">
            <a:extLst>
              <a:ext uri="{FF2B5EF4-FFF2-40B4-BE49-F238E27FC236}">
                <a16:creationId xmlns:a16="http://schemas.microsoft.com/office/drawing/2014/main" id="{AFEB2001-3C60-A155-3CA3-530F82374710}"/>
              </a:ext>
            </a:extLst>
          </p:cNvPr>
          <p:cNvGrpSpPr>
            <a:grpSpLocks/>
          </p:cNvGrpSpPr>
          <p:nvPr/>
        </p:nvGrpSpPr>
        <p:grpSpPr bwMode="auto">
          <a:xfrm>
            <a:off x="4310064" y="2952751"/>
            <a:ext cx="979487" cy="2805113"/>
            <a:chOff x="1755" y="1860"/>
            <a:chExt cx="617" cy="1767"/>
          </a:xfrm>
        </p:grpSpPr>
        <p:sp>
          <p:nvSpPr>
            <p:cNvPr id="40970" name="Line 8">
              <a:extLst>
                <a:ext uri="{FF2B5EF4-FFF2-40B4-BE49-F238E27FC236}">
                  <a16:creationId xmlns:a16="http://schemas.microsoft.com/office/drawing/2014/main" id="{0FB512E4-8E54-C2B6-541C-8600FFA00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5" y="1864"/>
              <a:ext cx="0" cy="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71" name="Line 9">
              <a:extLst>
                <a:ext uri="{FF2B5EF4-FFF2-40B4-BE49-F238E27FC236}">
                  <a16:creationId xmlns:a16="http://schemas.microsoft.com/office/drawing/2014/main" id="{B52707B3-ECD9-5E4B-84CB-5F4CE1D9D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1860"/>
              <a:ext cx="5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72" name="Line 10">
              <a:extLst>
                <a:ext uri="{FF2B5EF4-FFF2-40B4-BE49-F238E27FC236}">
                  <a16:creationId xmlns:a16="http://schemas.microsoft.com/office/drawing/2014/main" id="{26B2386D-1187-7204-D845-58042187A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5" y="2691"/>
              <a:ext cx="5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73" name="Line 11">
              <a:extLst>
                <a:ext uri="{FF2B5EF4-FFF2-40B4-BE49-F238E27FC236}">
                  <a16:creationId xmlns:a16="http://schemas.microsoft.com/office/drawing/2014/main" id="{15879464-6CD7-B601-AF5D-4BE46A40E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" y="3627"/>
              <a:ext cx="5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68" name="Rectangle 12">
            <a:extLst>
              <a:ext uri="{FF2B5EF4-FFF2-40B4-BE49-F238E27FC236}">
                <a16:creationId xmlns:a16="http://schemas.microsoft.com/office/drawing/2014/main" id="{F331345B-FB3D-11AA-94FC-AC01F683B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1" y="2014539"/>
            <a:ext cx="3016853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Classifications possibles:</a:t>
            </a:r>
          </a:p>
        </p:txBody>
      </p:sp>
      <p:sp>
        <p:nvSpPr>
          <p:cNvPr id="40969" name="Line 13">
            <a:extLst>
              <a:ext uri="{FF2B5EF4-FFF2-40B4-BE49-F238E27FC236}">
                <a16:creationId xmlns:a16="http://schemas.microsoft.com/office/drawing/2014/main" id="{A04E70E7-F083-F9F5-7224-8000C6433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4125" y="2740026"/>
            <a:ext cx="0" cy="31162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nimBg="1"/>
      <p:bldP spid="40964" grpId="0" animBg="1"/>
      <p:bldP spid="4096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8155818-9005-9B61-E9C5-5A7A1BA4A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7047" y="185893"/>
            <a:ext cx="10317480" cy="815927"/>
          </a:xfrm>
          <a:solidFill>
            <a:schemeClr val="tx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fr-FR" altLang="fr-FR" dirty="0">
                <a:solidFill>
                  <a:schemeClr val="bg1"/>
                </a:solidFill>
              </a:rPr>
              <a:t>3. Choisir le Traitement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E2654A5-7D8E-D54D-1A51-CA1FFDC1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417638"/>
            <a:ext cx="9144000" cy="2925762"/>
          </a:xfrm>
        </p:spPr>
        <p:txBody>
          <a:bodyPr/>
          <a:lstStyle/>
          <a:p>
            <a:pPr eaLnBrk="1" hangingPunct="1"/>
            <a:r>
              <a:rPr lang="fr-FR" altLang="fr-FR"/>
              <a:t>Identifier le traitement requis pour chaque classification;</a:t>
            </a:r>
          </a:p>
          <a:p>
            <a:pPr eaLnBrk="1" hangingPunct="1"/>
            <a:r>
              <a:rPr lang="fr-FR" altLang="fr-FR"/>
              <a:t>Choisir le traitement qui correspond à plus d ’une classification;</a:t>
            </a:r>
          </a:p>
          <a:p>
            <a:pPr eaLnBrk="1" hangingPunct="1">
              <a:buFontTx/>
              <a:buNone/>
            </a:pPr>
            <a:endParaRPr lang="fr-FR" altLang="fr-FR"/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DC102FE1-B1E9-3EE7-713D-D5CCA5C26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264025"/>
            <a:ext cx="9144000" cy="1816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>
                <a:latin typeface="Comic Sans MS" panose="030F0702030302020204" pitchFamily="66" charset="0"/>
              </a:rPr>
              <a:t>Attention: respecter les principes suivants:</a:t>
            </a:r>
          </a:p>
          <a:p>
            <a:pPr lvl="2">
              <a:spcBef>
                <a:spcPct val="0"/>
              </a:spcBef>
            </a:pPr>
            <a:r>
              <a:rPr lang="fr-FR" altLang="fr-FR" sz="2800">
                <a:latin typeface="Comic Sans MS" panose="030F0702030302020204" pitchFamily="66" charset="0"/>
              </a:rPr>
              <a:t>Rationalisation </a:t>
            </a:r>
          </a:p>
          <a:p>
            <a:pPr lvl="2">
              <a:spcBef>
                <a:spcPct val="0"/>
              </a:spcBef>
            </a:pPr>
            <a:r>
              <a:rPr lang="fr-FR" altLang="fr-FR" sz="2800">
                <a:latin typeface="Comic Sans MS" panose="030F0702030302020204" pitchFamily="66" charset="0"/>
              </a:rPr>
              <a:t>Amélioration de l ’accessibilité financière</a:t>
            </a:r>
          </a:p>
          <a:p>
            <a:pPr lvl="2">
              <a:spcBef>
                <a:spcPct val="0"/>
              </a:spcBef>
            </a:pPr>
            <a:r>
              <a:rPr lang="fr-FR" altLang="fr-FR" sz="2800">
                <a:latin typeface="Comic Sans MS" panose="030F0702030302020204" pitchFamily="66" charset="0"/>
              </a:rPr>
              <a:t>Efficacité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EDCE43A-EC73-EBC2-910A-F1378F362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1" y="204788"/>
            <a:ext cx="4691063" cy="1143000"/>
          </a:xfrm>
          <a:solidFill>
            <a:schemeClr val="tx1"/>
          </a:solidFill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4. Traiter l’enfant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93B249C-D93D-7890-A814-A146AE0D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490789"/>
            <a:ext cx="2089150" cy="366767"/>
          </a:xfrm>
          <a:prstGeom prst="rect">
            <a:avLst/>
          </a:prstGeom>
          <a:solidFill>
            <a:srgbClr val="E816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7FFF00"/>
                </a:solidFill>
                <a:latin typeface="Arial" panose="020B0604020202020204" pitchFamily="34" charset="0"/>
              </a:rPr>
              <a:t>REFERER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21864E1C-44AF-D8D9-A125-E4C844CF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133600"/>
            <a:ext cx="3875088" cy="643766"/>
          </a:xfrm>
          <a:prstGeom prst="rect">
            <a:avLst/>
          </a:prstGeom>
          <a:solidFill>
            <a:srgbClr val="E816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7FFF00"/>
                </a:solidFill>
                <a:latin typeface="Arial" panose="020B0604020202020204" pitchFamily="34" charset="0"/>
              </a:rPr>
              <a:t>Donner la première dose conseiller la mère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7ED47FE6-AC43-C0D0-D6D2-9C98AB80F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1" y="3586164"/>
            <a:ext cx="1606275" cy="366767"/>
          </a:xfrm>
          <a:prstGeom prst="rect">
            <a:avLst/>
          </a:pr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Traiter au CS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56A7CB08-AA8A-DB70-67D1-7CA1E2374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1" y="3190876"/>
            <a:ext cx="3260509" cy="920765"/>
          </a:xfrm>
          <a:prstGeom prst="rect">
            <a:avLst/>
          </a:pr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Enseigner la mère comment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donner les médicaments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oraux. Conseiller la mère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060BFAAA-61E8-5FBC-6473-F86563FC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4705350"/>
            <a:ext cx="3898900" cy="1197764"/>
          </a:xfrm>
          <a:prstGeom prst="rect">
            <a:avLst/>
          </a:prstGeom>
          <a:solidFill>
            <a:srgbClr val="7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Enseigner  la mère comment donner les médicaments et identifier les signes de danger et quand revenir. </a:t>
            </a:r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46B9DE7C-4E08-92D2-938F-43C41AE8B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1" y="5086350"/>
            <a:ext cx="2017713" cy="643766"/>
          </a:xfrm>
          <a:prstGeom prst="rect">
            <a:avLst/>
          </a:prstGeom>
          <a:solidFill>
            <a:srgbClr val="7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 les soins à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domicile</a:t>
            </a:r>
          </a:p>
        </p:txBody>
      </p:sp>
      <p:sp>
        <p:nvSpPr>
          <p:cNvPr id="45065" name="Rectangle 9">
            <a:extLst>
              <a:ext uri="{FF2B5EF4-FFF2-40B4-BE49-F238E27FC236}">
                <a16:creationId xmlns:a16="http://schemas.microsoft.com/office/drawing/2014/main" id="{520849F6-CA5C-2B84-7334-FB3C73F02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138" y="1800226"/>
            <a:ext cx="259366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Selon la classification</a:t>
            </a:r>
          </a:p>
        </p:txBody>
      </p:sp>
      <p:sp>
        <p:nvSpPr>
          <p:cNvPr id="45066" name="Line 10">
            <a:extLst>
              <a:ext uri="{FF2B5EF4-FFF2-40B4-BE49-F238E27FC236}">
                <a16:creationId xmlns:a16="http://schemas.microsoft.com/office/drawing/2014/main" id="{8ED4DED1-FB00-A8A9-D3F4-59C8A0E95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4526" y="2809875"/>
            <a:ext cx="17113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78BB1166-1149-9E77-FB1A-FEBBE12D0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6" y="3748088"/>
            <a:ext cx="17113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F410B010-8463-F0D6-1541-03EC40590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201" y="5495925"/>
            <a:ext cx="17113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/>
      <p:bldP spid="45062" grpId="0" animBg="1"/>
      <p:bldP spid="4506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0072E6D-EBC8-0068-ADA2-1315A54D3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5700" y="163513"/>
            <a:ext cx="7721600" cy="882650"/>
          </a:xfrm>
          <a:solidFill>
            <a:schemeClr val="tx1"/>
          </a:solidFill>
          <a:ln w="50800" cap="flat">
            <a:solidFill>
              <a:schemeClr val="tx1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/>
            <a:r>
              <a:rPr lang="fr-FR" altLang="fr-FR" dirty="0"/>
              <a:t> </a:t>
            </a:r>
            <a:r>
              <a:rPr lang="fr-FR" altLang="fr-FR" dirty="0">
                <a:solidFill>
                  <a:schemeClr val="bg1"/>
                </a:solidFill>
              </a:rPr>
              <a:t>CONSEILLER LA MÈRE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7F9BFBA-9DF9-E351-8D85-50649DEC1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910" y="1176338"/>
            <a:ext cx="11364686" cy="5681662"/>
          </a:xfrm>
        </p:spPr>
        <p:txBody>
          <a:bodyPr vert="horz" lIns="90488" tIns="44450" rIns="90488" bIns="44450" rtlCol="0"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fr-FR" altLang="fr-FR" b="1" dirty="0">
                <a:latin typeface="Arial" panose="020B0604020202020204" pitchFamily="34" charset="0"/>
              </a:rPr>
              <a:t>Enseigner comment donner les médicaments oraux et traiter les infections locales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 b="1" dirty="0">
                <a:solidFill>
                  <a:srgbClr val="063DE8"/>
                </a:solidFill>
                <a:latin typeface="Arial" panose="020B0604020202020204" pitchFamily="34" charset="0"/>
              </a:rPr>
              <a:t>Conseiller sur l’alimentation et l’allaitement maternel au sein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b="1" dirty="0"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fr-FR" altLang="fr-FR" b="1" dirty="0">
                <a:latin typeface="Arial" panose="020B0604020202020204" pitchFamily="34" charset="0"/>
              </a:rPr>
              <a:t>Conseiller de continuer à donner les liquides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b="1" dirty="0">
              <a:solidFill>
                <a:srgbClr val="438E00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fr-FR" altLang="fr-FR" b="1" dirty="0">
                <a:solidFill>
                  <a:srgbClr val="438E00"/>
                </a:solidFill>
                <a:latin typeface="Arial" panose="020B0604020202020204" pitchFamily="34" charset="0"/>
              </a:rPr>
              <a:t>Conseiller  “quand revenir” au CS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fr-FR" altLang="fr-FR" sz="1800" b="1" u="sng" dirty="0">
              <a:solidFill>
                <a:srgbClr val="FC0128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fr-FR" b="1" u="sng" dirty="0"/>
              <a:t>Technique</a:t>
            </a:r>
            <a:r>
              <a:rPr lang="fr-FR" altLang="fr-FR" b="1" dirty="0"/>
              <a:t>: Demander, écouter, féliciter, conseiller, vérifier la compréhension et   la compétence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9DB20A4-DE36-2D20-5FBF-9021D9FF3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5700" y="163513"/>
            <a:ext cx="7721600" cy="1033462"/>
          </a:xfrm>
          <a:solidFill>
            <a:schemeClr val="tx1"/>
          </a:solidFill>
          <a:ln w="50800" cap="flat">
            <a:solidFill>
              <a:schemeClr val="tx1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 fontScale="90000"/>
          </a:bodyPr>
          <a:lstStyle/>
          <a:p>
            <a:pPr eaLnBrk="1" hangingPunct="1"/>
            <a:r>
              <a:rPr lang="fr-FR" altLang="fr-FR" sz="2800">
                <a:solidFill>
                  <a:schemeClr val="bg1"/>
                </a:solidFill>
              </a:rPr>
              <a:t>APPRENDRE A LA MERE COMMENT ADMINISTRER DES MEDICAMENTS PAR VOIE ORALE A DOMICILE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FD4516E-DC58-D26B-5BD9-5C5FFC9C3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196976"/>
            <a:ext cx="9144000" cy="5661025"/>
          </a:xfrm>
        </p:spPr>
        <p:txBody>
          <a:bodyPr vert="horz" lIns="90488" tIns="44450" rIns="90488" bIns="44450" rtlCol="0">
            <a:normAutofit/>
          </a:bodyPr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fr-FR" altLang="fr-FR"/>
              <a:t> 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Expliquer comment et pourquoi le traitement est administré;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 Observer la mère pendant qu’elle donne le premier traitement au centre de santé;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 Expliquer à la mère la fréquence d’administration des médicaments;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 Dire à la mère qu’elle doit revenir au centre de santé si l’infection s’aggrave;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096E7C8-E83A-43C9-9BBA-D81626AF9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8253" y="163513"/>
            <a:ext cx="8729047" cy="1033462"/>
          </a:xfrm>
          <a:solidFill>
            <a:schemeClr val="tx1"/>
          </a:solidFill>
          <a:ln w="50800" cap="flat">
            <a:solidFill>
              <a:schemeClr val="tx1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/>
            <a:r>
              <a:rPr lang="fr-FR" altLang="fr-FR" dirty="0"/>
              <a:t> </a:t>
            </a:r>
            <a:r>
              <a:rPr lang="fr-FR" altLang="fr-FR" sz="2400" dirty="0">
                <a:solidFill>
                  <a:schemeClr val="bg1"/>
                </a:solidFill>
              </a:rPr>
              <a:t>APPRENDRE A LA MERE COMMENT ADMINISTRER DES MEDICAMENTS PAR VOIE ORALE A DOMICILE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D5EF5A7-1252-C863-C3C7-E97C6874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4826" y="1412875"/>
            <a:ext cx="8207375" cy="4895850"/>
          </a:xfrm>
        </p:spPr>
        <p:txBody>
          <a:bodyPr vert="horz" lIns="90488" tIns="44450" rIns="90488" bIns="44450" rtlCol="0"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fr-FR" altLang="fr-FR"/>
              <a:t>Déterminer les médicaments et doses appropriés selon l’âge ou le poids de l’enfant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Expliquer à la mère pourquoi l’enfant a besoin du médicament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Montrer comment mesurer une dose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Observer la mère pendant qu’elle mesure une dose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/>
              <a:t>Demander  à la mère de donner la 1</a:t>
            </a:r>
            <a:r>
              <a:rPr lang="fr-FR" altLang="fr-FR" baseline="30000"/>
              <a:t>ère</a:t>
            </a:r>
            <a:r>
              <a:rPr lang="fr-FR" altLang="fr-FR"/>
              <a:t>  dose à l’enfant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75D5822-28E8-DE17-C94B-92440485F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63513"/>
            <a:ext cx="9112898" cy="1033462"/>
          </a:xfrm>
          <a:solidFill>
            <a:schemeClr val="tx1"/>
          </a:solidFill>
          <a:ln w="50800" cap="flat">
            <a:solidFill>
              <a:schemeClr val="tx1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 fontScale="90000"/>
          </a:bodyPr>
          <a:lstStyle/>
          <a:p>
            <a:pPr eaLnBrk="1" hangingPunct="1"/>
            <a:r>
              <a:rPr lang="fr-FR" altLang="fr-FR" dirty="0"/>
              <a:t> </a:t>
            </a:r>
            <a:r>
              <a:rPr lang="fr-FR" altLang="fr-FR" sz="2400" dirty="0">
                <a:solidFill>
                  <a:schemeClr val="bg1"/>
                </a:solidFill>
              </a:rPr>
              <a:t>APPRENDRE A LA MERE COMMENT ADMINISTRER DES MEDICAMENTS PAR VOIE ORALE A DOMICILE (suite)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2C49F98-4E3A-0949-F180-5FF2E5B0D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412876"/>
            <a:ext cx="9036050" cy="5445125"/>
          </a:xfrm>
        </p:spPr>
        <p:txBody>
          <a:bodyPr vert="horz" lIns="90488" tIns="44450" rIns="90488" bIns="44450" rtlCol="0">
            <a:norm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endParaRPr lang="fr-FR" altLang="fr-FR" sz="3600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fr-FR" altLang="fr-FR" sz="3600" dirty="0"/>
              <a:t>Expliquer en détails comment donner le médicament  dans un sachet  ou un cornet  et inscrire le nom du médicament  sur le sachet ou le cornet;</a:t>
            </a:r>
          </a:p>
          <a:p>
            <a:pPr marL="0" indent="0" algn="just">
              <a:buNone/>
              <a:defRPr/>
            </a:pPr>
            <a:endParaRPr lang="fr-FR" altLang="fr-FR" sz="3600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fr-FR" altLang="fr-FR" sz="3600" dirty="0"/>
              <a:t> Si plusieurs médicaments sont  donnés  ; rassembler ,compter et mettre chaque  médicament dans chaque cornet différent</a:t>
            </a:r>
          </a:p>
          <a:p>
            <a:pPr marL="0" indent="0" algn="just">
              <a:buNone/>
              <a:defRPr/>
            </a:pPr>
            <a:endParaRPr lang="fr-FR" altLang="fr-FR" sz="360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A7AF8D59-8430-D045-84D4-2EB31D69A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63513"/>
            <a:ext cx="9144000" cy="1033462"/>
          </a:xfrm>
          <a:solidFill>
            <a:schemeClr val="tx1"/>
          </a:solidFill>
          <a:ln w="50800" cap="flat">
            <a:solidFill>
              <a:schemeClr val="tx1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 fontScale="90000"/>
          </a:bodyPr>
          <a:lstStyle/>
          <a:p>
            <a:pPr eaLnBrk="1" hangingPunct="1"/>
            <a:r>
              <a:rPr lang="fr-FR" altLang="fr-FR"/>
              <a:t> </a:t>
            </a:r>
            <a:r>
              <a:rPr lang="fr-FR" altLang="fr-FR" sz="2800">
                <a:solidFill>
                  <a:schemeClr val="bg1"/>
                </a:solidFill>
              </a:rPr>
              <a:t>APPRENDRE A LA MERE COMMENT ADMINISTRER DES MEDICAMENTS PAR VOIE ORALE A DOMICILE (suite)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D6C5898-0AE4-92CC-D32A-1D4FD6549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425" y="1341438"/>
            <a:ext cx="10851502" cy="5516562"/>
          </a:xfrm>
        </p:spPr>
        <p:txBody>
          <a:bodyPr vert="horz" lIns="90488" tIns="44450" rIns="90488" bIns="44450" rtlCol="0">
            <a:normAutofit/>
          </a:bodyPr>
          <a:lstStyle/>
          <a:p>
            <a:pPr algn="just" eaLnBrk="1" hangingPunct="1">
              <a:lnSpc>
                <a:spcPct val="90000"/>
              </a:lnSpc>
            </a:pPr>
            <a:endParaRPr lang="fr-FR" altLang="fr-FR" sz="3600"/>
          </a:p>
          <a:p>
            <a:pPr algn="just" eaLnBrk="1" hangingPunct="1">
              <a:lnSpc>
                <a:spcPct val="90000"/>
              </a:lnSpc>
            </a:pPr>
            <a:r>
              <a:rPr lang="fr-FR" altLang="fr-FR" sz="3600"/>
              <a:t>Expliquer que tous les médicaments (comprimés ou sirops) doivent être  pris jusqu’à la fin du traitement , même si l’enfant se porte mieux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3600"/>
          </a:p>
          <a:p>
            <a:pPr algn="just" eaLnBrk="1" hangingPunct="1">
              <a:lnSpc>
                <a:spcPct val="90000"/>
              </a:lnSpc>
            </a:pPr>
            <a:r>
              <a:rPr lang="fr-FR" altLang="fr-FR" sz="3600"/>
              <a:t> S’assurer que la mère a bien compris avant qu’elle ne quitte le dispensaire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62D864EE-9708-56E5-EAB5-8A022BAF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14313"/>
            <a:ext cx="7772400" cy="1643062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fr-FR" altLang="fr-FR" sz="4000" dirty="0">
                <a:solidFill>
                  <a:schemeClr val="bg1"/>
                </a:solidFill>
              </a:rPr>
              <a:t>UN PÈRE ENTHOUSIASTE DE LA NOUVELLE STRATÉGIE DE PRISE EN CHARGE: PCIMNE</a:t>
            </a:r>
          </a:p>
        </p:txBody>
      </p:sp>
      <p:pic>
        <p:nvPicPr>
          <p:cNvPr id="59395" name="Picture 5" descr="100_0495">
            <a:extLst>
              <a:ext uri="{FF2B5EF4-FFF2-40B4-BE49-F238E27FC236}">
                <a16:creationId xmlns:a16="http://schemas.microsoft.com/office/drawing/2014/main" id="{D691A664-85C8-F8E5-6DE5-6B5E9D36B2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82964" y="2005014"/>
            <a:ext cx="5426075" cy="4065587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6">
            <a:extLst>
              <a:ext uri="{FF2B5EF4-FFF2-40B4-BE49-F238E27FC236}">
                <a16:creationId xmlns:a16="http://schemas.microsoft.com/office/drawing/2014/main" id="{6625B661-D084-F7A6-A8DA-0DDDAFB33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1143000"/>
            <a:ext cx="401002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1443" name="AutoShape 27">
            <a:extLst>
              <a:ext uri="{FF2B5EF4-FFF2-40B4-BE49-F238E27FC236}">
                <a16:creationId xmlns:a16="http://schemas.microsoft.com/office/drawing/2014/main" id="{9EFC66B8-5FD0-5F14-5F75-1DFC7C1348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477000" y="1447800"/>
            <a:ext cx="4191000" cy="1752600"/>
          </a:xfrm>
          <a:prstGeom prst="wedgeEllipseCallout">
            <a:avLst>
              <a:gd name="adj1" fmla="val -43750"/>
              <a:gd name="adj2" fmla="val 7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fr-FR" sz="4400">
                <a:latin typeface="Comic Sans MS" panose="030F0702030302020204" pitchFamily="66" charset="0"/>
              </a:rPr>
              <a:t>Merci beaucoup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INFA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1694</Words>
  <Application>Microsoft Office PowerPoint</Application>
  <PresentationFormat>Grand écran</PresentationFormat>
  <Paragraphs>306</Paragraphs>
  <Slides>39</Slides>
  <Notes>16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39</vt:i4>
      </vt:variant>
    </vt:vector>
  </HeadingPairs>
  <TitlesOfParts>
    <vt:vector size="49" baseType="lpstr">
      <vt:lpstr>Arial</vt:lpstr>
      <vt:lpstr>Arial Black</vt:lpstr>
      <vt:lpstr>Arial Rounded MT Bold</vt:lpstr>
      <vt:lpstr>Calibri</vt:lpstr>
      <vt:lpstr>Comic Sans MS</vt:lpstr>
      <vt:lpstr>Tahoma</vt:lpstr>
      <vt:lpstr>Wingdings</vt:lpstr>
      <vt:lpstr>Thème Office</vt:lpstr>
      <vt:lpstr>Clip</vt:lpstr>
      <vt:lpstr>CorelDRAW</vt:lpstr>
      <vt:lpstr> TITRE DU COURS   Filière, Année d’étude, Semestre etc. </vt:lpstr>
      <vt:lpstr>GENERALITES SUR LA PCIMNE</vt:lpstr>
      <vt:lpstr>INTRODUCTION (1/2)</vt:lpstr>
      <vt:lpstr>INTRODUCTION (2/2)</vt:lpstr>
      <vt:lpstr>OBJECTIF GENERAL</vt:lpstr>
      <vt:lpstr>OBJECTIFS SPECIFIQUES(1/2)</vt:lpstr>
      <vt:lpstr>OBJECTIFS SPECIFIQUES(2/2)</vt:lpstr>
      <vt:lpstr>PLAN DU COURS</vt:lpstr>
      <vt:lpstr> DÉFINITION DU SIGLE PCIMNE </vt:lpstr>
      <vt:lpstr>CONCEPT</vt:lpstr>
      <vt:lpstr>STRATÉGIE(1/3)</vt:lpstr>
      <vt:lpstr>STRATÉGIE (2/3)</vt:lpstr>
      <vt:lpstr> STRATÉGIE (3/3)</vt:lpstr>
      <vt:lpstr>OBJECTIF (1/7)</vt:lpstr>
      <vt:lpstr> COMPOSANTES DE LA PCIMNE </vt:lpstr>
      <vt:lpstr>Présentation PowerPoint</vt:lpstr>
      <vt:lpstr>Présentation PowerPoint</vt:lpstr>
      <vt:lpstr>OBJECTIF (4/7)</vt:lpstr>
      <vt:lpstr>OBJECTIF (5/7)</vt:lpstr>
      <vt:lpstr>OBJECTIF (6/7)</vt:lpstr>
      <vt:lpstr>Présentation PowerPoint</vt:lpstr>
      <vt:lpstr>JUSTIFICATION</vt:lpstr>
      <vt:lpstr>CONTEXTE ET JUSTIFICATION</vt:lpstr>
      <vt:lpstr>PRINCIPES </vt:lpstr>
      <vt:lpstr> SIGNES GENERAUX DE DANGERS</vt:lpstr>
      <vt:lpstr> FICHES DE PRISE EN CHARGE</vt:lpstr>
      <vt:lpstr>DIFFERENTES BANDES DE LA PCIMNE</vt:lpstr>
      <vt:lpstr> PROCEDURE DE LA PRISE EN CHARGE DE  L’ENFANT MALADE</vt:lpstr>
      <vt:lpstr>1. Evaluer l’enfant  malade</vt:lpstr>
      <vt:lpstr>2. Classer la (les) maladie(s)</vt:lpstr>
      <vt:lpstr>3. Choisir le Traitement</vt:lpstr>
      <vt:lpstr>4. Traiter l’enfant </vt:lpstr>
      <vt:lpstr> CONSEILLER LA MÈRE</vt:lpstr>
      <vt:lpstr>APPRENDRE A LA MERE COMMENT ADMINISTRER DES MEDICAMENTS PAR VOIE ORALE A DOMICILE</vt:lpstr>
      <vt:lpstr> APPRENDRE A LA MERE COMMENT ADMINISTRER DES MEDICAMENTS PAR VOIE ORALE A DOMICILE</vt:lpstr>
      <vt:lpstr> APPRENDRE A LA MERE COMMENT ADMINISTRER DES MEDICAMENTS PAR VOIE ORALE A DOMICILE (suite)</vt:lpstr>
      <vt:lpstr> APPRENDRE A LA MERE COMMENT ADMINISTRER DES MEDICAMENTS PAR VOIE ORALE A DOMICILE (suite)</vt:lpstr>
      <vt:lpstr>UN PÈRE ENTHOUSIASTE DE LA NOUVELLE STRATÉGIE DE PRISE EN CHARGE: PCIMNE</vt:lpstr>
      <vt:lpstr>Présentation PowerPoint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Maher Fattouh</dc:creator>
  <cp:lastModifiedBy>OUATTARA AISSA</cp:lastModifiedBy>
  <cp:revision>14</cp:revision>
  <dcterms:created xsi:type="dcterms:W3CDTF">2018-07-17T00:49:38Z</dcterms:created>
  <dcterms:modified xsi:type="dcterms:W3CDTF">2026-06-30T15:57:26Z</dcterms:modified>
</cp:coreProperties>
</file>