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61" r:id="rId6"/>
    <p:sldId id="260" r:id="rId7"/>
    <p:sldId id="262" r:id="rId8"/>
    <p:sldId id="263" r:id="rId9"/>
    <p:sldId id="264" r:id="rId10"/>
    <p:sldId id="265" r:id="rId11"/>
    <p:sldId id="267" r:id="rId12"/>
    <p:sldId id="268" r:id="rId13"/>
    <p:sldId id="269" r:id="rId14"/>
    <p:sldId id="271"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9" Type="http://schemas.openxmlformats.org/officeDocument/2006/relationships/viewProps" Target="viewProps.xml" /><Relationship Id="rId3" Type="http://schemas.openxmlformats.org/officeDocument/2006/relationships/customXml" Target="../customXml/item3.xml" /><Relationship Id="rId21" Type="http://schemas.openxmlformats.org/officeDocument/2006/relationships/slide" Target="slides/slide17.xml" /><Relationship Id="rId34" Type="http://schemas.openxmlformats.org/officeDocument/2006/relationships/slide" Target="slides/slide30.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presProps" Target="presProps.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slide" Target="slides/slide25.xml" /><Relationship Id="rId41" Type="http://schemas.openxmlformats.org/officeDocument/2006/relationships/tableStyles" Target="tableStyle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slide" Target="slides/slide33.xml" /><Relationship Id="rId40" Type="http://schemas.openxmlformats.org/officeDocument/2006/relationships/theme" Target="theme/theme1.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slide" Target="slides/slide32.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slide" Target="slides/slide3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486F077B-A50F-4D64-8574-E2D6A98A5553}" type="datetimeFigureOut">
              <a:rPr lang="en-US" dirty="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t>6/26/2024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t>6/26/2024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t>6/26/2024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6/26/2024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6/26/2024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65B747F8-9654-4282-85D2-65F41AAE7A75}" type="datetimeFigureOut">
              <a:rPr lang="en-US" dirty="0"/>
              <a:t>6/26/2024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6/26/2024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‹N°›</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43491" y="2043952"/>
            <a:ext cx="10058400" cy="2092900"/>
          </a:xfrm>
        </p:spPr>
        <p:txBody>
          <a:bodyPr>
            <a:noAutofit/>
          </a:bodyPr>
          <a:lstStyle/>
          <a:p>
            <a:pPr algn="ctr"/>
            <a:r>
              <a:rPr lang="fr-FR" sz="6600" b="1" dirty="0">
                <a:latin typeface="Candara" panose="020E0502030303020204" pitchFamily="34" charset="0"/>
              </a:rPr>
              <a:t>DEMARCHE SCIENTIFIQUE DE SOINS INFIRMIERS</a:t>
            </a:r>
            <a:endParaRPr lang="fr-FR" sz="6600" dirty="0">
              <a:latin typeface="Candara" panose="020E0502030303020204" pitchFamily="34" charset="0"/>
            </a:endParaRPr>
          </a:p>
        </p:txBody>
      </p:sp>
    </p:spTree>
    <p:extLst>
      <p:ext uri="{BB962C8B-B14F-4D97-AF65-F5344CB8AC3E}">
        <p14:creationId xmlns:p14="http://schemas.microsoft.com/office/powerpoint/2010/main" val="94637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152" y="2073982"/>
            <a:ext cx="11631707" cy="2726965"/>
          </a:xfrm>
          <a:prstGeom prst="rect">
            <a:avLst/>
          </a:prstGeom>
        </p:spPr>
        <p:txBody>
          <a:bodyPr wrap="square">
            <a:spAutoFit/>
          </a:bodyPr>
          <a:lstStyle/>
          <a:p>
            <a:pPr algn="just">
              <a:lnSpc>
                <a:spcPct val="107000"/>
              </a:lnSpc>
              <a:spcAft>
                <a:spcPts val="0"/>
              </a:spcAft>
            </a:pPr>
            <a:r>
              <a:rPr lang="fr-FR" sz="3600" b="1" dirty="0">
                <a:latin typeface="Candara" panose="020E0502030303020204" pitchFamily="34" charset="0"/>
                <a:ea typeface="Calibri" panose="020F0502020204030204" pitchFamily="34" charset="0"/>
                <a:cs typeface="Times New Roman" panose="02020603050405020304" pitchFamily="18" charset="0"/>
              </a:rPr>
              <a:t>OBJECTIF GENERAL</a:t>
            </a:r>
          </a:p>
          <a:p>
            <a:pPr algn="just">
              <a:lnSpc>
                <a:spcPct val="107000"/>
              </a:lnSpc>
              <a:spcAft>
                <a:spcPts val="0"/>
              </a:spcAft>
            </a:pPr>
            <a:endParaRPr lang="fr-FR" sz="3200" dirty="0">
              <a:latin typeface="Candara" panose="020E050203030302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fr-FR" sz="3200" dirty="0">
                <a:latin typeface="Candara" panose="020E0502030303020204" pitchFamily="34" charset="0"/>
                <a:ea typeface="Calibri" panose="020F0502020204030204" pitchFamily="34" charset="0"/>
                <a:cs typeface="Times New Roman" panose="02020603050405020304" pitchFamily="18" charset="0"/>
              </a:rPr>
              <a:t>Posséder une vue d’ensemble de la démarche scientifique ainsi que les objectifs qui sous-tendent son utilisation.</a:t>
            </a:r>
            <a:endParaRPr lang="fr-FR" sz="2800" dirty="0">
              <a:latin typeface="Candara" panose="020E050203030302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fr-FR" sz="2800" b="1" dirty="0">
                <a:latin typeface="Candara" panose="020E0502030303020204" pitchFamily="34" charset="0"/>
                <a:ea typeface="Calibri" panose="020F0502020204030204" pitchFamily="34" charset="0"/>
                <a:cs typeface="Times New Roman" panose="02020603050405020304" pitchFamily="18" charset="0"/>
              </a:rPr>
              <a:t> </a:t>
            </a:r>
            <a:endParaRPr lang="fr-FR" sz="2400" dirty="0">
              <a:latin typeface="Candara" panose="020E0502030303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65710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470" y="567911"/>
            <a:ext cx="11631707" cy="5076261"/>
          </a:xfrm>
          <a:prstGeom prst="rect">
            <a:avLst/>
          </a:prstGeom>
        </p:spPr>
        <p:txBody>
          <a:bodyPr wrap="square">
            <a:spAutoFit/>
          </a:bodyPr>
          <a:lstStyle/>
          <a:p>
            <a:pPr algn="just">
              <a:lnSpc>
                <a:spcPct val="107000"/>
              </a:lnSpc>
              <a:spcAft>
                <a:spcPts val="0"/>
              </a:spcAft>
            </a:pPr>
            <a:r>
              <a:rPr lang="fr-FR" sz="3200" b="1" dirty="0">
                <a:latin typeface="Candara" panose="020E0502030303020204" pitchFamily="34" charset="0"/>
                <a:ea typeface="Calibri" panose="020F0502020204030204" pitchFamily="34" charset="0"/>
                <a:cs typeface="Times New Roman" panose="02020603050405020304" pitchFamily="18" charset="0"/>
              </a:rPr>
              <a:t>OBJECTIFS SPECIFIQUES </a:t>
            </a:r>
            <a:endParaRPr lang="fr-FR" sz="2800" dirty="0">
              <a:latin typeface="Candara" panose="020E050203030302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fr-FR" sz="2800" b="1" dirty="0">
                <a:latin typeface="Candara" panose="020E0502030303020204" pitchFamily="34" charset="0"/>
                <a:ea typeface="Calibri" panose="020F0502020204030204" pitchFamily="34" charset="0"/>
                <a:cs typeface="Times New Roman" panose="02020603050405020304" pitchFamily="18" charset="0"/>
              </a:rPr>
              <a:t> </a:t>
            </a:r>
            <a:endParaRPr lang="fr-FR" sz="2400" dirty="0">
              <a:latin typeface="Candara" panose="020E0502030303020204" pitchFamily="34" charset="0"/>
              <a:ea typeface="Calibri" panose="020F0502020204030204" pitchFamily="34" charset="0"/>
              <a:cs typeface="Times New Roman" panose="02020603050405020304" pitchFamily="18" charset="0"/>
            </a:endParaRPr>
          </a:p>
          <a:p>
            <a:pPr marL="514350" indent="-514350" algn="just">
              <a:lnSpc>
                <a:spcPct val="107000"/>
              </a:lnSpc>
              <a:spcAft>
                <a:spcPts val="1200"/>
              </a:spcAft>
              <a:buFont typeface="+mj-lt"/>
              <a:buAutoNum type="arabicPeriod"/>
            </a:pPr>
            <a:r>
              <a:rPr lang="fr-FR" sz="2800" dirty="0">
                <a:latin typeface="Candara" panose="020E0502030303020204" pitchFamily="34" charset="0"/>
                <a:ea typeface="Calibri" panose="020F0502020204030204" pitchFamily="34" charset="0"/>
                <a:cs typeface="Times New Roman" panose="02020603050405020304" pitchFamily="18" charset="0"/>
              </a:rPr>
              <a:t>Définir  la démarche scientifique en soins infirmiers en général et celui de Virginia HENDERSON en particulier, selon le cours</a:t>
            </a:r>
            <a:endParaRPr lang="fr-FR" sz="2400" dirty="0">
              <a:latin typeface="Candara" panose="020E0502030303020204" pitchFamily="34" charset="0"/>
              <a:ea typeface="Calibri" panose="020F0502020204030204" pitchFamily="34" charset="0"/>
              <a:cs typeface="Times New Roman" panose="02020603050405020304" pitchFamily="18" charset="0"/>
            </a:endParaRPr>
          </a:p>
          <a:p>
            <a:pPr marL="514350" indent="-514350" algn="just">
              <a:lnSpc>
                <a:spcPct val="107000"/>
              </a:lnSpc>
              <a:spcAft>
                <a:spcPts val="1200"/>
              </a:spcAft>
              <a:buFont typeface="+mj-lt"/>
              <a:buAutoNum type="arabicPeriod"/>
            </a:pPr>
            <a:r>
              <a:rPr lang="fr-FR" sz="2800" dirty="0">
                <a:latin typeface="Candara" panose="020E0502030303020204" pitchFamily="34" charset="0"/>
                <a:ea typeface="Calibri" panose="020F0502020204030204" pitchFamily="34" charset="0"/>
                <a:cs typeface="Times New Roman" panose="02020603050405020304" pitchFamily="18" charset="0"/>
              </a:rPr>
              <a:t>Décrire toutes les étapes de la démarche de soins en précisant les étapes à partir desquelles apparaissent le diagnostic infirmier et le plan de soins.</a:t>
            </a:r>
            <a:endParaRPr lang="fr-FR" sz="2400" dirty="0">
              <a:latin typeface="Candara" panose="020E0502030303020204" pitchFamily="34" charset="0"/>
              <a:ea typeface="Calibri" panose="020F0502020204030204" pitchFamily="34" charset="0"/>
              <a:cs typeface="Times New Roman" panose="02020603050405020304" pitchFamily="18" charset="0"/>
            </a:endParaRPr>
          </a:p>
          <a:p>
            <a:pPr marL="514350" indent="-514350" algn="just">
              <a:lnSpc>
                <a:spcPct val="107000"/>
              </a:lnSpc>
              <a:spcAft>
                <a:spcPts val="1200"/>
              </a:spcAft>
              <a:buFont typeface="+mj-lt"/>
              <a:buAutoNum type="arabicPeriod"/>
            </a:pPr>
            <a:r>
              <a:rPr lang="fr-FR" sz="2800" dirty="0">
                <a:latin typeface="Candara" panose="020E0502030303020204" pitchFamily="34" charset="0"/>
                <a:ea typeface="Calibri" panose="020F0502020204030204" pitchFamily="34" charset="0"/>
                <a:cs typeface="Times New Roman" panose="02020603050405020304" pitchFamily="18" charset="0"/>
              </a:rPr>
              <a:t>Appliquer la démarche de soins en milieu clinique, communautaire ou dans tout autre domaine nécessitant une intervention infirmière, comme approche de  résolution des problèmes des individus malades ou en santé ou de la collectivité</a:t>
            </a:r>
            <a:endParaRPr lang="fr-FR" sz="2400" dirty="0">
              <a:effectLst/>
              <a:latin typeface="Candara" panose="020E0502030303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73651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443753"/>
            <a:ext cx="10058400" cy="917089"/>
          </a:xfrm>
        </p:spPr>
        <p:txBody>
          <a:bodyPr/>
          <a:lstStyle/>
          <a:p>
            <a:pPr lvl="0" algn="ctr"/>
            <a:r>
              <a:rPr lang="fr-FR" b="1" dirty="0">
                <a:latin typeface="Candara" panose="020E0502030303020204" pitchFamily="34" charset="0"/>
              </a:rPr>
              <a:t>DEFINITION</a:t>
            </a:r>
            <a:endParaRPr lang="fr-FR" dirty="0">
              <a:latin typeface="Candara" panose="020E0502030303020204" pitchFamily="34" charset="0"/>
            </a:endParaRPr>
          </a:p>
        </p:txBody>
      </p:sp>
      <p:sp>
        <p:nvSpPr>
          <p:cNvPr id="3" name="Espace réservé du contenu 2"/>
          <p:cNvSpPr>
            <a:spLocks noGrp="1"/>
          </p:cNvSpPr>
          <p:nvPr>
            <p:ph idx="1"/>
          </p:nvPr>
        </p:nvSpPr>
        <p:spPr>
          <a:xfrm>
            <a:off x="685800" y="1765051"/>
            <a:ext cx="11228294" cy="4232338"/>
          </a:xfrm>
        </p:spPr>
        <p:txBody>
          <a:bodyPr>
            <a:normAutofit/>
          </a:bodyPr>
          <a:lstStyle/>
          <a:p>
            <a:pPr>
              <a:lnSpc>
                <a:spcPct val="170000"/>
              </a:lnSpc>
              <a:buFont typeface="Wingdings" panose="05000000000000000000" pitchFamily="2" charset="2"/>
              <a:buChar char="Ø"/>
            </a:pPr>
            <a:r>
              <a:rPr lang="fr-FR" sz="3000" dirty="0">
                <a:latin typeface="Candara" panose="020E0502030303020204" pitchFamily="34" charset="0"/>
              </a:rPr>
              <a:t>Approche rationnelle, dynamique, composée de plusieurs étapes qui se succèdent selon un certain ordre et qui forme un tout logique.</a:t>
            </a:r>
          </a:p>
          <a:p>
            <a:pPr>
              <a:lnSpc>
                <a:spcPct val="170000"/>
              </a:lnSpc>
              <a:buFont typeface="Wingdings" panose="05000000000000000000" pitchFamily="2" charset="2"/>
              <a:buChar char="Ø"/>
            </a:pPr>
            <a:r>
              <a:rPr lang="fr-FR" sz="3000" dirty="0">
                <a:latin typeface="Candara" panose="020E0502030303020204" pitchFamily="34" charset="0"/>
              </a:rPr>
              <a:t>Selon HENDERSON, c’est un processus intellectuel, dynamique, composé de diverses étapes logiquement ordonnées ayant pour but  le mieux-être du client.</a:t>
            </a:r>
          </a:p>
          <a:p>
            <a:pPr>
              <a:lnSpc>
                <a:spcPct val="170000"/>
              </a:lnSpc>
            </a:pPr>
            <a:endParaRPr lang="fr-FR" dirty="0"/>
          </a:p>
        </p:txBody>
      </p:sp>
    </p:spTree>
    <p:extLst>
      <p:ext uri="{BB962C8B-B14F-4D97-AF65-F5344CB8AC3E}">
        <p14:creationId xmlns:p14="http://schemas.microsoft.com/office/powerpoint/2010/main" val="2966990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8189" y="1513190"/>
            <a:ext cx="10112188" cy="3022366"/>
          </a:xfrm>
          <a:prstGeom prst="rect">
            <a:avLst/>
          </a:prstGeom>
        </p:spPr>
        <p:txBody>
          <a:bodyPr wrap="square">
            <a:spAutoFit/>
          </a:bodyPr>
          <a:lstStyle/>
          <a:p>
            <a:pPr>
              <a:lnSpc>
                <a:spcPct val="170000"/>
              </a:lnSpc>
            </a:pPr>
            <a:r>
              <a:rPr lang="fr-FR" sz="2800" dirty="0">
                <a:latin typeface="Candara" panose="020E0502030303020204" pitchFamily="34" charset="0"/>
              </a:rPr>
              <a:t>Utilisée de façon rigoureuse,  elle constitue  une méthode systématique permettant de recueillir les informations nécessaires, de les traiter, de les concrétiser par des interventions adéquates et d’en évaluer les résultats. </a:t>
            </a:r>
          </a:p>
        </p:txBody>
      </p:sp>
    </p:spTree>
    <p:extLst>
      <p:ext uri="{BB962C8B-B14F-4D97-AF65-F5344CB8AC3E}">
        <p14:creationId xmlns:p14="http://schemas.microsoft.com/office/powerpoint/2010/main" val="2385197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510987"/>
            <a:ext cx="10058400" cy="957431"/>
          </a:xfrm>
        </p:spPr>
        <p:txBody>
          <a:bodyPr>
            <a:normAutofit/>
          </a:bodyPr>
          <a:lstStyle/>
          <a:p>
            <a:pPr lvl="0"/>
            <a:r>
              <a:rPr lang="fr-FR" b="1" dirty="0">
                <a:latin typeface="Candara" panose="020E0502030303020204" pitchFamily="34" charset="0"/>
              </a:rPr>
              <a:t>ETAPES DE LA DEMARCHE DE SOINS</a:t>
            </a:r>
            <a:endParaRPr lang="fr-FR" dirty="0">
              <a:latin typeface="Candara" panose="020E0502030303020204" pitchFamily="34" charset="0"/>
            </a:endParaRPr>
          </a:p>
        </p:txBody>
      </p:sp>
      <p:sp>
        <p:nvSpPr>
          <p:cNvPr id="3" name="Espace réservé du contenu 2"/>
          <p:cNvSpPr>
            <a:spLocks noGrp="1"/>
          </p:cNvSpPr>
          <p:nvPr>
            <p:ph idx="1"/>
          </p:nvPr>
        </p:nvSpPr>
        <p:spPr>
          <a:xfrm>
            <a:off x="1097280" y="2235699"/>
            <a:ext cx="10058400" cy="3210360"/>
          </a:xfrm>
        </p:spPr>
        <p:txBody>
          <a:bodyPr/>
          <a:lstStyle/>
          <a:p>
            <a:pPr marL="457200" lvl="0" indent="-457200">
              <a:buFont typeface="+mj-lt"/>
              <a:buAutoNum type="arabicPeriod"/>
            </a:pPr>
            <a:r>
              <a:rPr lang="fr-FR" sz="3200" dirty="0">
                <a:latin typeface="Candara" panose="020E0502030303020204" pitchFamily="34" charset="0"/>
              </a:rPr>
              <a:t>Collecte des données </a:t>
            </a:r>
          </a:p>
          <a:p>
            <a:pPr marL="457200" lvl="0" indent="-457200">
              <a:buFont typeface="+mj-lt"/>
              <a:buAutoNum type="arabicPeriod"/>
            </a:pPr>
            <a:r>
              <a:rPr lang="fr-FR" sz="3200" dirty="0">
                <a:latin typeface="Candara" panose="020E0502030303020204" pitchFamily="34" charset="0"/>
              </a:rPr>
              <a:t>Analyse et l’interprétation des données recueillies</a:t>
            </a:r>
          </a:p>
          <a:p>
            <a:pPr marL="457200" lvl="0" indent="-457200">
              <a:buFont typeface="+mj-lt"/>
              <a:buAutoNum type="arabicPeriod"/>
            </a:pPr>
            <a:r>
              <a:rPr lang="fr-FR" sz="3200" dirty="0">
                <a:latin typeface="Candara" panose="020E0502030303020204" pitchFamily="34" charset="0"/>
              </a:rPr>
              <a:t>Planification des interventions </a:t>
            </a:r>
          </a:p>
          <a:p>
            <a:pPr marL="457200" lvl="0" indent="-457200">
              <a:buFont typeface="+mj-lt"/>
              <a:buAutoNum type="arabicPeriod"/>
            </a:pPr>
            <a:r>
              <a:rPr lang="fr-FR" sz="3200" dirty="0">
                <a:latin typeface="Candara" panose="020E0502030303020204" pitchFamily="34" charset="0"/>
              </a:rPr>
              <a:t>Exécution des interventions </a:t>
            </a:r>
          </a:p>
          <a:p>
            <a:pPr marL="457200" lvl="0" indent="-457200">
              <a:buFont typeface="+mj-lt"/>
              <a:buAutoNum type="arabicPeriod"/>
            </a:pPr>
            <a:r>
              <a:rPr lang="fr-FR" sz="3200" dirty="0">
                <a:latin typeface="Candara" panose="020E0502030303020204" pitchFamily="34" charset="0"/>
              </a:rPr>
              <a:t>Evaluation des interventions </a:t>
            </a:r>
          </a:p>
        </p:txBody>
      </p:sp>
    </p:spTree>
    <p:extLst>
      <p:ext uri="{BB962C8B-B14F-4D97-AF65-F5344CB8AC3E}">
        <p14:creationId xmlns:p14="http://schemas.microsoft.com/office/powerpoint/2010/main" val="2479750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94359"/>
            <a:ext cx="3402106" cy="2286000"/>
          </a:xfrm>
        </p:spPr>
        <p:txBody>
          <a:bodyPr>
            <a:normAutofit/>
          </a:bodyPr>
          <a:lstStyle/>
          <a:p>
            <a:pPr algn="ctr"/>
            <a:r>
              <a:rPr lang="fr-FR" sz="4000" b="1" dirty="0">
                <a:latin typeface="Candara" panose="020E0502030303020204" pitchFamily="34" charset="0"/>
              </a:rPr>
              <a:t>COLLECTE DES DONNÉES</a:t>
            </a:r>
            <a:endParaRPr lang="fr-FR" sz="4000" dirty="0"/>
          </a:p>
        </p:txBody>
      </p:sp>
      <p:sp>
        <p:nvSpPr>
          <p:cNvPr id="3" name="Espace réservé du contenu 2"/>
          <p:cNvSpPr>
            <a:spLocks noGrp="1"/>
          </p:cNvSpPr>
          <p:nvPr>
            <p:ph idx="1"/>
          </p:nvPr>
        </p:nvSpPr>
        <p:spPr>
          <a:xfrm>
            <a:off x="4787153" y="1737359"/>
            <a:ext cx="6091518" cy="2670587"/>
          </a:xfrm>
        </p:spPr>
        <p:txBody>
          <a:bodyPr>
            <a:normAutofit lnSpcReduction="10000"/>
          </a:bodyPr>
          <a:lstStyle/>
          <a:p>
            <a:pPr>
              <a:lnSpc>
                <a:spcPct val="100000"/>
              </a:lnSpc>
            </a:pPr>
            <a:r>
              <a:rPr lang="fr-FR" sz="3600" dirty="0">
                <a:latin typeface="Candara" panose="020E0502030303020204" pitchFamily="34" charset="0"/>
              </a:rPr>
              <a:t>Elle consiste à recueillir tous les renseignements disponibles nécessaires au soin du client à  partir de ses 14 besoins fondamentaux.</a:t>
            </a:r>
          </a:p>
          <a:p>
            <a:pPr>
              <a:lnSpc>
                <a:spcPct val="100000"/>
              </a:lnSpc>
            </a:pPr>
            <a:endParaRPr lang="fr-FR" dirty="0"/>
          </a:p>
        </p:txBody>
      </p:sp>
    </p:spTree>
    <p:extLst>
      <p:ext uri="{BB962C8B-B14F-4D97-AF65-F5344CB8AC3E}">
        <p14:creationId xmlns:p14="http://schemas.microsoft.com/office/powerpoint/2010/main" val="2556754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94359"/>
            <a:ext cx="3402106" cy="2286000"/>
          </a:xfrm>
        </p:spPr>
        <p:txBody>
          <a:bodyPr>
            <a:noAutofit/>
          </a:bodyPr>
          <a:lstStyle/>
          <a:p>
            <a:pPr algn="ctr"/>
            <a:r>
              <a:rPr lang="fr-FR" sz="4000" b="1" dirty="0">
                <a:latin typeface="Candara" panose="020E0502030303020204" pitchFamily="34" charset="0"/>
              </a:rPr>
              <a:t>COLLECTE DES DONNÉES</a:t>
            </a:r>
            <a:endParaRPr lang="fr-FR" sz="4000" dirty="0"/>
          </a:p>
        </p:txBody>
      </p:sp>
      <p:sp>
        <p:nvSpPr>
          <p:cNvPr id="4" name="Espace réservé du contenu 3"/>
          <p:cNvSpPr>
            <a:spLocks noGrp="1"/>
          </p:cNvSpPr>
          <p:nvPr>
            <p:ph idx="1"/>
          </p:nvPr>
        </p:nvSpPr>
        <p:spPr>
          <a:xfrm>
            <a:off x="4410635" y="2210696"/>
            <a:ext cx="6492240" cy="1944444"/>
          </a:xfrm>
        </p:spPr>
        <p:txBody>
          <a:bodyPr>
            <a:normAutofit lnSpcReduction="10000"/>
          </a:bodyPr>
          <a:lstStyle/>
          <a:p>
            <a:r>
              <a:rPr lang="fr-FR" sz="3600" b="1" dirty="0">
                <a:latin typeface="Candara" panose="020E0502030303020204" pitchFamily="34" charset="0"/>
              </a:rPr>
              <a:t>Modes de collecte de données:</a:t>
            </a:r>
            <a:endParaRPr lang="fr-FR" sz="3600" dirty="0">
              <a:latin typeface="Candara" panose="020E0502030303020204" pitchFamily="34" charset="0"/>
            </a:endParaRPr>
          </a:p>
          <a:p>
            <a:pPr marL="1250950" indent="-514350">
              <a:buFont typeface="+mj-lt"/>
              <a:buAutoNum type="arabicPeriod"/>
            </a:pPr>
            <a:r>
              <a:rPr lang="fr-FR" sz="3600" b="1" i="1" dirty="0">
                <a:latin typeface="Candara" panose="020E0502030303020204" pitchFamily="34" charset="0"/>
              </a:rPr>
              <a:t>1 L’observation </a:t>
            </a:r>
            <a:endParaRPr lang="fr-FR" sz="3600" dirty="0">
              <a:latin typeface="Candara" panose="020E0502030303020204" pitchFamily="34" charset="0"/>
            </a:endParaRPr>
          </a:p>
          <a:p>
            <a:pPr marL="1250950" indent="-514350">
              <a:buFont typeface="+mj-lt"/>
              <a:buAutoNum type="arabicPeriod"/>
            </a:pPr>
            <a:r>
              <a:rPr lang="fr-FR" sz="3600" b="1" i="1" dirty="0">
                <a:latin typeface="Candara" panose="020E0502030303020204" pitchFamily="34" charset="0"/>
              </a:rPr>
              <a:t>L’entrevue</a:t>
            </a:r>
            <a:endParaRPr lang="fr-FR" sz="3600" dirty="0">
              <a:latin typeface="Candara" panose="020E0502030303020204" pitchFamily="34" charset="0"/>
            </a:endParaRPr>
          </a:p>
          <a:p>
            <a:endParaRPr lang="fr-FR" dirty="0"/>
          </a:p>
        </p:txBody>
      </p:sp>
    </p:spTree>
    <p:extLst>
      <p:ext uri="{BB962C8B-B14F-4D97-AF65-F5344CB8AC3E}">
        <p14:creationId xmlns:p14="http://schemas.microsoft.com/office/powerpoint/2010/main" val="1778557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410634" y="2210696"/>
            <a:ext cx="7019365" cy="2563010"/>
          </a:xfrm>
        </p:spPr>
        <p:txBody>
          <a:bodyPr>
            <a:noAutofit/>
          </a:bodyPr>
          <a:lstStyle/>
          <a:p>
            <a:r>
              <a:rPr lang="fr-FR" sz="2400" b="1" dirty="0">
                <a:latin typeface="Candara" panose="020E0502030303020204" pitchFamily="34" charset="0"/>
              </a:rPr>
              <a:t>Analyse :  </a:t>
            </a:r>
            <a:endParaRPr lang="fr-FR" sz="2400" dirty="0">
              <a:latin typeface="Candara" panose="020E0502030303020204" pitchFamily="34" charset="0"/>
            </a:endParaRPr>
          </a:p>
          <a:p>
            <a:r>
              <a:rPr lang="fr-FR" sz="2400" dirty="0">
                <a:latin typeface="Candara" panose="020E0502030303020204" pitchFamily="34" charset="0"/>
              </a:rPr>
              <a:t>Cette analyse s’opère par l’examen des données et leur classification en données d’indépendance pour celles qui traduisent une satisfaction autonome des besoins et en données de dépendance pour celle dont le client ne peut satisfaire autour des 14 besoins fondamentaux.</a:t>
            </a:r>
            <a:endParaRPr lang="fr-FR" sz="1200" dirty="0">
              <a:latin typeface="Candara" panose="020E0502030303020204" pitchFamily="34" charset="0"/>
            </a:endParaRPr>
          </a:p>
        </p:txBody>
      </p:sp>
    </p:spTree>
    <p:extLst>
      <p:ext uri="{BB962C8B-B14F-4D97-AF65-F5344CB8AC3E}">
        <p14:creationId xmlns:p14="http://schemas.microsoft.com/office/powerpoint/2010/main" val="2218827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276163" y="825649"/>
            <a:ext cx="7019365" cy="4378363"/>
          </a:xfrm>
        </p:spPr>
        <p:txBody>
          <a:bodyPr>
            <a:noAutofit/>
          </a:bodyPr>
          <a:lstStyle/>
          <a:p>
            <a:r>
              <a:rPr lang="fr-FR" sz="3600" b="1" dirty="0">
                <a:latin typeface="Candara" panose="020E0502030303020204" pitchFamily="34" charset="0"/>
              </a:rPr>
              <a:t>I</a:t>
            </a:r>
            <a:r>
              <a:rPr lang="fr-FR" sz="3600" b="1" u="sng" dirty="0">
                <a:latin typeface="Candara" panose="020E0502030303020204" pitchFamily="34" charset="0"/>
              </a:rPr>
              <a:t>nterprétation </a:t>
            </a:r>
            <a:endParaRPr lang="fr-FR" sz="3600" dirty="0">
              <a:latin typeface="Candara" panose="020E0502030303020204" pitchFamily="34" charset="0"/>
            </a:endParaRPr>
          </a:p>
          <a:p>
            <a:r>
              <a:rPr lang="fr-FR" sz="3200" dirty="0">
                <a:latin typeface="Candara" panose="020E0502030303020204" pitchFamily="34" charset="0"/>
              </a:rPr>
              <a:t> </a:t>
            </a:r>
          </a:p>
          <a:p>
            <a:r>
              <a:rPr lang="fr-FR" sz="2800" dirty="0">
                <a:latin typeface="Candara" panose="020E0502030303020204" pitchFamily="34" charset="0"/>
              </a:rPr>
              <a:t>Interpréter signifie qu’on peut expliquer l’origine ou la cause du problème de dépendance du client et les facteurs qui y contribuent.</a:t>
            </a:r>
          </a:p>
          <a:p>
            <a:r>
              <a:rPr lang="fr-FR" sz="2800" dirty="0">
                <a:latin typeface="Candara" panose="020E0502030303020204" pitchFamily="34" charset="0"/>
              </a:rPr>
              <a:t>En résumé, l’analyse et l’interprétation des données est un processus mental en deux phases :</a:t>
            </a:r>
          </a:p>
        </p:txBody>
      </p:sp>
    </p:spTree>
    <p:extLst>
      <p:ext uri="{BB962C8B-B14F-4D97-AF65-F5344CB8AC3E}">
        <p14:creationId xmlns:p14="http://schemas.microsoft.com/office/powerpoint/2010/main" val="2604336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276163" y="825650"/>
            <a:ext cx="7315202" cy="5117950"/>
          </a:xfrm>
        </p:spPr>
        <p:txBody>
          <a:bodyPr>
            <a:noAutofit/>
          </a:bodyPr>
          <a:lstStyle/>
          <a:p>
            <a:pPr>
              <a:spcAft>
                <a:spcPts val="1200"/>
              </a:spcAft>
              <a:buFont typeface="Wingdings" panose="05000000000000000000" pitchFamily="2" charset="2"/>
              <a:buChar char="§"/>
            </a:pPr>
            <a:r>
              <a:rPr lang="fr-FR" sz="3200" b="1" dirty="0"/>
              <a:t>Examiner</a:t>
            </a:r>
            <a:r>
              <a:rPr lang="fr-FR" sz="3200" dirty="0"/>
              <a:t> les faits observés, ensuite on fait les liens entre ces faits, les similitudes et les différences entre ces faits et les connaissances scientifiques ainsi que les explications scientifiques de ces faits ;</a:t>
            </a:r>
          </a:p>
          <a:p>
            <a:pPr>
              <a:buFont typeface="Wingdings" panose="05000000000000000000" pitchFamily="2" charset="2"/>
              <a:buChar char="§"/>
            </a:pPr>
            <a:r>
              <a:rPr lang="fr-FR" sz="3200" b="1" dirty="0"/>
              <a:t>Poser</a:t>
            </a:r>
            <a:r>
              <a:rPr lang="fr-FR" sz="3200" dirty="0"/>
              <a:t> un jugement de valeur sur la signification de la situation analysée quant aux caractéristiques des compétences pouvant affecter la prise en charge.</a:t>
            </a:r>
          </a:p>
        </p:txBody>
      </p:sp>
    </p:spTree>
    <p:extLst>
      <p:ext uri="{BB962C8B-B14F-4D97-AF65-F5344CB8AC3E}">
        <p14:creationId xmlns:p14="http://schemas.microsoft.com/office/powerpoint/2010/main" val="2579276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450975" y="2049333"/>
            <a:ext cx="7019365" cy="2280622"/>
          </a:xfrm>
        </p:spPr>
        <p:txBody>
          <a:bodyPr>
            <a:noAutofit/>
          </a:bodyPr>
          <a:lstStyle/>
          <a:p>
            <a:r>
              <a:rPr lang="fr-FR" sz="3200" dirty="0">
                <a:latin typeface="Candara" panose="020E0502030303020204" pitchFamily="34" charset="0"/>
              </a:rPr>
              <a:t>L’analyse et l’interprétation en tant qu’étape de la démarche scientifique de soins aboutit au </a:t>
            </a:r>
            <a:r>
              <a:rPr lang="fr-FR" sz="3200" b="1" dirty="0">
                <a:latin typeface="Candara" panose="020E0502030303020204" pitchFamily="34" charset="0"/>
              </a:rPr>
              <a:t>diagnostic infirmier</a:t>
            </a:r>
            <a:r>
              <a:rPr lang="fr-FR" sz="3200" dirty="0">
                <a:latin typeface="Candara" panose="020E0502030303020204" pitchFamily="34" charset="0"/>
              </a:rPr>
              <a:t> ou </a:t>
            </a:r>
            <a:r>
              <a:rPr lang="fr-FR" sz="3200" b="1" dirty="0">
                <a:latin typeface="Candara" panose="020E0502030303020204" pitchFamily="34" charset="0"/>
              </a:rPr>
              <a:t>diagnostic nursing</a:t>
            </a:r>
            <a:r>
              <a:rPr lang="fr-FR" sz="3200" dirty="0">
                <a:latin typeface="Candara" panose="020E0502030303020204" pitchFamily="34" charset="0"/>
              </a:rPr>
              <a:t> </a:t>
            </a:r>
          </a:p>
        </p:txBody>
      </p:sp>
    </p:spTree>
    <p:extLst>
      <p:ext uri="{BB962C8B-B14F-4D97-AF65-F5344CB8AC3E}">
        <p14:creationId xmlns:p14="http://schemas.microsoft.com/office/powerpoint/2010/main" val="3700730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424081" y="1202167"/>
            <a:ext cx="7530354" cy="4391809"/>
          </a:xfrm>
        </p:spPr>
        <p:txBody>
          <a:bodyPr>
            <a:noAutofit/>
          </a:bodyPr>
          <a:lstStyle/>
          <a:p>
            <a:pPr marL="108000">
              <a:lnSpc>
                <a:spcPct val="100000"/>
              </a:lnSpc>
            </a:pPr>
            <a:r>
              <a:rPr lang="fr-FR" sz="3200" b="1" dirty="0">
                <a:latin typeface="Candara" panose="020E0502030303020204" pitchFamily="34" charset="0"/>
              </a:rPr>
              <a:t>Le diagnostic infirmier</a:t>
            </a:r>
            <a:r>
              <a:rPr lang="fr-FR" sz="3200" dirty="0">
                <a:latin typeface="Candara" panose="020E0502030303020204" pitchFamily="34" charset="0"/>
              </a:rPr>
              <a:t> est un énoncé qui décrit le problème de dépendance actuel  ou potentiel du client  regroupées ou non et reliées à une source de difficultés, et dont la résolution ne dépend que de l’infirmier (ère) ou de la sage-femme. </a:t>
            </a:r>
          </a:p>
          <a:p>
            <a:pPr marL="108000">
              <a:lnSpc>
                <a:spcPct val="100000"/>
              </a:lnSpc>
            </a:pPr>
            <a:r>
              <a:rPr lang="fr-FR" sz="3200" dirty="0">
                <a:latin typeface="Candara" panose="020E0502030303020204" pitchFamily="34" charset="0"/>
              </a:rPr>
              <a:t>Il constitue le rôle autonome de l’infirmier(e) ou de la sage-femme</a:t>
            </a:r>
          </a:p>
        </p:txBody>
      </p:sp>
    </p:spTree>
    <p:extLst>
      <p:ext uri="{BB962C8B-B14F-4D97-AF65-F5344CB8AC3E}">
        <p14:creationId xmlns:p14="http://schemas.microsoft.com/office/powerpoint/2010/main" val="1371899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289610" y="322729"/>
            <a:ext cx="7382437" cy="5997390"/>
          </a:xfrm>
        </p:spPr>
        <p:txBody>
          <a:bodyPr>
            <a:noAutofit/>
          </a:bodyPr>
          <a:lstStyle/>
          <a:p>
            <a:pPr algn="ctr"/>
            <a:r>
              <a:rPr lang="fr-FR" sz="3200" b="1" u="sng" dirty="0">
                <a:latin typeface="Candara" panose="020E0502030303020204" pitchFamily="34" charset="0"/>
              </a:rPr>
              <a:t>Composantes d’un diagnostic infirmier</a:t>
            </a:r>
            <a:endParaRPr lang="fr-FR" sz="3200" dirty="0">
              <a:latin typeface="Candara" panose="020E0502030303020204" pitchFamily="34" charset="0"/>
            </a:endParaRPr>
          </a:p>
          <a:p>
            <a:pPr lvl="0">
              <a:lnSpc>
                <a:spcPct val="100000"/>
              </a:lnSpc>
              <a:spcAft>
                <a:spcPts val="1800"/>
              </a:spcAft>
            </a:pPr>
            <a:r>
              <a:rPr lang="fr-FR" sz="3200" b="1" dirty="0">
                <a:latin typeface="Candara" panose="020E0502030303020204" pitchFamily="34" charset="0"/>
              </a:rPr>
              <a:t>Le problème de dépendance</a:t>
            </a:r>
            <a:r>
              <a:rPr lang="fr-FR" sz="3200" dirty="0">
                <a:latin typeface="Candara" panose="020E0502030303020204" pitchFamily="34" charset="0"/>
              </a:rPr>
              <a:t> est un changement défavorable d’ordre biophysiologique, psychologique, social, culturel et spirituel dans la satisfaction d’un besoin fondamental et qui se manifeste par des signes observables</a:t>
            </a:r>
          </a:p>
          <a:p>
            <a:pPr lvl="0"/>
            <a:r>
              <a:rPr lang="fr-FR" sz="3200" b="1" dirty="0">
                <a:latin typeface="Candara" panose="020E0502030303020204" pitchFamily="34" charset="0"/>
              </a:rPr>
              <a:t>La source de difficulté</a:t>
            </a:r>
            <a:r>
              <a:rPr lang="fr-FR" sz="3200" dirty="0">
                <a:latin typeface="Candara" panose="020E0502030303020204" pitchFamily="34" charset="0"/>
              </a:rPr>
              <a:t> est un empêchement majeur à la satisfaction d’un ou de plusieurs  besoins fondamentaux</a:t>
            </a:r>
          </a:p>
        </p:txBody>
      </p:sp>
    </p:spTree>
    <p:extLst>
      <p:ext uri="{BB962C8B-B14F-4D97-AF65-F5344CB8AC3E}">
        <p14:creationId xmlns:p14="http://schemas.microsoft.com/office/powerpoint/2010/main" val="1176502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289610" y="322729"/>
            <a:ext cx="7382437" cy="5997390"/>
          </a:xfrm>
        </p:spPr>
        <p:txBody>
          <a:bodyPr>
            <a:noAutofit/>
          </a:bodyPr>
          <a:lstStyle/>
          <a:p>
            <a:pPr algn="ctr"/>
            <a:r>
              <a:rPr lang="fr-FR" sz="3600" b="1" u="sng" dirty="0"/>
              <a:t>Exemple de diagnostics infirmiers</a:t>
            </a:r>
            <a:endParaRPr lang="fr-FR" sz="3600" dirty="0"/>
          </a:p>
          <a:p>
            <a:pPr lvl="0">
              <a:spcBef>
                <a:spcPts val="1800"/>
              </a:spcBef>
              <a:spcAft>
                <a:spcPts val="1200"/>
              </a:spcAft>
              <a:buFont typeface="Wingdings" panose="05000000000000000000" pitchFamily="2" charset="2"/>
              <a:buChar char="§"/>
            </a:pPr>
            <a:r>
              <a:rPr lang="fr-FR" sz="3200" dirty="0"/>
              <a:t>Douleurs thoraciques </a:t>
            </a:r>
            <a:r>
              <a:rPr lang="fr-FR" sz="3200" i="1" dirty="0"/>
              <a:t>dues à</a:t>
            </a:r>
            <a:r>
              <a:rPr lang="fr-FR" sz="3200" dirty="0"/>
              <a:t> la plaie chirurgicale (douleurs thoraciques = problème de dépendance, plaie chirurgicale = source de difficultés).</a:t>
            </a:r>
          </a:p>
          <a:p>
            <a:pPr>
              <a:spcAft>
                <a:spcPts val="1200"/>
              </a:spcAft>
              <a:buFont typeface="Wingdings" panose="05000000000000000000" pitchFamily="2" charset="2"/>
              <a:buChar char="§"/>
            </a:pPr>
            <a:r>
              <a:rPr lang="fr-FR" sz="3200" dirty="0"/>
              <a:t>Difficultés respiratoires </a:t>
            </a:r>
            <a:r>
              <a:rPr lang="fr-FR" sz="3200" i="1" dirty="0"/>
              <a:t>reliées à</a:t>
            </a:r>
            <a:r>
              <a:rPr lang="fr-FR" sz="3200" dirty="0"/>
              <a:t> une obstruction des voies aériennes supérieures.</a:t>
            </a:r>
          </a:p>
          <a:p>
            <a:pPr lvl="0">
              <a:buFont typeface="Wingdings" panose="05000000000000000000" pitchFamily="2" charset="2"/>
              <a:buChar char="§"/>
            </a:pPr>
            <a:r>
              <a:rPr lang="fr-FR" sz="3200" dirty="0"/>
              <a:t>Risque potentiel d’accident </a:t>
            </a:r>
            <a:r>
              <a:rPr lang="fr-FR" sz="3200" i="1" dirty="0"/>
              <a:t>relié à</a:t>
            </a:r>
            <a:r>
              <a:rPr lang="fr-FR" sz="3200" dirty="0"/>
              <a:t> un déficit visuel.</a:t>
            </a:r>
          </a:p>
        </p:txBody>
      </p:sp>
    </p:spTree>
    <p:extLst>
      <p:ext uri="{BB962C8B-B14F-4D97-AF65-F5344CB8AC3E}">
        <p14:creationId xmlns:p14="http://schemas.microsoft.com/office/powerpoint/2010/main" val="575824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249269" y="1089211"/>
            <a:ext cx="7382437" cy="4639236"/>
          </a:xfrm>
        </p:spPr>
        <p:txBody>
          <a:bodyPr>
            <a:noAutofit/>
          </a:bodyPr>
          <a:lstStyle/>
          <a:p>
            <a:pPr>
              <a:lnSpc>
                <a:spcPct val="150000"/>
              </a:lnSpc>
            </a:pPr>
            <a:r>
              <a:rPr lang="fr-FR" sz="2800" dirty="0">
                <a:latin typeface="Candara" panose="020E0502030303020204" pitchFamily="34" charset="0"/>
              </a:rPr>
              <a:t>On parle de </a:t>
            </a:r>
            <a:r>
              <a:rPr lang="fr-FR" sz="2800" b="1" i="1" dirty="0">
                <a:latin typeface="Candara" panose="020E0502030303020204" pitchFamily="34" charset="0"/>
              </a:rPr>
              <a:t>facteurs contributifs ou facteurs étiologiques secondaires</a:t>
            </a:r>
            <a:r>
              <a:rPr lang="fr-FR" sz="2800" dirty="0">
                <a:latin typeface="Candara" panose="020E0502030303020204" pitchFamily="34" charset="0"/>
              </a:rPr>
              <a:t>, lorsqu’il arrive parfois qu’une source de difficulté soit identifiée pour un problème, mais à l’analyse, on s’aperçoit que cet élément négatif n’agit pas seul et que d’autres facteurs entrent en jeu pour accentuer et compliquer l’influence de la source première.</a:t>
            </a:r>
          </a:p>
        </p:txBody>
      </p:sp>
    </p:spTree>
    <p:extLst>
      <p:ext uri="{BB962C8B-B14F-4D97-AF65-F5344CB8AC3E}">
        <p14:creationId xmlns:p14="http://schemas.microsoft.com/office/powerpoint/2010/main" val="468766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94" y="594359"/>
            <a:ext cx="3603812" cy="2286000"/>
          </a:xfrm>
        </p:spPr>
        <p:txBody>
          <a:bodyPr>
            <a:noAutofit/>
          </a:bodyPr>
          <a:lstStyle/>
          <a:p>
            <a:pPr algn="ctr"/>
            <a:r>
              <a:rPr lang="fr-FR" b="1" dirty="0">
                <a:latin typeface="Candara" panose="020E0502030303020204" pitchFamily="34" charset="0"/>
              </a:rPr>
              <a:t>ANALYSE ET INTERPRÉTATION DES DONNÉES</a:t>
            </a:r>
            <a:endParaRPr lang="fr-FR" dirty="0">
              <a:latin typeface="Candara" panose="020E0502030303020204" pitchFamily="34" charset="0"/>
            </a:endParaRPr>
          </a:p>
        </p:txBody>
      </p:sp>
      <p:sp>
        <p:nvSpPr>
          <p:cNvPr id="4" name="Espace réservé du contenu 3"/>
          <p:cNvSpPr>
            <a:spLocks noGrp="1"/>
          </p:cNvSpPr>
          <p:nvPr>
            <p:ph idx="1"/>
          </p:nvPr>
        </p:nvSpPr>
        <p:spPr>
          <a:xfrm>
            <a:off x="4249269" y="1089211"/>
            <a:ext cx="7382437" cy="4424083"/>
          </a:xfrm>
        </p:spPr>
        <p:txBody>
          <a:bodyPr>
            <a:noAutofit/>
          </a:bodyPr>
          <a:lstStyle/>
          <a:p>
            <a:pPr>
              <a:lnSpc>
                <a:spcPct val="150000"/>
              </a:lnSpc>
            </a:pPr>
            <a:r>
              <a:rPr lang="fr-FR" sz="2800" b="1" dirty="0">
                <a:latin typeface="Candara" panose="020E0502030303020204" pitchFamily="34" charset="0"/>
              </a:rPr>
              <a:t>Exemple :</a:t>
            </a:r>
            <a:endParaRPr lang="fr-FR" sz="2800" dirty="0">
              <a:latin typeface="Candara" panose="020E0502030303020204" pitchFamily="34" charset="0"/>
            </a:endParaRPr>
          </a:p>
          <a:p>
            <a:pPr>
              <a:lnSpc>
                <a:spcPct val="150000"/>
              </a:lnSpc>
              <a:spcBef>
                <a:spcPts val="600"/>
              </a:spcBef>
              <a:spcAft>
                <a:spcPts val="600"/>
              </a:spcAft>
            </a:pPr>
            <a:r>
              <a:rPr lang="fr-FR" sz="2800" dirty="0">
                <a:latin typeface="Candara" panose="020E0502030303020204" pitchFamily="34" charset="0"/>
              </a:rPr>
              <a:t>Difficultés à s’alimenter </a:t>
            </a:r>
            <a:r>
              <a:rPr lang="fr-FR" sz="2800" i="1" dirty="0">
                <a:latin typeface="Candara" panose="020E0502030303020204" pitchFamily="34" charset="0"/>
              </a:rPr>
              <a:t>reliées au</a:t>
            </a:r>
            <a:r>
              <a:rPr lang="fr-FR" sz="2800" dirty="0">
                <a:latin typeface="Candara" panose="020E0502030303020204" pitchFamily="34" charset="0"/>
              </a:rPr>
              <a:t> dégoût pour son régime alimentaire prescrit aggravées par les fortes émotions.</a:t>
            </a:r>
          </a:p>
          <a:p>
            <a:pPr>
              <a:lnSpc>
                <a:spcPct val="150000"/>
              </a:lnSpc>
            </a:pPr>
            <a:r>
              <a:rPr lang="fr-FR" sz="2800" b="1" dirty="0">
                <a:latin typeface="Candara" panose="020E0502030303020204" pitchFamily="34" charset="0"/>
              </a:rPr>
              <a:t>N.B</a:t>
            </a:r>
            <a:r>
              <a:rPr lang="fr-FR" sz="2800" dirty="0">
                <a:latin typeface="Candara" panose="020E0502030303020204" pitchFamily="34" charset="0"/>
              </a:rPr>
              <a:t> : les fortes émotions constituent le facteur constructif ou facteur étiologique secondaire.</a:t>
            </a:r>
          </a:p>
        </p:txBody>
      </p:sp>
    </p:spTree>
    <p:extLst>
      <p:ext uri="{BB962C8B-B14F-4D97-AF65-F5344CB8AC3E}">
        <p14:creationId xmlns:p14="http://schemas.microsoft.com/office/powerpoint/2010/main" val="3162026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b="1" i="1" dirty="0">
                <a:latin typeface="Candara" panose="020E0502030303020204" pitchFamily="34" charset="0"/>
              </a:rPr>
              <a:t>Différence entre un diagnostic médical et un diagnostic infirmier (nursing)</a:t>
            </a:r>
            <a:endParaRPr lang="fr-FR" sz="4400" dirty="0">
              <a:latin typeface="Candara" panose="020E0502030303020204" pitchFamily="34" charset="0"/>
            </a:endParaRPr>
          </a:p>
        </p:txBody>
      </p:sp>
      <p:graphicFrame>
        <p:nvGraphicFramePr>
          <p:cNvPr id="5" name="Tableau 4"/>
          <p:cNvGraphicFramePr>
            <a:graphicFrameLocks noGrp="1"/>
          </p:cNvGraphicFramePr>
          <p:nvPr>
            <p:extLst>
              <p:ext uri="{D42A27DB-BD31-4B8C-83A1-F6EECF244321}">
                <p14:modId xmlns:p14="http://schemas.microsoft.com/office/powerpoint/2010/main" val="58497096"/>
              </p:ext>
            </p:extLst>
          </p:nvPr>
        </p:nvGraphicFramePr>
        <p:xfrm>
          <a:off x="1097280" y="2095439"/>
          <a:ext cx="10058400" cy="3547577"/>
        </p:xfrm>
        <a:graphic>
          <a:graphicData uri="http://schemas.openxmlformats.org/drawingml/2006/table">
            <a:tbl>
              <a:tblPr firstRow="1" firstCol="1" bandRow="1">
                <a:tableStyleId>{5C22544A-7EE6-4342-B048-85BDC9FD1C3A}</a:tableStyleId>
              </a:tblPr>
              <a:tblGrid>
                <a:gridCol w="5456416">
                  <a:extLst>
                    <a:ext uri="{9D8B030D-6E8A-4147-A177-3AD203B41FA5}">
                      <a16:colId xmlns:a16="http://schemas.microsoft.com/office/drawing/2014/main" val="20000"/>
                    </a:ext>
                  </a:extLst>
                </a:gridCol>
                <a:gridCol w="4601984">
                  <a:extLst>
                    <a:ext uri="{9D8B030D-6E8A-4147-A177-3AD203B41FA5}">
                      <a16:colId xmlns:a16="http://schemas.microsoft.com/office/drawing/2014/main" val="20001"/>
                    </a:ext>
                  </a:extLst>
                </a:gridCol>
              </a:tblGrid>
              <a:tr h="331822">
                <a:tc>
                  <a:txBody>
                    <a:bodyPr/>
                    <a:lstStyle/>
                    <a:p>
                      <a:pPr algn="ctr">
                        <a:lnSpc>
                          <a:spcPct val="107000"/>
                        </a:lnSpc>
                        <a:spcAft>
                          <a:spcPts val="0"/>
                        </a:spcAft>
                      </a:pPr>
                      <a:r>
                        <a:rPr lang="fr-FR" sz="2400" b="1" dirty="0">
                          <a:solidFill>
                            <a:schemeClr val="tx1"/>
                          </a:solidFill>
                          <a:effectLst/>
                          <a:latin typeface="Candara" panose="020E0502030303020204" pitchFamily="34" charset="0"/>
                        </a:rPr>
                        <a:t>Diagnostic infirmier</a:t>
                      </a:r>
                      <a:endParaRPr lang="fr-FR" sz="20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b="1" dirty="0">
                          <a:solidFill>
                            <a:schemeClr val="tx1"/>
                          </a:solidFill>
                          <a:effectLst/>
                          <a:latin typeface="Candara" panose="020E0502030303020204" pitchFamily="34" charset="0"/>
                        </a:rPr>
                        <a:t>Diagnostic médical</a:t>
                      </a:r>
                      <a:endParaRPr lang="fr-FR" sz="20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89819">
                <a:tc>
                  <a:txBody>
                    <a:bodyPr/>
                    <a:lstStyle/>
                    <a:p>
                      <a:pPr algn="just">
                        <a:lnSpc>
                          <a:spcPct val="107000"/>
                        </a:lnSpc>
                        <a:spcAft>
                          <a:spcPts val="0"/>
                        </a:spcAft>
                      </a:pPr>
                      <a:r>
                        <a:rPr lang="fr-FR" sz="2000" b="0" dirty="0">
                          <a:solidFill>
                            <a:schemeClr val="tx1"/>
                          </a:solidFill>
                          <a:effectLst/>
                          <a:latin typeface="Candara" panose="020E0502030303020204" pitchFamily="34" charset="0"/>
                        </a:rPr>
                        <a:t>Orienté vers l’individu</a:t>
                      </a:r>
                      <a:endParaRPr lang="fr-FR" sz="1800" b="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2000" b="0">
                          <a:solidFill>
                            <a:schemeClr val="tx1"/>
                          </a:solidFill>
                          <a:effectLst/>
                          <a:latin typeface="Candara" panose="020E0502030303020204" pitchFamily="34" charset="0"/>
                        </a:rPr>
                        <a:t>Orienté vers la pathologie</a:t>
                      </a:r>
                      <a:endParaRPr lang="fr-FR" sz="1800" b="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93015">
                <a:tc>
                  <a:txBody>
                    <a:bodyPr/>
                    <a:lstStyle/>
                    <a:p>
                      <a:pPr>
                        <a:lnSpc>
                          <a:spcPct val="107000"/>
                        </a:lnSpc>
                        <a:spcAft>
                          <a:spcPts val="0"/>
                        </a:spcAft>
                      </a:pPr>
                      <a:r>
                        <a:rPr lang="fr-FR" sz="2000" b="0" dirty="0">
                          <a:solidFill>
                            <a:schemeClr val="tx1"/>
                          </a:solidFill>
                          <a:effectLst/>
                          <a:latin typeface="Candara" panose="020E0502030303020204" pitchFamily="34" charset="0"/>
                        </a:rPr>
                        <a:t>Décrit la réaction de l’individu face au processus de la maladie</a:t>
                      </a:r>
                      <a:endParaRPr lang="fr-FR" sz="1800" b="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fr-FR" sz="2000" b="0">
                          <a:solidFill>
                            <a:schemeClr val="tx1"/>
                          </a:solidFill>
                          <a:effectLst/>
                          <a:latin typeface="Candara" panose="020E0502030303020204" pitchFamily="34" charset="0"/>
                        </a:rPr>
                        <a:t>Décrit le processus de la pathologie</a:t>
                      </a:r>
                      <a:endParaRPr lang="fr-FR" sz="1800" b="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896213">
                <a:tc>
                  <a:txBody>
                    <a:bodyPr/>
                    <a:lstStyle/>
                    <a:p>
                      <a:pPr>
                        <a:lnSpc>
                          <a:spcPct val="107000"/>
                        </a:lnSpc>
                        <a:spcAft>
                          <a:spcPts val="0"/>
                        </a:spcAft>
                      </a:pPr>
                      <a:r>
                        <a:rPr lang="fr-FR" sz="2000" b="0" dirty="0">
                          <a:solidFill>
                            <a:schemeClr val="tx1"/>
                          </a:solidFill>
                          <a:effectLst/>
                          <a:latin typeface="Candara" panose="020E0502030303020204" pitchFamily="34" charset="0"/>
                        </a:rPr>
                        <a:t>Oriente l’infirmier vers les activités autonomes ou guide ses actes infirmiers autonomes de soins infirmiers et l’évaluation</a:t>
                      </a:r>
                      <a:endParaRPr lang="fr-FR" sz="1800" b="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fr-FR" sz="2000" b="0">
                          <a:solidFill>
                            <a:schemeClr val="tx1"/>
                          </a:solidFill>
                          <a:effectLst/>
                          <a:latin typeface="Candara" panose="020E0502030303020204" pitchFamily="34" charset="0"/>
                        </a:rPr>
                        <a:t>Orienté vers l’acte médical (parfois délégué à l’infirmier)</a:t>
                      </a:r>
                      <a:endParaRPr lang="fr-FR" sz="1800" b="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1199410">
                <a:tc>
                  <a:txBody>
                    <a:bodyPr/>
                    <a:lstStyle/>
                    <a:p>
                      <a:pPr>
                        <a:lnSpc>
                          <a:spcPct val="107000"/>
                        </a:lnSpc>
                        <a:spcAft>
                          <a:spcPts val="0"/>
                        </a:spcAft>
                      </a:pPr>
                      <a:r>
                        <a:rPr lang="fr-FR" sz="2000" b="0" dirty="0">
                          <a:solidFill>
                            <a:schemeClr val="tx1"/>
                          </a:solidFill>
                          <a:effectLst/>
                          <a:latin typeface="Candara" panose="020E0502030303020204" pitchFamily="34" charset="0"/>
                        </a:rPr>
                        <a:t>Ne possède pas une classification universelle acceptable</a:t>
                      </a:r>
                      <a:endParaRPr lang="fr-FR" sz="1800" b="0" dirty="0">
                        <a:solidFill>
                          <a:schemeClr val="tx1"/>
                        </a:solidFill>
                        <a:effectLst/>
                        <a:latin typeface="Candara" panose="020E0502030303020204" pitchFamily="34" charset="0"/>
                      </a:endParaRPr>
                    </a:p>
                    <a:p>
                      <a:pPr>
                        <a:lnSpc>
                          <a:spcPct val="107000"/>
                        </a:lnSpc>
                        <a:spcAft>
                          <a:spcPts val="0"/>
                        </a:spcAft>
                      </a:pPr>
                      <a:r>
                        <a:rPr lang="fr-FR" sz="2000" b="0" dirty="0">
                          <a:solidFill>
                            <a:schemeClr val="tx1"/>
                          </a:solidFill>
                          <a:effectLst/>
                          <a:latin typeface="Candara" panose="020E0502030303020204" pitchFamily="34" charset="0"/>
                        </a:rPr>
                        <a:t>Complémentaire du diagnostic médical</a:t>
                      </a:r>
                      <a:endParaRPr lang="fr-FR" sz="1800" b="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fr-FR" sz="2000" b="0" dirty="0">
                          <a:solidFill>
                            <a:schemeClr val="tx1"/>
                          </a:solidFill>
                          <a:effectLst/>
                          <a:latin typeface="Candara" panose="020E0502030303020204" pitchFamily="34" charset="0"/>
                        </a:rPr>
                        <a:t>Possède une classification universelle acceptable, bien développée</a:t>
                      </a:r>
                      <a:endParaRPr lang="fr-FR" sz="1800" b="0" dirty="0">
                        <a:solidFill>
                          <a:schemeClr val="tx1"/>
                        </a:solidFill>
                        <a:effectLst/>
                        <a:latin typeface="Candara" panose="020E0502030303020204" pitchFamily="34" charset="0"/>
                      </a:endParaRPr>
                    </a:p>
                    <a:p>
                      <a:pPr>
                        <a:lnSpc>
                          <a:spcPct val="107000"/>
                        </a:lnSpc>
                        <a:spcAft>
                          <a:spcPts val="0"/>
                        </a:spcAft>
                      </a:pPr>
                      <a:r>
                        <a:rPr lang="fr-FR" sz="2000" b="0" dirty="0">
                          <a:solidFill>
                            <a:schemeClr val="tx1"/>
                          </a:solidFill>
                          <a:effectLst/>
                          <a:latin typeface="Candara" panose="020E0502030303020204" pitchFamily="34" charset="0"/>
                        </a:rPr>
                        <a:t>Complémentaire du diagnostic infirmier</a:t>
                      </a:r>
                      <a:endParaRPr lang="fr-FR" sz="1800" b="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39953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024" y="594359"/>
            <a:ext cx="3818964" cy="2286000"/>
          </a:xfrm>
        </p:spPr>
        <p:txBody>
          <a:bodyPr>
            <a:normAutofit/>
          </a:bodyPr>
          <a:lstStyle/>
          <a:p>
            <a:pPr algn="ctr"/>
            <a:r>
              <a:rPr lang="fr-FR" sz="4000" b="1" dirty="0">
                <a:latin typeface="Candara" panose="020E0502030303020204" pitchFamily="34" charset="0"/>
              </a:rPr>
              <a:t>PLANIFICATION DES INTERVENTIONS  </a:t>
            </a:r>
            <a:endParaRPr lang="fr-FR" sz="4000" dirty="0">
              <a:latin typeface="Candara" panose="020E0502030303020204" pitchFamily="34" charset="0"/>
            </a:endParaRPr>
          </a:p>
        </p:txBody>
      </p:sp>
      <p:sp>
        <p:nvSpPr>
          <p:cNvPr id="5" name="Espace réservé du contenu 4"/>
          <p:cNvSpPr>
            <a:spLocks noGrp="1"/>
          </p:cNvSpPr>
          <p:nvPr>
            <p:ph idx="1"/>
          </p:nvPr>
        </p:nvSpPr>
        <p:spPr>
          <a:xfrm>
            <a:off x="4746812" y="1982098"/>
            <a:ext cx="6559475" cy="2563008"/>
          </a:xfrm>
        </p:spPr>
        <p:txBody>
          <a:bodyPr>
            <a:noAutofit/>
          </a:bodyPr>
          <a:lstStyle/>
          <a:p>
            <a:pPr>
              <a:spcAft>
                <a:spcPts val="1200"/>
              </a:spcAft>
            </a:pPr>
            <a:r>
              <a:rPr lang="fr-FR" sz="2400" dirty="0">
                <a:latin typeface="Candara" panose="020E0502030303020204" pitchFamily="34" charset="0"/>
              </a:rPr>
              <a:t>La planification des interventions  a deux composantes :</a:t>
            </a:r>
          </a:p>
          <a:p>
            <a:pPr lvl="0">
              <a:spcAft>
                <a:spcPts val="1200"/>
              </a:spcAft>
              <a:buFont typeface="Wingdings" panose="05000000000000000000" pitchFamily="2" charset="2"/>
              <a:buChar char="§"/>
            </a:pPr>
            <a:r>
              <a:rPr lang="fr-FR" sz="2400" dirty="0">
                <a:latin typeface="Candara" panose="020E0502030303020204" pitchFamily="34" charset="0"/>
              </a:rPr>
              <a:t>La fixation des objectifs de soins à court terme, à moyen terme et à long terme</a:t>
            </a:r>
          </a:p>
          <a:p>
            <a:pPr lvl="0">
              <a:spcAft>
                <a:spcPts val="1200"/>
              </a:spcAft>
              <a:buFont typeface="Wingdings" panose="05000000000000000000" pitchFamily="2" charset="2"/>
              <a:buChar char="§"/>
            </a:pPr>
            <a:r>
              <a:rPr lang="fr-FR" sz="2400" dirty="0">
                <a:latin typeface="Candara" panose="020E0502030303020204" pitchFamily="34" charset="0"/>
              </a:rPr>
              <a:t>La détermination des interventions infirmières.</a:t>
            </a:r>
          </a:p>
          <a:p>
            <a:pPr>
              <a:spcAft>
                <a:spcPts val="1200"/>
              </a:spcAft>
            </a:pPr>
            <a:r>
              <a:rPr lang="fr-FR" sz="2400" dirty="0">
                <a:latin typeface="Candara" panose="020E0502030303020204" pitchFamily="34" charset="0"/>
              </a:rPr>
              <a:t> </a:t>
            </a:r>
          </a:p>
          <a:p>
            <a:pPr>
              <a:spcAft>
                <a:spcPts val="1200"/>
              </a:spcAft>
            </a:pPr>
            <a:endParaRPr lang="fr-FR" sz="2400" dirty="0">
              <a:latin typeface="Candara" panose="020E0502030303020204" pitchFamily="34" charset="0"/>
            </a:endParaRPr>
          </a:p>
        </p:txBody>
      </p:sp>
    </p:spTree>
    <p:extLst>
      <p:ext uri="{BB962C8B-B14F-4D97-AF65-F5344CB8AC3E}">
        <p14:creationId xmlns:p14="http://schemas.microsoft.com/office/powerpoint/2010/main" val="1517862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024" y="594359"/>
            <a:ext cx="3818964" cy="2286000"/>
          </a:xfrm>
        </p:spPr>
        <p:txBody>
          <a:bodyPr>
            <a:normAutofit/>
          </a:bodyPr>
          <a:lstStyle/>
          <a:p>
            <a:pPr algn="ctr"/>
            <a:r>
              <a:rPr lang="fr-FR" sz="4000" b="1" dirty="0">
                <a:latin typeface="Candara" panose="020E0502030303020204" pitchFamily="34" charset="0"/>
              </a:rPr>
              <a:t>PLANIFICATION DES INTERVENTIONS  </a:t>
            </a:r>
            <a:endParaRPr lang="fr-FR" sz="4000" dirty="0">
              <a:latin typeface="Candara" panose="020E0502030303020204" pitchFamily="34" charset="0"/>
            </a:endParaRPr>
          </a:p>
        </p:txBody>
      </p:sp>
      <p:sp>
        <p:nvSpPr>
          <p:cNvPr id="5" name="Espace réservé du contenu 4"/>
          <p:cNvSpPr>
            <a:spLocks noGrp="1"/>
          </p:cNvSpPr>
          <p:nvPr>
            <p:ph idx="1"/>
          </p:nvPr>
        </p:nvSpPr>
        <p:spPr>
          <a:xfrm>
            <a:off x="4397189" y="839098"/>
            <a:ext cx="7368988" cy="5507914"/>
          </a:xfrm>
        </p:spPr>
        <p:txBody>
          <a:bodyPr>
            <a:noAutofit/>
          </a:bodyPr>
          <a:lstStyle/>
          <a:p>
            <a:pPr>
              <a:spcAft>
                <a:spcPts val="1800"/>
              </a:spcAft>
              <a:buFont typeface="Wingdings" panose="05000000000000000000" pitchFamily="2" charset="2"/>
              <a:buChar char="q"/>
            </a:pPr>
            <a:r>
              <a:rPr lang="fr-FR" sz="3200" b="1" dirty="0">
                <a:latin typeface="Candara" panose="020E0502030303020204" pitchFamily="34" charset="0"/>
              </a:rPr>
              <a:t>La fixation des objectifs (1</a:t>
            </a:r>
            <a:r>
              <a:rPr lang="fr-FR" sz="3200" b="1" baseline="30000" dirty="0">
                <a:latin typeface="Candara" panose="020E0502030303020204" pitchFamily="34" charset="0"/>
              </a:rPr>
              <a:t>er</a:t>
            </a:r>
            <a:r>
              <a:rPr lang="fr-FR" sz="3200" b="1" dirty="0">
                <a:latin typeface="Candara" panose="020E0502030303020204" pitchFamily="34" charset="0"/>
              </a:rPr>
              <a:t> volet de la planification)</a:t>
            </a:r>
          </a:p>
          <a:p>
            <a:pPr marL="538163" lvl="0" indent="-90488">
              <a:buFont typeface="Wingdings" panose="05000000000000000000" pitchFamily="2" charset="2"/>
              <a:buChar char="§"/>
            </a:pPr>
            <a:r>
              <a:rPr lang="fr-FR" sz="3200" b="1" i="1" dirty="0">
                <a:latin typeface="Candara" panose="020E0502030303020204" pitchFamily="34" charset="0"/>
              </a:rPr>
              <a:t>L’objectif de soins </a:t>
            </a:r>
            <a:endParaRPr lang="fr-FR" sz="3200" dirty="0">
              <a:latin typeface="Candara" panose="020E0502030303020204" pitchFamily="34" charset="0"/>
            </a:endParaRPr>
          </a:p>
          <a:p>
            <a:pPr marL="712788" indent="-90488"/>
            <a:r>
              <a:rPr lang="fr-FR" sz="3200" dirty="0">
                <a:latin typeface="Candara" panose="020E0502030303020204" pitchFamily="34" charset="0"/>
              </a:rPr>
              <a:t>C’est la description d’un comportement observable que le soignant attend du client après la mise en œuvre des interventions infirmières. (Ce que le client doit être capable de faire de lui-même après les interventions infirmières). </a:t>
            </a:r>
          </a:p>
          <a:p>
            <a:endParaRPr lang="fr-FR" sz="3200" dirty="0">
              <a:latin typeface="Candara" panose="020E0502030303020204" pitchFamily="34" charset="0"/>
            </a:endParaRPr>
          </a:p>
        </p:txBody>
      </p:sp>
    </p:spTree>
    <p:extLst>
      <p:ext uri="{BB962C8B-B14F-4D97-AF65-F5344CB8AC3E}">
        <p14:creationId xmlns:p14="http://schemas.microsoft.com/office/powerpoint/2010/main" val="193021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024" y="594359"/>
            <a:ext cx="3818964" cy="2286000"/>
          </a:xfrm>
        </p:spPr>
        <p:txBody>
          <a:bodyPr>
            <a:normAutofit/>
          </a:bodyPr>
          <a:lstStyle/>
          <a:p>
            <a:pPr algn="ctr"/>
            <a:r>
              <a:rPr lang="fr-FR" sz="4000" b="1" dirty="0">
                <a:latin typeface="Candara" panose="020E0502030303020204" pitchFamily="34" charset="0"/>
              </a:rPr>
              <a:t>PLANIFICATION DES INTERVENTIONS  </a:t>
            </a:r>
            <a:endParaRPr lang="fr-FR" sz="4000" dirty="0">
              <a:latin typeface="Candara" panose="020E0502030303020204" pitchFamily="34" charset="0"/>
            </a:endParaRPr>
          </a:p>
        </p:txBody>
      </p:sp>
      <p:sp>
        <p:nvSpPr>
          <p:cNvPr id="5" name="Espace réservé du contenu 4"/>
          <p:cNvSpPr>
            <a:spLocks noGrp="1"/>
          </p:cNvSpPr>
          <p:nvPr>
            <p:ph idx="1"/>
          </p:nvPr>
        </p:nvSpPr>
        <p:spPr>
          <a:xfrm>
            <a:off x="4397189" y="1040804"/>
            <a:ext cx="7368988" cy="4203549"/>
          </a:xfrm>
        </p:spPr>
        <p:txBody>
          <a:bodyPr>
            <a:noAutofit/>
          </a:bodyPr>
          <a:lstStyle/>
          <a:p>
            <a:pPr>
              <a:spcAft>
                <a:spcPts val="1800"/>
              </a:spcAft>
              <a:buFont typeface="Wingdings" panose="05000000000000000000" pitchFamily="2" charset="2"/>
              <a:buChar char="q"/>
            </a:pPr>
            <a:r>
              <a:rPr lang="fr-FR" sz="3200" b="1" i="1" dirty="0"/>
              <a:t>Caractéristiques d’un objectif de soins</a:t>
            </a:r>
            <a:endParaRPr lang="fr-FR" sz="3200" b="1" i="1" dirty="0">
              <a:latin typeface="Candara" panose="020E0502030303020204" pitchFamily="34" charset="0"/>
            </a:endParaRPr>
          </a:p>
          <a:p>
            <a:pPr marL="538163" lvl="0" indent="-90488">
              <a:buFont typeface="Wingdings" panose="05000000000000000000" pitchFamily="2" charset="2"/>
              <a:buChar char="§"/>
            </a:pPr>
            <a:r>
              <a:rPr lang="fr-FR" sz="3200" b="1" dirty="0"/>
              <a:t>Spécificit</a:t>
            </a:r>
            <a:r>
              <a:rPr lang="fr-FR" sz="3200" dirty="0"/>
              <a:t>é : c’est-à-dire appartenir à un seul sujet à la fois</a:t>
            </a:r>
          </a:p>
          <a:p>
            <a:pPr marL="538163" lvl="0" indent="-90488">
              <a:buFont typeface="Wingdings" panose="05000000000000000000" pitchFamily="2" charset="2"/>
              <a:buChar char="§"/>
            </a:pPr>
            <a:r>
              <a:rPr lang="fr-FR" sz="3200" b="1" dirty="0"/>
              <a:t>Performance</a:t>
            </a:r>
            <a:r>
              <a:rPr lang="fr-FR" sz="3200" dirty="0"/>
              <a:t> : action ou comportement attendu de la personne</a:t>
            </a:r>
          </a:p>
          <a:p>
            <a:pPr marL="538163" lvl="0" indent="-90488">
              <a:buFont typeface="Wingdings" panose="05000000000000000000" pitchFamily="2" charset="2"/>
              <a:buChar char="§"/>
            </a:pPr>
            <a:r>
              <a:rPr lang="fr-FR" sz="3200" b="1" dirty="0"/>
              <a:t>Implication</a:t>
            </a:r>
            <a:r>
              <a:rPr lang="fr-FR" sz="3200" dirty="0"/>
              <a:t> : le niveau d’engagement du client</a:t>
            </a:r>
          </a:p>
        </p:txBody>
      </p:sp>
    </p:spTree>
    <p:extLst>
      <p:ext uri="{BB962C8B-B14F-4D97-AF65-F5344CB8AC3E}">
        <p14:creationId xmlns:p14="http://schemas.microsoft.com/office/powerpoint/2010/main" val="2121068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024" y="594359"/>
            <a:ext cx="3818964" cy="2286000"/>
          </a:xfrm>
        </p:spPr>
        <p:txBody>
          <a:bodyPr>
            <a:normAutofit/>
          </a:bodyPr>
          <a:lstStyle/>
          <a:p>
            <a:pPr algn="ctr"/>
            <a:r>
              <a:rPr lang="fr-FR" sz="4000" b="1" dirty="0">
                <a:latin typeface="Candara" panose="020E0502030303020204" pitchFamily="34" charset="0"/>
              </a:rPr>
              <a:t>PLANIFICATION DES INTERVENTIONS  </a:t>
            </a:r>
            <a:endParaRPr lang="fr-FR" sz="4000" dirty="0">
              <a:latin typeface="Candara" panose="020E0502030303020204" pitchFamily="34" charset="0"/>
            </a:endParaRPr>
          </a:p>
        </p:txBody>
      </p:sp>
      <p:sp>
        <p:nvSpPr>
          <p:cNvPr id="5" name="Espace réservé du contenu 4"/>
          <p:cNvSpPr>
            <a:spLocks noGrp="1"/>
          </p:cNvSpPr>
          <p:nvPr>
            <p:ph idx="1"/>
          </p:nvPr>
        </p:nvSpPr>
        <p:spPr>
          <a:xfrm>
            <a:off x="4383742" y="1282851"/>
            <a:ext cx="7368988" cy="4001843"/>
          </a:xfrm>
        </p:spPr>
        <p:txBody>
          <a:bodyPr>
            <a:noAutofit/>
          </a:bodyPr>
          <a:lstStyle/>
          <a:p>
            <a:pPr>
              <a:spcAft>
                <a:spcPts val="1800"/>
              </a:spcAft>
              <a:buFont typeface="Wingdings" panose="05000000000000000000" pitchFamily="2" charset="2"/>
              <a:buChar char="q"/>
            </a:pPr>
            <a:r>
              <a:rPr lang="fr-FR" sz="3200" b="1" i="1" dirty="0"/>
              <a:t>Caractéristiques d’un objectif de soins</a:t>
            </a:r>
            <a:endParaRPr lang="fr-FR" sz="3200" b="1" i="1" dirty="0">
              <a:latin typeface="Candara" panose="020E0502030303020204" pitchFamily="34" charset="0"/>
            </a:endParaRPr>
          </a:p>
          <a:p>
            <a:pPr marL="538163" lvl="0" indent="-90488">
              <a:buFont typeface="Wingdings" panose="05000000000000000000" pitchFamily="2" charset="2"/>
              <a:buChar char="§"/>
            </a:pPr>
            <a:r>
              <a:rPr lang="fr-FR" sz="3200" b="1" dirty="0"/>
              <a:t>Réalisme</a:t>
            </a:r>
            <a:r>
              <a:rPr lang="fr-FR" sz="3200" dirty="0"/>
              <a:t> : tenir compte des capacités (physiques, affectives, intellectuelles) de la personne</a:t>
            </a:r>
          </a:p>
          <a:p>
            <a:pPr marL="538163" lvl="0" indent="-90488">
              <a:buFont typeface="Wingdings" panose="05000000000000000000" pitchFamily="2" charset="2"/>
              <a:buChar char="§"/>
            </a:pPr>
            <a:r>
              <a:rPr lang="fr-FR" sz="3200" b="1" dirty="0"/>
              <a:t>Observation</a:t>
            </a:r>
            <a:r>
              <a:rPr lang="fr-FR" sz="3200" dirty="0"/>
              <a:t> : l’objectif de soins doit être observable c’est-à-dire facile à repérer, à mesurer.</a:t>
            </a:r>
          </a:p>
          <a:p>
            <a:pPr>
              <a:spcAft>
                <a:spcPts val="1800"/>
              </a:spcAft>
              <a:buFont typeface="Wingdings" panose="05000000000000000000" pitchFamily="2" charset="2"/>
              <a:buChar char="q"/>
            </a:pPr>
            <a:endParaRPr lang="fr-FR" sz="3200" dirty="0">
              <a:latin typeface="Candara" panose="020E0502030303020204" pitchFamily="34" charset="0"/>
            </a:endParaRPr>
          </a:p>
        </p:txBody>
      </p:sp>
    </p:spTree>
    <p:extLst>
      <p:ext uri="{BB962C8B-B14F-4D97-AF65-F5344CB8AC3E}">
        <p14:creationId xmlns:p14="http://schemas.microsoft.com/office/powerpoint/2010/main" val="2208599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024" y="594359"/>
            <a:ext cx="3818964" cy="2286000"/>
          </a:xfrm>
        </p:spPr>
        <p:txBody>
          <a:bodyPr>
            <a:normAutofit/>
          </a:bodyPr>
          <a:lstStyle/>
          <a:p>
            <a:pPr algn="ctr"/>
            <a:r>
              <a:rPr lang="fr-FR" sz="4000" b="1" dirty="0">
                <a:latin typeface="Candara" panose="020E0502030303020204" pitchFamily="34" charset="0"/>
              </a:rPr>
              <a:t>PLANIFICATION DES INTERVENTIONS  </a:t>
            </a:r>
            <a:endParaRPr lang="fr-FR" sz="4000" dirty="0">
              <a:latin typeface="Candara" panose="020E0502030303020204" pitchFamily="34" charset="0"/>
            </a:endParaRPr>
          </a:p>
        </p:txBody>
      </p:sp>
      <p:sp>
        <p:nvSpPr>
          <p:cNvPr id="5" name="Espace réservé du contenu 4"/>
          <p:cNvSpPr>
            <a:spLocks noGrp="1"/>
          </p:cNvSpPr>
          <p:nvPr>
            <p:ph idx="1"/>
          </p:nvPr>
        </p:nvSpPr>
        <p:spPr>
          <a:xfrm>
            <a:off x="4383742" y="462578"/>
            <a:ext cx="7368988" cy="5965116"/>
          </a:xfrm>
        </p:spPr>
        <p:txBody>
          <a:bodyPr>
            <a:noAutofit/>
          </a:bodyPr>
          <a:lstStyle/>
          <a:p>
            <a:r>
              <a:rPr lang="fr-FR" sz="2800" b="1" u="sng" dirty="0">
                <a:latin typeface="Candara" panose="020E0502030303020204" pitchFamily="34" charset="0"/>
              </a:rPr>
              <a:t>Exemple de formulation d’un objectif de soins</a:t>
            </a:r>
            <a:endParaRPr lang="fr-FR" sz="2800" dirty="0">
              <a:latin typeface="Candara" panose="020E0502030303020204" pitchFamily="34" charset="0"/>
            </a:endParaRPr>
          </a:p>
          <a:p>
            <a:r>
              <a:rPr lang="fr-FR" dirty="0">
                <a:latin typeface="Candara" panose="020E0502030303020204" pitchFamily="34" charset="0"/>
              </a:rPr>
              <a:t> </a:t>
            </a:r>
          </a:p>
          <a:p>
            <a:pPr algn="just"/>
            <a:r>
              <a:rPr lang="fr-FR" sz="2200" b="1" dirty="0">
                <a:latin typeface="Candara" panose="020E0502030303020204" pitchFamily="34" charset="0"/>
              </a:rPr>
              <a:t>Mme Kouakou doit être capable de manger  les repas avec appétit dans 24 heures </a:t>
            </a:r>
            <a:endParaRPr lang="fr-FR" sz="2200" dirty="0">
              <a:latin typeface="Candara" panose="020E0502030303020204" pitchFamily="34" charset="0"/>
            </a:endParaRPr>
          </a:p>
          <a:p>
            <a:pPr algn="just"/>
            <a:r>
              <a:rPr lang="fr-FR" sz="2200" b="1" dirty="0">
                <a:latin typeface="Candara" panose="020E0502030303020204" pitchFamily="34" charset="0"/>
              </a:rPr>
              <a:t>Sujet </a:t>
            </a:r>
            <a:r>
              <a:rPr lang="fr-FR" sz="2200" dirty="0">
                <a:latin typeface="Candara" panose="020E0502030303020204" pitchFamily="34" charset="0"/>
              </a:rPr>
              <a:t>: Qui fait quoi ? </a:t>
            </a:r>
            <a:r>
              <a:rPr lang="fr-FR" sz="2200" b="1" dirty="0">
                <a:latin typeface="Candara" panose="020E0502030303020204" pitchFamily="34" charset="0"/>
              </a:rPr>
              <a:t>Mme Kouakou</a:t>
            </a:r>
            <a:r>
              <a:rPr lang="fr-FR" sz="2200" dirty="0">
                <a:latin typeface="Candara" panose="020E0502030303020204" pitchFamily="34" charset="0"/>
              </a:rPr>
              <a:t> </a:t>
            </a:r>
          </a:p>
          <a:p>
            <a:pPr algn="just"/>
            <a:r>
              <a:rPr lang="fr-FR" sz="2200" b="1" dirty="0">
                <a:latin typeface="Candara" panose="020E0502030303020204" pitchFamily="34" charset="0"/>
              </a:rPr>
              <a:t>Verbe d’action</a:t>
            </a:r>
            <a:r>
              <a:rPr lang="fr-FR" sz="2200" dirty="0">
                <a:latin typeface="Candara" panose="020E0502030303020204" pitchFamily="34" charset="0"/>
              </a:rPr>
              <a:t> : Quelle action doit poser le client ? </a:t>
            </a:r>
            <a:r>
              <a:rPr lang="fr-FR" sz="2200" b="1" dirty="0">
                <a:latin typeface="Candara" panose="020E0502030303020204" pitchFamily="34" charset="0"/>
              </a:rPr>
              <a:t>Manger</a:t>
            </a:r>
            <a:endParaRPr lang="fr-FR" sz="2200" dirty="0">
              <a:latin typeface="Candara" panose="020E0502030303020204" pitchFamily="34" charset="0"/>
            </a:endParaRPr>
          </a:p>
          <a:p>
            <a:pPr algn="just"/>
            <a:r>
              <a:rPr lang="fr-FR" sz="2200" b="1" dirty="0">
                <a:latin typeface="Candara" panose="020E0502030303020204" pitchFamily="34" charset="0"/>
              </a:rPr>
              <a:t>Conditions dans lesquelles se déroulent l’action</a:t>
            </a:r>
            <a:r>
              <a:rPr lang="fr-FR" sz="2200" dirty="0">
                <a:latin typeface="Candara" panose="020E0502030303020204" pitchFamily="34" charset="0"/>
              </a:rPr>
              <a:t> : Comment se fait l’action ? A</a:t>
            </a:r>
            <a:r>
              <a:rPr lang="fr-FR" sz="2200" b="1" dirty="0">
                <a:latin typeface="Candara" panose="020E0502030303020204" pitchFamily="34" charset="0"/>
              </a:rPr>
              <a:t>vec appétit</a:t>
            </a:r>
            <a:endParaRPr lang="fr-FR" sz="2200" dirty="0">
              <a:latin typeface="Candara" panose="020E0502030303020204" pitchFamily="34" charset="0"/>
            </a:endParaRPr>
          </a:p>
          <a:p>
            <a:pPr algn="just"/>
            <a:r>
              <a:rPr lang="fr-FR" sz="2200" b="1" dirty="0">
                <a:latin typeface="Candara" panose="020E0502030303020204" pitchFamily="34" charset="0"/>
              </a:rPr>
              <a:t>Indice d’évaluation</a:t>
            </a:r>
            <a:r>
              <a:rPr lang="fr-FR" sz="2200" dirty="0">
                <a:latin typeface="Candara" panose="020E0502030303020204" pitchFamily="34" charset="0"/>
              </a:rPr>
              <a:t> : Dans quelle mesure se fait l’action ? </a:t>
            </a:r>
            <a:r>
              <a:rPr lang="fr-FR" sz="2200" b="1" dirty="0">
                <a:latin typeface="Candara" panose="020E0502030303020204" pitchFamily="34" charset="0"/>
              </a:rPr>
              <a:t>Dans 24 heures</a:t>
            </a:r>
            <a:endParaRPr lang="fr-FR" sz="2200" dirty="0">
              <a:latin typeface="Candara" panose="020E0502030303020204" pitchFamily="34" charset="0"/>
            </a:endParaRPr>
          </a:p>
          <a:p>
            <a:pPr algn="just"/>
            <a:r>
              <a:rPr lang="fr-FR" sz="2200" b="1" dirty="0">
                <a:latin typeface="Candara" panose="020E0502030303020204" pitchFamily="34" charset="0"/>
              </a:rPr>
              <a:t>Exemple</a:t>
            </a:r>
            <a:r>
              <a:rPr lang="fr-FR" sz="2200" dirty="0">
                <a:latin typeface="Candara" panose="020E0502030303020204" pitchFamily="34" charset="0"/>
              </a:rPr>
              <a:t> : le client doit être capable de boire 1 500 ml d’eau / 24 H</a:t>
            </a:r>
          </a:p>
          <a:p>
            <a:pPr algn="just"/>
            <a:r>
              <a:rPr lang="fr-FR" sz="2200" dirty="0">
                <a:latin typeface="Candara" panose="020E0502030303020204" pitchFamily="34" charset="0"/>
              </a:rPr>
              <a:t>        Le client doit être capable de marcher avec aide, 3 fois par jour pendant 5 mn</a:t>
            </a:r>
          </a:p>
        </p:txBody>
      </p:sp>
    </p:spTree>
    <p:extLst>
      <p:ext uri="{BB962C8B-B14F-4D97-AF65-F5344CB8AC3E}">
        <p14:creationId xmlns:p14="http://schemas.microsoft.com/office/powerpoint/2010/main" val="1986599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024" y="594359"/>
            <a:ext cx="3818964" cy="2286000"/>
          </a:xfrm>
        </p:spPr>
        <p:txBody>
          <a:bodyPr>
            <a:normAutofit/>
          </a:bodyPr>
          <a:lstStyle/>
          <a:p>
            <a:pPr algn="ctr"/>
            <a:r>
              <a:rPr lang="fr-FR" sz="4000" b="1" dirty="0">
                <a:latin typeface="Candara" panose="020E0502030303020204" pitchFamily="34" charset="0"/>
              </a:rPr>
              <a:t>PLANIFICATION DES INTERVENTIONS  </a:t>
            </a:r>
            <a:endParaRPr lang="fr-FR" sz="4000" dirty="0">
              <a:latin typeface="Candara" panose="020E0502030303020204" pitchFamily="34" charset="0"/>
            </a:endParaRPr>
          </a:p>
        </p:txBody>
      </p:sp>
      <p:sp>
        <p:nvSpPr>
          <p:cNvPr id="5" name="Espace réservé du contenu 4"/>
          <p:cNvSpPr>
            <a:spLocks noGrp="1"/>
          </p:cNvSpPr>
          <p:nvPr>
            <p:ph idx="1"/>
          </p:nvPr>
        </p:nvSpPr>
        <p:spPr>
          <a:xfrm>
            <a:off x="4356848" y="933225"/>
            <a:ext cx="7368988" cy="4862457"/>
          </a:xfrm>
        </p:spPr>
        <p:txBody>
          <a:bodyPr>
            <a:noAutofit/>
          </a:bodyPr>
          <a:lstStyle/>
          <a:p>
            <a:pPr>
              <a:spcAft>
                <a:spcPts val="1200"/>
              </a:spcAft>
              <a:buFont typeface="Wingdings" panose="05000000000000000000" pitchFamily="2" charset="2"/>
              <a:buChar char="q"/>
            </a:pPr>
            <a:r>
              <a:rPr lang="fr-FR" sz="2800" b="1" dirty="0">
                <a:latin typeface="Candara" panose="020E0502030303020204" pitchFamily="34" charset="0"/>
              </a:rPr>
              <a:t>Détermination de l’intervention infirmière (deuxième volet de la planification)</a:t>
            </a:r>
            <a:endParaRPr lang="fr-FR" sz="2800" dirty="0">
              <a:latin typeface="Candara" panose="020E0502030303020204" pitchFamily="34" charset="0"/>
            </a:endParaRPr>
          </a:p>
          <a:p>
            <a:pPr marL="108000" indent="-108000">
              <a:lnSpc>
                <a:spcPct val="100000"/>
              </a:lnSpc>
            </a:pPr>
            <a:r>
              <a:rPr lang="fr-FR" sz="2800" dirty="0">
                <a:latin typeface="Candara" panose="020E0502030303020204" pitchFamily="34" charset="0"/>
              </a:rPr>
              <a:t>Déterminer le type et le mode d’intervention à entreprendre pour susciter chez le client, le comportement attendu et corriger ses problèmes de dépendance.</a:t>
            </a:r>
          </a:p>
          <a:p>
            <a:pPr marL="108000" indent="-108000">
              <a:lnSpc>
                <a:spcPct val="100000"/>
              </a:lnSpc>
            </a:pPr>
            <a:r>
              <a:rPr lang="fr-FR" sz="2800" dirty="0">
                <a:latin typeface="Candara" panose="020E0502030303020204" pitchFamily="34" charset="0"/>
              </a:rPr>
              <a:t>Ces interventions sont des actes que l’infirmier (ou la sage-femme) doit poser lui-même ou déléguer aux autres.</a:t>
            </a:r>
          </a:p>
        </p:txBody>
      </p:sp>
    </p:spTree>
    <p:extLst>
      <p:ext uri="{BB962C8B-B14F-4D97-AF65-F5344CB8AC3E}">
        <p14:creationId xmlns:p14="http://schemas.microsoft.com/office/powerpoint/2010/main" val="4270672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024" y="594359"/>
            <a:ext cx="3818964" cy="2286000"/>
          </a:xfrm>
        </p:spPr>
        <p:txBody>
          <a:bodyPr>
            <a:normAutofit/>
          </a:bodyPr>
          <a:lstStyle/>
          <a:p>
            <a:pPr algn="ctr"/>
            <a:r>
              <a:rPr lang="fr-FR" sz="4000" b="1" dirty="0">
                <a:latin typeface="Candara" panose="020E0502030303020204" pitchFamily="34" charset="0"/>
              </a:rPr>
              <a:t>PLANIFICATION DES INTERVENTIONS  </a:t>
            </a:r>
            <a:endParaRPr lang="fr-FR" sz="4000" dirty="0">
              <a:latin typeface="Candara" panose="020E0502030303020204" pitchFamily="34" charset="0"/>
            </a:endParaRPr>
          </a:p>
        </p:txBody>
      </p:sp>
      <p:sp>
        <p:nvSpPr>
          <p:cNvPr id="5" name="Espace réservé du contenu 4"/>
          <p:cNvSpPr>
            <a:spLocks noGrp="1"/>
          </p:cNvSpPr>
          <p:nvPr>
            <p:ph idx="1"/>
          </p:nvPr>
        </p:nvSpPr>
        <p:spPr>
          <a:xfrm>
            <a:off x="4383742" y="1215614"/>
            <a:ext cx="7368988" cy="3746351"/>
          </a:xfrm>
        </p:spPr>
        <p:txBody>
          <a:bodyPr>
            <a:noAutofit/>
          </a:bodyPr>
          <a:lstStyle/>
          <a:p>
            <a:pPr>
              <a:spcAft>
                <a:spcPts val="1200"/>
              </a:spcAft>
              <a:buFont typeface="Wingdings" panose="05000000000000000000" pitchFamily="2" charset="2"/>
              <a:buChar char="q"/>
            </a:pPr>
            <a:r>
              <a:rPr lang="fr-FR" sz="2800" b="1" dirty="0"/>
              <a:t>Détermination de l’intervention infirmière (deuxième volet de la planification)</a:t>
            </a:r>
            <a:endParaRPr lang="fr-FR" sz="2800" dirty="0"/>
          </a:p>
          <a:p>
            <a:r>
              <a:rPr lang="fr-FR" sz="2800" dirty="0"/>
              <a:t>Ces interventions font partie des rôles de l’infirmier (ou la sage-femme) qui selon Virginia Henderson est le</a:t>
            </a:r>
            <a:r>
              <a:rPr lang="fr-FR" sz="2800" b="1" dirty="0"/>
              <a:t> rôle de suppléance.</a:t>
            </a:r>
            <a:endParaRPr lang="fr-FR" sz="2800" dirty="0"/>
          </a:p>
          <a:p>
            <a:r>
              <a:rPr lang="fr-FR" sz="2800" dirty="0"/>
              <a:t>Après  la fixation des objectifs de soins et la détermination des interventions infirmières, on élabore un plan de soins</a:t>
            </a:r>
          </a:p>
        </p:txBody>
      </p:sp>
    </p:spTree>
    <p:extLst>
      <p:ext uri="{BB962C8B-B14F-4D97-AF65-F5344CB8AC3E}">
        <p14:creationId xmlns:p14="http://schemas.microsoft.com/office/powerpoint/2010/main" val="25433133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024" y="594359"/>
            <a:ext cx="3818964" cy="2286000"/>
          </a:xfrm>
        </p:spPr>
        <p:txBody>
          <a:bodyPr>
            <a:normAutofit/>
          </a:bodyPr>
          <a:lstStyle/>
          <a:p>
            <a:pPr algn="ctr"/>
            <a:r>
              <a:rPr lang="fr-FR" sz="4000" b="1" dirty="0">
                <a:latin typeface="Candara" panose="020E0502030303020204" pitchFamily="34" charset="0"/>
              </a:rPr>
              <a:t>PLANIFICATION DES INTERVENTIONS  </a:t>
            </a:r>
            <a:endParaRPr lang="fr-FR" sz="4000" dirty="0">
              <a:latin typeface="Candara" panose="020E0502030303020204" pitchFamily="34" charset="0"/>
            </a:endParaRPr>
          </a:p>
        </p:txBody>
      </p:sp>
      <p:sp>
        <p:nvSpPr>
          <p:cNvPr id="5" name="Espace réservé du contenu 4"/>
          <p:cNvSpPr>
            <a:spLocks noGrp="1"/>
          </p:cNvSpPr>
          <p:nvPr>
            <p:ph idx="1"/>
          </p:nvPr>
        </p:nvSpPr>
        <p:spPr>
          <a:xfrm>
            <a:off x="4303059" y="594359"/>
            <a:ext cx="7516905" cy="5887123"/>
          </a:xfrm>
        </p:spPr>
        <p:txBody>
          <a:bodyPr>
            <a:noAutofit/>
          </a:bodyPr>
          <a:lstStyle/>
          <a:p>
            <a:pPr>
              <a:spcAft>
                <a:spcPts val="1200"/>
              </a:spcAft>
              <a:buFont typeface="Wingdings" panose="05000000000000000000" pitchFamily="2" charset="2"/>
              <a:buChar char="q"/>
            </a:pPr>
            <a:r>
              <a:rPr lang="fr-FR" sz="2800" b="1" dirty="0"/>
              <a:t>L’exécution des interventions </a:t>
            </a:r>
          </a:p>
          <a:p>
            <a:pPr marL="0" indent="0">
              <a:spcAft>
                <a:spcPts val="1800"/>
              </a:spcAft>
              <a:buNone/>
            </a:pPr>
            <a:r>
              <a:rPr lang="fr-FR" sz="2800" dirty="0"/>
              <a:t>Elle constitue le moyen de la réalisation du plan de soins.  Ces interventions sont les actes que l’infirmier (ou la sage-femme) doit poser lui-même ou les déléguer aux autres. Ici les acteurs sont multiples. Il y a :</a:t>
            </a:r>
          </a:p>
          <a:p>
            <a:pPr marL="538163" indent="-90488">
              <a:buFont typeface="Wingdings" panose="05000000000000000000" pitchFamily="2" charset="2"/>
              <a:buChar char="§"/>
            </a:pPr>
            <a:r>
              <a:rPr lang="fr-FR" sz="2800" dirty="0"/>
              <a:t>D’abord le client </a:t>
            </a:r>
          </a:p>
          <a:p>
            <a:pPr marL="538163" indent="-90488">
              <a:buFont typeface="Wingdings" panose="05000000000000000000" pitchFamily="2" charset="2"/>
              <a:buChar char="§"/>
            </a:pPr>
            <a:r>
              <a:rPr lang="fr-FR" sz="2800" dirty="0"/>
              <a:t>Ensuite, l’infirmier </a:t>
            </a:r>
          </a:p>
          <a:p>
            <a:pPr marL="538163" lvl="0" indent="-90488">
              <a:buFont typeface="Wingdings" panose="05000000000000000000" pitchFamily="2" charset="2"/>
              <a:buChar char="§"/>
            </a:pPr>
            <a:r>
              <a:rPr lang="fr-FR" sz="2800" dirty="0"/>
              <a:t>Les autres membres de l’équipe (équipe soignante) ;</a:t>
            </a:r>
          </a:p>
          <a:p>
            <a:pPr marL="538163" indent="-90488">
              <a:buFont typeface="Wingdings" panose="05000000000000000000" pitchFamily="2" charset="2"/>
              <a:buChar char="§"/>
            </a:pPr>
            <a:r>
              <a:rPr lang="fr-FR" sz="2800" dirty="0"/>
              <a:t>Les membres de la famille</a:t>
            </a:r>
          </a:p>
          <a:p>
            <a:pPr marL="0" indent="0">
              <a:spcAft>
                <a:spcPts val="1200"/>
              </a:spcAft>
              <a:buNone/>
            </a:pPr>
            <a:endParaRPr lang="fr-FR" sz="2800" dirty="0"/>
          </a:p>
          <a:p>
            <a:pPr>
              <a:spcAft>
                <a:spcPts val="1200"/>
              </a:spcAft>
              <a:buFont typeface="Wingdings" panose="05000000000000000000" pitchFamily="2" charset="2"/>
              <a:buChar char="q"/>
            </a:pPr>
            <a:endParaRPr lang="fr-FR" sz="2800" dirty="0"/>
          </a:p>
        </p:txBody>
      </p:sp>
    </p:spTree>
    <p:extLst>
      <p:ext uri="{BB962C8B-B14F-4D97-AF65-F5344CB8AC3E}">
        <p14:creationId xmlns:p14="http://schemas.microsoft.com/office/powerpoint/2010/main" val="1360192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5999" y="443753"/>
            <a:ext cx="7906871" cy="944781"/>
          </a:xfrm>
        </p:spPr>
        <p:txBody>
          <a:bodyPr>
            <a:noAutofit/>
          </a:bodyPr>
          <a:lstStyle/>
          <a:p>
            <a:r>
              <a:rPr lang="fr-FR" sz="5400" b="1" dirty="0">
                <a:latin typeface="Candara" panose="020E0502030303020204" pitchFamily="34" charset="0"/>
              </a:rPr>
              <a:t>EVALUATION DES SOINS</a:t>
            </a:r>
            <a:endParaRPr lang="fr-FR" sz="5400" dirty="0">
              <a:latin typeface="Candara" panose="020E0502030303020204" pitchFamily="34" charset="0"/>
            </a:endParaRPr>
          </a:p>
        </p:txBody>
      </p:sp>
      <p:sp>
        <p:nvSpPr>
          <p:cNvPr id="3" name="Espace réservé du contenu 2"/>
          <p:cNvSpPr>
            <a:spLocks noGrp="1"/>
          </p:cNvSpPr>
          <p:nvPr>
            <p:ph idx="1"/>
          </p:nvPr>
        </p:nvSpPr>
        <p:spPr>
          <a:xfrm>
            <a:off x="1210234" y="2692897"/>
            <a:ext cx="10058400" cy="1946338"/>
          </a:xfrm>
        </p:spPr>
        <p:txBody>
          <a:bodyPr>
            <a:noAutofit/>
          </a:bodyPr>
          <a:lstStyle/>
          <a:p>
            <a:r>
              <a:rPr lang="fr-FR" sz="3200" dirty="0">
                <a:latin typeface="Candara" panose="020E0502030303020204" pitchFamily="34" charset="0"/>
              </a:rPr>
              <a:t>Elle consiste à porter un jugement sur les interventions par le soignant lui-même. Quand l’objectif de soins est atteint, on observe chez le client un changement de comportement.</a:t>
            </a:r>
          </a:p>
          <a:p>
            <a:endParaRPr lang="fr-FR" sz="2400" dirty="0">
              <a:latin typeface="Candara" panose="020E0502030303020204" pitchFamily="34" charset="0"/>
            </a:endParaRPr>
          </a:p>
        </p:txBody>
      </p:sp>
    </p:spTree>
    <p:extLst>
      <p:ext uri="{BB962C8B-B14F-4D97-AF65-F5344CB8AC3E}">
        <p14:creationId xmlns:p14="http://schemas.microsoft.com/office/powerpoint/2010/main" val="2900338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56908" y="1990164"/>
            <a:ext cx="7939144" cy="1420547"/>
          </a:xfrm>
        </p:spPr>
        <p:txBody>
          <a:bodyPr/>
          <a:lstStyle/>
          <a:p>
            <a:pPr algn="ctr"/>
            <a:r>
              <a:rPr lang="fr-FR" b="1" dirty="0">
                <a:latin typeface="Candara" panose="020E0502030303020204" pitchFamily="34" charset="0"/>
              </a:rPr>
              <a:t>PLAN DE SOINS</a:t>
            </a:r>
            <a:endParaRPr lang="fr-FR" dirty="0">
              <a:latin typeface="Candara" panose="020E0502030303020204" pitchFamily="34" charset="0"/>
            </a:endParaRPr>
          </a:p>
        </p:txBody>
      </p:sp>
    </p:spTree>
    <p:extLst>
      <p:ext uri="{BB962C8B-B14F-4D97-AF65-F5344CB8AC3E}">
        <p14:creationId xmlns:p14="http://schemas.microsoft.com/office/powerpoint/2010/main" val="1662883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76518" y="1116104"/>
            <a:ext cx="3200400" cy="1656677"/>
          </a:xfrm>
        </p:spPr>
        <p:txBody>
          <a:bodyPr>
            <a:normAutofit/>
          </a:bodyPr>
          <a:lstStyle/>
          <a:p>
            <a:pPr algn="ctr"/>
            <a:r>
              <a:rPr lang="fr-FR" sz="5400" b="1" dirty="0">
                <a:latin typeface="Candara" panose="020E0502030303020204" pitchFamily="34" charset="0"/>
              </a:rPr>
              <a:t>PLAN DE SOINS</a:t>
            </a:r>
          </a:p>
        </p:txBody>
      </p:sp>
      <p:sp>
        <p:nvSpPr>
          <p:cNvPr id="3" name="Espace réservé du contenu 2"/>
          <p:cNvSpPr>
            <a:spLocks noGrp="1"/>
          </p:cNvSpPr>
          <p:nvPr>
            <p:ph idx="1"/>
          </p:nvPr>
        </p:nvSpPr>
        <p:spPr>
          <a:xfrm>
            <a:off x="4235824" y="583603"/>
            <a:ext cx="7557246" cy="5709622"/>
          </a:xfrm>
        </p:spPr>
        <p:txBody>
          <a:bodyPr>
            <a:noAutofit/>
          </a:bodyPr>
          <a:lstStyle/>
          <a:p>
            <a:pPr>
              <a:lnSpc>
                <a:spcPct val="100000"/>
              </a:lnSpc>
              <a:spcAft>
                <a:spcPts val="1200"/>
              </a:spcAft>
            </a:pPr>
            <a:r>
              <a:rPr lang="fr-FR" sz="2600" dirty="0">
                <a:latin typeface="Candara" panose="020E0502030303020204" pitchFamily="34" charset="0"/>
              </a:rPr>
              <a:t>Le plan de soins est un document écrit, établi par l’infirmier et qui comporte la liste de tous les soins requis par un client en réponse à ses besoins. </a:t>
            </a:r>
          </a:p>
          <a:p>
            <a:pPr>
              <a:lnSpc>
                <a:spcPct val="100000"/>
              </a:lnSpc>
              <a:spcAft>
                <a:spcPts val="1200"/>
              </a:spcAft>
            </a:pPr>
            <a:r>
              <a:rPr lang="fr-FR" sz="2600" dirty="0">
                <a:latin typeface="Candara" panose="020E0502030303020204" pitchFamily="34" charset="0"/>
              </a:rPr>
              <a:t>Ces soins sont repartis dans le temps (24H/exemple). Le P.S tient compte de la prescription médicale, des besoins prioritaires du client, des ressources disponibles, des caractéristiques propres, des particularités individuelles. Il n’est donc pas un document interchangeable parce que chaque individu étant </a:t>
            </a:r>
            <a:r>
              <a:rPr lang="fr-FR" sz="2600" b="1" dirty="0">
                <a:latin typeface="Candara" panose="020E0502030303020204" pitchFamily="34" charset="0"/>
              </a:rPr>
              <a:t>un tout complexe et différent</a:t>
            </a:r>
            <a:r>
              <a:rPr lang="fr-FR" sz="2600" dirty="0">
                <a:latin typeface="Candara" panose="020E0502030303020204" pitchFamily="34" charset="0"/>
              </a:rPr>
              <a:t>. </a:t>
            </a:r>
          </a:p>
          <a:p>
            <a:pPr>
              <a:lnSpc>
                <a:spcPct val="100000"/>
              </a:lnSpc>
            </a:pPr>
            <a:r>
              <a:rPr lang="fr-FR" sz="2600" dirty="0">
                <a:latin typeface="Candara" panose="020E0502030303020204" pitchFamily="34" charset="0"/>
              </a:rPr>
              <a:t>Il n’y a donc pas de modèle type de plan de soin à proposer pour tous les services.</a:t>
            </a:r>
          </a:p>
          <a:p>
            <a:endParaRPr lang="fr-FR" dirty="0">
              <a:latin typeface="Candara" panose="020E0502030303020204" pitchFamily="34" charset="0"/>
            </a:endParaRPr>
          </a:p>
        </p:txBody>
      </p:sp>
    </p:spTree>
    <p:extLst>
      <p:ext uri="{BB962C8B-B14F-4D97-AF65-F5344CB8AC3E}">
        <p14:creationId xmlns:p14="http://schemas.microsoft.com/office/powerpoint/2010/main" val="17759077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76518" y="1116104"/>
            <a:ext cx="3200400" cy="1656677"/>
          </a:xfrm>
        </p:spPr>
        <p:txBody>
          <a:bodyPr>
            <a:normAutofit/>
          </a:bodyPr>
          <a:lstStyle/>
          <a:p>
            <a:pPr algn="ctr"/>
            <a:r>
              <a:rPr lang="fr-FR" sz="5400" b="1" dirty="0">
                <a:latin typeface="Candara" panose="020E0502030303020204" pitchFamily="34" charset="0"/>
              </a:rPr>
              <a:t>PLAN DE SOINS</a:t>
            </a:r>
          </a:p>
        </p:txBody>
      </p:sp>
      <p:sp>
        <p:nvSpPr>
          <p:cNvPr id="3" name="Espace réservé du contenu 2"/>
          <p:cNvSpPr>
            <a:spLocks noGrp="1"/>
          </p:cNvSpPr>
          <p:nvPr>
            <p:ph idx="1"/>
          </p:nvPr>
        </p:nvSpPr>
        <p:spPr>
          <a:xfrm>
            <a:off x="4222377" y="731521"/>
            <a:ext cx="7557246" cy="5144844"/>
          </a:xfrm>
        </p:spPr>
        <p:txBody>
          <a:bodyPr>
            <a:noAutofit/>
          </a:bodyPr>
          <a:lstStyle/>
          <a:p>
            <a:pPr>
              <a:buFont typeface="Wingdings" panose="05000000000000000000" pitchFamily="2" charset="2"/>
              <a:buChar char="q"/>
            </a:pPr>
            <a:r>
              <a:rPr lang="fr-FR" sz="3600" b="1" i="1" dirty="0">
                <a:latin typeface="Candara" panose="020E0502030303020204" pitchFamily="34" charset="0"/>
              </a:rPr>
              <a:t>Avantage du plan de soins</a:t>
            </a:r>
            <a:r>
              <a:rPr lang="fr-FR" sz="2800" b="1" i="1" dirty="0">
                <a:latin typeface="Candara" panose="020E0502030303020204" pitchFamily="34" charset="0"/>
              </a:rPr>
              <a:t>	</a:t>
            </a:r>
            <a:endParaRPr lang="fr-FR" sz="2800" dirty="0">
              <a:latin typeface="Candara" panose="020E0502030303020204" pitchFamily="34" charset="0"/>
            </a:endParaRPr>
          </a:p>
          <a:p>
            <a:r>
              <a:rPr lang="fr-FR" sz="2800" b="1" i="1" dirty="0">
                <a:latin typeface="Candara" panose="020E0502030303020204" pitchFamily="34" charset="0"/>
              </a:rPr>
              <a:t> </a:t>
            </a:r>
            <a:endParaRPr lang="fr-FR" sz="2800" dirty="0">
              <a:latin typeface="Candara" panose="020E0502030303020204" pitchFamily="34" charset="0"/>
            </a:endParaRPr>
          </a:p>
          <a:p>
            <a:pPr lvl="0">
              <a:buFont typeface="Wingdings" panose="05000000000000000000" pitchFamily="2" charset="2"/>
              <a:buChar char="Ø"/>
            </a:pPr>
            <a:r>
              <a:rPr lang="fr-FR" sz="3200" dirty="0">
                <a:latin typeface="Candara" panose="020E0502030303020204" pitchFamily="34" charset="0"/>
              </a:rPr>
              <a:t>Permet l’individualisation des soins : Identification des besoins prioritaires du client, apport des réponses aux besoins du client</a:t>
            </a:r>
          </a:p>
          <a:p>
            <a:pPr lvl="0">
              <a:buFont typeface="Wingdings" panose="05000000000000000000" pitchFamily="2" charset="2"/>
              <a:buChar char="Ø"/>
            </a:pPr>
            <a:r>
              <a:rPr lang="fr-FR" sz="3200" dirty="0">
                <a:latin typeface="Candara" panose="020E0502030303020204" pitchFamily="34" charset="0"/>
              </a:rPr>
              <a:t>Assure la continuité des soins : moyen de communication (écrite) entre infirmier et  infirmier, entre infirmier et médecin, entre infirmier et parent de client </a:t>
            </a:r>
          </a:p>
        </p:txBody>
      </p:sp>
    </p:spTree>
    <p:extLst>
      <p:ext uri="{BB962C8B-B14F-4D97-AF65-F5344CB8AC3E}">
        <p14:creationId xmlns:p14="http://schemas.microsoft.com/office/powerpoint/2010/main" val="21872648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76518" y="1116104"/>
            <a:ext cx="3200400" cy="1656677"/>
          </a:xfrm>
        </p:spPr>
        <p:txBody>
          <a:bodyPr>
            <a:normAutofit/>
          </a:bodyPr>
          <a:lstStyle/>
          <a:p>
            <a:pPr algn="ctr"/>
            <a:r>
              <a:rPr lang="fr-FR" sz="5400" b="1" dirty="0">
                <a:latin typeface="Candara" panose="020E0502030303020204" pitchFamily="34" charset="0"/>
              </a:rPr>
              <a:t>PLAN DE SOINS</a:t>
            </a:r>
          </a:p>
        </p:txBody>
      </p:sp>
      <p:sp>
        <p:nvSpPr>
          <p:cNvPr id="3" name="Espace réservé du contenu 2"/>
          <p:cNvSpPr>
            <a:spLocks noGrp="1"/>
          </p:cNvSpPr>
          <p:nvPr>
            <p:ph idx="1"/>
          </p:nvPr>
        </p:nvSpPr>
        <p:spPr>
          <a:xfrm>
            <a:off x="4235824" y="973568"/>
            <a:ext cx="7557246" cy="4647303"/>
          </a:xfrm>
        </p:spPr>
        <p:txBody>
          <a:bodyPr>
            <a:noAutofit/>
          </a:bodyPr>
          <a:lstStyle/>
          <a:p>
            <a:pPr>
              <a:buFont typeface="Wingdings" panose="05000000000000000000" pitchFamily="2" charset="2"/>
              <a:buChar char="q"/>
            </a:pPr>
            <a:r>
              <a:rPr lang="fr-FR" sz="3600" b="1" i="1" dirty="0">
                <a:latin typeface="Candara" panose="020E0502030303020204" pitchFamily="34" charset="0"/>
              </a:rPr>
              <a:t>Avantage du plan de soins	</a:t>
            </a:r>
            <a:endParaRPr lang="fr-FR" sz="3600" dirty="0">
              <a:latin typeface="Candara" panose="020E0502030303020204" pitchFamily="34" charset="0"/>
            </a:endParaRPr>
          </a:p>
          <a:p>
            <a:r>
              <a:rPr lang="fr-FR" sz="2800" b="1" i="1" dirty="0">
                <a:latin typeface="Candara" panose="020E0502030303020204" pitchFamily="34" charset="0"/>
              </a:rPr>
              <a:t> </a:t>
            </a:r>
            <a:endParaRPr lang="fr-FR" sz="2800" dirty="0">
              <a:latin typeface="Candara" panose="020E0502030303020204" pitchFamily="34" charset="0"/>
            </a:endParaRPr>
          </a:p>
          <a:p>
            <a:pPr lvl="0">
              <a:spcAft>
                <a:spcPts val="1800"/>
              </a:spcAft>
              <a:buFont typeface="Wingdings" panose="05000000000000000000" pitchFamily="2" charset="2"/>
              <a:buChar char="Ø"/>
            </a:pPr>
            <a:r>
              <a:rPr lang="fr-FR" sz="3200" dirty="0">
                <a:latin typeface="Candara" panose="020E0502030303020204" pitchFamily="34" charset="0"/>
              </a:rPr>
              <a:t>Permet d’évaluer la qualité des soins : instrument de supervision des soins, suivre l’évolution de l’état du client</a:t>
            </a:r>
          </a:p>
          <a:p>
            <a:pPr lvl="0">
              <a:buFont typeface="Wingdings" panose="05000000000000000000" pitchFamily="2" charset="2"/>
              <a:buChar char="Ø"/>
            </a:pPr>
            <a:r>
              <a:rPr lang="fr-FR" sz="3200" dirty="0">
                <a:latin typeface="Candara" panose="020E0502030303020204" pitchFamily="34" charset="0"/>
              </a:rPr>
              <a:t>Instrument de formation (formation des étudiants, perfectionnement du personnel soignant)</a:t>
            </a:r>
          </a:p>
        </p:txBody>
      </p:sp>
    </p:spTree>
    <p:extLst>
      <p:ext uri="{BB962C8B-B14F-4D97-AF65-F5344CB8AC3E}">
        <p14:creationId xmlns:p14="http://schemas.microsoft.com/office/powerpoint/2010/main" val="137171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76518" y="1116104"/>
            <a:ext cx="3200400" cy="1656677"/>
          </a:xfrm>
        </p:spPr>
        <p:txBody>
          <a:bodyPr>
            <a:normAutofit/>
          </a:bodyPr>
          <a:lstStyle/>
          <a:p>
            <a:pPr algn="ctr"/>
            <a:r>
              <a:rPr lang="fr-FR" sz="5400" b="1" dirty="0">
                <a:latin typeface="Candara" panose="020E0502030303020204" pitchFamily="34" charset="0"/>
              </a:rPr>
              <a:t>PLAN DE SOINS</a:t>
            </a:r>
          </a:p>
        </p:txBody>
      </p:sp>
      <p:sp>
        <p:nvSpPr>
          <p:cNvPr id="3" name="Espace réservé du contenu 2"/>
          <p:cNvSpPr>
            <a:spLocks noGrp="1"/>
          </p:cNvSpPr>
          <p:nvPr>
            <p:ph idx="1"/>
          </p:nvPr>
        </p:nvSpPr>
        <p:spPr>
          <a:xfrm>
            <a:off x="4262718" y="2772781"/>
            <a:ext cx="7557246" cy="868679"/>
          </a:xfrm>
        </p:spPr>
        <p:txBody>
          <a:bodyPr>
            <a:noAutofit/>
          </a:bodyPr>
          <a:lstStyle/>
          <a:p>
            <a:r>
              <a:rPr lang="fr-FR" sz="4400" b="1" dirty="0">
                <a:latin typeface="Candara" panose="020E0502030303020204" pitchFamily="34" charset="0"/>
              </a:rPr>
              <a:t>Exemple de plan de soins</a:t>
            </a:r>
            <a:endParaRPr lang="fr-FR" sz="4400" dirty="0">
              <a:latin typeface="Candara" panose="020E0502030303020204" pitchFamily="34" charset="0"/>
            </a:endParaRPr>
          </a:p>
        </p:txBody>
      </p:sp>
    </p:spTree>
    <p:extLst>
      <p:ext uri="{BB962C8B-B14F-4D97-AF65-F5344CB8AC3E}">
        <p14:creationId xmlns:p14="http://schemas.microsoft.com/office/powerpoint/2010/main" val="2704289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1688081551"/>
              </p:ext>
            </p:extLst>
          </p:nvPr>
        </p:nvGraphicFramePr>
        <p:xfrm>
          <a:off x="295837" y="201706"/>
          <a:ext cx="11551022" cy="5961390"/>
        </p:xfrm>
        <a:graphic>
          <a:graphicData uri="http://schemas.openxmlformats.org/drawingml/2006/table">
            <a:tbl>
              <a:tblPr firstRow="1" firstCol="1" bandRow="1">
                <a:tableStyleId>{5C22544A-7EE6-4342-B048-85BDC9FD1C3A}</a:tableStyleId>
              </a:tblPr>
              <a:tblGrid>
                <a:gridCol w="1329676">
                  <a:extLst>
                    <a:ext uri="{9D8B030D-6E8A-4147-A177-3AD203B41FA5}">
                      <a16:colId xmlns:a16="http://schemas.microsoft.com/office/drawing/2014/main" val="20000"/>
                    </a:ext>
                  </a:extLst>
                </a:gridCol>
                <a:gridCol w="1737811">
                  <a:extLst>
                    <a:ext uri="{9D8B030D-6E8A-4147-A177-3AD203B41FA5}">
                      <a16:colId xmlns:a16="http://schemas.microsoft.com/office/drawing/2014/main" val="20001"/>
                    </a:ext>
                  </a:extLst>
                </a:gridCol>
                <a:gridCol w="1533021">
                  <a:extLst>
                    <a:ext uri="{9D8B030D-6E8A-4147-A177-3AD203B41FA5}">
                      <a16:colId xmlns:a16="http://schemas.microsoft.com/office/drawing/2014/main" val="20002"/>
                    </a:ext>
                  </a:extLst>
                </a:gridCol>
                <a:gridCol w="2146662">
                  <a:extLst>
                    <a:ext uri="{9D8B030D-6E8A-4147-A177-3AD203B41FA5}">
                      <a16:colId xmlns:a16="http://schemas.microsoft.com/office/drawing/2014/main" val="20003"/>
                    </a:ext>
                  </a:extLst>
                </a:gridCol>
                <a:gridCol w="1124169">
                  <a:extLst>
                    <a:ext uri="{9D8B030D-6E8A-4147-A177-3AD203B41FA5}">
                      <a16:colId xmlns:a16="http://schemas.microsoft.com/office/drawing/2014/main" val="20004"/>
                    </a:ext>
                  </a:extLst>
                </a:gridCol>
                <a:gridCol w="2146662">
                  <a:extLst>
                    <a:ext uri="{9D8B030D-6E8A-4147-A177-3AD203B41FA5}">
                      <a16:colId xmlns:a16="http://schemas.microsoft.com/office/drawing/2014/main" val="20005"/>
                    </a:ext>
                  </a:extLst>
                </a:gridCol>
                <a:gridCol w="1533021">
                  <a:extLst>
                    <a:ext uri="{9D8B030D-6E8A-4147-A177-3AD203B41FA5}">
                      <a16:colId xmlns:a16="http://schemas.microsoft.com/office/drawing/2014/main" val="20006"/>
                    </a:ext>
                  </a:extLst>
                </a:gridCol>
              </a:tblGrid>
              <a:tr h="2755645">
                <a:tc>
                  <a:txBody>
                    <a:bodyPr/>
                    <a:lstStyle/>
                    <a:p>
                      <a:pPr>
                        <a:lnSpc>
                          <a:spcPct val="107000"/>
                        </a:lnSpc>
                        <a:spcAft>
                          <a:spcPts val="0"/>
                        </a:spcAft>
                      </a:pPr>
                      <a:r>
                        <a:rPr lang="fr-FR" sz="1400" dirty="0">
                          <a:solidFill>
                            <a:schemeClr val="tx1"/>
                          </a:solidFill>
                          <a:effectLst/>
                          <a:latin typeface="Candara" panose="020E0502030303020204" pitchFamily="34" charset="0"/>
                        </a:rPr>
                        <a:t> </a:t>
                      </a:r>
                      <a:endParaRPr lang="fr-FR" sz="1200" dirty="0">
                        <a:solidFill>
                          <a:schemeClr val="tx1"/>
                        </a:solidFill>
                        <a:effectLst/>
                        <a:latin typeface="Candara" panose="020E0502030303020204" pitchFamily="34" charset="0"/>
                      </a:endParaRPr>
                    </a:p>
                    <a:p>
                      <a:pPr>
                        <a:lnSpc>
                          <a:spcPct val="107000"/>
                        </a:lnSpc>
                        <a:spcAft>
                          <a:spcPts val="0"/>
                        </a:spcAft>
                      </a:pPr>
                      <a:r>
                        <a:rPr lang="fr-FR" sz="1400" dirty="0">
                          <a:solidFill>
                            <a:schemeClr val="tx1"/>
                          </a:solidFill>
                          <a:effectLst/>
                          <a:latin typeface="Candara" panose="020E0502030303020204" pitchFamily="34" charset="0"/>
                        </a:rPr>
                        <a:t>LOGO DE LA STRUCTURE</a:t>
                      </a:r>
                      <a:endParaRPr lang="fr-FR" sz="12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tc gridSpan="6">
                  <a:txBody>
                    <a:bodyPr/>
                    <a:lstStyle/>
                    <a:p>
                      <a:pPr>
                        <a:lnSpc>
                          <a:spcPct val="107000"/>
                        </a:lnSpc>
                        <a:spcAft>
                          <a:spcPts val="0"/>
                        </a:spcAft>
                      </a:pPr>
                      <a:r>
                        <a:rPr lang="fr-FR" sz="1400" dirty="0">
                          <a:solidFill>
                            <a:schemeClr val="tx1"/>
                          </a:solidFill>
                          <a:effectLst/>
                          <a:latin typeface="Candara" panose="020E0502030303020204" pitchFamily="34" charset="0"/>
                        </a:rPr>
                        <a:t>NOM …DELON……………………………………….  PRENOM …………Patrick……………………………………………………………</a:t>
                      </a:r>
                      <a:endParaRPr lang="fr-FR" sz="1200" dirty="0">
                        <a:solidFill>
                          <a:schemeClr val="tx1"/>
                        </a:solidFill>
                        <a:effectLst/>
                        <a:latin typeface="Candara" panose="020E0502030303020204" pitchFamily="34" charset="0"/>
                      </a:endParaRPr>
                    </a:p>
                    <a:p>
                      <a:pPr>
                        <a:lnSpc>
                          <a:spcPct val="107000"/>
                        </a:lnSpc>
                        <a:spcAft>
                          <a:spcPts val="0"/>
                        </a:spcAft>
                      </a:pPr>
                      <a:r>
                        <a:rPr lang="fr-FR" sz="1400" dirty="0">
                          <a:solidFill>
                            <a:schemeClr val="tx1"/>
                          </a:solidFill>
                          <a:effectLst/>
                          <a:latin typeface="Candara" panose="020E0502030303020204" pitchFamily="34" charset="0"/>
                        </a:rPr>
                        <a:t>SEXE :         /_M______/          AGE :     /___5ans____/             PROVENANCE …………Bingerville…………………………………………</a:t>
                      </a:r>
                      <a:endParaRPr lang="fr-FR" sz="1200" dirty="0">
                        <a:solidFill>
                          <a:schemeClr val="tx1"/>
                        </a:solidFill>
                        <a:effectLst/>
                        <a:latin typeface="Candara" panose="020E0502030303020204" pitchFamily="34" charset="0"/>
                      </a:endParaRPr>
                    </a:p>
                    <a:p>
                      <a:pPr>
                        <a:lnSpc>
                          <a:spcPct val="107000"/>
                        </a:lnSpc>
                        <a:spcAft>
                          <a:spcPts val="0"/>
                        </a:spcAft>
                      </a:pPr>
                      <a:r>
                        <a:rPr lang="fr-FR" sz="1400" dirty="0">
                          <a:solidFill>
                            <a:schemeClr val="tx1"/>
                          </a:solidFill>
                          <a:effectLst/>
                          <a:latin typeface="Candara" panose="020E0502030303020204" pitchFamily="34" charset="0"/>
                        </a:rPr>
                        <a:t>SERVICE ……Pédiatrie………………………………………              N°CH :   /__5____/                                  N° LIT :     /_2____/</a:t>
                      </a:r>
                      <a:endParaRPr lang="fr-FR" sz="1200" dirty="0">
                        <a:solidFill>
                          <a:schemeClr val="tx1"/>
                        </a:solidFill>
                        <a:effectLst/>
                        <a:latin typeface="Candara" panose="020E0502030303020204" pitchFamily="34" charset="0"/>
                      </a:endParaRPr>
                    </a:p>
                    <a:p>
                      <a:pPr>
                        <a:lnSpc>
                          <a:spcPct val="107000"/>
                        </a:lnSpc>
                        <a:spcAft>
                          <a:spcPts val="0"/>
                        </a:spcAft>
                      </a:pPr>
                      <a:r>
                        <a:rPr lang="fr-FR" sz="1400" dirty="0">
                          <a:solidFill>
                            <a:schemeClr val="tx1"/>
                          </a:solidFill>
                          <a:effectLst/>
                          <a:latin typeface="Candara" panose="020E0502030303020204" pitchFamily="34" charset="0"/>
                        </a:rPr>
                        <a:t>N° DU DOSSIER CLIENT : /___163X____________________/                          FEUILLE N° : /______/</a:t>
                      </a:r>
                      <a:endParaRPr lang="fr-FR" sz="1200" dirty="0">
                        <a:solidFill>
                          <a:schemeClr val="tx1"/>
                        </a:solidFill>
                        <a:effectLst/>
                        <a:latin typeface="Candara" panose="020E0502030303020204" pitchFamily="34" charset="0"/>
                      </a:endParaRPr>
                    </a:p>
                    <a:p>
                      <a:pPr algn="just">
                        <a:lnSpc>
                          <a:spcPct val="107000"/>
                        </a:lnSpc>
                        <a:spcAft>
                          <a:spcPts val="0"/>
                        </a:spcAft>
                      </a:pPr>
                      <a:r>
                        <a:rPr lang="fr-FR" sz="1200" dirty="0">
                          <a:solidFill>
                            <a:schemeClr val="tx1"/>
                          </a:solidFill>
                          <a:effectLst/>
                          <a:latin typeface="Candara" panose="020E0502030303020204" pitchFamily="34" charset="0"/>
                        </a:rPr>
                        <a:t>DIAGNOSTIC MEDICAL : Paludisme grave</a:t>
                      </a:r>
                    </a:p>
                    <a:p>
                      <a:pPr algn="just">
                        <a:lnSpc>
                          <a:spcPct val="107000"/>
                        </a:lnSpc>
                        <a:spcAft>
                          <a:spcPts val="0"/>
                        </a:spcAft>
                      </a:pPr>
                      <a:r>
                        <a:rPr lang="fr-FR" sz="1200" dirty="0">
                          <a:solidFill>
                            <a:schemeClr val="tx1"/>
                          </a:solidFill>
                          <a:effectLst/>
                          <a:latin typeface="Candara" panose="020E0502030303020204" pitchFamily="34" charset="0"/>
                        </a:rPr>
                        <a:t> </a:t>
                      </a:r>
                    </a:p>
                    <a:p>
                      <a:pPr algn="just">
                        <a:lnSpc>
                          <a:spcPct val="107000"/>
                        </a:lnSpc>
                        <a:spcAft>
                          <a:spcPts val="0"/>
                        </a:spcAft>
                      </a:pPr>
                      <a:r>
                        <a:rPr lang="fr-FR" sz="1300" dirty="0">
                          <a:solidFill>
                            <a:schemeClr val="tx1"/>
                          </a:solidFill>
                          <a:effectLst/>
                          <a:latin typeface="Candara" panose="020E0502030303020204" pitchFamily="34" charset="0"/>
                        </a:rPr>
                        <a:t>REGIME : Hospitalisé </a:t>
                      </a:r>
                    </a:p>
                    <a:p>
                      <a:pPr algn="just">
                        <a:lnSpc>
                          <a:spcPct val="107000"/>
                        </a:lnSpc>
                        <a:spcAft>
                          <a:spcPts val="0"/>
                        </a:spcAft>
                      </a:pPr>
                      <a:r>
                        <a:rPr lang="fr-FR" sz="1300" dirty="0">
                          <a:solidFill>
                            <a:schemeClr val="tx1"/>
                          </a:solidFill>
                          <a:effectLst/>
                          <a:latin typeface="Candara" panose="020E0502030303020204" pitchFamily="34" charset="0"/>
                        </a:rPr>
                        <a:t>Traitement :</a:t>
                      </a:r>
                    </a:p>
                    <a:p>
                      <a:pPr marL="342900" lvl="0" indent="-342900" algn="just">
                        <a:lnSpc>
                          <a:spcPct val="107000"/>
                        </a:lnSpc>
                        <a:spcAft>
                          <a:spcPts val="0"/>
                        </a:spcAft>
                        <a:buFont typeface="Calibri" panose="020F0502020204030204" pitchFamily="34" charset="0"/>
                        <a:buChar char="-"/>
                      </a:pPr>
                      <a:r>
                        <a:rPr lang="fr-FR" sz="1300" dirty="0" err="1">
                          <a:solidFill>
                            <a:schemeClr val="tx1"/>
                          </a:solidFill>
                          <a:effectLst/>
                          <a:latin typeface="Candara" panose="020E0502030303020204" pitchFamily="34" charset="0"/>
                        </a:rPr>
                        <a:t>Quinimax</a:t>
                      </a:r>
                      <a:r>
                        <a:rPr lang="fr-FR" sz="1300" dirty="0">
                          <a:solidFill>
                            <a:schemeClr val="tx1"/>
                          </a:solidFill>
                          <a:effectLst/>
                          <a:latin typeface="Candara" panose="020E0502030303020204" pitchFamily="34" charset="0"/>
                        </a:rPr>
                        <a:t> 0,40  </a:t>
                      </a:r>
                    </a:p>
                    <a:p>
                      <a:pPr marL="342900" lvl="0" indent="-342900" algn="just">
                        <a:lnSpc>
                          <a:spcPct val="107000"/>
                        </a:lnSpc>
                        <a:spcAft>
                          <a:spcPts val="0"/>
                        </a:spcAft>
                        <a:buFont typeface="Calibri" panose="020F0502020204030204" pitchFamily="34" charset="0"/>
                        <a:buChar char="-"/>
                      </a:pPr>
                      <a:r>
                        <a:rPr lang="fr-FR" sz="1300" dirty="0" err="1">
                          <a:solidFill>
                            <a:schemeClr val="tx1"/>
                          </a:solidFill>
                          <a:effectLst/>
                          <a:latin typeface="Candara" panose="020E0502030303020204" pitchFamily="34" charset="0"/>
                        </a:rPr>
                        <a:t>Bencozyme</a:t>
                      </a:r>
                      <a:r>
                        <a:rPr lang="fr-FR" sz="1300" dirty="0">
                          <a:solidFill>
                            <a:schemeClr val="tx1"/>
                          </a:solidFill>
                          <a:effectLst/>
                          <a:latin typeface="Candara" panose="020E0502030303020204" pitchFamily="34" charset="0"/>
                        </a:rPr>
                        <a:t> 1 ampoule </a:t>
                      </a:r>
                    </a:p>
                    <a:p>
                      <a:pPr algn="just">
                        <a:lnSpc>
                          <a:spcPct val="107000"/>
                        </a:lnSpc>
                        <a:spcAft>
                          <a:spcPts val="0"/>
                        </a:spcAft>
                      </a:pPr>
                      <a:r>
                        <a:rPr lang="fr-FR" sz="1300" dirty="0">
                          <a:solidFill>
                            <a:schemeClr val="tx1"/>
                          </a:solidFill>
                          <a:effectLst/>
                          <a:latin typeface="Candara" panose="020E0502030303020204" pitchFamily="34" charset="0"/>
                        </a:rPr>
                        <a:t>  Dans 250 ml de </a:t>
                      </a:r>
                      <a:r>
                        <a:rPr lang="fr-FR" sz="1300" dirty="0" err="1">
                          <a:solidFill>
                            <a:schemeClr val="tx1"/>
                          </a:solidFill>
                          <a:effectLst/>
                          <a:latin typeface="Candara" panose="020E0502030303020204" pitchFamily="34" charset="0"/>
                        </a:rPr>
                        <a:t>Ringer</a:t>
                      </a:r>
                      <a:r>
                        <a:rPr lang="fr-FR" sz="1300" dirty="0">
                          <a:solidFill>
                            <a:schemeClr val="tx1"/>
                          </a:solidFill>
                          <a:effectLst/>
                          <a:latin typeface="Candara" panose="020E0502030303020204" pitchFamily="34" charset="0"/>
                        </a:rPr>
                        <a:t>, en perfusion, 2 fois par jour pendant 3 jours</a:t>
                      </a:r>
                    </a:p>
                    <a:p>
                      <a:pPr>
                        <a:lnSpc>
                          <a:spcPct val="107000"/>
                        </a:lnSpc>
                        <a:spcAft>
                          <a:spcPts val="0"/>
                        </a:spcAft>
                      </a:pPr>
                      <a:r>
                        <a:rPr lang="fr-FR" sz="1300" dirty="0" err="1">
                          <a:solidFill>
                            <a:schemeClr val="tx1"/>
                          </a:solidFill>
                          <a:effectLst/>
                          <a:latin typeface="Candara" panose="020E0502030303020204" pitchFamily="34" charset="0"/>
                        </a:rPr>
                        <a:t>Novalgin</a:t>
                      </a:r>
                      <a:r>
                        <a:rPr lang="fr-FR" sz="1300" dirty="0">
                          <a:solidFill>
                            <a:schemeClr val="tx1"/>
                          </a:solidFill>
                          <a:effectLst/>
                          <a:latin typeface="Candara" panose="020E0502030303020204" pitchFamily="34" charset="0"/>
                        </a:rPr>
                        <a:t> 1 ampoule en IVD</a:t>
                      </a:r>
                      <a:endParaRPr lang="fr-FR" sz="13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729463">
                <a:tc>
                  <a:txBody>
                    <a:bodyPr/>
                    <a:lstStyle/>
                    <a:p>
                      <a:pPr algn="ctr">
                        <a:lnSpc>
                          <a:spcPct val="107000"/>
                        </a:lnSpc>
                        <a:spcAft>
                          <a:spcPts val="0"/>
                        </a:spcAft>
                      </a:pPr>
                      <a:r>
                        <a:rPr lang="fr-FR" sz="1500" b="1" dirty="0">
                          <a:solidFill>
                            <a:schemeClr val="tx1"/>
                          </a:solidFill>
                          <a:effectLst/>
                          <a:latin typeface="Candara" panose="020E0502030303020204" pitchFamily="34" charset="0"/>
                        </a:rPr>
                        <a:t>Date/heure</a:t>
                      </a:r>
                      <a:endParaRPr lang="fr-FR" sz="15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nchor="ctr"/>
                </a:tc>
                <a:tc>
                  <a:txBody>
                    <a:bodyPr/>
                    <a:lstStyle/>
                    <a:p>
                      <a:pPr algn="ctr">
                        <a:lnSpc>
                          <a:spcPct val="107000"/>
                        </a:lnSpc>
                        <a:spcAft>
                          <a:spcPts val="0"/>
                        </a:spcAft>
                      </a:pPr>
                      <a:r>
                        <a:rPr lang="fr-FR" sz="1500" b="1" dirty="0">
                          <a:solidFill>
                            <a:schemeClr val="tx1"/>
                          </a:solidFill>
                          <a:effectLst/>
                          <a:latin typeface="Candara" panose="020E0502030303020204" pitchFamily="34" charset="0"/>
                        </a:rPr>
                        <a:t>Diagnostic infirmier/problèmes identifies</a:t>
                      </a:r>
                      <a:endParaRPr lang="fr-FR" sz="15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nchor="ctr"/>
                </a:tc>
                <a:tc>
                  <a:txBody>
                    <a:bodyPr/>
                    <a:lstStyle/>
                    <a:p>
                      <a:pPr algn="ctr">
                        <a:lnSpc>
                          <a:spcPct val="107000"/>
                        </a:lnSpc>
                        <a:spcAft>
                          <a:spcPts val="0"/>
                        </a:spcAft>
                      </a:pPr>
                      <a:r>
                        <a:rPr lang="fr-FR" sz="1500" b="1" dirty="0">
                          <a:solidFill>
                            <a:schemeClr val="tx1"/>
                          </a:solidFill>
                          <a:effectLst/>
                          <a:latin typeface="Candara" panose="020E0502030303020204" pitchFamily="34" charset="0"/>
                        </a:rPr>
                        <a:t>Objectifs de soins</a:t>
                      </a:r>
                      <a:endParaRPr lang="fr-FR" sz="15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nchor="ctr"/>
                </a:tc>
                <a:tc>
                  <a:txBody>
                    <a:bodyPr/>
                    <a:lstStyle/>
                    <a:p>
                      <a:pPr algn="ctr">
                        <a:lnSpc>
                          <a:spcPct val="107000"/>
                        </a:lnSpc>
                        <a:spcAft>
                          <a:spcPts val="0"/>
                        </a:spcAft>
                      </a:pPr>
                      <a:r>
                        <a:rPr lang="fr-FR" sz="1500" b="1" dirty="0">
                          <a:solidFill>
                            <a:schemeClr val="tx1"/>
                          </a:solidFill>
                          <a:effectLst/>
                          <a:latin typeface="Candara" panose="020E0502030303020204" pitchFamily="34" charset="0"/>
                        </a:rPr>
                        <a:t>Interventions</a:t>
                      </a:r>
                      <a:endParaRPr lang="fr-FR" sz="15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nchor="ctr"/>
                </a:tc>
                <a:tc>
                  <a:txBody>
                    <a:bodyPr/>
                    <a:lstStyle/>
                    <a:p>
                      <a:pPr algn="ctr">
                        <a:lnSpc>
                          <a:spcPct val="107000"/>
                        </a:lnSpc>
                        <a:spcAft>
                          <a:spcPts val="0"/>
                        </a:spcAft>
                      </a:pPr>
                      <a:r>
                        <a:rPr lang="fr-FR" sz="1500" b="1" dirty="0">
                          <a:solidFill>
                            <a:schemeClr val="tx1"/>
                          </a:solidFill>
                          <a:effectLst/>
                          <a:latin typeface="Candara" panose="020E0502030303020204" pitchFamily="34" charset="0"/>
                        </a:rPr>
                        <a:t>Date/Heure</a:t>
                      </a:r>
                      <a:endParaRPr lang="fr-FR" sz="15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nchor="ctr"/>
                </a:tc>
                <a:tc>
                  <a:txBody>
                    <a:bodyPr/>
                    <a:lstStyle/>
                    <a:p>
                      <a:pPr algn="ctr">
                        <a:lnSpc>
                          <a:spcPct val="107000"/>
                        </a:lnSpc>
                        <a:spcAft>
                          <a:spcPts val="0"/>
                        </a:spcAft>
                      </a:pPr>
                      <a:r>
                        <a:rPr lang="fr-FR" sz="1500" b="1" dirty="0">
                          <a:solidFill>
                            <a:schemeClr val="tx1"/>
                          </a:solidFill>
                          <a:effectLst/>
                          <a:latin typeface="Candara" panose="020E0502030303020204" pitchFamily="34" charset="0"/>
                        </a:rPr>
                        <a:t>Résultats de l’évaluation</a:t>
                      </a:r>
                      <a:endParaRPr lang="fr-FR" sz="15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nchor="ctr"/>
                </a:tc>
                <a:tc>
                  <a:txBody>
                    <a:bodyPr/>
                    <a:lstStyle/>
                    <a:p>
                      <a:pPr algn="ctr">
                        <a:lnSpc>
                          <a:spcPct val="107000"/>
                        </a:lnSpc>
                        <a:spcAft>
                          <a:spcPts val="0"/>
                        </a:spcAft>
                      </a:pPr>
                      <a:r>
                        <a:rPr lang="fr-FR" sz="1500" b="1" dirty="0">
                          <a:solidFill>
                            <a:schemeClr val="tx1"/>
                          </a:solidFill>
                          <a:effectLst/>
                          <a:latin typeface="Candara" panose="020E0502030303020204" pitchFamily="34" charset="0"/>
                        </a:rPr>
                        <a:t>Nom Prénoms et émargement de l’intervenant</a:t>
                      </a:r>
                      <a:endParaRPr lang="fr-FR" sz="1500" b="1"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nchor="ctr"/>
                </a:tc>
                <a:extLst>
                  <a:ext uri="{0D108BD9-81ED-4DB2-BD59-A6C34878D82A}">
                    <a16:rowId xmlns:a16="http://schemas.microsoft.com/office/drawing/2014/main" val="10001"/>
                  </a:ext>
                </a:extLst>
              </a:tr>
              <a:tr h="2471939">
                <a:tc>
                  <a:txBody>
                    <a:bodyPr/>
                    <a:lstStyle/>
                    <a:p>
                      <a:pPr>
                        <a:lnSpc>
                          <a:spcPct val="107000"/>
                        </a:lnSpc>
                        <a:spcAft>
                          <a:spcPts val="0"/>
                        </a:spcAft>
                      </a:pPr>
                      <a:r>
                        <a:rPr lang="fr-FR" sz="1300" dirty="0">
                          <a:solidFill>
                            <a:schemeClr val="tx1"/>
                          </a:solidFill>
                          <a:effectLst/>
                          <a:latin typeface="Candara" panose="020E0502030303020204" pitchFamily="34" charset="0"/>
                        </a:rPr>
                        <a:t> </a:t>
                      </a:r>
                    </a:p>
                    <a:p>
                      <a:pPr>
                        <a:lnSpc>
                          <a:spcPct val="107000"/>
                        </a:lnSpc>
                        <a:spcAft>
                          <a:spcPts val="0"/>
                        </a:spcAft>
                      </a:pPr>
                      <a:r>
                        <a:rPr lang="fr-FR" sz="1300" dirty="0">
                          <a:solidFill>
                            <a:schemeClr val="tx1"/>
                          </a:solidFill>
                          <a:effectLst/>
                          <a:latin typeface="Candara" panose="020E0502030303020204" pitchFamily="34" charset="0"/>
                        </a:rPr>
                        <a:t>31/12/2019</a:t>
                      </a:r>
                    </a:p>
                    <a:p>
                      <a:pPr>
                        <a:lnSpc>
                          <a:spcPct val="107000"/>
                        </a:lnSpc>
                        <a:spcAft>
                          <a:spcPts val="0"/>
                        </a:spcAft>
                      </a:pPr>
                      <a:r>
                        <a:rPr lang="fr-FR" sz="1300" dirty="0">
                          <a:solidFill>
                            <a:schemeClr val="tx1"/>
                          </a:solidFill>
                          <a:effectLst/>
                          <a:latin typeface="Candara" panose="020E0502030303020204" pitchFamily="34" charset="0"/>
                        </a:rPr>
                        <a:t>23H59</a:t>
                      </a:r>
                    </a:p>
                    <a:p>
                      <a:pPr>
                        <a:lnSpc>
                          <a:spcPct val="107000"/>
                        </a:lnSpc>
                        <a:spcAft>
                          <a:spcPts val="0"/>
                        </a:spcAft>
                      </a:pPr>
                      <a:r>
                        <a:rPr lang="fr-FR" sz="1300" dirty="0">
                          <a:solidFill>
                            <a:schemeClr val="tx1"/>
                          </a:solidFill>
                          <a:effectLst/>
                          <a:latin typeface="Candara" panose="020E0502030303020204" pitchFamily="34" charset="0"/>
                        </a:rPr>
                        <a:t> </a:t>
                      </a:r>
                    </a:p>
                    <a:p>
                      <a:pPr>
                        <a:lnSpc>
                          <a:spcPct val="107000"/>
                        </a:lnSpc>
                        <a:spcAft>
                          <a:spcPts val="0"/>
                        </a:spcAft>
                      </a:pPr>
                      <a:r>
                        <a:rPr lang="fr-FR" sz="1300" dirty="0">
                          <a:solidFill>
                            <a:schemeClr val="tx1"/>
                          </a:solidFill>
                          <a:effectLst/>
                          <a:latin typeface="Candara" panose="020E0502030303020204" pitchFamily="34" charset="0"/>
                        </a:rPr>
                        <a:t> </a:t>
                      </a:r>
                    </a:p>
                    <a:p>
                      <a:pPr>
                        <a:lnSpc>
                          <a:spcPct val="107000"/>
                        </a:lnSpc>
                        <a:spcAft>
                          <a:spcPts val="0"/>
                        </a:spcAft>
                      </a:pPr>
                      <a:r>
                        <a:rPr lang="fr-FR" sz="1300" dirty="0">
                          <a:solidFill>
                            <a:schemeClr val="tx1"/>
                          </a:solidFill>
                          <a:effectLst/>
                          <a:latin typeface="Candara" panose="020E0502030303020204" pitchFamily="34" charset="0"/>
                        </a:rPr>
                        <a:t> </a:t>
                      </a:r>
                      <a:endParaRPr lang="fr-FR" sz="13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tc>
                  <a:txBody>
                    <a:bodyPr/>
                    <a:lstStyle/>
                    <a:p>
                      <a:pPr>
                        <a:lnSpc>
                          <a:spcPct val="107000"/>
                        </a:lnSpc>
                        <a:spcAft>
                          <a:spcPts val="0"/>
                        </a:spcAft>
                      </a:pPr>
                      <a:r>
                        <a:rPr lang="fr-FR" sz="1300" dirty="0">
                          <a:solidFill>
                            <a:schemeClr val="tx1"/>
                          </a:solidFill>
                          <a:effectLst/>
                          <a:latin typeface="Candara" panose="020E0502030303020204" pitchFamily="34" charset="0"/>
                        </a:rPr>
                        <a:t>- Hyperthermie reliée au paludisme</a:t>
                      </a:r>
                      <a:endParaRPr lang="fr-FR" sz="13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tc>
                  <a:txBody>
                    <a:bodyPr/>
                    <a:lstStyle/>
                    <a:p>
                      <a:pPr>
                        <a:lnSpc>
                          <a:spcPct val="107000"/>
                        </a:lnSpc>
                        <a:spcAft>
                          <a:spcPts val="0"/>
                        </a:spcAft>
                      </a:pPr>
                      <a:r>
                        <a:rPr lang="fr-FR" sz="1300" dirty="0">
                          <a:solidFill>
                            <a:schemeClr val="tx1"/>
                          </a:solidFill>
                          <a:effectLst/>
                          <a:latin typeface="Candara" panose="020E0502030303020204" pitchFamily="34" charset="0"/>
                        </a:rPr>
                        <a:t>Retrouver sa T⁰ normale (37⁰c)  au bout de 12 heures</a:t>
                      </a:r>
                      <a:endParaRPr lang="fr-FR" sz="13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tc>
                  <a:txBody>
                    <a:bodyPr/>
                    <a:lstStyle/>
                    <a:p>
                      <a:pPr>
                        <a:lnSpc>
                          <a:spcPct val="107000"/>
                        </a:lnSpc>
                        <a:spcAft>
                          <a:spcPts val="0"/>
                        </a:spcAft>
                      </a:pPr>
                      <a:r>
                        <a:rPr lang="fr-FR" sz="1300" dirty="0">
                          <a:solidFill>
                            <a:schemeClr val="tx1"/>
                          </a:solidFill>
                          <a:effectLst/>
                          <a:latin typeface="Candara" panose="020E0502030303020204" pitchFamily="34" charset="0"/>
                        </a:rPr>
                        <a:t>Soins d’exécution des prescriptions médicales :</a:t>
                      </a:r>
                    </a:p>
                    <a:p>
                      <a:pPr>
                        <a:lnSpc>
                          <a:spcPct val="107000"/>
                        </a:lnSpc>
                        <a:spcAft>
                          <a:spcPts val="0"/>
                        </a:spcAft>
                      </a:pPr>
                      <a:r>
                        <a:rPr lang="fr-FR" sz="1300" dirty="0">
                          <a:solidFill>
                            <a:schemeClr val="tx1"/>
                          </a:solidFill>
                          <a:effectLst/>
                          <a:latin typeface="Candara" panose="020E0502030303020204" pitchFamily="34" charset="0"/>
                        </a:rPr>
                        <a:t>- Exécuter scrupuleusement le traitement prescrit</a:t>
                      </a:r>
                    </a:p>
                    <a:p>
                      <a:pPr>
                        <a:lnSpc>
                          <a:spcPct val="107000"/>
                        </a:lnSpc>
                        <a:spcAft>
                          <a:spcPts val="0"/>
                        </a:spcAft>
                      </a:pPr>
                      <a:r>
                        <a:rPr lang="fr-FR" sz="1300" dirty="0">
                          <a:solidFill>
                            <a:schemeClr val="tx1"/>
                          </a:solidFill>
                          <a:effectLst/>
                          <a:latin typeface="Candara" panose="020E0502030303020204" pitchFamily="34" charset="0"/>
                        </a:rPr>
                        <a:t>-  Si nécessaire utiliser les moyens physiques pour lutter contre la fièvre </a:t>
                      </a:r>
                    </a:p>
                    <a:p>
                      <a:pPr algn="just">
                        <a:lnSpc>
                          <a:spcPct val="107000"/>
                        </a:lnSpc>
                        <a:spcAft>
                          <a:spcPts val="0"/>
                        </a:spcAft>
                      </a:pPr>
                      <a:r>
                        <a:rPr lang="fr-FR" sz="1300" dirty="0">
                          <a:solidFill>
                            <a:schemeClr val="tx1"/>
                          </a:solidFill>
                          <a:effectLst/>
                          <a:latin typeface="Candara" panose="020E0502030303020204" pitchFamily="34" charset="0"/>
                        </a:rPr>
                        <a:t>Soins de surveillance :</a:t>
                      </a:r>
                    </a:p>
                    <a:p>
                      <a:pPr>
                        <a:lnSpc>
                          <a:spcPct val="107000"/>
                        </a:lnSpc>
                        <a:spcAft>
                          <a:spcPts val="0"/>
                        </a:spcAft>
                      </a:pPr>
                      <a:r>
                        <a:rPr lang="fr-FR" sz="1300" dirty="0">
                          <a:solidFill>
                            <a:schemeClr val="tx1"/>
                          </a:solidFill>
                          <a:effectLst/>
                          <a:latin typeface="Candara" panose="020E0502030303020204" pitchFamily="34" charset="0"/>
                        </a:rPr>
                        <a:t>-Surveiller régulièrement les constantes notamment la T⁰ </a:t>
                      </a:r>
                    </a:p>
                    <a:p>
                      <a:pPr>
                        <a:lnSpc>
                          <a:spcPct val="107000"/>
                        </a:lnSpc>
                        <a:spcAft>
                          <a:spcPts val="0"/>
                        </a:spcAft>
                      </a:pPr>
                      <a:r>
                        <a:rPr lang="fr-FR" sz="1300" dirty="0">
                          <a:solidFill>
                            <a:schemeClr val="tx1"/>
                          </a:solidFill>
                          <a:effectLst/>
                          <a:latin typeface="Candara" panose="020E0502030303020204" pitchFamily="34" charset="0"/>
                        </a:rPr>
                        <a:t> </a:t>
                      </a:r>
                      <a:endParaRPr lang="fr-FR" sz="13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tc>
                  <a:txBody>
                    <a:bodyPr/>
                    <a:lstStyle/>
                    <a:p>
                      <a:pPr>
                        <a:lnSpc>
                          <a:spcPct val="107000"/>
                        </a:lnSpc>
                        <a:spcAft>
                          <a:spcPts val="0"/>
                        </a:spcAft>
                      </a:pPr>
                      <a:r>
                        <a:rPr lang="fr-FR" sz="1300" dirty="0">
                          <a:solidFill>
                            <a:schemeClr val="tx1"/>
                          </a:solidFill>
                          <a:effectLst/>
                          <a:latin typeface="Candara" panose="020E0502030303020204" pitchFamily="34" charset="0"/>
                        </a:rPr>
                        <a:t>01/01/2020</a:t>
                      </a:r>
                    </a:p>
                    <a:p>
                      <a:pPr>
                        <a:lnSpc>
                          <a:spcPct val="107000"/>
                        </a:lnSpc>
                        <a:spcAft>
                          <a:spcPts val="0"/>
                        </a:spcAft>
                      </a:pPr>
                      <a:r>
                        <a:rPr lang="fr-FR" sz="1300" dirty="0">
                          <a:solidFill>
                            <a:schemeClr val="tx1"/>
                          </a:solidFill>
                          <a:effectLst/>
                          <a:latin typeface="Candara" panose="020E0502030303020204" pitchFamily="34" charset="0"/>
                        </a:rPr>
                        <a:t>11H58</a:t>
                      </a:r>
                      <a:endParaRPr lang="fr-FR" sz="13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tc>
                  <a:txBody>
                    <a:bodyPr/>
                    <a:lstStyle/>
                    <a:p>
                      <a:pPr>
                        <a:lnSpc>
                          <a:spcPct val="107000"/>
                        </a:lnSpc>
                        <a:spcAft>
                          <a:spcPts val="0"/>
                        </a:spcAft>
                      </a:pPr>
                      <a:r>
                        <a:rPr lang="fr-FR" sz="1300" dirty="0">
                          <a:solidFill>
                            <a:schemeClr val="tx1"/>
                          </a:solidFill>
                          <a:effectLst/>
                          <a:latin typeface="Candara" panose="020E0502030303020204" pitchFamily="34" charset="0"/>
                        </a:rPr>
                        <a:t>T°37°5</a:t>
                      </a:r>
                      <a:endParaRPr lang="fr-FR" sz="13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tc>
                  <a:txBody>
                    <a:bodyPr/>
                    <a:lstStyle/>
                    <a:p>
                      <a:pPr>
                        <a:lnSpc>
                          <a:spcPct val="107000"/>
                        </a:lnSpc>
                        <a:spcAft>
                          <a:spcPts val="0"/>
                        </a:spcAft>
                      </a:pPr>
                      <a:r>
                        <a:rPr lang="fr-FR" sz="1300" dirty="0">
                          <a:solidFill>
                            <a:schemeClr val="tx1"/>
                          </a:solidFill>
                          <a:effectLst/>
                          <a:latin typeface="Candara" panose="020E0502030303020204" pitchFamily="34" charset="0"/>
                        </a:rPr>
                        <a:t>KELLY Josiane</a:t>
                      </a:r>
                      <a:endParaRPr lang="fr-FR" sz="1300"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endParaRPr>
                    </a:p>
                  </a:txBody>
                  <a:tcPr marL="57539" marR="57539"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02110981"/>
      </p:ext>
    </p:extLst>
  </p:cSld>
  <p:clrMapOvr>
    <a:masterClrMapping/>
  </p:clrMapOvr>
</p:sld>
</file>

<file path=ppt/theme/theme1.xml><?xml version="1.0" encoding="utf-8"?>
<a:theme xmlns:a="http://schemas.openxmlformats.org/drawingml/2006/main" name="Rétrospective">
  <a:themeElements>
    <a:clrScheme name="Vert jaune">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6EDAEA10A39D6489B1C23F90F6A6529" ma:contentTypeVersion="8" ma:contentTypeDescription="Crée un document." ma:contentTypeScope="" ma:versionID="6b4dd588968ba64de3c92376e74ff81a">
  <xsd:schema xmlns:xsd="http://www.w3.org/2001/XMLSchema" xmlns:xs="http://www.w3.org/2001/XMLSchema" xmlns:p="http://schemas.microsoft.com/office/2006/metadata/properties" xmlns:ns2="82adeb94-47d2-4b64-bc99-1d69dc998789" targetNamespace="http://schemas.microsoft.com/office/2006/metadata/properties" ma:root="true" ma:fieldsID="2572ff3ebf3deb86f0aa74d46e2c62a4" ns2:_="">
    <xsd:import namespace="82adeb94-47d2-4b64-bc99-1d69dc9987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adeb94-47d2-4b64-bc99-1d69dc9987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6B9D5B-06F1-490D-8531-9BE1C894881A}">
  <ds:schemaRefs>
    <ds:schemaRef ds:uri="http://schemas.microsoft.com/office/2006/metadata/properties"/>
    <ds:schemaRef ds:uri="http://www.w3.org/2000/xmlns/"/>
  </ds:schemaRefs>
</ds:datastoreItem>
</file>

<file path=customXml/itemProps2.xml><?xml version="1.0" encoding="utf-8"?>
<ds:datastoreItem xmlns:ds="http://schemas.openxmlformats.org/officeDocument/2006/customXml" ds:itemID="{AD930764-9E8D-4767-BCFF-55438059D766}">
  <ds:schemaRefs>
    <ds:schemaRef ds:uri="http://schemas.microsoft.com/sharepoint/v3/contenttype/forms"/>
  </ds:schemaRefs>
</ds:datastoreItem>
</file>

<file path=customXml/itemProps3.xml><?xml version="1.0" encoding="utf-8"?>
<ds:datastoreItem xmlns:ds="http://schemas.openxmlformats.org/officeDocument/2006/customXml" ds:itemID="{DDC929BB-42B4-4570-AB6D-531164B12656}">
  <ds:schemaRefs>
    <ds:schemaRef ds:uri="http://schemas.microsoft.com/office/2006/metadata/contentType"/>
    <ds:schemaRef ds:uri="http://schemas.microsoft.com/office/2006/metadata/properties/metaAttributes"/>
    <ds:schemaRef ds:uri="http://www.w3.org/2000/xmlns/"/>
    <ds:schemaRef ds:uri="http://www.w3.org/2001/XMLSchema"/>
    <ds:schemaRef ds:uri="82adeb94-47d2-4b64-bc99-1d69dc998789"/>
  </ds:schemaRefs>
</ds:datastoreItem>
</file>

<file path=docProps/app.xml><?xml version="1.0" encoding="utf-8"?>
<Properties xmlns="http://schemas.openxmlformats.org/officeDocument/2006/extended-properties" xmlns:vt="http://schemas.openxmlformats.org/officeDocument/2006/docPropsVTypes">
  <Template>Retrospect</Template>
  <TotalTime>94</TotalTime>
  <Words>1050</Words>
  <Application>Microsoft Office PowerPoint</Application>
  <PresentationFormat>Grand écran</PresentationFormat>
  <Paragraphs>171</Paragraphs>
  <Slides>33</Slides>
  <Notes>0</Notes>
  <HiddenSlides>0</HiddenSlides>
  <MMClips>0</MMClips>
  <ScaleCrop>false</ScaleCrop>
  <HeadingPairs>
    <vt:vector size="4" baseType="variant">
      <vt:variant>
        <vt:lpstr>Thème</vt:lpstr>
      </vt:variant>
      <vt:variant>
        <vt:i4>1</vt:i4>
      </vt:variant>
      <vt:variant>
        <vt:lpstr>Titres des diapositives</vt:lpstr>
      </vt:variant>
      <vt:variant>
        <vt:i4>33</vt:i4>
      </vt:variant>
    </vt:vector>
  </HeadingPairs>
  <TitlesOfParts>
    <vt:vector size="34" baseType="lpstr">
      <vt:lpstr>Rétrospective</vt:lpstr>
      <vt:lpstr>DEMARCHE SCIENTIFIQUE DE SOINS INFIRMIERS</vt:lpstr>
      <vt:lpstr>Présentation PowerPoint</vt:lpstr>
      <vt:lpstr>Présentation PowerPoint</vt:lpstr>
      <vt:lpstr>DEFINITION</vt:lpstr>
      <vt:lpstr>Présentation PowerPoint</vt:lpstr>
      <vt:lpstr>ETAPES DE LA DEMARCHE DE SOINS</vt:lpstr>
      <vt:lpstr>COLLECTE DES DONNÉES</vt:lpstr>
      <vt:lpstr>COLLECTE DES DONNÉES</vt:lpstr>
      <vt:lpstr>ANALYSE ET INTERPRÉTATION DES DONNÉES</vt:lpstr>
      <vt:lpstr>ANALYSE ET INTERPRÉTATION DES DONNÉES</vt:lpstr>
      <vt:lpstr>ANALYSE ET INTERPRÉTATION DES DONNÉES</vt:lpstr>
      <vt:lpstr>ANALYSE ET INTERPRÉTATION DES DONNÉES</vt:lpstr>
      <vt:lpstr>ANALYSE ET INTERPRÉTATION DES DONNÉES</vt:lpstr>
      <vt:lpstr>ANALYSE ET INTERPRÉTATION DES DONNÉES</vt:lpstr>
      <vt:lpstr>ANALYSE ET INTERPRÉTATION DES DONNÉES</vt:lpstr>
      <vt:lpstr>ANALYSE ET INTERPRÉTATION DES DONNÉES</vt:lpstr>
      <vt:lpstr>ANALYSE ET INTERPRÉTATION DES DONNÉES</vt:lpstr>
      <vt:lpstr>Différence entre un diagnostic médical et un diagnostic infirmier (nursing)</vt:lpstr>
      <vt:lpstr>PLANIFICATION DES INTERVENTIONS  </vt:lpstr>
      <vt:lpstr>PLANIFICATION DES INTERVENTIONS  </vt:lpstr>
      <vt:lpstr>PLANIFICATION DES INTERVENTIONS  </vt:lpstr>
      <vt:lpstr>PLANIFICATION DES INTERVENTIONS  </vt:lpstr>
      <vt:lpstr>PLANIFICATION DES INTERVENTIONS  </vt:lpstr>
      <vt:lpstr>PLANIFICATION DES INTERVENTIONS  </vt:lpstr>
      <vt:lpstr>PLANIFICATION DES INTERVENTIONS  </vt:lpstr>
      <vt:lpstr>PLANIFICATION DES INTERVENTIONS  </vt:lpstr>
      <vt:lpstr>EVALUATION DES SOINS</vt:lpstr>
      <vt:lpstr>PLAN DE SOINS</vt:lpstr>
      <vt:lpstr>PLAN DE SOINS</vt:lpstr>
      <vt:lpstr>PLAN DE SOINS</vt:lpstr>
      <vt:lpstr>PLAN DE SOINS</vt:lpstr>
      <vt:lpstr>PLAN DE SOINS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DEMARCHE SCIENTIFIQUE DE SOINS INFIRMIERS</dc:title>
  <dc:creator>KOUAKOU</dc:creator>
  <cp:lastModifiedBy>ANDON NIAMIEN JOEL-HERVE</cp:lastModifiedBy>
  <cp:revision>12</cp:revision>
  <dcterms:created xsi:type="dcterms:W3CDTF">2020-05-20T11:46:25Z</dcterms:created>
  <dcterms:modified xsi:type="dcterms:W3CDTF">2024-06-26T16:24:48Z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0x010100F6EDAEA10A39D6489B1C23F90F6A6529</vt:lpwstr>
  </property>
</Properties>
</file>