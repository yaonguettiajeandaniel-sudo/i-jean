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1" r:id="rId3"/>
    <p:sldId id="306" r:id="rId4"/>
    <p:sldId id="292" r:id="rId5"/>
    <p:sldId id="307" r:id="rId6"/>
    <p:sldId id="304" r:id="rId7"/>
    <p:sldId id="308" r:id="rId8"/>
    <p:sldId id="309" r:id="rId9"/>
    <p:sldId id="294" r:id="rId10"/>
    <p:sldId id="300" r:id="rId11"/>
    <p:sldId id="295" r:id="rId12"/>
    <p:sldId id="296" r:id="rId13"/>
    <p:sldId id="298" r:id="rId14"/>
    <p:sldId id="299" r:id="rId15"/>
    <p:sldId id="305" r:id="rId16"/>
    <p:sldId id="303" r:id="rId17"/>
    <p:sldId id="3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FFCCCC"/>
    <a:srgbClr val="EC73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95" d="100"/>
          <a:sy n="95" d="100"/>
        </p:scale>
        <p:origin x="2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'accu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63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8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552301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354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3366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003366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0E3417-B6EA-468F-81B1-12E367DE55E5}" type="slidenum">
              <a:rPr lang="fr-FR" altLang="fr-FR">
                <a:solidFill>
                  <a:srgbClr val="FFFFFF"/>
                </a:solidFill>
              </a:rPr>
              <a:pPr>
                <a:defRPr/>
              </a:pPr>
              <a:t>‹N°›</a:t>
            </a:fld>
            <a:endParaRPr lang="fr-FR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922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66337" y="773722"/>
            <a:ext cx="10317480" cy="8159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7" name="ZoneTexte 6"/>
          <p:cNvSpPr txBox="1"/>
          <p:nvPr userDrawn="1"/>
        </p:nvSpPr>
        <p:spPr>
          <a:xfrm>
            <a:off x="-2068" y="6628503"/>
            <a:ext cx="12204000" cy="252000"/>
          </a:xfrm>
          <a:prstGeom prst="rect">
            <a:avLst/>
          </a:prstGeom>
          <a:solidFill>
            <a:srgbClr val="00B050"/>
          </a:solidFill>
          <a:ln w="12700" cmpd="sng">
            <a:solidFill>
              <a:srgbClr val="00B050"/>
            </a:solidFill>
          </a:ln>
        </p:spPr>
        <p:txBody>
          <a:bodyPr wrap="square" tIns="0" bIns="0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400" dirty="0">
              <a:solidFill>
                <a:schemeClr val="bg1"/>
              </a:solidFill>
              <a:latin typeface="Arial Black" pitchFamily="34" charset="0"/>
            </a:endParaRPr>
          </a:p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 err="1">
                <a:solidFill>
                  <a:schemeClr val="bg1"/>
                </a:solidFill>
                <a:latin typeface="Arial Black" pitchFamily="34" charset="0"/>
              </a:rPr>
              <a:t>Blvd</a:t>
            </a:r>
            <a:r>
              <a:rPr lang="fr-FR" sz="1400" dirty="0">
                <a:solidFill>
                  <a:schemeClr val="bg1"/>
                </a:solidFill>
                <a:latin typeface="Arial Black" pitchFamily="34" charset="0"/>
              </a:rPr>
              <a:t> de Marseille, 18 BP 720 Abidjan 18, Tel.: (225) 21005660 / 21001906 – Email: info@infas.ci – site web: www.infas.ci</a:t>
            </a:r>
          </a:p>
        </p:txBody>
      </p:sp>
      <p:sp>
        <p:nvSpPr>
          <p:cNvPr id="8" name="ZoneTexte 7"/>
          <p:cNvSpPr txBox="1"/>
          <p:nvPr userDrawn="1"/>
        </p:nvSpPr>
        <p:spPr>
          <a:xfrm>
            <a:off x="0" y="6274189"/>
            <a:ext cx="12192000" cy="307777"/>
          </a:xfrm>
          <a:prstGeom prst="rect">
            <a:avLst/>
          </a:prstGeom>
          <a:solidFill>
            <a:srgbClr val="EC7320"/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400" dirty="0">
                <a:solidFill>
                  <a:schemeClr val="bg1"/>
                </a:solidFill>
                <a:latin typeface="Arial Black" pitchFamily="34" charset="0"/>
              </a:rPr>
              <a:t>INSTITUT NATIONAL DE FORMATION DES AGENTS DE SANTE - INFAS </a:t>
            </a:r>
          </a:p>
        </p:txBody>
      </p:sp>
      <p:pic>
        <p:nvPicPr>
          <p:cNvPr id="9" name="Image 8" descr="b"/>
          <p:cNvPicPr/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4068" y="20791"/>
            <a:ext cx="928467" cy="88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Image 9" descr="Résultat de recherche d'images pour &quot;logo mshp&quot;"/>
          <p:cNvPicPr/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1029070" y="33240"/>
            <a:ext cx="1148861" cy="8805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73985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0618" y="4808553"/>
            <a:ext cx="10075070" cy="812800"/>
          </a:xfrm>
        </p:spPr>
        <p:txBody>
          <a:bodyPr>
            <a:normAutofit/>
          </a:bodyPr>
          <a:lstStyle/>
          <a:p>
            <a:r>
              <a:rPr lang="en-US" sz="3200" dirty="0" err="1"/>
              <a:t>Informations</a:t>
            </a:r>
            <a:r>
              <a:rPr lang="en-US" sz="3200" dirty="0"/>
              <a:t> sur les Auteurs (</a:t>
            </a:r>
            <a:r>
              <a:rPr lang="en-US" sz="3200" dirty="0" err="1"/>
              <a:t>Titre</a:t>
            </a:r>
            <a:r>
              <a:rPr lang="en-US" sz="3200" dirty="0"/>
              <a:t>, Nom, </a:t>
            </a:r>
            <a:r>
              <a:rPr lang="en-US" sz="3200"/>
              <a:t>Diplôme</a:t>
            </a:r>
            <a:r>
              <a:rPr lang="en-US" sz="3200" dirty="0"/>
              <a:t> etc.)</a:t>
            </a:r>
          </a:p>
        </p:txBody>
      </p:sp>
      <p:sp>
        <p:nvSpPr>
          <p:cNvPr id="4" name="Titre 5">
            <a:extLst>
              <a:ext uri="{FF2B5EF4-FFF2-40B4-BE49-F238E27FC236}">
                <a16:creationId xmlns:a16="http://schemas.microsoft.com/office/drawing/2014/main" id="{CE5792DB-C530-45D2-B903-0EEB26F09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643047"/>
            <a:ext cx="9143999" cy="2357454"/>
          </a:xfrm>
          <a:solidFill>
            <a:srgbClr val="D9D9D9"/>
          </a:solidFill>
          <a:ln w="76200" cap="flat">
            <a:solidFill>
              <a:schemeClr val="accent1"/>
            </a:solidFill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>
            <a:normAutofit fontScale="90000"/>
          </a:bodyPr>
          <a:lstStyle/>
          <a:p>
            <a:br>
              <a:rPr lang="fr-FR" altLang="fr-FR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</a:br>
            <a:r>
              <a:rPr lang="fr-FR" altLang="fr-FR" sz="4000" b="1" dirty="0">
                <a:solidFill>
                  <a:srgbClr val="FF0000"/>
                </a:solidFill>
                <a:latin typeface="Arial Black" pitchFamily="34" charset="0"/>
                <a:ea typeface="Arial Black" pitchFamily="34" charset="0"/>
                <a:cs typeface="Arial Black" pitchFamily="34" charset="0"/>
              </a:rPr>
              <a:t>TITRE DU COURS</a:t>
            </a:r>
            <a:r>
              <a:rPr lang="fr-FR" altLang="fr-FR" sz="3100" b="1" dirty="0">
                <a:solidFill>
                  <a:srgbClr val="FF0000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  <a:t> </a:t>
            </a:r>
            <a:br>
              <a:rPr lang="fr-FR" altLang="fr-FR" sz="3100" b="1" dirty="0">
                <a:solidFill>
                  <a:srgbClr val="FF0000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</a:br>
            <a:br>
              <a:rPr lang="fr-FR" altLang="fr-FR" sz="3100" b="1" dirty="0">
                <a:solidFill>
                  <a:srgbClr val="FF0000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</a:br>
            <a:r>
              <a:rPr lang="fr-FR" altLang="fr-FR" sz="3100" b="1" dirty="0">
                <a:solidFill>
                  <a:srgbClr val="000000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  <a:t>Filière, Année d’étude, Semestre etc.</a:t>
            </a:r>
            <a:br>
              <a:rPr lang="fr-FR" altLang="fr-FR" sz="3100" b="1" dirty="0">
                <a:solidFill>
                  <a:srgbClr val="FFFFFF"/>
                </a:solidFill>
                <a:latin typeface="Comic Sans MS" panose="030F0702030302020204" pitchFamily="66" charset="0"/>
                <a:ea typeface="Arial Black" pitchFamily="34" charset="0"/>
                <a:cs typeface="Arial Black" pitchFamily="34" charset="0"/>
              </a:rPr>
            </a:br>
            <a:endParaRPr lang="fr-FR" altLang="fr-FR" sz="3100" b="1" dirty="0">
              <a:solidFill>
                <a:srgbClr val="FFFFFF"/>
              </a:solidFill>
              <a:latin typeface="Comic Sans MS" panose="030F0702030302020204" pitchFamily="66" charset="0"/>
              <a:ea typeface="Arial Black" pitchFamily="34" charset="0"/>
              <a:cs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963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2184" y="0"/>
            <a:ext cx="11470216" cy="2391507"/>
          </a:xfrm>
        </p:spPr>
        <p:txBody>
          <a:bodyPr>
            <a:normAutofit fontScale="90000"/>
          </a:bodyPr>
          <a:lstStyle/>
          <a:p>
            <a:pPr algn="ctr"/>
            <a:br>
              <a:rPr lang="fr-FR" sz="4400" dirty="0"/>
            </a:br>
            <a:r>
              <a:rPr lang="fr-FR" sz="4400" dirty="0"/>
              <a:t>TRAITEMENT </a:t>
            </a:r>
            <a:br>
              <a:rPr lang="fr-FR" sz="4400" dirty="0"/>
            </a:br>
            <a:r>
              <a:rPr lang="fr-FR" sz="4400" dirty="0"/>
              <a:t>ANTIRETROVIRAL </a:t>
            </a:r>
            <a:br>
              <a:rPr lang="fr-FR" sz="4400" dirty="0"/>
            </a:br>
            <a:r>
              <a:rPr lang="fr-FR" sz="4400" dirty="0"/>
              <a:t>(L2)</a:t>
            </a:r>
            <a:r>
              <a:rPr lang="fr-FR" sz="3200" dirty="0"/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2446215"/>
            <a:ext cx="10515600" cy="3055816"/>
          </a:xfrm>
        </p:spPr>
        <p:txBody>
          <a:bodyPr>
            <a:normAutofit fontScale="92500" lnSpcReduction="20000"/>
          </a:bodyPr>
          <a:lstStyle/>
          <a:p>
            <a:endParaRPr lang="fr-FR" dirty="0"/>
          </a:p>
          <a:p>
            <a:endParaRPr lang="fr-FR" dirty="0"/>
          </a:p>
          <a:p>
            <a:r>
              <a:rPr lang="fr-FR" dirty="0"/>
              <a:t>PRESENTE PAR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DUREE: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0E3417-B6EA-468F-81B1-12E367DE55E5}" type="slidenum">
              <a:rPr lang="fr-FR" altLang="fr-FR" smtClean="0">
                <a:solidFill>
                  <a:srgbClr val="FFFFFF"/>
                </a:solidFill>
              </a:rPr>
              <a:pPr>
                <a:defRPr/>
              </a:pPr>
              <a:t>2</a:t>
            </a:fld>
            <a:endParaRPr lang="fr-FR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071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4400" dirty="0"/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353" y="2362201"/>
            <a:ext cx="11017616" cy="3724275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Chapitre 1: Introduction et directives du TARV;</a:t>
            </a:r>
          </a:p>
          <a:p>
            <a:pPr marL="0" indent="0">
              <a:buNone/>
            </a:pPr>
            <a:r>
              <a:rPr lang="fr-FR" b="1" dirty="0"/>
              <a:t>Chapitre 2: Présentation des molécules ARV;</a:t>
            </a:r>
          </a:p>
          <a:p>
            <a:pPr marL="0" indent="0">
              <a:buNone/>
            </a:pPr>
            <a:r>
              <a:rPr lang="fr-FR" b="1" dirty="0"/>
              <a:t>Chapitre 3: Interactions alimentaires et médicamenteuses;</a:t>
            </a:r>
          </a:p>
          <a:p>
            <a:pPr marL="0" indent="0">
              <a:buNone/>
            </a:pPr>
            <a:r>
              <a:rPr lang="fr-FR" b="1" dirty="0"/>
              <a:t>Chapitre 4: Modalités thérapeutiques;</a:t>
            </a:r>
          </a:p>
          <a:p>
            <a:pPr marL="0" indent="0">
              <a:buNone/>
            </a:pPr>
            <a:r>
              <a:rPr lang="fr-FR" b="1" dirty="0"/>
              <a:t>Chapitre 5: Suivi du TARV;</a:t>
            </a:r>
          </a:p>
          <a:p>
            <a:pPr marL="0" indent="0">
              <a:buNone/>
            </a:pPr>
            <a:r>
              <a:rPr lang="fr-FR" b="1" dirty="0"/>
              <a:t>Chapitre 6: Santé Positive, Dignité et Prévention.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0E3417-B6EA-468F-81B1-12E367DE55E5}" type="slidenum">
              <a:rPr lang="fr-FR" altLang="fr-FR" smtClean="0">
                <a:solidFill>
                  <a:srgbClr val="FFFFFF"/>
                </a:solidFill>
              </a:rPr>
              <a:pPr>
                <a:defRPr/>
              </a:pPr>
              <a:t>3</a:t>
            </a:fld>
            <a:endParaRPr lang="fr-FR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322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fr-FR" altLang="fr-FR" sz="4400" dirty="0"/>
              <a:t>CHAPITRE 1:</a:t>
            </a:r>
            <a:br>
              <a:rPr lang="fr-FR" altLang="fr-FR" sz="4400" dirty="0"/>
            </a:br>
            <a:r>
              <a:rPr lang="fr-FR" altLang="fr-FR" sz="4400" dirty="0"/>
              <a:t> INTRODUCTION ET DIRECTIVES DU TARV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>
          <a:xfrm>
            <a:off x="101601" y="6248400"/>
            <a:ext cx="783167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marL="0" algn="l" defTabSz="914400" rtl="0" eaLnBrk="1" latinLnBrk="0" hangingPunct="1">
              <a:defRPr sz="26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9007F3EC-3EF6-4DDA-8851-975F937E3CE3}" type="slidenum">
              <a:rPr lang="fr-FR" altLang="fr-FR" smtClean="0">
                <a:solidFill>
                  <a:srgbClr val="FFFFFF"/>
                </a:solidFill>
              </a:rPr>
              <a:pPr>
                <a:defRPr/>
              </a:pPr>
              <a:t>4</a:t>
            </a:fld>
            <a:endParaRPr lang="fr-FR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33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OBJECTIF  GENERAL</a:t>
            </a:r>
            <a:br>
              <a:rPr lang="fr-FR" dirty="0"/>
            </a:br>
            <a:endParaRPr lang="fr-FR" alt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33341" y="2362201"/>
            <a:ext cx="10959921" cy="4368799"/>
          </a:xfrm>
        </p:spPr>
        <p:txBody>
          <a:bodyPr/>
          <a:lstStyle/>
          <a:p>
            <a:r>
              <a:rPr lang="fr-FR" sz="3200" dirty="0"/>
              <a:t>A la fin du chapitre, l’étudiant sera en mesure de décrire les principes directeurs du traitement antirétroviral</a:t>
            </a:r>
          </a:p>
          <a:p>
            <a:pPr marL="0" indent="0">
              <a:buNone/>
              <a:defRPr/>
            </a:pPr>
            <a:endParaRPr lang="fr-FR" sz="3200" dirty="0"/>
          </a:p>
          <a:p>
            <a:pPr marL="0" indent="0">
              <a:buNone/>
              <a:defRPr/>
            </a:pPr>
            <a:endParaRPr lang="fr-FR" dirty="0"/>
          </a:p>
        </p:txBody>
      </p:sp>
      <p:sp>
        <p:nvSpPr>
          <p:cNvPr id="43725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4DB634-2BAC-49AE-B0AB-5DA9FA4954E2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20836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dirty="0"/>
              <a:t>OBJECTIFS SPECIFIQUES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33341" y="2362201"/>
            <a:ext cx="10959921" cy="4368799"/>
          </a:xfrm>
        </p:spPr>
        <p:txBody>
          <a:bodyPr/>
          <a:lstStyle/>
          <a:p>
            <a:pPr>
              <a:buNone/>
            </a:pPr>
            <a:r>
              <a:rPr lang="fr-FR" sz="3200" dirty="0"/>
              <a:t>A la fin du chapitre, l’étudiant sera en mesure de : </a:t>
            </a:r>
          </a:p>
          <a:p>
            <a:pPr>
              <a:buNone/>
            </a:pPr>
            <a:r>
              <a:rPr lang="fr-FR" sz="3200" dirty="0"/>
              <a:t>1. Définir un traitement antirétroviral hautement actif (HAART);</a:t>
            </a:r>
          </a:p>
          <a:p>
            <a:pPr>
              <a:buNone/>
            </a:pPr>
            <a:r>
              <a:rPr lang="fr-FR" sz="3200" dirty="0"/>
              <a:t>2. Expliquer l’intérêt du TARV;</a:t>
            </a:r>
          </a:p>
          <a:p>
            <a:pPr>
              <a:buNone/>
            </a:pPr>
            <a:r>
              <a:rPr lang="fr-FR" sz="3200" dirty="0"/>
              <a:t>3. Décrire les principes de base du TARV.</a:t>
            </a:r>
          </a:p>
          <a:p>
            <a:pPr marL="0" indent="0">
              <a:buNone/>
              <a:defRPr/>
            </a:pPr>
            <a:endParaRPr lang="fr-FR" sz="3200" dirty="0"/>
          </a:p>
          <a:p>
            <a:pPr>
              <a:defRPr/>
            </a:pPr>
            <a:endParaRPr lang="fr-FR" dirty="0"/>
          </a:p>
        </p:txBody>
      </p:sp>
      <p:sp>
        <p:nvSpPr>
          <p:cNvPr id="437252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74DB634-2BAC-49AE-B0AB-5DA9FA4954E2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795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2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 sz="4400" dirty="0"/>
              <a:t>PLAN</a:t>
            </a:r>
          </a:p>
        </p:txBody>
      </p:sp>
      <p:sp>
        <p:nvSpPr>
          <p:cNvPr id="438275" name="Espace réservé du contenu 2"/>
          <p:cNvSpPr>
            <a:spLocks noGrp="1"/>
          </p:cNvSpPr>
          <p:nvPr>
            <p:ph idx="1"/>
          </p:nvPr>
        </p:nvSpPr>
        <p:spPr>
          <a:xfrm>
            <a:off x="1117601" y="2362201"/>
            <a:ext cx="10949903" cy="4218903"/>
          </a:xfrm>
        </p:spPr>
        <p:txBody>
          <a:bodyPr/>
          <a:lstStyle/>
          <a:p>
            <a:pPr marL="514350" indent="-514350">
              <a:buAutoNum type="arabicPeriod"/>
            </a:pPr>
            <a:endParaRPr lang="fr-FR" altLang="fr-FR" sz="3200" b="1" dirty="0"/>
          </a:p>
          <a:p>
            <a:pPr marL="514350" indent="-514350">
              <a:buAutoNum type="arabicPeriod"/>
            </a:pPr>
            <a:r>
              <a:rPr lang="fr-FR" altLang="fr-FR" sz="3200" b="1" dirty="0"/>
              <a:t>Traitement antirétroviral hautement actif (HAART)</a:t>
            </a:r>
          </a:p>
          <a:p>
            <a:pPr marL="514350" indent="-514350">
              <a:buAutoNum type="arabicPeriod"/>
            </a:pPr>
            <a:r>
              <a:rPr lang="fr-FR" altLang="fr-FR" sz="3200" b="1" dirty="0"/>
              <a:t>Intérêts du TARV</a:t>
            </a:r>
          </a:p>
          <a:p>
            <a:pPr marL="514350" indent="-514350">
              <a:buAutoNum type="arabicPeriod"/>
            </a:pPr>
            <a:r>
              <a:rPr lang="fr-FR" altLang="fr-FR" sz="3200" b="1" dirty="0"/>
              <a:t> Principes de base du TARV</a:t>
            </a:r>
            <a:endParaRPr lang="fr-FR" altLang="fr-FR" sz="3200" dirty="0"/>
          </a:p>
          <a:p>
            <a:pPr marL="514350" indent="-514350">
              <a:buNone/>
            </a:pPr>
            <a:r>
              <a:rPr lang="fr-FR" altLang="fr-FR" sz="3200" b="1" dirty="0"/>
              <a:t>  </a:t>
            </a:r>
            <a:endParaRPr lang="fr-FR" altLang="fr-FR" sz="3200" dirty="0"/>
          </a:p>
        </p:txBody>
      </p:sp>
      <p:sp>
        <p:nvSpPr>
          <p:cNvPr id="438276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C352FF6-CCFF-422F-8997-ED06D9836F9D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220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Titre 1"/>
          <p:cNvSpPr>
            <a:spLocks noGrp="1"/>
          </p:cNvSpPr>
          <p:nvPr>
            <p:ph type="title"/>
          </p:nvPr>
        </p:nvSpPr>
        <p:spPr>
          <a:xfrm>
            <a:off x="1578708" y="0"/>
            <a:ext cx="9018954" cy="991137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fr-FR" altLang="fr-FR" sz="2800" dirty="0"/>
            </a:br>
            <a:r>
              <a:rPr lang="fr-FR" alt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  DU TRAITEMENT</a:t>
            </a:r>
            <a:br>
              <a:rPr lang="fr-FR" alt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alt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ANTIRETROVIRAL HAUTEMENT ACTIF</a:t>
            </a:r>
          </a:p>
        </p:txBody>
      </p:sp>
      <p:sp>
        <p:nvSpPr>
          <p:cNvPr id="439299" name="Espace réservé du contenu 2"/>
          <p:cNvSpPr>
            <a:spLocks noGrp="1"/>
          </p:cNvSpPr>
          <p:nvPr>
            <p:ph idx="1"/>
          </p:nvPr>
        </p:nvSpPr>
        <p:spPr>
          <a:xfrm>
            <a:off x="562708" y="1700349"/>
            <a:ext cx="10933724" cy="4622298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fr-FR" altLang="fr-FR" sz="3600" dirty="0"/>
              <a:t>Le Traitement Antirétroviral Hautement Actif (HAART): </a:t>
            </a:r>
          </a:p>
          <a:p>
            <a:pPr marL="0" indent="0">
              <a:buNone/>
            </a:pPr>
            <a:r>
              <a:rPr lang="fr-FR" altLang="fr-FR" sz="3600" dirty="0"/>
              <a:t>(High Active </a:t>
            </a:r>
            <a:r>
              <a:rPr lang="fr-FR" altLang="fr-FR" sz="3600" dirty="0" err="1"/>
              <a:t>AntiRetroviral</a:t>
            </a:r>
            <a:r>
              <a:rPr lang="fr-FR" altLang="fr-FR" sz="3600" dirty="0"/>
              <a:t> </a:t>
            </a:r>
            <a:r>
              <a:rPr lang="fr-FR" altLang="fr-FR" sz="3600" dirty="0" err="1"/>
              <a:t>Therapy</a:t>
            </a:r>
            <a:r>
              <a:rPr lang="fr-FR" altLang="fr-FR" sz="3600" dirty="0"/>
              <a:t>)</a:t>
            </a:r>
          </a:p>
          <a:p>
            <a:pPr lvl="1"/>
            <a:r>
              <a:rPr lang="fr-FR" sz="3600" dirty="0"/>
              <a:t> traitement de l’infection à VIH par les antirétroviraux (ARV). </a:t>
            </a:r>
          </a:p>
          <a:p>
            <a:pPr marL="457200" lvl="1" indent="0">
              <a:buNone/>
            </a:pPr>
            <a:endParaRPr lang="fr-FR" sz="3600" dirty="0"/>
          </a:p>
          <a:p>
            <a:pPr lvl="1"/>
            <a:r>
              <a:rPr lang="fr-FR" sz="3600" dirty="0"/>
              <a:t> association efficace de trois médicaments ou plus, appartenant en général à au moins deux classes différentes.</a:t>
            </a:r>
          </a:p>
          <a:p>
            <a:pPr lvl="1"/>
            <a:endParaRPr lang="fr-FR" sz="3600" dirty="0"/>
          </a:p>
          <a:p>
            <a:pPr lvl="1"/>
            <a:endParaRPr lang="fr-FR" altLang="fr-FR" sz="3200" b="1" dirty="0"/>
          </a:p>
        </p:txBody>
      </p:sp>
      <p:sp>
        <p:nvSpPr>
          <p:cNvPr id="43930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81676-A91E-4CCB-84C2-406082DF095B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48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Titre 1"/>
          <p:cNvSpPr>
            <a:spLocks noGrp="1"/>
          </p:cNvSpPr>
          <p:nvPr>
            <p:ph type="title"/>
          </p:nvPr>
        </p:nvSpPr>
        <p:spPr>
          <a:xfrm>
            <a:off x="2164863" y="182162"/>
            <a:ext cx="7971692" cy="991137"/>
          </a:xfrm>
        </p:spPr>
        <p:txBody>
          <a:bodyPr anchor="ctr">
            <a:normAutofit/>
          </a:bodyPr>
          <a:lstStyle/>
          <a:p>
            <a:pPr algn="ctr"/>
            <a:r>
              <a:rPr lang="en-US" altLang="fr-FR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INTÉRÊT DU TARV</a:t>
            </a:r>
            <a:r>
              <a:rPr lang="fr-FR" altLang="fr-FR" sz="4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39299" name="Espace réservé du contenu 2"/>
          <p:cNvSpPr>
            <a:spLocks noGrp="1"/>
          </p:cNvSpPr>
          <p:nvPr>
            <p:ph idx="1"/>
          </p:nvPr>
        </p:nvSpPr>
        <p:spPr>
          <a:xfrm>
            <a:off x="375139" y="1154973"/>
            <a:ext cx="11285416" cy="5011365"/>
          </a:xfrm>
        </p:spPr>
        <p:txBody>
          <a:bodyPr>
            <a:normAutofit lnSpcReduction="10000"/>
          </a:bodyPr>
          <a:lstStyle/>
          <a:p>
            <a:pPr lvl="0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La suppression ou une réduction forte et prolongée de la réplication virale (charge virale ou CV);</a:t>
            </a:r>
          </a:p>
          <a:p>
            <a:pPr lvl="0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La restauration et l’amélioration de la fonction immunitaire; </a:t>
            </a:r>
          </a:p>
          <a:p>
            <a:pPr lvl="0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 L’amélioration de la qualité de vie; </a:t>
            </a:r>
          </a:p>
          <a:p>
            <a:pPr lvl="0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La réduction du nombre de maladies opportunistes, d’hospitalisations, de décès liés au VIH et l’amélioration de l’espérance de vie; </a:t>
            </a:r>
          </a:p>
          <a:p>
            <a:pPr lvl="0"/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La réduction du nombre de nouvelles contaminations. </a:t>
            </a:r>
          </a:p>
          <a:p>
            <a:pPr lvl="1"/>
            <a:endParaRPr lang="fr-FR" altLang="fr-FR" b="1" dirty="0"/>
          </a:p>
        </p:txBody>
      </p:sp>
      <p:sp>
        <p:nvSpPr>
          <p:cNvPr id="43930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81676-A91E-4CCB-84C2-406082DF095B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28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PRINCIPES DE BASE DU TARV (1/5)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8528" y="1742935"/>
            <a:ext cx="10257367" cy="456798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fr-FR" sz="3200" dirty="0"/>
              <a:t>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Préparer le patient au traitement;</a:t>
            </a:r>
          </a:p>
          <a:p>
            <a:pPr>
              <a:lnSpc>
                <a:spcPct val="120000"/>
              </a:lnSpc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Associer les médicaments antirétroviraux;</a:t>
            </a:r>
          </a:p>
          <a:p>
            <a:pPr>
              <a:lnSpc>
                <a:spcPct val="120000"/>
              </a:lnSpc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Aider le patient à l’observance du TARV; </a:t>
            </a:r>
          </a:p>
          <a:p>
            <a:pPr>
              <a:lnSpc>
                <a:spcPct val="120000"/>
              </a:lnSpc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Prévenir les échecs thérapeutiques et repousser la résistance dans le temps.</a:t>
            </a:r>
          </a:p>
          <a:p>
            <a:pPr>
              <a:lnSpc>
                <a:spcPct val="120000"/>
              </a:lnSpc>
            </a:pPr>
            <a:endParaRPr lang="fr-FR" sz="3200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0E3417-B6EA-468F-81B1-12E367DE55E5}" type="slidenum">
              <a:rPr lang="fr-FR" altLang="fr-FR" smtClean="0">
                <a:solidFill>
                  <a:srgbClr val="FFFFFF"/>
                </a:solidFill>
              </a:rPr>
              <a:pPr>
                <a:defRPr/>
              </a:pPr>
              <a:t>10</a:t>
            </a:fld>
            <a:endParaRPr lang="fr-FR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577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Titre 1"/>
          <p:cNvSpPr>
            <a:spLocks noGrp="1"/>
          </p:cNvSpPr>
          <p:nvPr>
            <p:ph type="title"/>
          </p:nvPr>
        </p:nvSpPr>
        <p:spPr>
          <a:xfrm>
            <a:off x="1609970" y="174499"/>
            <a:ext cx="9222154" cy="991137"/>
          </a:xfrm>
        </p:spPr>
        <p:txBody>
          <a:bodyPr anchor="ctr">
            <a:normAutofit fontScale="90000"/>
          </a:bodyPr>
          <a:lstStyle/>
          <a:p>
            <a:pPr lvl="0" algn="ctr"/>
            <a:br>
              <a:rPr lang="fr-FR" altLang="fr-FR" sz="2800" dirty="0"/>
            </a:br>
            <a:r>
              <a:rPr lang="fr-FR" alt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Préparer le patient au traitement (2/5)</a:t>
            </a:r>
            <a:br>
              <a:rPr 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altLang="fr-FR" sz="4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9299" name="Espace réservé du contenu 2"/>
          <p:cNvSpPr>
            <a:spLocks noGrp="1"/>
          </p:cNvSpPr>
          <p:nvPr>
            <p:ph idx="1"/>
          </p:nvPr>
        </p:nvSpPr>
        <p:spPr>
          <a:xfrm>
            <a:off x="786208" y="1165636"/>
            <a:ext cx="11218223" cy="4914733"/>
          </a:xfrm>
        </p:spPr>
        <p:txBody>
          <a:bodyPr>
            <a:normAutofit/>
          </a:bodyPr>
          <a:lstStyle/>
          <a:p>
            <a:pPr marL="457200" lvl="1" indent="0" algn="just" eaLnBrk="1" hangingPunct="1">
              <a:buNone/>
            </a:pPr>
            <a:r>
              <a:rPr lang="fr-FR" altLang="fr-FR" sz="3200" dirty="0"/>
              <a:t>- </a:t>
            </a:r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Mettre en place un partenariat client/prestataire;</a:t>
            </a:r>
          </a:p>
          <a:p>
            <a:pPr marL="457200" lvl="1" indent="0" eaLnBrk="1" hangingPunct="1">
              <a:buNone/>
            </a:pPr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- Prendre en compte les préoccupations et les priorités;</a:t>
            </a:r>
          </a:p>
          <a:p>
            <a:pPr marL="457200" lvl="1" indent="0" eaLnBrk="1" hangingPunct="1">
              <a:buNone/>
            </a:pPr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- Utiliser les 5 principes fondamentaux </a:t>
            </a:r>
            <a:r>
              <a:rPr lang="fr-FR" altLang="fr-FR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(5A):</a:t>
            </a:r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 Apprécier, Aviser, s’Accorder, Assister, Arranger;</a:t>
            </a:r>
          </a:p>
          <a:p>
            <a:pPr lvl="1" eaLnBrk="1" hangingPunct="1">
              <a:buFontTx/>
              <a:buChar char="-"/>
            </a:pPr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Faire comprendre au patient l’importance d’une bonne observance;</a:t>
            </a:r>
          </a:p>
          <a:p>
            <a:pPr lvl="1" eaLnBrk="1" hangingPunct="1">
              <a:buFontTx/>
              <a:buChar char="-"/>
            </a:pPr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Faire savoir au patient que le traitement ARV est un traitement de longue durée ou à vie.</a:t>
            </a:r>
          </a:p>
          <a:p>
            <a:pPr>
              <a:buNone/>
            </a:pPr>
            <a:endParaRPr lang="fr-FR" alt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sz="2800" dirty="0"/>
          </a:p>
          <a:p>
            <a:pPr lvl="1"/>
            <a:endParaRPr lang="fr-FR" altLang="fr-FR" b="1" dirty="0"/>
          </a:p>
        </p:txBody>
      </p:sp>
      <p:sp>
        <p:nvSpPr>
          <p:cNvPr id="43930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81676-A91E-4CCB-84C2-406082DF095B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94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Titre 1"/>
          <p:cNvSpPr>
            <a:spLocks noGrp="1"/>
          </p:cNvSpPr>
          <p:nvPr>
            <p:ph type="title"/>
          </p:nvPr>
        </p:nvSpPr>
        <p:spPr>
          <a:xfrm>
            <a:off x="1760992" y="60606"/>
            <a:ext cx="8143631" cy="991137"/>
          </a:xfrm>
        </p:spPr>
        <p:txBody>
          <a:bodyPr anchor="ctr">
            <a:normAutofit fontScale="90000"/>
          </a:bodyPr>
          <a:lstStyle/>
          <a:p>
            <a:pPr lvl="0" algn="ctr"/>
            <a:r>
              <a:rPr lang="fr-FR" altLang="fr-FR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Associer les médicaments</a:t>
            </a:r>
            <a:br>
              <a:rPr lang="fr-FR" altLang="fr-FR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altLang="fr-FR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antirétroviraux (3/5</a:t>
            </a:r>
            <a:r>
              <a:rPr lang="fr-FR" altLang="fr-FR" dirty="0"/>
              <a:t>)</a:t>
            </a:r>
          </a:p>
        </p:txBody>
      </p:sp>
      <p:sp>
        <p:nvSpPr>
          <p:cNvPr id="439299" name="Espace réservé du contenu 2"/>
          <p:cNvSpPr>
            <a:spLocks noGrp="1"/>
          </p:cNvSpPr>
          <p:nvPr>
            <p:ph idx="1"/>
          </p:nvPr>
        </p:nvSpPr>
        <p:spPr>
          <a:xfrm>
            <a:off x="241508" y="1154974"/>
            <a:ext cx="11645692" cy="498791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Utiliser une association d'au moins trois médicaments appartenant soit à la même classe soit à des classes thérapeutiques différentes;</a:t>
            </a:r>
          </a:p>
          <a:p>
            <a:pPr eaLnBrk="1" hangingPunct="1"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Adapter au type de VIH, à l’état clinique et au mode de vie du patient;</a:t>
            </a:r>
          </a:p>
          <a:p>
            <a:pPr eaLnBrk="1" hangingPunct="1"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Suivi clinique (Poids, T°, TA, IMC, PB, </a:t>
            </a:r>
            <a:r>
              <a:rPr lang="fr-FR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Taille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(enfant), PC, Indice de </a:t>
            </a:r>
            <a:r>
              <a:rPr lang="fr-FR" sz="3600" dirty="0" err="1">
                <a:latin typeface="Arial" panose="020B0604020202020204" pitchFamily="34" charset="0"/>
                <a:cs typeface="Arial" panose="020B0604020202020204" pitchFamily="34" charset="0"/>
              </a:rPr>
              <a:t>Karnofsky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, Ios ) et biologique (NFS, CD4, Glycémie, </a:t>
            </a:r>
            <a:r>
              <a:rPr lang="fr-FR" sz="3600" dirty="0" err="1">
                <a:latin typeface="Arial" panose="020B0604020202020204" pitchFamily="34" charset="0"/>
                <a:cs typeface="Arial" panose="020B0604020202020204" pitchFamily="34" charset="0"/>
              </a:rPr>
              <a:t>Transa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3600" dirty="0" err="1">
                <a:latin typeface="Arial" panose="020B0604020202020204" pitchFamily="34" charset="0"/>
                <a:cs typeface="Arial" panose="020B0604020202020204" pitchFamily="34" charset="0"/>
              </a:rPr>
              <a:t>Créat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 et CV)  pour apprécier l’efficacité et la tolérance. </a:t>
            </a:r>
            <a:endParaRPr lang="fr-FR" alt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eaLnBrk="1" hangingPunct="1">
              <a:buNone/>
            </a:pPr>
            <a:r>
              <a:rPr lang="fr-FR" alt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0" indent="0">
              <a:buNone/>
            </a:pPr>
            <a:r>
              <a:rPr lang="fr-FR" altLang="fr-FR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NB</a:t>
            </a:r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/ Taille, PB, PC chez les enfants,</a:t>
            </a:r>
          </a:p>
          <a:p>
            <a:pPr marL="0" indent="0">
              <a:buNone/>
            </a:pPr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        PB chez les femmes enceintes</a:t>
            </a:r>
          </a:p>
          <a:p>
            <a:pPr lvl="1"/>
            <a:endParaRPr lang="fr-FR" sz="2800" dirty="0"/>
          </a:p>
          <a:p>
            <a:pPr lvl="1"/>
            <a:endParaRPr lang="fr-FR" altLang="fr-FR" b="1" dirty="0"/>
          </a:p>
        </p:txBody>
      </p:sp>
      <p:sp>
        <p:nvSpPr>
          <p:cNvPr id="43930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81676-A91E-4CCB-84C2-406082DF095B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04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Titre 1"/>
          <p:cNvSpPr>
            <a:spLocks noGrp="1"/>
          </p:cNvSpPr>
          <p:nvPr>
            <p:ph type="title"/>
          </p:nvPr>
        </p:nvSpPr>
        <p:spPr>
          <a:xfrm>
            <a:off x="1423283" y="1"/>
            <a:ext cx="10216072" cy="866692"/>
          </a:xfrm>
        </p:spPr>
        <p:txBody>
          <a:bodyPr anchor="ctr">
            <a:noAutofit/>
          </a:bodyPr>
          <a:lstStyle/>
          <a:p>
            <a:pPr marL="609600" indent="-609600" eaLnBrk="1" hangingPunct="1"/>
            <a:r>
              <a:rPr lang="fr-FR" altLang="fr-FR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Aider le patient à l’observance du TARV (4/5) </a:t>
            </a:r>
          </a:p>
        </p:txBody>
      </p:sp>
      <p:sp>
        <p:nvSpPr>
          <p:cNvPr id="439299" name="Espace réservé du contenu 2"/>
          <p:cNvSpPr>
            <a:spLocks noGrp="1"/>
          </p:cNvSpPr>
          <p:nvPr>
            <p:ph idx="1"/>
          </p:nvPr>
        </p:nvSpPr>
        <p:spPr>
          <a:xfrm>
            <a:off x="804316" y="1204715"/>
            <a:ext cx="11045779" cy="5068864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fr-FR" sz="2200" dirty="0"/>
              <a:t> - </a:t>
            </a: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Respecter les doses prescrites, les horaires de prises et les restrictions alimentaires;</a:t>
            </a:r>
          </a:p>
          <a:p>
            <a:pPr eaLnBrk="1" hangingPunct="1"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Gérer les EI(effets indésirables) des ARV;</a:t>
            </a:r>
          </a:p>
          <a:p>
            <a:pPr eaLnBrk="1" hangingPunct="1"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Renouveler les stocks à temps (Respecter les RDV de suivi);</a:t>
            </a:r>
          </a:p>
          <a:p>
            <a:pPr eaLnBrk="1" hangingPunct="1"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Faire savoir qu’il doit avoir une ou plusieurs personnes de soutien;</a:t>
            </a:r>
          </a:p>
          <a:p>
            <a:pPr eaLnBrk="1" hangingPunct="1"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Savoir que c’est un traitement à vie. </a:t>
            </a:r>
            <a:r>
              <a:rPr lang="fr-FR" altLang="fr-FR" sz="3600" b="1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endParaRPr lang="fr-FR" altLang="fr-FR" sz="3200" dirty="0"/>
          </a:p>
          <a:p>
            <a:pPr marL="457200" lvl="1" indent="0">
              <a:buNone/>
            </a:pPr>
            <a:endParaRPr lang="fr-FR" sz="2800" dirty="0"/>
          </a:p>
          <a:p>
            <a:pPr lvl="1"/>
            <a:endParaRPr lang="fr-FR" altLang="fr-FR" b="1" dirty="0"/>
          </a:p>
        </p:txBody>
      </p:sp>
      <p:sp>
        <p:nvSpPr>
          <p:cNvPr id="43930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81676-A91E-4CCB-84C2-406082DF095B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290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298" name="Titre 1"/>
          <p:cNvSpPr>
            <a:spLocks noGrp="1"/>
          </p:cNvSpPr>
          <p:nvPr>
            <p:ph type="title"/>
          </p:nvPr>
        </p:nvSpPr>
        <p:spPr>
          <a:xfrm>
            <a:off x="869794" y="318054"/>
            <a:ext cx="10817269" cy="1876507"/>
          </a:xfrm>
        </p:spPr>
        <p:txBody>
          <a:bodyPr anchor="ctr">
            <a:normAutofit fontScale="90000"/>
          </a:bodyPr>
          <a:lstStyle/>
          <a:p>
            <a:pPr algn="ctr"/>
            <a:br>
              <a:rPr lang="fr-FR" altLang="fr-FR" sz="2800" dirty="0"/>
            </a:br>
            <a:br>
              <a:rPr lang="fr-FR" altLang="fr-FR" sz="2800" dirty="0"/>
            </a:br>
            <a:r>
              <a:rPr 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Prévenir les échecs thérapeutiques</a:t>
            </a:r>
            <a:br>
              <a:rPr 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repousser la résistance dans le temps (5/5)</a:t>
            </a:r>
            <a:br>
              <a:rPr 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fr-FR" sz="4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altLang="fr-FR" sz="4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9299" name="Espace réservé du contenu 2"/>
          <p:cNvSpPr>
            <a:spLocks noGrp="1"/>
          </p:cNvSpPr>
          <p:nvPr>
            <p:ph idx="1"/>
          </p:nvPr>
        </p:nvSpPr>
        <p:spPr>
          <a:xfrm>
            <a:off x="1146221" y="2035534"/>
            <a:ext cx="11045779" cy="4102873"/>
          </a:xfrm>
        </p:spPr>
        <p:txBody>
          <a:bodyPr/>
          <a:lstStyle/>
          <a:p>
            <a:pPr marL="0" indent="0" algn="just" eaLnBrk="1" hangingPunct="1">
              <a:buNone/>
            </a:pPr>
            <a:endParaRPr lang="fr-FR" altLang="fr-FR" b="1" dirty="0"/>
          </a:p>
          <a:p>
            <a:pPr lvl="1"/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Choisir le bon schéma de traitement;</a:t>
            </a:r>
          </a:p>
          <a:p>
            <a:pPr lvl="1"/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 Respecter le calendrier de suivi;</a:t>
            </a:r>
          </a:p>
          <a:p>
            <a:pPr lvl="1"/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 Obtenir une bonne observance du patient;</a:t>
            </a:r>
          </a:p>
          <a:p>
            <a:pPr lvl="1"/>
            <a:r>
              <a:rPr lang="fr-FR" altLang="fr-FR" sz="3600" dirty="0">
                <a:latin typeface="Arial" panose="020B0604020202020204" pitchFamily="34" charset="0"/>
                <a:cs typeface="Arial" panose="020B0604020202020204" pitchFamily="34" charset="0"/>
              </a:rPr>
              <a:t> Eviter de prendre une ou deux molécules sur trois prescrites. </a:t>
            </a:r>
          </a:p>
          <a:p>
            <a:pPr marL="457200" lvl="1" indent="0">
              <a:buNone/>
            </a:pPr>
            <a:endParaRPr lang="fr-FR" altLang="fr-FR" sz="3600" dirty="0"/>
          </a:p>
          <a:p>
            <a:pPr lvl="1"/>
            <a:endParaRPr lang="fr-FR" altLang="fr-FR" sz="2800" dirty="0"/>
          </a:p>
          <a:p>
            <a:pPr lvl="1"/>
            <a:endParaRPr lang="fr-FR" altLang="fr-FR" b="1" dirty="0"/>
          </a:p>
        </p:txBody>
      </p:sp>
      <p:sp>
        <p:nvSpPr>
          <p:cNvPr id="439300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75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8000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5381676-A91E-4CCB-84C2-406082DF095B}" type="slidenum">
              <a:rPr lang="fr-FR" altLang="fr-FR" sz="26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fr-FR" altLang="fr-FR" sz="2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792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73705" y="348606"/>
            <a:ext cx="6817896" cy="815927"/>
          </a:xfrm>
        </p:spPr>
        <p:txBody>
          <a:bodyPr>
            <a:normAutofit/>
          </a:bodyPr>
          <a:lstStyle/>
          <a:p>
            <a:pPr algn="ctr"/>
            <a:r>
              <a:rPr lang="fr-FR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344361"/>
            <a:ext cx="10515600" cy="472757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Traitement ARV possède des limites:</a:t>
            </a:r>
          </a:p>
          <a:p>
            <a:pPr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Activité non virucide;</a:t>
            </a:r>
          </a:p>
          <a:p>
            <a:pPr>
              <a:buFontTx/>
              <a:buChar char="-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Emergence rapide des mutants résistants.</a:t>
            </a:r>
          </a:p>
          <a:p>
            <a:pPr>
              <a:buFontTx/>
              <a:buChar char="-"/>
            </a:pP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Mais ils permettent d’améliorer le pronostic de la maladie et la qualité de vie des patients quand le traitement est initié tôt avec des molécules puissantes et très bien choisies</a:t>
            </a:r>
            <a:r>
              <a:rPr lang="fr-FR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0E3417-B6EA-468F-81B1-12E367DE55E5}" type="slidenum">
              <a:rPr lang="fr-FR" altLang="fr-FR" smtClean="0">
                <a:solidFill>
                  <a:srgbClr val="FFFFFF"/>
                </a:solidFill>
              </a:rPr>
              <a:pPr>
                <a:defRPr/>
              </a:pPr>
              <a:t>15</a:t>
            </a:fld>
            <a:endParaRPr lang="fr-FR" altLang="fr-FR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RECAPITULATIF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60095" y="1801561"/>
            <a:ext cx="8345905" cy="27704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Citer 3 intérêts du TARV</a:t>
            </a:r>
          </a:p>
          <a:p>
            <a:pPr marL="0" indent="0">
              <a:buNone/>
            </a:pPr>
            <a:endParaRPr lang="fr-FR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fr-FR" sz="3600" dirty="0">
                <a:latin typeface="Arial" panose="020B0604020202020204" pitchFamily="34" charset="0"/>
                <a:cs typeface="Arial" panose="020B0604020202020204" pitchFamily="34" charset="0"/>
              </a:rPr>
              <a:t>Citer les principes de bases du TARV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0E3417-B6EA-468F-81B1-12E367DE55E5}" type="slidenum">
              <a:rPr lang="fr-FR" altLang="fr-FR" smtClean="0">
                <a:solidFill>
                  <a:srgbClr val="FFFFFF"/>
                </a:solidFill>
              </a:rPr>
              <a:pPr>
                <a:defRPr/>
              </a:pPr>
              <a:t>16</a:t>
            </a:fld>
            <a:endParaRPr lang="fr-FR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502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235" y="1203150"/>
            <a:ext cx="6837529" cy="3891981"/>
          </a:xfrm>
          <a:prstGeom prst="rect">
            <a:avLst/>
          </a:prstGeom>
        </p:spPr>
      </p:pic>
      <p:pic>
        <p:nvPicPr>
          <p:cNvPr id="5" name="Picture 3" descr="AG00373_"/>
          <p:cNvPicPr>
            <a:picLocks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" y="4256373"/>
            <a:ext cx="2356984" cy="2422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 descr="AG00373_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5015" y="4328134"/>
            <a:ext cx="2356985" cy="23366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631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INFA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149</TotalTime>
  <Words>727</Words>
  <Application>Microsoft Office PowerPoint</Application>
  <PresentationFormat>Grand écran</PresentationFormat>
  <Paragraphs>104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Arial Black</vt:lpstr>
      <vt:lpstr>Comic Sans MS</vt:lpstr>
      <vt:lpstr>Wingdings</vt:lpstr>
      <vt:lpstr>Thème Office</vt:lpstr>
      <vt:lpstr> TITRE DU COURS   Filière, Année d’étude, Semestre etc. </vt:lpstr>
      <vt:lpstr> TRAITEMENT  ANTIRETROVIRAL  (L2) </vt:lpstr>
      <vt:lpstr>PLAN</vt:lpstr>
      <vt:lpstr>CHAPITRE 1:  INTRODUCTION ET DIRECTIVES DU TARV</vt:lpstr>
      <vt:lpstr>OBJECTIF  GENERAL </vt:lpstr>
      <vt:lpstr>OBJECTIFS SPECIFIQUES</vt:lpstr>
      <vt:lpstr>PLAN</vt:lpstr>
      <vt:lpstr> DEFINITION  DU TRAITEMENT  ANTIRETROVIRAL HAUTEMENT ACTIF</vt:lpstr>
      <vt:lpstr>INTÉRÊT DU TARV </vt:lpstr>
      <vt:lpstr>PRINCIPES DE BASE DU TARV (1/5) </vt:lpstr>
      <vt:lpstr> Préparer le patient au traitement (2/5) </vt:lpstr>
      <vt:lpstr>Associer les médicaments  antirétroviraux (3/5)</vt:lpstr>
      <vt:lpstr>Aider le patient à l’observance du TARV (4/5) </vt:lpstr>
      <vt:lpstr>  Prévenir les échecs thérapeutiques  et repousser la résistance dans le temps (5/5)  </vt:lpstr>
      <vt:lpstr>CONCLUSION</vt:lpstr>
      <vt:lpstr>RECAPITULATIF</vt:lpstr>
      <vt:lpstr>Présentation PowerPoint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Maher Fattouh</dc:creator>
  <cp:lastModifiedBy>KOUADIO YEBOUE</cp:lastModifiedBy>
  <cp:revision>18</cp:revision>
  <dcterms:created xsi:type="dcterms:W3CDTF">2018-07-17T00:49:38Z</dcterms:created>
  <dcterms:modified xsi:type="dcterms:W3CDTF">2022-03-03T19:59:34Z</dcterms:modified>
</cp:coreProperties>
</file>