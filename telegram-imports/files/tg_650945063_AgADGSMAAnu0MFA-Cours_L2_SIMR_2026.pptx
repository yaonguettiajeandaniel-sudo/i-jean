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8" r:id="rId2"/>
    <p:sldId id="320" r:id="rId3"/>
    <p:sldId id="319" r:id="rId4"/>
    <p:sldId id="321" r:id="rId5"/>
    <p:sldId id="398" r:id="rId6"/>
    <p:sldId id="399" r:id="rId7"/>
    <p:sldId id="328" r:id="rId8"/>
    <p:sldId id="331" r:id="rId9"/>
    <p:sldId id="329" r:id="rId10"/>
    <p:sldId id="412" r:id="rId11"/>
    <p:sldId id="413" r:id="rId12"/>
    <p:sldId id="333" r:id="rId13"/>
    <p:sldId id="414" r:id="rId14"/>
    <p:sldId id="402" r:id="rId15"/>
    <p:sldId id="415" r:id="rId16"/>
    <p:sldId id="332" r:id="rId17"/>
    <p:sldId id="416" r:id="rId18"/>
    <p:sldId id="411" r:id="rId19"/>
    <p:sldId id="417" r:id="rId20"/>
    <p:sldId id="410" r:id="rId21"/>
    <p:sldId id="418" r:id="rId22"/>
    <p:sldId id="330" r:id="rId23"/>
    <p:sldId id="334" r:id="rId24"/>
    <p:sldId id="336" r:id="rId25"/>
    <p:sldId id="400" r:id="rId26"/>
    <p:sldId id="401" r:id="rId27"/>
    <p:sldId id="337" r:id="rId28"/>
    <p:sldId id="338" r:id="rId29"/>
    <p:sldId id="340" r:id="rId30"/>
    <p:sldId id="339" r:id="rId31"/>
    <p:sldId id="341" r:id="rId32"/>
    <p:sldId id="343" r:id="rId33"/>
    <p:sldId id="344" r:id="rId34"/>
    <p:sldId id="345" r:id="rId35"/>
    <p:sldId id="346" r:id="rId36"/>
    <p:sldId id="347" r:id="rId37"/>
    <p:sldId id="348" r:id="rId38"/>
    <p:sldId id="349" r:id="rId39"/>
    <p:sldId id="351" r:id="rId40"/>
    <p:sldId id="352" r:id="rId41"/>
    <p:sldId id="353" r:id="rId42"/>
    <p:sldId id="354" r:id="rId43"/>
    <p:sldId id="355" r:id="rId44"/>
    <p:sldId id="356" r:id="rId45"/>
    <p:sldId id="357" r:id="rId46"/>
    <p:sldId id="358" r:id="rId47"/>
    <p:sldId id="359" r:id="rId48"/>
    <p:sldId id="360" r:id="rId49"/>
    <p:sldId id="361" r:id="rId50"/>
    <p:sldId id="362" r:id="rId51"/>
    <p:sldId id="364" r:id="rId52"/>
    <p:sldId id="365" r:id="rId53"/>
    <p:sldId id="366" r:id="rId54"/>
    <p:sldId id="392" r:id="rId55"/>
    <p:sldId id="367" r:id="rId56"/>
    <p:sldId id="368" r:id="rId57"/>
    <p:sldId id="369" r:id="rId58"/>
    <p:sldId id="370" r:id="rId59"/>
    <p:sldId id="371" r:id="rId60"/>
    <p:sldId id="393" r:id="rId61"/>
    <p:sldId id="395" r:id="rId62"/>
    <p:sldId id="373" r:id="rId63"/>
    <p:sldId id="374" r:id="rId64"/>
    <p:sldId id="375" r:id="rId65"/>
    <p:sldId id="376" r:id="rId66"/>
    <p:sldId id="377" r:id="rId67"/>
    <p:sldId id="378" r:id="rId68"/>
    <p:sldId id="379" r:id="rId69"/>
    <p:sldId id="394" r:id="rId70"/>
    <p:sldId id="380" r:id="rId71"/>
    <p:sldId id="381" r:id="rId72"/>
    <p:sldId id="382" r:id="rId73"/>
    <p:sldId id="383" r:id="rId74"/>
    <p:sldId id="384" r:id="rId75"/>
    <p:sldId id="385" r:id="rId76"/>
    <p:sldId id="386" r:id="rId77"/>
    <p:sldId id="388" r:id="rId78"/>
    <p:sldId id="389" r:id="rId79"/>
    <p:sldId id="396" r:id="rId80"/>
    <p:sldId id="390" r:id="rId81"/>
    <p:sldId id="397"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MR 2023" id="{C036056C-792F-4C72-8084-B645E28D4C77}">
          <p14:sldIdLst>
            <p14:sldId id="318"/>
            <p14:sldId id="320"/>
            <p14:sldId id="319"/>
            <p14:sldId id="321"/>
            <p14:sldId id="398"/>
            <p14:sldId id="399"/>
            <p14:sldId id="328"/>
            <p14:sldId id="331"/>
            <p14:sldId id="329"/>
            <p14:sldId id="412"/>
            <p14:sldId id="413"/>
            <p14:sldId id="333"/>
            <p14:sldId id="414"/>
            <p14:sldId id="402"/>
            <p14:sldId id="415"/>
            <p14:sldId id="332"/>
            <p14:sldId id="416"/>
            <p14:sldId id="411"/>
            <p14:sldId id="417"/>
            <p14:sldId id="410"/>
            <p14:sldId id="418"/>
            <p14:sldId id="330"/>
            <p14:sldId id="334"/>
            <p14:sldId id="336"/>
            <p14:sldId id="400"/>
            <p14:sldId id="401"/>
            <p14:sldId id="337"/>
            <p14:sldId id="338"/>
            <p14:sldId id="340"/>
            <p14:sldId id="339"/>
            <p14:sldId id="341"/>
            <p14:sldId id="343"/>
            <p14:sldId id="344"/>
            <p14:sldId id="345"/>
            <p14:sldId id="346"/>
            <p14:sldId id="347"/>
            <p14:sldId id="348"/>
            <p14:sldId id="349"/>
            <p14:sldId id="351"/>
            <p14:sldId id="352"/>
            <p14:sldId id="353"/>
            <p14:sldId id="354"/>
            <p14:sldId id="355"/>
            <p14:sldId id="356"/>
            <p14:sldId id="357"/>
            <p14:sldId id="358"/>
            <p14:sldId id="359"/>
            <p14:sldId id="360"/>
            <p14:sldId id="361"/>
            <p14:sldId id="362"/>
            <p14:sldId id="364"/>
            <p14:sldId id="365"/>
            <p14:sldId id="366"/>
            <p14:sldId id="392"/>
            <p14:sldId id="367"/>
            <p14:sldId id="368"/>
            <p14:sldId id="369"/>
            <p14:sldId id="370"/>
            <p14:sldId id="371"/>
            <p14:sldId id="393"/>
            <p14:sldId id="395"/>
            <p14:sldId id="373"/>
            <p14:sldId id="374"/>
            <p14:sldId id="375"/>
            <p14:sldId id="376"/>
            <p14:sldId id="377"/>
            <p14:sldId id="378"/>
            <p14:sldId id="379"/>
            <p14:sldId id="394"/>
            <p14:sldId id="380"/>
            <p14:sldId id="381"/>
            <p14:sldId id="382"/>
            <p14:sldId id="383"/>
            <p14:sldId id="384"/>
            <p14:sldId id="385"/>
            <p14:sldId id="386"/>
            <p14:sldId id="388"/>
            <p14:sldId id="389"/>
            <p14:sldId id="396"/>
            <p14:sldId id="390"/>
            <p14:sldId id="3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320"/>
    <a:srgbClr val="E2F0D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900"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accueil">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endParaRPr lang="en-US" dirty="0"/>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Modifier le style des sous-titres du masque</a:t>
            </a:r>
            <a:endParaRPr lang="en-US"/>
          </a:p>
        </p:txBody>
      </p:sp>
    </p:spTree>
    <p:extLst>
      <p:ext uri="{BB962C8B-B14F-4D97-AF65-F5344CB8AC3E}">
        <p14:creationId xmlns:p14="http://schemas.microsoft.com/office/powerpoint/2010/main" val="2893063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61738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Modifier les styles du texte du masque</a:t>
            </a:r>
          </a:p>
        </p:txBody>
      </p:sp>
    </p:spTree>
    <p:extLst>
      <p:ext uri="{BB962C8B-B14F-4D97-AF65-F5344CB8AC3E}">
        <p14:creationId xmlns:p14="http://schemas.microsoft.com/office/powerpoint/2010/main" val="3552301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3354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Cliquez et modifiez le titre</a:t>
            </a:r>
            <a:endParaRPr lang="en-US"/>
          </a:p>
        </p:txBody>
      </p:sp>
      <p:sp>
        <p:nvSpPr>
          <p:cNvPr id="3" name="Content Placeholder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a:p>
        </p:txBody>
      </p:sp>
      <p:sp>
        <p:nvSpPr>
          <p:cNvPr id="4" name="Date Placeholder 3"/>
          <p:cNvSpPr>
            <a:spLocks noGrp="1"/>
          </p:cNvSpPr>
          <p:nvPr>
            <p:ph type="dt" sz="half" idx="10"/>
          </p:nvPr>
        </p:nvSpPr>
        <p:spPr/>
        <p:txBody>
          <a:bodyPr/>
          <a:lstStyle/>
          <a:p>
            <a:fld id="{6BFECD78-3C8E-49F2-8FAB-59489D168ABB}"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‹N°›</a:t>
            </a:fld>
            <a:endParaRPr lang="en-US"/>
          </a:p>
        </p:txBody>
      </p:sp>
    </p:spTree>
    <p:extLst>
      <p:ext uri="{BB962C8B-B14F-4D97-AF65-F5344CB8AC3E}">
        <p14:creationId xmlns:p14="http://schemas.microsoft.com/office/powerpoint/2010/main" val="3396765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olidDmn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66337" y="773722"/>
            <a:ext cx="10317480" cy="815927"/>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ZoneTexte 6"/>
          <p:cNvSpPr txBox="1"/>
          <p:nvPr userDrawn="1"/>
        </p:nvSpPr>
        <p:spPr>
          <a:xfrm>
            <a:off x="-2068" y="6628503"/>
            <a:ext cx="12204000" cy="252000"/>
          </a:xfrm>
          <a:prstGeom prst="rect">
            <a:avLst/>
          </a:prstGeom>
          <a:solidFill>
            <a:srgbClr val="00B050"/>
          </a:solidFill>
          <a:ln w="12700" cmpd="sng">
            <a:solidFill>
              <a:srgbClr val="00B050"/>
            </a:solidFill>
          </a:ln>
        </p:spPr>
        <p:txBody>
          <a:bodyPr wrap="square" tIns="0" bIns="0"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1400" dirty="0">
              <a:solidFill>
                <a:schemeClr val="bg1"/>
              </a:solidFill>
              <a:latin typeface="Arial Black"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1400" dirty="0">
                <a:solidFill>
                  <a:schemeClr val="bg1"/>
                </a:solidFill>
                <a:latin typeface="Arial Black" pitchFamily="34" charset="0"/>
              </a:rPr>
              <a:t>Blvd de Marseille, 18 BP 720 Abidjan 18, Tel.: (225) 21005660 / 21001906 – Email: info@infas.ci – site web: www.infas.ci</a:t>
            </a:r>
          </a:p>
        </p:txBody>
      </p:sp>
      <p:sp>
        <p:nvSpPr>
          <p:cNvPr id="8" name="ZoneTexte 7"/>
          <p:cNvSpPr txBox="1"/>
          <p:nvPr userDrawn="1"/>
        </p:nvSpPr>
        <p:spPr>
          <a:xfrm>
            <a:off x="0" y="6274189"/>
            <a:ext cx="12192000" cy="307777"/>
          </a:xfrm>
          <a:prstGeom prst="rect">
            <a:avLst/>
          </a:prstGeom>
          <a:solidFill>
            <a:srgbClr val="EC7320"/>
          </a:solid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400" dirty="0">
                <a:solidFill>
                  <a:schemeClr val="bg1"/>
                </a:solidFill>
                <a:latin typeface="Arial Black" pitchFamily="34" charset="0"/>
              </a:rPr>
              <a:t>INSTITUT NATIONAL DE FORMATION DES AGENTS DE SANTE - INFAS </a:t>
            </a:r>
          </a:p>
        </p:txBody>
      </p:sp>
      <p:pic>
        <p:nvPicPr>
          <p:cNvPr id="9" name="Image 8" descr="b"/>
          <p:cNvPicPr/>
          <p:nvPr userDrawn="1"/>
        </p:nvPicPr>
        <p:blipFill>
          <a:blip r:embed="rId7" cstate="print"/>
          <a:srcRect/>
          <a:stretch>
            <a:fillRect/>
          </a:stretch>
        </p:blipFill>
        <p:spPr bwMode="auto">
          <a:xfrm>
            <a:off x="14068" y="20791"/>
            <a:ext cx="928467" cy="880505"/>
          </a:xfrm>
          <a:prstGeom prst="rect">
            <a:avLst/>
          </a:prstGeom>
          <a:noFill/>
          <a:ln w="9525">
            <a:noFill/>
            <a:miter lim="800000"/>
            <a:headEnd/>
            <a:tailEnd/>
          </a:ln>
        </p:spPr>
      </p:pic>
      <p:pic>
        <p:nvPicPr>
          <p:cNvPr id="10" name="Image 9" descr="Résultat de recherche d'images pour &quot;logo mshp&quot;"/>
          <p:cNvPicPr/>
          <p:nvPr userDrawn="1"/>
        </p:nvPicPr>
        <p:blipFill>
          <a:blip r:embed="rId8" cstate="print"/>
          <a:srcRect/>
          <a:stretch>
            <a:fillRect/>
          </a:stretch>
        </p:blipFill>
        <p:spPr bwMode="auto">
          <a:xfrm>
            <a:off x="11029070" y="33240"/>
            <a:ext cx="1148861" cy="880505"/>
          </a:xfrm>
          <a:prstGeom prst="rect">
            <a:avLst/>
          </a:prstGeom>
          <a:noFill/>
          <a:ln w="9525">
            <a:noFill/>
            <a:miter lim="800000"/>
            <a:headEnd/>
            <a:tailEnd/>
          </a:ln>
        </p:spPr>
      </p:pic>
    </p:spTree>
    <p:extLst>
      <p:ext uri="{BB962C8B-B14F-4D97-AF65-F5344CB8AC3E}">
        <p14:creationId xmlns:p14="http://schemas.microsoft.com/office/powerpoint/2010/main" val="573985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377" rtl="0" eaLnBrk="1" latinLnBrk="0" hangingPunct="1">
        <a:lnSpc>
          <a:spcPct val="90000"/>
        </a:lnSpc>
        <a:spcBef>
          <a:spcPct val="0"/>
        </a:spcBef>
        <a:buNone/>
        <a:defRPr sz="3000" kern="1200">
          <a:solidFill>
            <a:schemeClr val="tx1"/>
          </a:solidFill>
          <a:latin typeface="Arial Black" panose="020B0A04020102020204" pitchFamily="34"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211" y="193965"/>
            <a:ext cx="11956869" cy="5929744"/>
          </a:xfrm>
        </p:spPr>
        <p:txBody>
          <a:bodyPr>
            <a:normAutofit fontScale="90000"/>
          </a:bodyPr>
          <a:lstStyle/>
          <a:p>
            <a:pPr algn="ctr">
              <a:lnSpc>
                <a:spcPct val="150000"/>
              </a:lnSpc>
            </a:pPr>
            <a:r>
              <a:rPr lang="fr-FR" sz="6600" b="1" dirty="0">
                <a:solidFill>
                  <a:schemeClr val="accent6">
                    <a:lumMod val="75000"/>
                  </a:schemeClr>
                </a:solidFill>
                <a:latin typeface="Century Gothic" pitchFamily="34" charset="0"/>
              </a:rPr>
              <a:t>KOUASSI LOBOH FELICITE</a:t>
            </a:r>
            <a:br>
              <a:rPr lang="fr-FR" sz="5400" b="1" dirty="0">
                <a:solidFill>
                  <a:schemeClr val="accent6">
                    <a:lumMod val="75000"/>
                  </a:schemeClr>
                </a:solidFill>
                <a:latin typeface="Century Gothic" pitchFamily="34" charset="0"/>
              </a:rPr>
            </a:br>
            <a:r>
              <a:rPr lang="fr-FR" sz="4800" b="1" dirty="0">
                <a:solidFill>
                  <a:schemeClr val="accent6">
                    <a:lumMod val="50000"/>
                  </a:schemeClr>
                </a:solidFill>
                <a:latin typeface="Century Gothic" pitchFamily="34" charset="0"/>
              </a:rPr>
              <a:t>Sage Femme Spécialiste en Santé Publique </a:t>
            </a:r>
            <a:br>
              <a:rPr lang="fr-FR" sz="4800" b="1" dirty="0">
                <a:solidFill>
                  <a:schemeClr val="accent6">
                    <a:lumMod val="50000"/>
                  </a:schemeClr>
                </a:solidFill>
                <a:latin typeface="Century Gothic" pitchFamily="34" charset="0"/>
              </a:rPr>
            </a:br>
            <a:r>
              <a:rPr lang="fr-FR" sz="4400" b="1" dirty="0">
                <a:latin typeface="Century Gothic" pitchFamily="34" charset="0"/>
              </a:rPr>
              <a:t>Enseignante à l’INFAS d'Abidjan</a:t>
            </a:r>
            <a:br>
              <a:rPr lang="fr-FR" sz="4400" b="1" dirty="0">
                <a:latin typeface="Century Gothic" pitchFamily="34" charset="0"/>
              </a:rPr>
            </a:br>
            <a:r>
              <a:rPr lang="fr-FR" sz="4400" b="1" dirty="0">
                <a:latin typeface="Century Gothic" pitchFamily="34" charset="0"/>
              </a:rPr>
              <a:t>Responsable de la filière Santé Publique</a:t>
            </a:r>
            <a:br>
              <a:rPr lang="fr-FR" sz="4400" b="1" dirty="0">
                <a:latin typeface="Century Gothic" pitchFamily="34" charset="0"/>
              </a:rPr>
            </a:br>
            <a:r>
              <a:rPr lang="fr-FR" sz="4400" b="1" dirty="0">
                <a:latin typeface="Century Gothic" pitchFamily="34" charset="0"/>
              </a:rPr>
              <a:t>Ecole de Spécialité</a:t>
            </a:r>
            <a:br>
              <a:rPr lang="fr-FR" sz="5400" b="1" dirty="0">
                <a:latin typeface="Century Gothic" pitchFamily="34" charset="0"/>
              </a:rPr>
            </a:br>
            <a:r>
              <a:rPr lang="fr-FR" sz="5400" b="1" dirty="0" err="1">
                <a:solidFill>
                  <a:schemeClr val="accent6">
                    <a:lumMod val="75000"/>
                  </a:schemeClr>
                </a:solidFill>
                <a:latin typeface="Century Gothic" pitchFamily="34" charset="0"/>
              </a:rPr>
              <a:t>Cél</a:t>
            </a:r>
            <a:r>
              <a:rPr lang="fr-FR" sz="5400" b="1" dirty="0">
                <a:solidFill>
                  <a:schemeClr val="accent6">
                    <a:lumMod val="75000"/>
                  </a:schemeClr>
                </a:solidFill>
                <a:latin typeface="Century Gothic" pitchFamily="34" charset="0"/>
              </a:rPr>
              <a:t> : </a:t>
            </a:r>
            <a:r>
              <a:rPr lang="fr-FR" sz="5400" b="1" dirty="0">
                <a:solidFill>
                  <a:srgbClr val="C00000"/>
                </a:solidFill>
                <a:latin typeface="Century Gothic" pitchFamily="34" charset="0"/>
              </a:rPr>
              <a:t>07 899 833 22</a:t>
            </a:r>
            <a:r>
              <a:rPr lang="fr-FR" sz="5400" b="1" dirty="0">
                <a:solidFill>
                  <a:schemeClr val="accent6">
                    <a:lumMod val="75000"/>
                  </a:schemeClr>
                </a:solidFill>
                <a:latin typeface="Century Gothic" pitchFamily="34" charset="0"/>
              </a:rPr>
              <a:t> </a:t>
            </a:r>
          </a:p>
        </p:txBody>
      </p:sp>
    </p:spTree>
    <p:extLst>
      <p:ext uri="{BB962C8B-B14F-4D97-AF65-F5344CB8AC3E}">
        <p14:creationId xmlns:p14="http://schemas.microsoft.com/office/powerpoint/2010/main" val="1197026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108" y="95250"/>
            <a:ext cx="9614263" cy="6113961"/>
          </a:xfrm>
          <a:prstGeom prst="rect">
            <a:avLst/>
          </a:prstGeom>
        </p:spPr>
      </p:pic>
    </p:spTree>
    <p:extLst>
      <p:ext uri="{BB962C8B-B14F-4D97-AF65-F5344CB8AC3E}">
        <p14:creationId xmlns:p14="http://schemas.microsoft.com/office/powerpoint/2010/main" val="330634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95680" y="270626"/>
            <a:ext cx="10160000" cy="3529214"/>
          </a:xfrm>
          <a:solidFill>
            <a:schemeClr val="bg2"/>
          </a:solidFill>
          <a:ln w="76200">
            <a:solidFill>
              <a:schemeClr val="accent6">
                <a:lumMod val="75000"/>
              </a:schemeClr>
            </a:solidFill>
          </a:ln>
        </p:spPr>
        <p:style>
          <a:lnRef idx="2">
            <a:schemeClr val="accent5"/>
          </a:lnRef>
          <a:fillRef idx="1">
            <a:schemeClr val="lt1"/>
          </a:fillRef>
          <a:effectRef idx="0">
            <a:schemeClr val="accent5"/>
          </a:effectRef>
          <a:fontRef idx="minor">
            <a:schemeClr val="dk1"/>
          </a:fontRef>
        </p:style>
        <p:txBody>
          <a:bodyPr>
            <a:normAutofit fontScale="90000"/>
          </a:bodyPr>
          <a:lstStyle/>
          <a:p>
            <a:pPr algn="ctr">
              <a:lnSpc>
                <a:spcPct val="150000"/>
              </a:lnSpc>
            </a:pPr>
            <a:br>
              <a:rPr lang="fr-CI" sz="5400" b="1">
                <a:solidFill>
                  <a:srgbClr val="FF0000"/>
                </a:solidFill>
                <a:latin typeface="Times New Roman" panose="02020603050405020304" pitchFamily="18" charset="0"/>
                <a:ea typeface="Times New Roman" panose="02020603050405020304" pitchFamily="18" charset="0"/>
              </a:rPr>
            </a:br>
            <a:r>
              <a:rPr lang="fr-CI" sz="4900" b="1">
                <a:solidFill>
                  <a:srgbClr val="FF0000"/>
                </a:solidFill>
                <a:latin typeface="Century Gothic" panose="020B0502020202020204" pitchFamily="34" charset="0"/>
                <a:ea typeface="Times New Roman" panose="02020603050405020304" pitchFamily="18" charset="0"/>
              </a:rPr>
              <a:t>SURVEILLANCE  INTEGREE </a:t>
            </a:r>
            <a:br>
              <a:rPr lang="fr-CI" sz="4900" b="1">
                <a:solidFill>
                  <a:srgbClr val="FF0000"/>
                </a:solidFill>
                <a:latin typeface="Century Gothic" panose="020B0502020202020204" pitchFamily="34" charset="0"/>
                <a:ea typeface="Times New Roman" panose="02020603050405020304" pitchFamily="18" charset="0"/>
              </a:rPr>
            </a:br>
            <a:r>
              <a:rPr lang="fr-CI" sz="4900" b="1">
                <a:solidFill>
                  <a:srgbClr val="FF0000"/>
                </a:solidFill>
                <a:latin typeface="Century Gothic" panose="020B0502020202020204" pitchFamily="34" charset="0"/>
                <a:ea typeface="Times New Roman" panose="02020603050405020304" pitchFamily="18" charset="0"/>
              </a:rPr>
              <a:t>DE LA  MALADIE  ET  RIPOSTE (SIMR)</a:t>
            </a:r>
            <a:br>
              <a:rPr lang="fr-FR" altLang="fr-FR" sz="4900" b="1">
                <a:solidFill>
                  <a:srgbClr val="FF0000"/>
                </a:solidFill>
                <a:latin typeface="Century Gothic" panose="020B0502020202020204" pitchFamily="34" charset="0"/>
                <a:ea typeface="Arial Black" pitchFamily="34" charset="0"/>
                <a:cs typeface="Arial Black" pitchFamily="34" charset="0"/>
              </a:rPr>
            </a:br>
            <a:endParaRPr lang="fr-FR" sz="4900" dirty="0">
              <a:solidFill>
                <a:srgbClr val="C00000"/>
              </a:solidFill>
              <a:latin typeface="Century Gothic" pitchFamily="34" charset="0"/>
            </a:endParaRPr>
          </a:p>
        </p:txBody>
      </p:sp>
      <p:sp>
        <p:nvSpPr>
          <p:cNvPr id="3" name="Sous-titre 2"/>
          <p:cNvSpPr txBox="1">
            <a:spLocks/>
          </p:cNvSpPr>
          <p:nvPr/>
        </p:nvSpPr>
        <p:spPr>
          <a:xfrm>
            <a:off x="492369" y="3993663"/>
            <a:ext cx="11199446" cy="2125783"/>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755" lvl="4" indent="0" algn="ctr">
              <a:lnSpc>
                <a:spcPct val="100000"/>
              </a:lnSpc>
              <a:spcBef>
                <a:spcPts val="1200"/>
              </a:spcBef>
              <a:spcAft>
                <a:spcPts val="1200"/>
              </a:spcAft>
              <a:buNone/>
            </a:pPr>
            <a:r>
              <a:rPr lang="fr-FR" altLang="fr-FR" sz="3600" b="1" dirty="0">
                <a:solidFill>
                  <a:schemeClr val="accent6"/>
                </a:solidFill>
                <a:latin typeface="Century Gothic" panose="020B0502020202020204" pitchFamily="34" charset="0"/>
                <a:ea typeface="Arial Black" pitchFamily="34" charset="0"/>
                <a:cs typeface="Arial Black" pitchFamily="34" charset="0"/>
              </a:rPr>
              <a:t>2024-2025, Semestre 1</a:t>
            </a:r>
            <a:endParaRPr lang="en-US" sz="3600" b="1" dirty="0">
              <a:latin typeface="Century Gothic" panose="020B0502020202020204" pitchFamily="34" charset="0"/>
            </a:endParaRPr>
          </a:p>
          <a:p>
            <a:pPr marL="0" indent="0" algn="ctr">
              <a:lnSpc>
                <a:spcPct val="100000"/>
              </a:lnSpc>
              <a:spcBef>
                <a:spcPts val="1200"/>
              </a:spcBef>
              <a:spcAft>
                <a:spcPts val="1200"/>
              </a:spcAft>
              <a:buNone/>
            </a:pPr>
            <a:r>
              <a:rPr lang="en-US" sz="3600" b="1" dirty="0">
                <a:latin typeface="Century Gothic" panose="020B0502020202020204" pitchFamily="34" charset="0"/>
              </a:rPr>
              <a:t>CELLLE PEDAGOGIQUE DE SANTE PUBLIQUE </a:t>
            </a:r>
          </a:p>
          <a:p>
            <a:pPr marL="0" indent="0" algn="ctr">
              <a:lnSpc>
                <a:spcPct val="100000"/>
              </a:lnSpc>
              <a:spcBef>
                <a:spcPts val="1200"/>
              </a:spcBef>
              <a:spcAft>
                <a:spcPts val="1200"/>
              </a:spcAft>
              <a:buNone/>
            </a:pPr>
            <a:r>
              <a:rPr lang="en-US" sz="3200" b="1" dirty="0">
                <a:solidFill>
                  <a:schemeClr val="accent5"/>
                </a:solidFill>
                <a:latin typeface="Century Gothic" panose="020B0502020202020204" pitchFamily="34" charset="0"/>
              </a:rPr>
              <a:t>ECOLE DE BASE-INFAS ABIDJAN</a:t>
            </a:r>
          </a:p>
        </p:txBody>
      </p:sp>
    </p:spTree>
    <p:extLst>
      <p:ext uri="{BB962C8B-B14F-4D97-AF65-F5344CB8AC3E}">
        <p14:creationId xmlns:p14="http://schemas.microsoft.com/office/powerpoint/2010/main" val="3960008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41720" y="180753"/>
            <a:ext cx="10515600" cy="754911"/>
          </a:xfrm>
        </p:spPr>
        <p:txBody>
          <a:bodyPr>
            <a:noAutofit/>
          </a:bodyPr>
          <a:lstStyle/>
          <a:p>
            <a:pPr algn="ctr"/>
            <a:r>
              <a:rPr lang="fr-FR" sz="4400" b="1">
                <a:solidFill>
                  <a:srgbClr val="C00000"/>
                </a:solidFill>
                <a:latin typeface="Century Gothic" pitchFamily="34" charset="0"/>
              </a:rPr>
              <a:t>Objectif général</a:t>
            </a:r>
            <a:endParaRPr lang="fr-FR" sz="4400" dirty="0">
              <a:solidFill>
                <a:srgbClr val="C00000"/>
              </a:solidFill>
              <a:latin typeface="Century Gothic" pitchFamily="34" charset="0"/>
            </a:endParaRPr>
          </a:p>
        </p:txBody>
      </p:sp>
      <p:sp>
        <p:nvSpPr>
          <p:cNvPr id="3" name="Espace réservé du texte 2"/>
          <p:cNvSpPr>
            <a:spLocks noGrp="1"/>
          </p:cNvSpPr>
          <p:nvPr>
            <p:ph type="body" idx="1"/>
          </p:nvPr>
        </p:nvSpPr>
        <p:spPr>
          <a:xfrm>
            <a:off x="570524" y="1910080"/>
            <a:ext cx="10886796" cy="3562465"/>
          </a:xfrm>
        </p:spPr>
        <p:txBody>
          <a:bodyPr>
            <a:noAutofit/>
          </a:bodyPr>
          <a:lstStyle/>
          <a:p>
            <a:pPr>
              <a:lnSpc>
                <a:spcPct val="150000"/>
              </a:lnSpc>
            </a:pPr>
            <a:r>
              <a:rPr lang="fr-FR" sz="3200" dirty="0">
                <a:latin typeface="Century Gothic" pitchFamily="34" charset="0"/>
              </a:rPr>
              <a:t> </a:t>
            </a:r>
            <a:r>
              <a:rPr lang="fr-FR" sz="3200" b="1" dirty="0">
                <a:solidFill>
                  <a:schemeClr val="tx1"/>
                </a:solidFill>
                <a:latin typeface="Century Gothic" pitchFamily="34" charset="0"/>
              </a:rPr>
              <a:t>Ce cours vise à permettre à l’étudiant IDE/SF/</a:t>
            </a:r>
            <a:r>
              <a:rPr lang="fr-FR" sz="3200" b="1" dirty="0" err="1">
                <a:solidFill>
                  <a:schemeClr val="tx1"/>
                </a:solidFill>
                <a:latin typeface="Century Gothic" pitchFamily="34" charset="0"/>
              </a:rPr>
              <a:t>Mtc</a:t>
            </a:r>
            <a:r>
              <a:rPr lang="fr-FR" sz="3200" b="1" dirty="0">
                <a:solidFill>
                  <a:schemeClr val="tx1"/>
                </a:solidFill>
                <a:latin typeface="Century Gothic" pitchFamily="34" charset="0"/>
              </a:rPr>
              <a:t> de la L2 </a:t>
            </a:r>
          </a:p>
          <a:p>
            <a:pPr>
              <a:lnSpc>
                <a:spcPct val="150000"/>
              </a:lnSpc>
            </a:pPr>
            <a:r>
              <a:rPr lang="fr-FR" sz="3200" b="1" dirty="0">
                <a:solidFill>
                  <a:schemeClr val="tx1"/>
                </a:solidFill>
                <a:latin typeface="Century Gothic" pitchFamily="34" charset="0"/>
              </a:rPr>
              <a:t>=&gt; </a:t>
            </a:r>
            <a:r>
              <a:rPr lang="fr-FR" sz="3200" b="1" dirty="0">
                <a:solidFill>
                  <a:schemeClr val="accent6">
                    <a:lumMod val="75000"/>
                  </a:schemeClr>
                </a:solidFill>
                <a:latin typeface="Century Gothic" pitchFamily="34" charset="0"/>
              </a:rPr>
              <a:t>d’effectuer la surveillance intégrée des maladies et d’organiser la riposte</a:t>
            </a:r>
            <a:r>
              <a:rPr lang="fr-FR" sz="3200" b="1" dirty="0">
                <a:solidFill>
                  <a:schemeClr val="tx1"/>
                </a:solidFill>
                <a:latin typeface="Century Gothic" pitchFamily="34" charset="0"/>
              </a:rPr>
              <a:t>.</a:t>
            </a:r>
          </a:p>
          <a:p>
            <a:pPr>
              <a:lnSpc>
                <a:spcPct val="150000"/>
              </a:lnSpc>
            </a:pPr>
            <a:r>
              <a:rPr lang="fr-FR" sz="3200" b="1" dirty="0">
                <a:solidFill>
                  <a:schemeClr val="tx1"/>
                </a:solidFill>
                <a:latin typeface="Century Gothic" pitchFamily="34" charset="0"/>
              </a:rPr>
              <a:t> </a:t>
            </a:r>
          </a:p>
        </p:txBody>
      </p:sp>
    </p:spTree>
    <p:extLst>
      <p:ext uri="{BB962C8B-B14F-4D97-AF65-F5344CB8AC3E}">
        <p14:creationId xmlns:p14="http://schemas.microsoft.com/office/powerpoint/2010/main" val="1225276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95054" y="193040"/>
            <a:ext cx="8866909" cy="679795"/>
          </a:xfrm>
        </p:spPr>
        <p:txBody>
          <a:bodyPr>
            <a:normAutofit fontScale="90000"/>
          </a:bodyPr>
          <a:lstStyle/>
          <a:p>
            <a:pPr algn="ctr"/>
            <a:br>
              <a:rPr lang="fr-FR" sz="3200" b="1">
                <a:latin typeface="Century Gothic" panose="020B0502020202020204" pitchFamily="34" charset="0"/>
              </a:rPr>
            </a:br>
            <a:br>
              <a:rPr lang="fr-FR" sz="3200" b="1">
                <a:latin typeface="Century Gothic" panose="020B0502020202020204" pitchFamily="34" charset="0"/>
              </a:rPr>
            </a:br>
            <a:br>
              <a:rPr lang="fr-FR" sz="3200" b="1">
                <a:latin typeface="Century Gothic" panose="020B0502020202020204" pitchFamily="34" charset="0"/>
              </a:rPr>
            </a:br>
            <a:r>
              <a:rPr lang="fr-FR" sz="4900" b="1">
                <a:solidFill>
                  <a:srgbClr val="C00000"/>
                </a:solidFill>
                <a:latin typeface="Century Gothic" panose="020B0502020202020204" pitchFamily="34" charset="0"/>
              </a:rPr>
              <a:t>Objectifs spécifiques (1/2)</a:t>
            </a:r>
            <a:endParaRPr lang="fr-FR" sz="4900" dirty="0">
              <a:solidFill>
                <a:srgbClr val="C00000"/>
              </a:solidFill>
              <a:latin typeface="Century Gothic" panose="020B0502020202020204" pitchFamily="34" charset="0"/>
            </a:endParaRPr>
          </a:p>
        </p:txBody>
      </p:sp>
      <p:sp>
        <p:nvSpPr>
          <p:cNvPr id="3" name="Espace réservé du texte 2"/>
          <p:cNvSpPr>
            <a:spLocks noGrp="1"/>
          </p:cNvSpPr>
          <p:nvPr>
            <p:ph type="body" idx="1"/>
          </p:nvPr>
        </p:nvSpPr>
        <p:spPr>
          <a:xfrm>
            <a:off x="221673" y="850605"/>
            <a:ext cx="11790218" cy="5239048"/>
          </a:xfrm>
        </p:spPr>
        <p:txBody>
          <a:bodyPr>
            <a:noAutofit/>
          </a:bodyPr>
          <a:lstStyle/>
          <a:p>
            <a:pPr marL="457200" indent="-457200">
              <a:lnSpc>
                <a:spcPct val="150000"/>
              </a:lnSpc>
              <a:spcBef>
                <a:spcPts val="0"/>
              </a:spcBef>
              <a:buFont typeface="Wingdings" pitchFamily="2" charset="2"/>
              <a:buChar char="q"/>
            </a:pPr>
            <a:r>
              <a:rPr lang="fr-FR" sz="3200" dirty="0">
                <a:solidFill>
                  <a:schemeClr val="tx1"/>
                </a:solidFill>
                <a:latin typeface="Century Gothic" pitchFamily="34" charset="0"/>
              </a:rPr>
              <a:t>Au terme de l’enseignement, il doit être capable de :</a:t>
            </a:r>
          </a:p>
          <a:p>
            <a:pPr marL="457200" lvl="0" indent="-457200">
              <a:lnSpc>
                <a:spcPct val="150000"/>
              </a:lnSpc>
              <a:spcBef>
                <a:spcPts val="0"/>
              </a:spcBef>
              <a:buFontTx/>
              <a:buChar char="-"/>
            </a:pPr>
            <a:r>
              <a:rPr lang="fr-CI" sz="3200" dirty="0">
                <a:solidFill>
                  <a:schemeClr val="tx1"/>
                </a:solidFill>
                <a:latin typeface="Century Gothic" pitchFamily="34" charset="0"/>
              </a:rPr>
              <a:t>Définir les concepts en matière de surveillance </a:t>
            </a:r>
            <a:r>
              <a:rPr lang="fr-CI" sz="3200" dirty="0" err="1">
                <a:solidFill>
                  <a:schemeClr val="tx1"/>
                </a:solidFill>
                <a:latin typeface="Century Gothic" pitchFamily="34" charset="0"/>
              </a:rPr>
              <a:t>èpidémiologique</a:t>
            </a:r>
            <a:r>
              <a:rPr lang="fr-CI" sz="3200" dirty="0">
                <a:solidFill>
                  <a:schemeClr val="tx1"/>
                </a:solidFill>
                <a:latin typeface="Century Gothic" pitchFamily="34" charset="0"/>
              </a:rPr>
              <a:t>.</a:t>
            </a:r>
          </a:p>
          <a:p>
            <a:pPr marL="457200" lvl="0" indent="-457200">
              <a:lnSpc>
                <a:spcPct val="150000"/>
              </a:lnSpc>
              <a:spcBef>
                <a:spcPts val="0"/>
              </a:spcBef>
              <a:buFontTx/>
              <a:buChar char="-"/>
            </a:pPr>
            <a:r>
              <a:rPr lang="fr-CI" sz="3200" dirty="0">
                <a:solidFill>
                  <a:schemeClr val="tx1"/>
                </a:solidFill>
                <a:latin typeface="Century Gothic" pitchFamily="34" charset="0"/>
              </a:rPr>
              <a:t>Citer les objectifs de la SIMR</a:t>
            </a:r>
          </a:p>
          <a:p>
            <a:pPr marL="457200" lvl="0" indent="-457200">
              <a:lnSpc>
                <a:spcPct val="150000"/>
              </a:lnSpc>
              <a:spcBef>
                <a:spcPts val="0"/>
              </a:spcBef>
              <a:buFontTx/>
              <a:buChar char="-"/>
            </a:pPr>
            <a:r>
              <a:rPr lang="fr-CI" sz="3200" dirty="0">
                <a:solidFill>
                  <a:schemeClr val="tx1"/>
                </a:solidFill>
                <a:latin typeface="Century Gothic" pitchFamily="34" charset="0"/>
              </a:rPr>
              <a:t>Citer les maladies prioritaires sous surveillance</a:t>
            </a:r>
          </a:p>
          <a:p>
            <a:pPr marL="457200" lvl="0" indent="-457200">
              <a:lnSpc>
                <a:spcPct val="150000"/>
              </a:lnSpc>
              <a:spcBef>
                <a:spcPts val="0"/>
              </a:spcBef>
              <a:buFontTx/>
              <a:buChar char="-"/>
            </a:pPr>
            <a:r>
              <a:rPr lang="fr-CI" sz="3200" dirty="0">
                <a:solidFill>
                  <a:schemeClr val="tx1"/>
                </a:solidFill>
                <a:latin typeface="Century Gothic" pitchFamily="34" charset="0"/>
              </a:rPr>
              <a:t>Définir les cas de maladie sous surveillance pour la notification. </a:t>
            </a:r>
          </a:p>
          <a:p>
            <a:pPr>
              <a:lnSpc>
                <a:spcPct val="150000"/>
              </a:lnSpc>
              <a:spcBef>
                <a:spcPts val="0"/>
              </a:spcBef>
            </a:pPr>
            <a:endParaRPr lang="fr-FR" sz="3200" dirty="0">
              <a:latin typeface="Century Gothic" pitchFamily="34" charset="0"/>
            </a:endParaRPr>
          </a:p>
        </p:txBody>
      </p:sp>
    </p:spTree>
    <p:extLst>
      <p:ext uri="{BB962C8B-B14F-4D97-AF65-F5344CB8AC3E}">
        <p14:creationId xmlns:p14="http://schemas.microsoft.com/office/powerpoint/2010/main" val="2077384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1851" y="96981"/>
            <a:ext cx="10515600" cy="715819"/>
          </a:xfrm>
        </p:spPr>
        <p:txBody>
          <a:bodyPr>
            <a:normAutofit/>
          </a:bodyPr>
          <a:lstStyle/>
          <a:p>
            <a:pPr algn="ctr"/>
            <a:r>
              <a:rPr lang="fr-FR" sz="4400" b="1">
                <a:solidFill>
                  <a:srgbClr val="C00000"/>
                </a:solidFill>
                <a:latin typeface="Century Gothic" panose="020B0502020202020204" pitchFamily="34" charset="0"/>
              </a:rPr>
              <a:t>Plan du cours (1/3)</a:t>
            </a:r>
            <a:endParaRPr lang="fr-FR" sz="4400" dirty="0">
              <a:solidFill>
                <a:srgbClr val="C00000"/>
              </a:solidFill>
              <a:latin typeface="Century Gothic" panose="020B0502020202020204" pitchFamily="34" charset="0"/>
            </a:endParaRPr>
          </a:p>
        </p:txBody>
      </p:sp>
      <p:sp>
        <p:nvSpPr>
          <p:cNvPr id="3" name="Espace réservé du texte 2"/>
          <p:cNvSpPr>
            <a:spLocks noGrp="1"/>
          </p:cNvSpPr>
          <p:nvPr>
            <p:ph type="body" idx="1"/>
          </p:nvPr>
        </p:nvSpPr>
        <p:spPr>
          <a:xfrm>
            <a:off x="261257" y="812800"/>
            <a:ext cx="11730446" cy="5496560"/>
          </a:xfrm>
        </p:spPr>
        <p:txBody>
          <a:bodyPr>
            <a:noAutofit/>
          </a:bodyPr>
          <a:lstStyle/>
          <a:p>
            <a:pPr>
              <a:lnSpc>
                <a:spcPct val="150000"/>
              </a:lnSpc>
            </a:pPr>
            <a:r>
              <a:rPr lang="fr-CI" sz="3200" dirty="0">
                <a:solidFill>
                  <a:prstClr val="black"/>
                </a:solidFill>
                <a:latin typeface="Century Gothic" pitchFamily="34" charset="0"/>
              </a:rPr>
              <a:t>INTRODUCTION</a:t>
            </a:r>
          </a:p>
          <a:p>
            <a:pPr marL="571500" indent="-571500">
              <a:lnSpc>
                <a:spcPct val="150000"/>
              </a:lnSpc>
              <a:buFont typeface="+mj-lt"/>
              <a:buAutoNum type="romanUcPeriod"/>
            </a:pPr>
            <a:r>
              <a:rPr lang="fr-CI" sz="3200" dirty="0">
                <a:solidFill>
                  <a:prstClr val="black"/>
                </a:solidFill>
                <a:latin typeface="Century Gothic" pitchFamily="34" charset="0"/>
              </a:rPr>
              <a:t>DEFINITION DES CONCEPTS </a:t>
            </a:r>
          </a:p>
          <a:p>
            <a:pPr marL="571500" indent="-571500">
              <a:lnSpc>
                <a:spcPct val="150000"/>
              </a:lnSpc>
              <a:buFont typeface="+mj-lt"/>
              <a:buAutoNum type="romanUcPeriod"/>
            </a:pPr>
            <a:r>
              <a:rPr lang="fr-FR" sz="3200" dirty="0">
                <a:solidFill>
                  <a:prstClr val="black"/>
                </a:solidFill>
                <a:latin typeface="Century Gothic" pitchFamily="34" charset="0"/>
              </a:rPr>
              <a:t>OBJECTIFS DE LA SIMR</a:t>
            </a:r>
            <a:endParaRPr lang="fr-FR" sz="3200" dirty="0">
              <a:solidFill>
                <a:schemeClr val="tx1"/>
              </a:solidFill>
              <a:latin typeface="Century Gothic" pitchFamily="34" charset="0"/>
            </a:endParaRPr>
          </a:p>
          <a:p>
            <a:pPr marL="571500" indent="-571500">
              <a:lnSpc>
                <a:spcPct val="150000"/>
              </a:lnSpc>
              <a:buFont typeface="+mj-lt"/>
              <a:buAutoNum type="romanUcPeriod"/>
            </a:pPr>
            <a:r>
              <a:rPr lang="fr-CI" sz="3200" dirty="0">
                <a:solidFill>
                  <a:prstClr val="black"/>
                </a:solidFill>
                <a:latin typeface="Century Gothic" pitchFamily="34" charset="0"/>
              </a:rPr>
              <a:t>LES MALADIES PRIORITAIRES SOUS SURVEILLANCE</a:t>
            </a:r>
          </a:p>
          <a:p>
            <a:pPr marL="571500" indent="-571500">
              <a:lnSpc>
                <a:spcPct val="100000"/>
              </a:lnSpc>
              <a:buFont typeface="+mj-lt"/>
              <a:buAutoNum type="romanUcPeriod"/>
            </a:pPr>
            <a:r>
              <a:rPr lang="fr-CI" sz="3200" dirty="0">
                <a:solidFill>
                  <a:schemeClr val="tx1"/>
                </a:solidFill>
                <a:latin typeface="Century Gothic" pitchFamily="34" charset="0"/>
              </a:rPr>
              <a:t>DEFINITIONS DE CAS DE MALADIE SOUS SURVEILLANCE POUR NOTIFICATION </a:t>
            </a:r>
          </a:p>
          <a:p>
            <a:pPr>
              <a:lnSpc>
                <a:spcPct val="150000"/>
              </a:lnSpc>
            </a:pPr>
            <a:r>
              <a:rPr lang="fr-CI" sz="3200" dirty="0">
                <a:solidFill>
                  <a:schemeClr val="tx1"/>
                </a:solidFill>
                <a:latin typeface="Century Gothic" pitchFamily="34" charset="0"/>
              </a:rPr>
              <a:t>CONCLUSION</a:t>
            </a:r>
            <a:br>
              <a:rPr lang="fr-FR" sz="3200" dirty="0">
                <a:solidFill>
                  <a:schemeClr val="tx1"/>
                </a:solidFill>
                <a:latin typeface="Century Gothic" pitchFamily="34" charset="0"/>
              </a:rPr>
            </a:br>
            <a:r>
              <a:rPr lang="fr-FR" sz="3200" dirty="0">
                <a:solidFill>
                  <a:schemeClr val="tx1"/>
                </a:solidFill>
                <a:latin typeface="Century Gothic" pitchFamily="34" charset="0"/>
              </a:rPr>
              <a:t> </a:t>
            </a:r>
          </a:p>
        </p:txBody>
      </p:sp>
    </p:spTree>
    <p:extLst>
      <p:ext uri="{BB962C8B-B14F-4D97-AF65-F5344CB8AC3E}">
        <p14:creationId xmlns:p14="http://schemas.microsoft.com/office/powerpoint/2010/main" val="86261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3117" y="230542"/>
            <a:ext cx="10515600" cy="747654"/>
          </a:xfrm>
        </p:spPr>
        <p:txBody>
          <a:bodyPr>
            <a:noAutofit/>
          </a:bodyPr>
          <a:lstStyle/>
          <a:p>
            <a:pPr algn="ctr"/>
            <a:r>
              <a:rPr lang="fr-FR" sz="4400" b="1">
                <a:solidFill>
                  <a:srgbClr val="C00000"/>
                </a:solidFill>
                <a:latin typeface="Century Gothic" pitchFamily="34" charset="0"/>
              </a:rPr>
              <a:t>Introduction(1/4 )</a:t>
            </a:r>
            <a:endParaRPr lang="fr-FR" sz="4400" dirty="0">
              <a:solidFill>
                <a:srgbClr val="C00000"/>
              </a:solidFill>
              <a:latin typeface="Century Gothic" pitchFamily="34" charset="0"/>
            </a:endParaRPr>
          </a:p>
        </p:txBody>
      </p:sp>
      <p:sp>
        <p:nvSpPr>
          <p:cNvPr id="3" name="Espace réservé du texte 2"/>
          <p:cNvSpPr>
            <a:spLocks noGrp="1"/>
          </p:cNvSpPr>
          <p:nvPr>
            <p:ph type="body" idx="1"/>
          </p:nvPr>
        </p:nvSpPr>
        <p:spPr>
          <a:xfrm>
            <a:off x="174172" y="1084521"/>
            <a:ext cx="11669486" cy="5120336"/>
          </a:xfrm>
        </p:spPr>
        <p:txBody>
          <a:bodyPr>
            <a:noAutofit/>
          </a:bodyPr>
          <a:lstStyle/>
          <a:p>
            <a:pPr marL="457200" indent="-457200">
              <a:lnSpc>
                <a:spcPct val="150000"/>
              </a:lnSpc>
              <a:spcAft>
                <a:spcPts val="1200"/>
              </a:spcAft>
              <a:buFont typeface="Wingdings" pitchFamily="2" charset="2"/>
              <a:buChar char="q"/>
            </a:pPr>
            <a:r>
              <a:rPr lang="fr-FR" sz="3200">
                <a:solidFill>
                  <a:schemeClr val="tx1"/>
                </a:solidFill>
                <a:latin typeface="Century Gothic" pitchFamily="34" charset="0"/>
              </a:rPr>
              <a:t>Le monde et singulièrement la région Africaine de l’OMS durant la décennie passée a dû faire face à </a:t>
            </a:r>
            <a:r>
              <a:rPr lang="fr-FR" sz="3200" b="1">
                <a:solidFill>
                  <a:schemeClr val="accent6"/>
                </a:solidFill>
                <a:latin typeface="Century Gothic" pitchFamily="34" charset="0"/>
              </a:rPr>
              <a:t>plusieurs épidémies </a:t>
            </a:r>
            <a:r>
              <a:rPr lang="fr-FR" sz="3200">
                <a:solidFill>
                  <a:schemeClr val="tx1"/>
                </a:solidFill>
                <a:latin typeface="Century Gothic" pitchFamily="34" charset="0"/>
              </a:rPr>
              <a:t>de choléra, de méningite à méningocoques, de typhoïde et de grippe, et </a:t>
            </a:r>
            <a:r>
              <a:rPr lang="fr-FR" sz="3200" b="1">
                <a:solidFill>
                  <a:schemeClr val="accent6"/>
                </a:solidFill>
                <a:latin typeface="Century Gothic" pitchFamily="34" charset="0"/>
              </a:rPr>
              <a:t>plus récemment</a:t>
            </a:r>
            <a:r>
              <a:rPr lang="fr-FR" sz="3200">
                <a:solidFill>
                  <a:schemeClr val="tx1"/>
                </a:solidFill>
                <a:latin typeface="Century Gothic" pitchFamily="34" charset="0"/>
              </a:rPr>
              <a:t>, à une épidémie de la maladie à </a:t>
            </a:r>
            <a:r>
              <a:rPr lang="fr-FR" sz="3200" b="1">
                <a:solidFill>
                  <a:schemeClr val="accent6"/>
                </a:solidFill>
                <a:latin typeface="Century Gothic" pitchFamily="34" charset="0"/>
              </a:rPr>
              <a:t>virus Ebola </a:t>
            </a:r>
            <a:r>
              <a:rPr lang="fr-FR" sz="3200">
                <a:solidFill>
                  <a:schemeClr val="tx1"/>
                </a:solidFill>
                <a:latin typeface="Century Gothic" pitchFamily="34" charset="0"/>
              </a:rPr>
              <a:t>et à la maladie à </a:t>
            </a:r>
            <a:r>
              <a:rPr lang="fr-FR" sz="3200" b="1">
                <a:solidFill>
                  <a:schemeClr val="accent6"/>
                </a:solidFill>
                <a:latin typeface="Century Gothic" pitchFamily="34" charset="0"/>
              </a:rPr>
              <a:t>coronavirus </a:t>
            </a:r>
            <a:r>
              <a:rPr lang="fr-FR" sz="3200">
                <a:solidFill>
                  <a:schemeClr val="tx1"/>
                </a:solidFill>
                <a:latin typeface="Century Gothic" pitchFamily="34" charset="0"/>
              </a:rPr>
              <a:t>avec des taux de morbidité et de mortalité très élevés. </a:t>
            </a:r>
          </a:p>
          <a:p>
            <a:pPr marL="457200" indent="-457200">
              <a:lnSpc>
                <a:spcPct val="150000"/>
              </a:lnSpc>
              <a:spcAft>
                <a:spcPts val="1200"/>
              </a:spcAft>
              <a:buFont typeface="Wingdings" pitchFamily="2" charset="2"/>
              <a:buChar char="q"/>
            </a:pPr>
            <a:endParaRPr lang="fr-FR" sz="3200">
              <a:solidFill>
                <a:schemeClr val="tx1"/>
              </a:solidFill>
              <a:latin typeface="Century Gothic" pitchFamily="34" charset="0"/>
            </a:endParaRPr>
          </a:p>
          <a:p>
            <a:pPr>
              <a:lnSpc>
                <a:spcPct val="150000"/>
              </a:lnSpc>
              <a:spcAft>
                <a:spcPts val="1200"/>
              </a:spcAft>
            </a:pPr>
            <a:endParaRPr lang="fr-FR" sz="3200" dirty="0">
              <a:solidFill>
                <a:schemeClr val="tx1"/>
              </a:solidFill>
              <a:latin typeface="Century Gothic" pitchFamily="34" charset="0"/>
            </a:endParaRPr>
          </a:p>
        </p:txBody>
      </p:sp>
    </p:spTree>
    <p:extLst>
      <p:ext uri="{BB962C8B-B14F-4D97-AF65-F5344CB8AC3E}">
        <p14:creationId xmlns:p14="http://schemas.microsoft.com/office/powerpoint/2010/main" val="1744121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3117" y="230542"/>
            <a:ext cx="10515600" cy="747654"/>
          </a:xfrm>
        </p:spPr>
        <p:txBody>
          <a:bodyPr>
            <a:noAutofit/>
          </a:bodyPr>
          <a:lstStyle/>
          <a:p>
            <a:pPr algn="ctr"/>
            <a:r>
              <a:rPr lang="fr-FR" sz="4400" b="1">
                <a:solidFill>
                  <a:srgbClr val="C00000"/>
                </a:solidFill>
                <a:latin typeface="Century Gothic" pitchFamily="34" charset="0"/>
              </a:rPr>
              <a:t>Introduction(2/4 )</a:t>
            </a:r>
            <a:endParaRPr lang="fr-FR" sz="4400" dirty="0">
              <a:solidFill>
                <a:srgbClr val="C00000"/>
              </a:solidFill>
              <a:latin typeface="Century Gothic" pitchFamily="34" charset="0"/>
            </a:endParaRPr>
          </a:p>
        </p:txBody>
      </p:sp>
      <p:sp>
        <p:nvSpPr>
          <p:cNvPr id="3" name="Espace réservé du texte 2"/>
          <p:cNvSpPr>
            <a:spLocks noGrp="1"/>
          </p:cNvSpPr>
          <p:nvPr>
            <p:ph type="body" idx="1"/>
          </p:nvPr>
        </p:nvSpPr>
        <p:spPr>
          <a:xfrm>
            <a:off x="174172" y="1084521"/>
            <a:ext cx="11669486" cy="5120336"/>
          </a:xfrm>
        </p:spPr>
        <p:txBody>
          <a:bodyPr>
            <a:noAutofit/>
          </a:bodyPr>
          <a:lstStyle/>
          <a:p>
            <a:pPr marL="457200" indent="-457200">
              <a:lnSpc>
                <a:spcPct val="150000"/>
              </a:lnSpc>
              <a:spcAft>
                <a:spcPts val="1200"/>
              </a:spcAft>
              <a:buFont typeface="Wingdings" pitchFamily="2" charset="2"/>
              <a:buChar char="q"/>
            </a:pPr>
            <a:r>
              <a:rPr lang="fr-FR" sz="3200">
                <a:solidFill>
                  <a:schemeClr val="tx1"/>
                </a:solidFill>
                <a:latin typeface="Century Gothic" pitchFamily="34" charset="0"/>
              </a:rPr>
              <a:t>Malheureusement, les pays dont </a:t>
            </a:r>
            <a:r>
              <a:rPr lang="fr-FR" sz="3200" b="1">
                <a:solidFill>
                  <a:schemeClr val="accent6"/>
                </a:solidFill>
                <a:latin typeface="Century Gothic" pitchFamily="34" charset="0"/>
              </a:rPr>
              <a:t>les systèmes de surveillance</a:t>
            </a:r>
            <a:r>
              <a:rPr lang="fr-FR" sz="3200">
                <a:solidFill>
                  <a:schemeClr val="tx1"/>
                </a:solidFill>
                <a:latin typeface="Century Gothic" pitchFamily="34" charset="0"/>
              </a:rPr>
              <a:t> sont peu performants ne sont pas à mesure de </a:t>
            </a:r>
            <a:r>
              <a:rPr lang="fr-FR" sz="3200" b="1">
                <a:solidFill>
                  <a:schemeClr val="accent6"/>
                </a:solidFill>
                <a:latin typeface="Century Gothic" pitchFamily="34" charset="0"/>
              </a:rPr>
              <a:t>détecter les menaces </a:t>
            </a:r>
            <a:r>
              <a:rPr lang="fr-FR" sz="3200">
                <a:solidFill>
                  <a:schemeClr val="tx1"/>
                </a:solidFill>
                <a:latin typeface="Century Gothic" pitchFamily="34" charset="0"/>
              </a:rPr>
              <a:t>pour la santé publique ou les évènements de santé publique afin </a:t>
            </a:r>
            <a:r>
              <a:rPr lang="fr-FR" sz="3200" b="1">
                <a:solidFill>
                  <a:schemeClr val="accent6"/>
                </a:solidFill>
                <a:latin typeface="Century Gothic" pitchFamily="34" charset="0"/>
              </a:rPr>
              <a:t>d’y répondre à temps voulu</a:t>
            </a:r>
            <a:r>
              <a:rPr lang="fr-FR" sz="3200">
                <a:solidFill>
                  <a:schemeClr val="tx1"/>
                </a:solidFill>
                <a:latin typeface="Century Gothic" pitchFamily="34" charset="0"/>
              </a:rPr>
              <a:t>. </a:t>
            </a:r>
          </a:p>
          <a:p>
            <a:pPr marL="457200" indent="-457200">
              <a:lnSpc>
                <a:spcPct val="150000"/>
              </a:lnSpc>
              <a:spcAft>
                <a:spcPts val="1200"/>
              </a:spcAft>
              <a:buFont typeface="Wingdings" pitchFamily="2" charset="2"/>
              <a:buChar char="q"/>
            </a:pPr>
            <a:endParaRPr lang="fr-FR" sz="3200">
              <a:solidFill>
                <a:schemeClr val="tx1"/>
              </a:solidFill>
              <a:latin typeface="Century Gothic" pitchFamily="34" charset="0"/>
            </a:endParaRPr>
          </a:p>
          <a:p>
            <a:pPr marL="457200" indent="-457200">
              <a:lnSpc>
                <a:spcPct val="150000"/>
              </a:lnSpc>
              <a:spcAft>
                <a:spcPts val="1200"/>
              </a:spcAft>
              <a:buFont typeface="Wingdings" pitchFamily="2" charset="2"/>
              <a:buChar char="q"/>
            </a:pPr>
            <a:endParaRPr lang="fr-FR" sz="3200">
              <a:solidFill>
                <a:schemeClr val="tx1"/>
              </a:solidFill>
              <a:latin typeface="Century Gothic" pitchFamily="34" charset="0"/>
            </a:endParaRPr>
          </a:p>
          <a:p>
            <a:pPr>
              <a:lnSpc>
                <a:spcPct val="150000"/>
              </a:lnSpc>
              <a:spcAft>
                <a:spcPts val="1200"/>
              </a:spcAft>
            </a:pPr>
            <a:endParaRPr lang="fr-FR" sz="3200" dirty="0">
              <a:solidFill>
                <a:schemeClr val="tx1"/>
              </a:solidFill>
              <a:latin typeface="Century Gothic" pitchFamily="34" charset="0"/>
            </a:endParaRPr>
          </a:p>
        </p:txBody>
      </p:sp>
    </p:spTree>
    <p:extLst>
      <p:ext uri="{BB962C8B-B14F-4D97-AF65-F5344CB8AC3E}">
        <p14:creationId xmlns:p14="http://schemas.microsoft.com/office/powerpoint/2010/main" val="3924817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a:solidFill>
                  <a:srgbClr val="C00000"/>
                </a:solidFill>
                <a:latin typeface="Century Gothic" pitchFamily="34" charset="0"/>
              </a:rPr>
              <a:t>Introduction(4/4 )</a:t>
            </a:r>
            <a:endParaRPr lang="fr-FR" sz="44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80721" y="1645920"/>
            <a:ext cx="10984410" cy="4271554"/>
          </a:xfrm>
        </p:spPr>
        <p:txBody>
          <a:bodyPr>
            <a:normAutofit fontScale="92500"/>
          </a:bodyPr>
          <a:lstStyle/>
          <a:p>
            <a:pPr marL="457200" indent="-457200">
              <a:lnSpc>
                <a:spcPct val="150000"/>
              </a:lnSpc>
              <a:spcAft>
                <a:spcPts val="1200"/>
              </a:spcAft>
              <a:buFont typeface="Wingdings" pitchFamily="2" charset="2"/>
              <a:buChar char="q"/>
            </a:pPr>
            <a:r>
              <a:rPr lang="fr-FR" sz="3600" dirty="0">
                <a:solidFill>
                  <a:schemeClr val="tx1"/>
                </a:solidFill>
                <a:latin typeface="Century Gothic" pitchFamily="34" charset="0"/>
              </a:rPr>
              <a:t>En Côte d’Ivoire, plusieurs maladies sont sous surveillance(</a:t>
            </a:r>
            <a:r>
              <a:rPr lang="fr-FR" sz="3600" b="1" dirty="0">
                <a:solidFill>
                  <a:schemeClr val="tx1"/>
                </a:solidFill>
                <a:latin typeface="Century Gothic" pitchFamily="34" charset="0"/>
              </a:rPr>
              <a:t>52</a:t>
            </a:r>
            <a:r>
              <a:rPr lang="fr-FR" sz="3600" dirty="0">
                <a:solidFill>
                  <a:schemeClr val="tx1"/>
                </a:solidFill>
                <a:latin typeface="Century Gothic" pitchFamily="34" charset="0"/>
              </a:rPr>
              <a:t>).(</a:t>
            </a:r>
            <a:r>
              <a:rPr lang="fr-FR" sz="3600" dirty="0">
                <a:solidFill>
                  <a:srgbClr val="FF0000"/>
                </a:solidFill>
                <a:latin typeface="Century Gothic" pitchFamily="34" charset="0"/>
              </a:rPr>
              <a:t>faire afficher le document </a:t>
            </a:r>
            <a:r>
              <a:rPr lang="fr-FR" sz="3600" dirty="0" err="1">
                <a:solidFill>
                  <a:srgbClr val="FF0000"/>
                </a:solidFill>
                <a:latin typeface="Century Gothic" pitchFamily="34" charset="0"/>
              </a:rPr>
              <a:t>excel</a:t>
            </a:r>
            <a:r>
              <a:rPr lang="fr-FR" sz="3600" dirty="0">
                <a:solidFill>
                  <a:srgbClr val="FF0000"/>
                </a:solidFill>
                <a:latin typeface="Century Gothic" pitchFamily="34" charset="0"/>
              </a:rPr>
              <a:t>)</a:t>
            </a:r>
          </a:p>
          <a:p>
            <a:pPr marL="457200" indent="-457200">
              <a:lnSpc>
                <a:spcPct val="150000"/>
              </a:lnSpc>
              <a:spcAft>
                <a:spcPts val="1200"/>
              </a:spcAft>
              <a:buFont typeface="Wingdings" pitchFamily="2" charset="2"/>
              <a:buChar char="q"/>
            </a:pPr>
            <a:r>
              <a:rPr lang="fr-FR" sz="3600" dirty="0">
                <a:solidFill>
                  <a:schemeClr val="tx1"/>
                </a:solidFill>
                <a:latin typeface="Century Gothic" pitchFamily="34" charset="0"/>
              </a:rPr>
              <a:t> Dans ce chapitre, nous ne décrirons que quelques-unes (08)comme suite:</a:t>
            </a:r>
          </a:p>
          <a:p>
            <a:pPr algn="just">
              <a:lnSpc>
                <a:spcPct val="150000"/>
              </a:lnSpc>
              <a:spcAft>
                <a:spcPts val="1200"/>
              </a:spcAft>
            </a:pPr>
            <a:endParaRPr lang="fr-FR" sz="3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392259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a:solidFill>
                  <a:srgbClr val="C00000"/>
                </a:solidFill>
                <a:latin typeface="Century Gothic" pitchFamily="34" charset="0"/>
              </a:rPr>
              <a:t>Introduction(4/4 )</a:t>
            </a:r>
            <a:endParaRPr lang="fr-FR" sz="44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83326" y="1306285"/>
            <a:ext cx="11508377" cy="4898571"/>
          </a:xfrm>
        </p:spPr>
        <p:txBody>
          <a:bodyPr>
            <a:normAutofit fontScale="92500"/>
          </a:bodyPr>
          <a:lstStyle/>
          <a:p>
            <a:pPr marL="571500" indent="-571500">
              <a:lnSpc>
                <a:spcPct val="150000"/>
              </a:lnSpc>
              <a:spcAft>
                <a:spcPts val="1200"/>
              </a:spcAft>
              <a:buFont typeface="Wingdings" panose="05000000000000000000" pitchFamily="2" charset="2"/>
              <a:buChar char="Ø"/>
            </a:pPr>
            <a:r>
              <a:rPr lang="fr-FR" sz="3600" dirty="0">
                <a:solidFill>
                  <a:schemeClr val="tx1"/>
                </a:solidFill>
                <a:latin typeface="Century Gothic" pitchFamily="34" charset="0"/>
              </a:rPr>
              <a:t>La Paralysie Flasque Aigue (PFA)</a:t>
            </a:r>
          </a:p>
          <a:p>
            <a:pPr marL="571500" indent="-571500">
              <a:lnSpc>
                <a:spcPct val="150000"/>
              </a:lnSpc>
              <a:spcAft>
                <a:spcPts val="1200"/>
              </a:spcAft>
              <a:buFont typeface="Wingdings" panose="05000000000000000000" pitchFamily="2" charset="2"/>
              <a:buChar char="Ø"/>
            </a:pPr>
            <a:r>
              <a:rPr lang="fr-FR" sz="3600" dirty="0">
                <a:solidFill>
                  <a:schemeClr val="tx1"/>
                </a:solidFill>
                <a:latin typeface="Century Gothic" pitchFamily="34" charset="0"/>
              </a:rPr>
              <a:t>La Poliomyélite due à un poliovirus de type sauvage</a:t>
            </a:r>
          </a:p>
          <a:p>
            <a:pPr marL="571500" indent="-571500">
              <a:lnSpc>
                <a:spcPct val="150000"/>
              </a:lnSpc>
              <a:spcAft>
                <a:spcPts val="1200"/>
              </a:spcAft>
              <a:buFont typeface="Wingdings" panose="05000000000000000000" pitchFamily="2" charset="2"/>
              <a:buChar char="Ø"/>
            </a:pPr>
            <a:r>
              <a:rPr lang="fr-FR" sz="3600" dirty="0">
                <a:solidFill>
                  <a:schemeClr val="tx1"/>
                </a:solidFill>
                <a:latin typeface="Century Gothic" pitchFamily="34" charset="0"/>
              </a:rPr>
              <a:t>La poliomyélite due à un poliovirus dérivé d’une souche vaccinale</a:t>
            </a:r>
          </a:p>
          <a:p>
            <a:pPr marL="571500" indent="-571500">
              <a:lnSpc>
                <a:spcPct val="150000"/>
              </a:lnSpc>
              <a:spcAft>
                <a:spcPts val="1200"/>
              </a:spcAft>
              <a:buFont typeface="Wingdings" panose="05000000000000000000" pitchFamily="2" charset="2"/>
              <a:buChar char="Ø"/>
            </a:pPr>
            <a:r>
              <a:rPr lang="fr-FR" sz="3600" dirty="0">
                <a:solidFill>
                  <a:schemeClr val="tx1"/>
                </a:solidFill>
                <a:latin typeface="Century Gothic" pitchFamily="34" charset="0"/>
              </a:rPr>
              <a:t>Le Syndrome Respiratoire Aigu Sévère (SRAS)</a:t>
            </a:r>
          </a:p>
          <a:p>
            <a:pPr algn="just">
              <a:lnSpc>
                <a:spcPct val="150000"/>
              </a:lnSpc>
              <a:spcAft>
                <a:spcPts val="1200"/>
              </a:spcAft>
            </a:pPr>
            <a:endParaRPr lang="fr-FR" sz="3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659280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a:solidFill>
                  <a:srgbClr val="C00000"/>
                </a:solidFill>
                <a:latin typeface="Century Gothic" pitchFamily="34" charset="0"/>
              </a:rPr>
              <a:t>Introduction(4/4 )</a:t>
            </a:r>
            <a:endParaRPr lang="fr-FR" sz="44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78822" y="1306285"/>
            <a:ext cx="11482251" cy="4833257"/>
          </a:xfrm>
        </p:spPr>
        <p:txBody>
          <a:bodyPr>
            <a:normAutofit/>
          </a:bodyPr>
          <a:lstStyle/>
          <a:p>
            <a:pPr marL="571500" indent="-571500">
              <a:lnSpc>
                <a:spcPct val="150000"/>
              </a:lnSpc>
              <a:spcAft>
                <a:spcPts val="1200"/>
              </a:spcAft>
              <a:buFont typeface="Wingdings" panose="05000000000000000000" pitchFamily="2" charset="2"/>
              <a:buChar char="v"/>
            </a:pPr>
            <a:r>
              <a:rPr lang="fr-FR" sz="3600" dirty="0">
                <a:solidFill>
                  <a:schemeClr val="tx1"/>
                </a:solidFill>
                <a:latin typeface="Century Gothic" pitchFamily="34" charset="0"/>
              </a:rPr>
              <a:t>La rougeole</a:t>
            </a:r>
          </a:p>
          <a:p>
            <a:pPr marL="571500" indent="-571500">
              <a:lnSpc>
                <a:spcPct val="150000"/>
              </a:lnSpc>
              <a:spcAft>
                <a:spcPts val="1200"/>
              </a:spcAft>
              <a:buFont typeface="Wingdings" panose="05000000000000000000" pitchFamily="2" charset="2"/>
              <a:buChar char="v"/>
            </a:pPr>
            <a:r>
              <a:rPr lang="fr-FR" sz="3600" dirty="0">
                <a:solidFill>
                  <a:schemeClr val="tx1"/>
                </a:solidFill>
                <a:latin typeface="Century Gothic" pitchFamily="34" charset="0"/>
              </a:rPr>
              <a:t>La fièvre jaune(FJ)</a:t>
            </a:r>
          </a:p>
          <a:p>
            <a:pPr marL="571500" indent="-571500">
              <a:lnSpc>
                <a:spcPct val="150000"/>
              </a:lnSpc>
              <a:spcAft>
                <a:spcPts val="1200"/>
              </a:spcAft>
              <a:buFont typeface="Wingdings" panose="05000000000000000000" pitchFamily="2" charset="2"/>
              <a:buChar char="v"/>
            </a:pPr>
            <a:r>
              <a:rPr lang="fr-FR" sz="3600" dirty="0">
                <a:solidFill>
                  <a:schemeClr val="tx1"/>
                </a:solidFill>
                <a:latin typeface="Century Gothic" pitchFamily="34" charset="0"/>
              </a:rPr>
              <a:t>Le tétanos néonatal (TNN)</a:t>
            </a:r>
          </a:p>
          <a:p>
            <a:pPr marL="571500" indent="-571500">
              <a:lnSpc>
                <a:spcPct val="150000"/>
              </a:lnSpc>
              <a:spcAft>
                <a:spcPts val="1200"/>
              </a:spcAft>
              <a:buFont typeface="Wingdings" panose="05000000000000000000" pitchFamily="2" charset="2"/>
              <a:buChar char="v"/>
            </a:pPr>
            <a:r>
              <a:rPr lang="fr-FR" sz="3600" dirty="0">
                <a:solidFill>
                  <a:schemeClr val="tx1"/>
                </a:solidFill>
                <a:latin typeface="Century Gothic" pitchFamily="34" charset="0"/>
              </a:rPr>
              <a:t>La maladie à coronavirus ou COVID-19</a:t>
            </a:r>
          </a:p>
          <a:p>
            <a:pPr algn="just">
              <a:lnSpc>
                <a:spcPct val="150000"/>
              </a:lnSpc>
              <a:spcAft>
                <a:spcPts val="1200"/>
              </a:spcAft>
            </a:pPr>
            <a:endParaRPr lang="fr-FR" sz="3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2508048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1/8</a:t>
            </a:r>
          </a:p>
        </p:txBody>
      </p:sp>
      <p:sp>
        <p:nvSpPr>
          <p:cNvPr id="3" name="Espace réservé du texte 2"/>
          <p:cNvSpPr>
            <a:spLocks noGrp="1"/>
          </p:cNvSpPr>
          <p:nvPr>
            <p:ph type="body" idx="1"/>
          </p:nvPr>
        </p:nvSpPr>
        <p:spPr>
          <a:xfrm>
            <a:off x="1066800" y="1306287"/>
            <a:ext cx="10016836" cy="4715690"/>
          </a:xfrm>
        </p:spPr>
        <p:txBody>
          <a:bodyPr>
            <a:normAutofit lnSpcReduction="10000"/>
          </a:bodyPr>
          <a:lstStyle/>
          <a:p>
            <a:pPr marL="457200" indent="-457200" algn="just">
              <a:lnSpc>
                <a:spcPct val="150000"/>
              </a:lnSpc>
              <a:spcAft>
                <a:spcPts val="1200"/>
              </a:spcAft>
              <a:buFont typeface="Wingdings" pitchFamily="2" charset="2"/>
              <a:buChar char="q"/>
            </a:pPr>
            <a:r>
              <a:rPr lang="fr-FR" sz="3200" b="1" dirty="0">
                <a:solidFill>
                  <a:srgbClr val="C00000"/>
                </a:solidFill>
                <a:latin typeface="Century Gothic" pitchFamily="34" charset="0"/>
              </a:rPr>
              <a:t>la Surveillance</a:t>
            </a:r>
            <a:endParaRPr lang="fr-FR" sz="3200" dirty="0">
              <a:solidFill>
                <a:schemeClr val="tx1"/>
              </a:solidFill>
              <a:latin typeface="Century Gothic" panose="020B0502020202020204" pitchFamily="34" charset="0"/>
            </a:endParaRPr>
          </a:p>
          <a:p>
            <a:pPr marL="457200" indent="-457200" algn="just">
              <a:lnSpc>
                <a:spcPct val="150000"/>
              </a:lnSpc>
              <a:spcAft>
                <a:spcPts val="1200"/>
              </a:spcAft>
              <a:buFont typeface="Wingdings" panose="05000000000000000000" pitchFamily="2" charset="2"/>
              <a:buChar char="v"/>
            </a:pPr>
            <a:r>
              <a:rPr lang="fr-FR" sz="3200" dirty="0">
                <a:solidFill>
                  <a:schemeClr val="tx1"/>
                </a:solidFill>
                <a:latin typeface="Century Gothic" panose="020B0502020202020204" pitchFamily="34" charset="0"/>
              </a:rPr>
              <a:t> La surveillance est un processus de collecte systématique, organisé et continu de données de santé ainsi que leur analyse, interprétation et dissémination dans une perspective d'aide à la décision et d'évaluation.</a:t>
            </a:r>
            <a:endParaRPr lang="fr-CI" sz="3200" dirty="0">
              <a:solidFill>
                <a:schemeClr val="tx1"/>
              </a:solidFill>
              <a:latin typeface="Century Gothic" panose="020B0502020202020204" pitchFamily="34" charset="0"/>
            </a:endParaRPr>
          </a:p>
          <a:p>
            <a:pPr algn="just">
              <a:lnSpc>
                <a:spcPct val="150000"/>
              </a:lnSpc>
              <a:spcAft>
                <a:spcPts val="1200"/>
              </a:spcAft>
            </a:pPr>
            <a:endParaRPr lang="fr-FR" sz="3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908239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2/8</a:t>
            </a:r>
          </a:p>
        </p:txBody>
      </p:sp>
      <p:sp>
        <p:nvSpPr>
          <p:cNvPr id="3" name="Espace réservé du texte 2"/>
          <p:cNvSpPr>
            <a:spLocks noGrp="1"/>
          </p:cNvSpPr>
          <p:nvPr>
            <p:ph type="body" idx="1"/>
          </p:nvPr>
        </p:nvSpPr>
        <p:spPr>
          <a:xfrm>
            <a:off x="1066800" y="1306287"/>
            <a:ext cx="10016836" cy="4715690"/>
          </a:xfrm>
        </p:spPr>
        <p:txBody>
          <a:bodyPr>
            <a:normAutofit fontScale="77500" lnSpcReduction="20000"/>
          </a:bodyPr>
          <a:lstStyle/>
          <a:p>
            <a:pPr marL="457200" indent="-457200" algn="just">
              <a:lnSpc>
                <a:spcPct val="150000"/>
              </a:lnSpc>
              <a:spcAft>
                <a:spcPts val="1200"/>
              </a:spcAft>
              <a:buFont typeface="Wingdings" pitchFamily="2" charset="2"/>
              <a:buChar char="q"/>
            </a:pPr>
            <a:r>
              <a:rPr lang="fr-FR" sz="3200" b="1" dirty="0">
                <a:solidFill>
                  <a:srgbClr val="C00000"/>
                </a:solidFill>
                <a:latin typeface="Century Gothic" pitchFamily="34" charset="0"/>
              </a:rPr>
              <a:t>La Surveillance intégrée de la maladie et réponse (SIMR) </a:t>
            </a:r>
          </a:p>
          <a:p>
            <a:pPr algn="just">
              <a:lnSpc>
                <a:spcPct val="150000"/>
              </a:lnSpc>
              <a:spcAft>
                <a:spcPts val="1200"/>
              </a:spcAft>
            </a:pPr>
            <a:r>
              <a:rPr lang="fr-FR" sz="3200" b="1" dirty="0">
                <a:solidFill>
                  <a:srgbClr val="0070C0"/>
                </a:solidFill>
                <a:latin typeface="Century Gothic" pitchFamily="34" charset="0"/>
              </a:rPr>
              <a:t>Selon le Guide technique pour la surveillance intégrée de la maladie et la riposte dans la région africaine(2019)</a:t>
            </a:r>
            <a:r>
              <a:rPr lang="fr-FR" sz="3200" b="1" dirty="0">
                <a:solidFill>
                  <a:schemeClr val="tx1"/>
                </a:solidFill>
                <a:latin typeface="Century Gothic" pitchFamily="34" charset="0"/>
              </a:rPr>
              <a:t>, la SIMR </a:t>
            </a:r>
            <a:r>
              <a:rPr lang="fr-FR" sz="3200" dirty="0">
                <a:solidFill>
                  <a:schemeClr val="tx1"/>
                </a:solidFill>
                <a:latin typeface="Century Gothic" panose="020B0502020202020204" pitchFamily="34" charset="0"/>
              </a:rPr>
              <a:t>est une stratégie adoptée par les pays de la Région africaine de l'OMS pour mettre en œuvre des systèmes complets de surveillance de la santé publique et de riposte pour les </a:t>
            </a:r>
            <a:r>
              <a:rPr lang="fr-FR" sz="3200" b="1" dirty="0">
                <a:solidFill>
                  <a:schemeClr val="tx1"/>
                </a:solidFill>
                <a:latin typeface="Century Gothic" panose="020B0502020202020204" pitchFamily="34" charset="0"/>
              </a:rPr>
              <a:t>maladies</a:t>
            </a:r>
            <a:r>
              <a:rPr lang="fr-FR" sz="3200" dirty="0">
                <a:solidFill>
                  <a:srgbClr val="00B050"/>
                </a:solidFill>
                <a:latin typeface="Century Gothic" panose="020B0502020202020204" pitchFamily="34" charset="0"/>
              </a:rPr>
              <a:t>,</a:t>
            </a:r>
            <a:r>
              <a:rPr lang="fr-FR" sz="3200" dirty="0">
                <a:solidFill>
                  <a:schemeClr val="tx1"/>
                </a:solidFill>
                <a:latin typeface="Century Gothic" panose="020B0502020202020204" pitchFamily="34" charset="0"/>
              </a:rPr>
              <a:t> </a:t>
            </a:r>
            <a:r>
              <a:rPr lang="fr-FR" sz="3200" b="1" dirty="0">
                <a:solidFill>
                  <a:schemeClr val="tx1"/>
                </a:solidFill>
                <a:latin typeface="Century Gothic" panose="020B0502020202020204" pitchFamily="34" charset="0"/>
              </a:rPr>
              <a:t>affections</a:t>
            </a:r>
            <a:r>
              <a:rPr lang="fr-FR" sz="3200" dirty="0">
                <a:solidFill>
                  <a:schemeClr val="tx1"/>
                </a:solidFill>
                <a:latin typeface="Century Gothic" panose="020B0502020202020204" pitchFamily="34" charset="0"/>
              </a:rPr>
              <a:t> et </a:t>
            </a:r>
            <a:r>
              <a:rPr lang="fr-FR" sz="3200" b="1" dirty="0">
                <a:solidFill>
                  <a:schemeClr val="tx1"/>
                </a:solidFill>
                <a:latin typeface="Century Gothic" panose="020B0502020202020204" pitchFamily="34" charset="0"/>
              </a:rPr>
              <a:t>événements prioritaires </a:t>
            </a:r>
            <a:r>
              <a:rPr lang="fr-FR" sz="3200" dirty="0">
                <a:solidFill>
                  <a:schemeClr val="tx1"/>
                </a:solidFill>
                <a:latin typeface="Century Gothic" panose="020B0502020202020204" pitchFamily="34" charset="0"/>
              </a:rPr>
              <a:t>à tous les niveaux notamment au niveau communautaire et national.</a:t>
            </a:r>
          </a:p>
        </p:txBody>
      </p:sp>
    </p:spTree>
    <p:extLst>
      <p:ext uri="{BB962C8B-B14F-4D97-AF65-F5344CB8AC3E}">
        <p14:creationId xmlns:p14="http://schemas.microsoft.com/office/powerpoint/2010/main" val="224298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3/8</a:t>
            </a:r>
          </a:p>
        </p:txBody>
      </p:sp>
      <p:sp>
        <p:nvSpPr>
          <p:cNvPr id="3" name="Espace réservé du texte 2"/>
          <p:cNvSpPr>
            <a:spLocks noGrp="1"/>
          </p:cNvSpPr>
          <p:nvPr>
            <p:ph type="body" idx="1"/>
          </p:nvPr>
        </p:nvSpPr>
        <p:spPr>
          <a:xfrm>
            <a:off x="470263" y="1593669"/>
            <a:ext cx="11416937" cy="4637314"/>
          </a:xfrm>
        </p:spPr>
        <p:txBody>
          <a:bodyPr>
            <a:normAutofit/>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La Définition de cas</a:t>
            </a:r>
            <a:endParaRPr lang="fr-FR" sz="3200" dirty="0">
              <a:solidFill>
                <a:schemeClr val="tx1"/>
              </a:solidFill>
              <a:latin typeface="Century Gothic" panose="020B0502020202020204" pitchFamily="34" charset="0"/>
            </a:endParaRPr>
          </a:p>
          <a:p>
            <a:pPr marL="457200" indent="-457200" algn="just">
              <a:lnSpc>
                <a:spcPct val="150000"/>
              </a:lnSpc>
              <a:spcAft>
                <a:spcPts val="1200"/>
              </a:spcAft>
              <a:buFont typeface="Wingdings" panose="05000000000000000000" pitchFamily="2" charset="2"/>
              <a:buChar char="v"/>
            </a:pPr>
            <a:r>
              <a:rPr lang="fr-FR" sz="3200" dirty="0">
                <a:solidFill>
                  <a:schemeClr val="tx1"/>
                </a:solidFill>
                <a:latin typeface="Century Gothic" panose="020B0502020202020204" pitchFamily="34" charset="0"/>
              </a:rPr>
              <a:t>C’est un ensemble de critères cliniques et ou  de laboratoire utilisés pour déterminer si une personne est atteinte d’une maladie particulière. </a:t>
            </a:r>
          </a:p>
        </p:txBody>
      </p:sp>
    </p:spTree>
    <p:extLst>
      <p:ext uri="{BB962C8B-B14F-4D97-AF65-F5344CB8AC3E}">
        <p14:creationId xmlns:p14="http://schemas.microsoft.com/office/powerpoint/2010/main" val="665850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3/8</a:t>
            </a:r>
          </a:p>
        </p:txBody>
      </p:sp>
      <p:sp>
        <p:nvSpPr>
          <p:cNvPr id="3" name="Espace réservé du texte 2"/>
          <p:cNvSpPr>
            <a:spLocks noGrp="1"/>
          </p:cNvSpPr>
          <p:nvPr>
            <p:ph type="body" idx="1"/>
          </p:nvPr>
        </p:nvSpPr>
        <p:spPr>
          <a:xfrm>
            <a:off x="470263" y="1593669"/>
            <a:ext cx="11416937" cy="4637314"/>
          </a:xfrm>
        </p:spPr>
        <p:txBody>
          <a:bodyPr>
            <a:normAutofit/>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La Définition de cas clinique</a:t>
            </a:r>
            <a:endParaRPr lang="fr-FR" sz="3200" dirty="0">
              <a:solidFill>
                <a:schemeClr val="tx1"/>
              </a:solidFill>
              <a:latin typeface="Century Gothic" panose="020B0502020202020204" pitchFamily="34" charset="0"/>
            </a:endParaRPr>
          </a:p>
          <a:p>
            <a:pPr marL="457200" indent="-457200">
              <a:lnSpc>
                <a:spcPct val="150000"/>
              </a:lnSpc>
              <a:spcAft>
                <a:spcPts val="1200"/>
              </a:spcAft>
              <a:buFont typeface="Wingdings" panose="05000000000000000000" pitchFamily="2" charset="2"/>
              <a:buChar char="v"/>
            </a:pPr>
            <a:r>
              <a:rPr lang="fr-FR" sz="3200" dirty="0">
                <a:solidFill>
                  <a:schemeClr val="tx1"/>
                </a:solidFill>
                <a:latin typeface="Century Gothic" panose="020B0502020202020204" pitchFamily="34" charset="0"/>
              </a:rPr>
              <a:t>C’est un ensemble de critères (symptômes) permettant de poser un diagnostic pour un traitement susceptible de sauver la vie du patient.</a:t>
            </a:r>
          </a:p>
        </p:txBody>
      </p:sp>
    </p:spTree>
    <p:extLst>
      <p:ext uri="{BB962C8B-B14F-4D97-AF65-F5344CB8AC3E}">
        <p14:creationId xmlns:p14="http://schemas.microsoft.com/office/powerpoint/2010/main" val="196959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3117" y="230542"/>
            <a:ext cx="10515600" cy="747654"/>
          </a:xfrm>
        </p:spPr>
        <p:txBody>
          <a:bodyPr>
            <a:noAutofit/>
          </a:bodyPr>
          <a:lstStyle/>
          <a:p>
            <a:pPr algn="ctr"/>
            <a:r>
              <a:rPr lang="fr-FR" sz="4400" b="1" dirty="0">
                <a:solidFill>
                  <a:srgbClr val="C00000"/>
                </a:solidFill>
                <a:latin typeface="Century Gothic" pitchFamily="34" charset="0"/>
              </a:rPr>
              <a:t>I. Définition des concepts   4/8 </a:t>
            </a:r>
            <a:endParaRPr lang="fr-FR" sz="4400" dirty="0">
              <a:solidFill>
                <a:srgbClr val="C00000"/>
              </a:solidFill>
              <a:latin typeface="Century Gothic" pitchFamily="34" charset="0"/>
            </a:endParaRPr>
          </a:p>
        </p:txBody>
      </p:sp>
      <p:sp>
        <p:nvSpPr>
          <p:cNvPr id="3" name="Espace réservé du texte 2"/>
          <p:cNvSpPr>
            <a:spLocks noGrp="1"/>
          </p:cNvSpPr>
          <p:nvPr>
            <p:ph type="body" idx="1"/>
          </p:nvPr>
        </p:nvSpPr>
        <p:spPr>
          <a:xfrm>
            <a:off x="505096" y="1332410"/>
            <a:ext cx="11338561" cy="4789715"/>
          </a:xfrm>
        </p:spPr>
        <p:txBody>
          <a:bodyPr>
            <a:noAutofit/>
          </a:bodyPr>
          <a:lstStyle/>
          <a:p>
            <a:pPr marL="457200" indent="-457200">
              <a:lnSpc>
                <a:spcPct val="150000"/>
              </a:lnSpc>
              <a:spcAft>
                <a:spcPts val="1200"/>
              </a:spcAft>
              <a:buFont typeface="Wingdings" pitchFamily="2" charset="2"/>
              <a:buChar char="q"/>
            </a:pPr>
            <a:r>
              <a:rPr lang="fr-FR" sz="3200" b="1" dirty="0">
                <a:solidFill>
                  <a:schemeClr val="tx1"/>
                </a:solidFill>
                <a:latin typeface="Century Gothic" panose="020B0502020202020204" pitchFamily="34" charset="0"/>
              </a:rPr>
              <a:t>La Définition de cas épidémiologique</a:t>
            </a:r>
          </a:p>
          <a:p>
            <a:pPr>
              <a:lnSpc>
                <a:spcPct val="150000"/>
              </a:lnSpc>
              <a:spcAft>
                <a:spcPts val="1200"/>
              </a:spcAft>
            </a:pPr>
            <a:r>
              <a:rPr lang="fr-FR" sz="3200" dirty="0">
                <a:solidFill>
                  <a:schemeClr val="tx1"/>
                </a:solidFill>
                <a:latin typeface="Century Gothic" pitchFamily="34" charset="0"/>
              </a:rPr>
              <a:t>C’est un ensemble de critères qui permettent de préciser les maladies qui doivent être notifiées pour la surveillance. </a:t>
            </a:r>
          </a:p>
          <a:p>
            <a:pPr marL="457200" indent="-457200">
              <a:lnSpc>
                <a:spcPct val="150000"/>
              </a:lnSpc>
              <a:spcAft>
                <a:spcPts val="1200"/>
              </a:spcAft>
              <a:buFont typeface="Wingdings" pitchFamily="2" charset="2"/>
              <a:buChar char="q"/>
            </a:pPr>
            <a:endParaRPr lang="fr-FR" sz="3200" dirty="0">
              <a:solidFill>
                <a:schemeClr val="tx1"/>
              </a:solidFill>
              <a:latin typeface="Century Gothic" pitchFamily="34" charset="0"/>
            </a:endParaRPr>
          </a:p>
          <a:p>
            <a:pPr marL="457200" indent="-457200">
              <a:lnSpc>
                <a:spcPct val="150000"/>
              </a:lnSpc>
              <a:spcAft>
                <a:spcPts val="1200"/>
              </a:spcAft>
              <a:buFont typeface="Wingdings" pitchFamily="2" charset="2"/>
              <a:buChar char="q"/>
            </a:pPr>
            <a:r>
              <a:rPr lang="fr-FR" sz="3200" dirty="0">
                <a:solidFill>
                  <a:schemeClr val="tx1"/>
                </a:solidFill>
                <a:latin typeface="Century Gothic" pitchFamily="34" charset="0"/>
              </a:rPr>
              <a:t>1.6. Classification des cas</a:t>
            </a:r>
          </a:p>
          <a:p>
            <a:pPr marL="457200" indent="-457200">
              <a:lnSpc>
                <a:spcPct val="150000"/>
              </a:lnSpc>
              <a:spcAft>
                <a:spcPts val="1200"/>
              </a:spcAft>
              <a:buFont typeface="Wingdings" pitchFamily="2" charset="2"/>
              <a:buChar char="q"/>
            </a:pPr>
            <a:r>
              <a:rPr lang="fr-FR" sz="3200" dirty="0">
                <a:solidFill>
                  <a:schemeClr val="tx1"/>
                </a:solidFill>
                <a:latin typeface="Century Gothic" pitchFamily="34" charset="0"/>
              </a:rPr>
              <a:t>C’est une technique qui permet classifier les cas de maladies en fonction du degré de certitude du diagnostic, l’on distingue les cas suspects, les cas probables, les cas confirmés.</a:t>
            </a:r>
          </a:p>
          <a:p>
            <a:pPr marL="457200" indent="-457200">
              <a:lnSpc>
                <a:spcPct val="150000"/>
              </a:lnSpc>
              <a:spcAft>
                <a:spcPts val="1200"/>
              </a:spcAft>
              <a:buFont typeface="Wingdings" pitchFamily="2" charset="2"/>
              <a:buChar char="q"/>
            </a:pPr>
            <a:endParaRPr lang="fr-FR" sz="3200" dirty="0">
              <a:solidFill>
                <a:schemeClr val="tx1"/>
              </a:solidFill>
              <a:latin typeface="Century Gothic" pitchFamily="34" charset="0"/>
            </a:endParaRPr>
          </a:p>
          <a:p>
            <a:pPr>
              <a:lnSpc>
                <a:spcPct val="150000"/>
              </a:lnSpc>
              <a:spcAft>
                <a:spcPts val="1200"/>
              </a:spcAft>
            </a:pPr>
            <a:endParaRPr lang="fr-FR" sz="3200" dirty="0">
              <a:solidFill>
                <a:schemeClr val="tx1"/>
              </a:solidFill>
              <a:latin typeface="Century Gothic" pitchFamily="34" charset="0"/>
            </a:endParaRPr>
          </a:p>
        </p:txBody>
      </p:sp>
    </p:spTree>
    <p:extLst>
      <p:ext uri="{BB962C8B-B14F-4D97-AF65-F5344CB8AC3E}">
        <p14:creationId xmlns:p14="http://schemas.microsoft.com/office/powerpoint/2010/main" val="1517862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3117" y="230542"/>
            <a:ext cx="10515600" cy="747654"/>
          </a:xfrm>
        </p:spPr>
        <p:txBody>
          <a:bodyPr>
            <a:noAutofit/>
          </a:bodyPr>
          <a:lstStyle/>
          <a:p>
            <a:pPr algn="ctr"/>
            <a:r>
              <a:rPr lang="fr-FR" sz="4400" b="1" dirty="0">
                <a:solidFill>
                  <a:srgbClr val="C00000"/>
                </a:solidFill>
                <a:latin typeface="Century Gothic" pitchFamily="34" charset="0"/>
              </a:rPr>
              <a:t>I. Définition des concepts   4/8 </a:t>
            </a:r>
            <a:endParaRPr lang="fr-FR" sz="4400" dirty="0">
              <a:solidFill>
                <a:srgbClr val="C00000"/>
              </a:solidFill>
              <a:latin typeface="Century Gothic" pitchFamily="34" charset="0"/>
            </a:endParaRPr>
          </a:p>
        </p:txBody>
      </p:sp>
      <p:sp>
        <p:nvSpPr>
          <p:cNvPr id="3" name="Espace réservé du texte 2"/>
          <p:cNvSpPr>
            <a:spLocks noGrp="1"/>
          </p:cNvSpPr>
          <p:nvPr>
            <p:ph type="body" idx="1"/>
          </p:nvPr>
        </p:nvSpPr>
        <p:spPr>
          <a:xfrm>
            <a:off x="505096" y="1332410"/>
            <a:ext cx="11338561" cy="4789715"/>
          </a:xfrm>
        </p:spPr>
        <p:txBody>
          <a:bodyPr>
            <a:noAutofit/>
          </a:bodyPr>
          <a:lstStyle/>
          <a:p>
            <a:pPr marL="457200" indent="-457200">
              <a:lnSpc>
                <a:spcPct val="150000"/>
              </a:lnSpc>
              <a:spcAft>
                <a:spcPts val="1200"/>
              </a:spcAft>
              <a:buFont typeface="Wingdings" pitchFamily="2" charset="2"/>
              <a:buChar char="q"/>
            </a:pPr>
            <a:r>
              <a:rPr lang="fr-FR" sz="3200" b="1" dirty="0">
                <a:solidFill>
                  <a:schemeClr val="tx1"/>
                </a:solidFill>
                <a:latin typeface="Century Gothic" pitchFamily="34" charset="0"/>
              </a:rPr>
              <a:t>Classification des cas</a:t>
            </a:r>
          </a:p>
          <a:p>
            <a:pPr>
              <a:lnSpc>
                <a:spcPct val="150000"/>
              </a:lnSpc>
              <a:spcAft>
                <a:spcPts val="1200"/>
              </a:spcAft>
            </a:pPr>
            <a:r>
              <a:rPr lang="fr-FR" sz="3200" dirty="0">
                <a:solidFill>
                  <a:schemeClr val="tx1"/>
                </a:solidFill>
                <a:latin typeface="Century Gothic" pitchFamily="34" charset="0"/>
              </a:rPr>
              <a:t>C’est une technique qui permet classifier les cas de maladies en fonction du degré de certitude du diagnostic. On distingue: </a:t>
            </a:r>
          </a:p>
          <a:p>
            <a:pPr marL="457200" indent="-457200">
              <a:lnSpc>
                <a:spcPct val="150000"/>
              </a:lnSpc>
              <a:spcAft>
                <a:spcPts val="1200"/>
              </a:spcAft>
              <a:buFont typeface="Wingdings" pitchFamily="2" charset="2"/>
              <a:buChar char="q"/>
            </a:pPr>
            <a:r>
              <a:rPr lang="fr-FR" sz="3200" dirty="0">
                <a:solidFill>
                  <a:schemeClr val="tx1"/>
                </a:solidFill>
                <a:latin typeface="Century Gothic" pitchFamily="34" charset="0"/>
              </a:rPr>
              <a:t>les </a:t>
            </a:r>
            <a:r>
              <a:rPr lang="fr-FR" sz="3200" b="1" dirty="0">
                <a:solidFill>
                  <a:srgbClr val="0070C0"/>
                </a:solidFill>
                <a:latin typeface="Century Gothic" pitchFamily="34" charset="0"/>
              </a:rPr>
              <a:t>cas suspects</a:t>
            </a:r>
            <a:r>
              <a:rPr lang="fr-FR" sz="3200" dirty="0">
                <a:solidFill>
                  <a:schemeClr val="tx1"/>
                </a:solidFill>
                <a:latin typeface="Century Gothic" pitchFamily="34" charset="0"/>
              </a:rPr>
              <a:t>; </a:t>
            </a:r>
            <a:r>
              <a:rPr lang="fr-FR" sz="3200" b="1" dirty="0">
                <a:solidFill>
                  <a:srgbClr val="0070C0"/>
                </a:solidFill>
                <a:latin typeface="Century Gothic" pitchFamily="34" charset="0"/>
              </a:rPr>
              <a:t>cas probables</a:t>
            </a:r>
            <a:r>
              <a:rPr lang="fr-FR" sz="3200" dirty="0">
                <a:solidFill>
                  <a:schemeClr val="tx1"/>
                </a:solidFill>
                <a:latin typeface="Century Gothic" pitchFamily="34" charset="0"/>
              </a:rPr>
              <a:t>, et les </a:t>
            </a:r>
            <a:r>
              <a:rPr lang="fr-FR" sz="3200" b="1" dirty="0">
                <a:solidFill>
                  <a:srgbClr val="0070C0"/>
                </a:solidFill>
                <a:latin typeface="Century Gothic" pitchFamily="34" charset="0"/>
              </a:rPr>
              <a:t>cas confirmés</a:t>
            </a:r>
            <a:r>
              <a:rPr lang="fr-FR" sz="3200" dirty="0">
                <a:solidFill>
                  <a:schemeClr val="tx1"/>
                </a:solidFill>
                <a:latin typeface="Century Gothic" pitchFamily="34" charset="0"/>
              </a:rPr>
              <a:t>.</a:t>
            </a:r>
          </a:p>
          <a:p>
            <a:pPr marL="457200" indent="-457200">
              <a:lnSpc>
                <a:spcPct val="150000"/>
              </a:lnSpc>
              <a:spcAft>
                <a:spcPts val="1200"/>
              </a:spcAft>
              <a:buFont typeface="Wingdings" pitchFamily="2" charset="2"/>
              <a:buChar char="q"/>
            </a:pPr>
            <a:endParaRPr lang="fr-FR" sz="3200" dirty="0">
              <a:solidFill>
                <a:schemeClr val="tx1"/>
              </a:solidFill>
              <a:latin typeface="Century Gothic" pitchFamily="34" charset="0"/>
            </a:endParaRPr>
          </a:p>
          <a:p>
            <a:pPr>
              <a:lnSpc>
                <a:spcPct val="150000"/>
              </a:lnSpc>
              <a:spcAft>
                <a:spcPts val="1200"/>
              </a:spcAft>
            </a:pPr>
            <a:endParaRPr lang="fr-FR" sz="3200" dirty="0">
              <a:solidFill>
                <a:schemeClr val="tx1"/>
              </a:solidFill>
              <a:latin typeface="Century Gothic" pitchFamily="34" charset="0"/>
            </a:endParaRPr>
          </a:p>
        </p:txBody>
      </p:sp>
    </p:spTree>
    <p:extLst>
      <p:ext uri="{BB962C8B-B14F-4D97-AF65-F5344CB8AC3E}">
        <p14:creationId xmlns:p14="http://schemas.microsoft.com/office/powerpoint/2010/main" val="3247626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5/8 </a:t>
            </a:r>
          </a:p>
        </p:txBody>
      </p:sp>
      <p:sp>
        <p:nvSpPr>
          <p:cNvPr id="3" name="Espace réservé du texte 2"/>
          <p:cNvSpPr>
            <a:spLocks noGrp="1"/>
          </p:cNvSpPr>
          <p:nvPr>
            <p:ph type="body" idx="1"/>
          </p:nvPr>
        </p:nvSpPr>
        <p:spPr>
          <a:xfrm>
            <a:off x="457200" y="1502229"/>
            <a:ext cx="11312434" cy="4781004"/>
          </a:xfrm>
        </p:spPr>
        <p:txBody>
          <a:bodyPr>
            <a:normAutofit/>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Seuil épidémique</a:t>
            </a:r>
          </a:p>
          <a:p>
            <a:pPr algn="just">
              <a:lnSpc>
                <a:spcPct val="150000"/>
              </a:lnSpc>
              <a:spcAft>
                <a:spcPts val="1200"/>
              </a:spcAft>
            </a:pPr>
            <a:r>
              <a:rPr lang="fr-FR" sz="3200" dirty="0">
                <a:solidFill>
                  <a:schemeClr val="tx1"/>
                </a:solidFill>
                <a:latin typeface="Century Gothic" pitchFamily="34" charset="0"/>
              </a:rPr>
              <a:t>C’est la valeur attendue de cas d’une maladie constituant un niveau qui une fois franchi doit attirer l’attention du personnel de santé sur l’émergence d’un phénomène épidémique nécessitant des interventions urgentes.</a:t>
            </a:r>
          </a:p>
        </p:txBody>
      </p:sp>
    </p:spTree>
    <p:extLst>
      <p:ext uri="{BB962C8B-B14F-4D97-AF65-F5344CB8AC3E}">
        <p14:creationId xmlns:p14="http://schemas.microsoft.com/office/powerpoint/2010/main" val="2680684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6/8 </a:t>
            </a:r>
          </a:p>
        </p:txBody>
      </p:sp>
      <p:sp>
        <p:nvSpPr>
          <p:cNvPr id="3" name="Espace réservé du texte 2"/>
          <p:cNvSpPr>
            <a:spLocks noGrp="1"/>
          </p:cNvSpPr>
          <p:nvPr>
            <p:ph type="body" idx="1"/>
          </p:nvPr>
        </p:nvSpPr>
        <p:spPr>
          <a:xfrm>
            <a:off x="457200" y="1502229"/>
            <a:ext cx="11312434" cy="4781004"/>
          </a:xfrm>
        </p:spPr>
        <p:txBody>
          <a:bodyPr>
            <a:normAutofit fontScale="92500" lnSpcReduction="20000"/>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Seuil d’alerte </a:t>
            </a:r>
          </a:p>
          <a:p>
            <a:pPr algn="just">
              <a:lnSpc>
                <a:spcPct val="150000"/>
              </a:lnSpc>
              <a:spcAft>
                <a:spcPts val="1200"/>
              </a:spcAft>
            </a:pPr>
            <a:r>
              <a:rPr lang="fr-FR" sz="3200" dirty="0">
                <a:solidFill>
                  <a:schemeClr val="tx1"/>
                </a:solidFill>
                <a:latin typeface="Century Gothic" pitchFamily="34" charset="0"/>
              </a:rPr>
              <a:t>C’est le niveau à partir duquel la notification d’une menace d’épidémie est faite aux autorités sanitaires. </a:t>
            </a:r>
          </a:p>
          <a:p>
            <a:pPr marL="457200" indent="-457200" algn="just">
              <a:lnSpc>
                <a:spcPct val="150000"/>
              </a:lnSpc>
              <a:spcAft>
                <a:spcPts val="1200"/>
              </a:spcAft>
              <a:buFont typeface="Wingdings" panose="05000000000000000000" pitchFamily="2" charset="2"/>
              <a:buChar char="q"/>
            </a:pPr>
            <a:r>
              <a:rPr lang="fr-FR" sz="3200" b="1" dirty="0">
                <a:solidFill>
                  <a:schemeClr val="tx1"/>
                </a:solidFill>
                <a:latin typeface="Century Gothic" pitchFamily="34" charset="0"/>
              </a:rPr>
              <a:t>Seuil d’action</a:t>
            </a:r>
          </a:p>
          <a:p>
            <a:pPr algn="just">
              <a:lnSpc>
                <a:spcPct val="150000"/>
              </a:lnSpc>
              <a:spcAft>
                <a:spcPts val="1200"/>
              </a:spcAft>
            </a:pPr>
            <a:r>
              <a:rPr lang="fr-FR" sz="3200" dirty="0">
                <a:solidFill>
                  <a:schemeClr val="tx1"/>
                </a:solidFill>
                <a:latin typeface="Century Gothic" pitchFamily="34" charset="0"/>
              </a:rPr>
              <a:t>C’est le niveau à partir duquel la </a:t>
            </a:r>
            <a:r>
              <a:rPr lang="fr-FR" sz="3200" b="1" dirty="0">
                <a:solidFill>
                  <a:srgbClr val="00B0F0"/>
                </a:solidFill>
                <a:latin typeface="Century Gothic" pitchFamily="34" charset="0"/>
              </a:rPr>
              <a:t>riposte</a:t>
            </a:r>
            <a:r>
              <a:rPr lang="fr-FR" sz="3200" dirty="0">
                <a:solidFill>
                  <a:schemeClr val="tx1"/>
                </a:solidFill>
                <a:latin typeface="Century Gothic" pitchFamily="34" charset="0"/>
              </a:rPr>
              <a:t> doit être </a:t>
            </a:r>
            <a:r>
              <a:rPr lang="fr-FR" sz="3200" b="1" dirty="0">
                <a:solidFill>
                  <a:srgbClr val="00B0F0"/>
                </a:solidFill>
                <a:latin typeface="Century Gothic" pitchFamily="34" charset="0"/>
              </a:rPr>
              <a:t>déclenchée</a:t>
            </a:r>
            <a:r>
              <a:rPr lang="fr-FR" sz="3200" dirty="0">
                <a:solidFill>
                  <a:schemeClr val="tx1"/>
                </a:solidFill>
                <a:latin typeface="Century Gothic" pitchFamily="34" charset="0"/>
              </a:rPr>
              <a:t> face à une menace d’épidémie.</a:t>
            </a:r>
          </a:p>
          <a:p>
            <a:pPr algn="just">
              <a:lnSpc>
                <a:spcPct val="150000"/>
              </a:lnSpc>
              <a:spcAft>
                <a:spcPts val="1200"/>
              </a:spcAft>
            </a:pPr>
            <a:endParaRPr lang="fr-FR" sz="3200" dirty="0">
              <a:solidFill>
                <a:schemeClr val="tx1"/>
              </a:solidFill>
              <a:latin typeface="Century Gothic" pitchFamily="34" charset="0"/>
            </a:endParaRPr>
          </a:p>
        </p:txBody>
      </p:sp>
    </p:spTree>
    <p:extLst>
      <p:ext uri="{BB962C8B-B14F-4D97-AF65-F5344CB8AC3E}">
        <p14:creationId xmlns:p14="http://schemas.microsoft.com/office/powerpoint/2010/main" val="843821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7/8</a:t>
            </a:r>
          </a:p>
        </p:txBody>
      </p:sp>
      <p:sp>
        <p:nvSpPr>
          <p:cNvPr id="3" name="Espace réservé du texte 2"/>
          <p:cNvSpPr>
            <a:spLocks noGrp="1"/>
          </p:cNvSpPr>
          <p:nvPr>
            <p:ph type="body" idx="1"/>
          </p:nvPr>
        </p:nvSpPr>
        <p:spPr>
          <a:xfrm>
            <a:off x="1451430" y="1306287"/>
            <a:ext cx="9390742" cy="4702628"/>
          </a:xfrm>
        </p:spPr>
        <p:txBody>
          <a:bodyPr>
            <a:normAutofit/>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La Riposte </a:t>
            </a:r>
          </a:p>
          <a:p>
            <a:pPr algn="just">
              <a:lnSpc>
                <a:spcPct val="150000"/>
              </a:lnSpc>
              <a:spcAft>
                <a:spcPts val="1200"/>
              </a:spcAft>
            </a:pPr>
            <a:r>
              <a:rPr lang="fr-FR" sz="3200" dirty="0">
                <a:solidFill>
                  <a:schemeClr val="tx1"/>
                </a:solidFill>
                <a:latin typeface="Century Gothic" panose="020B0502020202020204" pitchFamily="34" charset="0"/>
              </a:rPr>
              <a:t>C’est un ensemble d’actions mises en œuvre pour résoudre un problème ou modifier une situation non satisfaisante</a:t>
            </a:r>
          </a:p>
        </p:txBody>
      </p:sp>
    </p:spTree>
    <p:extLst>
      <p:ext uri="{BB962C8B-B14F-4D97-AF65-F5344CB8AC3E}">
        <p14:creationId xmlns:p14="http://schemas.microsoft.com/office/powerpoint/2010/main" val="1033351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378823"/>
            <a:ext cx="10016836" cy="927463"/>
          </a:xfrm>
        </p:spPr>
        <p:txBody>
          <a:bodyPr>
            <a:noAutofit/>
          </a:bodyPr>
          <a:lstStyle/>
          <a:p>
            <a:pPr lvl="0" algn="ctr"/>
            <a:r>
              <a:rPr lang="fr-FR" sz="4400" b="1" dirty="0">
                <a:solidFill>
                  <a:srgbClr val="C00000"/>
                </a:solidFill>
                <a:latin typeface="Century Gothic" pitchFamily="34" charset="0"/>
              </a:rPr>
              <a:t>I. Définition des concepts 8/8</a:t>
            </a:r>
          </a:p>
        </p:txBody>
      </p:sp>
      <p:sp>
        <p:nvSpPr>
          <p:cNvPr id="3" name="Espace réservé du texte 2"/>
          <p:cNvSpPr>
            <a:spLocks noGrp="1"/>
          </p:cNvSpPr>
          <p:nvPr>
            <p:ph type="body" idx="1"/>
          </p:nvPr>
        </p:nvSpPr>
        <p:spPr>
          <a:xfrm>
            <a:off x="470263" y="1593669"/>
            <a:ext cx="11416937" cy="4637314"/>
          </a:xfrm>
        </p:spPr>
        <p:txBody>
          <a:bodyPr>
            <a:normAutofit/>
          </a:bodyPr>
          <a:lstStyle/>
          <a:p>
            <a:pPr marL="457200" indent="-457200" algn="just">
              <a:lnSpc>
                <a:spcPct val="150000"/>
              </a:lnSpc>
              <a:spcAft>
                <a:spcPts val="1200"/>
              </a:spcAft>
              <a:buFont typeface="Wingdings" pitchFamily="2" charset="2"/>
              <a:buChar char="q"/>
            </a:pPr>
            <a:r>
              <a:rPr lang="fr-FR" sz="3200" b="1" dirty="0">
                <a:solidFill>
                  <a:schemeClr val="tx1"/>
                </a:solidFill>
                <a:latin typeface="Century Gothic" pitchFamily="34" charset="0"/>
              </a:rPr>
              <a:t>La Notification de cas </a:t>
            </a:r>
            <a:r>
              <a:rPr lang="fr-FR" sz="3200" dirty="0">
                <a:solidFill>
                  <a:schemeClr val="tx1"/>
                </a:solidFill>
                <a:latin typeface="Century Gothic" panose="020B0502020202020204" pitchFamily="34" charset="0"/>
              </a:rPr>
              <a:t> </a:t>
            </a:r>
          </a:p>
          <a:p>
            <a:pPr algn="just">
              <a:lnSpc>
                <a:spcPct val="150000"/>
              </a:lnSpc>
              <a:spcAft>
                <a:spcPts val="1200"/>
              </a:spcAft>
            </a:pPr>
            <a:r>
              <a:rPr lang="fr-FR" sz="3200" dirty="0">
                <a:solidFill>
                  <a:schemeClr val="tx1"/>
                </a:solidFill>
                <a:latin typeface="Century Gothic" panose="020B0502020202020204" pitchFamily="34" charset="0"/>
              </a:rPr>
              <a:t>C’est la </a:t>
            </a:r>
            <a:r>
              <a:rPr lang="fr-FR" sz="3200" b="1" dirty="0">
                <a:solidFill>
                  <a:schemeClr val="tx1"/>
                </a:solidFill>
                <a:latin typeface="Century Gothic" panose="020B0502020202020204" pitchFamily="34" charset="0"/>
              </a:rPr>
              <a:t>communication obligatoire </a:t>
            </a:r>
            <a:r>
              <a:rPr lang="fr-FR" sz="3200" dirty="0">
                <a:solidFill>
                  <a:schemeClr val="tx1"/>
                </a:solidFill>
                <a:latin typeface="Century Gothic" panose="020B0502020202020204" pitchFamily="34" charset="0"/>
              </a:rPr>
              <a:t>à l’autorité sanitaire de cas et décès dus aux maladies transmissibles ou autres affections importantes du point de vue de la santé publique.</a:t>
            </a:r>
          </a:p>
        </p:txBody>
      </p:sp>
    </p:spTree>
    <p:extLst>
      <p:ext uri="{BB962C8B-B14F-4D97-AF65-F5344CB8AC3E}">
        <p14:creationId xmlns:p14="http://schemas.microsoft.com/office/powerpoint/2010/main" val="1125660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5520" y="180109"/>
            <a:ext cx="10153534" cy="1205346"/>
          </a:xfrm>
        </p:spPr>
        <p:txBody>
          <a:bodyPr>
            <a:normAutofit fontScale="90000"/>
          </a:bodyPr>
          <a:lstStyle/>
          <a:p>
            <a:pPr lvl="0" algn="ctr"/>
            <a:br>
              <a:rPr lang="fr-FR" sz="1800" b="1"/>
            </a:br>
            <a:br>
              <a:rPr lang="fr-FR" sz="1800" b="1"/>
            </a:br>
            <a:r>
              <a:rPr lang="fr-FR" sz="4900" b="1">
                <a:solidFill>
                  <a:srgbClr val="C00000"/>
                </a:solidFill>
                <a:latin typeface="Century Gothic" pitchFamily="34" charset="0"/>
              </a:rPr>
              <a:t>II. Objectifs de la SIMR</a:t>
            </a:r>
            <a:endParaRPr lang="fr-FR"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97839" y="1788160"/>
            <a:ext cx="11165841" cy="4053840"/>
          </a:xfrm>
        </p:spPr>
        <p:txBody>
          <a:bodyPr>
            <a:noAutofit/>
          </a:bodyPr>
          <a:lstStyle/>
          <a:p>
            <a:pPr marL="342900" lvl="0" indent="-342900">
              <a:lnSpc>
                <a:spcPct val="150000"/>
              </a:lnSpc>
              <a:buFont typeface="Wingdings" panose="05000000000000000000" pitchFamily="2" charset="2"/>
              <a:buChar char="q"/>
            </a:pPr>
            <a:r>
              <a:rPr lang="fr-FR" sz="3200">
                <a:latin typeface="Century Gothic" panose="020B0502020202020204" pitchFamily="34" charset="0"/>
              </a:rPr>
              <a:t>Surveiller </a:t>
            </a:r>
            <a:r>
              <a:rPr lang="fr-FR" sz="3200" b="1">
                <a:solidFill>
                  <a:schemeClr val="accent6"/>
                </a:solidFill>
                <a:latin typeface="Century Gothic" panose="020B0502020202020204" pitchFamily="34" charset="0"/>
              </a:rPr>
              <a:t>les tendances </a:t>
            </a:r>
            <a:r>
              <a:rPr lang="fr-FR" sz="3200">
                <a:latin typeface="Century Gothic" panose="020B0502020202020204" pitchFamily="34" charset="0"/>
              </a:rPr>
              <a:t>des maladies ;</a:t>
            </a:r>
            <a:endParaRPr lang="en-US" sz="3200">
              <a:latin typeface="Century Gothic" panose="020B0502020202020204" pitchFamily="34" charset="0"/>
            </a:endParaRPr>
          </a:p>
          <a:p>
            <a:pPr marL="342900" lvl="0" indent="-342900">
              <a:lnSpc>
                <a:spcPct val="150000"/>
              </a:lnSpc>
              <a:buFont typeface="Wingdings" panose="05000000000000000000" pitchFamily="2" charset="2"/>
              <a:buChar char="q"/>
            </a:pPr>
            <a:r>
              <a:rPr lang="fr-FR" sz="3200">
                <a:latin typeface="Century Gothic" panose="020B0502020202020204" pitchFamily="34" charset="0"/>
              </a:rPr>
              <a:t>Détecter précocement des </a:t>
            </a:r>
            <a:r>
              <a:rPr lang="fr-FR" sz="3200" b="1">
                <a:solidFill>
                  <a:schemeClr val="accent6"/>
                </a:solidFill>
                <a:latin typeface="Century Gothic" panose="020B0502020202020204" pitchFamily="34" charset="0"/>
              </a:rPr>
              <a:t>situations inhabituelles</a:t>
            </a:r>
            <a:r>
              <a:rPr lang="fr-FR" sz="3200">
                <a:latin typeface="Century Gothic" panose="020B0502020202020204" pitchFamily="34" charset="0"/>
              </a:rPr>
              <a:t> ;</a:t>
            </a:r>
            <a:endParaRPr lang="en-US" sz="3200">
              <a:latin typeface="Century Gothic" panose="020B0502020202020204" pitchFamily="34" charset="0"/>
            </a:endParaRPr>
          </a:p>
          <a:p>
            <a:pPr marL="342900" lvl="0" indent="-342900">
              <a:lnSpc>
                <a:spcPct val="150000"/>
              </a:lnSpc>
              <a:buFont typeface="Wingdings" panose="05000000000000000000" pitchFamily="2" charset="2"/>
              <a:buChar char="q"/>
            </a:pPr>
            <a:r>
              <a:rPr lang="fr-FR" sz="3200">
                <a:latin typeface="Century Gothic" panose="020B0502020202020204" pitchFamily="34" charset="0"/>
              </a:rPr>
              <a:t>Faciliter la réponse fondée sur des </a:t>
            </a:r>
            <a:r>
              <a:rPr lang="fr-FR" sz="3200" b="1">
                <a:solidFill>
                  <a:schemeClr val="accent6"/>
                </a:solidFill>
                <a:latin typeface="Century Gothic" panose="020B0502020202020204" pitchFamily="34" charset="0"/>
              </a:rPr>
              <a:t>bases factuelles</a:t>
            </a:r>
            <a:r>
              <a:rPr lang="fr-FR" sz="3200">
                <a:latin typeface="Century Gothic" panose="020B0502020202020204" pitchFamily="34" charset="0"/>
              </a:rPr>
              <a:t>.</a:t>
            </a:r>
            <a:endParaRPr lang="en-US" sz="3200">
              <a:latin typeface="Century Gothic" panose="020B0502020202020204" pitchFamily="34" charset="0"/>
            </a:endParaRPr>
          </a:p>
          <a:p>
            <a:pPr marL="342900" indent="-342900">
              <a:buFont typeface="Wingdings" panose="05000000000000000000" pitchFamily="2" charset="2"/>
              <a:buChar char="q"/>
            </a:pPr>
            <a:endParaRPr lang="en-US" sz="3200" dirty="0">
              <a:latin typeface="Century Gothic" panose="020B0502020202020204" pitchFamily="34" charset="0"/>
            </a:endParaRPr>
          </a:p>
        </p:txBody>
      </p:sp>
    </p:spTree>
    <p:extLst>
      <p:ext uri="{BB962C8B-B14F-4D97-AF65-F5344CB8AC3E}">
        <p14:creationId xmlns:p14="http://schemas.microsoft.com/office/powerpoint/2010/main" val="315201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5520" y="180109"/>
            <a:ext cx="10153534" cy="1205346"/>
          </a:xfrm>
        </p:spPr>
        <p:txBody>
          <a:bodyPr>
            <a:normAutofit fontScale="90000"/>
          </a:bodyPr>
          <a:lstStyle/>
          <a:p>
            <a:pPr lvl="0" algn="ctr"/>
            <a:br>
              <a:rPr lang="fr-FR" sz="1800" b="1" dirty="0"/>
            </a:br>
            <a:br>
              <a:rPr lang="fr-FR" sz="1800" b="1" dirty="0"/>
            </a:br>
            <a:r>
              <a:rPr lang="fr-FR" sz="4900" b="1" dirty="0">
                <a:solidFill>
                  <a:srgbClr val="C00000"/>
                </a:solidFill>
                <a:latin typeface="Century Gothic" pitchFamily="34" charset="0"/>
              </a:rPr>
              <a:t>III. Les maladies prioritaires sous surveillance</a:t>
            </a:r>
          </a:p>
        </p:txBody>
      </p:sp>
      <p:sp>
        <p:nvSpPr>
          <p:cNvPr id="3" name="Espace réservé du texte 2"/>
          <p:cNvSpPr>
            <a:spLocks noGrp="1"/>
          </p:cNvSpPr>
          <p:nvPr>
            <p:ph type="body" idx="1"/>
          </p:nvPr>
        </p:nvSpPr>
        <p:spPr>
          <a:xfrm>
            <a:off x="487679" y="1385455"/>
            <a:ext cx="11408229" cy="4815048"/>
          </a:xfrm>
        </p:spPr>
        <p:txBody>
          <a:bodyPr>
            <a:noAutofit/>
          </a:bodyPr>
          <a:lstStyle/>
          <a:p>
            <a:pPr marL="342900" lvl="0" indent="-342900">
              <a:lnSpc>
                <a:spcPct val="150000"/>
              </a:lnSpc>
              <a:buFont typeface="Wingdings" panose="05000000000000000000" pitchFamily="2" charset="2"/>
              <a:buChar char="q"/>
            </a:pPr>
            <a:r>
              <a:rPr lang="fr-FR" sz="3200" dirty="0">
                <a:latin typeface="Century Gothic" panose="020B0502020202020204" pitchFamily="34" charset="0"/>
              </a:rPr>
              <a:t>Les maladies à </a:t>
            </a:r>
            <a:r>
              <a:rPr lang="fr-FR" sz="3200" b="1" dirty="0">
                <a:solidFill>
                  <a:schemeClr val="accent6"/>
                </a:solidFill>
                <a:latin typeface="Century Gothic" panose="020B0502020202020204" pitchFamily="34" charset="0"/>
              </a:rPr>
              <a:t>potentiel épidémique </a:t>
            </a:r>
            <a:r>
              <a:rPr lang="fr-FR" sz="3200" dirty="0">
                <a:solidFill>
                  <a:schemeClr val="accent4">
                    <a:lumMod val="20000"/>
                    <a:lumOff val="80000"/>
                  </a:schemeClr>
                </a:solidFill>
                <a:latin typeface="Century Gothic" panose="020B0502020202020204" pitchFamily="34" charset="0"/>
              </a:rPr>
              <a:t>(choléra, la COVID-19, la FHV).</a:t>
            </a:r>
            <a:endParaRPr lang="en-US" sz="3200" dirty="0">
              <a:solidFill>
                <a:schemeClr val="accent4">
                  <a:lumMod val="20000"/>
                  <a:lumOff val="80000"/>
                </a:schemeClr>
              </a:solidFill>
              <a:latin typeface="Century Gothic" panose="020B0502020202020204" pitchFamily="34" charset="0"/>
            </a:endParaRPr>
          </a:p>
          <a:p>
            <a:pPr marL="342900" indent="-342900">
              <a:lnSpc>
                <a:spcPct val="150000"/>
              </a:lnSpc>
              <a:buFont typeface="Wingdings" panose="05000000000000000000" pitchFamily="2" charset="2"/>
              <a:buChar char="q"/>
            </a:pPr>
            <a:r>
              <a:rPr lang="fr-FR" sz="3200" dirty="0">
                <a:latin typeface="Century Gothic" panose="020B0502020202020204" pitchFamily="34" charset="0"/>
              </a:rPr>
              <a:t>Les maladies faisant </a:t>
            </a:r>
            <a:r>
              <a:rPr lang="fr-FR" sz="3200" b="1" dirty="0">
                <a:solidFill>
                  <a:schemeClr val="accent6"/>
                </a:solidFill>
                <a:latin typeface="Century Gothic" panose="020B0502020202020204" pitchFamily="34" charset="0"/>
              </a:rPr>
              <a:t>l’objet de mesure d’élimination et d’éradication</a:t>
            </a:r>
            <a:r>
              <a:rPr lang="fr-FR" sz="3200" dirty="0">
                <a:latin typeface="Century Gothic" panose="020B0502020202020204" pitchFamily="34" charset="0"/>
              </a:rPr>
              <a:t> </a:t>
            </a:r>
            <a:r>
              <a:rPr lang="fr-FR" sz="3200" dirty="0">
                <a:solidFill>
                  <a:schemeClr val="accent4">
                    <a:lumMod val="20000"/>
                    <a:lumOff val="80000"/>
                  </a:schemeClr>
                </a:solidFill>
                <a:latin typeface="Century Gothic" panose="020B0502020202020204" pitchFamily="34" charset="0"/>
              </a:rPr>
              <a:t>: la poliomyélite à PVS, VDG etc…</a:t>
            </a:r>
          </a:p>
          <a:p>
            <a:pPr marL="342900" lvl="0" indent="-342900">
              <a:lnSpc>
                <a:spcPct val="150000"/>
              </a:lnSpc>
              <a:buFont typeface="Wingdings" panose="05000000000000000000" pitchFamily="2" charset="2"/>
              <a:buChar char="q"/>
            </a:pPr>
            <a:r>
              <a:rPr lang="fr-FR" sz="3200" dirty="0">
                <a:solidFill>
                  <a:prstClr val="black">
                    <a:tint val="75000"/>
                  </a:prstClr>
                </a:solidFill>
                <a:latin typeface="Century Gothic" panose="020B0502020202020204" pitchFamily="34" charset="0"/>
              </a:rPr>
              <a:t>Les maladies cible du </a:t>
            </a:r>
            <a:r>
              <a:rPr lang="fr-FR" sz="3200" b="1" dirty="0">
                <a:solidFill>
                  <a:srgbClr val="70AD47"/>
                </a:solidFill>
                <a:latin typeface="Century Gothic" panose="020B0502020202020204" pitchFamily="34" charset="0"/>
              </a:rPr>
              <a:t>Programme Elargi de vaccination (PEV):</a:t>
            </a:r>
            <a:r>
              <a:rPr lang="fr-FR" sz="3200" dirty="0">
                <a:solidFill>
                  <a:prstClr val="black">
                    <a:tint val="75000"/>
                  </a:prstClr>
                </a:solidFill>
                <a:latin typeface="Century Gothic" panose="020B0502020202020204" pitchFamily="34" charset="0"/>
              </a:rPr>
              <a:t> </a:t>
            </a:r>
            <a:r>
              <a:rPr lang="fr-FR" sz="3200" dirty="0">
                <a:solidFill>
                  <a:schemeClr val="accent4">
                    <a:lumMod val="20000"/>
                    <a:lumOff val="80000"/>
                  </a:schemeClr>
                </a:solidFill>
                <a:latin typeface="Century Gothic" panose="020B0502020202020204" pitchFamily="34" charset="0"/>
              </a:rPr>
              <a:t>PFA, rougeole, TNN, FJ….</a:t>
            </a:r>
          </a:p>
          <a:p>
            <a:pPr marL="342900" indent="-342900">
              <a:buFont typeface="Wingdings" panose="05000000000000000000" pitchFamily="2" charset="2"/>
              <a:buChar char="q"/>
            </a:pPr>
            <a:endParaRPr lang="en-US" sz="3200" dirty="0"/>
          </a:p>
        </p:txBody>
      </p:sp>
    </p:spTree>
    <p:extLst>
      <p:ext uri="{BB962C8B-B14F-4D97-AF65-F5344CB8AC3E}">
        <p14:creationId xmlns:p14="http://schemas.microsoft.com/office/powerpoint/2010/main" val="3227325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79713" y="444138"/>
            <a:ext cx="10280469" cy="5277394"/>
          </a:xfrm>
        </p:spPr>
        <p:txBody>
          <a:bodyPr>
            <a:normAutofit/>
          </a:bodyPr>
          <a:lstStyle/>
          <a:p>
            <a:pPr lvl="0" algn="ctr"/>
            <a:br>
              <a:rPr lang="fr-FR" sz="1800" b="1" dirty="0"/>
            </a:br>
            <a:br>
              <a:rPr lang="fr-FR" sz="1800" b="1" dirty="0"/>
            </a:br>
            <a:r>
              <a:rPr lang="fr-FR" sz="4900" b="1" dirty="0">
                <a:solidFill>
                  <a:srgbClr val="C00000"/>
                </a:solidFill>
                <a:latin typeface="Century Gothic" pitchFamily="34" charset="0"/>
              </a:rPr>
              <a:t>IV. </a:t>
            </a:r>
            <a:r>
              <a:rPr lang="fr-FR" sz="4400" b="1" dirty="0">
                <a:solidFill>
                  <a:srgbClr val="C00000"/>
                </a:solidFill>
                <a:latin typeface="Century Gothic" pitchFamily="34" charset="0"/>
              </a:rPr>
              <a:t>Définitions de cas de maladie sous surveillance pour</a:t>
            </a:r>
            <a:br>
              <a:rPr lang="fr-FR" sz="4400" b="1" dirty="0">
                <a:solidFill>
                  <a:srgbClr val="C00000"/>
                </a:solidFill>
                <a:latin typeface="Century Gothic" pitchFamily="34" charset="0"/>
              </a:rPr>
            </a:br>
            <a:r>
              <a:rPr lang="fr-FR" sz="4400" b="1" dirty="0">
                <a:solidFill>
                  <a:srgbClr val="C00000"/>
                </a:solidFill>
                <a:latin typeface="Century Gothic" pitchFamily="34" charset="0"/>
              </a:rPr>
              <a:t>notification </a:t>
            </a:r>
            <a:br>
              <a:rPr lang="fr-FR" sz="4400" b="1" dirty="0">
                <a:solidFill>
                  <a:srgbClr val="C00000"/>
                </a:solidFill>
                <a:latin typeface="Century Gothic" pitchFamily="34" charset="0"/>
              </a:rPr>
            </a:br>
            <a:endParaRPr lang="fr-FR" sz="4400" b="1" dirty="0">
              <a:solidFill>
                <a:srgbClr val="C00000"/>
              </a:solidFill>
              <a:latin typeface="Century Gothic" pitchFamily="34" charset="0"/>
            </a:endParaRPr>
          </a:p>
        </p:txBody>
      </p:sp>
    </p:spTree>
    <p:extLst>
      <p:ext uri="{BB962C8B-B14F-4D97-AF65-F5344CB8AC3E}">
        <p14:creationId xmlns:p14="http://schemas.microsoft.com/office/powerpoint/2010/main" val="690543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1851" y="96981"/>
            <a:ext cx="10515600" cy="715819"/>
          </a:xfrm>
        </p:spPr>
        <p:txBody>
          <a:bodyPr>
            <a:normAutofit/>
          </a:bodyPr>
          <a:lstStyle/>
          <a:p>
            <a:pPr algn="ctr"/>
            <a:r>
              <a:rPr lang="fr-FR" sz="4400" b="1" dirty="0">
                <a:solidFill>
                  <a:srgbClr val="C00000"/>
                </a:solidFill>
                <a:latin typeface="Century Gothic" panose="020B0502020202020204" pitchFamily="34" charset="0"/>
              </a:rPr>
              <a:t>Plan du chapitre (1/2)</a:t>
            </a:r>
            <a:endParaRPr lang="fr-FR" sz="4400" dirty="0">
              <a:solidFill>
                <a:srgbClr val="C00000"/>
              </a:solidFill>
              <a:latin typeface="Century Gothic" panose="020B0502020202020204" pitchFamily="34" charset="0"/>
            </a:endParaRPr>
          </a:p>
        </p:txBody>
      </p:sp>
      <p:sp>
        <p:nvSpPr>
          <p:cNvPr id="3" name="Espace réservé du texte 2"/>
          <p:cNvSpPr>
            <a:spLocks noGrp="1"/>
          </p:cNvSpPr>
          <p:nvPr>
            <p:ph type="body" idx="1"/>
          </p:nvPr>
        </p:nvSpPr>
        <p:spPr>
          <a:xfrm>
            <a:off x="653143" y="927463"/>
            <a:ext cx="11051177" cy="5342707"/>
          </a:xfrm>
        </p:spPr>
        <p:txBody>
          <a:bodyPr>
            <a:noAutofit/>
          </a:bodyPr>
          <a:lstStyle/>
          <a:p>
            <a:pPr lvl="1">
              <a:lnSpc>
                <a:spcPct val="200000"/>
              </a:lnSpc>
            </a:pPr>
            <a:r>
              <a:rPr lang="fr-FR" sz="2800" b="1" dirty="0">
                <a:solidFill>
                  <a:prstClr val="black"/>
                </a:solidFill>
                <a:latin typeface="Century Gothic" pitchFamily="34" charset="0"/>
              </a:rPr>
              <a:t>4.1. LA PARALYSIE FLASQUE AIGUE (PFA)</a:t>
            </a:r>
          </a:p>
          <a:p>
            <a:pPr lvl="1">
              <a:lnSpc>
                <a:spcPct val="200000"/>
              </a:lnSpc>
            </a:pPr>
            <a:r>
              <a:rPr lang="fr-FR" sz="2800" b="1" dirty="0">
                <a:solidFill>
                  <a:prstClr val="black"/>
                </a:solidFill>
                <a:latin typeface="Century Gothic" pitchFamily="34" charset="0"/>
              </a:rPr>
              <a:t>4.2. LA POLIOMYELITE DUE A UN POLIOVIRUS DE TYPE SAUVAGE</a:t>
            </a:r>
          </a:p>
          <a:p>
            <a:pPr lvl="1">
              <a:lnSpc>
                <a:spcPct val="200000"/>
              </a:lnSpc>
            </a:pPr>
            <a:r>
              <a:rPr lang="fr-FR" sz="2800" b="1" dirty="0">
                <a:solidFill>
                  <a:prstClr val="black"/>
                </a:solidFill>
                <a:latin typeface="Century Gothic" pitchFamily="34" charset="0"/>
              </a:rPr>
              <a:t>4.3. LA POLIOMYELITE DUE A UN POLIOVIRUS DERIVE D’UNE SOUCHE VACCINALE (</a:t>
            </a:r>
            <a:r>
              <a:rPr lang="fr-FR" sz="2800" b="1" dirty="0" err="1">
                <a:solidFill>
                  <a:prstClr val="black"/>
                </a:solidFill>
                <a:latin typeface="Century Gothic" pitchFamily="34" charset="0"/>
              </a:rPr>
              <a:t>PVDVc</a:t>
            </a:r>
            <a:r>
              <a:rPr lang="fr-FR" sz="2800" b="1" dirty="0">
                <a:solidFill>
                  <a:prstClr val="black"/>
                </a:solidFill>
                <a:latin typeface="Century Gothic" pitchFamily="34" charset="0"/>
              </a:rPr>
              <a:t>) </a:t>
            </a:r>
          </a:p>
          <a:p>
            <a:pPr lvl="1">
              <a:lnSpc>
                <a:spcPct val="200000"/>
              </a:lnSpc>
            </a:pPr>
            <a:r>
              <a:rPr lang="fr-FR" sz="2800" b="1" dirty="0">
                <a:solidFill>
                  <a:prstClr val="black"/>
                </a:solidFill>
                <a:latin typeface="Century Gothic" pitchFamily="34" charset="0"/>
              </a:rPr>
              <a:t>4.4. SYNDROME RESPIRATOIRE AIGUE SEVERE (SRAS)</a:t>
            </a:r>
          </a:p>
          <a:p>
            <a:pPr lvl="1">
              <a:lnSpc>
                <a:spcPct val="150000"/>
              </a:lnSpc>
            </a:pPr>
            <a:endParaRPr lang="fr-FR" sz="2800" dirty="0">
              <a:solidFill>
                <a:prstClr val="black"/>
              </a:solidFill>
              <a:latin typeface="Century Gothic" pitchFamily="34" charset="0"/>
            </a:endParaRPr>
          </a:p>
          <a:p>
            <a:pPr>
              <a:lnSpc>
                <a:spcPct val="150000"/>
              </a:lnSpc>
            </a:pPr>
            <a:endParaRPr lang="fr-CI" sz="3200" dirty="0">
              <a:solidFill>
                <a:prstClr val="black"/>
              </a:solidFill>
              <a:latin typeface="Century Gothic" pitchFamily="34" charset="0"/>
            </a:endParaRPr>
          </a:p>
          <a:p>
            <a:pPr lvl="1">
              <a:lnSpc>
                <a:spcPct val="150000"/>
              </a:lnSpc>
            </a:pPr>
            <a:br>
              <a:rPr lang="fr-FR" sz="2800" dirty="0">
                <a:solidFill>
                  <a:schemeClr val="tx1"/>
                </a:solidFill>
                <a:latin typeface="Century Gothic" pitchFamily="34" charset="0"/>
              </a:rPr>
            </a:br>
            <a:r>
              <a:rPr lang="fr-FR" sz="2800" dirty="0">
                <a:solidFill>
                  <a:schemeClr val="tx1"/>
                </a:solidFill>
                <a:latin typeface="Century Gothic" pitchFamily="34" charset="0"/>
              </a:rPr>
              <a:t> </a:t>
            </a:r>
          </a:p>
        </p:txBody>
      </p:sp>
    </p:spTree>
    <p:extLst>
      <p:ext uri="{BB962C8B-B14F-4D97-AF65-F5344CB8AC3E}">
        <p14:creationId xmlns:p14="http://schemas.microsoft.com/office/powerpoint/2010/main" val="1234149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1851" y="96981"/>
            <a:ext cx="10515600" cy="715819"/>
          </a:xfrm>
        </p:spPr>
        <p:txBody>
          <a:bodyPr>
            <a:normAutofit/>
          </a:bodyPr>
          <a:lstStyle/>
          <a:p>
            <a:pPr algn="ctr"/>
            <a:r>
              <a:rPr lang="fr-FR" sz="4400" b="1" dirty="0">
                <a:solidFill>
                  <a:srgbClr val="C00000"/>
                </a:solidFill>
                <a:latin typeface="Century Gothic" panose="020B0502020202020204" pitchFamily="34" charset="0"/>
              </a:rPr>
              <a:t>Plan du chapitre (2/2)</a:t>
            </a:r>
            <a:endParaRPr lang="fr-FR" sz="4400" dirty="0">
              <a:solidFill>
                <a:srgbClr val="C00000"/>
              </a:solidFill>
              <a:latin typeface="Century Gothic" panose="020B0502020202020204" pitchFamily="34" charset="0"/>
            </a:endParaRPr>
          </a:p>
        </p:txBody>
      </p:sp>
      <p:sp>
        <p:nvSpPr>
          <p:cNvPr id="3" name="Espace réservé du texte 2"/>
          <p:cNvSpPr>
            <a:spLocks noGrp="1"/>
          </p:cNvSpPr>
          <p:nvPr>
            <p:ph type="body" idx="1"/>
          </p:nvPr>
        </p:nvSpPr>
        <p:spPr>
          <a:xfrm>
            <a:off x="1058091" y="1219200"/>
            <a:ext cx="10437223" cy="4933405"/>
          </a:xfrm>
        </p:spPr>
        <p:txBody>
          <a:bodyPr>
            <a:noAutofit/>
          </a:bodyPr>
          <a:lstStyle/>
          <a:p>
            <a:pPr lvl="1">
              <a:lnSpc>
                <a:spcPct val="200000"/>
              </a:lnSpc>
            </a:pPr>
            <a:r>
              <a:rPr lang="fr-FR" sz="3200" b="1" dirty="0">
                <a:solidFill>
                  <a:prstClr val="black"/>
                </a:solidFill>
                <a:latin typeface="Century Gothic" pitchFamily="34" charset="0"/>
              </a:rPr>
              <a:t>4.5. LA ROUGEOLE</a:t>
            </a:r>
          </a:p>
          <a:p>
            <a:pPr lvl="1">
              <a:lnSpc>
                <a:spcPct val="200000"/>
              </a:lnSpc>
            </a:pPr>
            <a:r>
              <a:rPr lang="fr-FR" sz="3200" b="1" dirty="0">
                <a:solidFill>
                  <a:prstClr val="black"/>
                </a:solidFill>
                <a:latin typeface="Century Gothic" pitchFamily="34" charset="0"/>
              </a:rPr>
              <a:t>4.6. LA FIEVRE JAUNE</a:t>
            </a:r>
          </a:p>
          <a:p>
            <a:pPr lvl="1">
              <a:lnSpc>
                <a:spcPct val="200000"/>
              </a:lnSpc>
            </a:pPr>
            <a:r>
              <a:rPr lang="fr-FR" sz="3200" b="1" dirty="0">
                <a:solidFill>
                  <a:prstClr val="black"/>
                </a:solidFill>
                <a:latin typeface="Century Gothic" pitchFamily="34" charset="0"/>
              </a:rPr>
              <a:t>4.7. LE TETANOS NEONATAL</a:t>
            </a:r>
          </a:p>
          <a:p>
            <a:pPr lvl="1">
              <a:lnSpc>
                <a:spcPct val="200000"/>
              </a:lnSpc>
            </a:pPr>
            <a:r>
              <a:rPr lang="fr-FR" sz="3200" b="1" dirty="0">
                <a:solidFill>
                  <a:prstClr val="black"/>
                </a:solidFill>
                <a:latin typeface="Century Gothic" pitchFamily="34" charset="0"/>
              </a:rPr>
              <a:t>4.8. LA MALADIE A CORONAVIRUS OU COVID-19</a:t>
            </a:r>
          </a:p>
          <a:p>
            <a:pPr lvl="1">
              <a:lnSpc>
                <a:spcPct val="150000"/>
              </a:lnSpc>
            </a:pPr>
            <a:endParaRPr lang="fr-FR" sz="2800" dirty="0">
              <a:solidFill>
                <a:prstClr val="black"/>
              </a:solidFill>
              <a:latin typeface="Century Gothic" pitchFamily="34" charset="0"/>
            </a:endParaRPr>
          </a:p>
          <a:p>
            <a:pPr>
              <a:lnSpc>
                <a:spcPct val="150000"/>
              </a:lnSpc>
            </a:pPr>
            <a:endParaRPr lang="fr-CI" sz="3200" dirty="0">
              <a:solidFill>
                <a:prstClr val="black"/>
              </a:solidFill>
              <a:latin typeface="Century Gothic" pitchFamily="34" charset="0"/>
            </a:endParaRPr>
          </a:p>
          <a:p>
            <a:pPr lvl="1">
              <a:lnSpc>
                <a:spcPct val="150000"/>
              </a:lnSpc>
            </a:pPr>
            <a:br>
              <a:rPr lang="fr-FR" sz="2800" dirty="0">
                <a:solidFill>
                  <a:schemeClr val="tx1"/>
                </a:solidFill>
                <a:latin typeface="Century Gothic" pitchFamily="34" charset="0"/>
              </a:rPr>
            </a:br>
            <a:r>
              <a:rPr lang="fr-FR" sz="2800" dirty="0">
                <a:solidFill>
                  <a:schemeClr val="tx1"/>
                </a:solidFill>
                <a:latin typeface="Century Gothic" pitchFamily="34" charset="0"/>
              </a:rPr>
              <a:t> </a:t>
            </a:r>
          </a:p>
        </p:txBody>
      </p:sp>
    </p:spTree>
    <p:extLst>
      <p:ext uri="{BB962C8B-B14F-4D97-AF65-F5344CB8AC3E}">
        <p14:creationId xmlns:p14="http://schemas.microsoft.com/office/powerpoint/2010/main" val="2341923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40526" y="378824"/>
            <a:ext cx="10202091" cy="1332410"/>
          </a:xfrm>
        </p:spPr>
        <p:txBody>
          <a:bodyPr>
            <a:normAutofit fontScale="90000"/>
          </a:bodyPr>
          <a:lstStyle/>
          <a:p>
            <a:pPr lvl="0" algn="ctr"/>
            <a:br>
              <a:rPr lang="fr-FR" sz="1800" b="1" dirty="0"/>
            </a:br>
            <a:br>
              <a:rPr lang="fr-FR" sz="1800" b="1" dirty="0"/>
            </a:br>
            <a:r>
              <a:rPr lang="fr-FR" sz="4900" b="1" dirty="0">
                <a:solidFill>
                  <a:srgbClr val="C00000"/>
                </a:solidFill>
                <a:latin typeface="Century Gothic" pitchFamily="34" charset="0"/>
              </a:rPr>
              <a:t>4.1. La paralysie flasque aigue (PFA) </a:t>
            </a:r>
            <a:br>
              <a:rPr lang="fr-FR" sz="4900" b="1" dirty="0">
                <a:solidFill>
                  <a:srgbClr val="C00000"/>
                </a:solidFill>
                <a:latin typeface="Century Gothic" pitchFamily="34" charset="0"/>
              </a:rPr>
            </a:br>
            <a:endParaRPr lang="fr-FR"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13509" y="1541418"/>
            <a:ext cx="11064240" cy="4781006"/>
          </a:xfrm>
        </p:spPr>
        <p:txBody>
          <a:bodyPr>
            <a:noAutofit/>
          </a:bodyPr>
          <a:lstStyle/>
          <a:p>
            <a:pPr>
              <a:lnSpc>
                <a:spcPct val="150000"/>
              </a:lnSpc>
            </a:pPr>
            <a:r>
              <a:rPr lang="fr-FR" sz="3200" b="1" dirty="0">
                <a:solidFill>
                  <a:schemeClr val="accent6"/>
                </a:solidFill>
              </a:rPr>
              <a:t>4.1.1. Définition de cas</a:t>
            </a:r>
          </a:p>
          <a:p>
            <a:pPr marL="342900" indent="-342900">
              <a:lnSpc>
                <a:spcPct val="150000"/>
              </a:lnSpc>
              <a:buFont typeface="Wingdings" panose="05000000000000000000" pitchFamily="2" charset="2"/>
              <a:buChar char="q"/>
            </a:pPr>
            <a:r>
              <a:rPr lang="fr-FR" sz="3200" b="1" dirty="0">
                <a:solidFill>
                  <a:schemeClr val="tx1"/>
                </a:solidFill>
              </a:rPr>
              <a:t>Au niveau de la structure sanitaire</a:t>
            </a:r>
          </a:p>
          <a:p>
            <a:pPr>
              <a:lnSpc>
                <a:spcPct val="150000"/>
              </a:lnSpc>
            </a:pPr>
            <a:r>
              <a:rPr lang="fr-FR" sz="3200" dirty="0">
                <a:solidFill>
                  <a:schemeClr val="tx1"/>
                </a:solidFill>
              </a:rPr>
              <a:t>C’est tout enfant présentant une faiblesse ou une diminution ou une perte du tonus musculaire touchant n’importe quel muscle du corps, principalement les muscles des bras et/ou des jambes et survenant de façon brutale. </a:t>
            </a:r>
          </a:p>
          <a:p>
            <a:pPr marL="342900" indent="-342900">
              <a:buFont typeface="Wingdings" panose="05000000000000000000" pitchFamily="2" charset="2"/>
              <a:buChar char="q"/>
            </a:pPr>
            <a:endParaRPr lang="en-US" sz="3200" dirty="0"/>
          </a:p>
        </p:txBody>
      </p:sp>
    </p:spTree>
    <p:extLst>
      <p:ext uri="{BB962C8B-B14F-4D97-AF65-F5344CB8AC3E}">
        <p14:creationId xmlns:p14="http://schemas.microsoft.com/office/powerpoint/2010/main" val="390802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5520" y="365760"/>
            <a:ext cx="10153534" cy="1637211"/>
          </a:xfrm>
        </p:spPr>
        <p:txBody>
          <a:bodyPr>
            <a:normAutofit fontScale="90000"/>
          </a:bodyPr>
          <a:lstStyle/>
          <a:p>
            <a:pPr lvl="0" algn="ctr"/>
            <a:br>
              <a:rPr lang="fr-FR" sz="1800" b="1"/>
            </a:br>
            <a:br>
              <a:rPr lang="fr-FR" sz="1800" b="1"/>
            </a:br>
            <a:r>
              <a:rPr lang="fr-FR" sz="4900" b="1">
                <a:solidFill>
                  <a:srgbClr val="C00000"/>
                </a:solidFill>
                <a:latin typeface="Century Gothic" pitchFamily="34" charset="0"/>
              </a:rPr>
              <a:t>4.1. La paralysie flasque aigue (PFA)</a:t>
            </a:r>
            <a:br>
              <a:rPr lang="fr-FR" sz="4900" b="1">
                <a:solidFill>
                  <a:srgbClr val="C00000"/>
                </a:solidFill>
                <a:latin typeface="Century Gothic" pitchFamily="34" charset="0"/>
              </a:rPr>
            </a:br>
            <a:endParaRPr lang="fr-FR"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574765" y="1894114"/>
            <a:ext cx="10802983" cy="4153989"/>
          </a:xfrm>
        </p:spPr>
        <p:txBody>
          <a:bodyPr>
            <a:noAutofit/>
          </a:bodyPr>
          <a:lstStyle/>
          <a:p>
            <a:pPr>
              <a:lnSpc>
                <a:spcPct val="150000"/>
              </a:lnSpc>
            </a:pPr>
            <a:r>
              <a:rPr lang="fr-FR" sz="3200" b="1" dirty="0">
                <a:solidFill>
                  <a:schemeClr val="accent6"/>
                </a:solidFill>
              </a:rPr>
              <a:t>4.1.1 Définition de cas (suite) </a:t>
            </a:r>
          </a:p>
          <a:p>
            <a:pPr marL="342900" indent="-342900">
              <a:lnSpc>
                <a:spcPct val="150000"/>
              </a:lnSpc>
              <a:buFont typeface="Wingdings" panose="05000000000000000000" pitchFamily="2" charset="2"/>
              <a:buChar char="q"/>
            </a:pPr>
            <a:r>
              <a:rPr lang="fr-FR" sz="3200" b="1" dirty="0">
                <a:solidFill>
                  <a:schemeClr val="tx1"/>
                </a:solidFill>
              </a:rPr>
              <a:t>Au niveau communautaire</a:t>
            </a:r>
          </a:p>
          <a:p>
            <a:pPr>
              <a:lnSpc>
                <a:spcPct val="150000"/>
              </a:lnSpc>
            </a:pPr>
            <a:r>
              <a:rPr lang="fr-FR" sz="3200" dirty="0">
                <a:solidFill>
                  <a:schemeClr val="tx1"/>
                </a:solidFill>
              </a:rPr>
              <a:t>C’est tout enfant chez qui l’on constate une apparition soudaine d’une maladie paralytique aigue.</a:t>
            </a:r>
          </a:p>
          <a:p>
            <a:pPr marL="342900" indent="-342900">
              <a:buFont typeface="Wingdings" panose="05000000000000000000" pitchFamily="2" charset="2"/>
              <a:buChar char="q"/>
            </a:pPr>
            <a:endParaRPr lang="en-US" sz="3200" dirty="0"/>
          </a:p>
        </p:txBody>
      </p:sp>
    </p:spTree>
    <p:extLst>
      <p:ext uri="{BB962C8B-B14F-4D97-AF65-F5344CB8AC3E}">
        <p14:creationId xmlns:p14="http://schemas.microsoft.com/office/powerpoint/2010/main" val="827944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5520" y="365760"/>
            <a:ext cx="10153534" cy="1724297"/>
          </a:xfrm>
        </p:spPr>
        <p:txBody>
          <a:bodyPr>
            <a:normAutofit/>
          </a:bodyPr>
          <a:lstStyle/>
          <a:p>
            <a:pPr lvl="0" algn="ctr"/>
            <a:r>
              <a:rPr lang="fr-FR" sz="4900" b="1">
                <a:solidFill>
                  <a:srgbClr val="C00000"/>
                </a:solidFill>
                <a:latin typeface="Century Gothic" pitchFamily="34" charset="0"/>
              </a:rPr>
              <a:t>4.1. La paralysie flasque aigue </a:t>
            </a:r>
            <a:br>
              <a:rPr lang="fr-FR" sz="4900" b="1">
                <a:solidFill>
                  <a:srgbClr val="C00000"/>
                </a:solidFill>
                <a:latin typeface="Century Gothic" pitchFamily="34" charset="0"/>
              </a:rPr>
            </a:br>
            <a:endParaRPr lang="fr-FR"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92331" y="1506584"/>
            <a:ext cx="10685418" cy="4724400"/>
          </a:xfrm>
        </p:spPr>
        <p:txBody>
          <a:bodyPr>
            <a:noAutofit/>
          </a:bodyPr>
          <a:lstStyle/>
          <a:p>
            <a:pPr>
              <a:lnSpc>
                <a:spcPct val="150000"/>
              </a:lnSpc>
            </a:pPr>
            <a:r>
              <a:rPr lang="fr-FR" sz="3200" b="1" dirty="0">
                <a:solidFill>
                  <a:schemeClr val="accent6"/>
                </a:solidFill>
              </a:rPr>
              <a:t>4.1.2 Gestes à faire devant un cas de PFA</a:t>
            </a:r>
          </a:p>
          <a:p>
            <a:pPr marL="342900" indent="-342900">
              <a:lnSpc>
                <a:spcPct val="150000"/>
              </a:lnSpc>
              <a:buFont typeface="Wingdings" panose="05000000000000000000" pitchFamily="2" charset="2"/>
              <a:buChar char="q"/>
            </a:pPr>
            <a:r>
              <a:rPr lang="fr-FR" sz="3200" dirty="0">
                <a:solidFill>
                  <a:schemeClr val="tx1"/>
                </a:solidFill>
              </a:rPr>
              <a:t>Notifier immédiatement le cas au autorités sanitaires du district ( CSE, CSAS, DD);</a:t>
            </a:r>
          </a:p>
          <a:p>
            <a:pPr marL="342900" indent="-342900">
              <a:lnSpc>
                <a:spcPct val="150000"/>
              </a:lnSpc>
              <a:buFont typeface="Wingdings" panose="05000000000000000000" pitchFamily="2" charset="2"/>
              <a:buChar char="q"/>
            </a:pPr>
            <a:r>
              <a:rPr lang="fr-FR" sz="3200" dirty="0">
                <a:solidFill>
                  <a:schemeClr val="tx1"/>
                </a:solidFill>
              </a:rPr>
              <a:t>Recueillir </a:t>
            </a:r>
            <a:r>
              <a:rPr lang="fr-FR" sz="3200" dirty="0">
                <a:solidFill>
                  <a:srgbClr val="EC7320"/>
                </a:solidFill>
              </a:rPr>
              <a:t>2 échantillons </a:t>
            </a:r>
            <a:r>
              <a:rPr lang="fr-FR" sz="3200" dirty="0">
                <a:solidFill>
                  <a:schemeClr val="tx1"/>
                </a:solidFill>
              </a:rPr>
              <a:t>de selles (8-10g) à un intervalle d’au moins 24 à 48 heures, dans les 14 jours après l’apparition de la paralysie ;</a:t>
            </a:r>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1648989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41655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4.1. La paralysie flasque aigue</a:t>
            </a:r>
            <a:endParaRPr lang="fr-FR"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914400"/>
            <a:ext cx="11234056" cy="5608319"/>
          </a:xfrm>
        </p:spPr>
        <p:txBody>
          <a:bodyPr>
            <a:noAutofit/>
          </a:bodyPr>
          <a:lstStyle/>
          <a:p>
            <a:pPr>
              <a:lnSpc>
                <a:spcPct val="150000"/>
              </a:lnSpc>
            </a:pPr>
            <a:r>
              <a:rPr lang="fr-FR" sz="3200" b="1">
                <a:solidFill>
                  <a:schemeClr val="accent6"/>
                </a:solidFill>
              </a:rPr>
              <a:t>4.1.2 Gestes à faire devant un cas de PFA(suite)</a:t>
            </a:r>
          </a:p>
          <a:p>
            <a:pPr marL="342900" indent="-342900">
              <a:lnSpc>
                <a:spcPct val="150000"/>
              </a:lnSpc>
              <a:buFont typeface="Wingdings" panose="05000000000000000000" pitchFamily="2" charset="2"/>
              <a:buChar char="q"/>
            </a:pPr>
            <a:r>
              <a:rPr lang="fr-FR" sz="3200"/>
              <a:t>Empaqueter suffisamment les échantillons de selles dans un récipient en matière plastique propre, étanche et fermé par couvercle à vis et expédier dans un porte vaccins entre +2ºC à + 8ºC ;</a:t>
            </a:r>
          </a:p>
          <a:p>
            <a:pPr marL="342900" indent="-342900">
              <a:lnSpc>
                <a:spcPct val="150000"/>
              </a:lnSpc>
              <a:buFont typeface="Wingdings" panose="05000000000000000000" pitchFamily="2" charset="2"/>
              <a:buChar char="q"/>
            </a:pPr>
            <a:r>
              <a:rPr lang="fr-FR" sz="3200"/>
              <a:t>Acheminer les échantillons en bon état au laboratoire de l’Institut Pasteur dans un délai de 3 jours après collection.</a:t>
            </a:r>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2267852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6337" y="544010"/>
            <a:ext cx="10317480" cy="1053296"/>
          </a:xfrm>
        </p:spPr>
        <p:txBody>
          <a:bodyPr>
            <a:normAutofit fontScale="90000"/>
          </a:bodyPr>
          <a:lstStyle/>
          <a:p>
            <a:r>
              <a:rPr lang="fr-FR" sz="3200" b="1">
                <a:solidFill>
                  <a:srgbClr val="EC7320"/>
                </a:solidFill>
                <a:latin typeface="Century Gothic" panose="020B0502020202020204" pitchFamily="34" charset="0"/>
              </a:rPr>
              <a:t>Tableau récapitulatif des activités urgentes à mener et les délais d’exécution devant un cas de PFA</a:t>
            </a:r>
            <a:br>
              <a:rPr lang="en-US" sz="3200">
                <a:solidFill>
                  <a:srgbClr val="EC7320"/>
                </a:solidFill>
                <a:latin typeface="Century Gothic" panose="020B0502020202020204" pitchFamily="34" charset="0"/>
              </a:rPr>
            </a:br>
            <a:endParaRPr lang="en-US" sz="3200" dirty="0">
              <a:solidFill>
                <a:srgbClr val="EC7320"/>
              </a:solidFill>
              <a:latin typeface="Century Gothic" panose="020B0502020202020204" pitchFamily="34" charset="0"/>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026373541"/>
              </p:ext>
            </p:extLst>
          </p:nvPr>
        </p:nvGraphicFramePr>
        <p:xfrm>
          <a:off x="294641" y="1724296"/>
          <a:ext cx="11572239" cy="4245906"/>
        </p:xfrm>
        <a:graphic>
          <a:graphicData uri="http://schemas.openxmlformats.org/drawingml/2006/table">
            <a:tbl>
              <a:tblPr firstRow="1" bandRow="1">
                <a:tableStyleId>{5C22544A-7EE6-4342-B048-85BDC9FD1C3A}</a:tableStyleId>
              </a:tblPr>
              <a:tblGrid>
                <a:gridCol w="6417880">
                  <a:extLst>
                    <a:ext uri="{9D8B030D-6E8A-4147-A177-3AD203B41FA5}">
                      <a16:colId xmlns:a16="http://schemas.microsoft.com/office/drawing/2014/main" val="2327339252"/>
                    </a:ext>
                  </a:extLst>
                </a:gridCol>
                <a:gridCol w="1273548">
                  <a:extLst>
                    <a:ext uri="{9D8B030D-6E8A-4147-A177-3AD203B41FA5}">
                      <a16:colId xmlns:a16="http://schemas.microsoft.com/office/drawing/2014/main" val="254457186"/>
                    </a:ext>
                  </a:extLst>
                </a:gridCol>
                <a:gridCol w="1263520">
                  <a:extLst>
                    <a:ext uri="{9D8B030D-6E8A-4147-A177-3AD203B41FA5}">
                      <a16:colId xmlns:a16="http://schemas.microsoft.com/office/drawing/2014/main" val="923162249"/>
                    </a:ext>
                  </a:extLst>
                </a:gridCol>
                <a:gridCol w="1459033">
                  <a:extLst>
                    <a:ext uri="{9D8B030D-6E8A-4147-A177-3AD203B41FA5}">
                      <a16:colId xmlns:a16="http://schemas.microsoft.com/office/drawing/2014/main" val="597814233"/>
                    </a:ext>
                  </a:extLst>
                </a:gridCol>
                <a:gridCol w="1158258">
                  <a:extLst>
                    <a:ext uri="{9D8B030D-6E8A-4147-A177-3AD203B41FA5}">
                      <a16:colId xmlns:a16="http://schemas.microsoft.com/office/drawing/2014/main" val="4062014463"/>
                    </a:ext>
                  </a:extLst>
                </a:gridCol>
              </a:tblGrid>
              <a:tr h="561636">
                <a:tc rowSpan="2">
                  <a:txBody>
                    <a:bodyPr/>
                    <a:lstStyle/>
                    <a:p>
                      <a:r>
                        <a:rPr lang="fr-FR" sz="3200" b="1" kern="1200" dirty="0">
                          <a:solidFill>
                            <a:schemeClr val="lt1"/>
                          </a:solidFill>
                          <a:effectLst/>
                          <a:latin typeface="+mn-lt"/>
                          <a:ea typeface="+mn-ea"/>
                          <a:cs typeface="Arial" panose="020B0604020202020204" pitchFamily="34" charset="0"/>
                        </a:rPr>
                        <a:t>Activités à mener</a:t>
                      </a:r>
                      <a:endParaRPr lang="en-US" sz="3200" dirty="0">
                        <a:latin typeface="+mn-lt"/>
                        <a:cs typeface="Arial" panose="020B0604020202020204" pitchFamily="34" charset="0"/>
                      </a:endParaRPr>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prstClr val="white"/>
                          </a:solidFill>
                          <a:effectLst/>
                          <a:uLnTx/>
                          <a:uFillTx/>
                          <a:latin typeface="+mn-lt"/>
                          <a:ea typeface="+mn-ea"/>
                          <a:cs typeface="+mn-cs"/>
                        </a:rPr>
                        <a:t>Délai de prélèvement</a:t>
                      </a:r>
                      <a:endParaRPr kumimoji="0" lang="en-US" sz="2800" b="1" i="0" u="none" strike="noStrike" kern="1200" cap="none" spc="0" normalizeH="0" baseline="0" noProof="0" dirty="0">
                        <a:ln>
                          <a:noFill/>
                        </a:ln>
                        <a:solidFill>
                          <a:prstClr val="white"/>
                        </a:solidFill>
                        <a:effectLst/>
                        <a:uLnTx/>
                        <a:uFillTx/>
                        <a:latin typeface="+mn-lt"/>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extLst>
                  <a:ext uri="{0D108BD9-81ED-4DB2-BD59-A6C34878D82A}">
                    <a16:rowId xmlns:a16="http://schemas.microsoft.com/office/drawing/2014/main" val="2857091461"/>
                  </a:ext>
                </a:extLst>
              </a:tr>
              <a:tr h="1502297">
                <a:tc vMerge="1">
                  <a:txBody>
                    <a:bodyPr/>
                    <a:lstStyle/>
                    <a:p>
                      <a:endParaRPr lang="en-US" dirty="0"/>
                    </a:p>
                  </a:txBody>
                  <a:tcPr/>
                </a:tc>
                <a:tc>
                  <a:txBody>
                    <a:bodyPr/>
                    <a:lstStyle/>
                    <a:p>
                      <a:pPr algn="l">
                        <a:spcAft>
                          <a:spcPts val="0"/>
                        </a:spcAft>
                      </a:pPr>
                      <a:r>
                        <a:rPr lang="fr-FR" sz="2800" dirty="0">
                          <a:effectLst/>
                          <a:latin typeface="+mn-lt"/>
                          <a:ea typeface="Times New Roman" panose="02020603050405020304" pitchFamily="18" charset="0"/>
                          <a:cs typeface="Arial" panose="020B0604020202020204" pitchFamily="34" charset="0"/>
                        </a:rPr>
                        <a:t>Entre </a:t>
                      </a:r>
                      <a:r>
                        <a:rPr lang="fr-FR" sz="2800" dirty="0">
                          <a:solidFill>
                            <a:srgbClr val="FF0000"/>
                          </a:solidFill>
                          <a:effectLst/>
                          <a:latin typeface="+mn-lt"/>
                          <a:ea typeface="Times New Roman" panose="02020603050405020304" pitchFamily="18" charset="0"/>
                          <a:cs typeface="Arial" panose="020B0604020202020204" pitchFamily="34" charset="0"/>
                        </a:rPr>
                        <a:t>J0</a:t>
                      </a:r>
                      <a:r>
                        <a:rPr lang="fr-FR" sz="2800" dirty="0">
                          <a:effectLst/>
                          <a:latin typeface="+mn-lt"/>
                          <a:ea typeface="Times New Roman" panose="02020603050405020304" pitchFamily="18" charset="0"/>
                          <a:cs typeface="Arial" panose="020B0604020202020204" pitchFamily="34" charset="0"/>
                        </a:rPr>
                        <a:t>  et </a:t>
                      </a:r>
                      <a:r>
                        <a:rPr lang="fr-FR" sz="2800" dirty="0">
                          <a:solidFill>
                            <a:srgbClr val="FF0000"/>
                          </a:solidFill>
                          <a:effectLst/>
                          <a:latin typeface="+mn-lt"/>
                          <a:ea typeface="Times New Roman" panose="02020603050405020304" pitchFamily="18" charset="0"/>
                          <a:cs typeface="Arial" panose="020B0604020202020204" pitchFamily="34" charset="0"/>
                        </a:rPr>
                        <a:t>J14</a:t>
                      </a:r>
                      <a:endParaRPr lang="en-US" sz="2800" dirty="0">
                        <a:solidFill>
                          <a:srgbClr val="FF0000"/>
                        </a:solidFill>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l">
                        <a:spcAft>
                          <a:spcPts val="0"/>
                        </a:spcAft>
                      </a:pPr>
                      <a:r>
                        <a:rPr lang="fr-FR" sz="2800" dirty="0">
                          <a:effectLst/>
                          <a:latin typeface="+mn-lt"/>
                          <a:ea typeface="Times New Roman" panose="02020603050405020304" pitchFamily="18" charset="0"/>
                          <a:cs typeface="Arial" panose="020B0604020202020204" pitchFamily="34" charset="0"/>
                        </a:rPr>
                        <a:t>Entre </a:t>
                      </a:r>
                      <a:r>
                        <a:rPr lang="fr-FR" sz="2800" dirty="0">
                          <a:solidFill>
                            <a:srgbClr val="FF0000"/>
                          </a:solidFill>
                          <a:effectLst/>
                          <a:latin typeface="+mn-lt"/>
                          <a:ea typeface="Times New Roman" panose="02020603050405020304" pitchFamily="18" charset="0"/>
                          <a:cs typeface="Arial" panose="020B0604020202020204" pitchFamily="34" charset="0"/>
                        </a:rPr>
                        <a:t>J14</a:t>
                      </a:r>
                      <a:r>
                        <a:rPr lang="fr-FR" sz="2800" dirty="0">
                          <a:effectLst/>
                          <a:latin typeface="+mn-lt"/>
                          <a:ea typeface="Times New Roman" panose="02020603050405020304" pitchFamily="18" charset="0"/>
                          <a:cs typeface="Arial" panose="020B0604020202020204" pitchFamily="34" charset="0"/>
                        </a:rPr>
                        <a:t>  et </a:t>
                      </a:r>
                      <a:r>
                        <a:rPr lang="fr-FR" sz="2800" dirty="0">
                          <a:solidFill>
                            <a:srgbClr val="FF0000"/>
                          </a:solidFill>
                          <a:effectLst/>
                          <a:latin typeface="+mn-lt"/>
                          <a:ea typeface="Times New Roman" panose="02020603050405020304" pitchFamily="18" charset="0"/>
                          <a:cs typeface="Arial" panose="020B0604020202020204" pitchFamily="34" charset="0"/>
                        </a:rPr>
                        <a:t>J60</a:t>
                      </a:r>
                      <a:endParaRPr lang="en-US" sz="2800" dirty="0">
                        <a:solidFill>
                          <a:srgbClr val="FF0000"/>
                        </a:solidFill>
                        <a:effectLst/>
                        <a:latin typeface="+mn-lt"/>
                        <a:ea typeface="Times New Roman" panose="02020603050405020304" pitchFamily="18" charset="0"/>
                        <a:cs typeface="Arial" panose="020B0604020202020204" pitchFamily="34" charset="0"/>
                      </a:endParaRPr>
                    </a:p>
                    <a:p>
                      <a:pPr algn="l">
                        <a:spcAft>
                          <a:spcPts val="0"/>
                        </a:spcAft>
                      </a:pPr>
                      <a:r>
                        <a:rPr lang="fr-FR" sz="2800" b="1" i="1" dirty="0">
                          <a:effectLst/>
                          <a:latin typeface="+mn-lt"/>
                          <a:ea typeface="Times New Roman" panose="02020603050405020304" pitchFamily="18" charset="0"/>
                          <a:cs typeface="Arial" panose="020B0604020202020204" pitchFamily="34" charset="0"/>
                        </a:rPr>
                        <a:t> </a:t>
                      </a:r>
                      <a:endParaRPr lang="en-US" sz="2800" dirty="0">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l">
                        <a:spcAft>
                          <a:spcPts val="0"/>
                        </a:spcAft>
                      </a:pPr>
                      <a:r>
                        <a:rPr lang="fr-FR" sz="2800" dirty="0">
                          <a:effectLst/>
                          <a:latin typeface="+mn-lt"/>
                          <a:ea typeface="Times New Roman" panose="02020603050405020304" pitchFamily="18" charset="0"/>
                          <a:cs typeface="Arial" panose="020B0604020202020204" pitchFamily="34" charset="0"/>
                        </a:rPr>
                        <a:t>Entre </a:t>
                      </a:r>
                      <a:r>
                        <a:rPr lang="fr-FR" sz="2800" dirty="0">
                          <a:solidFill>
                            <a:srgbClr val="C00000"/>
                          </a:solidFill>
                          <a:effectLst/>
                          <a:latin typeface="+mn-lt"/>
                          <a:ea typeface="Times New Roman" panose="02020603050405020304" pitchFamily="18" charset="0"/>
                          <a:cs typeface="Arial" panose="020B0604020202020204" pitchFamily="34" charset="0"/>
                        </a:rPr>
                        <a:t>J61</a:t>
                      </a:r>
                      <a:r>
                        <a:rPr lang="fr-FR" sz="2800" dirty="0">
                          <a:effectLst/>
                          <a:latin typeface="+mn-lt"/>
                          <a:ea typeface="Times New Roman" panose="02020603050405020304" pitchFamily="18" charset="0"/>
                          <a:cs typeface="Arial" panose="020B0604020202020204" pitchFamily="34" charset="0"/>
                        </a:rPr>
                        <a:t> et </a:t>
                      </a:r>
                      <a:r>
                        <a:rPr lang="fr-FR" sz="2800" dirty="0">
                          <a:solidFill>
                            <a:srgbClr val="C00000"/>
                          </a:solidFill>
                          <a:effectLst/>
                          <a:latin typeface="+mn-lt"/>
                          <a:ea typeface="Times New Roman" panose="02020603050405020304" pitchFamily="18" charset="0"/>
                          <a:cs typeface="Arial" panose="020B0604020202020204" pitchFamily="34" charset="0"/>
                        </a:rPr>
                        <a:t>06 mois </a:t>
                      </a:r>
                      <a:endParaRPr lang="en-US" sz="2800" dirty="0">
                        <a:solidFill>
                          <a:srgbClr val="C00000"/>
                        </a:solidFill>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l">
                        <a:spcAft>
                          <a:spcPts val="0"/>
                        </a:spcAft>
                      </a:pPr>
                      <a:r>
                        <a:rPr lang="fr-FR" sz="2800" dirty="0">
                          <a:solidFill>
                            <a:srgbClr val="C00000"/>
                          </a:solidFill>
                          <a:effectLst/>
                          <a:latin typeface="+mn-lt"/>
                          <a:ea typeface="Times New Roman" panose="02020603050405020304" pitchFamily="18" charset="0"/>
                          <a:cs typeface="Arial" panose="020B0604020202020204" pitchFamily="34" charset="0"/>
                        </a:rPr>
                        <a:t>&gt; 06</a:t>
                      </a:r>
                      <a:endParaRPr lang="en-US" sz="2800" dirty="0">
                        <a:solidFill>
                          <a:srgbClr val="C00000"/>
                        </a:solidFill>
                        <a:effectLst/>
                        <a:latin typeface="+mn-lt"/>
                        <a:ea typeface="Times New Roman" panose="02020603050405020304" pitchFamily="18" charset="0"/>
                        <a:cs typeface="Arial" panose="020B0604020202020204" pitchFamily="34" charset="0"/>
                      </a:endParaRPr>
                    </a:p>
                    <a:p>
                      <a:pPr algn="l">
                        <a:spcAft>
                          <a:spcPts val="0"/>
                        </a:spcAft>
                      </a:pPr>
                      <a:r>
                        <a:rPr lang="fr-FR" sz="2800" dirty="0">
                          <a:solidFill>
                            <a:srgbClr val="C00000"/>
                          </a:solidFill>
                          <a:effectLst/>
                          <a:latin typeface="+mn-lt"/>
                          <a:ea typeface="Times New Roman" panose="02020603050405020304" pitchFamily="18" charset="0"/>
                          <a:cs typeface="Arial" panose="020B0604020202020204" pitchFamily="34" charset="0"/>
                        </a:rPr>
                        <a:t>mois</a:t>
                      </a:r>
                      <a:endParaRPr lang="en-US" sz="2800" dirty="0">
                        <a:solidFill>
                          <a:srgbClr val="C00000"/>
                        </a:solidFill>
                        <a:effectLst/>
                        <a:latin typeface="+mn-lt"/>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43676513"/>
                  </a:ext>
                </a:extLst>
              </a:tr>
              <a:tr h="607889">
                <a:tc>
                  <a:txBody>
                    <a:bodyPr/>
                    <a:lstStyle/>
                    <a:p>
                      <a:pPr>
                        <a:lnSpc>
                          <a:spcPct val="115000"/>
                        </a:lnSpc>
                        <a:spcAft>
                          <a:spcPts val="0"/>
                        </a:spcAft>
                      </a:pPr>
                      <a:r>
                        <a:rPr lang="fr-FR" sz="2800" dirty="0">
                          <a:solidFill>
                            <a:srgbClr val="FF0000"/>
                          </a:solidFill>
                          <a:effectLst/>
                          <a:latin typeface="+mn-lt"/>
                          <a:ea typeface="Times New Roman" panose="02020603050405020304" pitchFamily="18" charset="0"/>
                          <a:cs typeface="Arial" panose="020B0604020202020204" pitchFamily="34" charset="0"/>
                        </a:rPr>
                        <a:t>Prélèvement de selles</a:t>
                      </a:r>
                      <a:endParaRPr lang="en-US" sz="2800" dirty="0">
                        <a:solidFill>
                          <a:srgbClr val="FF0000"/>
                        </a:solidFill>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434239074"/>
                  </a:ext>
                </a:extLst>
              </a:tr>
              <a:tr h="761612">
                <a:tc>
                  <a:txBody>
                    <a:bodyPr/>
                    <a:lstStyle/>
                    <a:p>
                      <a:pPr>
                        <a:lnSpc>
                          <a:spcPct val="115000"/>
                        </a:lnSpc>
                        <a:spcAft>
                          <a:spcPts val="0"/>
                        </a:spcAft>
                      </a:pPr>
                      <a:r>
                        <a:rPr lang="fr-FR" sz="2800" dirty="0">
                          <a:solidFill>
                            <a:srgbClr val="FF0000"/>
                          </a:solidFill>
                          <a:effectLst/>
                          <a:latin typeface="+mn-lt"/>
                          <a:ea typeface="Times New Roman" panose="02020603050405020304" pitchFamily="18" charset="0"/>
                          <a:cs typeface="Arial" panose="020B0604020202020204" pitchFamily="34" charset="0"/>
                        </a:rPr>
                        <a:t>Notification avec diagnostic provisoire</a:t>
                      </a:r>
                      <a:endParaRPr lang="en-US" sz="2800" dirty="0">
                        <a:solidFill>
                          <a:srgbClr val="FF0000"/>
                        </a:solidFill>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x</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x</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224596685"/>
                  </a:ext>
                </a:extLst>
              </a:tr>
              <a:tr h="607889">
                <a:tc>
                  <a:txBody>
                    <a:bodyPr/>
                    <a:lstStyle/>
                    <a:p>
                      <a:pPr>
                        <a:lnSpc>
                          <a:spcPct val="115000"/>
                        </a:lnSpc>
                        <a:spcAft>
                          <a:spcPts val="0"/>
                        </a:spcAft>
                      </a:pPr>
                      <a:r>
                        <a:rPr lang="fr-FR" sz="2800" dirty="0">
                          <a:solidFill>
                            <a:schemeClr val="tx1"/>
                          </a:solidFill>
                          <a:effectLst/>
                          <a:latin typeface="+mn-lt"/>
                          <a:ea typeface="Times New Roman" panose="02020603050405020304" pitchFamily="18" charset="0"/>
                          <a:cs typeface="Arial" panose="020B0604020202020204" pitchFamily="34" charset="0"/>
                        </a:rPr>
                        <a:t>Investigation avec fiche</a:t>
                      </a:r>
                      <a:endParaRPr lang="en-US" sz="2800" dirty="0">
                        <a:solidFill>
                          <a:schemeClr val="tx1"/>
                        </a:solidFill>
                        <a:effectLst/>
                        <a:latin typeface="+mn-lt"/>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x</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x</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x</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671760059"/>
                  </a:ext>
                </a:extLst>
              </a:tr>
            </a:tbl>
          </a:graphicData>
        </a:graphic>
      </p:graphicFrame>
    </p:spTree>
    <p:extLst>
      <p:ext uri="{BB962C8B-B14F-4D97-AF65-F5344CB8AC3E}">
        <p14:creationId xmlns:p14="http://schemas.microsoft.com/office/powerpoint/2010/main" val="4114261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3919" y="185195"/>
            <a:ext cx="10299897" cy="1736202"/>
          </a:xfrm>
        </p:spPr>
        <p:txBody>
          <a:bodyPr>
            <a:noAutofit/>
          </a:bodyPr>
          <a:lstStyle/>
          <a:p>
            <a:r>
              <a:rPr lang="fr-FR" sz="3200" b="1">
                <a:solidFill>
                  <a:srgbClr val="EC7320"/>
                </a:solidFill>
                <a:latin typeface="Century Gothic" panose="020B0502020202020204" pitchFamily="34" charset="0"/>
              </a:rPr>
              <a:t>Tableau récapitulatif des activités urgentes à mener et les délais d’exécution devant un cas de PFA</a:t>
            </a:r>
            <a:br>
              <a:rPr lang="en-US" sz="3200">
                <a:solidFill>
                  <a:prstClr val="black"/>
                </a:solidFill>
                <a:latin typeface="Century Gothic" panose="020B0502020202020204" pitchFamily="34" charset="0"/>
              </a:rPr>
            </a:br>
            <a:endParaRPr lang="en-US" sz="3200" dirty="0">
              <a:latin typeface="Century Gothic" panose="020B0502020202020204" pitchFamily="34" charset="0"/>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426682509"/>
              </p:ext>
            </p:extLst>
          </p:nvPr>
        </p:nvGraphicFramePr>
        <p:xfrm>
          <a:off x="531222" y="1516092"/>
          <a:ext cx="11303725" cy="4678671"/>
        </p:xfrm>
        <a:graphic>
          <a:graphicData uri="http://schemas.openxmlformats.org/drawingml/2006/table">
            <a:tbl>
              <a:tblPr firstRow="1" bandRow="1">
                <a:tableStyleId>{5C22544A-7EE6-4342-B048-85BDC9FD1C3A}</a:tableStyleId>
              </a:tblPr>
              <a:tblGrid>
                <a:gridCol w="5495007">
                  <a:extLst>
                    <a:ext uri="{9D8B030D-6E8A-4147-A177-3AD203B41FA5}">
                      <a16:colId xmlns:a16="http://schemas.microsoft.com/office/drawing/2014/main" val="2327339252"/>
                    </a:ext>
                  </a:extLst>
                </a:gridCol>
                <a:gridCol w="1517957">
                  <a:extLst>
                    <a:ext uri="{9D8B030D-6E8A-4147-A177-3AD203B41FA5}">
                      <a16:colId xmlns:a16="http://schemas.microsoft.com/office/drawing/2014/main" val="254457186"/>
                    </a:ext>
                  </a:extLst>
                </a:gridCol>
                <a:gridCol w="1622636">
                  <a:extLst>
                    <a:ext uri="{9D8B030D-6E8A-4147-A177-3AD203B41FA5}">
                      <a16:colId xmlns:a16="http://schemas.microsoft.com/office/drawing/2014/main" val="923162249"/>
                    </a:ext>
                  </a:extLst>
                </a:gridCol>
                <a:gridCol w="1595434">
                  <a:extLst>
                    <a:ext uri="{9D8B030D-6E8A-4147-A177-3AD203B41FA5}">
                      <a16:colId xmlns:a16="http://schemas.microsoft.com/office/drawing/2014/main" val="597814233"/>
                    </a:ext>
                  </a:extLst>
                </a:gridCol>
                <a:gridCol w="1072691">
                  <a:extLst>
                    <a:ext uri="{9D8B030D-6E8A-4147-A177-3AD203B41FA5}">
                      <a16:colId xmlns:a16="http://schemas.microsoft.com/office/drawing/2014/main" val="4062014463"/>
                    </a:ext>
                  </a:extLst>
                </a:gridCol>
              </a:tblGrid>
              <a:tr h="637879">
                <a:tc rowSpan="2">
                  <a:txBody>
                    <a:bodyPr/>
                    <a:lstStyle/>
                    <a:p>
                      <a:r>
                        <a:rPr lang="fr-FR" sz="3200" b="1" kern="1200" dirty="0">
                          <a:solidFill>
                            <a:schemeClr val="lt1"/>
                          </a:solidFill>
                          <a:effectLst/>
                          <a:latin typeface="+mn-lt"/>
                          <a:ea typeface="+mn-ea"/>
                          <a:cs typeface="+mn-cs"/>
                        </a:rPr>
                        <a:t>Activités à mener</a:t>
                      </a:r>
                      <a:endParaRPr lang="en-US" sz="3200" dirty="0"/>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prstClr val="white"/>
                          </a:solidFill>
                          <a:effectLst/>
                          <a:uLnTx/>
                          <a:uFillTx/>
                          <a:latin typeface="Arial" panose="020B0604020202020204"/>
                          <a:ea typeface="+mn-ea"/>
                          <a:cs typeface="+mn-cs"/>
                        </a:rPr>
                        <a:t>Délai de prélèvement</a:t>
                      </a:r>
                      <a:endParaRPr kumimoji="0" lang="en-US" sz="32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endParaRPr>
                    </a:p>
                  </a:txBody>
                  <a:tcPr/>
                </a:tc>
                <a:extLst>
                  <a:ext uri="{0D108BD9-81ED-4DB2-BD59-A6C34878D82A}">
                    <a16:rowId xmlns:a16="http://schemas.microsoft.com/office/drawing/2014/main" val="2857091461"/>
                  </a:ext>
                </a:extLst>
              </a:tr>
              <a:tr h="1870175">
                <a:tc vMerge="1">
                  <a:txBody>
                    <a:bodyPr/>
                    <a:lstStyle/>
                    <a:p>
                      <a:endParaRPr lang="en-US" dirty="0"/>
                    </a:p>
                  </a:txBody>
                  <a:tcPr/>
                </a:tc>
                <a:tc>
                  <a:txBody>
                    <a:bodyPr/>
                    <a:lstStyle/>
                    <a:p>
                      <a:pPr algn="ctr">
                        <a:spcAft>
                          <a:spcPts val="0"/>
                        </a:spcAft>
                      </a:pPr>
                      <a:r>
                        <a:rPr lang="fr-FR" sz="3200" dirty="0">
                          <a:effectLst/>
                          <a:latin typeface="+mn-lt"/>
                          <a:ea typeface="Times New Roman" panose="02020603050405020304" pitchFamily="18" charset="0"/>
                        </a:rPr>
                        <a:t>Entre </a:t>
                      </a:r>
                      <a:r>
                        <a:rPr lang="fr-FR" sz="3200" dirty="0">
                          <a:solidFill>
                            <a:srgbClr val="FF0000"/>
                          </a:solidFill>
                          <a:effectLst/>
                          <a:latin typeface="+mn-lt"/>
                          <a:ea typeface="Times New Roman" panose="02020603050405020304" pitchFamily="18" charset="0"/>
                        </a:rPr>
                        <a:t>J0</a:t>
                      </a:r>
                      <a:r>
                        <a:rPr lang="fr-FR" sz="3200" dirty="0">
                          <a:effectLst/>
                          <a:latin typeface="+mn-lt"/>
                          <a:ea typeface="Times New Roman" panose="02020603050405020304" pitchFamily="18" charset="0"/>
                        </a:rPr>
                        <a:t>  et J14</a:t>
                      </a:r>
                      <a:endParaRPr lang="en-US" sz="3200" dirty="0">
                        <a:effectLst/>
                        <a:latin typeface="+mn-lt"/>
                        <a:ea typeface="Times New Roman" panose="02020603050405020304" pitchFamily="18" charset="0"/>
                      </a:endParaRPr>
                    </a:p>
                  </a:txBody>
                  <a:tcPr marL="68580" marR="68580" marT="0" marB="0"/>
                </a:tc>
                <a:tc>
                  <a:txBody>
                    <a:bodyPr/>
                    <a:lstStyle/>
                    <a:p>
                      <a:pPr>
                        <a:spcAft>
                          <a:spcPts val="0"/>
                        </a:spcAft>
                      </a:pPr>
                      <a:r>
                        <a:rPr lang="fr-FR" sz="3200" dirty="0">
                          <a:effectLst/>
                          <a:latin typeface="+mn-lt"/>
                          <a:ea typeface="Times New Roman" panose="02020603050405020304" pitchFamily="18" charset="0"/>
                        </a:rPr>
                        <a:t>Entre </a:t>
                      </a:r>
                      <a:r>
                        <a:rPr lang="fr-FR" sz="3200" dirty="0">
                          <a:solidFill>
                            <a:srgbClr val="FF0000"/>
                          </a:solidFill>
                          <a:effectLst/>
                          <a:latin typeface="+mn-lt"/>
                          <a:ea typeface="Times New Roman" panose="02020603050405020304" pitchFamily="18" charset="0"/>
                        </a:rPr>
                        <a:t>J14</a:t>
                      </a:r>
                      <a:r>
                        <a:rPr lang="fr-FR" sz="3200" dirty="0">
                          <a:effectLst/>
                          <a:latin typeface="+mn-lt"/>
                          <a:ea typeface="Times New Roman" panose="02020603050405020304" pitchFamily="18" charset="0"/>
                        </a:rPr>
                        <a:t>  et </a:t>
                      </a:r>
                      <a:r>
                        <a:rPr lang="fr-FR" sz="3200" dirty="0">
                          <a:solidFill>
                            <a:srgbClr val="FF0000"/>
                          </a:solidFill>
                          <a:effectLst/>
                          <a:latin typeface="+mn-lt"/>
                          <a:ea typeface="Times New Roman" panose="02020603050405020304" pitchFamily="18" charset="0"/>
                        </a:rPr>
                        <a:t>J60</a:t>
                      </a:r>
                      <a:endParaRPr lang="en-US" sz="3200" dirty="0">
                        <a:solidFill>
                          <a:srgbClr val="FF0000"/>
                        </a:solidFill>
                        <a:effectLst/>
                        <a:latin typeface="+mn-lt"/>
                        <a:ea typeface="Times New Roman" panose="02020603050405020304" pitchFamily="18" charset="0"/>
                      </a:endParaRPr>
                    </a:p>
                    <a:p>
                      <a:pPr>
                        <a:spcAft>
                          <a:spcPts val="0"/>
                        </a:spcAft>
                      </a:pPr>
                      <a:r>
                        <a:rPr lang="fr-FR" sz="3200" b="1" i="1"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tc>
                  <a:txBody>
                    <a:bodyPr/>
                    <a:lstStyle/>
                    <a:p>
                      <a:pPr>
                        <a:spcAft>
                          <a:spcPts val="0"/>
                        </a:spcAft>
                      </a:pPr>
                      <a:r>
                        <a:rPr lang="fr-FR" sz="3200" dirty="0">
                          <a:effectLst/>
                          <a:latin typeface="+mn-lt"/>
                          <a:ea typeface="Times New Roman" panose="02020603050405020304" pitchFamily="18" charset="0"/>
                        </a:rPr>
                        <a:t>Entre </a:t>
                      </a:r>
                      <a:r>
                        <a:rPr lang="fr-FR" sz="3200" dirty="0">
                          <a:solidFill>
                            <a:srgbClr val="C00000"/>
                          </a:solidFill>
                          <a:effectLst/>
                          <a:latin typeface="+mn-lt"/>
                          <a:ea typeface="Times New Roman" panose="02020603050405020304" pitchFamily="18" charset="0"/>
                        </a:rPr>
                        <a:t>J61</a:t>
                      </a:r>
                      <a:r>
                        <a:rPr lang="fr-FR" sz="3200" dirty="0">
                          <a:effectLst/>
                          <a:latin typeface="+mn-lt"/>
                          <a:ea typeface="Times New Roman" panose="02020603050405020304" pitchFamily="18" charset="0"/>
                        </a:rPr>
                        <a:t> et </a:t>
                      </a:r>
                      <a:r>
                        <a:rPr lang="fr-FR" sz="3200" dirty="0">
                          <a:solidFill>
                            <a:srgbClr val="C00000"/>
                          </a:solidFill>
                          <a:effectLst/>
                          <a:latin typeface="+mn-lt"/>
                          <a:ea typeface="Times New Roman" panose="02020603050405020304" pitchFamily="18" charset="0"/>
                        </a:rPr>
                        <a:t>06 mois </a:t>
                      </a:r>
                      <a:endParaRPr lang="en-US" sz="3200" dirty="0">
                        <a:solidFill>
                          <a:srgbClr val="C00000"/>
                        </a:solidFill>
                        <a:effectLst/>
                        <a:latin typeface="+mn-lt"/>
                        <a:ea typeface="Times New Roman" panose="02020603050405020304" pitchFamily="18" charset="0"/>
                      </a:endParaRPr>
                    </a:p>
                  </a:txBody>
                  <a:tcPr marL="68580" marR="68580" marT="0" marB="0"/>
                </a:tc>
                <a:tc>
                  <a:txBody>
                    <a:bodyPr/>
                    <a:lstStyle/>
                    <a:p>
                      <a:pPr algn="ctr">
                        <a:spcAft>
                          <a:spcPts val="0"/>
                        </a:spcAft>
                      </a:pPr>
                      <a:r>
                        <a:rPr lang="fr-FR" sz="3200" dirty="0">
                          <a:solidFill>
                            <a:srgbClr val="C00000"/>
                          </a:solidFill>
                          <a:effectLst/>
                          <a:latin typeface="+mn-lt"/>
                          <a:ea typeface="Times New Roman" panose="02020603050405020304" pitchFamily="18" charset="0"/>
                        </a:rPr>
                        <a:t>&gt; 06</a:t>
                      </a:r>
                      <a:endParaRPr lang="en-US" sz="3200" dirty="0">
                        <a:solidFill>
                          <a:srgbClr val="C00000"/>
                        </a:solidFill>
                        <a:effectLst/>
                        <a:latin typeface="+mn-lt"/>
                        <a:ea typeface="Times New Roman" panose="02020603050405020304" pitchFamily="18" charset="0"/>
                      </a:endParaRPr>
                    </a:p>
                    <a:p>
                      <a:pPr algn="ctr">
                        <a:spcAft>
                          <a:spcPts val="0"/>
                        </a:spcAft>
                      </a:pPr>
                      <a:r>
                        <a:rPr lang="fr-FR" sz="3200" dirty="0">
                          <a:solidFill>
                            <a:srgbClr val="C00000"/>
                          </a:solidFill>
                          <a:effectLst/>
                          <a:latin typeface="+mn-lt"/>
                          <a:ea typeface="Times New Roman" panose="02020603050405020304" pitchFamily="18" charset="0"/>
                        </a:rPr>
                        <a:t>mois</a:t>
                      </a:r>
                      <a:endParaRPr lang="en-US" sz="3200" dirty="0">
                        <a:solidFill>
                          <a:srgbClr val="C00000"/>
                        </a:solidFill>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643676513"/>
                  </a:ext>
                </a:extLst>
              </a:tr>
              <a:tr h="940932">
                <a:tc>
                  <a:txBody>
                    <a:bodyPr/>
                    <a:lstStyle/>
                    <a:p>
                      <a:pPr>
                        <a:lnSpc>
                          <a:spcPct val="115000"/>
                        </a:lnSpc>
                        <a:spcAft>
                          <a:spcPts val="0"/>
                        </a:spcAft>
                      </a:pPr>
                      <a:r>
                        <a:rPr lang="fr-FR" sz="2800" dirty="0">
                          <a:effectLst/>
                          <a:latin typeface="Arial" panose="020B0604020202020204" pitchFamily="34" charset="0"/>
                          <a:ea typeface="Times New Roman" panose="02020603050405020304" pitchFamily="18" charset="0"/>
                          <a:cs typeface="Arial" panose="020B0604020202020204" pitchFamily="34" charset="0"/>
                        </a:rPr>
                        <a:t>Inscription du code EPID dans la Base PFA</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134787301"/>
                  </a:ext>
                </a:extLst>
              </a:tr>
              <a:tr h="537675">
                <a:tc>
                  <a:txBody>
                    <a:bodyPr/>
                    <a:lstStyle/>
                    <a:p>
                      <a:pPr>
                        <a:lnSpc>
                          <a:spcPct val="115000"/>
                        </a:lnSpc>
                        <a:spcAft>
                          <a:spcPts val="0"/>
                        </a:spcAft>
                      </a:pPr>
                      <a:r>
                        <a:rPr lang="fr-FR" sz="28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Examen du 60ième jour</a:t>
                      </a:r>
                      <a:endParaRPr lang="en-US" sz="28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x</a:t>
                      </a:r>
                      <a:endParaRPr lang="en-US" sz="3200" dirty="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a:effectLst/>
                          <a:latin typeface="+mn-lt"/>
                          <a:ea typeface="Times New Roman" panose="02020603050405020304" pitchFamily="18" charset="0"/>
                        </a:rPr>
                        <a:t> </a:t>
                      </a:r>
                      <a:endParaRPr lang="en-US" sz="3200">
                        <a:effectLst/>
                        <a:latin typeface="+mn-lt"/>
                        <a:ea typeface="Times New Roman" panose="02020603050405020304" pitchFamily="18" charset="0"/>
                      </a:endParaRPr>
                    </a:p>
                  </a:txBody>
                  <a:tcPr marL="68580" marR="68580" marT="0" marB="0"/>
                </a:tc>
                <a:tc>
                  <a:txBody>
                    <a:bodyPr/>
                    <a:lstStyle/>
                    <a:p>
                      <a:pPr algn="ctr">
                        <a:lnSpc>
                          <a:spcPct val="115000"/>
                        </a:lnSpc>
                        <a:spcAft>
                          <a:spcPts val="0"/>
                        </a:spcAft>
                      </a:pPr>
                      <a:r>
                        <a:rPr lang="fr-FR" sz="3200" dirty="0">
                          <a:effectLst/>
                          <a:latin typeface="+mn-lt"/>
                          <a:ea typeface="Times New Roman" panose="02020603050405020304" pitchFamily="18" charset="0"/>
                        </a:rPr>
                        <a:t> </a:t>
                      </a:r>
                      <a:endParaRPr lang="en-US" sz="32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3079038067"/>
                  </a:ext>
                </a:extLst>
              </a:tr>
              <a:tr h="611465">
                <a:tc>
                  <a:txBody>
                    <a:bodyPr/>
                    <a:lstStyle/>
                    <a:p>
                      <a:pPr>
                        <a:lnSpc>
                          <a:spcPct val="115000"/>
                        </a:lnSpc>
                        <a:spcAft>
                          <a:spcPts val="0"/>
                        </a:spcAft>
                      </a:pPr>
                      <a:r>
                        <a:rPr lang="fr-FR" sz="280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Analyse et actions correctrices</a:t>
                      </a:r>
                      <a:endParaRPr lang="en-US" sz="280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ctr">
                        <a:lnSpc>
                          <a:spcPct val="115000"/>
                        </a:lnSpc>
                        <a:spcAft>
                          <a:spcPts val="0"/>
                        </a:spcAft>
                      </a:pPr>
                      <a:r>
                        <a:rPr lang="fr-FR" sz="2800" kern="1200">
                          <a:solidFill>
                            <a:schemeClr val="dk1"/>
                          </a:solidFill>
                          <a:effectLst/>
                          <a:latin typeface="Arial" panose="020B0604020202020204" pitchFamily="34" charset="0"/>
                          <a:ea typeface="Times New Roman" panose="02020603050405020304" pitchFamily="18" charset="0"/>
                          <a:cs typeface="Arial" panose="020B0604020202020204" pitchFamily="34" charset="0"/>
                        </a:rPr>
                        <a:t> </a:t>
                      </a:r>
                      <a:endParaRPr lang="en-US" sz="2800" kern="1200">
                        <a:solidFill>
                          <a:schemeClr val="dk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algn="ctr" defTabSz="914377" rtl="0" eaLnBrk="1" latinLnBrk="0" hangingPunct="1">
                        <a:lnSpc>
                          <a:spcPct val="115000"/>
                        </a:lnSpc>
                        <a:spcAft>
                          <a:spcPts val="0"/>
                        </a:spcAft>
                      </a:pPr>
                      <a:r>
                        <a:rPr lang="fr-FR" sz="3200" kern="1200" dirty="0">
                          <a:solidFill>
                            <a:schemeClr val="dk1"/>
                          </a:solidFill>
                          <a:effectLst/>
                          <a:latin typeface="+mn-lt"/>
                          <a:ea typeface="Times New Roman" panose="02020603050405020304" pitchFamily="18" charset="0"/>
                          <a:cs typeface="+mn-cs"/>
                        </a:rPr>
                        <a:t>x</a:t>
                      </a:r>
                      <a:endParaRPr lang="en-US" sz="3200" kern="1200" dirty="0">
                        <a:solidFill>
                          <a:schemeClr val="dk1"/>
                        </a:solidFill>
                        <a:effectLst/>
                        <a:latin typeface="+mn-lt"/>
                        <a:ea typeface="Times New Roman" panose="02020603050405020304" pitchFamily="18" charset="0"/>
                        <a:cs typeface="+mn-cs"/>
                      </a:endParaRPr>
                    </a:p>
                  </a:txBody>
                  <a:tcPr marL="68580" marR="68580" marT="0" marB="0"/>
                </a:tc>
                <a:tc>
                  <a:txBody>
                    <a:bodyPr/>
                    <a:lstStyle/>
                    <a:p>
                      <a:pPr marL="0" algn="ctr" defTabSz="914377" rtl="0" eaLnBrk="1" latinLnBrk="0" hangingPunct="1">
                        <a:lnSpc>
                          <a:spcPct val="115000"/>
                        </a:lnSpc>
                        <a:spcAft>
                          <a:spcPts val="0"/>
                        </a:spcAft>
                      </a:pPr>
                      <a:r>
                        <a:rPr lang="fr-FR" sz="3200" kern="1200" dirty="0">
                          <a:solidFill>
                            <a:schemeClr val="dk1"/>
                          </a:solidFill>
                          <a:effectLst/>
                          <a:latin typeface="+mn-lt"/>
                          <a:ea typeface="Times New Roman" panose="02020603050405020304" pitchFamily="18" charset="0"/>
                          <a:cs typeface="+mn-cs"/>
                        </a:rPr>
                        <a:t>x</a:t>
                      </a:r>
                      <a:endParaRPr lang="en-US" sz="3200" kern="1200" dirty="0">
                        <a:solidFill>
                          <a:schemeClr val="dk1"/>
                        </a:solidFill>
                        <a:effectLst/>
                        <a:latin typeface="+mn-lt"/>
                        <a:ea typeface="Times New Roman" panose="02020603050405020304" pitchFamily="18" charset="0"/>
                        <a:cs typeface="+mn-cs"/>
                      </a:endParaRPr>
                    </a:p>
                  </a:txBody>
                  <a:tcPr marL="68580" marR="68580" marT="0" marB="0"/>
                </a:tc>
                <a:tc>
                  <a:txBody>
                    <a:bodyPr/>
                    <a:lstStyle/>
                    <a:p>
                      <a:pPr marL="0" algn="ctr" defTabSz="914377" rtl="0" eaLnBrk="1" latinLnBrk="0" hangingPunct="1">
                        <a:lnSpc>
                          <a:spcPct val="115000"/>
                        </a:lnSpc>
                        <a:spcAft>
                          <a:spcPts val="0"/>
                        </a:spcAft>
                      </a:pPr>
                      <a:r>
                        <a:rPr lang="fr-FR" sz="3200" kern="1200" dirty="0">
                          <a:solidFill>
                            <a:schemeClr val="dk1"/>
                          </a:solidFill>
                          <a:effectLst/>
                          <a:latin typeface="+mn-lt"/>
                          <a:ea typeface="Times New Roman" panose="02020603050405020304" pitchFamily="18" charset="0"/>
                          <a:cs typeface="+mn-cs"/>
                        </a:rPr>
                        <a:t>x</a:t>
                      </a:r>
                      <a:endParaRPr lang="en-US" sz="3200" kern="1200" dirty="0">
                        <a:solidFill>
                          <a:schemeClr val="dk1"/>
                        </a:solidFill>
                        <a:effectLst/>
                        <a:latin typeface="+mn-lt"/>
                        <a:ea typeface="Times New Roman" panose="02020603050405020304" pitchFamily="18" charset="0"/>
                        <a:cs typeface="+mn-cs"/>
                      </a:endParaRPr>
                    </a:p>
                  </a:txBody>
                  <a:tcPr marL="68580" marR="68580" marT="0" marB="0"/>
                </a:tc>
                <a:extLst>
                  <a:ext uri="{0D108BD9-81ED-4DB2-BD59-A6C34878D82A}">
                    <a16:rowId xmlns:a16="http://schemas.microsoft.com/office/drawing/2014/main" val="2569188077"/>
                  </a:ext>
                </a:extLst>
              </a:tr>
            </a:tbl>
          </a:graphicData>
        </a:graphic>
      </p:graphicFrame>
    </p:spTree>
    <p:extLst>
      <p:ext uri="{BB962C8B-B14F-4D97-AF65-F5344CB8AC3E}">
        <p14:creationId xmlns:p14="http://schemas.microsoft.com/office/powerpoint/2010/main" val="3554732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9448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4.1. La paralysie flasque aigue</a:t>
            </a: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1534161"/>
            <a:ext cx="11234056" cy="4673599"/>
          </a:xfrm>
        </p:spPr>
        <p:txBody>
          <a:bodyPr>
            <a:noAutofit/>
          </a:bodyPr>
          <a:lstStyle/>
          <a:p>
            <a:pPr>
              <a:lnSpc>
                <a:spcPct val="150000"/>
              </a:lnSpc>
            </a:pPr>
            <a:r>
              <a:rPr lang="fr-CI" sz="3200" b="1" dirty="0">
                <a:solidFill>
                  <a:schemeClr val="accent6"/>
                </a:solidFill>
                <a:latin typeface="Century Gothic" pitchFamily="34" charset="0"/>
              </a:rPr>
              <a:t>4.1.3 Indicateurs de surveillance des PFA</a:t>
            </a:r>
          </a:p>
          <a:p>
            <a:pPr marL="342900" indent="-342900">
              <a:lnSpc>
                <a:spcPct val="150000"/>
              </a:lnSpc>
              <a:buFont typeface="Wingdings" panose="05000000000000000000" pitchFamily="2" charset="2"/>
              <a:buChar char="q"/>
            </a:pPr>
            <a:r>
              <a:rPr lang="fr-CI" sz="3200" dirty="0"/>
              <a:t>Le taux de PFA est dit </a:t>
            </a:r>
            <a:r>
              <a:rPr lang="fr-CI" sz="3200" b="1" dirty="0"/>
              <a:t>non poliomyélitique </a:t>
            </a:r>
            <a:r>
              <a:rPr lang="fr-CI" sz="3200" dirty="0"/>
              <a:t>lorsque le nombre de cas de PFA est </a:t>
            </a:r>
            <a:r>
              <a:rPr lang="fr-CI" sz="3200" b="1" dirty="0"/>
              <a:t>≥ 2 pour 100 000 </a:t>
            </a:r>
            <a:r>
              <a:rPr lang="fr-CI" sz="3200" dirty="0"/>
              <a:t>enfants de moins de 15 ans</a:t>
            </a:r>
          </a:p>
          <a:p>
            <a:pPr marL="342900" indent="-342900">
              <a:lnSpc>
                <a:spcPct val="150000"/>
              </a:lnSpc>
              <a:buFont typeface="Wingdings" panose="05000000000000000000" pitchFamily="2" charset="2"/>
              <a:buChar char="q"/>
            </a:pPr>
            <a:r>
              <a:rPr lang="fr-CI" sz="3200" dirty="0"/>
              <a:t>La proportion d'échantillons de selles prélevés dans les 14 jours après le début de la paralysie doit être ≥ à 80%</a:t>
            </a:r>
          </a:p>
          <a:p>
            <a:pPr marL="342900" indent="-342900">
              <a:lnSpc>
                <a:spcPct val="150000"/>
              </a:lnSpc>
              <a:buFont typeface="Wingdings" panose="05000000000000000000" pitchFamily="2" charset="2"/>
              <a:buChar char="q"/>
            </a:pPr>
            <a:endParaRPr lang="fr-FR" sz="3200" dirty="0"/>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3725052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68400"/>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4.2. La poliomyélite due a un poliovirus de type sauvage</a:t>
            </a: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1534161"/>
            <a:ext cx="11234056" cy="4673599"/>
          </a:xfrm>
        </p:spPr>
        <p:txBody>
          <a:bodyPr>
            <a:noAutofit/>
          </a:bodyPr>
          <a:lstStyle/>
          <a:p>
            <a:pPr>
              <a:lnSpc>
                <a:spcPct val="150000"/>
              </a:lnSpc>
            </a:pPr>
            <a:r>
              <a:rPr lang="fr-CI" sz="3200" b="1" dirty="0">
                <a:solidFill>
                  <a:schemeClr val="accent6"/>
                </a:solidFill>
                <a:latin typeface="Century Gothic" pitchFamily="34" charset="0"/>
              </a:rPr>
              <a:t>4.2.1 Définition de cas pour la notification de la poliomyélite due un virus de type sauvage</a:t>
            </a:r>
          </a:p>
          <a:p>
            <a:pPr marL="342900" indent="-342900">
              <a:lnSpc>
                <a:spcPct val="150000"/>
              </a:lnSpc>
              <a:buFont typeface="Wingdings" panose="05000000000000000000" pitchFamily="2" charset="2"/>
              <a:buChar char="q"/>
            </a:pPr>
            <a:r>
              <a:rPr lang="fr-CI" sz="3200" dirty="0"/>
              <a:t>Selon le règlement sanitaire internationale (RSI) 2005, un cas de poliomyélite due à un poliovirus de type sauvage qui doit être notifié est défini comme </a:t>
            </a:r>
            <a:r>
              <a:rPr lang="fr-CI" sz="3200" b="1" dirty="0">
                <a:solidFill>
                  <a:schemeClr val="accent6"/>
                </a:solidFill>
              </a:rPr>
              <a:t>un cas présumé</a:t>
            </a:r>
            <a:r>
              <a:rPr lang="fr-CI" sz="3200" dirty="0"/>
              <a:t>, </a:t>
            </a:r>
          </a:p>
          <a:p>
            <a:pPr marL="342900" indent="-342900">
              <a:lnSpc>
                <a:spcPct val="150000"/>
              </a:lnSpc>
              <a:buFont typeface="Wingdings" panose="05000000000000000000" pitchFamily="2" charset="2"/>
              <a:buChar char="q"/>
            </a:pPr>
            <a:r>
              <a:rPr lang="fr-CI" sz="3200" dirty="0"/>
              <a:t>En d’autres termes, ……</a:t>
            </a:r>
            <a:endParaRPr lang="fr-FR" sz="3200" dirty="0"/>
          </a:p>
        </p:txBody>
      </p:sp>
    </p:spTree>
    <p:extLst>
      <p:ext uri="{BB962C8B-B14F-4D97-AF65-F5344CB8AC3E}">
        <p14:creationId xmlns:p14="http://schemas.microsoft.com/office/powerpoint/2010/main" val="3846397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68400"/>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4.2. La poliomyélite due a un poliovirus de type sauvage</a:t>
            </a: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1815737"/>
            <a:ext cx="10476410" cy="4010297"/>
          </a:xfrm>
        </p:spPr>
        <p:txBody>
          <a:bodyPr>
            <a:noAutofit/>
          </a:bodyPr>
          <a:lstStyle/>
          <a:p>
            <a:pPr>
              <a:lnSpc>
                <a:spcPct val="150000"/>
              </a:lnSpc>
            </a:pPr>
            <a:r>
              <a:rPr lang="fr-CI" sz="3600" dirty="0"/>
              <a:t>comprendre qu’un poliovirus de type sauvage a </a:t>
            </a:r>
            <a:r>
              <a:rPr lang="fr-CI" sz="3600" b="1" dirty="0"/>
              <a:t> été trouvé </a:t>
            </a:r>
            <a:r>
              <a:rPr lang="fr-CI" sz="3600" dirty="0"/>
              <a:t>dans les échantillons de selles de </a:t>
            </a:r>
            <a:r>
              <a:rPr lang="fr-CI" sz="3600" b="1" dirty="0"/>
              <a:t>ce cas </a:t>
            </a:r>
            <a:r>
              <a:rPr lang="fr-CI" sz="3600" dirty="0"/>
              <a:t>ou dans ceux d’un de ces </a:t>
            </a:r>
            <a:r>
              <a:rPr lang="fr-CI" sz="3600" b="1" dirty="0"/>
              <a:t>contacts proches</a:t>
            </a:r>
            <a:r>
              <a:rPr lang="fr-CI" sz="3600" dirty="0"/>
              <a:t>.</a:t>
            </a:r>
            <a:endParaRPr lang="fr-FR" sz="3200" dirty="0"/>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1417384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68400"/>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4.2 La poliomyélite due a un poliovirus de type sauvage</a:t>
            </a: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1534161"/>
            <a:ext cx="11234056" cy="4673599"/>
          </a:xfrm>
        </p:spPr>
        <p:txBody>
          <a:bodyPr>
            <a:noAutofit/>
          </a:bodyPr>
          <a:lstStyle/>
          <a:p>
            <a:pPr>
              <a:lnSpc>
                <a:spcPct val="150000"/>
              </a:lnSpc>
            </a:pPr>
            <a:r>
              <a:rPr lang="fr-CI" sz="3200" b="1" dirty="0">
                <a:solidFill>
                  <a:schemeClr val="accent6"/>
                </a:solidFill>
                <a:latin typeface="Century Gothic" pitchFamily="34" charset="0"/>
              </a:rPr>
              <a:t>4.2.2. Définition de cas présumé</a:t>
            </a:r>
          </a:p>
          <a:p>
            <a:pPr>
              <a:lnSpc>
                <a:spcPct val="150000"/>
              </a:lnSpc>
            </a:pPr>
            <a:r>
              <a:rPr lang="fr-CI" sz="3200" dirty="0"/>
              <a:t>Un cas présumé est tout enfant de moins de 15 ans présentant une paralysie flasque aigue ou toute personne </a:t>
            </a:r>
            <a:r>
              <a:rPr lang="fr-CI" sz="3200" b="1" dirty="0"/>
              <a:t>quel que soit son âge </a:t>
            </a:r>
            <a:r>
              <a:rPr lang="fr-CI" sz="3200" dirty="0"/>
              <a:t>présentant une maladie paralytique et chez qui l’on soupçonne une poliomyélite.</a:t>
            </a:r>
          </a:p>
          <a:p>
            <a:pPr marL="342900" indent="-342900">
              <a:lnSpc>
                <a:spcPct val="150000"/>
              </a:lnSpc>
              <a:buFont typeface="Wingdings" panose="05000000000000000000" pitchFamily="2" charset="2"/>
              <a:buChar char="q"/>
            </a:pPr>
            <a:endParaRPr lang="fr-FR" sz="3200" dirty="0"/>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1002958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68400"/>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4.2 La poliomyélite due a un poliovirus de type sauvage</a:t>
            </a: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04800" y="1534161"/>
            <a:ext cx="11531600" cy="4673599"/>
          </a:xfrm>
        </p:spPr>
        <p:txBody>
          <a:bodyPr>
            <a:noAutofit/>
          </a:bodyPr>
          <a:lstStyle/>
          <a:p>
            <a:pPr>
              <a:lnSpc>
                <a:spcPct val="150000"/>
              </a:lnSpc>
            </a:pPr>
            <a:r>
              <a:rPr lang="fr-CI" sz="3200" b="1" dirty="0">
                <a:solidFill>
                  <a:schemeClr val="accent6"/>
                </a:solidFill>
                <a:latin typeface="Century Gothic" pitchFamily="34" charset="0"/>
              </a:rPr>
              <a:t>4.2.3. Procédure standard pour le recueil des selles selon le règlement sanitaire international (RSI)</a:t>
            </a:r>
          </a:p>
          <a:p>
            <a:pPr>
              <a:lnSpc>
                <a:spcPct val="150000"/>
              </a:lnSpc>
            </a:pPr>
            <a:r>
              <a:rPr lang="fr-CI" sz="3200" dirty="0"/>
              <a:t>Elle consiste à recueillir </a:t>
            </a:r>
            <a:r>
              <a:rPr lang="fr-CI" sz="3200" b="1" dirty="0">
                <a:solidFill>
                  <a:srgbClr val="FF0000"/>
                </a:solidFill>
              </a:rPr>
              <a:t>02</a:t>
            </a:r>
            <a:r>
              <a:rPr lang="fr-CI" sz="3200" dirty="0"/>
              <a:t> </a:t>
            </a:r>
            <a:r>
              <a:rPr lang="fr-CI" sz="3200" b="1" dirty="0">
                <a:solidFill>
                  <a:srgbClr val="FF0000"/>
                </a:solidFill>
              </a:rPr>
              <a:t>échantillons</a:t>
            </a:r>
            <a:r>
              <a:rPr lang="fr-CI" sz="3200" dirty="0">
                <a:solidFill>
                  <a:srgbClr val="FF0000"/>
                </a:solidFill>
              </a:rPr>
              <a:t> </a:t>
            </a:r>
            <a:r>
              <a:rPr lang="fr-CI" sz="3200" b="1" dirty="0">
                <a:solidFill>
                  <a:srgbClr val="FF0000"/>
                </a:solidFill>
              </a:rPr>
              <a:t>de selles </a:t>
            </a:r>
            <a:r>
              <a:rPr lang="fr-CI" sz="3200" dirty="0"/>
              <a:t>d’un cas de PFA dans les </a:t>
            </a:r>
            <a:r>
              <a:rPr lang="fr-CI" sz="3200" b="1" dirty="0">
                <a:solidFill>
                  <a:schemeClr val="tx1"/>
                </a:solidFill>
              </a:rPr>
              <a:t>14 jours </a:t>
            </a:r>
            <a:r>
              <a:rPr lang="fr-CI" sz="3200" dirty="0"/>
              <a:t>qui</a:t>
            </a:r>
            <a:r>
              <a:rPr lang="fr-CI" sz="3200" dirty="0">
                <a:solidFill>
                  <a:srgbClr val="92D050"/>
                </a:solidFill>
              </a:rPr>
              <a:t> </a:t>
            </a:r>
            <a:r>
              <a:rPr lang="fr-CI" sz="3200" dirty="0"/>
              <a:t>suivent l’apparition de la paralysie. </a:t>
            </a:r>
            <a:endParaRPr lang="fr-FR" sz="3200" dirty="0"/>
          </a:p>
        </p:txBody>
      </p:sp>
    </p:spTree>
    <p:extLst>
      <p:ext uri="{BB962C8B-B14F-4D97-AF65-F5344CB8AC3E}">
        <p14:creationId xmlns:p14="http://schemas.microsoft.com/office/powerpoint/2010/main" val="3859895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68400"/>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endParaRPr lang="fr-CI"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365761"/>
            <a:ext cx="11234056" cy="5842000"/>
          </a:xfrm>
        </p:spPr>
        <p:txBody>
          <a:bodyPr>
            <a:noAutofit/>
          </a:bodyPr>
          <a:lstStyle/>
          <a:p>
            <a:pPr>
              <a:lnSpc>
                <a:spcPct val="150000"/>
              </a:lnSpc>
            </a:pPr>
            <a:r>
              <a:rPr lang="fr-CI" sz="3200" b="1" dirty="0">
                <a:solidFill>
                  <a:schemeClr val="accent6"/>
                </a:solidFill>
                <a:latin typeface="Century Gothic" pitchFamily="34" charset="0"/>
              </a:rPr>
              <a:t>   4.2.3. Procédure standard pour le recueil des selles selon le RSI(suite)</a:t>
            </a:r>
          </a:p>
          <a:p>
            <a:pPr>
              <a:lnSpc>
                <a:spcPct val="150000"/>
              </a:lnSpc>
            </a:pPr>
            <a:r>
              <a:rPr lang="fr-CI" sz="3200" dirty="0"/>
              <a:t>Si l’on dispose de </a:t>
            </a:r>
            <a:r>
              <a:rPr lang="fr-CI" sz="3200" b="1" dirty="0"/>
              <a:t>moins de </a:t>
            </a:r>
            <a:r>
              <a:rPr lang="fr-CI" sz="3200" b="1" dirty="0">
                <a:solidFill>
                  <a:schemeClr val="tx1"/>
                </a:solidFill>
              </a:rPr>
              <a:t>02</a:t>
            </a:r>
            <a:r>
              <a:rPr lang="fr-CI" sz="3200" b="1" dirty="0"/>
              <a:t> échantillons </a:t>
            </a:r>
            <a:r>
              <a:rPr lang="fr-CI" sz="3200" dirty="0"/>
              <a:t>de selles dans les </a:t>
            </a:r>
            <a:r>
              <a:rPr lang="fr-CI" sz="3200" b="1" dirty="0"/>
              <a:t>14 jours </a:t>
            </a:r>
            <a:r>
              <a:rPr lang="fr-CI" sz="3200" dirty="0"/>
              <a:t>suivant l’apparition de la paralysie, </a:t>
            </a:r>
            <a:r>
              <a:rPr lang="fr-CI" sz="3200" b="1" dirty="0"/>
              <a:t>recueillir</a:t>
            </a:r>
            <a:r>
              <a:rPr lang="fr-CI" sz="3200" dirty="0"/>
              <a:t>, des échantillons de </a:t>
            </a:r>
            <a:r>
              <a:rPr lang="fr-CI" sz="3200" dirty="0">
                <a:solidFill>
                  <a:schemeClr val="tx1"/>
                </a:solidFill>
              </a:rPr>
              <a:t>selles supplémentaires </a:t>
            </a:r>
            <a:r>
              <a:rPr lang="fr-CI" sz="3200" dirty="0"/>
              <a:t>provenant </a:t>
            </a:r>
            <a:r>
              <a:rPr lang="fr-CI" sz="3200" dirty="0">
                <a:solidFill>
                  <a:schemeClr val="tx1"/>
                </a:solidFill>
              </a:rPr>
              <a:t>de </a:t>
            </a:r>
            <a:r>
              <a:rPr lang="fr-CI" sz="3200" b="1" dirty="0">
                <a:solidFill>
                  <a:schemeClr val="tx1"/>
                </a:solidFill>
              </a:rPr>
              <a:t>cinq contacts proches du cas</a:t>
            </a:r>
            <a:r>
              <a:rPr lang="fr-CI" sz="3200" dirty="0">
                <a:solidFill>
                  <a:schemeClr val="tx1"/>
                </a:solidFill>
              </a:rPr>
              <a:t> </a:t>
            </a:r>
            <a:r>
              <a:rPr lang="fr-CI" sz="3200" dirty="0"/>
              <a:t>de PFA pour </a:t>
            </a:r>
            <a:r>
              <a:rPr lang="fr-CI" sz="3200" b="1" dirty="0">
                <a:solidFill>
                  <a:schemeClr val="tx1"/>
                </a:solidFill>
              </a:rPr>
              <a:t>accroitre </a:t>
            </a:r>
            <a:r>
              <a:rPr lang="fr-CI" sz="3200" dirty="0">
                <a:solidFill>
                  <a:schemeClr val="tx1"/>
                </a:solidFill>
              </a:rPr>
              <a:t>la </a:t>
            </a:r>
            <a:r>
              <a:rPr lang="fr-CI" sz="3200" b="1" dirty="0">
                <a:solidFill>
                  <a:schemeClr val="tx1"/>
                </a:solidFill>
              </a:rPr>
              <a:t>sensibilité </a:t>
            </a:r>
            <a:r>
              <a:rPr lang="fr-CI" sz="3200" dirty="0">
                <a:solidFill>
                  <a:schemeClr val="tx1"/>
                </a:solidFill>
              </a:rPr>
              <a:t>de la </a:t>
            </a:r>
            <a:r>
              <a:rPr lang="fr-CI" sz="3200" b="1" dirty="0">
                <a:solidFill>
                  <a:schemeClr val="tx1"/>
                </a:solidFill>
              </a:rPr>
              <a:t>détection virale.</a:t>
            </a:r>
          </a:p>
          <a:p>
            <a:pPr>
              <a:lnSpc>
                <a:spcPct val="150000"/>
              </a:lnSpc>
            </a:pPr>
            <a:endParaRPr lang="fr-FR" sz="3200" dirty="0"/>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3300881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567542"/>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it-IT" sz="4900" b="1">
                <a:solidFill>
                  <a:srgbClr val="C00000"/>
                </a:solidFill>
                <a:latin typeface="Century Gothic" pitchFamily="34" charset="0"/>
              </a:rPr>
              <a:t>4.3. La poliomyelite due a un poliovirus dérivé d’une souche vaccinale (PVDVc)</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70264" y="1933303"/>
            <a:ext cx="11234056" cy="4330337"/>
          </a:xfrm>
        </p:spPr>
        <p:txBody>
          <a:bodyPr>
            <a:noAutofit/>
          </a:bodyPr>
          <a:lstStyle/>
          <a:p>
            <a:pPr>
              <a:lnSpc>
                <a:spcPct val="150000"/>
              </a:lnSpc>
            </a:pPr>
            <a:r>
              <a:rPr lang="fr-CI" sz="3200" dirty="0"/>
              <a:t>C’est lorsque la souche vaccinale excrétée, continuant de circuler sur une durée prolongée subit une mutation génétique pour devenir un poliovirus circulant dérivé d’une souche vaccinale capable de provoquer une paralysie flasque aigue dans les communautés ayant une très </a:t>
            </a:r>
            <a:r>
              <a:rPr lang="fr-CI" sz="3200" b="1" dirty="0"/>
              <a:t>faible immunité.</a:t>
            </a:r>
            <a:endParaRPr lang="fr-FR" sz="3200" b="1" dirty="0"/>
          </a:p>
          <a:p>
            <a:pPr marL="342900" indent="-342900">
              <a:buFont typeface="Wingdings" panose="05000000000000000000" pitchFamily="2" charset="2"/>
              <a:buChar char="q"/>
            </a:pPr>
            <a:endParaRPr lang="en-US" sz="3200" b="1" dirty="0"/>
          </a:p>
        </p:txBody>
      </p:sp>
    </p:spTree>
    <p:extLst>
      <p:ext uri="{BB962C8B-B14F-4D97-AF65-F5344CB8AC3E}">
        <p14:creationId xmlns:p14="http://schemas.microsoft.com/office/powerpoint/2010/main" val="4163592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1205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4.4. Syndrome respiratoire aigue sévère(1/4) </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9" y="1477819"/>
            <a:ext cx="11234056" cy="4684222"/>
          </a:xfrm>
        </p:spPr>
        <p:txBody>
          <a:bodyPr>
            <a:noAutofit/>
          </a:bodyPr>
          <a:lstStyle/>
          <a:p>
            <a:pPr>
              <a:lnSpc>
                <a:spcPct val="150000"/>
              </a:lnSpc>
            </a:pPr>
            <a:r>
              <a:rPr lang="fr-CI" sz="3200" dirty="0">
                <a:solidFill>
                  <a:srgbClr val="00B050"/>
                </a:solidFill>
              </a:rPr>
              <a:t>1. Définition de cas pour la notification du SRAS </a:t>
            </a:r>
          </a:p>
          <a:p>
            <a:pPr>
              <a:lnSpc>
                <a:spcPct val="150000"/>
              </a:lnSpc>
            </a:pPr>
            <a:r>
              <a:rPr lang="fr-CI" sz="3200" dirty="0"/>
              <a:t>En vertu du RSI (2005), dans </a:t>
            </a:r>
            <a:r>
              <a:rPr lang="fr-CI" sz="3200" b="1" dirty="0"/>
              <a:t>la période qui suit une flambée </a:t>
            </a:r>
            <a:r>
              <a:rPr lang="fr-CI" sz="3200" dirty="0"/>
              <a:t>du SRAS, un cas de SRAS </a:t>
            </a:r>
            <a:r>
              <a:rPr lang="fr-CI" sz="3200" b="1" dirty="0"/>
              <a:t>qui doit être notifié</a:t>
            </a:r>
            <a:r>
              <a:rPr lang="fr-CI" sz="3200" dirty="0"/>
              <a:t> est défini comme étant :</a:t>
            </a:r>
          </a:p>
          <a:p>
            <a:pPr>
              <a:lnSpc>
                <a:spcPct val="150000"/>
              </a:lnSpc>
            </a:pPr>
            <a:r>
              <a:rPr lang="fr-CI" sz="3200" dirty="0"/>
              <a:t>            le cas d’un sujet avec une confirmation au laboratoire d’une infection par le coronavirus dû SRAS.</a:t>
            </a:r>
            <a:endParaRPr lang="en-US" sz="3200" b="1" dirty="0"/>
          </a:p>
        </p:txBody>
      </p:sp>
      <p:sp>
        <p:nvSpPr>
          <p:cNvPr id="4" name="Flèche droite à entaille 3"/>
          <p:cNvSpPr/>
          <p:nvPr/>
        </p:nvSpPr>
        <p:spPr>
          <a:xfrm>
            <a:off x="508000" y="4917440"/>
            <a:ext cx="995680" cy="51816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557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567542"/>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4.4. Syndrome respiratoire aigue sévère (2/4)</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243840" y="2123440"/>
            <a:ext cx="11714480" cy="4104640"/>
          </a:xfrm>
        </p:spPr>
        <p:txBody>
          <a:bodyPr>
            <a:noAutofit/>
          </a:bodyPr>
          <a:lstStyle/>
          <a:p>
            <a:pPr>
              <a:lnSpc>
                <a:spcPct val="150000"/>
              </a:lnSpc>
            </a:pPr>
            <a:r>
              <a:rPr lang="fr-CI" sz="3200" dirty="0"/>
              <a:t>          </a:t>
            </a:r>
            <a:r>
              <a:rPr lang="fr-CI" sz="3200" dirty="0">
                <a:latin typeface="Century Gothic" panose="020B0502020202020204" pitchFamily="34" charset="0"/>
              </a:rPr>
              <a:t>soit a travaillé dans un laboratoire manipulant des coronavirus du SRAS vivant ou conservant des échantillons infectés par le coronavirus du SRAS,</a:t>
            </a:r>
          </a:p>
          <a:p>
            <a:pPr>
              <a:lnSpc>
                <a:spcPct val="150000"/>
              </a:lnSpc>
            </a:pPr>
            <a:r>
              <a:rPr lang="fr-CI" sz="3200" dirty="0"/>
              <a:t>         </a:t>
            </a:r>
            <a:r>
              <a:rPr lang="fr-CI" sz="3200" dirty="0">
                <a:latin typeface="Century Gothic" panose="020B0502020202020204" pitchFamily="34" charset="0"/>
              </a:rPr>
              <a:t>soit correspond à la </a:t>
            </a:r>
            <a:r>
              <a:rPr lang="fr-CI" sz="3200" b="1" dirty="0">
                <a:solidFill>
                  <a:srgbClr val="00B050"/>
                </a:solidFill>
                <a:latin typeface="Century Gothic" panose="020B0502020202020204" pitchFamily="34" charset="0"/>
              </a:rPr>
              <a:t>définition clinique </a:t>
            </a:r>
            <a:r>
              <a:rPr lang="fr-CI" sz="3200" dirty="0">
                <a:latin typeface="Century Gothic" panose="020B0502020202020204" pitchFamily="34" charset="0"/>
              </a:rPr>
              <a:t>du cas de SRAS.</a:t>
            </a:r>
            <a:endParaRPr lang="fr-FR" sz="3200" dirty="0">
              <a:latin typeface="Century Gothic" panose="020B0502020202020204" pitchFamily="34" charset="0"/>
            </a:endParaRPr>
          </a:p>
        </p:txBody>
      </p:sp>
      <p:pic>
        <p:nvPicPr>
          <p:cNvPr id="4" name="Image 3"/>
          <p:cNvPicPr>
            <a:picLocks noChangeAspect="1"/>
          </p:cNvPicPr>
          <p:nvPr/>
        </p:nvPicPr>
        <p:blipFill>
          <a:blip r:embed="rId2"/>
          <a:stretch>
            <a:fillRect/>
          </a:stretch>
        </p:blipFill>
        <p:spPr>
          <a:xfrm>
            <a:off x="352697" y="2369288"/>
            <a:ext cx="1030313" cy="554784"/>
          </a:xfrm>
          <a:prstGeom prst="rect">
            <a:avLst/>
          </a:prstGeom>
        </p:spPr>
      </p:pic>
      <p:pic>
        <p:nvPicPr>
          <p:cNvPr id="5" name="Image 4"/>
          <p:cNvPicPr>
            <a:picLocks noChangeAspect="1"/>
          </p:cNvPicPr>
          <p:nvPr/>
        </p:nvPicPr>
        <p:blipFill>
          <a:blip r:embed="rId2"/>
          <a:stretch>
            <a:fillRect/>
          </a:stretch>
        </p:blipFill>
        <p:spPr>
          <a:xfrm>
            <a:off x="352697" y="4634968"/>
            <a:ext cx="937623" cy="554784"/>
          </a:xfrm>
          <a:prstGeom prst="rect">
            <a:avLst/>
          </a:prstGeom>
        </p:spPr>
      </p:pic>
    </p:spTree>
    <p:extLst>
      <p:ext uri="{BB962C8B-B14F-4D97-AF65-F5344CB8AC3E}">
        <p14:creationId xmlns:p14="http://schemas.microsoft.com/office/powerpoint/2010/main" val="1774642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11205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4.4. Syndrome respiratoire aigue sévère(3/4) </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477819"/>
            <a:ext cx="11464041" cy="4684222"/>
          </a:xfrm>
        </p:spPr>
        <p:txBody>
          <a:bodyPr>
            <a:noAutofit/>
          </a:bodyPr>
          <a:lstStyle/>
          <a:p>
            <a:pPr>
              <a:lnSpc>
                <a:spcPct val="150000"/>
              </a:lnSpc>
            </a:pPr>
            <a:r>
              <a:rPr lang="fr-CI" sz="3200" b="1" dirty="0">
                <a:solidFill>
                  <a:srgbClr val="00B050"/>
                </a:solidFill>
              </a:rPr>
              <a:t>2. Définition d’un cas clinique SRAS</a:t>
            </a:r>
          </a:p>
          <a:p>
            <a:pPr>
              <a:lnSpc>
                <a:spcPct val="150000"/>
              </a:lnSpc>
            </a:pPr>
            <a:r>
              <a:rPr lang="fr-CI" sz="3200" dirty="0"/>
              <a:t>01 cas </a:t>
            </a:r>
            <a:r>
              <a:rPr lang="fr-CI" sz="3200" dirty="0">
                <a:solidFill>
                  <a:prstClr val="black">
                    <a:tint val="75000"/>
                  </a:prstClr>
                </a:solidFill>
              </a:rPr>
              <a:t>clinique </a:t>
            </a:r>
            <a:r>
              <a:rPr lang="fr-CI" sz="3200" dirty="0"/>
              <a:t>de SRAS est défini chez toute personne ayant: </a:t>
            </a:r>
          </a:p>
          <a:p>
            <a:pPr marL="457200" indent="-457200">
              <a:lnSpc>
                <a:spcPct val="150000"/>
              </a:lnSpc>
              <a:buFont typeface="Wingdings" panose="05000000000000000000" pitchFamily="2" charset="2"/>
              <a:buChar char="q"/>
            </a:pPr>
            <a:r>
              <a:rPr lang="fr-CI" sz="3200" dirty="0"/>
              <a:t>Des antécédents de fièvre ou une fièvre documentée, </a:t>
            </a:r>
          </a:p>
          <a:p>
            <a:pPr marL="457200" indent="-457200">
              <a:lnSpc>
                <a:spcPct val="150000"/>
              </a:lnSpc>
              <a:buFont typeface="Wingdings" panose="05000000000000000000" pitchFamily="2" charset="2"/>
              <a:buChar char="q"/>
            </a:pPr>
            <a:r>
              <a:rPr lang="fr-CI" sz="3200" dirty="0"/>
              <a:t>Un ou plusieurs symptômes d’une affection des voies respiratoires inférieures (toux, difficulté respiratoire, essoufflement)</a:t>
            </a:r>
          </a:p>
        </p:txBody>
      </p:sp>
    </p:spTree>
    <p:extLst>
      <p:ext uri="{BB962C8B-B14F-4D97-AF65-F5344CB8AC3E}">
        <p14:creationId xmlns:p14="http://schemas.microsoft.com/office/powerpoint/2010/main" val="1253633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7017" y="365761"/>
            <a:ext cx="11077303" cy="100583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4.4. Syndrome respiratoire aigue sévère(4/4) </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371599"/>
            <a:ext cx="11564191" cy="4846321"/>
          </a:xfrm>
        </p:spPr>
        <p:txBody>
          <a:bodyPr>
            <a:noAutofit/>
          </a:bodyPr>
          <a:lstStyle/>
          <a:p>
            <a:pPr marL="457200" indent="-457200">
              <a:lnSpc>
                <a:spcPct val="150000"/>
              </a:lnSpc>
              <a:buFont typeface="Wingdings" panose="05000000000000000000" pitchFamily="2" charset="2"/>
              <a:buChar char="q"/>
            </a:pPr>
            <a:r>
              <a:rPr lang="fr-CI" sz="3200" dirty="0">
                <a:latin typeface="Century Gothic" panose="020B0502020202020204" pitchFamily="34" charset="0"/>
              </a:rPr>
              <a:t>Des signes radiographiques d’une pneumonie ou d’un syndrome de détresse respiratoire aigüe (SDRA), ou des résultats d’autopsie correspondant à la pneumonie ou du SDRA sans qu’il ait de cause identifiable,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Aucun autre diagnostic ne pouvant expliquer la maladie.</a:t>
            </a:r>
          </a:p>
        </p:txBody>
      </p:sp>
    </p:spTree>
    <p:extLst>
      <p:ext uri="{BB962C8B-B14F-4D97-AF65-F5344CB8AC3E}">
        <p14:creationId xmlns:p14="http://schemas.microsoft.com/office/powerpoint/2010/main" val="1251586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750" y="853441"/>
            <a:ext cx="8978536" cy="4936894"/>
          </a:xfrm>
          <a:prstGeom prst="rect">
            <a:avLst/>
          </a:prstGeom>
        </p:spPr>
      </p:pic>
    </p:spTree>
    <p:extLst>
      <p:ext uri="{BB962C8B-B14F-4D97-AF65-F5344CB8AC3E}">
        <p14:creationId xmlns:p14="http://schemas.microsoft.com/office/powerpoint/2010/main" val="1222566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11384" y="365761"/>
            <a:ext cx="7593874" cy="7416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rougeole(1/9)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188720"/>
            <a:ext cx="11677402" cy="4973321"/>
          </a:xfrm>
        </p:spPr>
        <p:txBody>
          <a:bodyPr>
            <a:noAutofit/>
          </a:bodyPr>
          <a:lstStyle/>
          <a:p>
            <a:pPr>
              <a:lnSpc>
                <a:spcPct val="150000"/>
              </a:lnSpc>
            </a:pPr>
            <a:r>
              <a:rPr lang="fr-CI" sz="3200" b="1" dirty="0">
                <a:solidFill>
                  <a:srgbClr val="00B050"/>
                </a:solidFill>
                <a:latin typeface="Century Gothic" panose="020B0502020202020204" pitchFamily="34" charset="0"/>
              </a:rPr>
              <a:t>1. Définition de cas pour la notification</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	</a:t>
            </a:r>
            <a:r>
              <a:rPr lang="fr-CI" sz="3200" b="1" dirty="0">
                <a:solidFill>
                  <a:schemeClr val="tx1"/>
                </a:solidFill>
                <a:latin typeface="Century Gothic" panose="020B0502020202020204" pitchFamily="34" charset="0"/>
              </a:rPr>
              <a:t>Au niveau de la structure sanitaire</a:t>
            </a:r>
            <a:r>
              <a:rPr lang="fr-CI" sz="3200" dirty="0">
                <a:latin typeface="Century Gothic" panose="020B0502020202020204" pitchFamily="34" charset="0"/>
              </a:rPr>
              <a:t> </a:t>
            </a:r>
          </a:p>
          <a:p>
            <a:pPr marL="457200" indent="-457200">
              <a:lnSpc>
                <a:spcPct val="150000"/>
              </a:lnSpc>
              <a:buFont typeface="Wingdings" panose="05000000000000000000" pitchFamily="2" charset="2"/>
              <a:buChar char="§"/>
            </a:pPr>
            <a:r>
              <a:rPr lang="fr-CI" sz="3200" dirty="0">
                <a:solidFill>
                  <a:srgbClr val="C00000"/>
                </a:solidFill>
                <a:latin typeface="Century Gothic" panose="020B0502020202020204" pitchFamily="34" charset="0"/>
              </a:rPr>
              <a:t>Cas suspect de rougeole </a:t>
            </a:r>
          </a:p>
          <a:p>
            <a:pPr>
              <a:lnSpc>
                <a:spcPct val="150000"/>
              </a:lnSpc>
            </a:pPr>
            <a:r>
              <a:rPr lang="fr-CI" sz="3200" dirty="0">
                <a:latin typeface="Century Gothic" panose="020B0502020202020204" pitchFamily="34" charset="0"/>
              </a:rPr>
              <a:t>C’est est un enfant présentant une </a:t>
            </a:r>
            <a:r>
              <a:rPr lang="fr-CI" sz="3200" b="1" dirty="0">
                <a:latin typeface="Century Gothic" panose="020B0502020202020204" pitchFamily="34" charset="0"/>
              </a:rPr>
              <a:t>Fièvre</a:t>
            </a:r>
            <a:r>
              <a:rPr lang="fr-CI" sz="3200" dirty="0">
                <a:latin typeface="Century Gothic" panose="020B0502020202020204" pitchFamily="34" charset="0"/>
              </a:rPr>
              <a:t>, une </a:t>
            </a:r>
            <a:r>
              <a:rPr lang="fr-CI" sz="3200" b="1" dirty="0">
                <a:latin typeface="Century Gothic" panose="020B0502020202020204" pitchFamily="34" charset="0"/>
              </a:rPr>
              <a:t>éruption</a:t>
            </a:r>
            <a:r>
              <a:rPr lang="fr-CI" sz="3200" dirty="0">
                <a:latin typeface="Century Gothic" panose="020B0502020202020204" pitchFamily="34" charset="0"/>
              </a:rPr>
              <a:t>, une </a:t>
            </a:r>
            <a:r>
              <a:rPr lang="fr-CI" sz="3200" b="1" dirty="0">
                <a:latin typeface="Century Gothic" panose="020B0502020202020204" pitchFamily="34" charset="0"/>
              </a:rPr>
              <a:t>toux</a:t>
            </a:r>
            <a:r>
              <a:rPr lang="fr-CI" sz="3200" dirty="0">
                <a:latin typeface="Century Gothic" panose="020B0502020202020204" pitchFamily="34" charset="0"/>
              </a:rPr>
              <a:t> ou un coryza ou une </a:t>
            </a:r>
            <a:r>
              <a:rPr lang="fr-CI" sz="3200" b="1" dirty="0">
                <a:latin typeface="Century Gothic" panose="020B0502020202020204" pitchFamily="34" charset="0"/>
              </a:rPr>
              <a:t>conjonctivite</a:t>
            </a:r>
            <a:r>
              <a:rPr lang="fr-CI" sz="3200" dirty="0">
                <a:latin typeface="Century Gothic" panose="020B0502020202020204" pitchFamily="34" charset="0"/>
              </a:rPr>
              <a:t> ou toute personne chez qui un clinicien suspecte la rougeole.</a:t>
            </a:r>
          </a:p>
          <a:p>
            <a:pPr>
              <a:lnSpc>
                <a:spcPct val="150000"/>
              </a:lnSpc>
            </a:pPr>
            <a:r>
              <a:rPr lang="fr-CI" sz="3200" dirty="0"/>
              <a:t> 	</a:t>
            </a:r>
          </a:p>
        </p:txBody>
      </p:sp>
    </p:spTree>
    <p:extLst>
      <p:ext uri="{BB962C8B-B14F-4D97-AF65-F5344CB8AC3E}">
        <p14:creationId xmlns:p14="http://schemas.microsoft.com/office/powerpoint/2010/main" val="2817459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3830" y="365761"/>
            <a:ext cx="7776754" cy="111205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rougeole(2/9)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689463"/>
            <a:ext cx="11625151" cy="4537166"/>
          </a:xfrm>
        </p:spPr>
        <p:txBody>
          <a:bodyPr>
            <a:noAutofit/>
          </a:bodyPr>
          <a:lstStyle/>
          <a:p>
            <a:pPr marL="457200" indent="-457200">
              <a:lnSpc>
                <a:spcPct val="150000"/>
              </a:lnSpc>
              <a:buFont typeface="Wingdings" panose="05000000000000000000" pitchFamily="2" charset="2"/>
              <a:buChar char="§"/>
            </a:pPr>
            <a:r>
              <a:rPr lang="fr-CI" sz="3200" dirty="0">
                <a:solidFill>
                  <a:srgbClr val="FF0000"/>
                </a:solidFill>
                <a:latin typeface="Century Gothic" panose="020B0502020202020204" pitchFamily="34" charset="0"/>
              </a:rPr>
              <a:t>Cas confirmé de rougeole</a:t>
            </a:r>
          </a:p>
          <a:p>
            <a:pPr>
              <a:lnSpc>
                <a:spcPct val="150000"/>
              </a:lnSpc>
            </a:pPr>
            <a:r>
              <a:rPr lang="fr-CI" sz="3200" dirty="0">
                <a:latin typeface="Century Gothic" panose="020B0502020202020204" pitchFamily="34" charset="0"/>
              </a:rPr>
              <a:t>C’est un cas suspect avec </a:t>
            </a:r>
            <a:r>
              <a:rPr lang="fr-CI" sz="3200" b="1" dirty="0" err="1">
                <a:latin typeface="Century Gothic" panose="020B0502020202020204" pitchFamily="34" charset="0"/>
              </a:rPr>
              <a:t>IgM</a:t>
            </a:r>
            <a:r>
              <a:rPr lang="fr-CI" sz="3200" b="1" dirty="0">
                <a:latin typeface="Century Gothic" panose="020B0502020202020204" pitchFamily="34" charset="0"/>
              </a:rPr>
              <a:t> positif </a:t>
            </a:r>
            <a:r>
              <a:rPr lang="fr-CI" sz="3200" dirty="0">
                <a:latin typeface="Century Gothic" panose="020B0502020202020204" pitchFamily="34" charset="0"/>
              </a:rPr>
              <a:t>ou cas suspect avec notion de contact physique avec un cas confirmé (</a:t>
            </a:r>
            <a:r>
              <a:rPr lang="fr-CI" sz="3200" b="1" dirty="0">
                <a:latin typeface="Century Gothic" panose="020B0502020202020204" pitchFamily="34" charset="0"/>
              </a:rPr>
              <a:t>lien épidémiologique</a:t>
            </a:r>
            <a:r>
              <a:rPr lang="fr-CI" sz="3200" dirty="0">
                <a:latin typeface="Century Gothic" panose="020B0502020202020204" pitchFamily="34" charset="0"/>
              </a:rPr>
              <a:t>) dans les jours ayant précédé le début de la maladie ou cas suspect confirmé cliniquement.</a:t>
            </a:r>
          </a:p>
          <a:p>
            <a:pPr>
              <a:lnSpc>
                <a:spcPct val="150000"/>
              </a:lnSpc>
            </a:pPr>
            <a:endParaRPr lang="fr-CI" sz="3200" dirty="0"/>
          </a:p>
        </p:txBody>
      </p:sp>
    </p:spTree>
    <p:extLst>
      <p:ext uri="{BB962C8B-B14F-4D97-AF65-F5344CB8AC3E}">
        <p14:creationId xmlns:p14="http://schemas.microsoft.com/office/powerpoint/2010/main" val="31545748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39520" y="365761"/>
            <a:ext cx="8859520" cy="111205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rougeole(3/9)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477819"/>
            <a:ext cx="11464041" cy="4684222"/>
          </a:xfrm>
        </p:spPr>
        <p:txBody>
          <a:bodyPr>
            <a:noAutofit/>
          </a:bodyPr>
          <a:lstStyle/>
          <a:p>
            <a:pPr lvl="0">
              <a:lnSpc>
                <a:spcPct val="150000"/>
              </a:lnSpc>
            </a:pPr>
            <a:r>
              <a:rPr lang="fr-CI" sz="3200" b="1" dirty="0">
                <a:solidFill>
                  <a:srgbClr val="00B050"/>
                </a:solidFill>
                <a:latin typeface="Century Gothic" panose="020B0502020202020204" pitchFamily="34" charset="0"/>
              </a:rPr>
              <a:t>1. Définition de cas pour la notification</a:t>
            </a:r>
            <a:endParaRPr lang="fr-CI" sz="3200" dirty="0">
              <a:solidFill>
                <a:srgbClr val="00B050"/>
              </a:solidFill>
              <a:latin typeface="Century Gothic" panose="020B0502020202020204" pitchFamily="34" charset="0"/>
            </a:endParaRP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	</a:t>
            </a:r>
            <a:r>
              <a:rPr lang="fr-CI" sz="3200" b="1" dirty="0">
                <a:solidFill>
                  <a:schemeClr val="tx1"/>
                </a:solidFill>
                <a:latin typeface="Century Gothic" panose="020B0502020202020204" pitchFamily="34" charset="0"/>
              </a:rPr>
              <a:t>Au niveau communautaire</a:t>
            </a:r>
            <a:r>
              <a:rPr lang="fr-CI" sz="3200" dirty="0">
                <a:latin typeface="Century Gothic" panose="020B0502020202020204" pitchFamily="34" charset="0"/>
              </a:rPr>
              <a:t> </a:t>
            </a:r>
          </a:p>
          <a:p>
            <a:pPr>
              <a:lnSpc>
                <a:spcPct val="150000"/>
              </a:lnSpc>
            </a:pPr>
            <a:r>
              <a:rPr lang="fr-CI" sz="3200" dirty="0">
                <a:latin typeface="Century Gothic" panose="020B0502020202020204" pitchFamily="34" charset="0"/>
              </a:rPr>
              <a:t>C’est toute personne présentant une chaleur corporelle et une éruption cutanée étendue sur le visage et le corps.</a:t>
            </a:r>
          </a:p>
          <a:p>
            <a:pPr>
              <a:lnSpc>
                <a:spcPct val="150000"/>
              </a:lnSpc>
            </a:pPr>
            <a:r>
              <a:rPr lang="fr-CI" sz="3200" dirty="0">
                <a:latin typeface="Century Gothic" panose="020B0502020202020204" pitchFamily="34" charset="0"/>
              </a:rPr>
              <a:t> 	</a:t>
            </a:r>
          </a:p>
        </p:txBody>
      </p:sp>
    </p:spTree>
    <p:extLst>
      <p:ext uri="{BB962C8B-B14F-4D97-AF65-F5344CB8AC3E}">
        <p14:creationId xmlns:p14="http://schemas.microsoft.com/office/powerpoint/2010/main" val="15218144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33303" y="365761"/>
            <a:ext cx="8769531" cy="111205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rougeole(4/9)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1718" y="1477819"/>
            <a:ext cx="11677402" cy="4684222"/>
          </a:xfrm>
        </p:spPr>
        <p:txBody>
          <a:bodyPr>
            <a:noAutofit/>
          </a:bodyPr>
          <a:lstStyle/>
          <a:p>
            <a:pPr>
              <a:lnSpc>
                <a:spcPct val="150000"/>
              </a:lnSpc>
            </a:pPr>
            <a:r>
              <a:rPr lang="fr-CI" sz="3200" b="1" dirty="0">
                <a:solidFill>
                  <a:srgbClr val="00B050"/>
                </a:solidFill>
                <a:latin typeface="Century Gothic" panose="020B0502020202020204" pitchFamily="34" charset="0"/>
              </a:rPr>
              <a:t>2. Définition de Suspicion et de confirmation d’une épidémie</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	</a:t>
            </a:r>
            <a:r>
              <a:rPr lang="fr-CI" sz="3200" b="1" dirty="0">
                <a:solidFill>
                  <a:schemeClr val="tx1"/>
                </a:solidFill>
                <a:latin typeface="Century Gothic" panose="020B0502020202020204" pitchFamily="34" charset="0"/>
              </a:rPr>
              <a:t>Suspicion d’une épidémie</a:t>
            </a:r>
            <a:endParaRPr lang="fr-CI" sz="3200" dirty="0">
              <a:latin typeface="Century Gothic" panose="020B0502020202020204" pitchFamily="34" charset="0"/>
            </a:endParaRPr>
          </a:p>
          <a:p>
            <a:pPr>
              <a:lnSpc>
                <a:spcPct val="150000"/>
              </a:lnSpc>
            </a:pPr>
            <a:r>
              <a:rPr lang="fr-CI" sz="3200" dirty="0">
                <a:latin typeface="Century Gothic" panose="020B0502020202020204" pitchFamily="34" charset="0"/>
              </a:rPr>
              <a:t>C’est lorsque cinq (05) cas suspects ou plus sont notifiés en un mois au sein d’une population de 100 000 habitants vivants dans un district sanitaire ou une aire de santé.</a:t>
            </a:r>
          </a:p>
          <a:p>
            <a:pPr>
              <a:lnSpc>
                <a:spcPct val="150000"/>
              </a:lnSpc>
            </a:pPr>
            <a:r>
              <a:rPr lang="fr-CI" sz="3200" dirty="0"/>
              <a:t> 	</a:t>
            </a:r>
          </a:p>
        </p:txBody>
      </p:sp>
    </p:spTree>
    <p:extLst>
      <p:ext uri="{BB962C8B-B14F-4D97-AF65-F5344CB8AC3E}">
        <p14:creationId xmlns:p14="http://schemas.microsoft.com/office/powerpoint/2010/main" val="7838033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07475" y="365761"/>
            <a:ext cx="8395062"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rougeole(5/9)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87680" y="1410789"/>
            <a:ext cx="11190514" cy="4754880"/>
          </a:xfrm>
        </p:spPr>
        <p:txBody>
          <a:bodyPr>
            <a:noAutofit/>
          </a:bodyPr>
          <a:lstStyle/>
          <a:p>
            <a:pPr marL="457200" indent="-457200">
              <a:lnSpc>
                <a:spcPct val="150000"/>
              </a:lnSpc>
              <a:buFont typeface="Wingdings" panose="05000000000000000000" pitchFamily="2" charset="2"/>
              <a:buChar char="q"/>
            </a:pPr>
            <a:r>
              <a:rPr lang="fr-CI" sz="3200" dirty="0">
                <a:latin typeface="Century Gothic" panose="020B0502020202020204" pitchFamily="34" charset="0"/>
              </a:rPr>
              <a:t>	</a:t>
            </a:r>
            <a:r>
              <a:rPr lang="fr-CI" sz="3200" b="1" dirty="0">
                <a:solidFill>
                  <a:schemeClr val="tx1"/>
                </a:solidFill>
                <a:latin typeface="Century Gothic" panose="020B0502020202020204" pitchFamily="34" charset="0"/>
              </a:rPr>
              <a:t>Confirmation d’une épidémie </a:t>
            </a:r>
            <a:r>
              <a:rPr lang="fr-CI" sz="3200" dirty="0">
                <a:latin typeface="Century Gothic" panose="020B0502020202020204" pitchFamily="34" charset="0"/>
              </a:rPr>
              <a:t>	</a:t>
            </a:r>
          </a:p>
          <a:p>
            <a:pPr>
              <a:lnSpc>
                <a:spcPct val="150000"/>
              </a:lnSpc>
            </a:pPr>
            <a:r>
              <a:rPr lang="fr-CI" sz="3200" dirty="0">
                <a:latin typeface="Century Gothic" panose="020B0502020202020204" pitchFamily="34" charset="0"/>
              </a:rPr>
              <a:t>C’est lorsque trois (03) cas confirmés ou + sont notifiés en un mois au sein d’une population de 100 000 habitants vivants dans un district sanitaire ou une aire de santé avec notion de lien épidémiologique.</a:t>
            </a:r>
          </a:p>
          <a:p>
            <a:pPr>
              <a:lnSpc>
                <a:spcPct val="150000"/>
              </a:lnSpc>
            </a:pPr>
            <a:r>
              <a:rPr lang="fr-CI" sz="3200" dirty="0"/>
              <a:t> 	</a:t>
            </a:r>
          </a:p>
        </p:txBody>
      </p:sp>
    </p:spTree>
    <p:extLst>
      <p:ext uri="{BB962C8B-B14F-4D97-AF65-F5344CB8AC3E}">
        <p14:creationId xmlns:p14="http://schemas.microsoft.com/office/powerpoint/2010/main" val="1118145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rougeole(6/9)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66551" y="1477818"/>
            <a:ext cx="11572899" cy="4626891"/>
          </a:xfrm>
        </p:spPr>
        <p:txBody>
          <a:bodyPr>
            <a:noAutofit/>
          </a:bodyPr>
          <a:lstStyle/>
          <a:p>
            <a:pPr>
              <a:lnSpc>
                <a:spcPct val="150000"/>
              </a:lnSpc>
            </a:pPr>
            <a:r>
              <a:rPr lang="fr-CI" sz="3200" b="1" dirty="0">
                <a:solidFill>
                  <a:srgbClr val="00B050"/>
                </a:solidFill>
                <a:latin typeface="Century Gothic" panose="020B0502020202020204" pitchFamily="34" charset="0"/>
              </a:rPr>
              <a:t>3. Organisation de la riposte devant un cas suspect de rougeole.</a:t>
            </a:r>
            <a:r>
              <a:rPr lang="fr-CI" sz="3200" b="1" dirty="0">
                <a:latin typeface="Century Gothic" panose="020B0502020202020204" pitchFamily="34" charset="0"/>
              </a:rPr>
              <a:t>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Prélever le sang entre le 4ème et le 28ème jour après le début de l’éruption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Laisser décanter dans un porte vaccin où sont disposés des accumulateurs congelés (+2 et + 8) ;</a:t>
            </a:r>
          </a:p>
          <a:p>
            <a:pPr>
              <a:lnSpc>
                <a:spcPct val="150000"/>
              </a:lnSpc>
            </a:pPr>
            <a:r>
              <a:rPr lang="fr-CI" sz="3200" dirty="0"/>
              <a:t>	</a:t>
            </a:r>
          </a:p>
        </p:txBody>
      </p:sp>
    </p:spTree>
    <p:extLst>
      <p:ext uri="{BB962C8B-B14F-4D97-AF65-F5344CB8AC3E}">
        <p14:creationId xmlns:p14="http://schemas.microsoft.com/office/powerpoint/2010/main" val="2745874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rougeole(7/9)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557348" y="1477819"/>
            <a:ext cx="11216639" cy="4740102"/>
          </a:xfrm>
        </p:spPr>
        <p:txBody>
          <a:bodyPr>
            <a:noAutofit/>
          </a:bodyPr>
          <a:lstStyle/>
          <a:p>
            <a:pPr marL="457200" indent="-457200">
              <a:lnSpc>
                <a:spcPct val="150000"/>
              </a:lnSpc>
              <a:buFont typeface="Wingdings" panose="05000000000000000000" pitchFamily="2" charset="2"/>
              <a:buChar char="q"/>
            </a:pPr>
            <a:r>
              <a:rPr lang="fr-CI" sz="3200" dirty="0">
                <a:latin typeface="Century Gothic" panose="020B0502020202020204" pitchFamily="34" charset="0"/>
              </a:rPr>
              <a:t>Fermer le porte vaccin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Accompagner le prélèvement de la fiche d’enquête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 Acheminer le porte vaccin au district sanitaire ou à la DCPEV.</a:t>
            </a:r>
          </a:p>
          <a:p>
            <a:pPr>
              <a:lnSpc>
                <a:spcPct val="150000"/>
              </a:lnSpc>
            </a:pPr>
            <a:r>
              <a:rPr lang="fr-CI" sz="3200" b="1" dirty="0">
                <a:latin typeface="Century Gothic" panose="020B0502020202020204" pitchFamily="34" charset="0"/>
              </a:rPr>
              <a:t>NB</a:t>
            </a:r>
            <a:r>
              <a:rPr lang="fr-CI" sz="3200" dirty="0">
                <a:latin typeface="Century Gothic" panose="020B0502020202020204" pitchFamily="34" charset="0"/>
              </a:rPr>
              <a:t> : Faire un prélèvement de gorge des cas entre J1 à J7.</a:t>
            </a:r>
          </a:p>
          <a:p>
            <a:pPr marL="457200" indent="-457200">
              <a:lnSpc>
                <a:spcPct val="150000"/>
              </a:lnSpc>
              <a:buFont typeface="Wingdings" panose="05000000000000000000" pitchFamily="2" charset="2"/>
              <a:buChar char="q"/>
            </a:pPr>
            <a:endParaRPr lang="fr-CI" sz="3200" dirty="0"/>
          </a:p>
          <a:p>
            <a:pPr marL="457200" indent="-457200">
              <a:lnSpc>
                <a:spcPct val="150000"/>
              </a:lnSpc>
              <a:buFont typeface="Wingdings" panose="05000000000000000000" pitchFamily="2" charset="2"/>
              <a:buChar char="q"/>
            </a:pPr>
            <a:endParaRPr lang="fr-CI" sz="3200" dirty="0"/>
          </a:p>
          <a:p>
            <a:pPr>
              <a:lnSpc>
                <a:spcPct val="150000"/>
              </a:lnSpc>
            </a:pPr>
            <a:r>
              <a:rPr lang="fr-CI" sz="3200" dirty="0"/>
              <a:t> 	</a:t>
            </a:r>
          </a:p>
        </p:txBody>
      </p:sp>
    </p:spTree>
    <p:extLst>
      <p:ext uri="{BB962C8B-B14F-4D97-AF65-F5344CB8AC3E}">
        <p14:creationId xmlns:p14="http://schemas.microsoft.com/office/powerpoint/2010/main" val="41817696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2"/>
            <a:ext cx="6783977" cy="679268"/>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rougeole(8/9)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44137" y="923110"/>
            <a:ext cx="11469189" cy="5329644"/>
          </a:xfrm>
        </p:spPr>
        <p:txBody>
          <a:bodyPr>
            <a:noAutofit/>
          </a:bodyPr>
          <a:lstStyle/>
          <a:p>
            <a:pPr>
              <a:lnSpc>
                <a:spcPct val="150000"/>
              </a:lnSpc>
            </a:pPr>
            <a:r>
              <a:rPr lang="fr-CI" sz="3200" b="1" dirty="0">
                <a:solidFill>
                  <a:srgbClr val="00B050"/>
                </a:solidFill>
                <a:latin typeface="Century Gothic" panose="020B0502020202020204" pitchFamily="34" charset="0"/>
              </a:rPr>
              <a:t>4. Mesures préventives</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Limiter l’extension de la PEC des cas et contacts </a:t>
            </a:r>
            <a:r>
              <a:rPr lang="fr-CI" sz="3200" b="1" dirty="0">
                <a:latin typeface="Century Gothic" panose="020B0502020202020204" pitchFamily="34" charset="0"/>
              </a:rPr>
              <a:t>:</a:t>
            </a:r>
          </a:p>
          <a:p>
            <a:pPr marL="457200" indent="-457200">
              <a:lnSpc>
                <a:spcPct val="150000"/>
              </a:lnSpc>
              <a:buFont typeface="Wingdings" panose="05000000000000000000" pitchFamily="2" charset="2"/>
              <a:buChar char="§"/>
            </a:pPr>
            <a:r>
              <a:rPr lang="fr-CI" sz="3200" b="1" i="1" dirty="0">
                <a:latin typeface="Century Gothic" panose="020B0502020202020204" pitchFamily="34" charset="0"/>
              </a:rPr>
              <a:t>Si cas suspect </a:t>
            </a:r>
            <a:r>
              <a:rPr lang="fr-CI" sz="3200" dirty="0">
                <a:latin typeface="Century Gothic" panose="020B0502020202020204" pitchFamily="34" charset="0"/>
              </a:rPr>
              <a:t>: Traitement adéquat et limitation de contact entre sujets vaccinés et sujet ayant fait maladie.</a:t>
            </a:r>
          </a:p>
          <a:p>
            <a:pPr marL="457200" indent="-457200">
              <a:lnSpc>
                <a:spcPct val="150000"/>
              </a:lnSpc>
              <a:buFont typeface="Wingdings" panose="05000000000000000000" pitchFamily="2" charset="2"/>
              <a:buChar char="§"/>
            </a:pPr>
            <a:r>
              <a:rPr lang="fr-CI" sz="3200" b="1" i="1" dirty="0">
                <a:latin typeface="Century Gothic" panose="020B0502020202020204" pitchFamily="34" charset="0"/>
              </a:rPr>
              <a:t>Si cas confirmé </a:t>
            </a:r>
            <a:r>
              <a:rPr lang="fr-CI" sz="3200" dirty="0">
                <a:latin typeface="Century Gothic" panose="020B0502020202020204" pitchFamily="34" charset="0"/>
              </a:rPr>
              <a:t>:  Hospitalisation, traitement adéquat, </a:t>
            </a:r>
            <a:r>
              <a:rPr lang="fr-CI" sz="3200" dirty="0"/>
              <a:t>	</a:t>
            </a:r>
          </a:p>
        </p:txBody>
      </p:sp>
    </p:spTree>
    <p:extLst>
      <p:ext uri="{BB962C8B-B14F-4D97-AF65-F5344CB8AC3E}">
        <p14:creationId xmlns:p14="http://schemas.microsoft.com/office/powerpoint/2010/main" val="1548166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33601" y="365761"/>
            <a:ext cx="8090262"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4.5. La rougeole(9/9)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66552" y="1349829"/>
            <a:ext cx="11407436" cy="4929052"/>
          </a:xfrm>
        </p:spPr>
        <p:txBody>
          <a:bodyPr>
            <a:noAutofit/>
          </a:bodyPr>
          <a:lstStyle/>
          <a:p>
            <a:pPr marL="914389" lvl="1" indent="-457200">
              <a:lnSpc>
                <a:spcPct val="150000"/>
              </a:lnSpc>
              <a:buFont typeface="Wingdings" panose="05000000000000000000" pitchFamily="2" charset="2"/>
              <a:buChar char="§"/>
            </a:pPr>
            <a:r>
              <a:rPr lang="fr-CI" sz="3200" dirty="0">
                <a:latin typeface="Century Gothic" panose="020B0502020202020204" pitchFamily="34" charset="0"/>
              </a:rPr>
              <a:t>limitation de contact entre sujets vaccinés et ayant</a:t>
            </a:r>
          </a:p>
          <a:p>
            <a:pPr marL="914389" lvl="1" indent="-457200">
              <a:lnSpc>
                <a:spcPct val="150000"/>
              </a:lnSpc>
              <a:buFont typeface="Wingdings" panose="05000000000000000000" pitchFamily="2" charset="2"/>
              <a:buChar char="§"/>
            </a:pPr>
            <a:r>
              <a:rPr lang="fr-CI" sz="3200" b="1" i="1" dirty="0">
                <a:solidFill>
                  <a:schemeClr val="tx1"/>
                </a:solidFill>
                <a:latin typeface="Century Gothic" panose="020B0502020202020204" pitchFamily="34" charset="0"/>
              </a:rPr>
              <a:t>Si sujet contact</a:t>
            </a:r>
            <a:r>
              <a:rPr lang="fr-CI" sz="3200" b="1" dirty="0">
                <a:solidFill>
                  <a:schemeClr val="tx1"/>
                </a:solidFill>
                <a:latin typeface="Century Gothic" panose="020B0502020202020204" pitchFamily="34" charset="0"/>
              </a:rPr>
              <a:t> </a:t>
            </a:r>
            <a:r>
              <a:rPr lang="fr-CI" sz="3200" dirty="0">
                <a:solidFill>
                  <a:schemeClr val="tx1"/>
                </a:solidFill>
                <a:latin typeface="Century Gothic" panose="020B0502020202020204" pitchFamily="34" charset="0"/>
              </a:rPr>
              <a:t>: Vaccination, Isolement dès apparition des 1ers signes.</a:t>
            </a:r>
          </a:p>
          <a:p>
            <a:pPr marL="457200" indent="-457200">
              <a:lnSpc>
                <a:spcPct val="150000"/>
              </a:lnSpc>
              <a:buFont typeface="Wingdings" panose="05000000000000000000" pitchFamily="2" charset="2"/>
              <a:buChar char="q"/>
            </a:pPr>
            <a:r>
              <a:rPr lang="fr-CI" sz="3200" dirty="0">
                <a:solidFill>
                  <a:schemeClr val="tx1"/>
                </a:solidFill>
                <a:latin typeface="Century Gothic" panose="020B0502020202020204" pitchFamily="34" charset="0"/>
              </a:rPr>
              <a:t>Vacciner tout cas suspect de rougeole (vaccination sélective);</a:t>
            </a:r>
          </a:p>
          <a:p>
            <a:pPr>
              <a:lnSpc>
                <a:spcPct val="150000"/>
              </a:lnSpc>
            </a:pPr>
            <a:r>
              <a:rPr lang="fr-CI" sz="3200" dirty="0"/>
              <a:t>	</a:t>
            </a:r>
          </a:p>
        </p:txBody>
      </p:sp>
    </p:spTree>
    <p:extLst>
      <p:ext uri="{BB962C8B-B14F-4D97-AF65-F5344CB8AC3E}">
        <p14:creationId xmlns:p14="http://schemas.microsoft.com/office/powerpoint/2010/main" val="1161714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4297" y="192859"/>
            <a:ext cx="8546737" cy="5653056"/>
          </a:xfrm>
          <a:prstGeom prst="rect">
            <a:avLst/>
          </a:prstGeom>
        </p:spPr>
      </p:pic>
    </p:spTree>
    <p:extLst>
      <p:ext uri="{BB962C8B-B14F-4D97-AF65-F5344CB8AC3E}">
        <p14:creationId xmlns:p14="http://schemas.microsoft.com/office/powerpoint/2010/main" val="3527308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4.6. Fièvre jaune(1/6)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67360" y="1259840"/>
            <a:ext cx="10757989" cy="4844869"/>
          </a:xfrm>
        </p:spPr>
        <p:txBody>
          <a:bodyPr>
            <a:noAutofit/>
          </a:bodyPr>
          <a:lstStyle/>
          <a:p>
            <a:pPr>
              <a:lnSpc>
                <a:spcPct val="150000"/>
              </a:lnSpc>
            </a:pPr>
            <a:r>
              <a:rPr lang="fr-CI" sz="3200" b="1" dirty="0">
                <a:solidFill>
                  <a:srgbClr val="00B050"/>
                </a:solidFill>
                <a:latin typeface="Century Gothic" panose="020B0502020202020204" pitchFamily="34" charset="0"/>
              </a:rPr>
              <a:t>1. Au niveau de la formation sanitaire.</a:t>
            </a:r>
            <a:r>
              <a:rPr lang="fr-CI" sz="3200" dirty="0">
                <a:latin typeface="Century Gothic" panose="020B0502020202020204" pitchFamily="34" charset="0"/>
              </a:rPr>
              <a:t>		</a:t>
            </a:r>
          </a:p>
          <a:p>
            <a:pPr marL="457200" indent="-457200">
              <a:lnSpc>
                <a:spcPct val="150000"/>
              </a:lnSpc>
              <a:buFont typeface="Wingdings" panose="05000000000000000000" pitchFamily="2" charset="2"/>
              <a:buChar char="q"/>
            </a:pPr>
            <a:r>
              <a:rPr lang="fr-CI" sz="3200" b="1" dirty="0">
                <a:latin typeface="Century Gothic" panose="020B0502020202020204" pitchFamily="34" charset="0"/>
              </a:rPr>
              <a:t>Cas suspect : </a:t>
            </a:r>
          </a:p>
          <a:p>
            <a:pPr>
              <a:lnSpc>
                <a:spcPct val="150000"/>
              </a:lnSpc>
            </a:pPr>
            <a:r>
              <a:rPr lang="fr-CI" sz="3200" dirty="0">
                <a:latin typeface="Century Gothic" panose="020B0502020202020204" pitchFamily="34" charset="0"/>
              </a:rPr>
              <a:t>C’est tout sujet présentant une fièvre d’apparition brusque avec ictère apparaissant dans les 14 jours après le début des symptômes.</a:t>
            </a:r>
          </a:p>
          <a:p>
            <a:pPr marL="457200" indent="-457200">
              <a:lnSpc>
                <a:spcPct val="150000"/>
              </a:lnSpc>
              <a:buFont typeface="Wingdings" panose="05000000000000000000" pitchFamily="2" charset="2"/>
              <a:buChar char="q"/>
            </a:pPr>
            <a:endParaRPr lang="fr-CI" sz="3200" dirty="0"/>
          </a:p>
        </p:txBody>
      </p:sp>
    </p:spTree>
    <p:extLst>
      <p:ext uri="{BB962C8B-B14F-4D97-AF65-F5344CB8AC3E}">
        <p14:creationId xmlns:p14="http://schemas.microsoft.com/office/powerpoint/2010/main" val="26673780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4.6. Fièvre jaune(2/6)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27018" y="1259840"/>
            <a:ext cx="10633166" cy="4844869"/>
          </a:xfrm>
        </p:spPr>
        <p:txBody>
          <a:bodyPr>
            <a:noAutofit/>
          </a:bodyPr>
          <a:lstStyle/>
          <a:p>
            <a:pPr>
              <a:lnSpc>
                <a:spcPct val="150000"/>
              </a:lnSpc>
            </a:pPr>
            <a:r>
              <a:rPr lang="fr-CI" sz="3200" b="1" dirty="0">
                <a:solidFill>
                  <a:srgbClr val="00B050"/>
                </a:solidFill>
                <a:latin typeface="Century Gothic" panose="020B0502020202020204" pitchFamily="34" charset="0"/>
              </a:rPr>
              <a:t>1.</a:t>
            </a:r>
            <a:r>
              <a:rPr lang="fr-CI" sz="3200" dirty="0">
                <a:solidFill>
                  <a:srgbClr val="00B050"/>
                </a:solidFill>
                <a:latin typeface="Century Gothic" panose="020B0502020202020204" pitchFamily="34" charset="0"/>
              </a:rPr>
              <a:t> </a:t>
            </a:r>
            <a:r>
              <a:rPr lang="fr-CI" sz="3200" b="1" dirty="0">
                <a:solidFill>
                  <a:srgbClr val="00B050"/>
                </a:solidFill>
                <a:latin typeface="Century Gothic" panose="020B0502020202020204" pitchFamily="34" charset="0"/>
              </a:rPr>
              <a:t>Au niveau de la formation sanitaire.</a:t>
            </a:r>
            <a:r>
              <a:rPr lang="fr-CI" sz="3200" dirty="0">
                <a:latin typeface="Century Gothic" panose="020B0502020202020204" pitchFamily="34" charset="0"/>
              </a:rPr>
              <a:t>		</a:t>
            </a:r>
          </a:p>
          <a:p>
            <a:pPr marL="457200" indent="-457200">
              <a:lnSpc>
                <a:spcPct val="150000"/>
              </a:lnSpc>
              <a:buFont typeface="Wingdings" panose="05000000000000000000" pitchFamily="2" charset="2"/>
              <a:buChar char="q"/>
            </a:pPr>
            <a:r>
              <a:rPr lang="fr-CI" sz="3200" b="1" dirty="0">
                <a:latin typeface="Century Gothic" panose="020B0502020202020204" pitchFamily="34" charset="0"/>
              </a:rPr>
              <a:t>Cas probable : </a:t>
            </a:r>
          </a:p>
          <a:p>
            <a:pPr>
              <a:lnSpc>
                <a:spcPct val="150000"/>
              </a:lnSpc>
            </a:pPr>
            <a:r>
              <a:rPr lang="fr-CI" sz="3200" dirty="0">
                <a:latin typeface="Century Gothic" panose="020B0502020202020204" pitchFamily="34" charset="0"/>
              </a:rPr>
              <a:t>C’est tout cas suspect </a:t>
            </a:r>
            <a:r>
              <a:rPr lang="fr-CI" sz="3200" dirty="0" err="1">
                <a:latin typeface="Century Gothic" panose="020B0502020202020204" pitchFamily="34" charset="0"/>
              </a:rPr>
              <a:t>IgM</a:t>
            </a:r>
            <a:r>
              <a:rPr lang="fr-CI" sz="3200" dirty="0">
                <a:latin typeface="Century Gothic" panose="020B0502020202020204" pitchFamily="34" charset="0"/>
              </a:rPr>
              <a:t> avec histopathologie du foie positive ou lien épidémiologique avec un cas confirmé chez un sujet non vacciné dans les 30 jours.</a:t>
            </a:r>
          </a:p>
          <a:p>
            <a:pPr>
              <a:lnSpc>
                <a:spcPct val="150000"/>
              </a:lnSpc>
            </a:pPr>
            <a:r>
              <a:rPr lang="fr-CI" sz="3200" dirty="0"/>
              <a:t>	</a:t>
            </a:r>
          </a:p>
        </p:txBody>
      </p:sp>
    </p:spTree>
    <p:extLst>
      <p:ext uri="{BB962C8B-B14F-4D97-AF65-F5344CB8AC3E}">
        <p14:creationId xmlns:p14="http://schemas.microsoft.com/office/powerpoint/2010/main" val="26791399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72641" y="365761"/>
            <a:ext cx="7741920"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4.6. Fièvre jaune(3/6)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809898" y="1259840"/>
            <a:ext cx="10633166" cy="4844869"/>
          </a:xfrm>
        </p:spPr>
        <p:txBody>
          <a:bodyPr>
            <a:noAutofit/>
          </a:bodyPr>
          <a:lstStyle/>
          <a:p>
            <a:pPr marL="457200" indent="-457200">
              <a:lnSpc>
                <a:spcPct val="150000"/>
              </a:lnSpc>
              <a:buFont typeface="Wingdings" panose="05000000000000000000" pitchFamily="2" charset="2"/>
              <a:buChar char="q"/>
            </a:pPr>
            <a:r>
              <a:rPr lang="fr-CI" sz="3200" b="1" dirty="0">
                <a:latin typeface="Century Gothic" panose="020B0502020202020204" pitchFamily="34" charset="0"/>
              </a:rPr>
              <a:t>Cas confirmé  : </a:t>
            </a:r>
            <a:r>
              <a:rPr lang="fr-CI" sz="3200" dirty="0">
                <a:latin typeface="Century Gothic" panose="020B0502020202020204" pitchFamily="34" charset="0"/>
              </a:rPr>
              <a:t>	</a:t>
            </a:r>
          </a:p>
          <a:p>
            <a:pPr>
              <a:lnSpc>
                <a:spcPct val="150000"/>
              </a:lnSpc>
            </a:pPr>
            <a:r>
              <a:rPr lang="fr-CI" sz="3200" dirty="0">
                <a:latin typeface="Century Gothic" panose="020B0502020202020204" pitchFamily="34" charset="0"/>
              </a:rPr>
              <a:t>C’est tout cas probable positif à la recherche d’anticorps spécifique </a:t>
            </a:r>
            <a:r>
              <a:rPr lang="fr-CI" sz="3200" dirty="0" err="1">
                <a:latin typeface="Century Gothic" panose="020B0502020202020204" pitchFamily="34" charset="0"/>
              </a:rPr>
              <a:t>IgM</a:t>
            </a:r>
            <a:r>
              <a:rPr lang="fr-CI" sz="3200" dirty="0">
                <a:latin typeface="Century Gothic" panose="020B0502020202020204" pitchFamily="34" charset="0"/>
              </a:rPr>
              <a:t> et </a:t>
            </a:r>
            <a:r>
              <a:rPr lang="fr-CI" sz="3200" dirty="0" err="1">
                <a:latin typeface="Century Gothic" panose="020B0502020202020204" pitchFamily="34" charset="0"/>
              </a:rPr>
              <a:t>IgM</a:t>
            </a:r>
            <a:r>
              <a:rPr lang="fr-CI" sz="3200" dirty="0">
                <a:latin typeface="Century Gothic" panose="020B0502020202020204" pitchFamily="34" charset="0"/>
              </a:rPr>
              <a:t> négatif aux autres flavivirus par un laboratoire certifié.</a:t>
            </a:r>
          </a:p>
          <a:p>
            <a:pPr>
              <a:lnSpc>
                <a:spcPct val="150000"/>
              </a:lnSpc>
            </a:pPr>
            <a:r>
              <a:rPr lang="fr-CI" sz="3200" dirty="0"/>
              <a:t>	</a:t>
            </a:r>
          </a:p>
        </p:txBody>
      </p:sp>
    </p:spTree>
    <p:extLst>
      <p:ext uri="{BB962C8B-B14F-4D97-AF65-F5344CB8AC3E}">
        <p14:creationId xmlns:p14="http://schemas.microsoft.com/office/powerpoint/2010/main" val="38484807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4.6. Fièvre jaune(4/6)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35726" y="1637213"/>
            <a:ext cx="10816045" cy="4415246"/>
          </a:xfrm>
        </p:spPr>
        <p:txBody>
          <a:bodyPr>
            <a:noAutofit/>
          </a:bodyPr>
          <a:lstStyle/>
          <a:p>
            <a:pPr>
              <a:lnSpc>
                <a:spcPct val="150000"/>
              </a:lnSpc>
            </a:pPr>
            <a:r>
              <a:rPr lang="fr-CI" sz="3200" b="1" dirty="0">
                <a:solidFill>
                  <a:srgbClr val="00B050"/>
                </a:solidFill>
                <a:latin typeface="Century Gothic" panose="020B0502020202020204" pitchFamily="34" charset="0"/>
              </a:rPr>
              <a:t>2.</a:t>
            </a:r>
            <a:r>
              <a:rPr lang="fr-CI" sz="3200" dirty="0">
                <a:solidFill>
                  <a:srgbClr val="00B050"/>
                </a:solidFill>
                <a:latin typeface="Century Gothic" panose="020B0502020202020204" pitchFamily="34" charset="0"/>
              </a:rPr>
              <a:t>  </a:t>
            </a:r>
            <a:r>
              <a:rPr lang="fr-CI" sz="3200" b="1" dirty="0">
                <a:solidFill>
                  <a:srgbClr val="00B050"/>
                </a:solidFill>
                <a:latin typeface="Century Gothic" panose="020B0502020202020204" pitchFamily="34" charset="0"/>
              </a:rPr>
              <a:t>Au niveau communautaire.</a:t>
            </a:r>
            <a:r>
              <a:rPr lang="fr-CI" sz="3200" dirty="0">
                <a:latin typeface="Century Gothic" panose="020B0502020202020204" pitchFamily="34" charset="0"/>
              </a:rPr>
              <a:t>		</a:t>
            </a:r>
          </a:p>
          <a:p>
            <a:pPr>
              <a:lnSpc>
                <a:spcPct val="150000"/>
              </a:lnSpc>
            </a:pPr>
            <a:r>
              <a:rPr lang="fr-CI" sz="3200" dirty="0">
                <a:latin typeface="Century Gothic" panose="020B0502020202020204" pitchFamily="34" charset="0"/>
              </a:rPr>
              <a:t>C’est toute personne présentant un jaunissement soudain de la peau de plus de deux semaines, avec ou sans chaleur corporelle.</a:t>
            </a:r>
          </a:p>
          <a:p>
            <a:pPr>
              <a:lnSpc>
                <a:spcPct val="150000"/>
              </a:lnSpc>
            </a:pPr>
            <a:r>
              <a:rPr lang="fr-CI" sz="3200" dirty="0"/>
              <a:t>	</a:t>
            </a:r>
          </a:p>
        </p:txBody>
      </p:sp>
    </p:spTree>
    <p:extLst>
      <p:ext uri="{BB962C8B-B14F-4D97-AF65-F5344CB8AC3E}">
        <p14:creationId xmlns:p14="http://schemas.microsoft.com/office/powerpoint/2010/main" val="3118996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894079"/>
          </a:xfrm>
        </p:spPr>
        <p:txBody>
          <a:bodyPr>
            <a:normAutofit fontScale="90000"/>
          </a:bodyPr>
          <a:lstStyle/>
          <a:p>
            <a:pPr lvl="0" algn="ct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br>
              <a:rPr lang="fr-FR" sz="1800" b="1"/>
            </a:br>
            <a:r>
              <a:rPr lang="fr-CI" sz="4900" b="1">
                <a:solidFill>
                  <a:srgbClr val="C00000"/>
                </a:solidFill>
                <a:latin typeface="Century Gothic" pitchFamily="34" charset="0"/>
              </a:rPr>
              <a:t>4.6. Fièvre jaune(5/6)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74469" y="1259840"/>
            <a:ext cx="11443062" cy="4844869"/>
          </a:xfrm>
        </p:spPr>
        <p:txBody>
          <a:bodyPr>
            <a:noAutofit/>
          </a:bodyPr>
          <a:lstStyle/>
          <a:p>
            <a:pPr>
              <a:lnSpc>
                <a:spcPct val="150000"/>
              </a:lnSpc>
            </a:pPr>
            <a:r>
              <a:rPr lang="fr-CI" sz="3200" b="1" dirty="0">
                <a:solidFill>
                  <a:srgbClr val="00B050"/>
                </a:solidFill>
                <a:latin typeface="Century Gothic" panose="020B0502020202020204" pitchFamily="34" charset="0"/>
              </a:rPr>
              <a:t>3</a:t>
            </a:r>
            <a:r>
              <a:rPr lang="fr-CI" sz="3200" dirty="0">
                <a:solidFill>
                  <a:srgbClr val="00B050"/>
                </a:solidFill>
                <a:latin typeface="Century Gothic" panose="020B0502020202020204" pitchFamily="34" charset="0"/>
              </a:rPr>
              <a:t>. </a:t>
            </a:r>
            <a:r>
              <a:rPr lang="fr-CI" sz="3200" b="1" dirty="0">
                <a:solidFill>
                  <a:schemeClr val="accent6"/>
                </a:solidFill>
                <a:latin typeface="Century Gothic" panose="020B0502020202020204" pitchFamily="34" charset="0"/>
              </a:rPr>
              <a:t>Définition d’une épidémie de Fièvre Jaune.</a:t>
            </a:r>
            <a:r>
              <a:rPr lang="fr-CI" sz="3200" dirty="0">
                <a:latin typeface="Century Gothic" panose="020B0502020202020204" pitchFamily="34" charset="0"/>
              </a:rPr>
              <a:t>	</a:t>
            </a:r>
          </a:p>
          <a:p>
            <a:pPr>
              <a:lnSpc>
                <a:spcPct val="150000"/>
              </a:lnSpc>
            </a:pPr>
            <a:r>
              <a:rPr lang="fr-CI" sz="3200" dirty="0">
                <a:latin typeface="Century Gothic" panose="020B0502020202020204" pitchFamily="34" charset="0"/>
              </a:rPr>
              <a:t>Il y a </a:t>
            </a:r>
            <a:r>
              <a:rPr lang="fr-CI" sz="3200" dirty="0">
                <a:solidFill>
                  <a:srgbClr val="FF0000"/>
                </a:solidFill>
                <a:latin typeface="Century Gothic" panose="020B0502020202020204" pitchFamily="34" charset="0"/>
              </a:rPr>
              <a:t>épidémie</a:t>
            </a:r>
            <a:r>
              <a:rPr lang="fr-CI" sz="3200" dirty="0">
                <a:latin typeface="Century Gothic" panose="020B0502020202020204" pitchFamily="34" charset="0"/>
              </a:rPr>
              <a:t> de fièvre jaune lorsqu’au moins </a:t>
            </a:r>
            <a:r>
              <a:rPr lang="fr-CI" sz="3200" dirty="0">
                <a:solidFill>
                  <a:srgbClr val="FF0000"/>
                </a:solidFill>
                <a:latin typeface="Century Gothic" panose="020B0502020202020204" pitchFamily="34" charset="0"/>
              </a:rPr>
              <a:t>un</a:t>
            </a:r>
            <a:r>
              <a:rPr lang="fr-CI" sz="3200" dirty="0">
                <a:latin typeface="Century Gothic" panose="020B0502020202020204" pitchFamily="34" charset="0"/>
              </a:rPr>
              <a:t> cas suspect est confirmé au laboratoire.</a:t>
            </a:r>
          </a:p>
          <a:p>
            <a:pPr lvl="0" algn="ctr">
              <a:lnSpc>
                <a:spcPct val="150000"/>
              </a:lnSpc>
            </a:pPr>
            <a:r>
              <a:rPr lang="fr-CI" sz="3200" b="1" dirty="0">
                <a:solidFill>
                  <a:schemeClr val="accent6"/>
                </a:solidFill>
                <a:latin typeface="Century Gothic" panose="020B0502020202020204" pitchFamily="34" charset="0"/>
              </a:rPr>
              <a:t>4. Gestes à faire devant un cas suspect de fièvre jaune</a:t>
            </a:r>
          </a:p>
          <a:p>
            <a:pPr marL="457200" lvl="0" indent="-457200">
              <a:lnSpc>
                <a:spcPct val="150000"/>
              </a:lnSpc>
              <a:buFont typeface="Wingdings" panose="05000000000000000000" pitchFamily="2" charset="2"/>
              <a:buChar char="q"/>
            </a:pPr>
            <a:r>
              <a:rPr lang="fr-CI" sz="3200" dirty="0">
                <a:solidFill>
                  <a:prstClr val="black">
                    <a:tint val="75000"/>
                  </a:prstClr>
                </a:solidFill>
                <a:latin typeface="Century Gothic" panose="020B0502020202020204" pitchFamily="34" charset="0"/>
              </a:rPr>
              <a:t>Entreprendre une investigation clinique, épidémiologique et entomologique. </a:t>
            </a:r>
          </a:p>
          <a:p>
            <a:pPr>
              <a:lnSpc>
                <a:spcPct val="150000"/>
              </a:lnSpc>
            </a:pPr>
            <a:endParaRPr lang="fr-CI" sz="3200" dirty="0"/>
          </a:p>
        </p:txBody>
      </p:sp>
    </p:spTree>
    <p:extLst>
      <p:ext uri="{BB962C8B-B14F-4D97-AF65-F5344CB8AC3E}">
        <p14:creationId xmlns:p14="http://schemas.microsoft.com/office/powerpoint/2010/main" val="14633868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34194" y="365761"/>
            <a:ext cx="7576457" cy="894079"/>
          </a:xfrm>
        </p:spPr>
        <p:txBody>
          <a:bodyPr>
            <a:normAutofit fontScale="90000"/>
          </a:bodyPr>
          <a:lstStyle/>
          <a:p>
            <a:pPr lvl="0" algn="ct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CI" sz="4900" b="1" dirty="0">
                <a:solidFill>
                  <a:srgbClr val="C00000"/>
                </a:solidFill>
                <a:latin typeface="Century Gothic" pitchFamily="34" charset="0"/>
              </a:rPr>
              <a:t>4.6. Fièvre jaune   (6/6)</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74469" y="1259840"/>
            <a:ext cx="11443062" cy="4844869"/>
          </a:xfrm>
        </p:spPr>
        <p:txBody>
          <a:bodyPr>
            <a:noAutofit/>
          </a:bodyPr>
          <a:lstStyle/>
          <a:p>
            <a:pPr lvl="0" algn="ctr">
              <a:lnSpc>
                <a:spcPct val="150000"/>
              </a:lnSpc>
            </a:pPr>
            <a:r>
              <a:rPr lang="fr-CI" sz="3200" b="1" dirty="0">
                <a:solidFill>
                  <a:schemeClr val="accent6"/>
                </a:solidFill>
                <a:latin typeface="Century Gothic" panose="020B0502020202020204" pitchFamily="34" charset="0"/>
              </a:rPr>
              <a:t>4. Gestes à faire devant un cas suspect de fièvre jaune</a:t>
            </a:r>
          </a:p>
          <a:p>
            <a:pPr marL="457200" lvl="0" indent="-457200">
              <a:lnSpc>
                <a:spcPct val="150000"/>
              </a:lnSpc>
              <a:buFont typeface="Wingdings" panose="05000000000000000000" pitchFamily="2" charset="2"/>
              <a:buChar char="q"/>
            </a:pPr>
            <a:r>
              <a:rPr lang="fr-CI" sz="3200" dirty="0">
                <a:solidFill>
                  <a:prstClr val="black">
                    <a:tint val="75000"/>
                  </a:prstClr>
                </a:solidFill>
                <a:latin typeface="Century Gothic" panose="020B0502020202020204" pitchFamily="34" charset="0"/>
              </a:rPr>
              <a:t>Identifier la zone concernée et les personnes à risque</a:t>
            </a:r>
          </a:p>
          <a:p>
            <a:pPr marL="457200" lvl="0" indent="-457200">
              <a:lnSpc>
                <a:spcPct val="150000"/>
              </a:lnSpc>
              <a:buFont typeface="Wingdings" panose="05000000000000000000" pitchFamily="2" charset="2"/>
              <a:buChar char="q"/>
            </a:pPr>
            <a:r>
              <a:rPr lang="fr-CI" sz="3200" dirty="0">
                <a:solidFill>
                  <a:prstClr val="black">
                    <a:tint val="75000"/>
                  </a:prstClr>
                </a:solidFill>
                <a:latin typeface="Century Gothic" panose="020B0502020202020204" pitchFamily="34" charset="0"/>
              </a:rPr>
              <a:t>Organiser une vaccination de masse réactive selon les conclusions de l’investigation</a:t>
            </a:r>
          </a:p>
          <a:p>
            <a:pPr marL="457200" lvl="0" indent="-457200">
              <a:lnSpc>
                <a:spcPct val="150000"/>
              </a:lnSpc>
              <a:buFont typeface="Wingdings" panose="05000000000000000000" pitchFamily="2" charset="2"/>
              <a:buChar char="q"/>
            </a:pPr>
            <a:r>
              <a:rPr lang="fr-CI" sz="3200" dirty="0">
                <a:solidFill>
                  <a:prstClr val="black">
                    <a:tint val="75000"/>
                  </a:prstClr>
                </a:solidFill>
                <a:latin typeface="Century Gothic" panose="020B0502020202020204" pitchFamily="34" charset="0"/>
              </a:rPr>
              <a:t>Initier des mesures de lutte anti vectorielle.</a:t>
            </a:r>
          </a:p>
        </p:txBody>
      </p:sp>
    </p:spTree>
    <p:extLst>
      <p:ext uri="{BB962C8B-B14F-4D97-AF65-F5344CB8AC3E}">
        <p14:creationId xmlns:p14="http://schemas.microsoft.com/office/powerpoint/2010/main" val="10823252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1851" y="1709740"/>
            <a:ext cx="10515600" cy="3184477"/>
          </a:xfrm>
        </p:spPr>
        <p:txBody>
          <a:bodyPr/>
          <a:lstStyle/>
          <a:p>
            <a:pPr algn="ctr"/>
            <a:r>
              <a:rPr lang="fr-CI" b="1" dirty="0">
                <a:solidFill>
                  <a:srgbClr val="FF0000"/>
                </a:solidFill>
                <a:latin typeface="Century Gothic" panose="020B0502020202020204" pitchFamily="34" charset="0"/>
              </a:rPr>
              <a:t>TETANOS NEANATAL  (TNN)</a:t>
            </a:r>
            <a:br>
              <a:rPr lang="fr-CI" b="1" dirty="0">
                <a:solidFill>
                  <a:srgbClr val="FF0000"/>
                </a:solidFill>
                <a:latin typeface="Century Gothic" panose="020B0502020202020204" pitchFamily="34" charset="0"/>
              </a:rPr>
            </a:br>
            <a:endParaRPr lang="en-US" b="1" dirty="0"/>
          </a:p>
        </p:txBody>
      </p:sp>
    </p:spTree>
    <p:extLst>
      <p:ext uri="{BB962C8B-B14F-4D97-AF65-F5344CB8AC3E}">
        <p14:creationId xmlns:p14="http://schemas.microsoft.com/office/powerpoint/2010/main" val="14339469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45624" y="365762"/>
            <a:ext cx="8813074" cy="722810"/>
          </a:xfrm>
        </p:spPr>
        <p:txBody>
          <a:bodyPr>
            <a:normAutofit fontScale="90000"/>
          </a:bodyPr>
          <a:lstStyle/>
          <a:p>
            <a:pPr lvl="0"/>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CI" sz="4900" b="1" dirty="0">
                <a:solidFill>
                  <a:srgbClr val="C00000"/>
                </a:solidFill>
                <a:latin typeface="Century Gothic" pitchFamily="34" charset="0"/>
              </a:rPr>
              <a:t>4.7.  Tétanos néonatal  (1/7)</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61851" y="1259840"/>
            <a:ext cx="10816046" cy="4844869"/>
          </a:xfrm>
        </p:spPr>
        <p:txBody>
          <a:bodyPr>
            <a:noAutofit/>
          </a:bodyPr>
          <a:lstStyle/>
          <a:p>
            <a:pPr>
              <a:lnSpc>
                <a:spcPct val="150000"/>
              </a:lnSpc>
            </a:pPr>
            <a:r>
              <a:rPr lang="fr-CI" sz="3200" b="1" dirty="0">
                <a:solidFill>
                  <a:srgbClr val="00B050"/>
                </a:solidFill>
                <a:latin typeface="Century Gothic" panose="020B0502020202020204" pitchFamily="34" charset="0"/>
              </a:rPr>
              <a:t>1.</a:t>
            </a:r>
            <a:r>
              <a:rPr lang="fr-CI" sz="3200" dirty="0">
                <a:solidFill>
                  <a:srgbClr val="00B050"/>
                </a:solidFill>
                <a:latin typeface="Century Gothic" panose="020B0502020202020204" pitchFamily="34" charset="0"/>
              </a:rPr>
              <a:t> </a:t>
            </a:r>
            <a:r>
              <a:rPr lang="fr-CI" sz="3200" b="1" dirty="0">
                <a:solidFill>
                  <a:srgbClr val="00B050"/>
                </a:solidFill>
                <a:latin typeface="Century Gothic" panose="020B0502020202020204" pitchFamily="34" charset="0"/>
              </a:rPr>
              <a:t>Définition de cas pour la notification</a:t>
            </a:r>
            <a:r>
              <a:rPr lang="fr-CI" sz="3200" b="1" dirty="0">
                <a:latin typeface="Century Gothic" panose="020B0502020202020204" pitchFamily="34" charset="0"/>
              </a:rPr>
              <a:t>		</a:t>
            </a:r>
          </a:p>
          <a:p>
            <a:pPr marL="457200" indent="-457200">
              <a:lnSpc>
                <a:spcPct val="150000"/>
              </a:lnSpc>
              <a:buFont typeface="Wingdings" panose="05000000000000000000" pitchFamily="2" charset="2"/>
              <a:buChar char="q"/>
            </a:pPr>
            <a:r>
              <a:rPr lang="fr-CI" sz="3200" b="1" dirty="0">
                <a:latin typeface="Century Gothic" panose="020B0502020202020204" pitchFamily="34" charset="0"/>
              </a:rPr>
              <a:t>Cas suspect : </a:t>
            </a:r>
            <a:r>
              <a:rPr lang="fr-CI" sz="3200" dirty="0">
                <a:latin typeface="Century Gothic" panose="020B0502020202020204" pitchFamily="34" charset="0"/>
              </a:rPr>
              <a:t>Tout cas de décès néonatal survenu entre le </a:t>
            </a:r>
            <a:r>
              <a:rPr lang="fr-CI" sz="3200" b="1" dirty="0">
                <a:solidFill>
                  <a:srgbClr val="EC7320"/>
                </a:solidFill>
                <a:latin typeface="Century Gothic" panose="020B0502020202020204" pitchFamily="34" charset="0"/>
              </a:rPr>
              <a:t>3ème </a:t>
            </a:r>
            <a:r>
              <a:rPr lang="fr-CI" sz="3200" dirty="0">
                <a:latin typeface="Century Gothic" panose="020B0502020202020204" pitchFamily="34" charset="0"/>
              </a:rPr>
              <a:t>et le </a:t>
            </a:r>
            <a:r>
              <a:rPr lang="fr-CI" sz="3200" b="1" dirty="0">
                <a:solidFill>
                  <a:srgbClr val="EC7320"/>
                </a:solidFill>
                <a:latin typeface="Century Gothic" panose="020B0502020202020204" pitchFamily="34" charset="0"/>
              </a:rPr>
              <a:t>28ème</a:t>
            </a:r>
            <a:r>
              <a:rPr lang="fr-CI" sz="3200" dirty="0">
                <a:latin typeface="Century Gothic" panose="020B0502020202020204" pitchFamily="34" charset="0"/>
              </a:rPr>
              <a:t> jour de la vie et dont la cause est inconnue </a:t>
            </a:r>
            <a:r>
              <a:rPr lang="fr-CI" sz="3200" b="1" dirty="0">
                <a:latin typeface="Century Gothic" panose="020B0502020202020204" pitchFamily="34" charset="0"/>
              </a:rPr>
              <a:t>ou</a:t>
            </a:r>
            <a:r>
              <a:rPr lang="fr-CI" sz="3200" dirty="0">
                <a:latin typeface="Century Gothic" panose="020B0502020202020204" pitchFamily="34" charset="0"/>
              </a:rPr>
              <a:t> Tout nouveau-né ayant souffert ou signalé avoir souffert du tétanos entre le 3ème et le 28ème jour de la vie mais n’ayant pas</a:t>
            </a:r>
          </a:p>
        </p:txBody>
      </p:sp>
    </p:spTree>
    <p:extLst>
      <p:ext uri="{BB962C8B-B14F-4D97-AF65-F5344CB8AC3E}">
        <p14:creationId xmlns:p14="http://schemas.microsoft.com/office/powerpoint/2010/main" val="1746780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4331" y="365761"/>
            <a:ext cx="8769532" cy="894079"/>
          </a:xfrm>
        </p:spPr>
        <p:txBody>
          <a:bodyPr>
            <a:normAutofit fontScale="90000"/>
          </a:bodyPr>
          <a:lstStyle/>
          <a:p>
            <a:pPr lvl="0"/>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CI" sz="4900" b="1" dirty="0">
                <a:solidFill>
                  <a:srgbClr val="C00000"/>
                </a:solidFill>
                <a:latin typeface="Century Gothic" pitchFamily="34" charset="0"/>
              </a:rPr>
              <a:t>4.7.  Tétanos néonatal  (2/7)</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426720" y="1259840"/>
            <a:ext cx="11469188" cy="4914537"/>
          </a:xfrm>
        </p:spPr>
        <p:txBody>
          <a:bodyPr>
            <a:noAutofit/>
          </a:bodyPr>
          <a:lstStyle/>
          <a:p>
            <a:pPr>
              <a:lnSpc>
                <a:spcPct val="150000"/>
              </a:lnSpc>
            </a:pPr>
            <a:r>
              <a:rPr lang="fr-CI" sz="3200" dirty="0">
                <a:latin typeface="Century Gothic" panose="020B0502020202020204" pitchFamily="34" charset="0"/>
              </a:rPr>
              <a:t>               fait l’objet d’une enquête.</a:t>
            </a:r>
          </a:p>
          <a:p>
            <a:pPr marL="457200" indent="-457200">
              <a:lnSpc>
                <a:spcPct val="100000"/>
              </a:lnSpc>
              <a:buFont typeface="Wingdings" panose="05000000000000000000" pitchFamily="2" charset="2"/>
              <a:buChar char="q"/>
            </a:pPr>
            <a:r>
              <a:rPr lang="fr-CI" sz="3200" b="1" dirty="0">
                <a:latin typeface="Century Gothic" panose="020B0502020202020204" pitchFamily="34" charset="0"/>
              </a:rPr>
              <a:t>Cas confirmé: </a:t>
            </a:r>
            <a:r>
              <a:rPr lang="fr-CI" sz="2800" dirty="0">
                <a:latin typeface="Century Gothic" panose="020B0502020202020204" pitchFamily="34" charset="0"/>
              </a:rPr>
              <a:t>C’est tout nouveau-né ayant présenté une aptitude normale à téter et à crier pendant les 2 premiers jours de la vie et ne pouvant plus téter normalement entre le 3ème et le 28ème jour ou tout nouveau-né qui devient raide et/ou a des convulsions</a:t>
            </a:r>
            <a:r>
              <a:rPr lang="fr-CI" sz="3200" dirty="0">
                <a:latin typeface="Century Gothic" panose="020B0502020202020204" pitchFamily="34" charset="0"/>
              </a:rPr>
              <a:t>.</a:t>
            </a:r>
          </a:p>
          <a:p>
            <a:pPr marL="457200" lvl="0" indent="-457200">
              <a:lnSpc>
                <a:spcPct val="100000"/>
              </a:lnSpc>
              <a:buFont typeface="Wingdings" panose="05000000000000000000" pitchFamily="2" charset="2"/>
              <a:buChar char="q"/>
            </a:pPr>
            <a:r>
              <a:rPr lang="fr-CI" sz="2800" dirty="0">
                <a:solidFill>
                  <a:srgbClr val="FF0000"/>
                </a:solidFill>
              </a:rPr>
              <a:t>NB : La classification des cas de tétanos néonatal est purement clinique et ne dépend d’un test biologique.</a:t>
            </a:r>
          </a:p>
          <a:p>
            <a:pPr marL="457200" indent="-457200">
              <a:lnSpc>
                <a:spcPct val="150000"/>
              </a:lnSpc>
              <a:buFont typeface="Wingdings" panose="05000000000000000000" pitchFamily="2" charset="2"/>
              <a:buChar char="q"/>
            </a:pPr>
            <a:endParaRPr lang="fr-CI" sz="3200" dirty="0"/>
          </a:p>
        </p:txBody>
      </p:sp>
      <p:sp>
        <p:nvSpPr>
          <p:cNvPr id="4" name="Flèche droite 3"/>
          <p:cNvSpPr/>
          <p:nvPr/>
        </p:nvSpPr>
        <p:spPr>
          <a:xfrm>
            <a:off x="792480" y="1454331"/>
            <a:ext cx="914400" cy="5050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29300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1"/>
            <a:ext cx="6783977" cy="269965"/>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61851" y="566057"/>
            <a:ext cx="10816046" cy="5495109"/>
          </a:xfrm>
        </p:spPr>
        <p:txBody>
          <a:bodyPr>
            <a:noAutofit/>
          </a:bodyPr>
          <a:lstStyle/>
          <a:p>
            <a:pPr>
              <a:lnSpc>
                <a:spcPct val="150000"/>
              </a:lnSpc>
            </a:pPr>
            <a:r>
              <a:rPr lang="fr-CI" sz="3200" b="1" dirty="0">
                <a:solidFill>
                  <a:srgbClr val="00B050"/>
                </a:solidFill>
                <a:latin typeface="Century Gothic" panose="020B0502020202020204" pitchFamily="34" charset="0"/>
              </a:rPr>
              <a:t>2. Éléments à rechercher dans l’investigation d’un cas de TNN</a:t>
            </a:r>
            <a:r>
              <a:rPr lang="fr-CI" sz="3200" b="1" dirty="0">
                <a:latin typeface="Century Gothic" panose="020B0502020202020204" pitchFamily="34" charset="0"/>
              </a:rPr>
              <a:t>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Statut vaccinal de la mère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Nombre et dates des consultations prénatales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Lieu accouchement (maternité, domicile)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Responsable de l’accouchement (AT ; PS; autre…)</a:t>
            </a:r>
          </a:p>
        </p:txBody>
      </p:sp>
    </p:spTree>
    <p:extLst>
      <p:ext uri="{BB962C8B-B14F-4D97-AF65-F5344CB8AC3E}">
        <p14:creationId xmlns:p14="http://schemas.microsoft.com/office/powerpoint/2010/main" val="23673266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2"/>
            <a:ext cx="6783977" cy="374468"/>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661851" y="844732"/>
            <a:ext cx="10816046" cy="5259978"/>
          </a:xfrm>
        </p:spPr>
        <p:txBody>
          <a:bodyPr>
            <a:noAutofit/>
          </a:bodyPr>
          <a:lstStyle/>
          <a:p>
            <a:pPr marL="457200" indent="-457200">
              <a:lnSpc>
                <a:spcPct val="150000"/>
              </a:lnSpc>
              <a:buFont typeface="Wingdings" panose="05000000000000000000" pitchFamily="2" charset="2"/>
              <a:buChar char="q"/>
            </a:pPr>
            <a:r>
              <a:rPr lang="fr-CI" sz="3200" dirty="0">
                <a:latin typeface="Century Gothic" panose="020B0502020202020204" pitchFamily="34" charset="0"/>
              </a:rPr>
              <a:t>Cordon ombilical :  état des instruments utilisés pour section, pansement à domicile ? utilisation de produits traditionnels ?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Évolution du cas : décédé, vivant, inconnu;</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Réponse au cas (décrire les actions menées).</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Voir fiche de notification</a:t>
            </a:r>
          </a:p>
        </p:txBody>
      </p:sp>
    </p:spTree>
    <p:extLst>
      <p:ext uri="{BB962C8B-B14F-4D97-AF65-F5344CB8AC3E}">
        <p14:creationId xmlns:p14="http://schemas.microsoft.com/office/powerpoint/2010/main" val="2363329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2"/>
            <a:ext cx="6783977"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9634" y="592183"/>
            <a:ext cx="11416937" cy="5660571"/>
          </a:xfrm>
        </p:spPr>
        <p:txBody>
          <a:bodyPr>
            <a:noAutofit/>
          </a:bodyPr>
          <a:lstStyle/>
          <a:p>
            <a:pPr>
              <a:lnSpc>
                <a:spcPct val="150000"/>
              </a:lnSpc>
            </a:pPr>
            <a:r>
              <a:rPr lang="fr-CI" sz="3200" b="1" dirty="0">
                <a:solidFill>
                  <a:srgbClr val="00B050"/>
                </a:solidFill>
                <a:latin typeface="Century Gothic" panose="020B0502020202020204" pitchFamily="34" charset="0"/>
              </a:rPr>
              <a:t>     3. Gestes à faire devant un cas de tétanos néonatal</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Notifier sans tarder au district sanitaire ou à la DCPEV ; </a:t>
            </a:r>
          </a:p>
          <a:p>
            <a:pPr marL="457200" indent="-457200">
              <a:lnSpc>
                <a:spcPct val="150000"/>
              </a:lnSpc>
              <a:buFont typeface="Wingdings" panose="05000000000000000000" pitchFamily="2" charset="2"/>
              <a:buChar char="q"/>
            </a:pPr>
            <a:r>
              <a:rPr lang="fr-CI" sz="3200" b="1" dirty="0">
                <a:solidFill>
                  <a:srgbClr val="C00000"/>
                </a:solidFill>
                <a:latin typeface="Century Gothic" panose="020B0502020202020204" pitchFamily="34" charset="0"/>
              </a:rPr>
              <a:t>Pas de prélèvement à faire </a:t>
            </a:r>
            <a:r>
              <a:rPr lang="fr-CI" sz="3200" dirty="0">
                <a:latin typeface="Century Gothic" panose="020B0502020202020204" pitchFamily="34" charset="0"/>
              </a:rPr>
              <a:t>;</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Référer le cas à l’hôpital du district pour une prise en charge ;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Investiguer pour identifier les facteurs associés à la survenue du cas (cas et communauté).</a:t>
            </a:r>
          </a:p>
        </p:txBody>
      </p:sp>
    </p:spTree>
    <p:extLst>
      <p:ext uri="{BB962C8B-B14F-4D97-AF65-F5344CB8AC3E}">
        <p14:creationId xmlns:p14="http://schemas.microsoft.com/office/powerpoint/2010/main" val="1523372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2"/>
            <a:ext cx="6783977"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9634" y="592183"/>
            <a:ext cx="11416937" cy="5660571"/>
          </a:xfrm>
        </p:spPr>
        <p:txBody>
          <a:bodyPr>
            <a:noAutofit/>
          </a:bodyPr>
          <a:lstStyle/>
          <a:p>
            <a:pPr>
              <a:lnSpc>
                <a:spcPct val="150000"/>
              </a:lnSpc>
            </a:pPr>
            <a:r>
              <a:rPr lang="fr-CI" sz="3200" b="1" dirty="0">
                <a:latin typeface="Century Gothic" panose="020B0502020202020204" pitchFamily="34" charset="0"/>
              </a:rPr>
              <a:t>Si cas confirmé</a:t>
            </a:r>
            <a:r>
              <a:rPr lang="fr-CI" sz="3200" dirty="0">
                <a:latin typeface="Century Gothic" panose="020B0502020202020204" pitchFamily="34" charset="0"/>
              </a:rPr>
              <a:t> après investigation </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Administrer </a:t>
            </a:r>
            <a:r>
              <a:rPr lang="fr-CI" sz="3200" b="1" dirty="0">
                <a:latin typeface="Century Gothic" panose="020B0502020202020204" pitchFamily="34" charset="0"/>
              </a:rPr>
              <a:t>2 doses </a:t>
            </a:r>
            <a:r>
              <a:rPr lang="fr-CI" sz="3200" dirty="0">
                <a:latin typeface="Century Gothic" panose="020B0502020202020204" pitchFamily="34" charset="0"/>
              </a:rPr>
              <a:t>du vaccin antitétanique à l’intervalle d’un mois à toutes les femmes en âge de reproduction(FAR) vivant dans la même habitation que le cas;</a:t>
            </a:r>
          </a:p>
          <a:p>
            <a:pPr marL="457200" indent="-457200">
              <a:lnSpc>
                <a:spcPct val="150000"/>
              </a:lnSpc>
              <a:buFont typeface="Wingdings" panose="05000000000000000000" pitchFamily="2" charset="2"/>
              <a:buChar char="q"/>
            </a:pPr>
            <a:r>
              <a:rPr lang="fr-CI" sz="3200" dirty="0">
                <a:latin typeface="Century Gothic" panose="020B0502020202020204" pitchFamily="34" charset="0"/>
              </a:rPr>
              <a:t>Organiser dans la localité des activités de vaccination</a:t>
            </a:r>
          </a:p>
        </p:txBody>
      </p:sp>
    </p:spTree>
    <p:extLst>
      <p:ext uri="{BB962C8B-B14F-4D97-AF65-F5344CB8AC3E}">
        <p14:creationId xmlns:p14="http://schemas.microsoft.com/office/powerpoint/2010/main" val="9048036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30583" y="365762"/>
            <a:ext cx="6783977"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339634" y="722812"/>
            <a:ext cx="11416937" cy="5442858"/>
          </a:xfrm>
        </p:spPr>
        <p:txBody>
          <a:bodyPr>
            <a:noAutofit/>
          </a:bodyPr>
          <a:lstStyle/>
          <a:p>
            <a:pPr>
              <a:lnSpc>
                <a:spcPct val="150000"/>
              </a:lnSpc>
            </a:pPr>
            <a:r>
              <a:rPr lang="fr-CI" sz="3200" b="1" dirty="0"/>
              <a:t>supplémentaire</a:t>
            </a:r>
            <a:r>
              <a:rPr lang="fr-CI" sz="3200" dirty="0"/>
              <a:t> en deux (02) passages à l’intention de toutes les FAR (Riposte avec rapport) ;</a:t>
            </a:r>
          </a:p>
          <a:p>
            <a:pPr marL="457200" indent="-457200">
              <a:lnSpc>
                <a:spcPct val="150000"/>
              </a:lnSpc>
              <a:buFont typeface="Wingdings" panose="05000000000000000000" pitchFamily="2" charset="2"/>
              <a:buChar char="q"/>
            </a:pPr>
            <a:r>
              <a:rPr lang="fr-CI" sz="3200" dirty="0"/>
              <a:t>Eduquer les FAR quant à la nécessité de couper et de soigner le cordon en observant de bonnes conditions d’hygiène.             Accoucher dans un centre de santé.</a:t>
            </a:r>
          </a:p>
          <a:p>
            <a:pPr marL="457200" indent="-457200">
              <a:lnSpc>
                <a:spcPct val="150000"/>
              </a:lnSpc>
              <a:buFont typeface="Wingdings" panose="05000000000000000000" pitchFamily="2" charset="2"/>
              <a:buChar char="q"/>
            </a:pPr>
            <a:r>
              <a:rPr lang="fr-CI" sz="3200" dirty="0"/>
              <a:t>Améliorer la couverture vaccinale de routine du Td. </a:t>
            </a:r>
          </a:p>
        </p:txBody>
      </p:sp>
      <p:sp>
        <p:nvSpPr>
          <p:cNvPr id="4" name="Flèche droite 3"/>
          <p:cNvSpPr/>
          <p:nvPr/>
        </p:nvSpPr>
        <p:spPr>
          <a:xfrm>
            <a:off x="3030583" y="4049486"/>
            <a:ext cx="978408" cy="4702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89584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1851" y="1709740"/>
            <a:ext cx="10515600" cy="2426831"/>
          </a:xfrm>
        </p:spPr>
        <p:txBody>
          <a:bodyPr/>
          <a:lstStyle/>
          <a:p>
            <a:pPr algn="ctr"/>
            <a:r>
              <a:rPr lang="fr-CI" b="1" dirty="0">
                <a:solidFill>
                  <a:srgbClr val="C00000"/>
                </a:solidFill>
                <a:latin typeface="Century Gothic" pitchFamily="34" charset="0"/>
              </a:rPr>
              <a:t>La maladie a coronavirus ou covid-19</a:t>
            </a:r>
            <a:endParaRPr lang="en-US" dirty="0"/>
          </a:p>
        </p:txBody>
      </p:sp>
    </p:spTree>
    <p:extLst>
      <p:ext uri="{BB962C8B-B14F-4D97-AF65-F5344CB8AC3E}">
        <p14:creationId xmlns:p14="http://schemas.microsoft.com/office/powerpoint/2010/main" val="5604489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1166948"/>
          </a:xfrm>
        </p:spPr>
        <p:txBody>
          <a:bodyPr>
            <a:normAutofit fontScale="90000"/>
          </a:bodyPr>
          <a:lstStyle/>
          <a:p>
            <a:pPr lvl="0"/>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CI" sz="4900" b="1" dirty="0">
                <a:solidFill>
                  <a:srgbClr val="C00000"/>
                </a:solidFill>
                <a:latin typeface="Century Gothic" pitchFamily="34" charset="0"/>
              </a:rPr>
              <a:t>4.8.  La maladie a coronavirus ou covid-19</a:t>
            </a: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1715589"/>
            <a:ext cx="11704319" cy="4389120"/>
          </a:xfrm>
        </p:spPr>
        <p:txBody>
          <a:bodyPr>
            <a:noAutofit/>
          </a:bodyPr>
          <a:lstStyle/>
          <a:p>
            <a:pPr>
              <a:lnSpc>
                <a:spcPct val="150000"/>
              </a:lnSpc>
            </a:pPr>
            <a:r>
              <a:rPr lang="fr-CI" sz="3200" b="1" dirty="0">
                <a:solidFill>
                  <a:schemeClr val="accent6"/>
                </a:solidFill>
              </a:rPr>
              <a:t>1. Définition de cas pour notification</a:t>
            </a:r>
          </a:p>
          <a:p>
            <a:pPr marL="457200" indent="-457200">
              <a:lnSpc>
                <a:spcPct val="150000"/>
              </a:lnSpc>
              <a:buFont typeface="Wingdings" panose="05000000000000000000" pitchFamily="2" charset="2"/>
              <a:buChar char="q"/>
            </a:pPr>
            <a:r>
              <a:rPr lang="fr-CI" sz="3200" b="1" dirty="0"/>
              <a:t>Cas suspect de COVID-19(A-B)</a:t>
            </a:r>
          </a:p>
          <a:p>
            <a:pPr>
              <a:lnSpc>
                <a:spcPct val="150000"/>
              </a:lnSpc>
            </a:pPr>
            <a:r>
              <a:rPr lang="fr-CI" sz="3200" dirty="0">
                <a:solidFill>
                  <a:srgbClr val="FF0000"/>
                </a:solidFill>
              </a:rPr>
              <a:t>A.</a:t>
            </a:r>
            <a:r>
              <a:rPr lang="fr-CI" sz="3200" dirty="0"/>
              <a:t> C’est une personne qui remplit les </a:t>
            </a:r>
            <a:r>
              <a:rPr lang="fr-CI" sz="3200" dirty="0">
                <a:solidFill>
                  <a:schemeClr val="accent6"/>
                </a:solidFill>
              </a:rPr>
              <a:t>critères cliniques </a:t>
            </a:r>
            <a:r>
              <a:rPr lang="fr-CI" sz="3200" dirty="0"/>
              <a:t>et </a:t>
            </a:r>
            <a:r>
              <a:rPr lang="fr-CI" sz="3200" dirty="0">
                <a:solidFill>
                  <a:schemeClr val="accent6"/>
                </a:solidFill>
              </a:rPr>
              <a:t>épidémiologiques</a:t>
            </a:r>
          </a:p>
          <a:p>
            <a:pPr>
              <a:lnSpc>
                <a:spcPct val="150000"/>
              </a:lnSpc>
            </a:pPr>
            <a:endParaRPr lang="fr-CI" sz="3200" dirty="0"/>
          </a:p>
        </p:txBody>
      </p:sp>
    </p:spTree>
    <p:extLst>
      <p:ext uri="{BB962C8B-B14F-4D97-AF65-F5344CB8AC3E}">
        <p14:creationId xmlns:p14="http://schemas.microsoft.com/office/powerpoint/2010/main" val="10216308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444136"/>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748937"/>
            <a:ext cx="11704319" cy="5355772"/>
          </a:xfrm>
        </p:spPr>
        <p:txBody>
          <a:bodyPr>
            <a:noAutofit/>
          </a:bodyPr>
          <a:lstStyle/>
          <a:p>
            <a:pPr marL="457200" indent="-457200">
              <a:lnSpc>
                <a:spcPct val="150000"/>
              </a:lnSpc>
              <a:buFont typeface="Wingdings" panose="05000000000000000000" pitchFamily="2" charset="2"/>
              <a:buChar char="§"/>
            </a:pPr>
            <a:r>
              <a:rPr lang="fr-CI" sz="3200" b="1">
                <a:latin typeface="Century Gothic" panose="020B0502020202020204" pitchFamily="34" charset="0"/>
              </a:rPr>
              <a:t>Critères cliniques:</a:t>
            </a:r>
          </a:p>
          <a:p>
            <a:pPr marL="457200" indent="-457200">
              <a:lnSpc>
                <a:spcPct val="150000"/>
              </a:lnSpc>
              <a:buFont typeface="Wingdings" panose="05000000000000000000" pitchFamily="2" charset="2"/>
              <a:buChar char="Ø"/>
            </a:pPr>
            <a:r>
              <a:rPr lang="fr-CI" sz="3200">
                <a:latin typeface="Century Gothic" panose="020B0502020202020204" pitchFamily="34" charset="0"/>
              </a:rPr>
              <a:t>Apparition soudaine de fièvre et de toux ; OU</a:t>
            </a:r>
          </a:p>
          <a:p>
            <a:pPr marL="457200" indent="-457200">
              <a:lnSpc>
                <a:spcPct val="150000"/>
              </a:lnSpc>
              <a:buFont typeface="Wingdings" panose="05000000000000000000" pitchFamily="2" charset="2"/>
              <a:buChar char="Ø"/>
            </a:pPr>
            <a:r>
              <a:rPr lang="fr-CI" sz="3200">
                <a:latin typeface="Century Gothic" panose="020B0502020202020204" pitchFamily="34" charset="0"/>
              </a:rPr>
              <a:t>Apparition soudaine d’au </a:t>
            </a:r>
            <a:r>
              <a:rPr lang="fr-CI" sz="3200">
                <a:solidFill>
                  <a:schemeClr val="accent6"/>
                </a:solidFill>
                <a:latin typeface="Century Gothic" panose="020B0502020202020204" pitchFamily="34" charset="0"/>
              </a:rPr>
              <a:t>moins trois des signes </a:t>
            </a:r>
            <a:r>
              <a:rPr lang="fr-CI" sz="3200">
                <a:latin typeface="Century Gothic" panose="020B0502020202020204" pitchFamily="34" charset="0"/>
              </a:rPr>
              <a:t>suivants : Fièvre, toux, faiblesse/fatigue générale, céphalée, myalgie, mal de gorge, coryza, dyspnée,</a:t>
            </a:r>
            <a:r>
              <a:rPr lang="fr-CI" sz="3200">
                <a:solidFill>
                  <a:prstClr val="black">
                    <a:tint val="75000"/>
                  </a:prstClr>
                </a:solidFill>
                <a:latin typeface="Century Gothic" panose="020B0502020202020204" pitchFamily="34" charset="0"/>
              </a:rPr>
              <a:t> anorexie/nausées/vomissements</a:t>
            </a:r>
            <a:r>
              <a:rPr lang="fr-CI" sz="3200">
                <a:latin typeface="Century Gothic" panose="020B0502020202020204" pitchFamily="34" charset="0"/>
              </a:rPr>
              <a:t>, diarrhée, altération de l’état mental.</a:t>
            </a:r>
          </a:p>
          <a:p>
            <a:pPr marL="457200" indent="-457200">
              <a:lnSpc>
                <a:spcPct val="150000"/>
              </a:lnSpc>
              <a:buFont typeface="Wingdings" panose="05000000000000000000" pitchFamily="2" charset="2"/>
              <a:buChar char="q"/>
            </a:pPr>
            <a:endParaRPr lang="fr-CI" sz="3200" dirty="0"/>
          </a:p>
        </p:txBody>
      </p:sp>
    </p:spTree>
    <p:extLst>
      <p:ext uri="{BB962C8B-B14F-4D97-AF65-F5344CB8AC3E}">
        <p14:creationId xmlns:p14="http://schemas.microsoft.com/office/powerpoint/2010/main" val="1949407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444136"/>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748937"/>
            <a:ext cx="11704319" cy="5355772"/>
          </a:xfrm>
        </p:spPr>
        <p:txBody>
          <a:bodyPr>
            <a:noAutofit/>
          </a:bodyPr>
          <a:lstStyle/>
          <a:p>
            <a:pPr marL="457200" indent="-457200">
              <a:lnSpc>
                <a:spcPct val="150000"/>
              </a:lnSpc>
              <a:buFont typeface="Wingdings" panose="05000000000000000000" pitchFamily="2" charset="2"/>
              <a:buChar char="§"/>
            </a:pPr>
            <a:r>
              <a:rPr lang="fr-CI" sz="3200" b="1">
                <a:latin typeface="Century Gothic" panose="020B0502020202020204" pitchFamily="34" charset="0"/>
              </a:rPr>
              <a:t>Critères épidémiologiques:</a:t>
            </a:r>
          </a:p>
          <a:p>
            <a:pPr marL="457200" indent="-457200">
              <a:lnSpc>
                <a:spcPct val="150000"/>
              </a:lnSpc>
              <a:buFont typeface="Wingdings" panose="05000000000000000000" pitchFamily="2" charset="2"/>
              <a:buChar char="Ø"/>
            </a:pPr>
            <a:r>
              <a:rPr lang="fr-CI" sz="3200">
                <a:latin typeface="Century Gothic" panose="020B0502020202020204" pitchFamily="34" charset="0"/>
              </a:rPr>
              <a:t>Séjour ou travail dans une zone à haut risque de transmission du virus (Établissements résidentiels clos, camps ou centre d’accueil pour les personnes déplacées) à tout moment au cours des 14 jours précédents l’apparition des symptômes.</a:t>
            </a:r>
          </a:p>
          <a:p>
            <a:pPr marL="457200" indent="-457200">
              <a:lnSpc>
                <a:spcPct val="150000"/>
              </a:lnSpc>
              <a:buFont typeface="Wingdings" panose="05000000000000000000" pitchFamily="2" charset="2"/>
              <a:buChar char="q"/>
            </a:pPr>
            <a:endParaRPr lang="fr-CI" sz="3200" dirty="0"/>
          </a:p>
        </p:txBody>
      </p:sp>
    </p:spTree>
    <p:extLst>
      <p:ext uri="{BB962C8B-B14F-4D97-AF65-F5344CB8AC3E}">
        <p14:creationId xmlns:p14="http://schemas.microsoft.com/office/powerpoint/2010/main" val="3321743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444136"/>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88273"/>
            <a:ext cx="11704319" cy="5216435"/>
          </a:xfrm>
        </p:spPr>
        <p:txBody>
          <a:bodyPr>
            <a:noAutofit/>
          </a:bodyPr>
          <a:lstStyle/>
          <a:p>
            <a:pPr marL="457200" indent="-457200">
              <a:lnSpc>
                <a:spcPct val="150000"/>
              </a:lnSpc>
              <a:buFont typeface="Wingdings" panose="05000000000000000000" pitchFamily="2" charset="2"/>
              <a:buChar char="Ø"/>
            </a:pPr>
            <a:r>
              <a:rPr lang="fr-CI" sz="3200">
                <a:latin typeface="Century Gothic" panose="020B0502020202020204" pitchFamily="34" charset="0"/>
              </a:rPr>
              <a:t>Séjour ou voyage dans une zone de transmission communautaire à tout au cours des 14 précédent l’apparition des symptômes</a:t>
            </a:r>
          </a:p>
          <a:p>
            <a:pPr marL="457200" indent="-457200">
              <a:lnSpc>
                <a:spcPct val="150000"/>
              </a:lnSpc>
              <a:buFont typeface="Wingdings" panose="05000000000000000000" pitchFamily="2" charset="2"/>
              <a:buChar char="Ø"/>
            </a:pPr>
            <a:r>
              <a:rPr lang="fr-CI" sz="3200">
                <a:latin typeface="Century Gothic" panose="020B0502020202020204" pitchFamily="34" charset="0"/>
              </a:rPr>
              <a:t>Travaille dans le secteur de soins de santé, y compris dans les établissements de santé ou dans la communauté, à tout moment au cours des 14 jours précédents l’apparition des symptômes </a:t>
            </a:r>
            <a:endParaRPr lang="fr-CI" sz="3200" dirty="0">
              <a:latin typeface="Century Gothic" panose="020B0502020202020204" pitchFamily="34" charset="0"/>
            </a:endParaRPr>
          </a:p>
        </p:txBody>
      </p:sp>
    </p:spTree>
    <p:extLst>
      <p:ext uri="{BB962C8B-B14F-4D97-AF65-F5344CB8AC3E}">
        <p14:creationId xmlns:p14="http://schemas.microsoft.com/office/powerpoint/2010/main" val="43935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36023"/>
            <a:ext cx="11704319" cy="5268686"/>
          </a:xfrm>
        </p:spPr>
        <p:txBody>
          <a:bodyPr>
            <a:noAutofit/>
          </a:bodyPr>
          <a:lstStyle/>
          <a:p>
            <a:pPr marL="457200" indent="-457200">
              <a:lnSpc>
                <a:spcPct val="150000"/>
              </a:lnSpc>
              <a:buFont typeface="Wingdings" panose="05000000000000000000" pitchFamily="2" charset="2"/>
              <a:buChar char="q"/>
            </a:pPr>
            <a:r>
              <a:rPr lang="fr-CI" sz="3200" b="1">
                <a:latin typeface="Century Gothic" panose="020B0502020202020204" pitchFamily="34" charset="0"/>
              </a:rPr>
              <a:t>Cas suspect de COVID-19(A-B)</a:t>
            </a:r>
          </a:p>
          <a:p>
            <a:pPr>
              <a:lnSpc>
                <a:spcPct val="150000"/>
              </a:lnSpc>
            </a:pPr>
            <a:r>
              <a:rPr lang="fr-CI" sz="3200">
                <a:solidFill>
                  <a:srgbClr val="FF0000"/>
                </a:solidFill>
                <a:latin typeface="Century Gothic" panose="020B0502020202020204" pitchFamily="34" charset="0"/>
              </a:rPr>
              <a:t>B</a:t>
            </a:r>
            <a:r>
              <a:rPr lang="fr-CI" sz="3200">
                <a:latin typeface="Century Gothic" panose="020B0502020202020204" pitchFamily="34" charset="0"/>
              </a:rPr>
              <a:t>. C’est un patient présentant une infection respiratoire aigüe sévère en présence d’antécédents de fièvre ou d’une fièvre mesurée &gt; ou = à 38°et de toux, apparue au cours des 10 derniers jours et nécessitant une hospitalisation.</a:t>
            </a:r>
            <a:endParaRPr lang="fr-CI" sz="3200" dirty="0">
              <a:latin typeface="Century Gothic" panose="020B0502020202020204" pitchFamily="34" charset="0"/>
            </a:endParaRPr>
          </a:p>
        </p:txBody>
      </p:sp>
    </p:spTree>
    <p:extLst>
      <p:ext uri="{BB962C8B-B14F-4D97-AF65-F5344CB8AC3E}">
        <p14:creationId xmlns:p14="http://schemas.microsoft.com/office/powerpoint/2010/main" val="32609656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36023"/>
            <a:ext cx="11704319" cy="5268686"/>
          </a:xfrm>
        </p:spPr>
        <p:txBody>
          <a:bodyPr>
            <a:noAutofit/>
          </a:bodyPr>
          <a:lstStyle/>
          <a:p>
            <a:pPr marL="457200" indent="-457200">
              <a:lnSpc>
                <a:spcPct val="150000"/>
              </a:lnSpc>
              <a:buFont typeface="Wingdings" panose="05000000000000000000" pitchFamily="2" charset="2"/>
              <a:buChar char="q"/>
            </a:pPr>
            <a:r>
              <a:rPr lang="fr-CI" sz="3200" b="1" dirty="0">
                <a:latin typeface="Century Gothic" panose="020B0502020202020204" pitchFamily="34" charset="0"/>
              </a:rPr>
              <a:t>Cas probable de COVID-19(A-B-C-D)</a:t>
            </a:r>
          </a:p>
          <a:p>
            <a:pPr>
              <a:lnSpc>
                <a:spcPct val="150000"/>
              </a:lnSpc>
            </a:pPr>
            <a:r>
              <a:rPr lang="fr-CI" sz="3200" dirty="0">
                <a:solidFill>
                  <a:srgbClr val="FF0000"/>
                </a:solidFill>
                <a:latin typeface="Century Gothic" panose="020B0502020202020204" pitchFamily="34" charset="0"/>
              </a:rPr>
              <a:t>A.</a:t>
            </a:r>
            <a:r>
              <a:rPr lang="fr-CI" sz="3200" dirty="0">
                <a:latin typeface="Century Gothic" panose="020B0502020202020204" pitchFamily="34" charset="0"/>
              </a:rPr>
              <a:t> C’est un patient qui remplit les critères cliniques ci-dessus </a:t>
            </a:r>
            <a:r>
              <a:rPr lang="fr-CI" sz="3200" b="1" i="1" dirty="0">
                <a:latin typeface="Century Gothic" panose="020B0502020202020204" pitchFamily="34" charset="0"/>
              </a:rPr>
              <a:t>ET</a:t>
            </a:r>
            <a:r>
              <a:rPr lang="fr-CI" sz="3200" dirty="0">
                <a:latin typeface="Century Gothic" panose="020B0502020202020204" pitchFamily="34" charset="0"/>
              </a:rPr>
              <a:t> qui a été en contact avec un cas confirmé ou probable de COVID-19 </a:t>
            </a:r>
            <a:r>
              <a:rPr lang="fr-CI" sz="3200" b="1" i="1" dirty="0">
                <a:latin typeface="Century Gothic" panose="020B0502020202020204" pitchFamily="34" charset="0"/>
              </a:rPr>
              <a:t>ou</a:t>
            </a:r>
            <a:r>
              <a:rPr lang="fr-CI" sz="3200" dirty="0">
                <a:latin typeface="Century Gothic" panose="020B0502020202020204" pitchFamily="34" charset="0"/>
              </a:rPr>
              <a:t> qui a été relié sur le plan épidémiologique à un groupe de cas dans lequel il y a eu au moins un cas confirmé</a:t>
            </a:r>
          </a:p>
          <a:p>
            <a:pPr>
              <a:lnSpc>
                <a:spcPct val="150000"/>
              </a:lnSpc>
            </a:pPr>
            <a:endParaRPr lang="fr-CI" sz="3200" dirty="0"/>
          </a:p>
        </p:txBody>
      </p:sp>
    </p:spTree>
    <p:extLst>
      <p:ext uri="{BB962C8B-B14F-4D97-AF65-F5344CB8AC3E}">
        <p14:creationId xmlns:p14="http://schemas.microsoft.com/office/powerpoint/2010/main" val="35806049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36023"/>
            <a:ext cx="11704319" cy="5268686"/>
          </a:xfrm>
        </p:spPr>
        <p:txBody>
          <a:bodyPr>
            <a:noAutofit/>
          </a:bodyPr>
          <a:lstStyle/>
          <a:p>
            <a:pPr marL="457200" indent="-457200">
              <a:lnSpc>
                <a:spcPct val="150000"/>
              </a:lnSpc>
              <a:buFont typeface="Wingdings" panose="05000000000000000000" pitchFamily="2" charset="2"/>
              <a:buChar char="q"/>
            </a:pPr>
            <a:r>
              <a:rPr lang="fr-CI" sz="3200" b="1" dirty="0"/>
              <a:t>Cas probable de COVID-19(A-B-C-D)</a:t>
            </a:r>
          </a:p>
          <a:p>
            <a:pPr>
              <a:lnSpc>
                <a:spcPct val="150000"/>
              </a:lnSpc>
            </a:pPr>
            <a:r>
              <a:rPr lang="fr-CI" sz="3200" dirty="0">
                <a:solidFill>
                  <a:srgbClr val="FF0000"/>
                </a:solidFill>
              </a:rPr>
              <a:t>B</a:t>
            </a:r>
            <a:r>
              <a:rPr lang="fr-CI" sz="3200" dirty="0">
                <a:latin typeface="Century Gothic" panose="020B0502020202020204" pitchFamily="34" charset="0"/>
              </a:rPr>
              <a:t>. C’est un cas suspect pour lequel une </a:t>
            </a:r>
            <a:r>
              <a:rPr lang="fr-CI" sz="3200" b="1" i="1" dirty="0">
                <a:latin typeface="Century Gothic" panose="020B0502020202020204" pitchFamily="34" charset="0"/>
              </a:rPr>
              <a:t>imagerie thoracique</a:t>
            </a:r>
            <a:r>
              <a:rPr lang="fr-CI" sz="3200" dirty="0">
                <a:latin typeface="Century Gothic" panose="020B0502020202020204" pitchFamily="34" charset="0"/>
              </a:rPr>
              <a:t> révèle des observations indicatives de la COVID-19</a:t>
            </a:r>
          </a:p>
          <a:p>
            <a:pPr>
              <a:lnSpc>
                <a:spcPct val="150000"/>
              </a:lnSpc>
            </a:pPr>
            <a:r>
              <a:rPr lang="fr-CI" sz="3200" dirty="0">
                <a:solidFill>
                  <a:srgbClr val="FF0000"/>
                </a:solidFill>
                <a:latin typeface="Century Gothic" panose="020B0502020202020204" pitchFamily="34" charset="0"/>
              </a:rPr>
              <a:t>C</a:t>
            </a:r>
            <a:r>
              <a:rPr lang="fr-CI" sz="3200" dirty="0">
                <a:latin typeface="Century Gothic" panose="020B0502020202020204" pitchFamily="34" charset="0"/>
              </a:rPr>
              <a:t>./ C’est une personne atteinte d’</a:t>
            </a:r>
            <a:r>
              <a:rPr lang="fr-CI" sz="3200" b="1" i="1" dirty="0">
                <a:latin typeface="Century Gothic" panose="020B0502020202020204" pitchFamily="34" charset="0"/>
              </a:rPr>
              <a:t>anosmie</a:t>
            </a:r>
            <a:r>
              <a:rPr lang="fr-CI" sz="3200" dirty="0">
                <a:latin typeface="Century Gothic" panose="020B0502020202020204" pitchFamily="34" charset="0"/>
              </a:rPr>
              <a:t> (perte de l’odorat) ou d’</a:t>
            </a:r>
            <a:r>
              <a:rPr lang="fr-CI" sz="3200" b="1" i="1" dirty="0">
                <a:latin typeface="Century Gothic" panose="020B0502020202020204" pitchFamily="34" charset="0"/>
              </a:rPr>
              <a:t>agueusie</a:t>
            </a:r>
            <a:r>
              <a:rPr lang="fr-CI" sz="3200" dirty="0">
                <a:latin typeface="Century Gothic" panose="020B0502020202020204" pitchFamily="34" charset="0"/>
              </a:rPr>
              <a:t> (perte du goût) en l’absence de toute autre cause identifiée.</a:t>
            </a:r>
          </a:p>
          <a:p>
            <a:pPr>
              <a:lnSpc>
                <a:spcPct val="150000"/>
              </a:lnSpc>
            </a:pPr>
            <a:endParaRPr lang="fr-CI" sz="3200" dirty="0"/>
          </a:p>
        </p:txBody>
      </p:sp>
    </p:spTree>
    <p:extLst>
      <p:ext uri="{BB962C8B-B14F-4D97-AF65-F5344CB8AC3E}">
        <p14:creationId xmlns:p14="http://schemas.microsoft.com/office/powerpoint/2010/main" val="4025041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36023"/>
            <a:ext cx="11704319" cy="5268686"/>
          </a:xfrm>
        </p:spPr>
        <p:txBody>
          <a:bodyPr>
            <a:noAutofit/>
          </a:bodyPr>
          <a:lstStyle/>
          <a:p>
            <a:pPr marL="457200" indent="-457200">
              <a:lnSpc>
                <a:spcPct val="150000"/>
              </a:lnSpc>
              <a:buFont typeface="Wingdings" panose="05000000000000000000" pitchFamily="2" charset="2"/>
              <a:buChar char="q"/>
            </a:pPr>
            <a:r>
              <a:rPr lang="fr-CI" sz="3200" b="1" dirty="0"/>
              <a:t>Cas probable de COVID-19(A-B-C-D)</a:t>
            </a:r>
            <a:endParaRPr lang="fr-CI" sz="3200" dirty="0"/>
          </a:p>
          <a:p>
            <a:pPr>
              <a:lnSpc>
                <a:spcPct val="150000"/>
              </a:lnSpc>
            </a:pPr>
            <a:r>
              <a:rPr lang="fr-CI" sz="3200" dirty="0">
                <a:solidFill>
                  <a:srgbClr val="FF0000"/>
                </a:solidFill>
              </a:rPr>
              <a:t>D</a:t>
            </a:r>
            <a:r>
              <a:rPr lang="fr-CI" sz="3200" dirty="0"/>
              <a:t>. </a:t>
            </a:r>
            <a:r>
              <a:rPr lang="fr-CI" sz="3200" dirty="0">
                <a:latin typeface="Century Gothic" panose="020B0502020202020204" pitchFamily="34" charset="0"/>
              </a:rPr>
              <a:t>C’est un décès, sans autre explication, d’un adulte qui a présenté une </a:t>
            </a:r>
            <a:r>
              <a:rPr lang="fr-CI" sz="3200" b="1" i="1" dirty="0">
                <a:latin typeface="Century Gothic" panose="020B0502020202020204" pitchFamily="34" charset="0"/>
              </a:rPr>
              <a:t>détresse  respiratoire </a:t>
            </a:r>
            <a:r>
              <a:rPr lang="fr-CI" sz="3200" dirty="0">
                <a:latin typeface="Century Gothic" panose="020B0502020202020204" pitchFamily="34" charset="0"/>
              </a:rPr>
              <a:t>avant le décès </a:t>
            </a:r>
            <a:r>
              <a:rPr lang="fr-CI" sz="3200" b="1" i="1" dirty="0">
                <a:latin typeface="Century Gothic" panose="020B0502020202020204" pitchFamily="34" charset="0"/>
              </a:rPr>
              <a:t>ET</a:t>
            </a:r>
            <a:r>
              <a:rPr lang="fr-CI" sz="3200" dirty="0">
                <a:latin typeface="Century Gothic" panose="020B0502020202020204" pitchFamily="34" charset="0"/>
              </a:rPr>
              <a:t> qui a été </a:t>
            </a:r>
            <a:r>
              <a:rPr lang="fr-CI" sz="3200" b="1" i="1" dirty="0">
                <a:latin typeface="Century Gothic" panose="020B0502020202020204" pitchFamily="34" charset="0"/>
              </a:rPr>
              <a:t>en contact avec un cas probable </a:t>
            </a:r>
            <a:r>
              <a:rPr lang="fr-CI" sz="3200" dirty="0">
                <a:latin typeface="Century Gothic" panose="020B0502020202020204" pitchFamily="34" charset="0"/>
              </a:rPr>
              <a:t>ou confirmé de COVID-19 </a:t>
            </a:r>
            <a:r>
              <a:rPr lang="fr-CI" sz="3200" b="1" i="1" dirty="0">
                <a:latin typeface="Century Gothic" panose="020B0502020202020204" pitchFamily="34" charset="0"/>
              </a:rPr>
              <a:t>ou</a:t>
            </a:r>
            <a:r>
              <a:rPr lang="fr-CI" sz="3200" dirty="0">
                <a:latin typeface="Century Gothic" panose="020B0502020202020204" pitchFamily="34" charset="0"/>
              </a:rPr>
              <a:t> qui est </a:t>
            </a:r>
            <a:r>
              <a:rPr lang="fr-CI" sz="3200" b="1" i="1" dirty="0">
                <a:latin typeface="Century Gothic" panose="020B0502020202020204" pitchFamily="34" charset="0"/>
              </a:rPr>
              <a:t>relié</a:t>
            </a:r>
            <a:r>
              <a:rPr lang="fr-CI" sz="3200" dirty="0">
                <a:latin typeface="Century Gothic" panose="020B0502020202020204" pitchFamily="34" charset="0"/>
              </a:rPr>
              <a:t> sur le </a:t>
            </a:r>
            <a:r>
              <a:rPr lang="fr-CI" sz="3200" b="1" i="1" dirty="0">
                <a:latin typeface="Century Gothic" panose="020B0502020202020204" pitchFamily="34" charset="0"/>
              </a:rPr>
              <a:t>plan épidémiologique </a:t>
            </a:r>
            <a:r>
              <a:rPr lang="fr-CI" sz="3200" dirty="0">
                <a:latin typeface="Century Gothic" panose="020B0502020202020204" pitchFamily="34" charset="0"/>
              </a:rPr>
              <a:t>à un groupe de cas dans lequel il y a eu au moins un cas confirmé.</a:t>
            </a:r>
          </a:p>
        </p:txBody>
      </p:sp>
    </p:spTree>
    <p:extLst>
      <p:ext uri="{BB962C8B-B14F-4D97-AF65-F5344CB8AC3E}">
        <p14:creationId xmlns:p14="http://schemas.microsoft.com/office/powerpoint/2010/main" val="30297192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8903" y="365761"/>
            <a:ext cx="9797144" cy="357050"/>
          </a:xfrm>
        </p:spPr>
        <p:txBody>
          <a:bodyPr>
            <a:normAutofit fontScale="90000"/>
          </a:bodyPr>
          <a:lstStyle/>
          <a:p>
            <a:pPr lvl="0"/>
            <a:br>
              <a:rPr lang="fr-FR" sz="1800" b="1"/>
            </a:br>
            <a:br>
              <a:rPr lang="fr-FR" sz="1800" b="1"/>
            </a:br>
            <a:br>
              <a:rPr lang="fr-FR" sz="1800" b="1"/>
            </a:br>
            <a:br>
              <a:rPr lang="fr-FR" sz="1800" b="1"/>
            </a:br>
            <a:br>
              <a:rPr lang="fr-FR" sz="1800" b="1"/>
            </a:br>
            <a:br>
              <a:rPr lang="fr-FR" sz="1800" b="1"/>
            </a:br>
            <a:br>
              <a:rPr lang="fr-FR" sz="1800" b="1"/>
            </a:br>
            <a:br>
              <a:rPr lang="fr-FR" sz="1800" b="1"/>
            </a:br>
            <a:endParaRPr lang="it-IT" sz="4900" b="1" dirty="0">
              <a:solidFill>
                <a:srgbClr val="C00000"/>
              </a:solidFill>
              <a:latin typeface="Century Gothic" pitchFamily="34" charset="0"/>
            </a:endParaRPr>
          </a:p>
        </p:txBody>
      </p:sp>
      <p:sp>
        <p:nvSpPr>
          <p:cNvPr id="3" name="Espace réservé du texte 2"/>
          <p:cNvSpPr>
            <a:spLocks noGrp="1"/>
          </p:cNvSpPr>
          <p:nvPr>
            <p:ph type="body" idx="1"/>
          </p:nvPr>
        </p:nvSpPr>
        <p:spPr>
          <a:xfrm>
            <a:off x="191589" y="836023"/>
            <a:ext cx="11704319" cy="5268686"/>
          </a:xfrm>
        </p:spPr>
        <p:txBody>
          <a:bodyPr>
            <a:noAutofit/>
          </a:bodyPr>
          <a:lstStyle/>
          <a:p>
            <a:pPr marL="457200" indent="-457200">
              <a:lnSpc>
                <a:spcPct val="150000"/>
              </a:lnSpc>
              <a:buFont typeface="Wingdings" panose="05000000000000000000" pitchFamily="2" charset="2"/>
              <a:buChar char="q"/>
            </a:pPr>
            <a:r>
              <a:rPr lang="fr-CI" sz="3200" b="1"/>
              <a:t>Cas confirmé de COVID-19</a:t>
            </a:r>
            <a:endParaRPr lang="fr-CI" sz="3200"/>
          </a:p>
          <a:p>
            <a:pPr>
              <a:lnSpc>
                <a:spcPct val="150000"/>
              </a:lnSpc>
            </a:pPr>
            <a:r>
              <a:rPr lang="fr-CI" sz="3200">
                <a:solidFill>
                  <a:schemeClr val="tx1"/>
                </a:solidFill>
                <a:latin typeface="Century Gothic" panose="020B0502020202020204" pitchFamily="34" charset="0"/>
              </a:rPr>
              <a:t>C’est une personne présentant une infection par le virus de la COVID-19 confirmée en laboratoire, quels que soient les signes et symptômes cliniques.</a:t>
            </a:r>
            <a:endParaRPr lang="fr-CI" sz="3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7051395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45326" y="191589"/>
            <a:ext cx="9457507" cy="1463040"/>
          </a:xfrm>
        </p:spPr>
        <p:txBody>
          <a:bodyPr>
            <a:normAutofit fontScale="90000"/>
          </a:bodyPr>
          <a:lstStyle/>
          <a:p>
            <a:pPr lvl="0" algn="ct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FR" sz="4900" b="1" dirty="0">
                <a:solidFill>
                  <a:srgbClr val="FF0000"/>
                </a:solidFill>
                <a:latin typeface="Century Gothic" panose="020B0502020202020204" pitchFamily="34" charset="0"/>
              </a:rPr>
              <a:t>Conclusion </a:t>
            </a:r>
            <a:r>
              <a:rPr lang="fr-FR" sz="3100" b="1" dirty="0">
                <a:solidFill>
                  <a:srgbClr val="FF0000"/>
                </a:solidFill>
                <a:latin typeface="Century Gothic" panose="020B0502020202020204" pitchFamily="34" charset="0"/>
              </a:rPr>
              <a:t>(1/2)</a:t>
            </a:r>
            <a:br>
              <a:rPr lang="fr-FR" sz="3100" b="1" dirty="0">
                <a:solidFill>
                  <a:srgbClr val="FF0000"/>
                </a:solidFill>
                <a:latin typeface="Century Gothic" panose="020B0502020202020204" pitchFamily="34" charset="0"/>
              </a:rPr>
            </a:br>
            <a:endParaRPr lang="it-IT" sz="3100" b="1" dirty="0">
              <a:solidFill>
                <a:srgbClr val="FF0000"/>
              </a:solidFill>
              <a:latin typeface="Century Gothic" pitchFamily="34" charset="0"/>
            </a:endParaRPr>
          </a:p>
        </p:txBody>
      </p:sp>
      <p:sp>
        <p:nvSpPr>
          <p:cNvPr id="3" name="Espace réservé du texte 2"/>
          <p:cNvSpPr>
            <a:spLocks noGrp="1"/>
          </p:cNvSpPr>
          <p:nvPr>
            <p:ph type="body" idx="1"/>
          </p:nvPr>
        </p:nvSpPr>
        <p:spPr>
          <a:xfrm>
            <a:off x="191589" y="1323703"/>
            <a:ext cx="11704319" cy="4894216"/>
          </a:xfrm>
        </p:spPr>
        <p:txBody>
          <a:bodyPr>
            <a:noAutofit/>
          </a:bodyPr>
          <a:lstStyle/>
          <a:p>
            <a:pPr>
              <a:lnSpc>
                <a:spcPct val="150000"/>
              </a:lnSpc>
            </a:pPr>
            <a:r>
              <a:rPr lang="fr-CI" sz="3600" dirty="0">
                <a:latin typeface="Century Gothic" panose="020B0502020202020204" pitchFamily="34" charset="0"/>
              </a:rPr>
              <a:t>La détection des cas de maladies et leur notification à travers la surveillance est une stratégie très importance en santé publique. Elle permet de signaler à temps à l’autorité compétente les cas pour prendre des décisions afin de limiter les flambées d’épidémies. </a:t>
            </a:r>
          </a:p>
        </p:txBody>
      </p:sp>
    </p:spTree>
    <p:extLst>
      <p:ext uri="{BB962C8B-B14F-4D97-AF65-F5344CB8AC3E}">
        <p14:creationId xmlns:p14="http://schemas.microsoft.com/office/powerpoint/2010/main" val="4261557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45327" y="191589"/>
            <a:ext cx="9283336" cy="1288868"/>
          </a:xfrm>
        </p:spPr>
        <p:txBody>
          <a:bodyPr>
            <a:normAutofit fontScale="90000"/>
          </a:bodyPr>
          <a:lstStyle/>
          <a:p>
            <a:pPr lvl="0" algn="ct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br>
              <a:rPr lang="fr-FR" sz="1800" b="1" dirty="0"/>
            </a:br>
            <a:r>
              <a:rPr lang="fr-FR" sz="4900" b="1" dirty="0">
                <a:solidFill>
                  <a:srgbClr val="FF0000"/>
                </a:solidFill>
                <a:latin typeface="Century Gothic" panose="020B0502020202020204" pitchFamily="34" charset="0"/>
              </a:rPr>
              <a:t>Conclusion </a:t>
            </a:r>
            <a:r>
              <a:rPr lang="fr-FR" sz="3100" b="1" dirty="0">
                <a:solidFill>
                  <a:srgbClr val="FF0000"/>
                </a:solidFill>
                <a:latin typeface="Century Gothic" panose="020B0502020202020204" pitchFamily="34" charset="0"/>
              </a:rPr>
              <a:t>(2/2)</a:t>
            </a:r>
            <a:br>
              <a:rPr lang="fr-FR" sz="3100" b="1" dirty="0">
                <a:solidFill>
                  <a:srgbClr val="FF0000"/>
                </a:solidFill>
                <a:latin typeface="Century Gothic" panose="020B0502020202020204" pitchFamily="34" charset="0"/>
              </a:rPr>
            </a:br>
            <a:endParaRPr lang="it-IT" sz="3100" b="1" dirty="0">
              <a:solidFill>
                <a:srgbClr val="FF0000"/>
              </a:solidFill>
              <a:latin typeface="Century Gothic" pitchFamily="34" charset="0"/>
            </a:endParaRPr>
          </a:p>
        </p:txBody>
      </p:sp>
      <p:sp>
        <p:nvSpPr>
          <p:cNvPr id="3" name="Espace réservé du texte 2"/>
          <p:cNvSpPr>
            <a:spLocks noGrp="1"/>
          </p:cNvSpPr>
          <p:nvPr>
            <p:ph type="body" idx="1"/>
          </p:nvPr>
        </p:nvSpPr>
        <p:spPr>
          <a:xfrm>
            <a:off x="191589" y="1776549"/>
            <a:ext cx="11704319" cy="4441370"/>
          </a:xfrm>
        </p:spPr>
        <p:txBody>
          <a:bodyPr>
            <a:noAutofit/>
          </a:bodyPr>
          <a:lstStyle/>
          <a:p>
            <a:pPr>
              <a:lnSpc>
                <a:spcPct val="150000"/>
              </a:lnSpc>
            </a:pPr>
            <a:r>
              <a:rPr lang="fr-CI" sz="3600" dirty="0">
                <a:latin typeface="Century Gothic" panose="020B0502020202020204" pitchFamily="34" charset="0"/>
              </a:rPr>
              <a:t>Le système de surveillance des pays doit être efficace et performant. De ce préalable dépendra la validation des progrès vers l’élimination de la rougeole, le maintien de l’élimination du TNN et le contrôle la fièvre jaune.</a:t>
            </a:r>
          </a:p>
        </p:txBody>
      </p:sp>
    </p:spTree>
    <p:extLst>
      <p:ext uri="{BB962C8B-B14F-4D97-AF65-F5344CB8AC3E}">
        <p14:creationId xmlns:p14="http://schemas.microsoft.com/office/powerpoint/2010/main" val="14650415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1" y="548640"/>
            <a:ext cx="10249988" cy="5599611"/>
          </a:xfrm>
          <a:prstGeom prst="rect">
            <a:avLst/>
          </a:prstGeom>
          <a:ln>
            <a:solidFill>
              <a:schemeClr val="accent5"/>
            </a:solidFill>
          </a:ln>
        </p:spPr>
      </p:pic>
    </p:spTree>
    <p:extLst>
      <p:ext uri="{BB962C8B-B14F-4D97-AF65-F5344CB8AC3E}">
        <p14:creationId xmlns:p14="http://schemas.microsoft.com/office/powerpoint/2010/main" val="3193017372"/>
      </p:ext>
    </p:extLst>
  </p:cSld>
  <p:clrMapOvr>
    <a:masterClrMapping/>
  </p:clrMapOvr>
</p:sld>
</file>

<file path=ppt/theme/theme1.xml><?xml version="1.0" encoding="utf-8"?>
<a:theme xmlns:a="http://schemas.openxmlformats.org/drawingml/2006/main" name="Thème Office">
  <a:themeElements>
    <a:clrScheme name="INFAS">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3290</TotalTime>
  <Words>4066</Words>
  <Application>Microsoft Office PowerPoint</Application>
  <PresentationFormat>Grand écran</PresentationFormat>
  <Paragraphs>342</Paragraphs>
  <Slides>81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81</vt:i4>
      </vt:variant>
    </vt:vector>
  </HeadingPairs>
  <TitlesOfParts>
    <vt:vector size="87" baseType="lpstr">
      <vt:lpstr>Arial</vt:lpstr>
      <vt:lpstr>Arial Black</vt:lpstr>
      <vt:lpstr>Century Gothic</vt:lpstr>
      <vt:lpstr>Times New Roman</vt:lpstr>
      <vt:lpstr>Wingdings</vt:lpstr>
      <vt:lpstr>Thème Office</vt:lpstr>
      <vt:lpstr>KOUASSI LOBOH FELICITE Sage Femme Spécialiste en Santé Publique  Enseignante à l’INFAS d'Abidjan Responsable de la filière Santé Publique Ecole de Spécialité Cél : 07 899 833 22 </vt:lpstr>
      <vt:lpstr>Présentation PowerPoint</vt:lpstr>
      <vt:lpstr> SURVEILLANCE  INTEGREE  DE LA  MALADIE  ET  RIPOSTE (SIMR) </vt:lpstr>
      <vt:lpstr>Objectif général</vt:lpstr>
      <vt:lpstr>   Objectifs spécifiques (1/2)</vt:lpstr>
      <vt:lpstr>Plan du cours (1/3)</vt:lpstr>
      <vt:lpstr>Introduction(1/4 )</vt:lpstr>
      <vt:lpstr>Introduction(2/4 )</vt:lpstr>
      <vt:lpstr>Introduction(4/4 )</vt:lpstr>
      <vt:lpstr>Introduction(4/4 )</vt:lpstr>
      <vt:lpstr>Introduction(4/4 )</vt:lpstr>
      <vt:lpstr>I. Définition des concepts 1/8</vt:lpstr>
      <vt:lpstr>I. Définition des concepts 2/8</vt:lpstr>
      <vt:lpstr>I. Définition des concepts 3/8</vt:lpstr>
      <vt:lpstr>I. Définition des concepts 3/8</vt:lpstr>
      <vt:lpstr>I. Définition des concepts   4/8 </vt:lpstr>
      <vt:lpstr>I. Définition des concepts   4/8 </vt:lpstr>
      <vt:lpstr>I. Définition des concepts  5/8 </vt:lpstr>
      <vt:lpstr>I. Définition des concepts  6/8 </vt:lpstr>
      <vt:lpstr>I. Définition des concepts 7/8</vt:lpstr>
      <vt:lpstr>I. Définition des concepts 8/8</vt:lpstr>
      <vt:lpstr>  II. Objectifs de la SIMR</vt:lpstr>
      <vt:lpstr>  III. Les maladies prioritaires sous surveillance</vt:lpstr>
      <vt:lpstr>  IV. Définitions de cas de maladie sous surveillance pour notification  </vt:lpstr>
      <vt:lpstr>Plan du chapitre (1/2)</vt:lpstr>
      <vt:lpstr>Plan du chapitre (2/2)</vt:lpstr>
      <vt:lpstr>  4.1. La paralysie flasque aigue (PFA)  </vt:lpstr>
      <vt:lpstr>  4.1. La paralysie flasque aigue (PFA) </vt:lpstr>
      <vt:lpstr>4.1. La paralysie flasque aigue  </vt:lpstr>
      <vt:lpstr>          4.1. La paralysie flasque aigue</vt:lpstr>
      <vt:lpstr>Tableau récapitulatif des activités urgentes à mener et les délais d’exécution devant un cas de PFA </vt:lpstr>
      <vt:lpstr>Tableau récapitulatif des activités urgentes à mener et les délais d’exécution devant un cas de PFA </vt:lpstr>
      <vt:lpstr>          4.1. La paralysie flasque aigue</vt:lpstr>
      <vt:lpstr>          4.2. La poliomyélite due a un poliovirus de type sauvage</vt:lpstr>
      <vt:lpstr>          4.2. La poliomyélite due a un poliovirus de type sauvage</vt:lpstr>
      <vt:lpstr>          4.2 La poliomyélite due a un poliovirus de type sauvage</vt:lpstr>
      <vt:lpstr>          4.2 La poliomyélite due a un poliovirus de type sauvage</vt:lpstr>
      <vt:lpstr>          </vt:lpstr>
      <vt:lpstr>          4.3. La poliomyelite due a un poliovirus dérivé d’une souche vaccinale (PVDVc)</vt:lpstr>
      <vt:lpstr>          4.4. Syndrome respiratoire aigue sévère(1/4) </vt:lpstr>
      <vt:lpstr>          4.4. Syndrome respiratoire aigue sévère (2/4)</vt:lpstr>
      <vt:lpstr>          4.4. Syndrome respiratoire aigue sévère(3/4) </vt:lpstr>
      <vt:lpstr>          4.4. Syndrome respiratoire aigue sévère(4/4) </vt:lpstr>
      <vt:lpstr>Présentation PowerPoint</vt:lpstr>
      <vt:lpstr>          4.5. La rougeole(1/9)</vt:lpstr>
      <vt:lpstr>          4.5. La rougeole(2/9)</vt:lpstr>
      <vt:lpstr>          4.5. La rougeole(3/9)</vt:lpstr>
      <vt:lpstr>          4.5. La rougeole(4/9)</vt:lpstr>
      <vt:lpstr>          4.5. La rougeole(5/9)</vt:lpstr>
      <vt:lpstr>          4.5. La rougeole(6/9)</vt:lpstr>
      <vt:lpstr>          4.5. La rougeole(7/9)</vt:lpstr>
      <vt:lpstr>          4.5. La rougeole(8/9)</vt:lpstr>
      <vt:lpstr>          4.5. La rougeole(9/9)</vt:lpstr>
      <vt:lpstr>Présentation PowerPoint</vt:lpstr>
      <vt:lpstr>          4.6. Fièvre jaune(1/6)</vt:lpstr>
      <vt:lpstr>          4.6. Fièvre jaune(2/6)</vt:lpstr>
      <vt:lpstr>          4.6. Fièvre jaune(3/6)</vt:lpstr>
      <vt:lpstr>          4.6. Fièvre jaune(4/6)</vt:lpstr>
      <vt:lpstr>          4.6. Fièvre jaune(5/6)</vt:lpstr>
      <vt:lpstr>          4.6. Fièvre jaune   (6/6)</vt:lpstr>
      <vt:lpstr>TETANOS NEANATAL  (TNN) </vt:lpstr>
      <vt:lpstr>        4.7.  Tétanos néonatal  (1/7)</vt:lpstr>
      <vt:lpstr>        4.7.  Tétanos néonatal  (2/7)</vt:lpstr>
      <vt:lpstr>        </vt:lpstr>
      <vt:lpstr>        </vt:lpstr>
      <vt:lpstr>        </vt:lpstr>
      <vt:lpstr>        </vt:lpstr>
      <vt:lpstr>        </vt:lpstr>
      <vt:lpstr>La maladie a coronavirus ou covid-19</vt:lpstr>
      <vt:lpstr>        4.8.  La maladie a coronavirus ou covid-19</vt:lpstr>
      <vt:lpstr>        </vt:lpstr>
      <vt:lpstr>        </vt:lpstr>
      <vt:lpstr>        </vt:lpstr>
      <vt:lpstr>        </vt:lpstr>
      <vt:lpstr>        </vt:lpstr>
      <vt:lpstr>        </vt:lpstr>
      <vt:lpstr>        </vt:lpstr>
      <vt:lpstr>        </vt:lpstr>
      <vt:lpstr>                Conclusion (1/2) </vt:lpstr>
      <vt:lpstr>                Conclusion (2/2) </vt:lpstr>
      <vt:lpstr>Présentation PowerPoint</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Maher Fattouh</dc:creator>
  <cp:lastModifiedBy>SOPHIE Mme ATSE</cp:lastModifiedBy>
  <cp:revision>314</cp:revision>
  <dcterms:created xsi:type="dcterms:W3CDTF">2018-07-17T00:49:38Z</dcterms:created>
  <dcterms:modified xsi:type="dcterms:W3CDTF">2026-04-19T23:58:13Z</dcterms:modified>
</cp:coreProperties>
</file>