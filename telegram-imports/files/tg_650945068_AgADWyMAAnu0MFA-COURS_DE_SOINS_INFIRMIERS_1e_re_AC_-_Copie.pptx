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4.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33.xml" ContentType="application/vnd.openxmlformats-officedocument.presentationml.slide+xml"/>
  <Override PartName="/ppt/slides/slide132.xml" ContentType="application/vnd.openxmlformats-officedocument.presentationml.slide+xml"/>
  <Override PartName="/ppt/slides/slide131.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25.xml" ContentType="application/vnd.openxmlformats-officedocument.presentationml.slide+xml"/>
  <Override PartName="/ppt/slides/slide130.xml" ContentType="application/vnd.openxmlformats-officedocument.presentationml.slide+xml"/>
  <Override PartName="/ppt/slides/slide123.xml" ContentType="application/vnd.openxmlformats-officedocument.presentationml.slide+xml"/>
  <Override PartName="/ppt/slides/slide101.xml" ContentType="application/vnd.openxmlformats-officedocument.presentationml.slide+xml"/>
  <Override PartName="/ppt/slides/slide124.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0.xml" ContentType="application/vnd.openxmlformats-officedocument.presentationml.slide+xml"/>
  <Override PartName="/ppt/slides/slide99.xml" ContentType="application/vnd.openxmlformats-officedocument.presentationml.slide+xml"/>
  <Override PartName="/ppt/slides/slide98.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slides/slide102.xml" ContentType="application/vnd.openxmlformats-officedocument.presentationml.slide+xml"/>
  <Override PartName="/ppt/slides/slide109.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2.xml" ContentType="application/vnd.openxmlformats-officedocument.presentationml.slide+xml"/>
  <Override PartName="/ppt/slides/slide115.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6.xml" ContentType="application/vnd.openxmlformats-officedocument.presentationml.slide+xml"/>
  <Override PartName="/ppt/slides/slide113.xml" ContentType="application/vnd.openxmlformats-officedocument.presentationml.slide+xml"/>
  <Override PartName="/ppt/slides/slide112.xml" ContentType="application/vnd.openxmlformats-officedocument.presentationml.slide+xml"/>
  <Override PartName="/ppt/slides/slide114.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146"/>
  </p:notesMasterIdLst>
  <p:sldIdLst>
    <p:sldId id="261" r:id="rId2"/>
    <p:sldId id="262" r:id="rId3"/>
    <p:sldId id="264" r:id="rId4"/>
    <p:sldId id="263" r:id="rId5"/>
    <p:sldId id="265" r:id="rId6"/>
    <p:sldId id="267" r:id="rId7"/>
    <p:sldId id="268" r:id="rId8"/>
    <p:sldId id="266" r:id="rId9"/>
    <p:sldId id="270" r:id="rId10"/>
    <p:sldId id="271" r:id="rId11"/>
    <p:sldId id="272" r:id="rId12"/>
    <p:sldId id="379" r:id="rId13"/>
    <p:sldId id="380" r:id="rId14"/>
    <p:sldId id="273" r:id="rId15"/>
    <p:sldId id="274" r:id="rId16"/>
    <p:sldId id="275" r:id="rId17"/>
    <p:sldId id="276" r:id="rId18"/>
    <p:sldId id="277" r:id="rId19"/>
    <p:sldId id="278" r:id="rId20"/>
    <p:sldId id="279" r:id="rId21"/>
    <p:sldId id="280" r:id="rId22"/>
    <p:sldId id="281" r:id="rId23"/>
    <p:sldId id="282" r:id="rId24"/>
    <p:sldId id="283" r:id="rId25"/>
    <p:sldId id="378" r:id="rId26"/>
    <p:sldId id="284" r:id="rId27"/>
    <p:sldId id="285" r:id="rId28"/>
    <p:sldId id="286" r:id="rId29"/>
    <p:sldId id="287" r:id="rId30"/>
    <p:sldId id="397" r:id="rId31"/>
    <p:sldId id="288" r:id="rId32"/>
    <p:sldId id="289" r:id="rId33"/>
    <p:sldId id="398"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99" r:id="rId52"/>
    <p:sldId id="307" r:id="rId53"/>
    <p:sldId id="308" r:id="rId54"/>
    <p:sldId id="309" r:id="rId55"/>
    <p:sldId id="310" r:id="rId56"/>
    <p:sldId id="311" r:id="rId57"/>
    <p:sldId id="392" r:id="rId58"/>
    <p:sldId id="312" r:id="rId59"/>
    <p:sldId id="313" r:id="rId60"/>
    <p:sldId id="393" r:id="rId61"/>
    <p:sldId id="314" r:id="rId62"/>
    <p:sldId id="394" r:id="rId63"/>
    <p:sldId id="395" r:id="rId64"/>
    <p:sldId id="315" r:id="rId65"/>
    <p:sldId id="316" r:id="rId66"/>
    <p:sldId id="317" r:id="rId67"/>
    <p:sldId id="400" r:id="rId68"/>
    <p:sldId id="318" r:id="rId69"/>
    <p:sldId id="319" r:id="rId70"/>
    <p:sldId id="396" r:id="rId71"/>
    <p:sldId id="320" r:id="rId72"/>
    <p:sldId id="321" r:id="rId73"/>
    <p:sldId id="322" r:id="rId74"/>
    <p:sldId id="323" r:id="rId75"/>
    <p:sldId id="324" r:id="rId76"/>
    <p:sldId id="325" r:id="rId77"/>
    <p:sldId id="326" r:id="rId78"/>
    <p:sldId id="327" r:id="rId79"/>
    <p:sldId id="328" r:id="rId80"/>
    <p:sldId id="329" r:id="rId81"/>
    <p:sldId id="401" r:id="rId82"/>
    <p:sldId id="330" r:id="rId83"/>
    <p:sldId id="402" r:id="rId84"/>
    <p:sldId id="331" r:id="rId85"/>
    <p:sldId id="403"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404" r:id="rId102"/>
    <p:sldId id="347" r:id="rId103"/>
    <p:sldId id="348" r:id="rId104"/>
    <p:sldId id="349" r:id="rId105"/>
    <p:sldId id="405" r:id="rId106"/>
    <p:sldId id="350"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 id="363" r:id="rId120"/>
    <p:sldId id="364" r:id="rId121"/>
    <p:sldId id="365" r:id="rId122"/>
    <p:sldId id="366" r:id="rId123"/>
    <p:sldId id="367" r:id="rId124"/>
    <p:sldId id="368" r:id="rId125"/>
    <p:sldId id="369" r:id="rId126"/>
    <p:sldId id="370" r:id="rId127"/>
    <p:sldId id="371" r:id="rId128"/>
    <p:sldId id="372" r:id="rId129"/>
    <p:sldId id="373" r:id="rId130"/>
    <p:sldId id="374" r:id="rId131"/>
    <p:sldId id="375" r:id="rId132"/>
    <p:sldId id="376" r:id="rId133"/>
    <p:sldId id="381" r:id="rId134"/>
    <p:sldId id="382" r:id="rId135"/>
    <p:sldId id="383" r:id="rId136"/>
    <p:sldId id="384" r:id="rId137"/>
    <p:sldId id="385" r:id="rId138"/>
    <p:sldId id="386" r:id="rId139"/>
    <p:sldId id="387" r:id="rId140"/>
    <p:sldId id="388" r:id="rId141"/>
    <p:sldId id="389" r:id="rId142"/>
    <p:sldId id="390" r:id="rId143"/>
    <p:sldId id="391" r:id="rId144"/>
    <p:sldId id="407" r:id="rId1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4684" autoAdjust="0"/>
  </p:normalViewPr>
  <p:slideViewPr>
    <p:cSldViewPr snapToGrid="0">
      <p:cViewPr varScale="1">
        <p:scale>
          <a:sx n="44" d="100"/>
          <a:sy n="44" d="100"/>
        </p:scale>
        <p:origin x="-78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customXml" Target="../customXml/item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customXml" Target="../customXml/item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75406D-1424-498D-BCC7-B003EB0AB5B9}" type="datetimeFigureOut">
              <a:rPr lang="fr-FR" smtClean="0"/>
              <a:pPr/>
              <a:t>06/05/2020</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084885-676D-4A27-8F6B-0AF397B11E52}" type="slidenum">
              <a:rPr lang="fr-FR" smtClean="0"/>
              <a:pPr/>
              <a:t>‹N°›</a:t>
            </a:fld>
            <a:endParaRPr lang="fr-FR"/>
          </a:p>
        </p:txBody>
      </p:sp>
    </p:spTree>
    <p:extLst>
      <p:ext uri="{BB962C8B-B14F-4D97-AF65-F5344CB8AC3E}">
        <p14:creationId xmlns:p14="http://schemas.microsoft.com/office/powerpoint/2010/main" val="3639709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5F46400B-C51B-4D34-8D89-9DD37D219751}" type="slidenum">
              <a:rPr lang="fr-FR" smtClean="0">
                <a:solidFill>
                  <a:prstClr val="black"/>
                </a:solidFill>
              </a:rPr>
              <a:pPr/>
              <a:t>1</a:t>
            </a:fld>
            <a:endParaRPr lang="fr-FR">
              <a:solidFill>
                <a:prstClr val="black"/>
              </a:solidFill>
            </a:endParaRPr>
          </a:p>
        </p:txBody>
      </p:sp>
    </p:spTree>
    <p:extLst>
      <p:ext uri="{BB962C8B-B14F-4D97-AF65-F5344CB8AC3E}">
        <p14:creationId xmlns:p14="http://schemas.microsoft.com/office/powerpoint/2010/main" val="1317878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2">
        <a:schemeClr val="bg2"/>
      </p:bgRef>
    </p:bg>
    <p:spTree>
      <p:nvGrpSpPr>
        <p:cNvPr id="1" name=""/>
        <p:cNvGrpSpPr/>
        <p:nvPr/>
      </p:nvGrpSpPr>
      <p:grpSpPr>
        <a:xfrm>
          <a:off x="0" y="0"/>
          <a:ext cx="0" cy="0"/>
          <a:chOff x="0" y="0"/>
          <a:chExt cx="0" cy="0"/>
        </a:xfrm>
      </p:grpSpPr>
      <p:sp>
        <p:nvSpPr>
          <p:cNvPr id="9" name="Titr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Cliquez pour modifier le style du titre</a:t>
            </a:r>
            <a:endParaRPr kumimoji="0" lang="en-US"/>
          </a:p>
        </p:txBody>
      </p:sp>
      <p:sp>
        <p:nvSpPr>
          <p:cNvPr id="17" name="Sous-titr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46B9143B-B07D-449C-9B91-9ADEF1C4D82C}" type="datetimeFigureOut">
              <a:rPr lang="fr-FR" smtClean="0">
                <a:solidFill>
                  <a:srgbClr val="DBF5F9">
                    <a:shade val="90000"/>
                  </a:srgbClr>
                </a:solidFill>
              </a:rPr>
              <a:pPr/>
              <a:t>06/05/2020</a:t>
            </a:fld>
            <a:endParaRPr lang="fr-FR">
              <a:solidFill>
                <a:srgbClr val="DBF5F9">
                  <a:shade val="90000"/>
                </a:srgbClr>
              </a:solidFill>
            </a:endParaRPr>
          </a:p>
        </p:txBody>
      </p:sp>
      <p:sp>
        <p:nvSpPr>
          <p:cNvPr id="19" name="Espace réservé du pied de page 18"/>
          <p:cNvSpPr>
            <a:spLocks noGrp="1"/>
          </p:cNvSpPr>
          <p:nvPr>
            <p:ph type="ftr" sz="quarter" idx="11"/>
          </p:nvPr>
        </p:nvSpPr>
        <p:spPr/>
        <p:txBody>
          <a:bodyPr/>
          <a:lstStyle/>
          <a:p>
            <a:endParaRPr lang="fr-FR">
              <a:solidFill>
                <a:srgbClr val="DBF5F9">
                  <a:shade val="90000"/>
                </a:srgbClr>
              </a:solidFill>
            </a:endParaRPr>
          </a:p>
        </p:txBody>
      </p:sp>
      <p:sp>
        <p:nvSpPr>
          <p:cNvPr id="27" name="Espace réservé du numéro de diapositive 26"/>
          <p:cNvSpPr>
            <a:spLocks noGrp="1"/>
          </p:cNvSpPr>
          <p:nvPr>
            <p:ph type="sldNum" sz="quarter" idx="12"/>
          </p:nvPr>
        </p:nvSpPr>
        <p:spPr/>
        <p:txBody>
          <a:bodyPr/>
          <a:lstStyle/>
          <a:p>
            <a:fld id="{6CF6187E-B591-4964-A2B9-B2D8BF002757}" type="slidenum">
              <a:rPr lang="fr-FR" smtClean="0">
                <a:solidFill>
                  <a:srgbClr val="DBF5F9">
                    <a:shade val="90000"/>
                  </a:srgbClr>
                </a:solidFill>
              </a:rPr>
              <a:pPr/>
              <a:t>‹N°›</a:t>
            </a:fld>
            <a:endParaRPr lang="fr-FR">
              <a:solidFill>
                <a:srgbClr val="DBF5F9">
                  <a:shade val="90000"/>
                </a:srgbClr>
              </a:solidFill>
            </a:endParaRPr>
          </a:p>
        </p:txBody>
      </p:sp>
    </p:spTree>
    <p:extLst>
      <p:ext uri="{BB962C8B-B14F-4D97-AF65-F5344CB8AC3E}">
        <p14:creationId xmlns:p14="http://schemas.microsoft.com/office/powerpoint/2010/main" val="2716885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5" name="Espace réservé du pied de page 4"/>
          <p:cNvSpPr>
            <a:spLocks noGrp="1"/>
          </p:cNvSpPr>
          <p:nvPr>
            <p:ph type="ftr" sz="quarter" idx="11"/>
          </p:nvPr>
        </p:nvSpPr>
        <p:spPr/>
        <p:txBody>
          <a:bodyPr/>
          <a:lstStyle/>
          <a:p>
            <a:endParaRPr lang="fr-FR">
              <a:solidFill>
                <a:srgbClr val="04617B">
                  <a:shade val="90000"/>
                </a:srgbClr>
              </a:solidFill>
            </a:endParaRPr>
          </a:p>
        </p:txBody>
      </p:sp>
      <p:sp>
        <p:nvSpPr>
          <p:cNvPr id="6" name="Espace réservé du numéro de diapositive 5"/>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2547374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46B9143B-B07D-449C-9B91-9ADEF1C4D82C}" type="datetimeFigureOut">
              <a:rPr lang="fr-FR" smtClean="0">
                <a:solidFill>
                  <a:srgbClr val="DBF5F9">
                    <a:shade val="90000"/>
                  </a:srgbClr>
                </a:solidFill>
              </a:rPr>
              <a:pPr/>
              <a:t>06/05/2020</a:t>
            </a:fld>
            <a:endParaRPr lang="fr-FR">
              <a:solidFill>
                <a:srgbClr val="DBF5F9">
                  <a:shade val="90000"/>
                </a:srgbClr>
              </a:solidFill>
            </a:endParaRPr>
          </a:p>
        </p:txBody>
      </p:sp>
      <p:sp>
        <p:nvSpPr>
          <p:cNvPr id="5" name="Espace réservé du pied de page 4"/>
          <p:cNvSpPr>
            <a:spLocks noGrp="1"/>
          </p:cNvSpPr>
          <p:nvPr>
            <p:ph type="ftr" sz="quarter" idx="11"/>
          </p:nvPr>
        </p:nvSpPr>
        <p:spPr/>
        <p:txBody>
          <a:bodyPr/>
          <a:lstStyle/>
          <a:p>
            <a:endParaRPr lang="fr-FR">
              <a:solidFill>
                <a:srgbClr val="DBF5F9">
                  <a:shade val="90000"/>
                </a:srgbClr>
              </a:solidFill>
            </a:endParaRPr>
          </a:p>
        </p:txBody>
      </p:sp>
      <p:sp>
        <p:nvSpPr>
          <p:cNvPr id="6" name="Espace réservé du numéro de diapositive 5"/>
          <p:cNvSpPr>
            <a:spLocks noGrp="1"/>
          </p:cNvSpPr>
          <p:nvPr>
            <p:ph type="sldNum" sz="quarter" idx="12"/>
          </p:nvPr>
        </p:nvSpPr>
        <p:spPr/>
        <p:txBody>
          <a:bodyPr/>
          <a:lstStyle/>
          <a:p>
            <a:fld id="{6CF6187E-B591-4964-A2B9-B2D8BF002757}" type="slidenum">
              <a:rPr lang="fr-FR" smtClean="0">
                <a:solidFill>
                  <a:srgbClr val="DBF5F9">
                    <a:shade val="90000"/>
                  </a:srgbClr>
                </a:solidFill>
              </a:rPr>
              <a:pPr/>
              <a:t>‹N°›</a:t>
            </a:fld>
            <a:endParaRPr lang="fr-FR">
              <a:solidFill>
                <a:srgbClr val="DBF5F9">
                  <a:shade val="90000"/>
                </a:srgbClr>
              </a:solidFill>
            </a:endParaRPr>
          </a:p>
        </p:txBody>
      </p:sp>
    </p:spTree>
    <p:extLst>
      <p:ext uri="{BB962C8B-B14F-4D97-AF65-F5344CB8AC3E}">
        <p14:creationId xmlns:p14="http://schemas.microsoft.com/office/powerpoint/2010/main" val="7913194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609600" y="704088"/>
            <a:ext cx="10972800" cy="1143000"/>
          </a:xfrm>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6" name="Espace réservé du pied de page 5"/>
          <p:cNvSpPr>
            <a:spLocks noGrp="1"/>
          </p:cNvSpPr>
          <p:nvPr>
            <p:ph type="ftr" sz="quarter" idx="11"/>
          </p:nvPr>
        </p:nvSpPr>
        <p:spPr/>
        <p:txBody>
          <a:bodyPr/>
          <a:lstStyle/>
          <a:p>
            <a:endParaRPr lang="fr-FR">
              <a:solidFill>
                <a:srgbClr val="04617B">
                  <a:shade val="90000"/>
                </a:srgbClr>
              </a:solidFill>
            </a:endParaRPr>
          </a:p>
        </p:txBody>
      </p:sp>
      <p:sp>
        <p:nvSpPr>
          <p:cNvPr id="7" name="Espace réservé du numéro de diapositive 6"/>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294293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09600" y="704088"/>
            <a:ext cx="10972800" cy="1143000"/>
          </a:xfrm>
        </p:spPr>
        <p:txBody>
          <a:bodyPr tIns="45720" anchor="b"/>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8" name="Espace réservé du pied de page 7"/>
          <p:cNvSpPr>
            <a:spLocks noGrp="1"/>
          </p:cNvSpPr>
          <p:nvPr>
            <p:ph type="ftr" sz="quarter" idx="11"/>
          </p:nvPr>
        </p:nvSpPr>
        <p:spPr/>
        <p:txBody>
          <a:bodyPr/>
          <a:lstStyle/>
          <a:p>
            <a:endParaRPr lang="fr-FR">
              <a:solidFill>
                <a:srgbClr val="04617B">
                  <a:shade val="90000"/>
                </a:srgbClr>
              </a:solidFill>
            </a:endParaRPr>
          </a:p>
        </p:txBody>
      </p:sp>
      <p:sp>
        <p:nvSpPr>
          <p:cNvPr id="9" name="Espace réservé du numéro de diapositive 8"/>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3916671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4" name="Espace réservé du pied de page 3"/>
          <p:cNvSpPr>
            <a:spLocks noGrp="1"/>
          </p:cNvSpPr>
          <p:nvPr>
            <p:ph type="ftr" sz="quarter" idx="11"/>
          </p:nvPr>
        </p:nvSpPr>
        <p:spPr/>
        <p:txBody>
          <a:bodyPr/>
          <a:lstStyle/>
          <a:p>
            <a:endParaRPr lang="fr-FR">
              <a:solidFill>
                <a:srgbClr val="04617B">
                  <a:shade val="90000"/>
                </a:srgbClr>
              </a:solidFill>
            </a:endParaRPr>
          </a:p>
        </p:txBody>
      </p:sp>
      <p:sp>
        <p:nvSpPr>
          <p:cNvPr id="5" name="Espace réservé du numéro de diapositive 4"/>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2734713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3" name="Espace réservé du pied de page 2"/>
          <p:cNvSpPr>
            <a:spLocks noGrp="1"/>
          </p:cNvSpPr>
          <p:nvPr>
            <p:ph type="ftr" sz="quarter" idx="11"/>
          </p:nvPr>
        </p:nvSpPr>
        <p:spPr/>
        <p:txBody>
          <a:bodyPr/>
          <a:lstStyle/>
          <a:p>
            <a:endParaRPr lang="fr-FR">
              <a:solidFill>
                <a:srgbClr val="04617B">
                  <a:shade val="90000"/>
                </a:srgbClr>
              </a:solidFill>
            </a:endParaRPr>
          </a:p>
        </p:txBody>
      </p:sp>
      <p:sp>
        <p:nvSpPr>
          <p:cNvPr id="4" name="Espace réservé du numéro de diapositive 3"/>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3593041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6" name="Espace réservé du pied de page 5"/>
          <p:cNvSpPr>
            <a:spLocks noGrp="1"/>
          </p:cNvSpPr>
          <p:nvPr>
            <p:ph type="ftr" sz="quarter" idx="11"/>
          </p:nvPr>
        </p:nvSpPr>
        <p:spPr/>
        <p:txBody>
          <a:bodyPr/>
          <a:lstStyle/>
          <a:p>
            <a:endParaRPr lang="fr-FR">
              <a:solidFill>
                <a:srgbClr val="04617B">
                  <a:shade val="90000"/>
                </a:srgbClr>
              </a:solidFill>
            </a:endParaRPr>
          </a:p>
        </p:txBody>
      </p:sp>
      <p:sp>
        <p:nvSpPr>
          <p:cNvPr id="7" name="Espace réservé du numéro de diapositive 6"/>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306725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Rogner et arrondir un rectangle à un seul coin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12" name="Triangle rect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endParaRPr>
          </a:p>
        </p:txBody>
      </p:sp>
      <p:sp>
        <p:nvSpPr>
          <p:cNvPr id="2" name="Titr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fr-FR" smtClean="0"/>
              <a:t>Cliquez pour modifier le style du titre</a:t>
            </a:r>
            <a:endParaRPr kumimoji="0" lang="en-US"/>
          </a:p>
        </p:txBody>
      </p:sp>
      <p:sp>
        <p:nvSpPr>
          <p:cNvPr id="4" name="Espace réservé du texte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6" name="Espace réservé du pied de page 5"/>
          <p:cNvSpPr>
            <a:spLocks noGrp="1"/>
          </p:cNvSpPr>
          <p:nvPr>
            <p:ph type="ftr" sz="quarter" idx="11"/>
          </p:nvPr>
        </p:nvSpPr>
        <p:spPr/>
        <p:txBody>
          <a:bodyPr/>
          <a:lstStyle/>
          <a:p>
            <a:endParaRPr lang="fr-FR">
              <a:solidFill>
                <a:srgbClr val="04617B">
                  <a:shade val="90000"/>
                </a:srgbClr>
              </a:solidFill>
            </a:endParaRPr>
          </a:p>
        </p:txBody>
      </p:sp>
      <p:sp>
        <p:nvSpPr>
          <p:cNvPr id="7" name="Espace réservé du numéro de diapositive 6"/>
          <p:cNvSpPr>
            <a:spLocks noGrp="1"/>
          </p:cNvSpPr>
          <p:nvPr>
            <p:ph type="sldNum" sz="quarter" idx="12"/>
          </p:nvPr>
        </p:nvSpPr>
        <p:spPr>
          <a:xfrm>
            <a:off x="10769600" y="6356351"/>
            <a:ext cx="812800" cy="365125"/>
          </a:xfrm>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
        <p:nvSpPr>
          <p:cNvPr id="3" name="Espace réservé pour une image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smtClean="0"/>
              <a:t>Cliquez sur l'icône pour ajouter une image</a:t>
            </a:r>
            <a:endParaRPr kumimoji="0" lang="en-US" dirty="0"/>
          </a:p>
        </p:txBody>
      </p:sp>
      <p:sp>
        <p:nvSpPr>
          <p:cNvPr id="10" name="Forme libre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
        <p:nvSpPr>
          <p:cNvPr id="11" name="Forme libre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Tree>
    <p:extLst>
      <p:ext uri="{BB962C8B-B14F-4D97-AF65-F5344CB8AC3E}">
        <p14:creationId xmlns:p14="http://schemas.microsoft.com/office/powerpoint/2010/main" val="3404286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5" name="Espace réservé du pied de page 4"/>
          <p:cNvSpPr>
            <a:spLocks noGrp="1"/>
          </p:cNvSpPr>
          <p:nvPr>
            <p:ph type="ftr" sz="quarter" idx="11"/>
          </p:nvPr>
        </p:nvSpPr>
        <p:spPr/>
        <p:txBody>
          <a:bodyPr/>
          <a:lstStyle/>
          <a:p>
            <a:endParaRPr lang="fr-FR">
              <a:solidFill>
                <a:srgbClr val="04617B">
                  <a:shade val="90000"/>
                </a:srgbClr>
              </a:solidFill>
            </a:endParaRPr>
          </a:p>
        </p:txBody>
      </p:sp>
      <p:sp>
        <p:nvSpPr>
          <p:cNvPr id="6" name="Espace réservé du numéro de diapositive 5"/>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3477238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914402"/>
            <a:ext cx="2743200" cy="5211763"/>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609600" y="914402"/>
            <a:ext cx="8026400" cy="5211763"/>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5" name="Espace réservé du pied de page 4"/>
          <p:cNvSpPr>
            <a:spLocks noGrp="1"/>
          </p:cNvSpPr>
          <p:nvPr>
            <p:ph type="ftr" sz="quarter" idx="11"/>
          </p:nvPr>
        </p:nvSpPr>
        <p:spPr/>
        <p:txBody>
          <a:bodyPr/>
          <a:lstStyle/>
          <a:p>
            <a:endParaRPr lang="fr-FR">
              <a:solidFill>
                <a:srgbClr val="04617B">
                  <a:shade val="90000"/>
                </a:srgbClr>
              </a:solidFill>
            </a:endParaRPr>
          </a:p>
        </p:txBody>
      </p:sp>
      <p:sp>
        <p:nvSpPr>
          <p:cNvPr id="6" name="Espace réservé du numéro de diapositive 5"/>
          <p:cNvSpPr>
            <a:spLocks noGrp="1"/>
          </p:cNvSpPr>
          <p:nvPr>
            <p:ph type="sldNum" sz="quarter" idx="12"/>
          </p:nvPr>
        </p:nvSpPr>
        <p:spPr/>
        <p:txBody>
          <a:body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spTree>
    <p:extLst>
      <p:ext uri="{BB962C8B-B14F-4D97-AF65-F5344CB8AC3E}">
        <p14:creationId xmlns:p14="http://schemas.microsoft.com/office/powerpoint/2010/main" val="518781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orme libre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
        <p:nvSpPr>
          <p:cNvPr id="8" name="Forme libre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
        <p:nvSpPr>
          <p:cNvPr id="9" name="Espace réservé du titre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6B9143B-B07D-449C-9B91-9ADEF1C4D82C}" type="datetimeFigureOut">
              <a:rPr lang="fr-FR" smtClean="0">
                <a:solidFill>
                  <a:srgbClr val="04617B">
                    <a:shade val="90000"/>
                  </a:srgbClr>
                </a:solidFill>
              </a:rPr>
              <a:pPr/>
              <a:t>06/05/2020</a:t>
            </a:fld>
            <a:endParaRPr lang="fr-FR">
              <a:solidFill>
                <a:srgbClr val="04617B">
                  <a:shade val="90000"/>
                </a:srgbClr>
              </a:solidFill>
            </a:endParaRPr>
          </a:p>
        </p:txBody>
      </p:sp>
      <p:sp>
        <p:nvSpPr>
          <p:cNvPr id="22" name="Espace réservé du pied de page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a:solidFill>
                <a:srgbClr val="04617B">
                  <a:shade val="90000"/>
                </a:srgbClr>
              </a:solidFill>
            </a:endParaRPr>
          </a:p>
        </p:txBody>
      </p:sp>
      <p:sp>
        <p:nvSpPr>
          <p:cNvPr id="18" name="Espace réservé du numéro de diapositive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CF6187E-B591-4964-A2B9-B2D8BF002757}" type="slidenum">
              <a:rPr lang="fr-FR" smtClean="0">
                <a:solidFill>
                  <a:srgbClr val="04617B">
                    <a:shade val="90000"/>
                  </a:srgbClr>
                </a:solidFill>
              </a:rPr>
              <a:pPr/>
              <a:t>‹N°›</a:t>
            </a:fld>
            <a:endParaRPr lang="fr-FR">
              <a:solidFill>
                <a:srgbClr val="04617B">
                  <a:shade val="90000"/>
                </a:srgbClr>
              </a:solidFill>
            </a:endParaRPr>
          </a:p>
        </p:txBody>
      </p:sp>
      <p:grpSp>
        <p:nvGrpSpPr>
          <p:cNvPr id="2" name="Groupe 1"/>
          <p:cNvGrpSpPr/>
          <p:nvPr/>
        </p:nvGrpSpPr>
        <p:grpSpPr>
          <a:xfrm>
            <a:off x="-25356" y="202408"/>
            <a:ext cx="12240731" cy="649224"/>
            <a:chOff x="-19045" y="216550"/>
            <a:chExt cx="9180548" cy="649224"/>
          </a:xfrm>
        </p:grpSpPr>
        <p:sp>
          <p:nvSpPr>
            <p:cNvPr id="12" name="Forme lib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sp>
          <p:nvSpPr>
            <p:cNvPr id="13" name="Forme lib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sz="1800">
                <a:solidFill>
                  <a:prstClr val="black"/>
                </a:solidFill>
              </a:endParaRPr>
            </a:p>
          </p:txBody>
        </p:sp>
      </p:grpSp>
    </p:spTree>
    <p:extLst>
      <p:ext uri="{BB962C8B-B14F-4D97-AF65-F5344CB8AC3E}">
        <p14:creationId xmlns:p14="http://schemas.microsoft.com/office/powerpoint/2010/main" val="134806022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à coins arrondis 3"/>
          <p:cNvSpPr/>
          <p:nvPr/>
        </p:nvSpPr>
        <p:spPr>
          <a:xfrm>
            <a:off x="492369" y="1412776"/>
            <a:ext cx="11268222" cy="23432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2" name="Titre 1"/>
          <p:cNvSpPr>
            <a:spLocks noGrp="1"/>
          </p:cNvSpPr>
          <p:nvPr>
            <p:ph type="ctrTitle"/>
          </p:nvPr>
        </p:nvSpPr>
        <p:spPr>
          <a:xfrm>
            <a:off x="633047" y="1628802"/>
            <a:ext cx="11015002" cy="1930324"/>
          </a:xfrm>
          <a:solidFill>
            <a:schemeClr val="bg2"/>
          </a:solidFill>
        </p:spPr>
        <p:txBody>
          <a:bodyPr>
            <a:normAutofit fontScale="90000"/>
          </a:bodyPr>
          <a:lstStyle/>
          <a:p>
            <a:pPr algn="ctr"/>
            <a:r>
              <a:rPr lang="fr-FR" sz="4900" dirty="0" smtClean="0">
                <a:ln w="38100">
                  <a:solidFill>
                    <a:schemeClr val="tx2"/>
                  </a:solidFill>
                </a:ln>
              </a:rPr>
              <a:t>COURS DE SOINS INFIRMIERS EN RAPPORT AVEC L’APPAREIL CARDIO-VASCULAIRE</a:t>
            </a:r>
            <a:r>
              <a:rPr lang="fr-FR" dirty="0" smtClean="0">
                <a:ln w="38100">
                  <a:solidFill>
                    <a:schemeClr val="tx2"/>
                  </a:solidFill>
                </a:ln>
              </a:rPr>
              <a:t/>
            </a:r>
            <a:br>
              <a:rPr lang="fr-FR" dirty="0" smtClean="0">
                <a:ln w="38100">
                  <a:solidFill>
                    <a:schemeClr val="tx2"/>
                  </a:solidFill>
                </a:ln>
              </a:rPr>
            </a:br>
            <a:r>
              <a:rPr lang="fr-FR" sz="2800" dirty="0" smtClean="0">
                <a:ln w="38100">
                  <a:solidFill>
                    <a:schemeClr val="tx2"/>
                  </a:solidFill>
                </a:ln>
              </a:rPr>
              <a:t>AU PROGRAMME DE FORMATION EN PREMIERE ANNEE COMMUNE (Licence 1)</a:t>
            </a:r>
            <a:endParaRPr lang="fr-FR" sz="2800" dirty="0">
              <a:ln w="38100">
                <a:solidFill>
                  <a:schemeClr val="tx2"/>
                </a:solidFill>
              </a:ln>
            </a:endParaRPr>
          </a:p>
        </p:txBody>
      </p:sp>
    </p:spTree>
    <p:extLst>
      <p:ext uri="{BB962C8B-B14F-4D97-AF65-F5344CB8AC3E}">
        <p14:creationId xmlns:p14="http://schemas.microsoft.com/office/powerpoint/2010/main" val="2588633538"/>
      </p:ext>
    </p:extLst>
  </p:cSld>
  <p:clrMapOvr>
    <a:masterClrMapping/>
  </p:clrMapOvr>
  <p:transition spd="slow">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49637" y="622970"/>
            <a:ext cx="5219114" cy="653210"/>
          </a:xfrm>
        </p:spPr>
        <p:txBody>
          <a:bodyPr>
            <a:normAutofit fontScale="90000"/>
          </a:bodyPr>
          <a:lstStyle/>
          <a:p>
            <a:pPr algn="ctr"/>
            <a:r>
              <a:rPr lang="fr-FR" sz="4000" b="1" u="sng" dirty="0" smtClean="0">
                <a:latin typeface="Times New Roman" panose="02020603050405020304" pitchFamily="18" charset="0"/>
                <a:cs typeface="Times New Roman" panose="02020603050405020304" pitchFamily="18" charset="0"/>
              </a:rPr>
              <a:t>TITRES DES COURS</a:t>
            </a:r>
            <a:endParaRPr lang="fr-FR" sz="4000" b="1" u="sng"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971551" y="1557704"/>
            <a:ext cx="10363200" cy="4801314"/>
          </a:xfrm>
          <a:prstGeom prst="rect">
            <a:avLst/>
          </a:prstGeom>
          <a:noFill/>
        </p:spPr>
        <p:txBody>
          <a:bodyPr wrap="square" rtlCol="0">
            <a:spAutoFit/>
          </a:bodyPr>
          <a:lstStyle/>
          <a:p>
            <a:pPr lvl="0"/>
            <a:r>
              <a:rPr lang="fr-FR" sz="3200" dirty="0" smtClean="0">
                <a:latin typeface="Times New Roman" panose="02020603050405020304" pitchFamily="18" charset="0"/>
                <a:cs typeface="Times New Roman" panose="02020603050405020304" pitchFamily="18" charset="0"/>
              </a:rPr>
              <a:t>LE POULS</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LA TENSION </a:t>
            </a:r>
            <a:r>
              <a:rPr lang="fr-FR" sz="3200" dirty="0" smtClean="0">
                <a:latin typeface="Times New Roman" panose="02020603050405020304" pitchFamily="18" charset="0"/>
                <a:cs typeface="Times New Roman" panose="02020603050405020304" pitchFamily="18" charset="0"/>
              </a:rPr>
              <a:t>ARTERIELLE</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COLLAPSUS CARDIO-VASCULAIRE ET </a:t>
            </a:r>
            <a:r>
              <a:rPr lang="fr-FR" sz="3200" dirty="0" smtClean="0">
                <a:latin typeface="Times New Roman" panose="02020603050405020304" pitchFamily="18" charset="0"/>
                <a:cs typeface="Times New Roman" panose="02020603050405020304" pitchFamily="18" charset="0"/>
              </a:rPr>
              <a:t>CHOC</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LES </a:t>
            </a:r>
            <a:r>
              <a:rPr lang="fr-FR" sz="3200" dirty="0" smtClean="0">
                <a:latin typeface="Times New Roman" panose="02020603050405020304" pitchFamily="18" charset="0"/>
                <a:cs typeface="Times New Roman" panose="02020603050405020304" pitchFamily="18" charset="0"/>
              </a:rPr>
              <a:t>INJECTIONS</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LES </a:t>
            </a:r>
            <a:r>
              <a:rPr lang="fr-FR" sz="3200" dirty="0" smtClean="0">
                <a:latin typeface="Times New Roman" panose="02020603050405020304" pitchFamily="18" charset="0"/>
                <a:cs typeface="Times New Roman" panose="02020603050405020304" pitchFamily="18" charset="0"/>
              </a:rPr>
              <a:t>HEMORRAGIES</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LA </a:t>
            </a:r>
            <a:r>
              <a:rPr lang="fr-FR" sz="3200" dirty="0" smtClean="0">
                <a:latin typeface="Times New Roman" panose="02020603050405020304" pitchFamily="18" charset="0"/>
                <a:cs typeface="Times New Roman" panose="02020603050405020304" pitchFamily="18" charset="0"/>
              </a:rPr>
              <a:t>PERFUSION</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LA </a:t>
            </a:r>
            <a:r>
              <a:rPr lang="fr-FR" sz="3200" dirty="0" smtClean="0">
                <a:latin typeface="Times New Roman" panose="02020603050405020304" pitchFamily="18" charset="0"/>
                <a:cs typeface="Times New Roman" panose="02020603050405020304" pitchFamily="18" charset="0"/>
              </a:rPr>
              <a:t>TRANSFUSION</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PRINCIPAUX SIGNES D’ATTEINTE DE L’APPAREIL </a:t>
            </a:r>
            <a:r>
              <a:rPr lang="fr-FR" sz="3200" dirty="0" smtClean="0">
                <a:latin typeface="Times New Roman" panose="02020603050405020304" pitchFamily="18" charset="0"/>
                <a:cs typeface="Times New Roman" panose="02020603050405020304" pitchFamily="18" charset="0"/>
              </a:rPr>
              <a:t>CARDIO-VASCULAIRE</a:t>
            </a:r>
            <a:endParaRPr lang="fr-FR" sz="3200" dirty="0">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101650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81836" y="2472744"/>
            <a:ext cx="6748529" cy="1493948"/>
          </a:xfrm>
          <a:solidFill>
            <a:schemeClr val="bg2"/>
          </a:solidFill>
          <a:ln w="2857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Autofit/>
            <a:scene3d>
              <a:camera prst="orthographicFront"/>
              <a:lightRig rig="freezing" dir="t">
                <a:rot lat="0" lon="0" rev="5640000"/>
              </a:lightRig>
            </a:scene3d>
            <a:sp3d prstMaterial="flat">
              <a:contourClr>
                <a:schemeClr val="tx2"/>
              </a:contourClr>
            </a:sp3d>
          </a:bodyPr>
          <a:lstStyle/>
          <a:p>
            <a:pPr algn="ctr"/>
            <a:r>
              <a:rPr lang="fr-FR" sz="9600" dirty="0" smtClean="0">
                <a:solidFill>
                  <a:schemeClr val="tx1"/>
                </a:solidFill>
                <a:latin typeface="Times New Roman" panose="02020603050405020304" pitchFamily="18" charset="0"/>
                <a:cs typeface="Times New Roman" panose="02020603050405020304" pitchFamily="18" charset="0"/>
              </a:rPr>
              <a:t>LE</a:t>
            </a:r>
            <a:r>
              <a:rPr lang="fr-FR" sz="9600" dirty="0" smtClean="0">
                <a:latin typeface="Times New Roman" panose="02020603050405020304" pitchFamily="18" charset="0"/>
                <a:cs typeface="Times New Roman" panose="02020603050405020304" pitchFamily="18" charset="0"/>
              </a:rPr>
              <a:t> </a:t>
            </a:r>
            <a:r>
              <a:rPr lang="fr-FR" sz="9600" dirty="0" smtClean="0">
                <a:solidFill>
                  <a:schemeClr val="tx1"/>
                </a:solidFill>
                <a:latin typeface="Times New Roman" panose="02020603050405020304" pitchFamily="18" charset="0"/>
                <a:cs typeface="Times New Roman" panose="02020603050405020304" pitchFamily="18" charset="0"/>
              </a:rPr>
              <a:t>POULS</a:t>
            </a:r>
            <a:endParaRPr lang="fr-FR" sz="9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83687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2"/>
          <p:cNvSpPr>
            <a:spLocks noGrp="1"/>
          </p:cNvSpPr>
          <p:nvPr>
            <p:ph idx="1"/>
          </p:nvPr>
        </p:nvSpPr>
        <p:spPr>
          <a:xfrm>
            <a:off x="571500" y="476251"/>
            <a:ext cx="11269014" cy="6210299"/>
          </a:xfrm>
        </p:spPr>
        <p:style>
          <a:lnRef idx="1">
            <a:schemeClr val="accent1"/>
          </a:lnRef>
          <a:fillRef idx="2">
            <a:schemeClr val="accent1"/>
          </a:fillRef>
          <a:effectRef idx="1">
            <a:schemeClr val="accent1"/>
          </a:effectRef>
          <a:fontRef idx="minor">
            <a:schemeClr val="dk1"/>
          </a:fontRef>
        </p:style>
        <p:txBody>
          <a:bodyPr>
            <a:normAutofit lnSpcReduction="10000"/>
          </a:bodyPr>
          <a:lstStyle/>
          <a:p>
            <a:pPr marL="0" indent="0" algn="ctr">
              <a:buNone/>
            </a:pPr>
            <a:r>
              <a:rPr lang="fr-FR" sz="3200" u="sng" dirty="0">
                <a:solidFill>
                  <a:srgbClr val="C00000"/>
                </a:solidFill>
                <a:latin typeface="Times New Roman" panose="02020603050405020304" pitchFamily="18" charset="0"/>
                <a:cs typeface="Times New Roman" panose="02020603050405020304" pitchFamily="18" charset="0"/>
              </a:rPr>
              <a:t>OBJECTIF GENERAL</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dirty="0">
                <a:latin typeface="Times New Roman" panose="02020603050405020304" pitchFamily="18" charset="0"/>
                <a:cs typeface="Times New Roman" panose="02020603050405020304" pitchFamily="18" charset="0"/>
              </a:rPr>
              <a:t>L’étudiant de la 1</a:t>
            </a:r>
            <a:r>
              <a:rPr lang="fr-FR" sz="3200" baseline="30000" dirty="0">
                <a:latin typeface="Times New Roman" panose="02020603050405020304" pitchFamily="18" charset="0"/>
                <a:cs typeface="Times New Roman" panose="02020603050405020304" pitchFamily="18" charset="0"/>
              </a:rPr>
              <a:t>ère</a:t>
            </a:r>
            <a:r>
              <a:rPr lang="fr-FR" sz="3200" dirty="0">
                <a:latin typeface="Times New Roman" panose="02020603050405020304" pitchFamily="18" charset="0"/>
                <a:cs typeface="Times New Roman" panose="02020603050405020304" pitchFamily="18" charset="0"/>
              </a:rPr>
              <a:t> AC doit pouvoir acquérir des connaissances </a:t>
            </a:r>
            <a:r>
              <a:rPr lang="fr-FR" sz="3200" dirty="0" smtClean="0">
                <a:latin typeface="Times New Roman" panose="02020603050405020304" pitchFamily="18" charset="0"/>
                <a:cs typeface="Times New Roman" panose="02020603050405020304" pitchFamily="18" charset="0"/>
              </a:rPr>
              <a:t>théoriques sur </a:t>
            </a:r>
            <a:r>
              <a:rPr lang="fr-FR" sz="3200" dirty="0">
                <a:latin typeface="Times New Roman" panose="02020603050405020304" pitchFamily="18" charset="0"/>
                <a:cs typeface="Times New Roman" panose="02020603050405020304" pitchFamily="18" charset="0"/>
              </a:rPr>
              <a:t>le Pouls.</a:t>
            </a:r>
          </a:p>
          <a:p>
            <a:pPr marL="0" indent="0" algn="ctr">
              <a:buNone/>
            </a:pPr>
            <a:r>
              <a:rPr lang="fr-FR" sz="3200" u="sng" dirty="0">
                <a:solidFill>
                  <a:srgbClr val="C00000"/>
                </a:solidFill>
                <a:latin typeface="Times New Roman" panose="02020603050405020304" pitchFamily="18" charset="0"/>
                <a:cs typeface="Times New Roman" panose="02020603050405020304" pitchFamily="18" charset="0"/>
              </a:rPr>
              <a:t>OBJECTIFS SPECIFIQUES</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dirty="0">
                <a:solidFill>
                  <a:srgbClr val="FF0000"/>
                </a:solidFill>
                <a:latin typeface="Times New Roman" panose="02020603050405020304" pitchFamily="18" charset="0"/>
                <a:cs typeface="Times New Roman" panose="02020603050405020304" pitchFamily="18" charset="0"/>
              </a:rPr>
              <a:t>Au terme de ce cours, l’étudiant de la 1</a:t>
            </a:r>
            <a:r>
              <a:rPr lang="fr-FR" sz="3200" baseline="30000" dirty="0">
                <a:solidFill>
                  <a:srgbClr val="FF0000"/>
                </a:solidFill>
                <a:latin typeface="Times New Roman" panose="02020603050405020304" pitchFamily="18" charset="0"/>
                <a:cs typeface="Times New Roman" panose="02020603050405020304" pitchFamily="18" charset="0"/>
              </a:rPr>
              <a:t>ère</a:t>
            </a:r>
            <a:r>
              <a:rPr lang="fr-FR" sz="3200" dirty="0">
                <a:solidFill>
                  <a:srgbClr val="FF0000"/>
                </a:solidFill>
                <a:latin typeface="Times New Roman" panose="02020603050405020304" pitchFamily="18" charset="0"/>
                <a:cs typeface="Times New Roman" panose="02020603050405020304" pitchFamily="18" charset="0"/>
              </a:rPr>
              <a:t> AC doit être capable :</a:t>
            </a:r>
          </a:p>
          <a:p>
            <a:pPr marL="514350" lvl="0" indent="-514350">
              <a:buFont typeface="+mj-lt"/>
              <a:buAutoNum type="arabicPeriod"/>
            </a:pPr>
            <a:r>
              <a:rPr lang="fr-FR" sz="3200" dirty="0">
                <a:latin typeface="Times New Roman" panose="02020603050405020304" pitchFamily="18" charset="0"/>
                <a:cs typeface="Times New Roman" panose="02020603050405020304" pitchFamily="18" charset="0"/>
              </a:rPr>
              <a:t>de définir le Pouls conformément à l’enseignement reçu ;</a:t>
            </a:r>
          </a:p>
          <a:p>
            <a:pPr marL="514350" lvl="0" indent="-514350">
              <a:buFont typeface="+mj-lt"/>
              <a:buAutoNum type="arabicPeriod"/>
            </a:pPr>
            <a:r>
              <a:rPr lang="fr-FR" sz="3200" dirty="0">
                <a:latin typeface="Times New Roman" panose="02020603050405020304" pitchFamily="18" charset="0"/>
                <a:cs typeface="Times New Roman" panose="02020603050405020304" pitchFamily="18" charset="0"/>
              </a:rPr>
              <a:t>de citer au moins deux sites de prise de Pouls au niveau du membre supérieur et au niveau du membre inférieur ;</a:t>
            </a:r>
          </a:p>
          <a:p>
            <a:pPr marL="514350" lvl="0" indent="-514350">
              <a:buFont typeface="+mj-lt"/>
              <a:buAutoNum type="arabicPeriod"/>
            </a:pPr>
            <a:r>
              <a:rPr lang="fr-FR" sz="3200" dirty="0">
                <a:latin typeface="Times New Roman" panose="02020603050405020304" pitchFamily="18" charset="0"/>
                <a:cs typeface="Times New Roman" panose="02020603050405020304" pitchFamily="18" charset="0"/>
              </a:rPr>
              <a:t>d’expliquer les variations physiologiques et pathologiques du Pouls ;</a:t>
            </a:r>
          </a:p>
          <a:p>
            <a:pPr marL="514350" lvl="0" indent="-514350">
              <a:buFont typeface="+mj-lt"/>
              <a:buAutoNum type="arabicPeriod"/>
            </a:pPr>
            <a:r>
              <a:rPr lang="fr-FR" sz="3200" dirty="0">
                <a:latin typeface="Times New Roman" panose="02020603050405020304" pitchFamily="18" charset="0"/>
                <a:cs typeface="Times New Roman" panose="02020603050405020304" pitchFamily="18" charset="0"/>
              </a:rPr>
              <a:t>de citer le matériel nécessaire à la prise du Pouls</a:t>
            </a:r>
          </a:p>
          <a:p>
            <a:pPr marL="514350" lvl="0" indent="-514350">
              <a:buFont typeface="+mj-lt"/>
              <a:buAutoNum type="arabicPeriod"/>
            </a:pPr>
            <a:r>
              <a:rPr lang="fr-FR" sz="3200" dirty="0">
                <a:latin typeface="Times New Roman" panose="02020603050405020304" pitchFamily="18" charset="0"/>
                <a:cs typeface="Times New Roman" panose="02020603050405020304" pitchFamily="18" charset="0"/>
              </a:rPr>
              <a:t>de décrire sans se tromper, la technique de prise du Pouls.</a:t>
            </a:r>
          </a:p>
        </p:txBody>
      </p:sp>
    </p:spTree>
    <p:extLst>
      <p:ext uri="{BB962C8B-B14F-4D97-AF65-F5344CB8AC3E}">
        <p14:creationId xmlns:p14="http://schemas.microsoft.com/office/powerpoint/2010/main" val="1983020930"/>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05250" y="456438"/>
            <a:ext cx="4495800" cy="800862"/>
          </a:xfrm>
        </p:spPr>
        <p:txBody>
          <a:bodyPr>
            <a:normAutofit fontScale="90000"/>
          </a:bodyPr>
          <a:lstStyle/>
          <a:p>
            <a:pPr algn="ctr"/>
            <a:r>
              <a:rPr lang="fr-FR" dirty="0" smtClean="0">
                <a:solidFill>
                  <a:srgbClr val="C00000"/>
                </a:solidFill>
                <a:latin typeface="Times New Roman" panose="02020603050405020304" pitchFamily="18" charset="0"/>
                <a:cs typeface="Times New Roman" panose="02020603050405020304" pitchFamily="18" charset="0"/>
              </a:rPr>
              <a:t>I. DEFINITION</a:t>
            </a:r>
            <a:endParaRPr lang="fr-FR" dirty="0">
              <a:solidFill>
                <a:srgbClr val="C00000"/>
              </a:solidFill>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609600" y="1752600"/>
            <a:ext cx="10972800" cy="4572000"/>
          </a:xfrm>
        </p:spPr>
        <p:txBody>
          <a:bodyPr>
            <a:normAutofit fontScale="92500" lnSpcReduction="20000"/>
          </a:bodyPr>
          <a:lstStyle/>
          <a:p>
            <a:r>
              <a:rPr lang="fr-FR" sz="3200" dirty="0">
                <a:latin typeface="Times New Roman" panose="02020603050405020304" pitchFamily="18" charset="0"/>
                <a:cs typeface="Times New Roman" panose="02020603050405020304" pitchFamily="18" charset="0"/>
              </a:rPr>
              <a:t>Le Pouls est la sensation de soulèvement perçue par les doigts qui dépriment une artère superficielle sur un plan osseux.</a:t>
            </a:r>
          </a:p>
          <a:p>
            <a:r>
              <a:rPr lang="fr-FR" sz="3200" dirty="0">
                <a:latin typeface="Times New Roman" panose="02020603050405020304" pitchFamily="18" charset="0"/>
                <a:cs typeface="Times New Roman" panose="02020603050405020304" pitchFamily="18" charset="0"/>
              </a:rPr>
              <a:t>C’est la perception tactile d’une onde transmise dans un milieu liquide (le sang) ; cette onde étant déclenchée par les contractions du ventricule gauche et transmise tout le long du système artériel.</a:t>
            </a:r>
          </a:p>
          <a:p>
            <a:pPr marL="0" indent="0">
              <a:buNone/>
            </a:pPr>
            <a:r>
              <a:rPr lang="fr-FR" sz="3200" b="1" u="sng" dirty="0">
                <a:solidFill>
                  <a:srgbClr val="C00000"/>
                </a:solidFill>
                <a:latin typeface="Times New Roman" panose="02020603050405020304" pitchFamily="18" charset="0"/>
                <a:cs typeface="Times New Roman" panose="02020603050405020304" pitchFamily="18" charset="0"/>
              </a:rPr>
              <a:t>Intérêt</a:t>
            </a:r>
            <a:r>
              <a:rPr lang="fr-FR" sz="3200" dirty="0">
                <a:latin typeface="Times New Roman" panose="02020603050405020304" pitchFamily="18" charset="0"/>
                <a:cs typeface="Times New Roman" panose="02020603050405020304" pitchFamily="18" charset="0"/>
              </a:rPr>
              <a:t> :</a:t>
            </a:r>
          </a:p>
          <a:p>
            <a:pPr lvl="0"/>
            <a:r>
              <a:rPr lang="fr-FR" sz="3200" dirty="0">
                <a:latin typeface="Times New Roman" panose="02020603050405020304" pitchFamily="18" charset="0"/>
                <a:cs typeface="Times New Roman" panose="02020603050405020304" pitchFamily="18" charset="0"/>
              </a:rPr>
              <a:t>existence des contractions du cœur (existence d’une activité cardiaque),</a:t>
            </a:r>
          </a:p>
          <a:p>
            <a:pPr lvl="0"/>
            <a:r>
              <a:rPr lang="fr-FR" sz="3200" dirty="0">
                <a:latin typeface="Times New Roman" panose="02020603050405020304" pitchFamily="18" charset="0"/>
                <a:cs typeface="Times New Roman" panose="02020603050405020304" pitchFamily="18" charset="0"/>
              </a:rPr>
              <a:t>force, amplitude des contractions du cœur,</a:t>
            </a:r>
          </a:p>
          <a:p>
            <a:pPr lvl="0"/>
            <a:r>
              <a:rPr lang="fr-FR" sz="3200" dirty="0">
                <a:latin typeface="Times New Roman" panose="02020603050405020304" pitchFamily="18" charset="0"/>
                <a:cs typeface="Times New Roman" panose="02020603050405020304" pitchFamily="18" charset="0"/>
              </a:rPr>
              <a:t>rythme, fréquence des contractions du cœur.</a:t>
            </a:r>
          </a:p>
          <a:p>
            <a:endParaRPr lang="fr-FR" dirty="0"/>
          </a:p>
        </p:txBody>
      </p:sp>
    </p:spTree>
    <p:extLst>
      <p:ext uri="{BB962C8B-B14F-4D97-AF65-F5344CB8AC3E}">
        <p14:creationId xmlns:p14="http://schemas.microsoft.com/office/powerpoint/2010/main" val="28170461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3"/>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24050" y="361188"/>
            <a:ext cx="8286750" cy="1143000"/>
          </a:xfrm>
        </p:spPr>
        <p:txBody>
          <a:bodyPr>
            <a:normAutofit fontScale="90000"/>
          </a:bodyPr>
          <a:lstStyle/>
          <a:p>
            <a:pPr lvl="0" algn="ctr"/>
            <a:r>
              <a:rPr lang="fr-FR" dirty="0">
                <a:solidFill>
                  <a:srgbClr val="C00000"/>
                </a:solidFill>
                <a:latin typeface="Times New Roman" panose="02020603050405020304" pitchFamily="18" charset="0"/>
                <a:cs typeface="Times New Roman" panose="02020603050405020304" pitchFamily="18" charset="0"/>
              </a:rPr>
              <a:t>DIFFERENTS SITES DU POULS</a:t>
            </a:r>
          </a:p>
        </p:txBody>
      </p:sp>
      <p:sp>
        <p:nvSpPr>
          <p:cNvPr id="3" name="Espace réservé du contenu 2"/>
          <p:cNvSpPr>
            <a:spLocks noGrp="1"/>
          </p:cNvSpPr>
          <p:nvPr>
            <p:ph idx="1"/>
          </p:nvPr>
        </p:nvSpPr>
        <p:spPr/>
        <p:txBody>
          <a:bodyPr/>
          <a:lstStyle/>
          <a:p>
            <a:pPr lvl="1"/>
            <a:r>
              <a:rPr lang="fr-FR" sz="3200" b="1" dirty="0">
                <a:latin typeface="Times New Roman" panose="02020603050405020304" pitchFamily="18" charset="0"/>
                <a:cs typeface="Times New Roman" panose="02020603050405020304" pitchFamily="18" charset="0"/>
              </a:rPr>
              <a:t>- </a:t>
            </a:r>
            <a:r>
              <a:rPr lang="fr-FR" sz="3200" b="1" u="sng" dirty="0">
                <a:latin typeface="Times New Roman" panose="02020603050405020304" pitchFamily="18" charset="0"/>
                <a:cs typeface="Times New Roman" panose="02020603050405020304" pitchFamily="18" charset="0"/>
              </a:rPr>
              <a:t>Au Niveau du Membre Supérieur</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Artère radiale (au poignet, sur le prolongement du pouce)</a:t>
            </a:r>
          </a:p>
          <a:p>
            <a:pPr lvl="0"/>
            <a:r>
              <a:rPr lang="fr-FR" sz="3200" dirty="0">
                <a:latin typeface="Times New Roman" panose="02020603050405020304" pitchFamily="18" charset="0"/>
                <a:cs typeface="Times New Roman" panose="02020603050405020304" pitchFamily="18" charset="0"/>
              </a:rPr>
              <a:t>Artère humérale (au pli du coude ou à la face interne du bras)</a:t>
            </a:r>
          </a:p>
          <a:p>
            <a:pPr lvl="1"/>
            <a:r>
              <a:rPr lang="fr-FR" sz="3200" b="1" dirty="0">
                <a:latin typeface="Times New Roman" panose="02020603050405020304" pitchFamily="18" charset="0"/>
                <a:cs typeface="Times New Roman" panose="02020603050405020304" pitchFamily="18" charset="0"/>
              </a:rPr>
              <a:t> - </a:t>
            </a:r>
            <a:r>
              <a:rPr lang="fr-FR" sz="3200" b="1" u="sng" dirty="0">
                <a:latin typeface="Times New Roman" panose="02020603050405020304" pitchFamily="18" charset="0"/>
                <a:cs typeface="Times New Roman" panose="02020603050405020304" pitchFamily="18" charset="0"/>
              </a:rPr>
              <a:t>Au Niveau du Membre Inférieur</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Artère fémorale (au pli de l’aine)</a:t>
            </a:r>
          </a:p>
          <a:p>
            <a:pPr lvl="0"/>
            <a:r>
              <a:rPr lang="fr-FR" sz="3200" dirty="0">
                <a:latin typeface="Times New Roman" panose="02020603050405020304" pitchFamily="18" charset="0"/>
                <a:cs typeface="Times New Roman" panose="02020603050405020304" pitchFamily="18" charset="0"/>
              </a:rPr>
              <a:t>Artère poplitée (derrière le genou)</a:t>
            </a:r>
          </a:p>
          <a:p>
            <a:pPr lvl="0"/>
            <a:r>
              <a:rPr lang="fr-FR" sz="3200" dirty="0">
                <a:latin typeface="Times New Roman" panose="02020603050405020304" pitchFamily="18" charset="0"/>
                <a:cs typeface="Times New Roman" panose="02020603050405020304" pitchFamily="18" charset="0"/>
              </a:rPr>
              <a:t>Artère pédieuse (au dessus du pied)</a:t>
            </a:r>
          </a:p>
          <a:p>
            <a:endParaRPr lang="fr-FR" dirty="0"/>
          </a:p>
        </p:txBody>
      </p:sp>
    </p:spTree>
    <p:extLst>
      <p:ext uri="{BB962C8B-B14F-4D97-AF65-F5344CB8AC3E}">
        <p14:creationId xmlns:p14="http://schemas.microsoft.com/office/powerpoint/2010/main" val="36420098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99760" y="876299"/>
            <a:ext cx="9806390" cy="888601"/>
          </a:xfrm>
        </p:spPr>
        <p:txBody>
          <a:bodyPr>
            <a:normAutofit fontScale="90000"/>
          </a:bodyPr>
          <a:lstStyle/>
          <a:p>
            <a:r>
              <a:rPr lang="fr-FR" dirty="0">
                <a:solidFill>
                  <a:srgbClr val="C00000"/>
                </a:solidFill>
                <a:latin typeface="Times New Roman" panose="02020603050405020304" pitchFamily="18" charset="0"/>
                <a:cs typeface="Times New Roman" panose="02020603050405020304" pitchFamily="18" charset="0"/>
              </a:rPr>
              <a:t>DIFFERENTS SITES DU </a:t>
            </a:r>
            <a:r>
              <a:rPr lang="fr-FR" dirty="0" smtClean="0">
                <a:solidFill>
                  <a:srgbClr val="C00000"/>
                </a:solidFill>
                <a:latin typeface="Times New Roman" panose="02020603050405020304" pitchFamily="18" charset="0"/>
                <a:cs typeface="Times New Roman" panose="02020603050405020304" pitchFamily="18" charset="0"/>
              </a:rPr>
              <a:t>POULS (suite)</a:t>
            </a:r>
            <a:endParaRPr lang="fr-FR"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490940" y="2606546"/>
            <a:ext cx="1121012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FontTx/>
              <a:buAutoNum type="romanUcPeriod"/>
              <a:tabLst>
                <a:tab pos="2286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Au Niveau de la Face et du Cou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Artère temporale (à la tempe)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Carotide externe (devant l’oreille)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Carotide interne (en avant du cou)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AutoNum type="romanUcPeriod"/>
              <a:tabLst>
                <a:tab pos="228600" algn="l"/>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Au Niveau de l’Aorte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Pouls est perçu sous la paroi abdominale, au niveau du nombril.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00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1000"/>
                                        <p:tgtEl>
                                          <p:spTgt spid="4">
                                            <p:txEl>
                                              <p:pRg st="5" end="5"/>
                                            </p:txEl>
                                          </p:spTgt>
                                        </p:tgtEl>
                                      </p:cBhvr>
                                    </p:animEffect>
                                    <p:anim calcmode="lin" valueType="num">
                                      <p:cBhvr>
                                        <p:cTn id="4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0700" y="517397"/>
            <a:ext cx="9067800" cy="762762"/>
          </a:xfrm>
        </p:spPr>
        <p:txBody>
          <a:bodyPr>
            <a:normAutofit fontScale="90000"/>
          </a:bodyPr>
          <a:lstStyle/>
          <a:p>
            <a:pPr algn="ctr"/>
            <a:r>
              <a:rPr lang="fr-FR" dirty="0" smtClean="0">
                <a:latin typeface="Times New Roman" panose="02020603050405020304" pitchFamily="18" charset="0"/>
                <a:cs typeface="Times New Roman" panose="02020603050405020304" pitchFamily="18" charset="0"/>
              </a:rPr>
              <a:t>SHEMA DU SYSTÈME ARTERIEL</a:t>
            </a:r>
            <a:endParaRPr lang="fr-FR" dirty="0">
              <a:latin typeface="Times New Roman" panose="02020603050405020304" pitchFamily="18" charset="0"/>
              <a:cs typeface="Times New Roman" panose="02020603050405020304" pitchFamily="18" charset="0"/>
            </a:endParaRPr>
          </a:p>
        </p:txBody>
      </p:sp>
      <p:pic>
        <p:nvPicPr>
          <p:cNvPr id="4" name="Image 3"/>
          <p:cNvPicPr/>
          <p:nvPr/>
        </p:nvPicPr>
        <p:blipFill rotWithShape="1">
          <a:blip r:embed="rId2" cstate="print">
            <a:extLst>
              <a:ext uri="{28A0092B-C50C-407E-A947-70E740481C1C}">
                <a14:useLocalDpi xmlns:a14="http://schemas.microsoft.com/office/drawing/2010/main" val="0"/>
              </a:ext>
            </a:extLst>
          </a:blip>
          <a:srcRect l="57659" t="12411" r="449" b="9934"/>
          <a:stretch/>
        </p:blipFill>
        <p:spPr bwMode="auto">
          <a:xfrm>
            <a:off x="4889509" y="1280159"/>
            <a:ext cx="3601348" cy="529045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93491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04850" y="514350"/>
            <a:ext cx="10972800" cy="837438"/>
          </a:xfrm>
        </p:spPr>
        <p:txBody>
          <a:bodyPr>
            <a:normAutofit/>
          </a:bodyPr>
          <a:lstStyle/>
          <a:p>
            <a:r>
              <a:rPr lang="fr-FR" b="1" dirty="0"/>
              <a:t> </a:t>
            </a:r>
            <a:r>
              <a:rPr lang="fr-FR" b="1" u="sng" dirty="0"/>
              <a:t>LES VARIATIONS DU </a:t>
            </a:r>
            <a:r>
              <a:rPr lang="fr-FR" b="1" u="sng" dirty="0" smtClean="0"/>
              <a:t>POULS</a:t>
            </a:r>
            <a:endParaRPr lang="fr-FR" dirty="0"/>
          </a:p>
        </p:txBody>
      </p:sp>
      <p:sp>
        <p:nvSpPr>
          <p:cNvPr id="3" name="Espace réservé du contenu 2"/>
          <p:cNvSpPr>
            <a:spLocks noGrp="1"/>
          </p:cNvSpPr>
          <p:nvPr>
            <p:ph idx="1"/>
          </p:nvPr>
        </p:nvSpPr>
        <p:spPr>
          <a:xfrm>
            <a:off x="609600" y="1485900"/>
            <a:ext cx="10972800" cy="5124450"/>
          </a:xfrm>
        </p:spPr>
        <p:txBody>
          <a:bodyPr>
            <a:normAutofit fontScale="92500" lnSpcReduction="10000"/>
          </a:bodyPr>
          <a:lstStyle/>
          <a:p>
            <a:pPr lvl="1" algn="ctr">
              <a:buNone/>
            </a:pPr>
            <a:r>
              <a:rPr lang="fr-FR" sz="3200" b="1" dirty="0" smtClean="0">
                <a:latin typeface="Times New Roman" panose="02020603050405020304" pitchFamily="18" charset="0"/>
                <a:cs typeface="Times New Roman" panose="02020603050405020304" pitchFamily="18" charset="0"/>
              </a:rPr>
              <a:t>I. </a:t>
            </a:r>
            <a:r>
              <a:rPr lang="fr-FR" sz="3200" b="1" u="sng" dirty="0" smtClean="0">
                <a:latin typeface="Times New Roman" panose="02020603050405020304" pitchFamily="18" charset="0"/>
                <a:cs typeface="Times New Roman" panose="02020603050405020304" pitchFamily="18" charset="0"/>
              </a:rPr>
              <a:t>LES VARIATIONS PHYSIOLOGIQUES</a:t>
            </a:r>
            <a:endParaRPr lang="fr-FR" sz="3200" dirty="0" smtClean="0">
              <a:latin typeface="Times New Roman" panose="02020603050405020304" pitchFamily="18" charset="0"/>
              <a:cs typeface="Times New Roman" panose="02020603050405020304" pitchFamily="18" charset="0"/>
            </a:endParaRPr>
          </a:p>
          <a:p>
            <a:pPr marL="514350" lvl="0" indent="-514350">
              <a:buNone/>
            </a:pPr>
            <a:r>
              <a:rPr lang="fr-FR" sz="3200" b="1" dirty="0" smtClean="0">
                <a:latin typeface="Times New Roman" panose="02020603050405020304" pitchFamily="18" charset="0"/>
                <a:cs typeface="Times New Roman" panose="02020603050405020304" pitchFamily="18" charset="0"/>
              </a:rPr>
              <a:t>1. Selon </a:t>
            </a:r>
            <a:r>
              <a:rPr lang="fr-FR" sz="3200" b="1" dirty="0">
                <a:latin typeface="Times New Roman" panose="02020603050405020304" pitchFamily="18" charset="0"/>
                <a:cs typeface="Times New Roman" panose="02020603050405020304" pitchFamily="18" charset="0"/>
              </a:rPr>
              <a:t>l’Age :</a:t>
            </a:r>
            <a:endParaRPr lang="fr-FR" sz="3200" dirty="0">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Fœtus 			=  	140 à 160 pulsations/Min</a:t>
            </a:r>
          </a:p>
          <a:p>
            <a:pPr lvl="1"/>
            <a:r>
              <a:rPr lang="fr-FR" sz="3200" dirty="0">
                <a:latin typeface="Times New Roman" panose="02020603050405020304" pitchFamily="18" charset="0"/>
                <a:cs typeface="Times New Roman" panose="02020603050405020304" pitchFamily="18" charset="0"/>
              </a:rPr>
              <a:t>A la naissance		=	130 à 160 pulsations/Min</a:t>
            </a:r>
          </a:p>
          <a:p>
            <a:pPr lvl="1"/>
            <a:r>
              <a:rPr lang="fr-FR" sz="3200" dirty="0">
                <a:latin typeface="Times New Roman" panose="02020603050405020304" pitchFamily="18" charset="0"/>
                <a:cs typeface="Times New Roman" panose="02020603050405020304" pitchFamily="18" charset="0"/>
              </a:rPr>
              <a:t>A 4 mois		=	130 pulsations/Min</a:t>
            </a:r>
          </a:p>
          <a:p>
            <a:pPr lvl="1"/>
            <a:r>
              <a:rPr lang="fr-FR" sz="3200" dirty="0">
                <a:latin typeface="Times New Roman" panose="02020603050405020304" pitchFamily="18" charset="0"/>
                <a:cs typeface="Times New Roman" panose="02020603050405020304" pitchFamily="18" charset="0"/>
              </a:rPr>
              <a:t>A un an		=	100 à 130 pulsations/Min</a:t>
            </a:r>
          </a:p>
          <a:p>
            <a:pPr lvl="1"/>
            <a:r>
              <a:rPr lang="fr-FR" sz="3200" dirty="0">
                <a:latin typeface="Times New Roman" panose="02020603050405020304" pitchFamily="18" charset="0"/>
                <a:cs typeface="Times New Roman" panose="02020603050405020304" pitchFamily="18" charset="0"/>
              </a:rPr>
              <a:t>A 5 ans		=	100 pulsations/Min</a:t>
            </a:r>
          </a:p>
          <a:p>
            <a:pPr lvl="1"/>
            <a:r>
              <a:rPr lang="fr-FR" sz="3200" dirty="0">
                <a:latin typeface="Times New Roman" panose="02020603050405020304" pitchFamily="18" charset="0"/>
                <a:cs typeface="Times New Roman" panose="02020603050405020304" pitchFamily="18" charset="0"/>
              </a:rPr>
              <a:t>A 14 ans		=	81 à 85 pulsations/Min</a:t>
            </a:r>
          </a:p>
          <a:p>
            <a:pPr lvl="1"/>
            <a:r>
              <a:rPr lang="fr-FR" sz="3200" dirty="0">
                <a:latin typeface="Times New Roman" panose="02020603050405020304" pitchFamily="18" charset="0"/>
                <a:cs typeface="Times New Roman" panose="02020603050405020304" pitchFamily="18" charset="0"/>
              </a:rPr>
              <a:t>Adulte			=	60 à 80 pulsations/Min</a:t>
            </a:r>
          </a:p>
          <a:p>
            <a:pPr lvl="1"/>
            <a:r>
              <a:rPr lang="fr-FR" sz="3200" dirty="0">
                <a:latin typeface="Times New Roman" panose="02020603050405020304" pitchFamily="18" charset="0"/>
                <a:cs typeface="Times New Roman" panose="02020603050405020304" pitchFamily="18" charset="0"/>
              </a:rPr>
              <a:t>Vieillard		=	60 à 70 pulsations/Min</a:t>
            </a:r>
          </a:p>
          <a:p>
            <a:endParaRPr lang="fr-FR" dirty="0"/>
          </a:p>
        </p:txBody>
      </p:sp>
    </p:spTree>
    <p:extLst>
      <p:ext uri="{BB962C8B-B14F-4D97-AF65-F5344CB8AC3E}">
        <p14:creationId xmlns:p14="http://schemas.microsoft.com/office/powerpoint/2010/main" val="228433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76500" y="681990"/>
            <a:ext cx="8191500" cy="718457"/>
          </a:xfrm>
        </p:spPr>
        <p:txBody>
          <a:bodyPr>
            <a:normAutofit fontScale="90000"/>
          </a:bodyPr>
          <a:lstStyle/>
          <a:p>
            <a:r>
              <a:rPr lang="fr-FR" b="1" u="sng" dirty="0">
                <a:latin typeface="Times New Roman" panose="02020603050405020304" pitchFamily="18" charset="0"/>
                <a:cs typeface="Times New Roman" panose="02020603050405020304" pitchFamily="18" charset="0"/>
              </a:rPr>
              <a:t>LES VARIATIONS DU POULS</a:t>
            </a:r>
            <a:endParaRPr lang="fr-FR"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971550" y="1935480"/>
            <a:ext cx="10610850" cy="3646170"/>
          </a:xfrm>
        </p:spPr>
        <p:txBody>
          <a:bodyPr>
            <a:normAutofit lnSpcReduction="10000"/>
          </a:bodyPr>
          <a:lstStyle/>
          <a:p>
            <a:pPr marL="514350" lvl="0" indent="-514350">
              <a:buNone/>
            </a:pPr>
            <a:r>
              <a:rPr lang="fr-FR" sz="3200" b="1" dirty="0" smtClean="0">
                <a:latin typeface="Times New Roman" panose="02020603050405020304" pitchFamily="18" charset="0"/>
                <a:cs typeface="Times New Roman" panose="02020603050405020304" pitchFamily="18" charset="0"/>
              </a:rPr>
              <a:t>2. Selon l’Emotion</a:t>
            </a: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Toute émotion physique ou morale, provoque une accélération du rythme cardiaque ou parfois un ralentissement du rythme.</a:t>
            </a:r>
          </a:p>
          <a:p>
            <a:pPr lvl="0">
              <a:buNone/>
            </a:pPr>
            <a:r>
              <a:rPr lang="fr-FR" sz="3200" b="1" dirty="0" smtClean="0">
                <a:latin typeface="Times New Roman" panose="02020603050405020304" pitchFamily="18" charset="0"/>
                <a:cs typeface="Times New Roman" panose="02020603050405020304" pitchFamily="18" charset="0"/>
              </a:rPr>
              <a:t>3. Selon </a:t>
            </a:r>
            <a:r>
              <a:rPr lang="fr-FR" sz="3200" b="1" dirty="0">
                <a:latin typeface="Times New Roman" panose="02020603050405020304" pitchFamily="18" charset="0"/>
                <a:cs typeface="Times New Roman" panose="02020603050405020304" pitchFamily="18" charset="0"/>
              </a:rPr>
              <a:t>l’Effort</a:t>
            </a: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Tout effort entraîne une accélération du rythme qui correspond à l’accélération des contractions cardiaques</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33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057400" y="456438"/>
            <a:ext cx="8191500" cy="615261"/>
          </a:xfrm>
        </p:spPr>
        <p:txBody>
          <a:bodyPr>
            <a:normAutofit fontScale="90000"/>
          </a:bodyPr>
          <a:lstStyle/>
          <a:p>
            <a:r>
              <a:rPr lang="fr-FR" b="1" u="sng" dirty="0" smtClean="0">
                <a:latin typeface="Times New Roman" panose="02020603050405020304" pitchFamily="18" charset="0"/>
                <a:cs typeface="Times New Roman" panose="02020603050405020304" pitchFamily="18" charset="0"/>
              </a:rPr>
              <a:t>LES VARIATIONS DU POULS</a:t>
            </a:r>
            <a:endParaRPr lang="fr-FR"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228600" y="1285892"/>
            <a:ext cx="117348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7388" algn="l"/>
              </a:tabLst>
              <a:defRPr>
                <a:solidFill>
                  <a:schemeClr val="tx1"/>
                </a:solidFill>
                <a:latin typeface="Arial" panose="020B0604020202020204" pitchFamily="34" charset="0"/>
              </a:defRPr>
            </a:lvl1pPr>
            <a:lvl2pPr eaLnBrk="0" fontAlgn="base" hangingPunct="0">
              <a:spcBef>
                <a:spcPct val="0"/>
              </a:spcBef>
              <a:spcAft>
                <a:spcPct val="0"/>
              </a:spcAft>
              <a:tabLst>
                <a:tab pos="687388" algn="l"/>
              </a:tabLst>
              <a:defRPr>
                <a:solidFill>
                  <a:schemeClr val="tx1"/>
                </a:solidFill>
                <a:latin typeface="Arial" panose="020B0604020202020204" pitchFamily="34" charset="0"/>
              </a:defRPr>
            </a:lvl2pPr>
            <a:lvl3pPr eaLnBrk="0" fontAlgn="base" hangingPunct="0">
              <a:spcBef>
                <a:spcPct val="0"/>
              </a:spcBef>
              <a:spcAft>
                <a:spcPct val="0"/>
              </a:spcAft>
              <a:tabLst>
                <a:tab pos="687388" algn="l"/>
              </a:tabLst>
              <a:defRPr>
                <a:solidFill>
                  <a:schemeClr val="tx1"/>
                </a:solidFill>
                <a:latin typeface="Arial" panose="020B0604020202020204" pitchFamily="34" charset="0"/>
              </a:defRPr>
            </a:lvl3pPr>
            <a:lvl4pPr eaLnBrk="0" fontAlgn="base" hangingPunct="0">
              <a:spcBef>
                <a:spcPct val="0"/>
              </a:spcBef>
              <a:spcAft>
                <a:spcPct val="0"/>
              </a:spcAft>
              <a:tabLst>
                <a:tab pos="687388" algn="l"/>
              </a:tabLst>
              <a:defRPr>
                <a:solidFill>
                  <a:schemeClr val="tx1"/>
                </a:solidFill>
                <a:latin typeface="Arial" panose="020B0604020202020204" pitchFamily="34" charset="0"/>
              </a:defRPr>
            </a:lvl4pPr>
            <a:lvl5pPr eaLnBrk="0" fontAlgn="base" hangingPunct="0">
              <a:spcBef>
                <a:spcPct val="0"/>
              </a:spcBef>
              <a:spcAft>
                <a:spcPct val="0"/>
              </a:spcAft>
              <a:tabLst>
                <a:tab pos="687388" algn="l"/>
              </a:tabLst>
              <a:defRPr>
                <a:solidFill>
                  <a:schemeClr val="tx1"/>
                </a:solidFill>
                <a:latin typeface="Arial" panose="020B0604020202020204" pitchFamily="34" charset="0"/>
              </a:defRPr>
            </a:lvl5pPr>
            <a:lvl6pPr eaLnBrk="0" fontAlgn="base" hangingPunct="0">
              <a:spcBef>
                <a:spcPct val="0"/>
              </a:spcBef>
              <a:spcAft>
                <a:spcPct val="0"/>
              </a:spcAft>
              <a:tabLst>
                <a:tab pos="687388" algn="l"/>
              </a:tabLst>
              <a:defRPr>
                <a:solidFill>
                  <a:schemeClr val="tx1"/>
                </a:solidFill>
                <a:latin typeface="Arial" panose="020B0604020202020204" pitchFamily="34" charset="0"/>
              </a:defRPr>
            </a:lvl6pPr>
            <a:lvl7pPr eaLnBrk="0" fontAlgn="base" hangingPunct="0">
              <a:spcBef>
                <a:spcPct val="0"/>
              </a:spcBef>
              <a:spcAft>
                <a:spcPct val="0"/>
              </a:spcAft>
              <a:tabLst>
                <a:tab pos="687388" algn="l"/>
              </a:tabLst>
              <a:defRPr>
                <a:solidFill>
                  <a:schemeClr val="tx1"/>
                </a:solidFill>
                <a:latin typeface="Arial" panose="020B0604020202020204" pitchFamily="34" charset="0"/>
              </a:defRPr>
            </a:lvl7pPr>
            <a:lvl8pPr eaLnBrk="0" fontAlgn="base" hangingPunct="0">
              <a:spcBef>
                <a:spcPct val="0"/>
              </a:spcBef>
              <a:spcAft>
                <a:spcPct val="0"/>
              </a:spcAft>
              <a:tabLst>
                <a:tab pos="687388" algn="l"/>
              </a:tabLst>
              <a:defRPr>
                <a:solidFill>
                  <a:schemeClr val="tx1"/>
                </a:solidFill>
                <a:latin typeface="Arial" panose="020B0604020202020204" pitchFamily="34" charset="0"/>
              </a:defRPr>
            </a:lvl8pPr>
            <a:lvl9pPr eaLnBrk="0" fontAlgn="base" hangingPunct="0">
              <a:spcBef>
                <a:spcPct val="0"/>
              </a:spcBef>
              <a:spcAft>
                <a:spcPct val="0"/>
              </a:spcAft>
              <a:tabLst>
                <a:tab pos="687388" algn="l"/>
              </a:tabLst>
              <a:defRPr>
                <a:solidFill>
                  <a:schemeClr val="tx1"/>
                </a:solidFill>
                <a:latin typeface="Arial" panose="020B0604020202020204" pitchFamily="34" charset="0"/>
              </a:defRPr>
            </a:lvl9pPr>
          </a:lstStyle>
          <a:p>
            <a:pPr marL="457200" marR="0" lvl="1" indent="0" algn="ctr" defTabSz="914400" rtl="0" eaLnBrk="0" fontAlgn="base" latinLnBrk="0" hangingPunct="0">
              <a:lnSpc>
                <a:spcPct val="100000"/>
              </a:lnSpc>
              <a:spcBef>
                <a:spcPct val="0"/>
              </a:spcBef>
              <a:spcAft>
                <a:spcPct val="0"/>
              </a:spcAft>
              <a:buClrTx/>
              <a:buSzTx/>
              <a:buNone/>
              <a:tabLst>
                <a:tab pos="687388" algn="l"/>
              </a:tabLst>
            </a:pPr>
            <a:r>
              <a:rPr kumimoji="0" lang="fr-FR" altLang="fr-FR" sz="3200" b="1" i="0"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II.</a:t>
            </a:r>
            <a:r>
              <a:rPr kumimoji="0" lang="fr-FR" altLang="fr-FR" sz="3200" b="1" i="0" strike="noStrike" cap="none" normalizeH="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Variations Pathologiques</a:t>
            </a:r>
          </a:p>
          <a:p>
            <a:pPr marL="457200" marR="0" lvl="1" indent="0" algn="ctr" defTabSz="914400" rtl="0" eaLnBrk="0" fontAlgn="base" latinLnBrk="0" hangingPunct="0">
              <a:lnSpc>
                <a:spcPct val="100000"/>
              </a:lnSpc>
              <a:spcBef>
                <a:spcPct val="0"/>
              </a:spcBef>
              <a:spcAft>
                <a:spcPct val="0"/>
              </a:spcAft>
              <a:buClrTx/>
              <a:buSzTx/>
              <a:buNone/>
              <a:tabLst>
                <a:tab pos="687388"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6873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variations du Pouls reflètent l’état du cœur. Elles sont en rapport avec la vitesse, la fréquence et l’amplitude cardiaque.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687388"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Variation selon la vitesse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6873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Pouls peut être accéléré ; on parle de tachycardie. Elle se rencontre dans les affections cardiaques, les états fébriles et les intoxications.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6873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Pouls peut être ralenti ; on parle de bradycardie. Elle se rencontre dans les affections cardiaques et peut être provoquée par la prise de certains médicaments (la Digitaline).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6509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33400" y="1676400"/>
            <a:ext cx="10972800" cy="4438650"/>
          </a:xfrm>
        </p:spPr>
        <p:txBody>
          <a:bodyPr/>
          <a:lstStyle/>
          <a:p>
            <a:pPr marL="0" lvl="0" indent="0">
              <a:buNone/>
            </a:pPr>
            <a:r>
              <a:rPr lang="fr-FR" sz="3200" b="1" dirty="0" smtClean="0">
                <a:latin typeface="Times New Roman" panose="02020603050405020304" pitchFamily="18" charset="0"/>
                <a:cs typeface="Times New Roman" panose="02020603050405020304" pitchFamily="18" charset="0"/>
              </a:rPr>
              <a:t>2. Variation </a:t>
            </a:r>
            <a:r>
              <a:rPr lang="fr-FR" sz="3200" b="1" dirty="0">
                <a:latin typeface="Times New Roman" panose="02020603050405020304" pitchFamily="18" charset="0"/>
                <a:cs typeface="Times New Roman" panose="02020603050405020304" pitchFamily="18" charset="0"/>
              </a:rPr>
              <a:t>selon la fréquence</a:t>
            </a:r>
            <a:endParaRPr lang="en-US" sz="3200" dirty="0">
              <a:latin typeface="Times New Roman" panose="02020603050405020304" pitchFamily="18" charset="0"/>
              <a:cs typeface="Times New Roman" panose="02020603050405020304" pitchFamily="18" charset="0"/>
            </a:endParaRPr>
          </a:p>
          <a:p>
            <a:pPr lvl="1"/>
            <a:r>
              <a:rPr lang="fr-FR" sz="3200" b="1" dirty="0">
                <a:latin typeface="Times New Roman" panose="02020603050405020304" pitchFamily="18" charset="0"/>
                <a:cs typeface="Times New Roman" panose="02020603050405020304" pitchFamily="18" charset="0"/>
              </a:rPr>
              <a:t>L’Arythmie :</a:t>
            </a:r>
            <a:r>
              <a:rPr lang="fr-FR" sz="3200" dirty="0">
                <a:latin typeface="Times New Roman" panose="02020603050405020304" pitchFamily="18" charset="0"/>
                <a:cs typeface="Times New Roman" panose="02020603050405020304" pitchFamily="18" charset="0"/>
              </a:rPr>
              <a:t> ce sont des pulsations irrégulières et de forces inégales. Lorsque le rythme est rapide, on dit qu’il y a tachyarythmie ; et lorsqu’il est lent, c’est une </a:t>
            </a:r>
            <a:r>
              <a:rPr lang="fr-FR" sz="3200" dirty="0" err="1">
                <a:latin typeface="Times New Roman" panose="02020603050405020304" pitchFamily="18" charset="0"/>
                <a:cs typeface="Times New Roman" panose="02020603050405020304" pitchFamily="18" charset="0"/>
              </a:rPr>
              <a:t>bradyarythmie</a:t>
            </a:r>
            <a:r>
              <a:rPr lang="fr-FR"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lvl="1"/>
            <a:r>
              <a:rPr lang="fr-FR" sz="3200" b="1" dirty="0">
                <a:latin typeface="Times New Roman" panose="02020603050405020304" pitchFamily="18" charset="0"/>
                <a:cs typeface="Times New Roman" panose="02020603050405020304" pitchFamily="18" charset="0"/>
              </a:rPr>
              <a:t>Pouls Alternant :</a:t>
            </a:r>
            <a:r>
              <a:rPr lang="fr-FR" sz="3200" dirty="0">
                <a:latin typeface="Times New Roman" panose="02020603050405020304" pitchFamily="18" charset="0"/>
                <a:cs typeface="Times New Roman" panose="02020603050405020304" pitchFamily="18" charset="0"/>
              </a:rPr>
              <a:t> c’est une succession rythmée de pulsations normales et d’une pulsation faible.</a:t>
            </a:r>
            <a:endParaRPr lang="en-US" sz="3200" dirty="0">
              <a:latin typeface="Times New Roman" panose="02020603050405020304" pitchFamily="18" charset="0"/>
              <a:cs typeface="Times New Roman" panose="02020603050405020304" pitchFamily="18" charset="0"/>
            </a:endParaRPr>
          </a:p>
          <a:p>
            <a:pPr lvl="1"/>
            <a:r>
              <a:rPr lang="fr-FR" sz="3200" b="1" dirty="0">
                <a:latin typeface="Times New Roman" panose="02020603050405020304" pitchFamily="18" charset="0"/>
                <a:cs typeface="Times New Roman" panose="02020603050405020304" pitchFamily="18" charset="0"/>
              </a:rPr>
              <a:t>Pouls Intermittent :</a:t>
            </a:r>
            <a:r>
              <a:rPr lang="fr-FR" sz="3200" dirty="0">
                <a:latin typeface="Times New Roman" panose="02020603050405020304" pitchFamily="18" charset="0"/>
                <a:cs typeface="Times New Roman" panose="02020603050405020304" pitchFamily="18" charset="0"/>
              </a:rPr>
              <a:t> c’est une interruption temporaire des pulsations</a:t>
            </a:r>
            <a:r>
              <a:rPr lang="fr-FR"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4" name="Titre 1"/>
          <p:cNvSpPr>
            <a:spLocks noGrp="1"/>
          </p:cNvSpPr>
          <p:nvPr>
            <p:ph type="title"/>
          </p:nvPr>
        </p:nvSpPr>
        <p:spPr>
          <a:xfrm>
            <a:off x="1257300" y="665988"/>
            <a:ext cx="9886950" cy="615261"/>
          </a:xfrm>
        </p:spPr>
        <p:txBody>
          <a:bodyPr>
            <a:normAutofit fontScale="90000"/>
          </a:bodyPr>
          <a:lstStyle/>
          <a:p>
            <a:r>
              <a:rPr lang="fr-FR" b="1" u="sng" dirty="0" smtClean="0">
                <a:latin typeface="Times New Roman" panose="02020603050405020304" pitchFamily="18" charset="0"/>
                <a:cs typeface="Times New Roman" panose="02020603050405020304" pitchFamily="18" charset="0"/>
              </a:rPr>
              <a:t>LES VARIATIONS DU POULS (suite)</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4967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935480"/>
            <a:ext cx="10972800" cy="3931919"/>
          </a:xfrm>
        </p:spPr>
        <p:txBody>
          <a:bodyPr>
            <a:normAutofit/>
          </a:bodyPr>
          <a:lstStyle/>
          <a:p>
            <a:pPr marL="0" lvl="0" indent="0">
              <a:buNone/>
            </a:pPr>
            <a:r>
              <a:rPr lang="fr-FR" sz="2800" b="1" dirty="0" smtClean="0"/>
              <a:t>3</a:t>
            </a:r>
            <a:r>
              <a:rPr lang="fr-FR" sz="3200" b="1" dirty="0" smtClean="0">
                <a:latin typeface="Times New Roman" panose="02020603050405020304" pitchFamily="18" charset="0"/>
                <a:cs typeface="Times New Roman" panose="02020603050405020304" pitchFamily="18" charset="0"/>
              </a:rPr>
              <a:t>. Variation </a:t>
            </a:r>
            <a:r>
              <a:rPr lang="fr-FR" sz="3200" b="1" dirty="0">
                <a:latin typeface="Times New Roman" panose="02020603050405020304" pitchFamily="18" charset="0"/>
                <a:cs typeface="Times New Roman" panose="02020603050405020304" pitchFamily="18" charset="0"/>
              </a:rPr>
              <a:t>selon l’amplitude</a:t>
            </a:r>
            <a:endParaRPr lang="en-US" sz="3200" dirty="0">
              <a:latin typeface="Times New Roman" panose="02020603050405020304" pitchFamily="18" charset="0"/>
              <a:cs typeface="Times New Roman" panose="02020603050405020304" pitchFamily="18" charset="0"/>
            </a:endParaRPr>
          </a:p>
          <a:p>
            <a:pPr lvl="1"/>
            <a:r>
              <a:rPr lang="fr-FR" sz="3200" b="1" dirty="0">
                <a:latin typeface="Times New Roman" panose="02020603050405020304" pitchFamily="18" charset="0"/>
                <a:cs typeface="Times New Roman" panose="02020603050405020304" pitchFamily="18" charset="0"/>
              </a:rPr>
              <a:t>Pouls Filiforme :</a:t>
            </a:r>
            <a:r>
              <a:rPr lang="fr-FR" sz="3200" dirty="0">
                <a:latin typeface="Times New Roman" panose="02020603050405020304" pitchFamily="18" charset="0"/>
                <a:cs typeface="Times New Roman" panose="02020603050405020304" pitchFamily="18" charset="0"/>
              </a:rPr>
              <a:t> c’est un pouls petit et rapide, donnant aux doigts la sensation d’un fil</a:t>
            </a:r>
            <a:r>
              <a:rPr lang="fr-FR"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lvl="1"/>
            <a:r>
              <a:rPr lang="fr-FR" sz="3200" b="1" dirty="0" smtClean="0">
                <a:latin typeface="Times New Roman" panose="02020603050405020304" pitchFamily="18" charset="0"/>
                <a:cs typeface="Times New Roman" panose="02020603050405020304" pitchFamily="18" charset="0"/>
              </a:rPr>
              <a:t>Pouls </a:t>
            </a:r>
            <a:r>
              <a:rPr lang="fr-FR" sz="3200" b="1" dirty="0">
                <a:latin typeface="Times New Roman" panose="02020603050405020304" pitchFamily="18" charset="0"/>
                <a:cs typeface="Times New Roman" panose="02020603050405020304" pitchFamily="18" charset="0"/>
              </a:rPr>
              <a:t>Dicrote :</a:t>
            </a:r>
            <a:r>
              <a:rPr lang="fr-FR" sz="3200" dirty="0">
                <a:latin typeface="Times New Roman" panose="02020603050405020304" pitchFamily="18" charset="0"/>
                <a:cs typeface="Times New Roman" panose="02020603050405020304" pitchFamily="18" charset="0"/>
              </a:rPr>
              <a:t> c’est un pouls donnant deux pulsations pour une contraction cardiaque.</a:t>
            </a:r>
            <a:endParaRPr lang="en-US" sz="3200" dirty="0">
              <a:latin typeface="Times New Roman" panose="02020603050405020304" pitchFamily="18" charset="0"/>
              <a:cs typeface="Times New Roman" panose="02020603050405020304" pitchFamily="18" charset="0"/>
            </a:endParaRPr>
          </a:p>
          <a:p>
            <a:pPr lvl="1"/>
            <a:r>
              <a:rPr lang="fr-FR" sz="3200" b="1" dirty="0">
                <a:latin typeface="Times New Roman" panose="02020603050405020304" pitchFamily="18" charset="0"/>
                <a:cs typeface="Times New Roman" panose="02020603050405020304" pitchFamily="18" charset="0"/>
              </a:rPr>
              <a:t>Pouls Bondissant :</a:t>
            </a:r>
            <a:r>
              <a:rPr lang="fr-FR" sz="3200" dirty="0">
                <a:latin typeface="Times New Roman" panose="02020603050405020304" pitchFamily="18" charset="0"/>
                <a:cs typeface="Times New Roman" panose="02020603050405020304" pitchFamily="18" charset="0"/>
              </a:rPr>
              <a:t> c’est la perception d’un soulèvement brusque et intense.</a:t>
            </a:r>
            <a:endParaRPr lang="en-US" sz="3200" dirty="0">
              <a:latin typeface="Times New Roman" panose="02020603050405020304" pitchFamily="18" charset="0"/>
              <a:cs typeface="Times New Roman" panose="02020603050405020304" pitchFamily="18" charset="0"/>
            </a:endParaRPr>
          </a:p>
          <a:p>
            <a:endParaRPr lang="en-US" dirty="0"/>
          </a:p>
        </p:txBody>
      </p:sp>
      <p:sp>
        <p:nvSpPr>
          <p:cNvPr id="4" name="Titre 1"/>
          <p:cNvSpPr>
            <a:spLocks noGrp="1"/>
          </p:cNvSpPr>
          <p:nvPr>
            <p:ph type="title"/>
          </p:nvPr>
        </p:nvSpPr>
        <p:spPr>
          <a:xfrm>
            <a:off x="1276350" y="494538"/>
            <a:ext cx="9867900" cy="615261"/>
          </a:xfrm>
        </p:spPr>
        <p:txBody>
          <a:bodyPr>
            <a:normAutofit fontScale="90000"/>
          </a:bodyPr>
          <a:lstStyle/>
          <a:p>
            <a:r>
              <a:rPr lang="fr-FR" b="1" u="sng" dirty="0" smtClean="0">
                <a:latin typeface="Times New Roman" panose="02020603050405020304" pitchFamily="18" charset="0"/>
                <a:cs typeface="Times New Roman" panose="02020603050405020304" pitchFamily="18" charset="0"/>
              </a:rPr>
              <a:t>LES VARIATIONS DU POULS (suite)</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639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title"/>
          </p:nvPr>
        </p:nvSpPr>
        <p:spPr bwMode="auto">
          <a:xfrm>
            <a:off x="2596731" y="2143584"/>
            <a:ext cx="647311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tabLst>
                <a:tab pos="685800" algn="l"/>
              </a:tabLst>
            </a:pPr>
            <a:r>
              <a:rPr kumimoji="0" lang="fr-FR" altLang="fr-FR"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PRISE DU POULS</a:t>
            </a:r>
            <a:endParaRPr kumimoji="0" lang="fr-FR" altLang="fr-FR" b="1" i="0" u="sng"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0034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867150" y="951738"/>
            <a:ext cx="3448050" cy="654449"/>
          </a:xfrm>
        </p:spPr>
        <p:txBody>
          <a:bodyPr>
            <a:normAutofit fontScale="90000"/>
          </a:bodyPr>
          <a:lstStyle/>
          <a:p>
            <a:r>
              <a:rPr lang="fr-FR" b="1" u="sng" dirty="0" smtClean="0">
                <a:latin typeface="Times New Roman" panose="02020603050405020304" pitchFamily="18" charset="0"/>
                <a:cs typeface="Times New Roman" panose="02020603050405020304" pitchFamily="18" charset="0"/>
              </a:rPr>
              <a:t>Le Matériel</a:t>
            </a:r>
            <a:endParaRPr lang="fr-FR" dirty="0">
              <a:latin typeface="Times New Roman" panose="02020603050405020304" pitchFamily="18" charset="0"/>
              <a:cs typeface="Times New Roman" panose="02020603050405020304" pitchFamily="18" charset="0"/>
            </a:endParaRPr>
          </a:p>
        </p:txBody>
      </p:sp>
      <p:sp>
        <p:nvSpPr>
          <p:cNvPr id="3" name="Espace réservé du contenu 2"/>
          <p:cNvSpPr>
            <a:spLocks noGrp="1"/>
          </p:cNvSpPr>
          <p:nvPr>
            <p:ph idx="1"/>
          </p:nvPr>
        </p:nvSpPr>
        <p:spPr>
          <a:xfrm>
            <a:off x="609600" y="1935480"/>
            <a:ext cx="10972800" cy="3208020"/>
          </a:xfrm>
        </p:spPr>
        <p:txBody>
          <a:bodyPr/>
          <a:lstStyle/>
          <a:p>
            <a:pPr lvl="1">
              <a:buNone/>
            </a:pPr>
            <a:endParaRPr lang="fr-FR" dirty="0"/>
          </a:p>
          <a:p>
            <a:pPr lvl="1"/>
            <a:r>
              <a:rPr lang="fr-FR" sz="3200" dirty="0">
                <a:latin typeface="Times New Roman" panose="02020603050405020304" pitchFamily="18" charset="0"/>
                <a:cs typeface="Times New Roman" panose="02020603050405020304" pitchFamily="18" charset="0"/>
              </a:rPr>
              <a:t>Une montre avec trotteuse</a:t>
            </a:r>
          </a:p>
          <a:p>
            <a:pPr lvl="1"/>
            <a:r>
              <a:rPr lang="fr-FR" sz="3200" dirty="0">
                <a:latin typeface="Times New Roman" panose="02020603050405020304" pitchFamily="18" charset="0"/>
                <a:cs typeface="Times New Roman" panose="02020603050405020304" pitchFamily="18" charset="0"/>
              </a:rPr>
              <a:t>Un stylo rouge</a:t>
            </a:r>
          </a:p>
          <a:p>
            <a:pPr lvl="1"/>
            <a:r>
              <a:rPr lang="fr-FR" sz="3200" dirty="0">
                <a:latin typeface="Times New Roman" panose="02020603050405020304" pitchFamily="18" charset="0"/>
                <a:cs typeface="Times New Roman" panose="02020603050405020304" pitchFamily="18" charset="0"/>
              </a:rPr>
              <a:t>Une feuille de température ou de surveillance ou le carnet de suivi du </a:t>
            </a:r>
            <a:r>
              <a:rPr lang="fr-FR" sz="3200" dirty="0" smtClean="0">
                <a:latin typeface="Times New Roman" panose="02020603050405020304" pitchFamily="18" charset="0"/>
                <a:cs typeface="Times New Roman" panose="02020603050405020304" pitchFamily="18" charset="0"/>
              </a:rPr>
              <a:t>malade</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4893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65367" y="837438"/>
            <a:ext cx="3814354" cy="654449"/>
          </a:xfrm>
        </p:spPr>
        <p:txBody>
          <a:bodyPr>
            <a:noAutofit/>
          </a:bodyPr>
          <a:lstStyle/>
          <a:p>
            <a:r>
              <a:rPr lang="fr-FR" altLang="fr-FR" sz="4500" b="1" u="sng"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La Technique</a:t>
            </a:r>
            <a:endParaRPr lang="fr-FR" sz="45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3299400" y="1867883"/>
            <a:ext cx="559319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4588" algn="l"/>
              </a:tabLst>
              <a:defRPr>
                <a:solidFill>
                  <a:schemeClr val="tx1"/>
                </a:solidFill>
                <a:latin typeface="Arial" panose="020B0604020202020204" pitchFamily="34" charset="0"/>
              </a:defRPr>
            </a:lvl1pPr>
            <a:lvl2pPr eaLnBrk="0" fontAlgn="base" hangingPunct="0">
              <a:spcBef>
                <a:spcPct val="0"/>
              </a:spcBef>
              <a:spcAft>
                <a:spcPct val="0"/>
              </a:spcAft>
              <a:tabLst>
                <a:tab pos="1144588" algn="l"/>
              </a:tabLst>
              <a:defRPr>
                <a:solidFill>
                  <a:schemeClr val="tx1"/>
                </a:solidFill>
                <a:latin typeface="Arial" panose="020B0604020202020204" pitchFamily="34" charset="0"/>
              </a:defRPr>
            </a:lvl2pPr>
            <a:lvl3pPr eaLnBrk="0" fontAlgn="base" hangingPunct="0">
              <a:spcBef>
                <a:spcPct val="0"/>
              </a:spcBef>
              <a:spcAft>
                <a:spcPct val="0"/>
              </a:spcAft>
              <a:tabLst>
                <a:tab pos="1144588" algn="l"/>
              </a:tabLst>
              <a:defRPr>
                <a:solidFill>
                  <a:schemeClr val="tx1"/>
                </a:solidFill>
                <a:latin typeface="Arial" panose="020B0604020202020204" pitchFamily="34" charset="0"/>
              </a:defRPr>
            </a:lvl3pPr>
            <a:lvl4pPr eaLnBrk="0" fontAlgn="base" hangingPunct="0">
              <a:spcBef>
                <a:spcPct val="0"/>
              </a:spcBef>
              <a:spcAft>
                <a:spcPct val="0"/>
              </a:spcAft>
              <a:tabLst>
                <a:tab pos="1144588" algn="l"/>
              </a:tabLst>
              <a:defRPr>
                <a:solidFill>
                  <a:schemeClr val="tx1"/>
                </a:solidFill>
                <a:latin typeface="Arial" panose="020B0604020202020204" pitchFamily="34" charset="0"/>
              </a:defRPr>
            </a:lvl4pPr>
            <a:lvl5pPr eaLnBrk="0" fontAlgn="base" hangingPunct="0">
              <a:spcBef>
                <a:spcPct val="0"/>
              </a:spcBef>
              <a:spcAft>
                <a:spcPct val="0"/>
              </a:spcAft>
              <a:tabLst>
                <a:tab pos="1144588" algn="l"/>
              </a:tabLst>
              <a:defRPr>
                <a:solidFill>
                  <a:schemeClr val="tx1"/>
                </a:solidFill>
                <a:latin typeface="Arial" panose="020B0604020202020204" pitchFamily="34" charset="0"/>
              </a:defRPr>
            </a:lvl5pPr>
            <a:lvl6pPr eaLnBrk="0" fontAlgn="base" hangingPunct="0">
              <a:spcBef>
                <a:spcPct val="0"/>
              </a:spcBef>
              <a:spcAft>
                <a:spcPct val="0"/>
              </a:spcAft>
              <a:tabLst>
                <a:tab pos="1144588" algn="l"/>
              </a:tabLst>
              <a:defRPr>
                <a:solidFill>
                  <a:schemeClr val="tx1"/>
                </a:solidFill>
                <a:latin typeface="Arial" panose="020B0604020202020204" pitchFamily="34" charset="0"/>
              </a:defRPr>
            </a:lvl6pPr>
            <a:lvl7pPr eaLnBrk="0" fontAlgn="base" hangingPunct="0">
              <a:spcBef>
                <a:spcPct val="0"/>
              </a:spcBef>
              <a:spcAft>
                <a:spcPct val="0"/>
              </a:spcAft>
              <a:tabLst>
                <a:tab pos="1144588" algn="l"/>
              </a:tabLst>
              <a:defRPr>
                <a:solidFill>
                  <a:schemeClr val="tx1"/>
                </a:solidFill>
                <a:latin typeface="Arial" panose="020B0604020202020204" pitchFamily="34" charset="0"/>
              </a:defRPr>
            </a:lvl7pPr>
            <a:lvl8pPr eaLnBrk="0" fontAlgn="base" hangingPunct="0">
              <a:spcBef>
                <a:spcPct val="0"/>
              </a:spcBef>
              <a:spcAft>
                <a:spcPct val="0"/>
              </a:spcAft>
              <a:tabLst>
                <a:tab pos="1144588" algn="l"/>
              </a:tabLst>
              <a:defRPr>
                <a:solidFill>
                  <a:schemeClr val="tx1"/>
                </a:solidFill>
                <a:latin typeface="Arial" panose="020B0604020202020204" pitchFamily="34" charset="0"/>
              </a:defRPr>
            </a:lvl8pPr>
            <a:lvl9pPr eaLnBrk="0" fontAlgn="base" hangingPunct="0">
              <a:spcBef>
                <a:spcPct val="0"/>
              </a:spcBef>
              <a:spcAft>
                <a:spcPct val="0"/>
              </a:spcAft>
              <a:tabLst>
                <a:tab pos="1144588"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La Préparation</a:t>
            </a:r>
            <a:r>
              <a:rPr kumimoji="0" lang="fr-FR" altLang="fr-FR" sz="3200" b="0" i="0" u="none" strike="noStrike" cap="none" normalizeH="0" dirty="0" smtClean="0">
                <a:ln>
                  <a:noFill/>
                </a:ln>
                <a:solidFill>
                  <a:srgbClr val="C00000"/>
                </a:solidFill>
                <a:effectLst/>
                <a:latin typeface="Times New Roman" panose="02020603050405020304" pitchFamily="18" charset="0"/>
                <a:cs typeface="Times New Roman" panose="02020603050405020304" pitchFamily="18" charset="0"/>
              </a:rPr>
              <a:t> Psychologique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Accueillir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Identifier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mettre au repos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présenter à lui</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L’informer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Lui expliquer le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rassurer de son innocuité</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3996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8600" y="990600"/>
            <a:ext cx="11658600" cy="5671457"/>
          </a:xfrm>
        </p:spPr>
        <p:txBody>
          <a:bodyPr>
            <a:noAutofit/>
          </a:bodyPr>
          <a:lstStyle/>
          <a:p>
            <a:pPr lvl="1"/>
            <a:r>
              <a:rPr lang="fr-FR" sz="3000" dirty="0">
                <a:latin typeface="Times New Roman" panose="02020603050405020304" pitchFamily="18" charset="0"/>
                <a:cs typeface="Times New Roman" panose="02020603050405020304" pitchFamily="18" charset="0"/>
              </a:rPr>
              <a:t>Requérir son adhésion</a:t>
            </a:r>
          </a:p>
          <a:p>
            <a:pPr lvl="1"/>
            <a:r>
              <a:rPr lang="fr-FR" sz="3000" dirty="0">
                <a:latin typeface="Times New Roman" panose="02020603050405020304" pitchFamily="18" charset="0"/>
                <a:cs typeface="Times New Roman" panose="02020603050405020304" pitchFamily="18" charset="0"/>
              </a:rPr>
              <a:t>Réunir le matériel</a:t>
            </a:r>
          </a:p>
          <a:p>
            <a:pPr lvl="1"/>
            <a:r>
              <a:rPr lang="fr-FR" sz="3000" dirty="0">
                <a:latin typeface="Times New Roman" panose="02020603050405020304" pitchFamily="18" charset="0"/>
                <a:cs typeface="Times New Roman" panose="02020603050405020304" pitchFamily="18" charset="0"/>
              </a:rPr>
              <a:t>Demander au malade s’il n’a pas de besoin pressant à satisfaire</a:t>
            </a:r>
          </a:p>
          <a:p>
            <a:pPr lvl="1"/>
            <a:r>
              <a:rPr lang="fr-FR" sz="3000" dirty="0">
                <a:latin typeface="Times New Roman" panose="02020603050405020304" pitchFamily="18" charset="0"/>
                <a:cs typeface="Times New Roman" panose="02020603050405020304" pitchFamily="18" charset="0"/>
              </a:rPr>
              <a:t>Informer le malade de l’imminence du soin</a:t>
            </a:r>
          </a:p>
          <a:p>
            <a:pPr lvl="1"/>
            <a:r>
              <a:rPr lang="fr-FR" sz="3000" dirty="0">
                <a:latin typeface="Times New Roman" panose="02020603050405020304" pitchFamily="18" charset="0"/>
                <a:cs typeface="Times New Roman" panose="02020603050405020304" pitchFamily="18" charset="0"/>
              </a:rPr>
              <a:t>Se laver les mains à l’eau et au savon</a:t>
            </a:r>
          </a:p>
          <a:p>
            <a:pPr lvl="1"/>
            <a:r>
              <a:rPr lang="fr-FR" sz="3000" dirty="0">
                <a:latin typeface="Times New Roman" panose="02020603050405020304" pitchFamily="18" charset="0"/>
                <a:cs typeface="Times New Roman" panose="02020603050405020304" pitchFamily="18" charset="0"/>
              </a:rPr>
              <a:t>Installer le malade confortablement en décubitus dorsal, les bras sur le plan du lit et le poignet légèrement plié.</a:t>
            </a:r>
          </a:p>
          <a:p>
            <a:pPr lvl="1"/>
            <a:r>
              <a:rPr lang="fr-FR" sz="3000" dirty="0">
                <a:latin typeface="Times New Roman" panose="02020603050405020304" pitchFamily="18" charset="0"/>
                <a:cs typeface="Times New Roman" panose="02020603050405020304" pitchFamily="18" charset="0"/>
              </a:rPr>
              <a:t>Prendre le poignet et placer la pulpe de l’index, le majeur et l’</a:t>
            </a:r>
            <a:r>
              <a:rPr lang="fr-FR" sz="3000" dirty="0" err="1">
                <a:latin typeface="Times New Roman" panose="02020603050405020304" pitchFamily="18" charset="0"/>
                <a:cs typeface="Times New Roman" panose="02020603050405020304" pitchFamily="18" charset="0"/>
              </a:rPr>
              <a:t>annuleur</a:t>
            </a:r>
            <a:r>
              <a:rPr lang="fr-FR" sz="3000" dirty="0">
                <a:latin typeface="Times New Roman" panose="02020603050405020304" pitchFamily="18" charset="0"/>
                <a:cs typeface="Times New Roman" panose="02020603050405020304" pitchFamily="18" charset="0"/>
              </a:rPr>
              <a:t> sur l’artère radiale située sur la ligne de projection du pouce.</a:t>
            </a:r>
          </a:p>
          <a:p>
            <a:pPr lvl="1"/>
            <a:r>
              <a:rPr lang="fr-FR" sz="3000" dirty="0">
                <a:latin typeface="Times New Roman" panose="02020603050405020304" pitchFamily="18" charset="0"/>
                <a:cs typeface="Times New Roman" panose="02020603050405020304" pitchFamily="18" charset="0"/>
              </a:rPr>
              <a:t>Maintenir une légère pression sur l’artère pendant une minute</a:t>
            </a:r>
            <a:r>
              <a:rPr lang="fr-FR" sz="3000" dirty="0" smtClean="0">
                <a:latin typeface="Times New Roman" panose="02020603050405020304" pitchFamily="18" charset="0"/>
                <a:cs typeface="Times New Roman" panose="02020603050405020304" pitchFamily="18" charset="0"/>
              </a:rPr>
              <a:t>.</a:t>
            </a:r>
            <a:endParaRPr lang="fr-FR" sz="3000" dirty="0">
              <a:latin typeface="Times New Roman" panose="02020603050405020304" pitchFamily="18" charset="0"/>
              <a:cs typeface="Times New Roman" panose="02020603050405020304" pitchFamily="18" charset="0"/>
            </a:endParaRPr>
          </a:p>
        </p:txBody>
      </p:sp>
      <p:sp>
        <p:nvSpPr>
          <p:cNvPr id="4" name="Titre 1"/>
          <p:cNvSpPr>
            <a:spLocks noGrp="1"/>
          </p:cNvSpPr>
          <p:nvPr>
            <p:ph type="title"/>
          </p:nvPr>
        </p:nvSpPr>
        <p:spPr>
          <a:xfrm>
            <a:off x="3027316" y="213686"/>
            <a:ext cx="5264333" cy="654449"/>
          </a:xfrm>
        </p:spPr>
        <p:txBody>
          <a:bodyPr>
            <a:noAutofit/>
          </a:bodyPr>
          <a:lstStyle/>
          <a:p>
            <a:r>
              <a:rPr lang="fr-FR" altLang="fr-FR" sz="4400" b="1" u="sng"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La Technique</a:t>
            </a:r>
            <a:r>
              <a:rPr lang="fr-FR" altLang="fr-FR" sz="4400" b="1"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fr-FR" altLang="fr-FR" sz="4400" dirty="0" smtClean="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(suite)</a:t>
            </a:r>
            <a:endParaRPr lang="fr-FR"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3783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44583" y="151069"/>
            <a:ext cx="10855234"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4588" algn="l"/>
              </a:tabLst>
              <a:defRPr>
                <a:solidFill>
                  <a:schemeClr val="tx1"/>
                </a:solidFill>
                <a:latin typeface="Arial" panose="020B0604020202020204" pitchFamily="34" charset="0"/>
              </a:defRPr>
            </a:lvl1pPr>
            <a:lvl2pPr eaLnBrk="0" fontAlgn="base" hangingPunct="0">
              <a:spcBef>
                <a:spcPct val="0"/>
              </a:spcBef>
              <a:spcAft>
                <a:spcPct val="0"/>
              </a:spcAft>
              <a:tabLst>
                <a:tab pos="1144588" algn="l"/>
              </a:tabLst>
              <a:defRPr>
                <a:solidFill>
                  <a:schemeClr val="tx1"/>
                </a:solidFill>
                <a:latin typeface="Arial" panose="020B0604020202020204" pitchFamily="34" charset="0"/>
              </a:defRPr>
            </a:lvl2pPr>
            <a:lvl3pPr eaLnBrk="0" fontAlgn="base" hangingPunct="0">
              <a:spcBef>
                <a:spcPct val="0"/>
              </a:spcBef>
              <a:spcAft>
                <a:spcPct val="0"/>
              </a:spcAft>
              <a:tabLst>
                <a:tab pos="1144588" algn="l"/>
              </a:tabLst>
              <a:defRPr>
                <a:solidFill>
                  <a:schemeClr val="tx1"/>
                </a:solidFill>
                <a:latin typeface="Arial" panose="020B0604020202020204" pitchFamily="34" charset="0"/>
              </a:defRPr>
            </a:lvl3pPr>
            <a:lvl4pPr eaLnBrk="0" fontAlgn="base" hangingPunct="0">
              <a:spcBef>
                <a:spcPct val="0"/>
              </a:spcBef>
              <a:spcAft>
                <a:spcPct val="0"/>
              </a:spcAft>
              <a:tabLst>
                <a:tab pos="1144588" algn="l"/>
              </a:tabLst>
              <a:defRPr>
                <a:solidFill>
                  <a:schemeClr val="tx1"/>
                </a:solidFill>
                <a:latin typeface="Arial" panose="020B0604020202020204" pitchFamily="34" charset="0"/>
              </a:defRPr>
            </a:lvl4pPr>
            <a:lvl5pPr eaLnBrk="0" fontAlgn="base" hangingPunct="0">
              <a:spcBef>
                <a:spcPct val="0"/>
              </a:spcBef>
              <a:spcAft>
                <a:spcPct val="0"/>
              </a:spcAft>
              <a:tabLst>
                <a:tab pos="1144588" algn="l"/>
              </a:tabLst>
              <a:defRPr>
                <a:solidFill>
                  <a:schemeClr val="tx1"/>
                </a:solidFill>
                <a:latin typeface="Arial" panose="020B0604020202020204" pitchFamily="34" charset="0"/>
              </a:defRPr>
            </a:lvl5pPr>
            <a:lvl6pPr eaLnBrk="0" fontAlgn="base" hangingPunct="0">
              <a:spcBef>
                <a:spcPct val="0"/>
              </a:spcBef>
              <a:spcAft>
                <a:spcPct val="0"/>
              </a:spcAft>
              <a:tabLst>
                <a:tab pos="1144588" algn="l"/>
              </a:tabLst>
              <a:defRPr>
                <a:solidFill>
                  <a:schemeClr val="tx1"/>
                </a:solidFill>
                <a:latin typeface="Arial" panose="020B0604020202020204" pitchFamily="34" charset="0"/>
              </a:defRPr>
            </a:lvl6pPr>
            <a:lvl7pPr eaLnBrk="0" fontAlgn="base" hangingPunct="0">
              <a:spcBef>
                <a:spcPct val="0"/>
              </a:spcBef>
              <a:spcAft>
                <a:spcPct val="0"/>
              </a:spcAft>
              <a:tabLst>
                <a:tab pos="1144588" algn="l"/>
              </a:tabLst>
              <a:defRPr>
                <a:solidFill>
                  <a:schemeClr val="tx1"/>
                </a:solidFill>
                <a:latin typeface="Arial" panose="020B0604020202020204" pitchFamily="34" charset="0"/>
              </a:defRPr>
            </a:lvl7pPr>
            <a:lvl8pPr eaLnBrk="0" fontAlgn="base" hangingPunct="0">
              <a:spcBef>
                <a:spcPct val="0"/>
              </a:spcBef>
              <a:spcAft>
                <a:spcPct val="0"/>
              </a:spcAft>
              <a:tabLst>
                <a:tab pos="1144588" algn="l"/>
              </a:tabLst>
              <a:defRPr>
                <a:solidFill>
                  <a:schemeClr val="tx1"/>
                </a:solidFill>
                <a:latin typeface="Arial" panose="020B0604020202020204" pitchFamily="34" charset="0"/>
              </a:defRPr>
            </a:lvl8pPr>
            <a:lvl9pPr eaLnBrk="0" fontAlgn="base" hangingPunct="0">
              <a:spcBef>
                <a:spcPct val="0"/>
              </a:spcBef>
              <a:spcAft>
                <a:spcPct val="0"/>
              </a:spcAft>
              <a:tabLst>
                <a:tab pos="1144588" algn="l"/>
              </a:tabLst>
              <a:defRPr>
                <a:solidFill>
                  <a:schemeClr val="tx1"/>
                </a:solidFill>
                <a:latin typeface="Arial" panose="020B0604020202020204" pitchFamily="34" charset="0"/>
              </a:defRPr>
            </a:lvl9pPr>
          </a:lstStyle>
          <a:p>
            <a:pPr marL="457200" lvl="1" indent="0" algn="just">
              <a:buClrTx/>
              <a:buSzTx/>
              <a:buNone/>
            </a:pPr>
            <a:r>
              <a:rPr lang="fr-FR" sz="4400" b="1" u="sng" dirty="0" smtClean="0">
                <a:latin typeface="Times New Roman" panose="02020603050405020304" pitchFamily="18" charset="0"/>
                <a:cs typeface="Times New Roman" panose="02020603050405020304" pitchFamily="18" charset="0"/>
              </a:rPr>
              <a:t>Technique</a:t>
            </a:r>
            <a:r>
              <a:rPr lang="fr-FR" sz="4400" dirty="0" smtClean="0">
                <a:latin typeface="Times New Roman" panose="02020603050405020304" pitchFamily="18" charset="0"/>
                <a:cs typeface="Times New Roman" panose="02020603050405020304" pitchFamily="18" charset="0"/>
              </a:rPr>
              <a:t> (suite)</a:t>
            </a:r>
          </a:p>
          <a:p>
            <a:pPr marL="457200" lvl="1" indent="0" algn="just">
              <a:buClrTx/>
              <a:buSzTx/>
              <a:buNone/>
            </a:pPr>
            <a:endParaRPr lang="fr-FR" sz="3200" dirty="0" smtClean="0">
              <a:latin typeface="Times New Roman" panose="02020603050405020304" pitchFamily="18" charset="0"/>
              <a:cs typeface="Times New Roman" panose="02020603050405020304" pitchFamily="18" charset="0"/>
            </a:endParaRPr>
          </a:p>
          <a:p>
            <a:pPr marL="914400" lvl="1" indent="-457200" algn="just">
              <a:buClrTx/>
              <a:buSzTx/>
            </a:pPr>
            <a:r>
              <a:rPr lang="fr-FR" sz="3200" dirty="0" smtClean="0">
                <a:latin typeface="Times New Roman" panose="02020603050405020304" pitchFamily="18" charset="0"/>
                <a:cs typeface="Times New Roman" panose="02020603050405020304" pitchFamily="18" charset="0"/>
              </a:rPr>
              <a:t>Commencer </a:t>
            </a:r>
            <a:r>
              <a:rPr lang="fr-FR" sz="3200" dirty="0">
                <a:latin typeface="Times New Roman" panose="02020603050405020304" pitchFamily="18" charset="0"/>
                <a:cs typeface="Times New Roman" panose="02020603050405020304" pitchFamily="18" charset="0"/>
              </a:rPr>
              <a:t>à compter une fois que le Pouls est bien perçu, pendant une pendant une minute</a:t>
            </a:r>
            <a:r>
              <a:rPr lang="fr-FR" sz="3200" dirty="0" smtClean="0">
                <a:latin typeface="Times New Roman" panose="02020603050405020304" pitchFamily="18" charset="0"/>
                <a:cs typeface="Times New Roman" panose="02020603050405020304" pitchFamily="18" charset="0"/>
              </a:rPr>
              <a: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lvl="1"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Informer le malade du résultat et au besoin faire la CCC en rapport avec le soin.</a:t>
            </a:r>
            <a:endPar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914400" lvl="1"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Consigner le résultat sur la feuille de température ou autre document du patient.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914400" lvl="1"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Remercier le malade pour sa collaboration et prendre congé de lui avec des mots gentils.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00326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1016000" y="2472744"/>
            <a:ext cx="10403840" cy="1328547"/>
          </a:xfrm>
          <a:prstGeom prst="rect">
            <a:avLst/>
          </a:prstGeom>
          <a:solidFill>
            <a:schemeClr val="bg2"/>
          </a:solidFill>
          <a:ln w="2857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0" tIns="45720" rIns="0" bIns="0" anchor="b">
            <a:noAutofit/>
            <a:scene3d>
              <a:camera prst="orthographicFront"/>
              <a:lightRig rig="freezing" dir="t">
                <a:rot lat="0" lon="0" rev="5640000"/>
              </a:lightRig>
            </a:scene3d>
            <a:sp3d prstMaterial="flat">
              <a:contourClr>
                <a:schemeClr val="tx2"/>
              </a:contourClr>
            </a:sp3d>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pPr algn="ctr"/>
            <a:r>
              <a:rPr lang="fr-FR" sz="6600" dirty="0" smtClean="0">
                <a:solidFill>
                  <a:schemeClr val="tx1"/>
                </a:solidFill>
                <a:latin typeface="Times New Roman" panose="02020603050405020304" pitchFamily="18" charset="0"/>
                <a:cs typeface="Times New Roman" panose="02020603050405020304" pitchFamily="18" charset="0"/>
              </a:rPr>
              <a:t>LA TENSION ARTERIELLE</a:t>
            </a:r>
            <a:endParaRPr lang="fr-FR" sz="6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290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03412" y="712504"/>
            <a:ext cx="11392348" cy="57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000" b="0"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OBJECTIF GENERAL</a:t>
            </a:r>
            <a:endParaRPr kumimoji="0" lang="fr-FR" altLang="fr-FR" sz="30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L’étudiant de la 1</a:t>
            </a:r>
            <a:r>
              <a:rPr kumimoji="0" lang="fr-FR" altLang="fr-FR" sz="3000" b="0" i="0" u="none" strike="noStrike" cap="none" normalizeH="0" baseline="30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ère</a:t>
            </a: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AC doit pouvoir acquérir des connaissances relatives à la Tension Artérielle.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00" b="0"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000" b="0"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OBJECTIFS SPECIFIQUES</a:t>
            </a:r>
            <a:endParaRPr kumimoji="0" lang="fr-FR" altLang="fr-FR" sz="30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3000" b="0" i="0" u="none" strike="noStrike" cap="none" normalizeH="0" baseline="0" dirty="0" smtClean="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Au terme de ce cours, l’étudiant de la 1</a:t>
            </a:r>
            <a:r>
              <a:rPr kumimoji="0" lang="fr-FR" altLang="fr-FR" sz="3000" b="0" i="0" u="none" strike="noStrike" cap="none" normalizeH="0" baseline="30000" dirty="0" smtClean="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ère</a:t>
            </a:r>
            <a:r>
              <a:rPr kumimoji="0" lang="fr-FR" altLang="fr-FR" sz="3000" b="0" i="0" u="none" strike="noStrike" cap="none" normalizeH="0" baseline="0" dirty="0" smtClean="0">
                <a:ln>
                  <a:noFill/>
                </a:ln>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AC doit être capable :</a:t>
            </a:r>
            <a:endParaRPr kumimoji="0" lang="fr-FR" altLang="fr-FR" sz="3000" b="0" i="0" u="none" strike="noStrike" cap="none" normalizeH="0" baseline="0" dirty="0" smtClean="0">
              <a:ln>
                <a:noFill/>
              </a:ln>
              <a:solidFill>
                <a:srgbClr val="00206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d’expliquer à partir du cours les notions générales de la Tension Artérielle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 définir en ses propres termes sans en altérer le sens, l’Hypertension Artérielle et l’Hypotension Artérielle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d’énumérer</a:t>
            </a:r>
            <a:r>
              <a:rPr kumimoji="0" lang="fr-FR" altLang="fr-FR" sz="3000" b="0" i="0" u="none" strike="noStrike" cap="none" normalizeH="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tous </a:t>
            </a: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facteurs influant sur la Tension Artérielle;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 décrire oralement ou par écrit les conditions et la technique de la prise de la Tension Artérielle </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29847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37657" y="682316"/>
            <a:ext cx="8621486" cy="711055"/>
          </a:xfrm>
        </p:spPr>
        <p:txBody>
          <a:bodyPr>
            <a:normAutofit fontScale="90000"/>
          </a:bodyPr>
          <a:lstStyle/>
          <a:p>
            <a:r>
              <a:rPr lang="fr-FR" b="1" u="sng" dirty="0">
                <a:latin typeface="Times New Roman" panose="02020603050405020304" pitchFamily="18" charset="0"/>
                <a:cs typeface="Times New Roman" panose="02020603050405020304" pitchFamily="18" charset="0"/>
              </a:rPr>
              <a:t>DEFINITION – GENERALITES</a:t>
            </a:r>
            <a:endParaRPr lang="fr-FR"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09600" y="2210515"/>
            <a:ext cx="1125854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Tension Artérielle est une des données essentielles à l’exploration de l’Appareil Cardiovasculaire.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mesure ou la prise de la Tension Artérielle renseigne sur l’état du système cardiovasculaire.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 Tension Artérielle est la pression sous laquelle le sang circule dans les artères. Elle est fonction de la force de contraction du cœur, de la masse sanguine et de la résistance des vaisseaux.</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22098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7611" y="107228"/>
            <a:ext cx="7660943" cy="864448"/>
          </a:xfrm>
        </p:spPr>
        <p:txBody>
          <a:bodyPr/>
          <a:lstStyle/>
          <a:p>
            <a:r>
              <a:rPr lang="fr-FR" b="1" u="sng" dirty="0"/>
              <a:t>DEFINITION – GENERALITES</a:t>
            </a:r>
            <a:endParaRPr lang="fr-FR" dirty="0"/>
          </a:p>
        </p:txBody>
      </p:sp>
      <p:sp>
        <p:nvSpPr>
          <p:cNvPr id="4" name="Rectangle 1"/>
          <p:cNvSpPr>
            <a:spLocks noGrp="1" noChangeArrowheads="1"/>
          </p:cNvSpPr>
          <p:nvPr>
            <p:ph idx="1"/>
          </p:nvPr>
        </p:nvSpPr>
        <p:spPr bwMode="auto">
          <a:xfrm>
            <a:off x="381000" y="900742"/>
            <a:ext cx="11506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4588" algn="l"/>
              </a:tabLst>
              <a:defRPr>
                <a:solidFill>
                  <a:schemeClr val="tx1"/>
                </a:solidFill>
                <a:latin typeface="Arial" panose="020B0604020202020204" pitchFamily="34" charset="0"/>
              </a:defRPr>
            </a:lvl1pPr>
            <a:lvl2pPr eaLnBrk="0" fontAlgn="base" hangingPunct="0">
              <a:spcBef>
                <a:spcPct val="0"/>
              </a:spcBef>
              <a:spcAft>
                <a:spcPct val="0"/>
              </a:spcAft>
              <a:tabLst>
                <a:tab pos="1144588" algn="l"/>
              </a:tabLst>
              <a:defRPr>
                <a:solidFill>
                  <a:schemeClr val="tx1"/>
                </a:solidFill>
                <a:latin typeface="Arial" panose="020B0604020202020204" pitchFamily="34" charset="0"/>
              </a:defRPr>
            </a:lvl2pPr>
            <a:lvl3pPr eaLnBrk="0" fontAlgn="base" hangingPunct="0">
              <a:spcBef>
                <a:spcPct val="0"/>
              </a:spcBef>
              <a:spcAft>
                <a:spcPct val="0"/>
              </a:spcAft>
              <a:tabLst>
                <a:tab pos="1144588" algn="l"/>
              </a:tabLst>
              <a:defRPr>
                <a:solidFill>
                  <a:schemeClr val="tx1"/>
                </a:solidFill>
                <a:latin typeface="Arial" panose="020B0604020202020204" pitchFamily="34" charset="0"/>
              </a:defRPr>
            </a:lvl3pPr>
            <a:lvl4pPr eaLnBrk="0" fontAlgn="base" hangingPunct="0">
              <a:spcBef>
                <a:spcPct val="0"/>
              </a:spcBef>
              <a:spcAft>
                <a:spcPct val="0"/>
              </a:spcAft>
              <a:tabLst>
                <a:tab pos="1144588" algn="l"/>
              </a:tabLst>
              <a:defRPr>
                <a:solidFill>
                  <a:schemeClr val="tx1"/>
                </a:solidFill>
                <a:latin typeface="Arial" panose="020B0604020202020204" pitchFamily="34" charset="0"/>
              </a:defRPr>
            </a:lvl4pPr>
            <a:lvl5pPr eaLnBrk="0" fontAlgn="base" hangingPunct="0">
              <a:spcBef>
                <a:spcPct val="0"/>
              </a:spcBef>
              <a:spcAft>
                <a:spcPct val="0"/>
              </a:spcAft>
              <a:tabLst>
                <a:tab pos="1144588" algn="l"/>
              </a:tabLst>
              <a:defRPr>
                <a:solidFill>
                  <a:schemeClr val="tx1"/>
                </a:solidFill>
                <a:latin typeface="Arial" panose="020B0604020202020204" pitchFamily="34" charset="0"/>
              </a:defRPr>
            </a:lvl5pPr>
            <a:lvl6pPr eaLnBrk="0" fontAlgn="base" hangingPunct="0">
              <a:spcBef>
                <a:spcPct val="0"/>
              </a:spcBef>
              <a:spcAft>
                <a:spcPct val="0"/>
              </a:spcAft>
              <a:tabLst>
                <a:tab pos="1144588" algn="l"/>
              </a:tabLst>
              <a:defRPr>
                <a:solidFill>
                  <a:schemeClr val="tx1"/>
                </a:solidFill>
                <a:latin typeface="Arial" panose="020B0604020202020204" pitchFamily="34" charset="0"/>
              </a:defRPr>
            </a:lvl6pPr>
            <a:lvl7pPr eaLnBrk="0" fontAlgn="base" hangingPunct="0">
              <a:spcBef>
                <a:spcPct val="0"/>
              </a:spcBef>
              <a:spcAft>
                <a:spcPct val="0"/>
              </a:spcAft>
              <a:tabLst>
                <a:tab pos="1144588" algn="l"/>
              </a:tabLst>
              <a:defRPr>
                <a:solidFill>
                  <a:schemeClr val="tx1"/>
                </a:solidFill>
                <a:latin typeface="Arial" panose="020B0604020202020204" pitchFamily="34" charset="0"/>
              </a:defRPr>
            </a:lvl7pPr>
            <a:lvl8pPr eaLnBrk="0" fontAlgn="base" hangingPunct="0">
              <a:spcBef>
                <a:spcPct val="0"/>
              </a:spcBef>
              <a:spcAft>
                <a:spcPct val="0"/>
              </a:spcAft>
              <a:tabLst>
                <a:tab pos="1144588" algn="l"/>
              </a:tabLst>
              <a:defRPr>
                <a:solidFill>
                  <a:schemeClr val="tx1"/>
                </a:solidFill>
                <a:latin typeface="Arial" panose="020B0604020202020204" pitchFamily="34" charset="0"/>
              </a:defRPr>
            </a:lvl8pPr>
            <a:lvl9pPr eaLnBrk="0" fontAlgn="base" hangingPunct="0">
              <a:spcBef>
                <a:spcPct val="0"/>
              </a:spcBef>
              <a:spcAft>
                <a:spcPct val="0"/>
              </a:spcAft>
              <a:tabLst>
                <a:tab pos="1144588"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144588" algn="l"/>
              </a:tabLst>
            </a:pPr>
            <a:r>
              <a:rPr kumimoji="0" lang="fr-FR" altLang="fr-FR" sz="3000" b="0"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Tension Artérielle se caractérise par deux normes : </a:t>
            </a:r>
          </a:p>
          <a:p>
            <a:pPr algn="just">
              <a:buClrTx/>
              <a:buSzTx/>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Tension Maxima ou Systolique, qui  correspond à la contraction ventriculaire.</a:t>
            </a:r>
          </a:p>
          <a:p>
            <a:pPr algn="just">
              <a:buClrTx/>
              <a:buSzTx/>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Tension Minima ou Diastolique, qui traduit la résistance des vaisseaux au moment de la diastole ventriculaire.</a:t>
            </a:r>
          </a:p>
          <a:p>
            <a:pPr marL="531813" indent="-176213">
              <a:buClrTx/>
              <a:buSzTx/>
              <a:buNone/>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L’écart entre la Tension Maxima et la Minima est appelé la Tension Différentielle.</a:t>
            </a:r>
          </a:p>
          <a:p>
            <a:pPr marL="531813" indent="-176213">
              <a:buClrTx/>
              <a:buSzTx/>
              <a:buNone/>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L’unité de mesure de la Tension Artérielle est le centimètre de mercure ou le millimètre de mercure (</a:t>
            </a:r>
            <a:r>
              <a:rPr kumimoji="0" lang="fr-FR" altLang="fr-FR" sz="30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cmHg</a:t>
            </a: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ou </a:t>
            </a:r>
            <a:r>
              <a:rPr kumimoji="0" lang="fr-FR" altLang="fr-FR" sz="30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mmHg</a:t>
            </a: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Dans les conditions normales,</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1077913" algn="just" defTabSz="914400" rtl="0" eaLnBrk="0" fontAlgn="base" latinLnBrk="0" hangingPunct="0">
              <a:lnSpc>
                <a:spcPct val="100000"/>
              </a:lnSpc>
              <a:spcBef>
                <a:spcPct val="0"/>
              </a:spcBef>
              <a:spcAft>
                <a:spcPct val="0"/>
              </a:spcAft>
              <a:buClrTx/>
              <a:buSzTx/>
              <a:buFontTx/>
              <a:buNone/>
              <a:tabLst>
                <a:tab pos="1144588" algn="l"/>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Tension Minima = (Tension Maxima / 2)  + 1</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1077913" algn="just" defTabSz="914400" rtl="0" eaLnBrk="0" fontAlgn="base" latinLnBrk="0" hangingPunct="0">
              <a:lnSpc>
                <a:spcPct val="100000"/>
              </a:lnSpc>
              <a:spcBef>
                <a:spcPct val="0"/>
              </a:spcBef>
              <a:spcAft>
                <a:spcPct val="0"/>
              </a:spcAft>
              <a:buClrTx/>
              <a:buSzTx/>
              <a:buFontTx/>
              <a:buNone/>
              <a:tabLst>
                <a:tab pos="1144588"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 : si Max = 12, 	Min = (12 / 2) + 1 = 7</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289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74914" y="2068284"/>
            <a:ext cx="10972800" cy="2307773"/>
          </a:xfrm>
        </p:spPr>
        <p:txBody>
          <a:bodyPr>
            <a:normAutofit/>
          </a:bodyPr>
          <a:lstStyle/>
          <a:p>
            <a:pPr marL="0" indent="0">
              <a:buNone/>
            </a:pPr>
            <a:r>
              <a:rPr lang="fr-FR" sz="3200" dirty="0" smtClean="0">
                <a:solidFill>
                  <a:srgbClr val="C00000"/>
                </a:solidFill>
                <a:latin typeface="Times New Roman" panose="02020603050405020304" pitchFamily="18" charset="0"/>
                <a:cs typeface="Times New Roman" panose="02020603050405020304" pitchFamily="18" charset="0"/>
              </a:rPr>
              <a:t>On </a:t>
            </a:r>
            <a:r>
              <a:rPr lang="fr-FR" sz="3200" dirty="0">
                <a:solidFill>
                  <a:srgbClr val="C00000"/>
                </a:solidFill>
                <a:latin typeface="Times New Roman" panose="02020603050405020304" pitchFamily="18" charset="0"/>
                <a:cs typeface="Times New Roman" panose="02020603050405020304" pitchFamily="18" charset="0"/>
              </a:rPr>
              <a:t>distingue deux types de </a:t>
            </a:r>
            <a:r>
              <a:rPr lang="fr-FR" sz="3200" dirty="0" smtClean="0">
                <a:solidFill>
                  <a:srgbClr val="C00000"/>
                </a:solidFill>
                <a:latin typeface="Times New Roman" panose="02020603050405020304" pitchFamily="18" charset="0"/>
                <a:cs typeface="Times New Roman" panose="02020603050405020304" pitchFamily="18" charset="0"/>
              </a:rPr>
              <a:t>variation:</a:t>
            </a:r>
          </a:p>
          <a:p>
            <a:pPr marL="1077913" indent="-273050"/>
            <a:r>
              <a:rPr lang="fr-FR" sz="3200" dirty="0" smtClean="0">
                <a:latin typeface="Times New Roman" panose="02020603050405020304" pitchFamily="18" charset="0"/>
                <a:cs typeface="Times New Roman" panose="02020603050405020304" pitchFamily="18" charset="0"/>
              </a:rPr>
              <a:t>l’Hypertension Artérielle</a:t>
            </a:r>
          </a:p>
          <a:p>
            <a:pPr marL="1077913" indent="-273050"/>
            <a:r>
              <a:rPr lang="fr-FR" sz="3200" dirty="0" smtClean="0">
                <a:latin typeface="Times New Roman" panose="02020603050405020304" pitchFamily="18" charset="0"/>
                <a:cs typeface="Times New Roman" panose="02020603050405020304" pitchFamily="18" charset="0"/>
              </a:rPr>
              <a:t>l’Hypotension </a:t>
            </a:r>
            <a:r>
              <a:rPr lang="fr-FR" sz="3200" dirty="0">
                <a:latin typeface="Times New Roman" panose="02020603050405020304" pitchFamily="18" charset="0"/>
                <a:cs typeface="Times New Roman" panose="02020603050405020304" pitchFamily="18" charset="0"/>
              </a:rPr>
              <a:t>Artérielle.</a:t>
            </a:r>
          </a:p>
        </p:txBody>
      </p:sp>
      <p:sp>
        <p:nvSpPr>
          <p:cNvPr id="4" name="Rectangle 1"/>
          <p:cNvSpPr>
            <a:spLocks noGrp="1" noChangeArrowheads="1"/>
          </p:cNvSpPr>
          <p:nvPr>
            <p:ph type="title"/>
          </p:nvPr>
        </p:nvSpPr>
        <p:spPr bwMode="auto">
          <a:xfrm>
            <a:off x="609600" y="983200"/>
            <a:ext cx="98406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VARIATIONS DE LA TENSION ARTERIELLE</a:t>
            </a:r>
            <a:r>
              <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535888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1820" y="704088"/>
            <a:ext cx="6264323" cy="1143000"/>
          </a:xfrm>
        </p:spPr>
        <p:txBody>
          <a:bodyPr/>
          <a:lstStyle/>
          <a:p>
            <a:pPr lvl="1" algn="l" rtl="0">
              <a:spcBef>
                <a:spcPct val="0"/>
              </a:spcBef>
            </a:pPr>
            <a:r>
              <a:rPr kumimoji="0" lang="fr-FR" altLang="fr-FR" sz="44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Hypertension Artérielle</a:t>
            </a:r>
            <a:r>
              <a:rPr kumimoji="0" lang="fr-FR" altLang="fr-FR" sz="1100" b="0" i="0" u="none" strike="noStrike" cap="none" normalizeH="0" baseline="0" dirty="0" smtClean="0">
                <a:ln>
                  <a:noFill/>
                </a:ln>
                <a:solidFill>
                  <a:schemeClr val="tx1"/>
                </a:solidFill>
                <a:effectLst/>
                <a:latin typeface="Arial" panose="020B0604020202020204" pitchFamily="34" charset="0"/>
              </a:rPr>
              <a:t/>
            </a:r>
            <a:br>
              <a:rPr kumimoji="0" lang="fr-FR" altLang="fr-FR" sz="1100" b="0" i="0" u="none" strike="noStrike" cap="none" normalizeH="0" baseline="0" dirty="0" smtClean="0">
                <a:ln>
                  <a:noFill/>
                </a:ln>
                <a:solidFill>
                  <a:schemeClr val="tx1"/>
                </a:solidFill>
                <a:effectLst/>
                <a:latin typeface="Arial" panose="020B0604020202020204" pitchFamily="34" charset="0"/>
              </a:rPr>
            </a:br>
            <a:endParaRPr lang="fr-FR" dirty="0"/>
          </a:p>
        </p:txBody>
      </p:sp>
      <p:sp>
        <p:nvSpPr>
          <p:cNvPr id="4" name="Rectangle 1"/>
          <p:cNvSpPr>
            <a:spLocks noGrp="1" noChangeArrowheads="1"/>
          </p:cNvSpPr>
          <p:nvPr>
            <p:ph idx="1"/>
          </p:nvPr>
        </p:nvSpPr>
        <p:spPr bwMode="auto">
          <a:xfrm>
            <a:off x="1091820" y="2046988"/>
            <a:ext cx="1008569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On dit qu’il y a Hypertension Artérielle lorsque la Tension Maxima est supérieur 160mmHg et que la Tension Minima est supérieur à 90mmHg.</a:t>
            </a: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Elle se rencontre dans les Néphrites, l’Artériosclérose, le Diabète, la Ménopause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51830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82798" y="704088"/>
            <a:ext cx="6418997" cy="1143000"/>
          </a:xfrm>
        </p:spPr>
        <p:txBody>
          <a:bodyPr/>
          <a:lstStyle/>
          <a:p>
            <a:pPr lvl="1" algn="l" rtl="0">
              <a:spcBef>
                <a:spcPct val="0"/>
              </a:spcBef>
            </a:pPr>
            <a:r>
              <a:rPr lang="fr-FR" altLang="fr-FR" sz="4400" b="1" u="sng" dirty="0" smtClean="0">
                <a:latin typeface="Times New Roman" panose="02020603050405020304" pitchFamily="18" charset="0"/>
                <a:ea typeface="Times New Roman" panose="02020603050405020304" pitchFamily="18" charset="0"/>
                <a:cs typeface="Times New Roman" panose="02020603050405020304" pitchFamily="18" charset="0"/>
              </a:rPr>
              <a:t>Hypotension Artérielle</a:t>
            </a:r>
            <a:r>
              <a:rPr lang="fr-FR" altLang="fr-FR" sz="1100" dirty="0" smtClean="0">
                <a:latin typeface="Arial" panose="020B0604020202020204" pitchFamily="34" charset="0"/>
              </a:rPr>
              <a:t/>
            </a:r>
            <a:br>
              <a:rPr lang="fr-FR" altLang="fr-FR" sz="1100" dirty="0" smtClean="0">
                <a:latin typeface="Arial" panose="020B0604020202020204" pitchFamily="34" charset="0"/>
              </a:rPr>
            </a:br>
            <a:endParaRPr lang="en-US" dirty="0"/>
          </a:p>
        </p:txBody>
      </p:sp>
      <p:sp>
        <p:nvSpPr>
          <p:cNvPr id="3" name="Espace réservé du contenu 2"/>
          <p:cNvSpPr>
            <a:spLocks noGrp="1"/>
          </p:cNvSpPr>
          <p:nvPr>
            <p:ph idx="1"/>
          </p:nvPr>
        </p:nvSpPr>
        <p:spPr>
          <a:xfrm>
            <a:off x="736978" y="2320118"/>
            <a:ext cx="10845421" cy="3340453"/>
          </a:xfrm>
        </p:spPr>
        <p:txBody>
          <a:bodyPr>
            <a:normAutofit/>
          </a:bodyPr>
          <a:lstStyle/>
          <a:p>
            <a:pPr marL="457200" lvl="1" indent="0" algn="just" eaLnBrk="0" fontAlgn="base" hangingPunct="0">
              <a:spcBef>
                <a:spcPct val="0"/>
              </a:spcBef>
              <a:spcAft>
                <a:spcPct val="0"/>
              </a:spcAft>
              <a:buClrTx/>
              <a:buSzTx/>
              <a:buNone/>
              <a:tabLst>
                <a:tab pos="2286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L’Hypotension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Artérielle correspond à une Tension Maxima inférieur à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100mmHg.</a:t>
            </a:r>
          </a:p>
          <a:p>
            <a:pPr marL="457200" lvl="1" indent="0" algn="just" eaLnBrk="0" fontAlgn="base" hangingPunct="0">
              <a:spcBef>
                <a:spcPct val="0"/>
              </a:spcBef>
              <a:spcAft>
                <a:spcPct val="0"/>
              </a:spcAft>
              <a:buClrTx/>
              <a:buSzTx/>
              <a:buNone/>
              <a:tabLst>
                <a:tab pos="228600" algn="l"/>
              </a:tabLst>
            </a:pPr>
            <a:endPar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None/>
              <a:tabLst>
                <a:tab pos="2286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Elle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se rencontre dans les états de Choc, les Maladies infectieuses, la Maladie d’Addison, les Anémies, les Maladies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cachectisantes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7064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214838" y="286515"/>
            <a:ext cx="117623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685800" algn="l"/>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FACTEURS INFLUANT SUR LA TENSION ARTERIELLE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413658" y="1041023"/>
            <a:ext cx="1127759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228600" algn="l"/>
              </a:tabLst>
            </a:pPr>
            <a:r>
              <a:rPr kumimoji="0" lang="fr-FR" altLang="fr-FR" sz="3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 </a:t>
            </a:r>
            <a:r>
              <a:rPr kumimoji="0" lang="fr-FR" altLang="fr-FR" sz="30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L’Age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Chez les enfants, la Tension Artérielle est fonction de la taille et de la masse.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Chez l’adulte d’âge moyen en santé, la Tension Artérielle est  </a:t>
            </a:r>
            <a:r>
              <a:rPr kumimoji="0" lang="fr-FR" altLang="fr-FR" sz="3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1200 / 70 </a:t>
            </a:r>
            <a:r>
              <a:rPr kumimoji="0" lang="fr-FR" altLang="fr-FR" sz="3000" b="1"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mmHg</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Chez l’adulte, la Tension Artérielle tend à augmenter avec l’âge :</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(140 – 160 / 80 – 90 </a:t>
            </a:r>
            <a:r>
              <a:rPr kumimoji="0" lang="fr-FR" altLang="fr-FR" sz="30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mmHg</a:t>
            </a: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228600" algn="l"/>
              </a:tabLst>
            </a:pPr>
            <a:r>
              <a:rPr lang="fr-FR" altLang="fr-FR" sz="3000" b="1" dirty="0" smtClean="0">
                <a:latin typeface="Times New Roman" panose="02020603050405020304" pitchFamily="18" charset="0"/>
                <a:ea typeface="Times New Roman" panose="02020603050405020304" pitchFamily="18" charset="0"/>
                <a:cs typeface="Times New Roman" panose="02020603050405020304" pitchFamily="18" charset="0"/>
              </a:rPr>
              <a:t>2. </a:t>
            </a:r>
            <a:r>
              <a:rPr kumimoji="0" lang="fr-FR" altLang="fr-FR" sz="3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0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Sexe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 partir de l’adolescence, la Tension Artérielle est plus élevée chez l’homme que chez la femme à cause des hormones ; mais quand la femme atteint la ménopause, sa Tension Artérielle est plus élevée que chez l’homme du même âge.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00613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48343" y="653036"/>
            <a:ext cx="114953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228600" algn="l"/>
              </a:tabLst>
            </a:pPr>
            <a:r>
              <a:rPr lang="fr-FR" altLang="fr-FR" sz="3200" b="1" dirty="0" smtClean="0">
                <a:latin typeface="Times New Roman" panose="02020603050405020304" pitchFamily="18" charset="0"/>
                <a:ea typeface="Times New Roman" panose="02020603050405020304" pitchFamily="18" charset="0"/>
                <a:cs typeface="Times New Roman" panose="02020603050405020304" pitchFamily="18" charset="0"/>
              </a:rPr>
              <a:t>3. </a:t>
            </a: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Emotions (le Stress)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L’Anxiété, la Peur, la Douleur, la Joie, etc., provoquent une stimulation sympathique qui fait monter la Pression Artérielle.</a:t>
            </a: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2286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 -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Variations Journalières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Tension Artérielle varie tout au long de la journée ; en général la Tension Artérielle est plus faible le matin ; elle augmente ensuite graduellement au cours de la matinée et de l’après midi, et atteint son maximum dans la soirée.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7491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78971" y="1020769"/>
            <a:ext cx="1114697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FontTx/>
              <a:buAutoNum type="romanUcPeriod"/>
              <a:tabLst>
                <a:tab pos="2286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Médicaments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Certains médicaments peuvent influer directement ou indirectement sur la Pression Artérielle : ce sont les antihypertenseurs, les analgésiques narcotiques.</a:t>
            </a:r>
            <a:endPar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AutoNum type="romanUcPeriod"/>
              <a:tabLst>
                <a:tab pos="2286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Aliments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régime </a:t>
            </a:r>
            <a:r>
              <a:rPr kumimoji="0" lang="fr-FR" altLang="fr-FR" sz="32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hypersodé</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entraîne une augmentation de la masse liquidienne ; ce qui provoque une élévation de la Tension Artérielle. Par contre un régime hyposodé entraîne une fuite liquidienne donc une baisse de la Tension Artérielle.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5971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title"/>
          </p:nvPr>
        </p:nvSpPr>
        <p:spPr bwMode="auto">
          <a:xfrm>
            <a:off x="2250715" y="251681"/>
            <a:ext cx="73596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685800" algn="l"/>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PRISE DE LA TENSION ARTERIELLE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283030" y="1516485"/>
            <a:ext cx="11321142"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6858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kumimoji="0" lang="fr-FR" altLang="fr-FR" sz="30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 </a:t>
            </a:r>
            <a:r>
              <a:rPr kumimoji="0" lang="fr-FR" altLang="fr-FR" sz="30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Règles Générales</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sujet doit être de préférence à jeun</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Au repos couché ou assis depuis plusieurs minutes (au moins 10mn)</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Il doit être au calme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 distance d’une prise d’excitant (tabac, café, thé…)</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Chez un malade, prendre la Tension Artérielle toujours à la même heure et avec le même appareil.</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49378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27314" y="936172"/>
            <a:ext cx="10972800" cy="5072742"/>
          </a:xfrm>
        </p:spPr>
        <p:txBody>
          <a:bodyPr>
            <a:normAutofit/>
          </a:bodyPr>
          <a:lstStyle/>
          <a:p>
            <a:pPr marL="457200" lvl="1" indent="0" algn="just" eaLnBrk="0" fontAlgn="base" hangingPunct="0">
              <a:spcBef>
                <a:spcPct val="0"/>
              </a:spcBef>
              <a:spcAft>
                <a:spcPct val="0"/>
              </a:spcAft>
              <a:buClrTx/>
              <a:buSzTx/>
              <a:buNone/>
              <a:tabLst>
                <a:tab pos="685800" algn="l"/>
              </a:tabLst>
            </a:pPr>
            <a:r>
              <a:rPr lang="fr-FR" altLang="fr-FR" sz="3200" b="1" dirty="0">
                <a:latin typeface="Times New Roman" panose="02020603050405020304" pitchFamily="18" charset="0"/>
                <a:ea typeface="Times New Roman" panose="02020603050405020304" pitchFamily="18" charset="0"/>
                <a:cs typeface="Times New Roman" panose="02020603050405020304" pitchFamily="18" charset="0"/>
              </a:rPr>
              <a:t>2.- </a:t>
            </a:r>
            <a:r>
              <a:rPr lang="fr-FR" altLang="fr-FR" sz="3200" b="1" u="sng" dirty="0">
                <a:latin typeface="Times New Roman" panose="02020603050405020304" pitchFamily="18" charset="0"/>
                <a:ea typeface="Times New Roman" panose="02020603050405020304" pitchFamily="18" charset="0"/>
                <a:cs typeface="Times New Roman" panose="02020603050405020304" pitchFamily="18" charset="0"/>
              </a:rPr>
              <a:t>Le </a:t>
            </a:r>
            <a:r>
              <a:rPr lang="fr-FR" altLang="fr-FR" sz="3200" b="1" u="sng" dirty="0" smtClean="0">
                <a:latin typeface="Times New Roman" panose="02020603050405020304" pitchFamily="18" charset="0"/>
                <a:ea typeface="Times New Roman" panose="02020603050405020304" pitchFamily="18" charset="0"/>
                <a:cs typeface="Times New Roman" panose="02020603050405020304" pitchFamily="18" charset="0"/>
              </a:rPr>
              <a:t>Matériel</a:t>
            </a:r>
          </a:p>
          <a:p>
            <a:pPr marL="457200" lvl="1" indent="0" algn="just" eaLnBrk="0" fontAlgn="base" hangingPunct="0">
              <a:spcBef>
                <a:spcPct val="0"/>
              </a:spcBef>
              <a:spcAft>
                <a:spcPct val="0"/>
              </a:spcAft>
              <a:buClrTx/>
              <a:buSzTx/>
              <a:buNone/>
              <a:tabLst>
                <a:tab pos="685800" algn="l"/>
              </a:tabLst>
            </a:pPr>
            <a:endParaRPr lang="fr-FR" altLang="fr-FR" sz="3200" dirty="0">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 typeface="Symbol" panose="05050102010706020507" pitchFamily="18" charset="2"/>
              <a:buChar char=""/>
              <a:tabLst>
                <a:tab pos="6858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Un appareil de Vaquez comprenant un brassard gonflable, une poire pour gonfler le brassard et un manomètre (le Sphygmomanomètre)</a:t>
            </a:r>
            <a:endParaRPr lang="fr-FR" altLang="fr-FR" sz="3200" dirty="0">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 typeface="Symbol" panose="05050102010706020507" pitchFamily="18" charset="2"/>
              <a:buChar char=""/>
              <a:tabLst>
                <a:tab pos="6858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Un stéthoscope</a:t>
            </a:r>
            <a:endParaRPr lang="fr-FR" altLang="fr-FR" sz="3200" dirty="0">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 typeface="Symbol" panose="05050102010706020507" pitchFamily="18" charset="2"/>
              <a:buChar char=""/>
              <a:tabLst>
                <a:tab pos="6858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Un stylo de couleur rouge</a:t>
            </a:r>
            <a:endParaRPr lang="fr-FR" altLang="fr-FR" sz="3200" dirty="0">
              <a:latin typeface="Times New Roman" panose="02020603050405020304" pitchFamily="18" charset="0"/>
              <a:cs typeface="Times New Roman" panose="02020603050405020304" pitchFamily="18" charset="0"/>
            </a:endParaRPr>
          </a:p>
          <a:p>
            <a:pPr marL="457200" lvl="1" indent="0" algn="just" eaLnBrk="0" fontAlgn="base" hangingPunct="0">
              <a:spcBef>
                <a:spcPct val="0"/>
              </a:spcBef>
              <a:spcAft>
                <a:spcPct val="0"/>
              </a:spcAft>
              <a:buClrTx/>
              <a:buSzTx/>
              <a:buFont typeface="Symbol" panose="05050102010706020507" pitchFamily="18" charset="2"/>
              <a:buChar char=""/>
              <a:tabLst>
                <a:tab pos="6858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Une feuille de température ou de surveillance ou tout autre document du malade</a:t>
            </a:r>
            <a:endParaRPr lang="fr-FR" sz="3200" dirty="0"/>
          </a:p>
        </p:txBody>
      </p:sp>
    </p:spTree>
    <p:extLst>
      <p:ext uri="{BB962C8B-B14F-4D97-AF65-F5344CB8AC3E}">
        <p14:creationId xmlns:p14="http://schemas.microsoft.com/office/powerpoint/2010/main" val="34564922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09599" y="125356"/>
            <a:ext cx="10768150"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685800" algn="l"/>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Accueillir le client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Identifier le client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mettre au repos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présenter à lui</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L’informer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Lui expliquer le but et le procédé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rassurer de son innocuité</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Requérir son adhésion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Demander au client s’il n’a pas de besoin pressant à satisfaire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Réunir le matériel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laver les mains à l’eau et au savon et les passer à l’alcool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51359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39634" y="616130"/>
            <a:ext cx="11665132" cy="5697584"/>
          </a:xfrm>
        </p:spPr>
        <p:txBody>
          <a:bodyPr>
            <a:noAutofit/>
          </a:bodyPr>
          <a:lstStyle/>
          <a:p>
            <a:pPr lvl="1"/>
            <a:r>
              <a:rPr lang="fr-FR" sz="3200" dirty="0">
                <a:latin typeface="Times New Roman" panose="02020603050405020304" pitchFamily="18" charset="0"/>
                <a:cs typeface="Times New Roman" panose="02020603050405020304" pitchFamily="18" charset="0"/>
              </a:rPr>
              <a:t>Informer le client de l’imminence du soin</a:t>
            </a:r>
          </a:p>
          <a:p>
            <a:pPr lvl="1"/>
            <a:r>
              <a:rPr lang="fr-FR" sz="3200" dirty="0">
                <a:latin typeface="Times New Roman" panose="02020603050405020304" pitchFamily="18" charset="0"/>
                <a:cs typeface="Times New Roman" panose="02020603050405020304" pitchFamily="18" charset="0"/>
              </a:rPr>
              <a:t>Installer le client en décubitus dorsal ou assis, au repos depuis au moins 10mn</a:t>
            </a:r>
          </a:p>
          <a:p>
            <a:pPr lvl="1"/>
            <a:r>
              <a:rPr lang="fr-FR" sz="3200" dirty="0">
                <a:latin typeface="Times New Roman" panose="02020603050405020304" pitchFamily="18" charset="0"/>
                <a:cs typeface="Times New Roman" panose="02020603050405020304" pitchFamily="18" charset="0"/>
              </a:rPr>
              <a:t>Le client doit éviter tout effort et s’abstenir de fumer au moins 30mn avant la prise</a:t>
            </a:r>
          </a:p>
          <a:p>
            <a:pPr lvl="1"/>
            <a:r>
              <a:rPr lang="fr-FR" sz="3200" dirty="0">
                <a:latin typeface="Times New Roman" panose="02020603050405020304" pitchFamily="18" charset="0"/>
                <a:cs typeface="Times New Roman" panose="02020603050405020304" pitchFamily="18" charset="0"/>
              </a:rPr>
              <a:t>Dénuder le bras en retirant tout vêtement gênant</a:t>
            </a:r>
          </a:p>
          <a:p>
            <a:pPr lvl="1"/>
            <a:r>
              <a:rPr lang="fr-FR" sz="3200" dirty="0">
                <a:latin typeface="Times New Roman" panose="02020603050405020304" pitchFamily="18" charset="0"/>
                <a:cs typeface="Times New Roman" panose="02020603050405020304" pitchFamily="18" charset="0"/>
              </a:rPr>
              <a:t>Tenir le bras au niveau du plan du cœur si le client est assis</a:t>
            </a:r>
          </a:p>
          <a:p>
            <a:pPr lvl="1"/>
            <a:r>
              <a:rPr lang="fr-FR" sz="3200" dirty="0">
                <a:latin typeface="Times New Roman" panose="02020603050405020304" pitchFamily="18" charset="0"/>
                <a:cs typeface="Times New Roman" panose="02020603050405020304" pitchFamily="18" charset="0"/>
              </a:rPr>
              <a:t>Rechercher au palper l’artère brachiale</a:t>
            </a:r>
          </a:p>
          <a:p>
            <a:pPr lvl="1"/>
            <a:r>
              <a:rPr lang="fr-FR" sz="3200" dirty="0">
                <a:latin typeface="Times New Roman" panose="02020603050405020304" pitchFamily="18" charset="0"/>
                <a:cs typeface="Times New Roman" panose="02020603050405020304" pitchFamily="18" charset="0"/>
              </a:rPr>
              <a:t>Placer le brassard sur le bras à 2,5cm au dessus du siège de la pulsation de l’artère </a:t>
            </a:r>
            <a:r>
              <a:rPr lang="fr-FR" sz="3200" dirty="0" smtClean="0">
                <a:latin typeface="Times New Roman" panose="02020603050405020304" pitchFamily="18" charset="0"/>
                <a:cs typeface="Times New Roman" panose="02020603050405020304" pitchFamily="18" charset="0"/>
              </a:rPr>
              <a:t>brachiale</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47687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53143" y="1260566"/>
            <a:ext cx="10972800" cy="3790406"/>
          </a:xfrm>
        </p:spPr>
        <p:txBody>
          <a:bodyPr>
            <a:normAutofit/>
          </a:bodyPr>
          <a:lstStyle/>
          <a:p>
            <a:pPr lvl="1"/>
            <a:r>
              <a:rPr lang="fr-FR" sz="3200" dirty="0">
                <a:latin typeface="Times New Roman" panose="02020603050405020304" pitchFamily="18" charset="0"/>
                <a:cs typeface="Times New Roman" panose="02020603050405020304" pitchFamily="18" charset="0"/>
              </a:rPr>
              <a:t>Placer le manomètre à la verticale au niveau des yeux</a:t>
            </a:r>
          </a:p>
          <a:p>
            <a:pPr lvl="1"/>
            <a:r>
              <a:rPr lang="fr-FR" sz="3200" dirty="0">
                <a:latin typeface="Times New Roman" panose="02020603050405020304" pitchFamily="18" charset="0"/>
                <a:cs typeface="Times New Roman" panose="02020603050405020304" pitchFamily="18" charset="0"/>
              </a:rPr>
              <a:t>Placer la membrane du stéthoscope sur l’artère brachiale</a:t>
            </a:r>
          </a:p>
          <a:p>
            <a:pPr lvl="1"/>
            <a:r>
              <a:rPr lang="fr-FR" sz="3200" dirty="0">
                <a:latin typeface="Times New Roman" panose="02020603050405020304" pitchFamily="18" charset="0"/>
                <a:cs typeface="Times New Roman" panose="02020603050405020304" pitchFamily="18" charset="0"/>
              </a:rPr>
              <a:t>Fermer la soupape de la poire et gonfler le brassard jusqu’à 30mmHg au dessus de la normale</a:t>
            </a:r>
          </a:p>
          <a:p>
            <a:pPr lvl="1"/>
            <a:r>
              <a:rPr lang="fr-FR" sz="3200" dirty="0">
                <a:latin typeface="Times New Roman" panose="02020603050405020304" pitchFamily="18" charset="0"/>
                <a:cs typeface="Times New Roman" panose="02020603050405020304" pitchFamily="18" charset="0"/>
              </a:rPr>
              <a:t>Ouvrir lentement la soupape pour permettre à l’aiguille ou au mercure de descendre lentement</a:t>
            </a:r>
          </a:p>
        </p:txBody>
      </p:sp>
    </p:spTree>
    <p:extLst>
      <p:ext uri="{BB962C8B-B14F-4D97-AF65-F5344CB8AC3E}">
        <p14:creationId xmlns:p14="http://schemas.microsoft.com/office/powerpoint/2010/main" val="22810439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74171" y="734761"/>
            <a:ext cx="1177834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Noter la valeur indiquée sur le manomètre lors du premier bruit clairement entendu</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Continuer de dégonfler le brassard et noter la valeur du manomètre qui correspond au silence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Dégonfler complètement le brassard</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Réinstaller le client</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Lui communiquer la Pression</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laver les mains</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Consigner le soin sur la feuille de température ou de surveillance</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Faire au besoin la CCC en rapport avec le soin</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Remercier le client et prendre congé de lui avec des mots gentils</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685800" algn="l"/>
              </a:tabLst>
            </a:pPr>
            <a:r>
              <a:rPr kumimoji="0" lang="fr-FR" altLang="fr-FR" sz="30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Nettoyer et ranger le matériel</a:t>
            </a:r>
            <a:endParaRPr kumimoji="0" lang="fr-FR" altLang="fr-FR" sz="3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2525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70856" y="1023258"/>
            <a:ext cx="10189029" cy="2529840"/>
          </a:xfrm>
          <a:solidFill>
            <a:schemeClr val="bg2"/>
          </a:solidFill>
          <a:ln w="2857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fontScale="90000"/>
            <a:scene3d>
              <a:camera prst="orthographicFront"/>
              <a:lightRig rig="freezing" dir="t">
                <a:rot lat="0" lon="0" rev="5640000"/>
              </a:lightRig>
            </a:scene3d>
            <a:sp3d prstMaterial="flat">
              <a:contourClr>
                <a:schemeClr val="tx2"/>
              </a:contourClr>
            </a:sp3d>
          </a:bodyPr>
          <a:lstStyle/>
          <a:p>
            <a:pPr algn="ctr"/>
            <a:r>
              <a:rPr lang="fr-FR" sz="4900" b="1" dirty="0">
                <a:latin typeface="Times New Roman" panose="02020603050405020304" pitchFamily="18" charset="0"/>
                <a:cs typeface="Times New Roman" panose="02020603050405020304" pitchFamily="18" charset="0"/>
              </a:rPr>
              <a:t>COLLAPSUS </a:t>
            </a:r>
            <a:r>
              <a:rPr lang="fr-FR" sz="4900" b="1" dirty="0" smtClean="0">
                <a:latin typeface="Times New Roman" panose="02020603050405020304" pitchFamily="18" charset="0"/>
                <a:cs typeface="Times New Roman" panose="02020603050405020304" pitchFamily="18" charset="0"/>
              </a:rPr>
              <a:t>CARDIOVASCULAIRE</a:t>
            </a:r>
            <a:r>
              <a:rPr lang="fr-FR" sz="4900" dirty="0">
                <a:latin typeface="Times New Roman" panose="02020603050405020304" pitchFamily="18" charset="0"/>
                <a:cs typeface="Times New Roman" panose="02020603050405020304" pitchFamily="18" charset="0"/>
              </a:rPr>
              <a:t/>
            </a:r>
            <a:br>
              <a:rPr lang="fr-FR" sz="4900" dirty="0">
                <a:latin typeface="Times New Roman" panose="02020603050405020304" pitchFamily="18" charset="0"/>
                <a:cs typeface="Times New Roman" panose="02020603050405020304" pitchFamily="18" charset="0"/>
              </a:rPr>
            </a:br>
            <a:r>
              <a:rPr lang="fr-FR" sz="4900" b="1" dirty="0" smtClean="0">
                <a:latin typeface="Times New Roman" panose="02020603050405020304" pitchFamily="18" charset="0"/>
                <a:cs typeface="Times New Roman" panose="02020603050405020304" pitchFamily="18" charset="0"/>
              </a:rPr>
              <a:t>ET </a:t>
            </a:r>
            <a:r>
              <a:rPr lang="fr-FR" sz="4900" b="1" dirty="0">
                <a:latin typeface="Times New Roman" panose="02020603050405020304" pitchFamily="18" charset="0"/>
                <a:cs typeface="Times New Roman" panose="02020603050405020304" pitchFamily="18" charset="0"/>
              </a:rPr>
              <a:t>CHOC</a:t>
            </a:r>
            <a:r>
              <a:rPr lang="fr-FR" dirty="0"/>
              <a:t/>
            </a:r>
            <a:br>
              <a:rPr lang="fr-FR" dirty="0"/>
            </a:br>
            <a:endParaRPr lang="fr-FR" dirty="0"/>
          </a:p>
        </p:txBody>
      </p:sp>
    </p:spTree>
    <p:extLst>
      <p:ext uri="{BB962C8B-B14F-4D97-AF65-F5344CB8AC3E}">
        <p14:creationId xmlns:p14="http://schemas.microsoft.com/office/powerpoint/2010/main" val="23785672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478971"/>
            <a:ext cx="10972800" cy="6074229"/>
          </a:xfrm>
        </p:spPr>
        <p:txBody>
          <a:bodyPr>
            <a:normAutofit fontScale="92500" lnSpcReduction="10000"/>
          </a:bodyPr>
          <a:lstStyle/>
          <a:p>
            <a:pPr marL="0" indent="0">
              <a:buNone/>
            </a:pPr>
            <a:r>
              <a:rPr lang="fr-FR" sz="3500" u="sng" dirty="0">
                <a:solidFill>
                  <a:srgbClr val="C00000"/>
                </a:solidFill>
                <a:latin typeface="Times New Roman" panose="02020603050405020304" pitchFamily="18" charset="0"/>
                <a:cs typeface="Times New Roman" panose="02020603050405020304" pitchFamily="18" charset="0"/>
              </a:rPr>
              <a:t>OBJECTIF GENERAL</a:t>
            </a:r>
            <a:endParaRPr lang="fr-FR" sz="3500" dirty="0">
              <a:solidFill>
                <a:srgbClr val="C00000"/>
              </a:solidFill>
              <a:latin typeface="Times New Roman" panose="02020603050405020304" pitchFamily="18" charset="0"/>
              <a:cs typeface="Times New Roman" panose="02020603050405020304" pitchFamily="18" charset="0"/>
            </a:endParaRPr>
          </a:p>
          <a:p>
            <a:r>
              <a:rPr lang="fr-FR" sz="3500" dirty="0">
                <a:latin typeface="Times New Roman" panose="02020603050405020304" pitchFamily="18" charset="0"/>
                <a:cs typeface="Times New Roman" panose="02020603050405020304" pitchFamily="18" charset="0"/>
              </a:rPr>
              <a:t>L’étudiant de la 1</a:t>
            </a:r>
            <a:r>
              <a:rPr lang="fr-FR" sz="3500" baseline="30000" dirty="0">
                <a:latin typeface="Times New Roman" panose="02020603050405020304" pitchFamily="18" charset="0"/>
                <a:cs typeface="Times New Roman" panose="02020603050405020304" pitchFamily="18" charset="0"/>
              </a:rPr>
              <a:t>ère</a:t>
            </a:r>
            <a:r>
              <a:rPr lang="fr-FR" sz="3500" dirty="0">
                <a:latin typeface="Times New Roman" panose="02020603050405020304" pitchFamily="18" charset="0"/>
                <a:cs typeface="Times New Roman" panose="02020603050405020304" pitchFamily="18" charset="0"/>
              </a:rPr>
              <a:t> AC doit pouvoir acquérir des connaissances relatives au Choc et au Collapsus Cardio-Vasculaire</a:t>
            </a:r>
          </a:p>
          <a:p>
            <a:pPr marL="0" indent="0">
              <a:buNone/>
            </a:pPr>
            <a:r>
              <a:rPr lang="fr-FR" sz="3500" u="sng" dirty="0">
                <a:solidFill>
                  <a:srgbClr val="C00000"/>
                </a:solidFill>
                <a:latin typeface="Times New Roman" panose="02020603050405020304" pitchFamily="18" charset="0"/>
                <a:cs typeface="Times New Roman" panose="02020603050405020304" pitchFamily="18" charset="0"/>
              </a:rPr>
              <a:t>OBJECTIFS SPECIFIQUES</a:t>
            </a:r>
            <a:endParaRPr lang="fr-FR" sz="3500" dirty="0">
              <a:solidFill>
                <a:srgbClr val="C00000"/>
              </a:solidFill>
              <a:latin typeface="Times New Roman" panose="02020603050405020304" pitchFamily="18" charset="0"/>
              <a:cs typeface="Times New Roman" panose="02020603050405020304" pitchFamily="18" charset="0"/>
            </a:endParaRPr>
          </a:p>
          <a:p>
            <a:r>
              <a:rPr lang="fr-FR" sz="3500" dirty="0">
                <a:latin typeface="Times New Roman" panose="02020603050405020304" pitchFamily="18" charset="0"/>
                <a:cs typeface="Times New Roman" panose="02020603050405020304" pitchFamily="18" charset="0"/>
              </a:rPr>
              <a:t>Au terme de ce cours, l’étudiant de la 1</a:t>
            </a:r>
            <a:r>
              <a:rPr lang="fr-FR" sz="3500" baseline="30000" dirty="0">
                <a:latin typeface="Times New Roman" panose="02020603050405020304" pitchFamily="18" charset="0"/>
                <a:cs typeface="Times New Roman" panose="02020603050405020304" pitchFamily="18" charset="0"/>
              </a:rPr>
              <a:t>ère</a:t>
            </a:r>
            <a:r>
              <a:rPr lang="fr-FR" sz="3500" dirty="0">
                <a:latin typeface="Times New Roman" panose="02020603050405020304" pitchFamily="18" charset="0"/>
                <a:cs typeface="Times New Roman" panose="02020603050405020304" pitchFamily="18" charset="0"/>
              </a:rPr>
              <a:t> AC doit être capable :</a:t>
            </a:r>
          </a:p>
          <a:p>
            <a:pPr lvl="0"/>
            <a:r>
              <a:rPr lang="fr-FR" sz="3500" dirty="0">
                <a:latin typeface="Times New Roman" panose="02020603050405020304" pitchFamily="18" charset="0"/>
                <a:cs typeface="Times New Roman" panose="02020603050405020304" pitchFamily="18" charset="0"/>
              </a:rPr>
              <a:t>de définir selon les termes du cours, le Collapsus Cardio-Vasculaire et le Choc ;</a:t>
            </a:r>
          </a:p>
          <a:p>
            <a:pPr lvl="0"/>
            <a:r>
              <a:rPr lang="fr-FR" sz="3500" dirty="0">
                <a:latin typeface="Times New Roman" panose="02020603050405020304" pitchFamily="18" charset="0"/>
                <a:cs typeface="Times New Roman" panose="02020603050405020304" pitchFamily="18" charset="0"/>
              </a:rPr>
              <a:t>citer au moins deux étiologies d’un Choc Cardiogénique, Hypovolémique, Infectieux, Traumatique et Anaphylactique ;</a:t>
            </a:r>
          </a:p>
          <a:p>
            <a:pPr lvl="0"/>
            <a:r>
              <a:rPr lang="fr-FR" sz="3500" dirty="0">
                <a:latin typeface="Times New Roman" panose="02020603050405020304" pitchFamily="18" charset="0"/>
                <a:cs typeface="Times New Roman" panose="02020603050405020304" pitchFamily="18" charset="0"/>
              </a:rPr>
              <a:t>d’énumérer les signes cardiaques, cutanées, respiratoire, neurologiques et rénaux;</a:t>
            </a:r>
          </a:p>
          <a:p>
            <a:pPr lvl="0"/>
            <a:r>
              <a:rPr lang="fr-FR" sz="3500" dirty="0">
                <a:latin typeface="Times New Roman" panose="02020603050405020304" pitchFamily="18" charset="0"/>
                <a:cs typeface="Times New Roman" panose="02020603050405020304" pitchFamily="18" charset="0"/>
              </a:rPr>
              <a:t>de décrire la conduite à tenir devant un état de </a:t>
            </a:r>
            <a:r>
              <a:rPr lang="fr-FR" sz="3500" dirty="0" smtClean="0">
                <a:latin typeface="Times New Roman" panose="02020603050405020304" pitchFamily="18" charset="0"/>
                <a:cs typeface="Times New Roman" panose="02020603050405020304" pitchFamily="18" charset="0"/>
              </a:rPr>
              <a:t>Choc</a:t>
            </a:r>
            <a:endParaRPr lang="fr-FR"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775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idx="1"/>
          </p:nvPr>
        </p:nvSpPr>
        <p:spPr bwMode="auto">
          <a:xfrm>
            <a:off x="609600" y="463017"/>
            <a:ext cx="962025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 algn="l"/>
              </a:tabLst>
              <a:defRPr>
                <a:solidFill>
                  <a:schemeClr val="tx1"/>
                </a:solidFill>
                <a:latin typeface="Arial" panose="020B0604020202020204" pitchFamily="34" charset="0"/>
              </a:defRPr>
            </a:lvl1pPr>
            <a:lvl2pPr eaLnBrk="0" fontAlgn="base" hangingPunct="0">
              <a:spcBef>
                <a:spcPct val="0"/>
              </a:spcBef>
              <a:spcAft>
                <a:spcPct val="0"/>
              </a:spcAft>
              <a:tabLst>
                <a:tab pos="114300" algn="l"/>
              </a:tabLst>
              <a:defRPr>
                <a:solidFill>
                  <a:schemeClr val="tx1"/>
                </a:solidFill>
                <a:latin typeface="Arial" panose="020B0604020202020204" pitchFamily="34" charset="0"/>
              </a:defRPr>
            </a:lvl2pPr>
            <a:lvl3pPr eaLnBrk="0" fontAlgn="base" hangingPunct="0">
              <a:spcBef>
                <a:spcPct val="0"/>
              </a:spcBef>
              <a:spcAft>
                <a:spcPct val="0"/>
              </a:spcAft>
              <a:tabLst>
                <a:tab pos="114300" algn="l"/>
              </a:tabLst>
              <a:defRPr>
                <a:solidFill>
                  <a:schemeClr val="tx1"/>
                </a:solidFill>
                <a:latin typeface="Arial" panose="020B0604020202020204" pitchFamily="34" charset="0"/>
              </a:defRPr>
            </a:lvl3pPr>
            <a:lvl4pPr eaLnBrk="0" fontAlgn="base" hangingPunct="0">
              <a:spcBef>
                <a:spcPct val="0"/>
              </a:spcBef>
              <a:spcAft>
                <a:spcPct val="0"/>
              </a:spcAft>
              <a:tabLst>
                <a:tab pos="114300" algn="l"/>
              </a:tabLst>
              <a:defRPr>
                <a:solidFill>
                  <a:schemeClr val="tx1"/>
                </a:solidFill>
                <a:latin typeface="Arial" panose="020B0604020202020204" pitchFamily="34" charset="0"/>
              </a:defRPr>
            </a:lvl4pPr>
            <a:lvl5pPr eaLnBrk="0" fontAlgn="base" hangingPunct="0">
              <a:spcBef>
                <a:spcPct val="0"/>
              </a:spcBef>
              <a:spcAft>
                <a:spcPct val="0"/>
              </a:spcAft>
              <a:tabLst>
                <a:tab pos="114300" algn="l"/>
              </a:tabLst>
              <a:defRPr>
                <a:solidFill>
                  <a:schemeClr val="tx1"/>
                </a:solidFill>
                <a:latin typeface="Arial" panose="020B0604020202020204" pitchFamily="34" charset="0"/>
              </a:defRPr>
            </a:lvl5pPr>
            <a:lvl6pPr eaLnBrk="0" fontAlgn="base" hangingPunct="0">
              <a:spcBef>
                <a:spcPct val="0"/>
              </a:spcBef>
              <a:spcAft>
                <a:spcPct val="0"/>
              </a:spcAft>
              <a:tabLst>
                <a:tab pos="114300" algn="l"/>
              </a:tabLst>
              <a:defRPr>
                <a:solidFill>
                  <a:schemeClr val="tx1"/>
                </a:solidFill>
                <a:latin typeface="Arial" panose="020B0604020202020204" pitchFamily="34" charset="0"/>
              </a:defRPr>
            </a:lvl6pPr>
            <a:lvl7pPr eaLnBrk="0" fontAlgn="base" hangingPunct="0">
              <a:spcBef>
                <a:spcPct val="0"/>
              </a:spcBef>
              <a:spcAft>
                <a:spcPct val="0"/>
              </a:spcAft>
              <a:tabLst>
                <a:tab pos="114300" algn="l"/>
              </a:tabLst>
              <a:defRPr>
                <a:solidFill>
                  <a:schemeClr val="tx1"/>
                </a:solidFill>
                <a:latin typeface="Arial" panose="020B0604020202020204" pitchFamily="34" charset="0"/>
              </a:defRPr>
            </a:lvl7pPr>
            <a:lvl8pPr eaLnBrk="0" fontAlgn="base" hangingPunct="0">
              <a:spcBef>
                <a:spcPct val="0"/>
              </a:spcBef>
              <a:spcAft>
                <a:spcPct val="0"/>
              </a:spcAft>
              <a:tabLst>
                <a:tab pos="114300" algn="l"/>
              </a:tabLst>
              <a:defRPr>
                <a:solidFill>
                  <a:schemeClr val="tx1"/>
                </a:solidFill>
                <a:latin typeface="Arial" panose="020B0604020202020204" pitchFamily="34" charset="0"/>
              </a:defRPr>
            </a:lvl8pPr>
            <a:lvl9pPr eaLnBrk="0" fontAlgn="base" hangingPunct="0">
              <a:spcBef>
                <a:spcPct val="0"/>
              </a:spcBef>
              <a:spcAft>
                <a:spcPct val="0"/>
              </a:spcAft>
              <a:tabLst>
                <a:tab pos="1143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143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INTRODUCTION</a:t>
            </a:r>
            <a:endParaRPr kumimoji="0" lang="fr-FR" altLang="fr-FR" sz="3200" b="0" i="0" u="sng"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1143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CCV et le Choc sont des manifestations couramment rencontrées chez les patients atteints d’affections cardiovasculaires. Ils constituent une urgence en ce sens que la survie du malade dépend de la mise en route immédiate d’un traitement adapté et efficace.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1143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DEFINITION</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3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CCV est la baisse de la Tension Artérielle au dessous des chiffres Minima qui permettent la perfusion des organes sans que ceux-ci ne souffrent.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3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Choc est une chute brutale et importante du débit cardiaque avec anoxie tissulaire.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68494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743199" y="478971"/>
            <a:ext cx="6270171" cy="6074229"/>
          </a:xfrm>
        </p:spPr>
        <p:txBody>
          <a:bodyPr>
            <a:normAutofit/>
          </a:bodyPr>
          <a:lstStyle/>
          <a:p>
            <a:pPr marL="0" lvl="0" indent="0">
              <a:buNone/>
            </a:pPr>
            <a:r>
              <a:rPr lang="fr-FR" sz="3200" b="1" u="sng" dirty="0" smtClean="0">
                <a:solidFill>
                  <a:srgbClr val="C00000"/>
                </a:solidFill>
                <a:latin typeface="Times New Roman" panose="02020603050405020304" pitchFamily="18" charset="0"/>
                <a:cs typeface="Times New Roman" panose="02020603050405020304" pitchFamily="18" charset="0"/>
              </a:rPr>
              <a:t>ETIOLOGIE</a:t>
            </a:r>
            <a:endParaRPr lang="fr-FR" sz="3200" dirty="0" smtClean="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1. Choc Cardiogénique</a:t>
            </a:r>
            <a:endParaRPr lang="fr-FR" sz="3200" dirty="0" smtClean="0">
              <a:solidFill>
                <a:srgbClr val="FF0000"/>
              </a:solidFill>
              <a:latin typeface="Times New Roman" panose="02020603050405020304" pitchFamily="18" charset="0"/>
              <a:cs typeface="Times New Roman" panose="02020603050405020304" pitchFamily="18" charset="0"/>
            </a:endParaRPr>
          </a:p>
          <a:p>
            <a:pPr lvl="1"/>
            <a:r>
              <a:rPr lang="fr-FR" sz="3200" dirty="0" smtClean="0">
                <a:latin typeface="Times New Roman" panose="02020603050405020304" pitchFamily="18" charset="0"/>
                <a:cs typeface="Times New Roman" panose="02020603050405020304" pitchFamily="18" charset="0"/>
              </a:rPr>
              <a:t>Infarctus </a:t>
            </a:r>
            <a:r>
              <a:rPr lang="fr-FR" sz="3200" dirty="0">
                <a:latin typeface="Times New Roman" panose="02020603050405020304" pitchFamily="18" charset="0"/>
                <a:cs typeface="Times New Roman" panose="02020603050405020304" pitchFamily="18" charset="0"/>
              </a:rPr>
              <a:t>du Myocarde</a:t>
            </a:r>
          </a:p>
          <a:p>
            <a:pPr lvl="1"/>
            <a:r>
              <a:rPr lang="fr-FR" sz="3200" dirty="0">
                <a:latin typeface="Times New Roman" panose="02020603050405020304" pitchFamily="18" charset="0"/>
                <a:cs typeface="Times New Roman" panose="02020603050405020304" pitchFamily="18" charset="0"/>
              </a:rPr>
              <a:t>Embolie Pulmonaire</a:t>
            </a:r>
          </a:p>
          <a:p>
            <a:pPr lvl="1"/>
            <a:r>
              <a:rPr lang="fr-FR" sz="3200" dirty="0">
                <a:latin typeface="Times New Roman" panose="02020603050405020304" pitchFamily="18" charset="0"/>
                <a:cs typeface="Times New Roman" panose="02020603050405020304" pitchFamily="18" charset="0"/>
              </a:rPr>
              <a:t>Tamponnade </a:t>
            </a:r>
            <a:r>
              <a:rPr lang="fr-FR" sz="3200" dirty="0" smtClean="0">
                <a:latin typeface="Times New Roman" panose="02020603050405020304" pitchFamily="18" charset="0"/>
                <a:cs typeface="Times New Roman" panose="02020603050405020304" pitchFamily="18" charset="0"/>
              </a:rPr>
              <a:t>Péricardique</a:t>
            </a:r>
          </a:p>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2. Choc Hypovolémique</a:t>
            </a:r>
            <a:endParaRPr lang="fr-FR" sz="3200" dirty="0" smtClean="0">
              <a:solidFill>
                <a:srgbClr val="FF0000"/>
              </a:solidFill>
              <a:latin typeface="Times New Roman" panose="02020603050405020304" pitchFamily="18" charset="0"/>
              <a:cs typeface="Times New Roman" panose="02020603050405020304" pitchFamily="18" charset="0"/>
            </a:endParaRPr>
          </a:p>
          <a:p>
            <a:pPr lvl="1"/>
            <a:r>
              <a:rPr lang="fr-FR" sz="3200" dirty="0" smtClean="0">
                <a:latin typeface="Times New Roman" panose="02020603050405020304" pitchFamily="18" charset="0"/>
                <a:cs typeface="Times New Roman" panose="02020603050405020304" pitchFamily="18" charset="0"/>
              </a:rPr>
              <a:t> Hémorragie</a:t>
            </a:r>
            <a:endParaRPr lang="fr-FR" sz="3200" dirty="0">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Diarrhée Profuse</a:t>
            </a:r>
          </a:p>
          <a:p>
            <a:pPr lvl="1"/>
            <a:r>
              <a:rPr lang="fr-FR" sz="3200" dirty="0">
                <a:latin typeface="Times New Roman" panose="02020603050405020304" pitchFamily="18" charset="0"/>
                <a:cs typeface="Times New Roman" panose="02020603050405020304" pitchFamily="18" charset="0"/>
              </a:rPr>
              <a:t>Vomissement incoercible</a:t>
            </a:r>
          </a:p>
          <a:p>
            <a:pPr lvl="1"/>
            <a:r>
              <a:rPr lang="fr-FR" sz="3200" dirty="0">
                <a:latin typeface="Times New Roman" panose="02020603050405020304" pitchFamily="18" charset="0"/>
                <a:cs typeface="Times New Roman" panose="02020603050405020304" pitchFamily="18" charset="0"/>
              </a:rPr>
              <a:t>Hypersudation</a:t>
            </a:r>
          </a:p>
          <a:p>
            <a:endParaRPr lang="fr-FR" dirty="0"/>
          </a:p>
        </p:txBody>
      </p:sp>
    </p:spTree>
    <p:extLst>
      <p:ext uri="{BB962C8B-B14F-4D97-AF65-F5344CB8AC3E}">
        <p14:creationId xmlns:p14="http://schemas.microsoft.com/office/powerpoint/2010/main" val="26279016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092051" y="476076"/>
            <a:ext cx="8684806"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4588" algn="l"/>
              </a:tabLst>
              <a:defRPr>
                <a:solidFill>
                  <a:schemeClr val="tx1"/>
                </a:solidFill>
                <a:latin typeface="Arial" panose="020B0604020202020204" pitchFamily="34" charset="0"/>
              </a:defRPr>
            </a:lvl1pPr>
            <a:lvl2pPr eaLnBrk="0" fontAlgn="base" hangingPunct="0">
              <a:spcBef>
                <a:spcPct val="0"/>
              </a:spcBef>
              <a:spcAft>
                <a:spcPct val="0"/>
              </a:spcAft>
              <a:tabLst>
                <a:tab pos="1144588" algn="l"/>
              </a:tabLst>
              <a:defRPr>
                <a:solidFill>
                  <a:schemeClr val="tx1"/>
                </a:solidFill>
                <a:latin typeface="Arial" panose="020B0604020202020204" pitchFamily="34" charset="0"/>
              </a:defRPr>
            </a:lvl2pPr>
            <a:lvl3pPr eaLnBrk="0" fontAlgn="base" hangingPunct="0">
              <a:spcBef>
                <a:spcPct val="0"/>
              </a:spcBef>
              <a:spcAft>
                <a:spcPct val="0"/>
              </a:spcAft>
              <a:tabLst>
                <a:tab pos="1144588" algn="l"/>
              </a:tabLst>
              <a:defRPr>
                <a:solidFill>
                  <a:schemeClr val="tx1"/>
                </a:solidFill>
                <a:latin typeface="Arial" panose="020B0604020202020204" pitchFamily="34" charset="0"/>
              </a:defRPr>
            </a:lvl3pPr>
            <a:lvl4pPr eaLnBrk="0" fontAlgn="base" hangingPunct="0">
              <a:spcBef>
                <a:spcPct val="0"/>
              </a:spcBef>
              <a:spcAft>
                <a:spcPct val="0"/>
              </a:spcAft>
              <a:tabLst>
                <a:tab pos="1144588" algn="l"/>
              </a:tabLst>
              <a:defRPr>
                <a:solidFill>
                  <a:schemeClr val="tx1"/>
                </a:solidFill>
                <a:latin typeface="Arial" panose="020B0604020202020204" pitchFamily="34" charset="0"/>
              </a:defRPr>
            </a:lvl4pPr>
            <a:lvl5pPr eaLnBrk="0" fontAlgn="base" hangingPunct="0">
              <a:spcBef>
                <a:spcPct val="0"/>
              </a:spcBef>
              <a:spcAft>
                <a:spcPct val="0"/>
              </a:spcAft>
              <a:tabLst>
                <a:tab pos="1144588" algn="l"/>
              </a:tabLst>
              <a:defRPr>
                <a:solidFill>
                  <a:schemeClr val="tx1"/>
                </a:solidFill>
                <a:latin typeface="Arial" panose="020B0604020202020204" pitchFamily="34" charset="0"/>
              </a:defRPr>
            </a:lvl5pPr>
            <a:lvl6pPr eaLnBrk="0" fontAlgn="base" hangingPunct="0">
              <a:spcBef>
                <a:spcPct val="0"/>
              </a:spcBef>
              <a:spcAft>
                <a:spcPct val="0"/>
              </a:spcAft>
              <a:tabLst>
                <a:tab pos="1144588" algn="l"/>
              </a:tabLst>
              <a:defRPr>
                <a:solidFill>
                  <a:schemeClr val="tx1"/>
                </a:solidFill>
                <a:latin typeface="Arial" panose="020B0604020202020204" pitchFamily="34" charset="0"/>
              </a:defRPr>
            </a:lvl6pPr>
            <a:lvl7pPr eaLnBrk="0" fontAlgn="base" hangingPunct="0">
              <a:spcBef>
                <a:spcPct val="0"/>
              </a:spcBef>
              <a:spcAft>
                <a:spcPct val="0"/>
              </a:spcAft>
              <a:tabLst>
                <a:tab pos="1144588" algn="l"/>
              </a:tabLst>
              <a:defRPr>
                <a:solidFill>
                  <a:schemeClr val="tx1"/>
                </a:solidFill>
                <a:latin typeface="Arial" panose="020B0604020202020204" pitchFamily="34" charset="0"/>
              </a:defRPr>
            </a:lvl7pPr>
            <a:lvl8pPr eaLnBrk="0" fontAlgn="base" hangingPunct="0">
              <a:spcBef>
                <a:spcPct val="0"/>
              </a:spcBef>
              <a:spcAft>
                <a:spcPct val="0"/>
              </a:spcAft>
              <a:tabLst>
                <a:tab pos="1144588" algn="l"/>
              </a:tabLst>
              <a:defRPr>
                <a:solidFill>
                  <a:schemeClr val="tx1"/>
                </a:solidFill>
                <a:latin typeface="Arial" panose="020B0604020202020204" pitchFamily="34" charset="0"/>
              </a:defRPr>
            </a:lvl8pPr>
            <a:lvl9pPr eaLnBrk="0" fontAlgn="base" hangingPunct="0">
              <a:spcBef>
                <a:spcPct val="0"/>
              </a:spcBef>
              <a:spcAft>
                <a:spcPct val="0"/>
              </a:spcAft>
              <a:tabLst>
                <a:tab pos="1144588"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3. Choc Infectieux</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Septicémie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Germes à gramme négatif</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4. Choc Traumatique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Polytraumatisme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Accident de la Voie Publique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Traumatismes Chirurgicaux et Obstétricaux</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5. Choc Anaphylactique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Allergie Médicamenteuse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Allergie Alimentaire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Piqûre d’insecte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Morsure de serpent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19411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02674" y="434915"/>
            <a:ext cx="11186652"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4588" algn="l"/>
              </a:tabLst>
              <a:defRPr>
                <a:solidFill>
                  <a:schemeClr val="tx1"/>
                </a:solidFill>
                <a:latin typeface="Arial" panose="020B0604020202020204" pitchFamily="34" charset="0"/>
              </a:defRPr>
            </a:lvl1pPr>
            <a:lvl2pPr eaLnBrk="0" fontAlgn="base" hangingPunct="0">
              <a:spcBef>
                <a:spcPct val="0"/>
              </a:spcBef>
              <a:spcAft>
                <a:spcPct val="0"/>
              </a:spcAft>
              <a:tabLst>
                <a:tab pos="1144588" algn="l"/>
              </a:tabLst>
              <a:defRPr>
                <a:solidFill>
                  <a:schemeClr val="tx1"/>
                </a:solidFill>
                <a:latin typeface="Arial" panose="020B0604020202020204" pitchFamily="34" charset="0"/>
              </a:defRPr>
            </a:lvl2pPr>
            <a:lvl3pPr eaLnBrk="0" fontAlgn="base" hangingPunct="0">
              <a:spcBef>
                <a:spcPct val="0"/>
              </a:spcBef>
              <a:spcAft>
                <a:spcPct val="0"/>
              </a:spcAft>
              <a:tabLst>
                <a:tab pos="1144588" algn="l"/>
              </a:tabLst>
              <a:defRPr>
                <a:solidFill>
                  <a:schemeClr val="tx1"/>
                </a:solidFill>
                <a:latin typeface="Arial" panose="020B0604020202020204" pitchFamily="34" charset="0"/>
              </a:defRPr>
            </a:lvl3pPr>
            <a:lvl4pPr eaLnBrk="0" fontAlgn="base" hangingPunct="0">
              <a:spcBef>
                <a:spcPct val="0"/>
              </a:spcBef>
              <a:spcAft>
                <a:spcPct val="0"/>
              </a:spcAft>
              <a:tabLst>
                <a:tab pos="1144588" algn="l"/>
              </a:tabLst>
              <a:defRPr>
                <a:solidFill>
                  <a:schemeClr val="tx1"/>
                </a:solidFill>
                <a:latin typeface="Arial" panose="020B0604020202020204" pitchFamily="34" charset="0"/>
              </a:defRPr>
            </a:lvl4pPr>
            <a:lvl5pPr eaLnBrk="0" fontAlgn="base" hangingPunct="0">
              <a:spcBef>
                <a:spcPct val="0"/>
              </a:spcBef>
              <a:spcAft>
                <a:spcPct val="0"/>
              </a:spcAft>
              <a:tabLst>
                <a:tab pos="1144588" algn="l"/>
              </a:tabLst>
              <a:defRPr>
                <a:solidFill>
                  <a:schemeClr val="tx1"/>
                </a:solidFill>
                <a:latin typeface="Arial" panose="020B0604020202020204" pitchFamily="34" charset="0"/>
              </a:defRPr>
            </a:lvl5pPr>
            <a:lvl6pPr eaLnBrk="0" fontAlgn="base" hangingPunct="0">
              <a:spcBef>
                <a:spcPct val="0"/>
              </a:spcBef>
              <a:spcAft>
                <a:spcPct val="0"/>
              </a:spcAft>
              <a:tabLst>
                <a:tab pos="1144588" algn="l"/>
              </a:tabLst>
              <a:defRPr>
                <a:solidFill>
                  <a:schemeClr val="tx1"/>
                </a:solidFill>
                <a:latin typeface="Arial" panose="020B0604020202020204" pitchFamily="34" charset="0"/>
              </a:defRPr>
            </a:lvl6pPr>
            <a:lvl7pPr eaLnBrk="0" fontAlgn="base" hangingPunct="0">
              <a:spcBef>
                <a:spcPct val="0"/>
              </a:spcBef>
              <a:spcAft>
                <a:spcPct val="0"/>
              </a:spcAft>
              <a:tabLst>
                <a:tab pos="1144588" algn="l"/>
              </a:tabLst>
              <a:defRPr>
                <a:solidFill>
                  <a:schemeClr val="tx1"/>
                </a:solidFill>
                <a:latin typeface="Arial" panose="020B0604020202020204" pitchFamily="34" charset="0"/>
              </a:defRPr>
            </a:lvl7pPr>
            <a:lvl8pPr eaLnBrk="0" fontAlgn="base" hangingPunct="0">
              <a:spcBef>
                <a:spcPct val="0"/>
              </a:spcBef>
              <a:spcAft>
                <a:spcPct val="0"/>
              </a:spcAft>
              <a:tabLst>
                <a:tab pos="1144588" algn="l"/>
              </a:tabLst>
              <a:defRPr>
                <a:solidFill>
                  <a:schemeClr val="tx1"/>
                </a:solidFill>
                <a:latin typeface="Arial" panose="020B0604020202020204" pitchFamily="34" charset="0"/>
              </a:defRPr>
            </a:lvl8pPr>
            <a:lvl9pPr eaLnBrk="0" fontAlgn="base" hangingPunct="0">
              <a:spcBef>
                <a:spcPct val="0"/>
              </a:spcBef>
              <a:spcAft>
                <a:spcPct val="0"/>
              </a:spcAft>
              <a:tabLst>
                <a:tab pos="1144588"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CLINIQUE</a:t>
            </a:r>
          </a:p>
          <a:p>
            <a:pPr marL="0" marR="0" lvl="0" indent="0" algn="just" defTabSz="914400" rtl="0" eaLnBrk="0" fontAlgn="base" latinLnBrk="0" hangingPunct="0">
              <a:lnSpc>
                <a:spcPct val="100000"/>
              </a:lnSpc>
              <a:spcBef>
                <a:spcPct val="0"/>
              </a:spcBef>
              <a:spcAft>
                <a:spcPct val="0"/>
              </a:spcAft>
              <a:buClrTx/>
              <a:buSzTx/>
              <a:buNone/>
              <a:tabLst>
                <a:tab pos="1144588"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1. Signes Cardiaques</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Pouls est petit, filant et imprenable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Tension Artériel basse avec la Maxima inférieur à 80mmHg</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périphériques sont </a:t>
            </a:r>
            <a:r>
              <a:rPr kumimoji="0" lang="fr-FR" altLang="fr-FR" sz="32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collabées</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et invisibles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914400" marR="0" lvl="2" indent="0" algn="just" defTabSz="914400" rtl="0" eaLnBrk="0" fontAlgn="base" latinLnBrk="0" hangingPunct="0">
              <a:lnSpc>
                <a:spcPct val="100000"/>
              </a:lnSpc>
              <a:spcBef>
                <a:spcPct val="0"/>
              </a:spcBef>
              <a:spcAft>
                <a:spcPct val="0"/>
              </a:spcAft>
              <a:buClrTx/>
              <a:buSzTx/>
              <a:buNone/>
              <a:tabLst>
                <a:tab pos="1144588" algn="l"/>
              </a:tabLst>
            </a:pPr>
            <a:endPar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lvl="2" indent="0" algn="just" defTabSz="914400" rtl="0" eaLnBrk="0" fontAlgn="base" latinLnBrk="0" hangingPunct="0">
              <a:lnSpc>
                <a:spcPct val="100000"/>
              </a:lnSpc>
              <a:spcBef>
                <a:spcPct val="0"/>
              </a:spcBef>
              <a:spcAft>
                <a:spcPct val="0"/>
              </a:spcAft>
              <a:buClrTx/>
              <a:buSzTx/>
              <a:buNone/>
              <a:tabLst>
                <a:tab pos="1144588"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2. Signes Cutanés</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malade est extrêmement pâle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Il est couvert de sueur froide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1144588"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Ses extrémités sont froides et cyanosés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4812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13657" y="283029"/>
            <a:ext cx="11386457" cy="6335485"/>
          </a:xfrm>
        </p:spPr>
        <p:txBody>
          <a:bodyPr>
            <a:noAutofit/>
          </a:bodyPr>
          <a:lstStyle/>
          <a:p>
            <a:pPr marL="667512" lvl="2" indent="0">
              <a:buNone/>
            </a:pPr>
            <a:r>
              <a:rPr lang="fr-FR" sz="3200" b="1" dirty="0" smtClean="0">
                <a:solidFill>
                  <a:srgbClr val="FF0000"/>
                </a:solidFill>
                <a:latin typeface="Times New Roman" panose="02020603050405020304" pitchFamily="18" charset="0"/>
                <a:cs typeface="Times New Roman" panose="02020603050405020304" pitchFamily="18" charset="0"/>
              </a:rPr>
              <a:t>3. Signes </a:t>
            </a:r>
            <a:r>
              <a:rPr lang="fr-FR" sz="3200" b="1" dirty="0">
                <a:solidFill>
                  <a:srgbClr val="FF0000"/>
                </a:solidFill>
                <a:latin typeface="Times New Roman" panose="02020603050405020304" pitchFamily="18" charset="0"/>
                <a:cs typeface="Times New Roman" panose="02020603050405020304" pitchFamily="18" charset="0"/>
              </a:rPr>
              <a:t>Respiratoires</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Il présente une polypnée superficielle, courte ou parfois ample</a:t>
            </a:r>
          </a:p>
          <a:p>
            <a:pPr lvl="1"/>
            <a:r>
              <a:rPr lang="fr-FR" sz="3200" dirty="0">
                <a:latin typeface="Times New Roman" panose="02020603050405020304" pitchFamily="18" charset="0"/>
                <a:cs typeface="Times New Roman" panose="02020603050405020304" pitchFamily="18" charset="0"/>
              </a:rPr>
              <a:t>Sa respiration est irrégulière</a:t>
            </a:r>
          </a:p>
          <a:p>
            <a:pPr lvl="1"/>
            <a:r>
              <a:rPr lang="fr-FR" sz="3200" dirty="0">
                <a:latin typeface="Times New Roman" panose="02020603050405020304" pitchFamily="18" charset="0"/>
                <a:cs typeface="Times New Roman" panose="02020603050405020304" pitchFamily="18" charset="0"/>
              </a:rPr>
              <a:t>Son nez est pincé (affaissement des ailes du nez)</a:t>
            </a:r>
          </a:p>
          <a:p>
            <a:pPr marL="667512" lvl="2" indent="0">
              <a:buNone/>
            </a:pPr>
            <a:r>
              <a:rPr lang="fr-FR" sz="3200" b="1" dirty="0" smtClean="0">
                <a:solidFill>
                  <a:srgbClr val="FF0000"/>
                </a:solidFill>
                <a:latin typeface="Times New Roman" panose="02020603050405020304" pitchFamily="18" charset="0"/>
                <a:cs typeface="Times New Roman" panose="02020603050405020304" pitchFamily="18" charset="0"/>
              </a:rPr>
              <a:t>4. Signes </a:t>
            </a:r>
            <a:r>
              <a:rPr lang="fr-FR" sz="3200" b="1" dirty="0">
                <a:solidFill>
                  <a:srgbClr val="FF0000"/>
                </a:solidFill>
                <a:latin typeface="Times New Roman" panose="02020603050405020304" pitchFamily="18" charset="0"/>
                <a:cs typeface="Times New Roman" panose="02020603050405020304" pitchFamily="18" charset="0"/>
              </a:rPr>
              <a:t>Neurologiques</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Le malade est dans une attitude prostrée</a:t>
            </a:r>
          </a:p>
          <a:p>
            <a:pPr lvl="1"/>
            <a:r>
              <a:rPr lang="fr-FR" sz="3200" dirty="0">
                <a:latin typeface="Times New Roman" panose="02020603050405020304" pitchFamily="18" charset="0"/>
                <a:cs typeface="Times New Roman" panose="02020603050405020304" pitchFamily="18" charset="0"/>
              </a:rPr>
              <a:t>Il est </a:t>
            </a:r>
            <a:r>
              <a:rPr lang="fr-FR" sz="3200" dirty="0" smtClean="0">
                <a:latin typeface="Times New Roman" panose="02020603050405020304" pitchFamily="18" charset="0"/>
                <a:cs typeface="Times New Roman" panose="02020603050405020304" pitchFamily="18" charset="0"/>
              </a:rPr>
              <a:t>apathique ou </a:t>
            </a:r>
            <a:r>
              <a:rPr lang="fr-FR" sz="3200" dirty="0">
                <a:latin typeface="Times New Roman" panose="02020603050405020304" pitchFamily="18" charset="0"/>
                <a:cs typeface="Times New Roman" panose="02020603050405020304" pitchFamily="18" charset="0"/>
              </a:rPr>
              <a:t>présente souvent des crises d’agitation</a:t>
            </a:r>
          </a:p>
          <a:p>
            <a:pPr lvl="1"/>
            <a:r>
              <a:rPr lang="fr-FR" sz="3200" dirty="0">
                <a:latin typeface="Times New Roman" panose="02020603050405020304" pitchFamily="18" charset="0"/>
                <a:cs typeface="Times New Roman" panose="02020603050405020304" pitchFamily="18" charset="0"/>
              </a:rPr>
              <a:t>La conscience est conservée</a:t>
            </a:r>
          </a:p>
          <a:p>
            <a:pPr marL="667512" lvl="2" indent="0">
              <a:buNone/>
            </a:pPr>
            <a:r>
              <a:rPr lang="fr-FR" sz="3200" b="1" dirty="0" smtClean="0">
                <a:solidFill>
                  <a:srgbClr val="FF0000"/>
                </a:solidFill>
                <a:latin typeface="Times New Roman" panose="02020603050405020304" pitchFamily="18" charset="0"/>
                <a:cs typeface="Times New Roman" panose="02020603050405020304" pitchFamily="18" charset="0"/>
              </a:rPr>
              <a:t>5. Signes </a:t>
            </a:r>
            <a:r>
              <a:rPr lang="fr-FR" sz="3200" b="1" dirty="0">
                <a:solidFill>
                  <a:srgbClr val="FF0000"/>
                </a:solidFill>
                <a:latin typeface="Times New Roman" panose="02020603050405020304" pitchFamily="18" charset="0"/>
                <a:cs typeface="Times New Roman" panose="02020603050405020304" pitchFamily="18" charset="0"/>
              </a:rPr>
              <a:t>Rénaux</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Le malade se plaint de soif intense</a:t>
            </a:r>
          </a:p>
          <a:p>
            <a:pPr lvl="1"/>
            <a:r>
              <a:rPr lang="fr-FR" sz="3200" dirty="0">
                <a:latin typeface="Times New Roman" panose="02020603050405020304" pitchFamily="18" charset="0"/>
                <a:cs typeface="Times New Roman" panose="02020603050405020304" pitchFamily="18" charset="0"/>
              </a:rPr>
              <a:t>Il y a baisse de la diurèse ou une anurie</a:t>
            </a:r>
          </a:p>
        </p:txBody>
      </p:sp>
    </p:spTree>
    <p:extLst>
      <p:ext uri="{BB962C8B-B14F-4D97-AF65-F5344CB8AC3E}">
        <p14:creationId xmlns:p14="http://schemas.microsoft.com/office/powerpoint/2010/main" val="67507106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935480"/>
            <a:ext cx="10972800" cy="3703320"/>
          </a:xfrm>
        </p:spPr>
        <p:txBody>
          <a:bodyPr>
            <a:noAutofit/>
          </a:bodyPr>
          <a:lstStyle/>
          <a:p>
            <a:pPr marL="0" lvl="0" indent="0" algn="ctr">
              <a:buNone/>
            </a:pPr>
            <a:r>
              <a:rPr lang="fr-FR" sz="3200" b="1" u="sng" dirty="0">
                <a:solidFill>
                  <a:srgbClr val="C00000"/>
                </a:solidFill>
                <a:latin typeface="Times New Roman" panose="02020603050405020304" pitchFamily="18" charset="0"/>
                <a:cs typeface="Times New Roman" panose="02020603050405020304" pitchFamily="18" charset="0"/>
              </a:rPr>
              <a:t>CONDUITE A TENIR DEVANT LE </a:t>
            </a:r>
            <a:r>
              <a:rPr lang="fr-FR" sz="3200" b="1" u="sng" dirty="0" smtClean="0">
                <a:solidFill>
                  <a:srgbClr val="C00000"/>
                </a:solidFill>
                <a:latin typeface="Times New Roman" panose="02020603050405020304" pitchFamily="18" charset="0"/>
                <a:cs typeface="Times New Roman" panose="02020603050405020304" pitchFamily="18" charset="0"/>
              </a:rPr>
              <a:t>CHOC</a:t>
            </a:r>
          </a:p>
          <a:p>
            <a:pPr marL="0" lvl="0" indent="0">
              <a:buNone/>
            </a:pP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Le rôle de l’infirmier dans la majorité des cas, comporte trois étapes : parer à l’urgence en posant le geste qui sauve, exécuter les consignes et prescriptions médicales enfin, assurer la surveillance</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4488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09599" y="761483"/>
            <a:ext cx="1108165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Le Geste qui sauve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Il faut pouvoir reconnaître l’état de Choc devant l’apparition brusque d’une angoisse, d’une agitation ou au contraire d’une prostration avec les extrémités froides et cyanosés, la sueur, la marbrure, une polypnée superficielle, un pouls petit filant et une tension artérielle effondrée.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Devant ces signes, il faut immédiatement appliquer la loi des 4 tuyaux.</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une voie veineuse et procéder à un bon remplissage vasculaire avec du sang iso groupe, iso rhésus ou des macromolécules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752686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3029" y="413657"/>
            <a:ext cx="11691257" cy="6139543"/>
          </a:xfrm>
        </p:spPr>
        <p:txBody>
          <a:bodyPr>
            <a:normAutofit fontScale="55000" lnSpcReduction="20000"/>
          </a:bodyPr>
          <a:lstStyle/>
          <a:p>
            <a:pPr marL="0" lvl="0" indent="0" algn="just" eaLnBrk="0" fontAlgn="base" hangingPunct="0">
              <a:spcBef>
                <a:spcPct val="0"/>
              </a:spcBef>
              <a:spcAft>
                <a:spcPct val="0"/>
              </a:spcAft>
              <a:buClrTx/>
              <a:buSzTx/>
              <a:buFontTx/>
              <a:buChar char="•"/>
              <a:tabLst>
                <a:tab pos="457200" algn="l"/>
              </a:tabLst>
            </a:pPr>
            <a:r>
              <a:rPr lang="fr-FR" altLang="fr-FR" sz="5800" dirty="0">
                <a:latin typeface="Times New Roman" panose="02020603050405020304" pitchFamily="18" charset="0"/>
                <a:ea typeface="Times New Roman" panose="02020603050405020304" pitchFamily="18" charset="0"/>
                <a:cs typeface="Times New Roman" panose="02020603050405020304" pitchFamily="18" charset="0"/>
              </a:rPr>
              <a:t>Prendre une deuxième voie veineuse pour les injections intraveineuse directe (IVD), de vasopresseur ou de soluté de bicarbonate ;</a:t>
            </a:r>
            <a:endParaRPr lang="fr-FR" altLang="fr-FR" sz="58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5800" dirty="0">
                <a:latin typeface="Times New Roman" panose="02020603050405020304" pitchFamily="18" charset="0"/>
                <a:ea typeface="Times New Roman" panose="02020603050405020304" pitchFamily="18" charset="0"/>
                <a:cs typeface="Times New Roman" panose="02020603050405020304" pitchFamily="18" charset="0"/>
              </a:rPr>
              <a:t>Oxygéner le malade au masque ou par sonde nasale, à raison de 6 litre / minute ;</a:t>
            </a:r>
            <a:endParaRPr lang="fr-FR" altLang="fr-FR" sz="58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5800" dirty="0">
                <a:latin typeface="Times New Roman" panose="02020603050405020304" pitchFamily="18" charset="0"/>
                <a:ea typeface="Times New Roman" panose="02020603050405020304" pitchFamily="18" charset="0"/>
                <a:cs typeface="Times New Roman" panose="02020603050405020304" pitchFamily="18" charset="0"/>
              </a:rPr>
              <a:t>Placer une sonde vésicale à demeure</a:t>
            </a:r>
            <a:r>
              <a:rPr lang="fr-FR" altLang="fr-FR" sz="58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fr-FR" sz="5800" b="1" u="sng" dirty="0" smtClean="0">
              <a:latin typeface="Times New Roman" panose="02020603050405020304" pitchFamily="18" charset="0"/>
              <a:cs typeface="Times New Roman" panose="02020603050405020304" pitchFamily="18" charset="0"/>
            </a:endParaRPr>
          </a:p>
          <a:p>
            <a:pPr marL="0" indent="0">
              <a:buNone/>
            </a:pPr>
            <a:r>
              <a:rPr lang="fr-FR" sz="5800" b="1" u="sng" dirty="0" smtClean="0">
                <a:solidFill>
                  <a:srgbClr val="C00000"/>
                </a:solidFill>
                <a:latin typeface="Times New Roman" panose="02020603050405020304" pitchFamily="18" charset="0"/>
                <a:cs typeface="Times New Roman" panose="02020603050405020304" pitchFamily="18" charset="0"/>
              </a:rPr>
              <a:t>Exécution </a:t>
            </a:r>
            <a:r>
              <a:rPr lang="fr-FR" sz="5800" b="1" u="sng" dirty="0">
                <a:solidFill>
                  <a:srgbClr val="C00000"/>
                </a:solidFill>
                <a:latin typeface="Times New Roman" panose="02020603050405020304" pitchFamily="18" charset="0"/>
                <a:cs typeface="Times New Roman" panose="02020603050405020304" pitchFamily="18" charset="0"/>
              </a:rPr>
              <a:t>des Prescriptions Médicales</a:t>
            </a:r>
            <a:endParaRPr lang="fr-FR" sz="5800" dirty="0">
              <a:solidFill>
                <a:srgbClr val="C00000"/>
              </a:solidFill>
              <a:latin typeface="Times New Roman" panose="02020603050405020304" pitchFamily="18" charset="0"/>
              <a:cs typeface="Times New Roman" panose="02020603050405020304" pitchFamily="18" charset="0"/>
            </a:endParaRPr>
          </a:p>
          <a:p>
            <a:r>
              <a:rPr lang="fr-FR" sz="5800" dirty="0">
                <a:latin typeface="Times New Roman" panose="02020603050405020304" pitchFamily="18" charset="0"/>
                <a:cs typeface="Times New Roman" panose="02020603050405020304" pitchFamily="18" charset="0"/>
              </a:rPr>
              <a:t>Ce sont les gestes de diagnostic ou thérapeutiques, conseillés, recommandé par le Médecin ou qui nécessite sa présence :</a:t>
            </a:r>
          </a:p>
          <a:p>
            <a:pPr lvl="1"/>
            <a:r>
              <a:rPr lang="fr-FR" sz="5800" dirty="0">
                <a:latin typeface="Times New Roman" panose="02020603050405020304" pitchFamily="18" charset="0"/>
                <a:cs typeface="Times New Roman" panose="02020603050405020304" pitchFamily="18" charset="0"/>
              </a:rPr>
              <a:t>Prévenir le Médecin dès l’apparition des signes de Choc</a:t>
            </a:r>
          </a:p>
          <a:p>
            <a:pPr lvl="1"/>
            <a:r>
              <a:rPr lang="fr-FR" sz="5800" dirty="0">
                <a:latin typeface="Times New Roman" panose="02020603050405020304" pitchFamily="18" charset="0"/>
                <a:cs typeface="Times New Roman" panose="02020603050405020304" pitchFamily="18" charset="0"/>
              </a:rPr>
              <a:t>Noter l’existence d’une douleur et en informer le Médecin</a:t>
            </a:r>
          </a:p>
          <a:p>
            <a:pPr lvl="1"/>
            <a:r>
              <a:rPr lang="fr-FR" sz="5800" dirty="0">
                <a:latin typeface="Times New Roman" panose="02020603050405020304" pitchFamily="18" charset="0"/>
                <a:cs typeface="Times New Roman" panose="02020603050405020304" pitchFamily="18" charset="0"/>
              </a:rPr>
              <a:t>Préparer un soluté bicarbonaté et un sérum avec des vasopresseurs en attendant les consignes du Médecin</a:t>
            </a:r>
          </a:p>
          <a:p>
            <a:pPr lvl="1"/>
            <a:r>
              <a:rPr lang="fr-FR" sz="5800" dirty="0">
                <a:latin typeface="Times New Roman" panose="02020603050405020304" pitchFamily="18" charset="0"/>
                <a:cs typeface="Times New Roman" panose="02020603050405020304" pitchFamily="18" charset="0"/>
              </a:rPr>
              <a:t>Demander un hématocrite et un groupe rhésus en urgence.</a:t>
            </a:r>
          </a:p>
          <a:p>
            <a:endParaRPr lang="fr-FR" dirty="0"/>
          </a:p>
        </p:txBody>
      </p:sp>
    </p:spTree>
    <p:extLst>
      <p:ext uri="{BB962C8B-B14F-4D97-AF65-F5344CB8AC3E}">
        <p14:creationId xmlns:p14="http://schemas.microsoft.com/office/powerpoint/2010/main" val="22024043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26571" y="591668"/>
            <a:ext cx="115824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Surveillance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surveillance doit porter essentiellement sur les entrées, les sorties, le pouls, la tension artérielle et l’état général.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Régler la perfusion du vasopresseur de façon que la pression systolique n’excède pas 120mmHg de Maxima</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Régler le débit d’oxygène à 5 ou 6 litre / minute et vérifier la recoloration des extrémités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Régler le débit des solutés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Surveiller la diurèse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 typeface="Symbol" panose="05050102010706020507" pitchFamily="18" charset="2"/>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Surveiller le pouls, la tension artérielle, l’état général, à tout instant, jusqu’à ce que le malade retrouve son état antérieur.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7478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76251" y="1541417"/>
            <a:ext cx="8926286" cy="2442754"/>
          </a:xfr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a:normAutofit/>
            <a:scene3d>
              <a:camera prst="orthographicFront"/>
              <a:lightRig rig="freezing" dir="t">
                <a:rot lat="0" lon="0" rev="5640000"/>
              </a:lightRig>
            </a:scene3d>
            <a:sp3d prstMaterial="flat">
              <a:contourClr>
                <a:schemeClr val="tx2"/>
              </a:contourClr>
            </a:sp3d>
          </a:bodyPr>
          <a:lstStyle/>
          <a:p>
            <a:pPr algn="ctr"/>
            <a:r>
              <a:rPr lang="fr-FR" sz="7200" b="1" dirty="0">
                <a:latin typeface="Times New Roman" panose="02020603050405020304" pitchFamily="18" charset="0"/>
                <a:cs typeface="Times New Roman" panose="02020603050405020304" pitchFamily="18" charset="0"/>
              </a:rPr>
              <a:t>LES INJECTIONS</a:t>
            </a:r>
            <a:r>
              <a:rPr lang="fr-FR" dirty="0"/>
              <a:t/>
            </a:r>
            <a:br>
              <a:rPr lang="fr-FR" dirty="0"/>
            </a:br>
            <a:endParaRPr lang="fr-FR" dirty="0"/>
          </a:p>
        </p:txBody>
      </p:sp>
    </p:spTree>
    <p:extLst>
      <p:ext uri="{BB962C8B-B14F-4D97-AF65-F5344CB8AC3E}">
        <p14:creationId xmlns:p14="http://schemas.microsoft.com/office/powerpoint/2010/main" val="40458510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653142"/>
            <a:ext cx="10972800" cy="5736771"/>
          </a:xfrm>
        </p:spPr>
        <p:txBody>
          <a:bodyPr>
            <a:normAutofit fontScale="85000" lnSpcReduction="20000"/>
          </a:bodyPr>
          <a:lstStyle/>
          <a:p>
            <a:pPr marL="0" indent="0">
              <a:buNone/>
            </a:pPr>
            <a:r>
              <a:rPr lang="fr-FR" sz="3500" u="sng" dirty="0">
                <a:solidFill>
                  <a:srgbClr val="C00000"/>
                </a:solidFill>
                <a:latin typeface="Times New Roman" panose="02020603050405020304" pitchFamily="18" charset="0"/>
                <a:cs typeface="Times New Roman" panose="02020603050405020304" pitchFamily="18" charset="0"/>
              </a:rPr>
              <a:t>OBJECTIF GENERAL</a:t>
            </a:r>
            <a:endParaRPr lang="fr-FR" sz="3500" dirty="0">
              <a:solidFill>
                <a:srgbClr val="C00000"/>
              </a:solidFill>
              <a:latin typeface="Times New Roman" panose="02020603050405020304" pitchFamily="18" charset="0"/>
              <a:cs typeface="Times New Roman" panose="02020603050405020304" pitchFamily="18" charset="0"/>
            </a:endParaRPr>
          </a:p>
          <a:p>
            <a:r>
              <a:rPr lang="fr-FR" sz="3500" dirty="0">
                <a:latin typeface="Times New Roman" panose="02020603050405020304" pitchFamily="18" charset="0"/>
                <a:cs typeface="Times New Roman" panose="02020603050405020304" pitchFamily="18" charset="0"/>
              </a:rPr>
              <a:t>L’étudiant de la 1</a:t>
            </a:r>
            <a:r>
              <a:rPr lang="fr-FR" sz="3500" baseline="30000" dirty="0">
                <a:latin typeface="Times New Roman" panose="02020603050405020304" pitchFamily="18" charset="0"/>
                <a:cs typeface="Times New Roman" panose="02020603050405020304" pitchFamily="18" charset="0"/>
              </a:rPr>
              <a:t>ère</a:t>
            </a:r>
            <a:r>
              <a:rPr lang="fr-FR" sz="3500" dirty="0">
                <a:latin typeface="Times New Roman" panose="02020603050405020304" pitchFamily="18" charset="0"/>
                <a:cs typeface="Times New Roman" panose="02020603050405020304" pitchFamily="18" charset="0"/>
              </a:rPr>
              <a:t> AC doit pouvoir acquérir des connaissances théoriques relatives aux Injections Médicamenteuses.</a:t>
            </a:r>
          </a:p>
          <a:p>
            <a:pPr marL="0" indent="0">
              <a:buNone/>
            </a:pPr>
            <a:r>
              <a:rPr lang="fr-FR" sz="3500" u="sng" dirty="0" smtClean="0">
                <a:solidFill>
                  <a:srgbClr val="C00000"/>
                </a:solidFill>
                <a:latin typeface="Times New Roman" panose="02020603050405020304" pitchFamily="18" charset="0"/>
                <a:cs typeface="Times New Roman" panose="02020603050405020304" pitchFamily="18" charset="0"/>
              </a:rPr>
              <a:t>OBJECTIFS </a:t>
            </a:r>
            <a:r>
              <a:rPr lang="fr-FR" sz="3500" u="sng" dirty="0">
                <a:solidFill>
                  <a:srgbClr val="C00000"/>
                </a:solidFill>
                <a:latin typeface="Times New Roman" panose="02020603050405020304" pitchFamily="18" charset="0"/>
                <a:cs typeface="Times New Roman" panose="02020603050405020304" pitchFamily="18" charset="0"/>
              </a:rPr>
              <a:t>SPECIFIQUES</a:t>
            </a:r>
            <a:endParaRPr lang="fr-FR" sz="3500" dirty="0">
              <a:solidFill>
                <a:srgbClr val="C00000"/>
              </a:solidFill>
              <a:latin typeface="Times New Roman" panose="02020603050405020304" pitchFamily="18" charset="0"/>
              <a:cs typeface="Times New Roman" panose="02020603050405020304" pitchFamily="18" charset="0"/>
            </a:endParaRPr>
          </a:p>
          <a:p>
            <a:r>
              <a:rPr lang="fr-FR" sz="3500" dirty="0">
                <a:latin typeface="Times New Roman" panose="02020603050405020304" pitchFamily="18" charset="0"/>
                <a:cs typeface="Times New Roman" panose="02020603050405020304" pitchFamily="18" charset="0"/>
              </a:rPr>
              <a:t>Au terme de ce cours, l’étudiant de la 1</a:t>
            </a:r>
            <a:r>
              <a:rPr lang="fr-FR" sz="3500" baseline="30000" dirty="0">
                <a:latin typeface="Times New Roman" panose="02020603050405020304" pitchFamily="18" charset="0"/>
                <a:cs typeface="Times New Roman" panose="02020603050405020304" pitchFamily="18" charset="0"/>
              </a:rPr>
              <a:t>ère</a:t>
            </a:r>
            <a:r>
              <a:rPr lang="fr-FR" sz="3500" dirty="0">
                <a:latin typeface="Times New Roman" panose="02020603050405020304" pitchFamily="18" charset="0"/>
                <a:cs typeface="Times New Roman" panose="02020603050405020304" pitchFamily="18" charset="0"/>
              </a:rPr>
              <a:t> AC doit être capable :</a:t>
            </a:r>
          </a:p>
          <a:p>
            <a:pPr lvl="0"/>
            <a:r>
              <a:rPr lang="fr-FR" sz="3500" dirty="0">
                <a:latin typeface="Times New Roman" panose="02020603050405020304" pitchFamily="18" charset="0"/>
                <a:cs typeface="Times New Roman" panose="02020603050405020304" pitchFamily="18" charset="0"/>
              </a:rPr>
              <a:t>de définir en ses propres termes sans en altérer le sens les injections médicamenteuses ;</a:t>
            </a:r>
          </a:p>
          <a:p>
            <a:pPr lvl="0"/>
            <a:r>
              <a:rPr lang="fr-FR" sz="3500" dirty="0">
                <a:latin typeface="Times New Roman" panose="02020603050405020304" pitchFamily="18" charset="0"/>
                <a:cs typeface="Times New Roman" panose="02020603050405020304" pitchFamily="18" charset="0"/>
              </a:rPr>
              <a:t>d’énumérer tout le matériel nécessaire à une injection ;</a:t>
            </a:r>
          </a:p>
          <a:p>
            <a:pPr lvl="0"/>
            <a:r>
              <a:rPr lang="fr-FR" sz="3500" dirty="0">
                <a:latin typeface="Times New Roman" panose="02020603050405020304" pitchFamily="18" charset="0"/>
                <a:cs typeface="Times New Roman" panose="02020603050405020304" pitchFamily="18" charset="0"/>
              </a:rPr>
              <a:t>de décrire les étapes de la préparation des produits à injecter ;</a:t>
            </a:r>
          </a:p>
          <a:p>
            <a:pPr lvl="0"/>
            <a:r>
              <a:rPr lang="fr-FR" sz="3500" dirty="0">
                <a:latin typeface="Times New Roman" panose="02020603050405020304" pitchFamily="18" charset="0"/>
                <a:cs typeface="Times New Roman" panose="02020603050405020304" pitchFamily="18" charset="0"/>
              </a:rPr>
              <a:t>de décrire à partir du cours la technique relative à chaque type d’injection ;</a:t>
            </a:r>
          </a:p>
          <a:p>
            <a:pPr lvl="0"/>
            <a:r>
              <a:rPr lang="fr-FR" sz="3500" dirty="0">
                <a:latin typeface="Times New Roman" panose="02020603050405020304" pitchFamily="18" charset="0"/>
                <a:cs typeface="Times New Roman" panose="02020603050405020304" pitchFamily="18" charset="0"/>
              </a:rPr>
              <a:t>d’énumérer les accidents et les incidents dus aux injections</a:t>
            </a:r>
            <a:r>
              <a:rPr lang="fr-FR" sz="3500" dirty="0" smtClean="0">
                <a:latin typeface="Times New Roman" panose="02020603050405020304" pitchFamily="18" charset="0"/>
                <a:cs typeface="Times New Roman" panose="02020603050405020304" pitchFamily="18" charset="0"/>
              </a:rPr>
              <a:t>.</a:t>
            </a:r>
            <a:endParaRPr lang="fr-FR"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3600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48789" y="653143"/>
            <a:ext cx="10972800" cy="5573486"/>
          </a:xfrm>
        </p:spPr>
        <p:txBody>
          <a:bodyPr>
            <a:normAutofit/>
          </a:bodyPr>
          <a:lstStyle/>
          <a:p>
            <a:pPr marL="393192" lvl="1" indent="0">
              <a:buNone/>
            </a:pPr>
            <a:r>
              <a:rPr lang="fr-FR" sz="3200" b="1" u="sng" dirty="0" smtClean="0">
                <a:solidFill>
                  <a:srgbClr val="C00000"/>
                </a:solidFill>
                <a:latin typeface="Times New Roman" panose="02020603050405020304" pitchFamily="18" charset="0"/>
                <a:cs typeface="Times New Roman" panose="02020603050405020304" pitchFamily="18" charset="0"/>
              </a:rPr>
              <a:t>DEFINITION</a:t>
            </a:r>
          </a:p>
          <a:p>
            <a:pPr marL="393192" lvl="1" indent="0">
              <a:buNone/>
            </a:pPr>
            <a:endParaRPr lang="fr-FR" sz="10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L’injection médicamenteuse est l’introduction sous pression, à l’aide d’une seringue ou d’un appareil approprié, de produits liquides dans les tissus organiques.</a:t>
            </a:r>
          </a:p>
          <a:p>
            <a:r>
              <a:rPr lang="fr-FR" sz="3200" dirty="0">
                <a:latin typeface="Times New Roman" panose="02020603050405020304" pitchFamily="18" charset="0"/>
                <a:cs typeface="Times New Roman" panose="02020603050405020304" pitchFamily="18" charset="0"/>
              </a:rPr>
              <a:t>On distingue principalement 4 types d’injection :</a:t>
            </a:r>
          </a:p>
          <a:p>
            <a:pPr lvl="0"/>
            <a:r>
              <a:rPr lang="fr-FR" sz="3200" dirty="0">
                <a:latin typeface="Times New Roman" panose="02020603050405020304" pitchFamily="18" charset="0"/>
                <a:cs typeface="Times New Roman" panose="02020603050405020304" pitchFamily="18" charset="0"/>
              </a:rPr>
              <a:t>L’injection sous-cutanée,</a:t>
            </a:r>
          </a:p>
          <a:p>
            <a:pPr lvl="0"/>
            <a:r>
              <a:rPr lang="fr-FR" sz="3200" dirty="0">
                <a:latin typeface="Times New Roman" panose="02020603050405020304" pitchFamily="18" charset="0"/>
                <a:cs typeface="Times New Roman" panose="02020603050405020304" pitchFamily="18" charset="0"/>
              </a:rPr>
              <a:t>L’injection intramusculaire,</a:t>
            </a:r>
          </a:p>
          <a:p>
            <a:pPr lvl="0"/>
            <a:r>
              <a:rPr lang="fr-FR" sz="3200" dirty="0">
                <a:latin typeface="Times New Roman" panose="02020603050405020304" pitchFamily="18" charset="0"/>
                <a:cs typeface="Times New Roman" panose="02020603050405020304" pitchFamily="18" charset="0"/>
              </a:rPr>
              <a:t>L’injection intraveineuse,</a:t>
            </a:r>
          </a:p>
          <a:p>
            <a:pPr lvl="0"/>
            <a:r>
              <a:rPr lang="fr-FR" sz="3200" dirty="0">
                <a:latin typeface="Times New Roman" panose="02020603050405020304" pitchFamily="18" charset="0"/>
                <a:cs typeface="Times New Roman" panose="02020603050405020304" pitchFamily="18" charset="0"/>
              </a:rPr>
              <a:t>L’injection intradermique.</a:t>
            </a:r>
          </a:p>
          <a:p>
            <a:endParaRPr lang="fr-FR" dirty="0"/>
          </a:p>
        </p:txBody>
      </p:sp>
    </p:spTree>
    <p:extLst>
      <p:ext uri="{BB962C8B-B14F-4D97-AF65-F5344CB8AC3E}">
        <p14:creationId xmlns:p14="http://schemas.microsoft.com/office/powerpoint/2010/main" val="57601884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61257" y="348342"/>
            <a:ext cx="11647713" cy="6291943"/>
          </a:xfrm>
        </p:spPr>
        <p:txBody>
          <a:bodyPr>
            <a:normAutofit fontScale="85000" lnSpcReduction="20000"/>
          </a:bodyPr>
          <a:lstStyle/>
          <a:p>
            <a:pPr marL="393192" lvl="1" indent="0">
              <a:buNone/>
            </a:pPr>
            <a:r>
              <a:rPr lang="fr-FR" sz="3800" b="1" u="sng" dirty="0">
                <a:solidFill>
                  <a:srgbClr val="C00000"/>
                </a:solidFill>
                <a:latin typeface="Times New Roman" panose="02020603050405020304" pitchFamily="18" charset="0"/>
                <a:cs typeface="Times New Roman" panose="02020603050405020304" pitchFamily="18" charset="0"/>
              </a:rPr>
              <a:t>PREPARATION DU SOIN</a:t>
            </a:r>
            <a:endParaRPr lang="fr-FR" sz="38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800" b="1" dirty="0">
                <a:solidFill>
                  <a:srgbClr val="FF0000"/>
                </a:solidFill>
                <a:latin typeface="Times New Roman" panose="02020603050405020304" pitchFamily="18" charset="0"/>
                <a:cs typeface="Times New Roman" panose="02020603050405020304" pitchFamily="18" charset="0"/>
              </a:rPr>
              <a:t>- </a:t>
            </a:r>
            <a:r>
              <a:rPr lang="fr-FR" sz="3800" b="1" u="sng" dirty="0">
                <a:solidFill>
                  <a:srgbClr val="FF0000"/>
                </a:solidFill>
                <a:latin typeface="Times New Roman" panose="02020603050405020304" pitchFamily="18" charset="0"/>
                <a:cs typeface="Times New Roman" panose="02020603050405020304" pitchFamily="18" charset="0"/>
              </a:rPr>
              <a:t>Préparation Psychologique</a:t>
            </a:r>
            <a:endParaRPr lang="fr-FR" sz="3800" dirty="0">
              <a:solidFill>
                <a:srgbClr val="FF0000"/>
              </a:solidFill>
              <a:latin typeface="Times New Roman" panose="02020603050405020304" pitchFamily="18" charset="0"/>
              <a:cs typeface="Times New Roman" panose="02020603050405020304" pitchFamily="18" charset="0"/>
            </a:endParaRPr>
          </a:p>
          <a:p>
            <a:r>
              <a:rPr lang="fr-FR" sz="3800" dirty="0">
                <a:latin typeface="Times New Roman" panose="02020603050405020304" pitchFamily="18" charset="0"/>
                <a:cs typeface="Times New Roman" panose="02020603050405020304" pitchFamily="18" charset="0"/>
              </a:rPr>
              <a:t>Elle est indispensable voire obligatoire dans tous les soins. Elle permet de rassurer le malade, de mettre en confiance et d’obtenir son adhésion et sa collaboration au soin :</a:t>
            </a:r>
          </a:p>
          <a:p>
            <a:pPr lvl="0"/>
            <a:r>
              <a:rPr lang="fr-FR" sz="3800" dirty="0">
                <a:latin typeface="Times New Roman" panose="02020603050405020304" pitchFamily="18" charset="0"/>
                <a:cs typeface="Times New Roman" panose="02020603050405020304" pitchFamily="18" charset="0"/>
              </a:rPr>
              <a:t>aller au pied du lit et identifier le malade</a:t>
            </a:r>
          </a:p>
          <a:p>
            <a:pPr lvl="0"/>
            <a:r>
              <a:rPr lang="fr-FR" sz="3800" dirty="0">
                <a:latin typeface="Times New Roman" panose="02020603050405020304" pitchFamily="18" charset="0"/>
                <a:cs typeface="Times New Roman" panose="02020603050405020304" pitchFamily="18" charset="0"/>
              </a:rPr>
              <a:t>le saluer et s’enquérir de son état</a:t>
            </a:r>
          </a:p>
          <a:p>
            <a:pPr lvl="0"/>
            <a:r>
              <a:rPr lang="fr-FR" sz="3800" dirty="0">
                <a:latin typeface="Times New Roman" panose="02020603050405020304" pitchFamily="18" charset="0"/>
                <a:cs typeface="Times New Roman" panose="02020603050405020304" pitchFamily="18" charset="0"/>
              </a:rPr>
              <a:t>le prévenir du soin</a:t>
            </a:r>
          </a:p>
          <a:p>
            <a:pPr lvl="0"/>
            <a:r>
              <a:rPr lang="fr-FR" sz="3800" dirty="0">
                <a:latin typeface="Times New Roman" panose="02020603050405020304" pitchFamily="18" charset="0"/>
                <a:cs typeface="Times New Roman" panose="02020603050405020304" pitchFamily="18" charset="0"/>
              </a:rPr>
              <a:t>lui expliquer le soin</a:t>
            </a:r>
          </a:p>
          <a:p>
            <a:pPr lvl="0"/>
            <a:r>
              <a:rPr lang="fr-FR" sz="3800" dirty="0">
                <a:latin typeface="Times New Roman" panose="02020603050405020304" pitchFamily="18" charset="0"/>
                <a:cs typeface="Times New Roman" panose="02020603050405020304" pitchFamily="18" charset="0"/>
              </a:rPr>
              <a:t>le rassurer de son innocuité</a:t>
            </a:r>
          </a:p>
          <a:p>
            <a:pPr lvl="0"/>
            <a:r>
              <a:rPr lang="fr-FR" sz="3800" dirty="0">
                <a:latin typeface="Times New Roman" panose="02020603050405020304" pitchFamily="18" charset="0"/>
                <a:cs typeface="Times New Roman" panose="02020603050405020304" pitchFamily="18" charset="0"/>
              </a:rPr>
              <a:t>recueillir ses préoccupations</a:t>
            </a:r>
          </a:p>
          <a:p>
            <a:pPr lvl="0"/>
            <a:r>
              <a:rPr lang="fr-FR" sz="3800" dirty="0">
                <a:latin typeface="Times New Roman" panose="02020603050405020304" pitchFamily="18" charset="0"/>
                <a:cs typeface="Times New Roman" panose="02020603050405020304" pitchFamily="18" charset="0"/>
              </a:rPr>
              <a:t>s’enquérir des besoins pressant à soulager</a:t>
            </a:r>
          </a:p>
          <a:p>
            <a:pPr lvl="0"/>
            <a:r>
              <a:rPr lang="fr-FR" sz="3800" dirty="0">
                <a:latin typeface="Times New Roman" panose="02020603050405020304" pitchFamily="18" charset="0"/>
                <a:cs typeface="Times New Roman" panose="02020603050405020304" pitchFamily="18" charset="0"/>
              </a:rPr>
              <a:t>lui annoncer qu’on revient dans quelques instants pour le soin</a:t>
            </a:r>
          </a:p>
          <a:p>
            <a:endParaRPr lang="fr-FR" dirty="0"/>
          </a:p>
        </p:txBody>
      </p:sp>
    </p:spTree>
    <p:extLst>
      <p:ext uri="{BB962C8B-B14F-4D97-AF65-F5344CB8AC3E}">
        <p14:creationId xmlns:p14="http://schemas.microsoft.com/office/powerpoint/2010/main" val="20922443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393372" y="2029098"/>
            <a:ext cx="9318171" cy="2521131"/>
          </a:xfrm>
        </p:spPr>
        <p:txBody>
          <a:bodyPr>
            <a:normAutofit/>
          </a:bodyPr>
          <a:lstStyle/>
          <a:p>
            <a:pPr marL="393192" lvl="1" indent="0">
              <a:buNone/>
            </a:pPr>
            <a:r>
              <a:rPr lang="fr-FR" sz="3200" b="1" dirty="0">
                <a:solidFill>
                  <a:srgbClr val="C00000"/>
                </a:solidFill>
                <a:latin typeface="Times New Roman" panose="02020603050405020304" pitchFamily="18" charset="0"/>
                <a:cs typeface="Times New Roman" panose="02020603050405020304" pitchFamily="18" charset="0"/>
              </a:rPr>
              <a:t>- </a:t>
            </a:r>
            <a:r>
              <a:rPr lang="fr-FR" sz="3200" b="1" u="sng" dirty="0">
                <a:solidFill>
                  <a:srgbClr val="C00000"/>
                </a:solidFill>
                <a:latin typeface="Times New Roman" panose="02020603050405020304" pitchFamily="18" charset="0"/>
                <a:cs typeface="Times New Roman" panose="02020603050405020304" pitchFamily="18" charset="0"/>
              </a:rPr>
              <a:t>Préparation du Matériel</a:t>
            </a:r>
            <a:endParaRPr lang="fr-FR" sz="3200" dirty="0">
              <a:solidFill>
                <a:srgbClr val="C0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Aller dans la salle de pansement</a:t>
            </a:r>
          </a:p>
          <a:p>
            <a:pPr lvl="0"/>
            <a:r>
              <a:rPr lang="fr-FR" sz="3200" dirty="0">
                <a:latin typeface="Times New Roman" panose="02020603050405020304" pitchFamily="18" charset="0"/>
                <a:cs typeface="Times New Roman" panose="02020603050405020304" pitchFamily="18" charset="0"/>
              </a:rPr>
              <a:t>Se laver les mains et prendre un chariot à pansement</a:t>
            </a:r>
          </a:p>
          <a:p>
            <a:pPr lvl="0"/>
            <a:r>
              <a:rPr lang="fr-FR" sz="3200" dirty="0">
                <a:latin typeface="Times New Roman" panose="02020603050405020304" pitchFamily="18" charset="0"/>
                <a:cs typeface="Times New Roman" panose="02020603050405020304" pitchFamily="18" charset="0"/>
              </a:rPr>
              <a:t>Nettoyer le chariot</a:t>
            </a:r>
          </a:p>
          <a:p>
            <a:endParaRPr lang="fr-FR" dirty="0"/>
          </a:p>
        </p:txBody>
      </p:sp>
    </p:spTree>
    <p:extLst>
      <p:ext uri="{BB962C8B-B14F-4D97-AF65-F5344CB8AC3E}">
        <p14:creationId xmlns:p14="http://schemas.microsoft.com/office/powerpoint/2010/main" val="269012346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74171"/>
            <a:ext cx="10972800" cy="6422571"/>
          </a:xfrm>
        </p:spPr>
        <p:txBody>
          <a:bodyPr>
            <a:normAutofit fontScale="85000" lnSpcReduction="20000"/>
          </a:bodyPr>
          <a:lstStyle/>
          <a:p>
            <a:pPr marL="393192" lvl="1" indent="0">
              <a:buNone/>
            </a:pPr>
            <a:r>
              <a:rPr lang="fr-FR" sz="3500" b="1" dirty="0">
                <a:solidFill>
                  <a:srgbClr val="FF0000"/>
                </a:solidFill>
                <a:latin typeface="Times New Roman" panose="02020603050405020304" pitchFamily="18" charset="0"/>
                <a:cs typeface="Times New Roman" panose="02020603050405020304" pitchFamily="18" charset="0"/>
              </a:rPr>
              <a:t>Installer à l’étage supérieur du chariot</a:t>
            </a:r>
            <a:endParaRPr lang="fr-FR" sz="3500" dirty="0">
              <a:solidFill>
                <a:srgbClr val="FF0000"/>
              </a:solidFill>
              <a:latin typeface="Times New Roman" panose="02020603050405020304" pitchFamily="18" charset="0"/>
              <a:cs typeface="Times New Roman" panose="02020603050405020304" pitchFamily="18" charset="0"/>
            </a:endParaRPr>
          </a:p>
          <a:p>
            <a:pPr lvl="0"/>
            <a:r>
              <a:rPr lang="fr-FR" sz="3500" dirty="0">
                <a:latin typeface="Times New Roman" panose="02020603050405020304" pitchFamily="18" charset="0"/>
                <a:cs typeface="Times New Roman" panose="02020603050405020304" pitchFamily="18" charset="0"/>
              </a:rPr>
              <a:t>un plateau stérile ou désinfecté</a:t>
            </a:r>
          </a:p>
          <a:p>
            <a:pPr lvl="0"/>
            <a:r>
              <a:rPr lang="fr-FR" sz="3500" dirty="0">
                <a:latin typeface="Times New Roman" panose="02020603050405020304" pitchFamily="18" charset="0"/>
                <a:cs typeface="Times New Roman" panose="02020603050405020304" pitchFamily="18" charset="0"/>
              </a:rPr>
              <a:t>une seringue à usage unique, sous emballage stérile (le nombre des seringues sera fonction des injections à faire)</a:t>
            </a:r>
          </a:p>
          <a:p>
            <a:pPr lvl="0"/>
            <a:r>
              <a:rPr lang="fr-FR" sz="3500" dirty="0">
                <a:latin typeface="Times New Roman" panose="02020603050405020304" pitchFamily="18" charset="0"/>
                <a:cs typeface="Times New Roman" panose="02020603050405020304" pitchFamily="18" charset="0"/>
              </a:rPr>
              <a:t>un trocart sous conditionnement stérile</a:t>
            </a:r>
          </a:p>
          <a:p>
            <a:pPr lvl="0"/>
            <a:r>
              <a:rPr lang="fr-FR" sz="3500" dirty="0">
                <a:latin typeface="Times New Roman" panose="02020603050405020304" pitchFamily="18" charset="0"/>
                <a:cs typeface="Times New Roman" panose="02020603050405020304" pitchFamily="18" charset="0"/>
              </a:rPr>
              <a:t>les substances médicamenteuses</a:t>
            </a:r>
          </a:p>
          <a:p>
            <a:pPr lvl="0"/>
            <a:r>
              <a:rPr lang="fr-FR" sz="3500" dirty="0">
                <a:latin typeface="Times New Roman" panose="02020603050405020304" pitchFamily="18" charset="0"/>
                <a:cs typeface="Times New Roman" panose="02020603050405020304" pitchFamily="18" charset="0"/>
              </a:rPr>
              <a:t>une lime si nécessaire</a:t>
            </a:r>
          </a:p>
          <a:p>
            <a:pPr lvl="0"/>
            <a:r>
              <a:rPr lang="fr-FR" sz="3500" dirty="0">
                <a:latin typeface="Times New Roman" panose="02020603050405020304" pitchFamily="18" charset="0"/>
                <a:cs typeface="Times New Roman" panose="02020603050405020304" pitchFamily="18" charset="0"/>
              </a:rPr>
              <a:t>des tampons de coton</a:t>
            </a:r>
          </a:p>
          <a:p>
            <a:pPr lvl="0"/>
            <a:r>
              <a:rPr lang="fr-FR" sz="3500" dirty="0">
                <a:latin typeface="Times New Roman" panose="02020603050405020304" pitchFamily="18" charset="0"/>
                <a:cs typeface="Times New Roman" panose="02020603050405020304" pitchFamily="18" charset="0"/>
              </a:rPr>
              <a:t>un flacon d’alcool</a:t>
            </a:r>
          </a:p>
          <a:p>
            <a:pPr lvl="0"/>
            <a:r>
              <a:rPr lang="fr-FR" sz="3500" dirty="0">
                <a:latin typeface="Times New Roman" panose="02020603050405020304" pitchFamily="18" charset="0"/>
                <a:cs typeface="Times New Roman" panose="02020603050405020304" pitchFamily="18" charset="0"/>
              </a:rPr>
              <a:t>un garrot, s’il est prévu des injections intraveineuses</a:t>
            </a:r>
          </a:p>
          <a:p>
            <a:pPr lvl="0"/>
            <a:r>
              <a:rPr lang="fr-FR" sz="3500" dirty="0">
                <a:latin typeface="Times New Roman" panose="02020603050405020304" pitchFamily="18" charset="0"/>
                <a:cs typeface="Times New Roman" panose="02020603050405020304" pitchFamily="18" charset="0"/>
              </a:rPr>
              <a:t>une </a:t>
            </a:r>
            <a:r>
              <a:rPr lang="fr-FR" sz="3500" dirty="0" smtClean="0">
                <a:latin typeface="Times New Roman" panose="02020603050405020304" pitchFamily="18" charset="0"/>
                <a:cs typeface="Times New Roman" panose="02020603050405020304" pitchFamily="18" charset="0"/>
              </a:rPr>
              <a:t>alèse</a:t>
            </a:r>
          </a:p>
          <a:p>
            <a:pPr marL="393192" lvl="1" indent="0">
              <a:buNone/>
            </a:pPr>
            <a:r>
              <a:rPr lang="fr-FR" sz="3500" b="1" dirty="0">
                <a:solidFill>
                  <a:srgbClr val="FF0000"/>
                </a:solidFill>
                <a:latin typeface="Times New Roman" panose="02020603050405020304" pitchFamily="18" charset="0"/>
                <a:cs typeface="Times New Roman" panose="02020603050405020304" pitchFamily="18" charset="0"/>
              </a:rPr>
              <a:t>Installer à l’étage inférieur</a:t>
            </a:r>
            <a:endParaRPr lang="fr-FR" sz="3500" dirty="0">
              <a:solidFill>
                <a:srgbClr val="FF0000"/>
              </a:solidFill>
              <a:latin typeface="Times New Roman" panose="02020603050405020304" pitchFamily="18" charset="0"/>
              <a:cs typeface="Times New Roman" panose="02020603050405020304" pitchFamily="18" charset="0"/>
            </a:endParaRPr>
          </a:p>
          <a:p>
            <a:pPr lvl="0"/>
            <a:r>
              <a:rPr lang="fr-FR" sz="3500" dirty="0">
                <a:latin typeface="Times New Roman" panose="02020603050405020304" pitchFamily="18" charset="0"/>
                <a:cs typeface="Times New Roman" panose="02020603050405020304" pitchFamily="18" charset="0"/>
              </a:rPr>
              <a:t>un haricot (ou réniforme) ou une cupule</a:t>
            </a:r>
          </a:p>
          <a:p>
            <a:pPr lvl="0"/>
            <a:r>
              <a:rPr lang="fr-FR" sz="3500" dirty="0">
                <a:latin typeface="Times New Roman" panose="02020603050405020304" pitchFamily="18" charset="0"/>
                <a:cs typeface="Times New Roman" panose="02020603050405020304" pitchFamily="18" charset="0"/>
              </a:rPr>
              <a:t>un bac à ordure</a:t>
            </a:r>
          </a:p>
          <a:p>
            <a:pPr lvl="0"/>
            <a:endParaRPr lang="fr-FR" sz="2800" dirty="0"/>
          </a:p>
          <a:p>
            <a:endParaRPr lang="fr-FR" dirty="0"/>
          </a:p>
        </p:txBody>
      </p:sp>
    </p:spTree>
    <p:extLst>
      <p:ext uri="{BB962C8B-B14F-4D97-AF65-F5344CB8AC3E}">
        <p14:creationId xmlns:p14="http://schemas.microsoft.com/office/powerpoint/2010/main" val="24448039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757646"/>
            <a:ext cx="10972800" cy="5566954"/>
          </a:xfrm>
        </p:spPr>
        <p:txBody>
          <a:bodyPr>
            <a:normAutofit/>
          </a:bodyPr>
          <a:lstStyle/>
          <a:p>
            <a:pPr marL="0" lvl="0" indent="0">
              <a:buNone/>
            </a:pPr>
            <a:r>
              <a:rPr lang="fr-FR" sz="3200" b="1" dirty="0" smtClean="0">
                <a:solidFill>
                  <a:srgbClr val="C00000"/>
                </a:solidFill>
              </a:rPr>
              <a:t>- </a:t>
            </a:r>
            <a:r>
              <a:rPr lang="fr-FR" sz="3200" b="1" u="sng" dirty="0">
                <a:solidFill>
                  <a:srgbClr val="C00000"/>
                </a:solidFill>
              </a:rPr>
              <a:t>Préparation de l’injection</a:t>
            </a:r>
            <a:endParaRPr lang="fr-FR" sz="3200" dirty="0">
              <a:solidFill>
                <a:srgbClr val="C00000"/>
              </a:solidFill>
            </a:endParaRPr>
          </a:p>
          <a:p>
            <a:pPr lvl="0"/>
            <a:r>
              <a:rPr lang="fr-FR" sz="3200" dirty="0"/>
              <a:t>se laver les mains et les passer à l’alcool</a:t>
            </a:r>
          </a:p>
          <a:p>
            <a:pPr lvl="0"/>
            <a:r>
              <a:rPr lang="fr-FR" sz="3200" dirty="0">
                <a:latin typeface="Times New Roman" panose="02020603050405020304" pitchFamily="18" charset="0"/>
                <a:cs typeface="Times New Roman" panose="02020603050405020304" pitchFamily="18" charset="0"/>
              </a:rPr>
              <a:t>sortir</a:t>
            </a:r>
            <a:r>
              <a:rPr lang="fr-FR" sz="3200" dirty="0"/>
              <a:t> la seringue et le trocart de leur emballage</a:t>
            </a:r>
          </a:p>
          <a:p>
            <a:pPr lvl="0"/>
            <a:r>
              <a:rPr lang="fr-FR" sz="3200" dirty="0"/>
              <a:t>saisir aseptiquement la seringue par le corps ou par le col du piston</a:t>
            </a:r>
          </a:p>
          <a:p>
            <a:pPr lvl="0"/>
            <a:r>
              <a:rPr lang="fr-FR" sz="3200" dirty="0"/>
              <a:t>saisir l’aiguille en la tenant par l’embout</a:t>
            </a:r>
          </a:p>
          <a:p>
            <a:pPr lvl="0"/>
            <a:r>
              <a:rPr lang="fr-FR" sz="3200" dirty="0"/>
              <a:t>prévoir une deuxième aiguille en cas d’accident</a:t>
            </a:r>
          </a:p>
          <a:p>
            <a:pPr lvl="0"/>
            <a:r>
              <a:rPr lang="fr-FR" sz="3200" dirty="0"/>
              <a:t>vérifier l’identité du malade, les doses et le dosage avant de remplir la seringue</a:t>
            </a:r>
          </a:p>
        </p:txBody>
      </p:sp>
    </p:spTree>
    <p:extLst>
      <p:ext uri="{BB962C8B-B14F-4D97-AF65-F5344CB8AC3E}">
        <p14:creationId xmlns:p14="http://schemas.microsoft.com/office/powerpoint/2010/main" val="19971341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5943" y="370115"/>
            <a:ext cx="11756571" cy="6030686"/>
          </a:xfrm>
        </p:spPr>
        <p:txBody>
          <a:bodyPr>
            <a:noAutofit/>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Si le produit à injecter est liquide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frapper légèrement l’extrémité de l’ampoule avec le doigt ou la lime pour faire descendre le liquide</a:t>
            </a:r>
          </a:p>
          <a:p>
            <a:pPr lvl="0"/>
            <a:r>
              <a:rPr lang="fr-FR" sz="3200" dirty="0">
                <a:latin typeface="Times New Roman" panose="02020603050405020304" pitchFamily="18" charset="0"/>
                <a:cs typeface="Times New Roman" panose="02020603050405020304" pitchFamily="18" charset="0"/>
              </a:rPr>
              <a:t>aseptiser le col de l’ampoule et la lime avec un tampon d’alcool</a:t>
            </a:r>
          </a:p>
          <a:p>
            <a:pPr lvl="0"/>
            <a:r>
              <a:rPr lang="fr-FR" sz="3200" dirty="0">
                <a:latin typeface="Times New Roman" panose="02020603050405020304" pitchFamily="18" charset="0"/>
                <a:cs typeface="Times New Roman" panose="02020603050405020304" pitchFamily="18" charset="0"/>
              </a:rPr>
              <a:t>limer le col de l’ampoule</a:t>
            </a:r>
          </a:p>
          <a:p>
            <a:pPr lvl="0"/>
            <a:r>
              <a:rPr lang="fr-FR" sz="3200" dirty="0">
                <a:latin typeface="Times New Roman" panose="02020603050405020304" pitchFamily="18" charset="0"/>
                <a:cs typeface="Times New Roman" panose="02020603050405020304" pitchFamily="18" charset="0"/>
              </a:rPr>
              <a:t>ouvrir l’ampoule en se protégeant les doigts avec un tampon de coton</a:t>
            </a:r>
          </a:p>
          <a:p>
            <a:pPr lvl="0"/>
            <a:r>
              <a:rPr lang="fr-FR" sz="3200" dirty="0">
                <a:latin typeface="Times New Roman" panose="02020603050405020304" pitchFamily="18" charset="0"/>
                <a:cs typeface="Times New Roman" panose="02020603050405020304" pitchFamily="18" charset="0"/>
              </a:rPr>
              <a:t>tenir l’ampoule entre l’index et le majeur de la main gauche, et la seringue entre le pouce, l’annulaire et l’auriculaire de la main gauche</a:t>
            </a:r>
          </a:p>
          <a:p>
            <a:pPr lvl="0"/>
            <a:r>
              <a:rPr lang="fr-FR" sz="3200" dirty="0">
                <a:latin typeface="Times New Roman" panose="02020603050405020304" pitchFamily="18" charset="0"/>
                <a:cs typeface="Times New Roman" panose="02020603050405020304" pitchFamily="18" charset="0"/>
              </a:rPr>
              <a:t>avec la main droite, saisir le col du piston et tirer lentement ; le liquide passe de l’ampoule dans la seringue</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263608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17714" y="174171"/>
            <a:ext cx="11756572" cy="6444343"/>
          </a:xfrm>
        </p:spPr>
        <p:txBody>
          <a:bodyPr>
            <a:noAutofit/>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Si le produit est en poudre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aseptiser le bouchon de caoutchouc à l’aide de tampon d’alcool</a:t>
            </a:r>
          </a:p>
          <a:p>
            <a:pPr lvl="0"/>
            <a:r>
              <a:rPr lang="fr-FR" sz="3200" dirty="0">
                <a:latin typeface="Times New Roman" panose="02020603050405020304" pitchFamily="18" charset="0"/>
                <a:cs typeface="Times New Roman" panose="02020603050405020304" pitchFamily="18" charset="0"/>
              </a:rPr>
              <a:t>y planter un </a:t>
            </a:r>
            <a:r>
              <a:rPr lang="fr-FR" sz="3200" dirty="0" smtClean="0">
                <a:latin typeface="Times New Roman" panose="02020603050405020304" pitchFamily="18" charset="0"/>
                <a:cs typeface="Times New Roman" panose="02020603050405020304" pitchFamily="18" charset="0"/>
              </a:rPr>
              <a:t>trocart et prélever </a:t>
            </a:r>
            <a:r>
              <a:rPr lang="fr-FR" sz="3200" dirty="0">
                <a:latin typeface="Times New Roman" panose="02020603050405020304" pitchFamily="18" charset="0"/>
                <a:cs typeface="Times New Roman" panose="02020603050405020304" pitchFamily="18" charset="0"/>
              </a:rPr>
              <a:t>le solvant dans l’ampoule, au moyen de la seringue et l’injecter dans le flacon</a:t>
            </a:r>
          </a:p>
          <a:p>
            <a:pPr lvl="0"/>
            <a:r>
              <a:rPr lang="fr-FR" sz="3200" dirty="0">
                <a:latin typeface="Times New Roman" panose="02020603050405020304" pitchFamily="18" charset="0"/>
                <a:cs typeface="Times New Roman" panose="02020603050405020304" pitchFamily="18" charset="0"/>
              </a:rPr>
              <a:t>agiter le flacon pour obtenir une bonne dilution de la poudre</a:t>
            </a:r>
          </a:p>
          <a:p>
            <a:pPr lvl="0"/>
            <a:r>
              <a:rPr lang="fr-FR" sz="3200" dirty="0">
                <a:latin typeface="Times New Roman" panose="02020603050405020304" pitchFamily="18" charset="0"/>
                <a:cs typeface="Times New Roman" panose="02020603050405020304" pitchFamily="18" charset="0"/>
              </a:rPr>
              <a:t>aspirer de l’air dans la seringue</a:t>
            </a:r>
          </a:p>
          <a:p>
            <a:pPr lvl="0"/>
            <a:r>
              <a:rPr lang="fr-FR" sz="3200" dirty="0">
                <a:latin typeface="Times New Roman" panose="02020603050405020304" pitchFamily="18" charset="0"/>
                <a:cs typeface="Times New Roman" panose="02020603050405020304" pitchFamily="18" charset="0"/>
              </a:rPr>
              <a:t>perforer le bouchon en introduisant seulement l’extrémité du trocart</a:t>
            </a:r>
          </a:p>
          <a:p>
            <a:pPr lvl="0"/>
            <a:r>
              <a:rPr lang="fr-FR" sz="3200" dirty="0">
                <a:latin typeface="Times New Roman" panose="02020603050405020304" pitchFamily="18" charset="0"/>
                <a:cs typeface="Times New Roman" panose="02020603050405020304" pitchFamily="18" charset="0"/>
              </a:rPr>
              <a:t>injecter l’air dans le flacon et maintenir le piston poussé à fond</a:t>
            </a:r>
          </a:p>
          <a:p>
            <a:pPr lvl="0"/>
            <a:r>
              <a:rPr lang="fr-FR" sz="3200" dirty="0">
                <a:latin typeface="Times New Roman" panose="02020603050405020304" pitchFamily="18" charset="0"/>
                <a:cs typeface="Times New Roman" panose="02020603050405020304" pitchFamily="18" charset="0"/>
              </a:rPr>
              <a:t>retourner immédiatement le flacon et libérer le piston</a:t>
            </a:r>
          </a:p>
          <a:p>
            <a:pPr lvl="0"/>
            <a:r>
              <a:rPr lang="fr-FR" sz="3200" dirty="0">
                <a:latin typeface="Times New Roman" panose="02020603050405020304" pitchFamily="18" charset="0"/>
                <a:cs typeface="Times New Roman" panose="02020603050405020304" pitchFamily="18" charset="0"/>
              </a:rPr>
              <a:t>la suspension, sous l’effet de l’air comprimée, passe spontanément dans la seringue</a:t>
            </a:r>
          </a:p>
        </p:txBody>
      </p:sp>
    </p:spTree>
    <p:extLst>
      <p:ext uri="{BB962C8B-B14F-4D97-AF65-F5344CB8AC3E}">
        <p14:creationId xmlns:p14="http://schemas.microsoft.com/office/powerpoint/2010/main" val="65253364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522515"/>
            <a:ext cx="10972800" cy="5802086"/>
          </a:xfrm>
        </p:spPr>
        <p:txBody>
          <a:bodyPr>
            <a:no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TECHNIQUE DE </a:t>
            </a:r>
            <a:r>
              <a:rPr lang="fr-FR" sz="3200" b="1" u="sng" dirty="0" smtClean="0">
                <a:solidFill>
                  <a:srgbClr val="C00000"/>
                </a:solidFill>
                <a:latin typeface="Times New Roman" panose="02020603050405020304" pitchFamily="18" charset="0"/>
                <a:cs typeface="Times New Roman" panose="02020603050405020304" pitchFamily="18" charset="0"/>
              </a:rPr>
              <a:t>L’INJECTION</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La technique est fonction de la voie d’administration</a:t>
            </a:r>
          </a:p>
          <a:p>
            <a:pPr marL="0" indent="0">
              <a:buNone/>
            </a:pPr>
            <a:r>
              <a:rPr lang="fr-FR" sz="3200" b="1" dirty="0" smtClean="0">
                <a:latin typeface="Times New Roman" panose="02020603050405020304" pitchFamily="18" charset="0"/>
                <a:cs typeface="Times New Roman" panose="02020603050405020304" pitchFamily="18" charset="0"/>
              </a:rPr>
              <a:t> </a:t>
            </a:r>
          </a:p>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Injection Sous Cutanée</a:t>
            </a:r>
            <a:endParaRPr lang="fr-FR" sz="3200" b="1" dirty="0">
              <a:solidFill>
                <a:srgbClr val="FF0000"/>
              </a:solidFill>
              <a:latin typeface="Times New Roman" panose="02020603050405020304" pitchFamily="18" charset="0"/>
              <a:cs typeface="Times New Roman" panose="02020603050405020304" pitchFamily="18" charset="0"/>
            </a:endParaRPr>
          </a:p>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dirty="0" smtClean="0">
                <a:solidFill>
                  <a:srgbClr val="FF0000"/>
                </a:solidFill>
                <a:latin typeface="Times New Roman" panose="02020603050405020304" pitchFamily="18" charset="0"/>
                <a:cs typeface="Times New Roman" panose="02020603050405020304" pitchFamily="18" charset="0"/>
              </a:rPr>
              <a:t>Région </a:t>
            </a:r>
            <a:r>
              <a:rPr lang="fr-FR" sz="3200" b="1" dirty="0">
                <a:solidFill>
                  <a:srgbClr val="FF0000"/>
                </a:solidFill>
                <a:latin typeface="Times New Roman" panose="02020603050405020304" pitchFamily="18" charset="0"/>
                <a:cs typeface="Times New Roman" panose="02020603050405020304" pitchFamily="18" charset="0"/>
              </a:rPr>
              <a:t>d’élection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face externe du bras et de la cuisse</a:t>
            </a:r>
          </a:p>
          <a:p>
            <a:pPr lvl="0"/>
            <a:r>
              <a:rPr lang="fr-FR" sz="3200" dirty="0">
                <a:latin typeface="Times New Roman" panose="02020603050405020304" pitchFamily="18" charset="0"/>
                <a:cs typeface="Times New Roman" panose="02020603050405020304" pitchFamily="18" charset="0"/>
              </a:rPr>
              <a:t>région sus et sous épineuse de l’omoplate</a:t>
            </a:r>
          </a:p>
          <a:p>
            <a:pPr lvl="0"/>
            <a:r>
              <a:rPr lang="fr-FR" sz="3200" dirty="0">
                <a:latin typeface="Times New Roman" panose="02020603050405020304" pitchFamily="18" charset="0"/>
                <a:cs typeface="Times New Roman" panose="02020603050405020304" pitchFamily="18" charset="0"/>
              </a:rPr>
              <a:t>région deltoïdienne</a:t>
            </a:r>
          </a:p>
          <a:p>
            <a:pPr lvl="0"/>
            <a:r>
              <a:rPr lang="fr-FR" sz="3200" dirty="0">
                <a:latin typeface="Times New Roman" panose="02020603050405020304" pitchFamily="18" charset="0"/>
                <a:cs typeface="Times New Roman" panose="02020603050405020304" pitchFamily="18" charset="0"/>
              </a:rPr>
              <a:t>paroi </a:t>
            </a:r>
            <a:r>
              <a:rPr lang="fr-FR" sz="3200" dirty="0" smtClean="0">
                <a:latin typeface="Times New Roman" panose="02020603050405020304" pitchFamily="18" charset="0"/>
                <a:cs typeface="Times New Roman" panose="02020603050405020304" pitchFamily="18" charset="0"/>
              </a:rPr>
              <a:t>abdominale</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26763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83030" y="1099147"/>
            <a:ext cx="1156062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800100" algn="l"/>
              </a:tabLst>
              <a:defRPr>
                <a:solidFill>
                  <a:schemeClr val="tx1"/>
                </a:solidFill>
                <a:latin typeface="Arial" panose="020B0604020202020204" pitchFamily="34" charset="0"/>
              </a:defRPr>
            </a:lvl1pPr>
            <a:lvl2pPr eaLnBrk="0" fontAlgn="base" hangingPunct="0">
              <a:spcBef>
                <a:spcPct val="0"/>
              </a:spcBef>
              <a:spcAft>
                <a:spcPct val="0"/>
              </a:spcAft>
              <a:tabLst>
                <a:tab pos="800100" algn="l"/>
              </a:tabLst>
              <a:defRPr>
                <a:solidFill>
                  <a:schemeClr val="tx1"/>
                </a:solidFill>
                <a:latin typeface="Arial" panose="020B0604020202020204" pitchFamily="34" charset="0"/>
              </a:defRPr>
            </a:lvl2pPr>
            <a:lvl3pPr eaLnBrk="0" fontAlgn="base" hangingPunct="0">
              <a:spcBef>
                <a:spcPct val="0"/>
              </a:spcBef>
              <a:spcAft>
                <a:spcPct val="0"/>
              </a:spcAft>
              <a:tabLst>
                <a:tab pos="800100" algn="l"/>
              </a:tabLst>
              <a:defRPr>
                <a:solidFill>
                  <a:schemeClr val="tx1"/>
                </a:solidFill>
                <a:latin typeface="Arial" panose="020B0604020202020204" pitchFamily="34" charset="0"/>
              </a:defRPr>
            </a:lvl3pPr>
            <a:lvl4pPr eaLnBrk="0" fontAlgn="base" hangingPunct="0">
              <a:spcBef>
                <a:spcPct val="0"/>
              </a:spcBef>
              <a:spcAft>
                <a:spcPct val="0"/>
              </a:spcAft>
              <a:tabLst>
                <a:tab pos="800100" algn="l"/>
              </a:tabLst>
              <a:defRPr>
                <a:solidFill>
                  <a:schemeClr val="tx1"/>
                </a:solidFill>
                <a:latin typeface="Arial" panose="020B0604020202020204" pitchFamily="34" charset="0"/>
              </a:defRPr>
            </a:lvl4pPr>
            <a:lvl5pPr eaLnBrk="0" fontAlgn="base" hangingPunct="0">
              <a:spcBef>
                <a:spcPct val="0"/>
              </a:spcBef>
              <a:spcAft>
                <a:spcPct val="0"/>
              </a:spcAft>
              <a:tabLst>
                <a:tab pos="800100" algn="l"/>
              </a:tabLst>
              <a:defRPr>
                <a:solidFill>
                  <a:schemeClr val="tx1"/>
                </a:solidFill>
                <a:latin typeface="Arial" panose="020B0604020202020204" pitchFamily="34" charset="0"/>
              </a:defRPr>
            </a:lvl5pPr>
            <a:lvl6pPr eaLnBrk="0" fontAlgn="base" hangingPunct="0">
              <a:spcBef>
                <a:spcPct val="0"/>
              </a:spcBef>
              <a:spcAft>
                <a:spcPct val="0"/>
              </a:spcAft>
              <a:tabLst>
                <a:tab pos="800100" algn="l"/>
              </a:tabLst>
              <a:defRPr>
                <a:solidFill>
                  <a:schemeClr val="tx1"/>
                </a:solidFill>
                <a:latin typeface="Arial" panose="020B0604020202020204" pitchFamily="34" charset="0"/>
              </a:defRPr>
            </a:lvl6pPr>
            <a:lvl7pPr eaLnBrk="0" fontAlgn="base" hangingPunct="0">
              <a:spcBef>
                <a:spcPct val="0"/>
              </a:spcBef>
              <a:spcAft>
                <a:spcPct val="0"/>
              </a:spcAft>
              <a:tabLst>
                <a:tab pos="800100" algn="l"/>
              </a:tabLst>
              <a:defRPr>
                <a:solidFill>
                  <a:schemeClr val="tx1"/>
                </a:solidFill>
                <a:latin typeface="Arial" panose="020B0604020202020204" pitchFamily="34" charset="0"/>
              </a:defRPr>
            </a:lvl7pPr>
            <a:lvl8pPr eaLnBrk="0" fontAlgn="base" hangingPunct="0">
              <a:spcBef>
                <a:spcPct val="0"/>
              </a:spcBef>
              <a:spcAft>
                <a:spcPct val="0"/>
              </a:spcAft>
              <a:tabLst>
                <a:tab pos="800100" algn="l"/>
              </a:tabLst>
              <a:defRPr>
                <a:solidFill>
                  <a:schemeClr val="tx1"/>
                </a:solidFill>
                <a:latin typeface="Arial" panose="020B0604020202020204" pitchFamily="34" charset="0"/>
              </a:defRPr>
            </a:lvl8pPr>
            <a:lvl9pPr eaLnBrk="0" fontAlgn="base" hangingPunct="0">
              <a:spcBef>
                <a:spcPct val="0"/>
              </a:spcBef>
              <a:spcAft>
                <a:spcPct val="0"/>
              </a:spcAft>
              <a:tabLst>
                <a:tab pos="800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tab pos="8001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prévenir le malade de l’imminence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laver les mains et les passer à l’alcool ou porter des gants stériles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confortablement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un tampon d’alcool et aseptiser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la seringue et purger l’air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maintenir avec une main la seringue en position parallèle et tangentielle à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avec l’autre main pincer la peau entre le pouce et l’index pour former un pli cutané</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85326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9486" y="280423"/>
            <a:ext cx="11691257" cy="6001643"/>
          </a:xfrm>
          <a:prstGeom prst="rect">
            <a:avLst/>
          </a:prstGeom>
        </p:spPr>
        <p:txBody>
          <a:bodyPr wrap="square">
            <a:spAutoFit/>
          </a:bodyPr>
          <a:lstStyle/>
          <a:p>
            <a:pPr marL="87313" lvl="0" indent="-87313" eaLnBrk="0" fontAlgn="base" hangingPunct="0">
              <a:spcBef>
                <a:spcPct val="0"/>
              </a:spcBef>
              <a:spcAft>
                <a:spcPct val="0"/>
              </a:spcAft>
              <a:buFont typeface="Arial" panose="020B0604020202020204" pitchFamily="34" charset="0"/>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piquer franchement à la base du pli obtenu et faire pénétrer assez loin l’aiguille</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mobiliser l’aiguille pour vérifier sa position dans les tissus sous cutanées</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injecter doucement tout le liquide</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déposer et maintenir un tampon de coton à la base de l’aiguille et retirer celle-ci rapidement</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obturer l’orifice de la piqûre en tamponnant avec le coton alcoolisé</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réinstaller le malade</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remercier le malade pour sa collaboration et prendre congé de lui avec des mots gentils</a:t>
            </a:r>
            <a:endParaRPr lang="fr-FR" altLang="fr-FR" sz="3200" dirty="0" smtClean="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nettoyer et ranger le matériel</a:t>
            </a:r>
            <a:endParaRPr lang="fr-FR" alt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098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04800" y="383186"/>
            <a:ext cx="11647714" cy="6082928"/>
          </a:xfrm>
        </p:spPr>
        <p:txBody>
          <a:bodyPr>
            <a:noAutofit/>
          </a:bodyPr>
          <a:lstStyle/>
          <a:p>
            <a:pPr marL="0" indent="0">
              <a:buNone/>
            </a:pPr>
            <a:r>
              <a:rPr lang="fr-FR" sz="3200" b="1" dirty="0" smtClean="0">
                <a:solidFill>
                  <a:srgbClr val="C00000"/>
                </a:solidFill>
                <a:latin typeface="Times New Roman" panose="02020603050405020304" pitchFamily="18" charset="0"/>
                <a:cs typeface="Times New Roman" panose="02020603050405020304" pitchFamily="18" charset="0"/>
              </a:rPr>
              <a:t> </a:t>
            </a:r>
            <a:r>
              <a:rPr lang="fr-FR" sz="3200" b="1" dirty="0">
                <a:solidFill>
                  <a:srgbClr val="C00000"/>
                </a:solidFill>
                <a:latin typeface="Times New Roman" panose="02020603050405020304" pitchFamily="18" charset="0"/>
                <a:cs typeface="Times New Roman" panose="02020603050405020304" pitchFamily="18" charset="0"/>
              </a:rPr>
              <a:t>- </a:t>
            </a:r>
            <a:r>
              <a:rPr lang="fr-FR" sz="3200" b="1" u="sng" dirty="0">
                <a:solidFill>
                  <a:srgbClr val="C00000"/>
                </a:solidFill>
                <a:latin typeface="Times New Roman" panose="02020603050405020304" pitchFamily="18" charset="0"/>
                <a:cs typeface="Times New Roman" panose="02020603050405020304" pitchFamily="18" charset="0"/>
              </a:rPr>
              <a:t>Injection Intra </a:t>
            </a:r>
            <a:r>
              <a:rPr lang="fr-FR" sz="3200" b="1" u="sng" dirty="0" smtClean="0">
                <a:solidFill>
                  <a:srgbClr val="C00000"/>
                </a:solidFill>
                <a:latin typeface="Times New Roman" panose="02020603050405020304" pitchFamily="18" charset="0"/>
                <a:cs typeface="Times New Roman" panose="02020603050405020304" pitchFamily="18" charset="0"/>
              </a:rPr>
              <a:t>Musculaire</a:t>
            </a:r>
            <a:endParaRPr lang="fr-FR" sz="3200" b="1" dirty="0" smtClean="0">
              <a:solidFill>
                <a:srgbClr val="C00000"/>
              </a:solidFill>
              <a:latin typeface="Times New Roman" panose="02020603050405020304" pitchFamily="18" charset="0"/>
              <a:cs typeface="Times New Roman" panose="02020603050405020304" pitchFamily="18" charset="0"/>
            </a:endParaRPr>
          </a:p>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Région </a:t>
            </a:r>
            <a:r>
              <a:rPr lang="fr-FR" sz="3200" b="1" dirty="0">
                <a:solidFill>
                  <a:srgbClr val="FF0000"/>
                </a:solidFill>
                <a:latin typeface="Times New Roman" panose="02020603050405020304" pitchFamily="18" charset="0"/>
                <a:cs typeface="Times New Roman" panose="02020603050405020304" pitchFamily="18" charset="0"/>
              </a:rPr>
              <a:t>d’élection</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L’injection doit se faire dans le quart supérieur et externe de la fesse, pour éviter de piquer dans le nerf sciatique et des gros vaisseaux. Il faut donc délimiter la région par deux lignes, la première allant du grand trochanter au sommet du pli inter fessier et la seconde, croisant la première en son milieu et perpendiculairement.</a:t>
            </a:r>
          </a:p>
          <a:p>
            <a:r>
              <a:rPr lang="fr-FR" sz="3200" dirty="0">
                <a:latin typeface="Times New Roman" panose="02020603050405020304" pitchFamily="18" charset="0"/>
                <a:cs typeface="Times New Roman" panose="02020603050405020304" pitchFamily="18" charset="0"/>
              </a:rPr>
              <a:t>L’injection peut se faire dans la zone sus épineuse de l’omoplate, chez les brûlés, les plâtrés, les cardiaques </a:t>
            </a:r>
            <a:r>
              <a:rPr lang="fr-FR" sz="3200" dirty="0" smtClean="0">
                <a:latin typeface="Times New Roman" panose="02020603050405020304" pitchFamily="18" charset="0"/>
                <a:cs typeface="Times New Roman" panose="02020603050405020304" pitchFamily="18" charset="0"/>
              </a:rPr>
              <a:t>œdémateux.</a:t>
            </a: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L’injection peut également se faire au tiers moyen de la face antéro-externe de la cuisse</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702722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74913" y="436890"/>
            <a:ext cx="1105553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800100" algn="l"/>
              </a:tabLst>
              <a:defRPr>
                <a:solidFill>
                  <a:schemeClr val="tx1"/>
                </a:solidFill>
                <a:latin typeface="Arial" panose="020B0604020202020204" pitchFamily="34" charset="0"/>
              </a:defRPr>
            </a:lvl1pPr>
            <a:lvl2pPr eaLnBrk="0" fontAlgn="base" hangingPunct="0">
              <a:spcBef>
                <a:spcPct val="0"/>
              </a:spcBef>
              <a:spcAft>
                <a:spcPct val="0"/>
              </a:spcAft>
              <a:tabLst>
                <a:tab pos="800100" algn="l"/>
              </a:tabLst>
              <a:defRPr>
                <a:solidFill>
                  <a:schemeClr val="tx1"/>
                </a:solidFill>
                <a:latin typeface="Arial" panose="020B0604020202020204" pitchFamily="34" charset="0"/>
              </a:defRPr>
            </a:lvl2pPr>
            <a:lvl3pPr eaLnBrk="0" fontAlgn="base" hangingPunct="0">
              <a:spcBef>
                <a:spcPct val="0"/>
              </a:spcBef>
              <a:spcAft>
                <a:spcPct val="0"/>
              </a:spcAft>
              <a:tabLst>
                <a:tab pos="800100" algn="l"/>
              </a:tabLst>
              <a:defRPr>
                <a:solidFill>
                  <a:schemeClr val="tx1"/>
                </a:solidFill>
                <a:latin typeface="Arial" panose="020B0604020202020204" pitchFamily="34" charset="0"/>
              </a:defRPr>
            </a:lvl3pPr>
            <a:lvl4pPr eaLnBrk="0" fontAlgn="base" hangingPunct="0">
              <a:spcBef>
                <a:spcPct val="0"/>
              </a:spcBef>
              <a:spcAft>
                <a:spcPct val="0"/>
              </a:spcAft>
              <a:tabLst>
                <a:tab pos="800100" algn="l"/>
              </a:tabLst>
              <a:defRPr>
                <a:solidFill>
                  <a:schemeClr val="tx1"/>
                </a:solidFill>
                <a:latin typeface="Arial" panose="020B0604020202020204" pitchFamily="34" charset="0"/>
              </a:defRPr>
            </a:lvl4pPr>
            <a:lvl5pPr eaLnBrk="0" fontAlgn="base" hangingPunct="0">
              <a:spcBef>
                <a:spcPct val="0"/>
              </a:spcBef>
              <a:spcAft>
                <a:spcPct val="0"/>
              </a:spcAft>
              <a:tabLst>
                <a:tab pos="800100" algn="l"/>
              </a:tabLst>
              <a:defRPr>
                <a:solidFill>
                  <a:schemeClr val="tx1"/>
                </a:solidFill>
                <a:latin typeface="Arial" panose="020B0604020202020204" pitchFamily="34" charset="0"/>
              </a:defRPr>
            </a:lvl5pPr>
            <a:lvl6pPr eaLnBrk="0" fontAlgn="base" hangingPunct="0">
              <a:spcBef>
                <a:spcPct val="0"/>
              </a:spcBef>
              <a:spcAft>
                <a:spcPct val="0"/>
              </a:spcAft>
              <a:tabLst>
                <a:tab pos="800100" algn="l"/>
              </a:tabLst>
              <a:defRPr>
                <a:solidFill>
                  <a:schemeClr val="tx1"/>
                </a:solidFill>
                <a:latin typeface="Arial" panose="020B0604020202020204" pitchFamily="34" charset="0"/>
              </a:defRPr>
            </a:lvl6pPr>
            <a:lvl7pPr eaLnBrk="0" fontAlgn="base" hangingPunct="0">
              <a:spcBef>
                <a:spcPct val="0"/>
              </a:spcBef>
              <a:spcAft>
                <a:spcPct val="0"/>
              </a:spcAft>
              <a:tabLst>
                <a:tab pos="800100" algn="l"/>
              </a:tabLst>
              <a:defRPr>
                <a:solidFill>
                  <a:schemeClr val="tx1"/>
                </a:solidFill>
                <a:latin typeface="Arial" panose="020B0604020202020204" pitchFamily="34" charset="0"/>
              </a:defRPr>
            </a:lvl7pPr>
            <a:lvl8pPr eaLnBrk="0" fontAlgn="base" hangingPunct="0">
              <a:spcBef>
                <a:spcPct val="0"/>
              </a:spcBef>
              <a:spcAft>
                <a:spcPct val="0"/>
              </a:spcAft>
              <a:tabLst>
                <a:tab pos="800100" algn="l"/>
              </a:tabLst>
              <a:defRPr>
                <a:solidFill>
                  <a:schemeClr val="tx1"/>
                </a:solidFill>
                <a:latin typeface="Arial" panose="020B0604020202020204" pitchFamily="34" charset="0"/>
              </a:defRPr>
            </a:lvl8pPr>
            <a:lvl9pPr eaLnBrk="0" fontAlgn="base" hangingPunct="0">
              <a:spcBef>
                <a:spcPct val="0"/>
              </a:spcBef>
              <a:spcAft>
                <a:spcPct val="0"/>
              </a:spcAft>
              <a:tabLst>
                <a:tab pos="8001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tab pos="800100" algn="l"/>
              </a:tabLst>
            </a:pPr>
            <a:r>
              <a:rPr kumimoji="0" lang="fr-FR" altLang="fr-FR" sz="3200" b="1"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Laver les mains, les passer à l’alcool ou porter des gants stériles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confortablement le malade, en position assise ou en décubitus latéral ou ventral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Délimiter la zone à injecter (quart supérieur et externe de la fesse)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Aseptiser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Tendre la peau avec le pouce et l’index ou le majeur de la main gauche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Avec la main droite tenir la seringue perpendiculairement à la peau</a:t>
            </a:r>
            <a:r>
              <a:rPr lang="fr-FR" altLang="fr-FR" sz="3200" dirty="0">
                <a:latin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cs typeface="Times New Roman" panose="02020603050405020304" pitchFamily="18" charset="0"/>
              </a:rPr>
              <a:t>et </a:t>
            </a:r>
            <a:r>
              <a:rPr lang="fr-FR" altLang="fr-FR" sz="3200" dirty="0">
                <a:latin typeface="Times New Roman" panose="02020603050405020304" pitchFamily="18" charset="0"/>
                <a:cs typeface="Times New Roman" panose="02020603050405020304" pitchFamily="18" charset="0"/>
              </a:rPr>
              <a:t>p</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iquer et enfoncer rapidement l’aiguille dans toute sa longueur (on peut piquer l’aiguille séparée de la seringue)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4467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5943" y="283029"/>
            <a:ext cx="11800115" cy="6041571"/>
          </a:xfrm>
        </p:spPr>
        <p:txBody>
          <a:bodyPr>
            <a:noAutofit/>
          </a:bodyPr>
          <a:lstStyle/>
          <a:p>
            <a:pPr marL="0" lvl="0" indent="0" eaLnBrk="0" fontAlgn="base" hangingPunct="0">
              <a:spcBef>
                <a:spcPct val="0"/>
              </a:spcBef>
              <a:spcAft>
                <a:spcPct val="0"/>
              </a:spcAft>
              <a:buClrTx/>
              <a:buSzTx/>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Aspirer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pour vérifier que l’on ne se trouve pas dans un vaisseau sanguin</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Injecter le liquide lentement et totalement</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Poser et maintenir un tampon d’alcool à la base de l’aiguille et retirer celle-ci rapidement</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Obturer l’orifice de la piqûre en tamponnant avec le coton alcoolisé</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Réinstaller le malade</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Le remercier de sa collaboration et prendre congé de lui avec des mots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gentils</a:t>
            </a:r>
            <a:endParaRPr lang="fr-FR" altLang="fr-FR" sz="3200" b="1"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tabLst>
                <a:tab pos="800100" algn="l"/>
              </a:tabLst>
            </a:pPr>
            <a:r>
              <a:rPr lang="fr-FR" alt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NB</a:t>
            </a:r>
            <a:r>
              <a:rPr lang="fr-FR" altLang="fr-FR" sz="3200" dirty="0" smtClean="0">
                <a:solidFill>
                  <a:srgbClr val="FF0000"/>
                </a:solidFill>
                <a:latin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Si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l’aiguille heurte un os, retirer légèrement celle-ci et injecter le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produit</a:t>
            </a:r>
            <a:r>
              <a:rPr lang="fr-FR" altLang="fr-FR" sz="3200" dirty="0" smtClean="0">
                <a:latin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Si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l’aspiration ramène du sang dans la seringue,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enlever</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l’aiguille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et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piquer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dans un autre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endroit</a:t>
            </a:r>
            <a:endParaRPr lang="fr-FR" alt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4461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962296" y="356538"/>
            <a:ext cx="10689771"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800100" algn="l"/>
              </a:tabLst>
              <a:defRPr>
                <a:solidFill>
                  <a:schemeClr val="tx1"/>
                </a:solidFill>
                <a:latin typeface="Arial" panose="020B0604020202020204" pitchFamily="34" charset="0"/>
              </a:defRPr>
            </a:lvl1pPr>
            <a:lvl2pPr eaLnBrk="0" fontAlgn="base" hangingPunct="0">
              <a:spcBef>
                <a:spcPct val="0"/>
              </a:spcBef>
              <a:spcAft>
                <a:spcPct val="0"/>
              </a:spcAft>
              <a:tabLst>
                <a:tab pos="800100" algn="l"/>
              </a:tabLst>
              <a:defRPr>
                <a:solidFill>
                  <a:schemeClr val="tx1"/>
                </a:solidFill>
                <a:latin typeface="Arial" panose="020B0604020202020204" pitchFamily="34" charset="0"/>
              </a:defRPr>
            </a:lvl2pPr>
            <a:lvl3pPr eaLnBrk="0" fontAlgn="base" hangingPunct="0">
              <a:spcBef>
                <a:spcPct val="0"/>
              </a:spcBef>
              <a:spcAft>
                <a:spcPct val="0"/>
              </a:spcAft>
              <a:tabLst>
                <a:tab pos="800100" algn="l"/>
              </a:tabLst>
              <a:defRPr>
                <a:solidFill>
                  <a:schemeClr val="tx1"/>
                </a:solidFill>
                <a:latin typeface="Arial" panose="020B0604020202020204" pitchFamily="34" charset="0"/>
              </a:defRPr>
            </a:lvl3pPr>
            <a:lvl4pPr eaLnBrk="0" fontAlgn="base" hangingPunct="0">
              <a:spcBef>
                <a:spcPct val="0"/>
              </a:spcBef>
              <a:spcAft>
                <a:spcPct val="0"/>
              </a:spcAft>
              <a:tabLst>
                <a:tab pos="800100" algn="l"/>
              </a:tabLst>
              <a:defRPr>
                <a:solidFill>
                  <a:schemeClr val="tx1"/>
                </a:solidFill>
                <a:latin typeface="Arial" panose="020B0604020202020204" pitchFamily="34" charset="0"/>
              </a:defRPr>
            </a:lvl4pPr>
            <a:lvl5pPr eaLnBrk="0" fontAlgn="base" hangingPunct="0">
              <a:spcBef>
                <a:spcPct val="0"/>
              </a:spcBef>
              <a:spcAft>
                <a:spcPct val="0"/>
              </a:spcAft>
              <a:tabLst>
                <a:tab pos="800100" algn="l"/>
              </a:tabLst>
              <a:defRPr>
                <a:solidFill>
                  <a:schemeClr val="tx1"/>
                </a:solidFill>
                <a:latin typeface="Arial" panose="020B0604020202020204" pitchFamily="34" charset="0"/>
              </a:defRPr>
            </a:lvl5pPr>
            <a:lvl6pPr eaLnBrk="0" fontAlgn="base" hangingPunct="0">
              <a:spcBef>
                <a:spcPct val="0"/>
              </a:spcBef>
              <a:spcAft>
                <a:spcPct val="0"/>
              </a:spcAft>
              <a:tabLst>
                <a:tab pos="800100" algn="l"/>
              </a:tabLst>
              <a:defRPr>
                <a:solidFill>
                  <a:schemeClr val="tx1"/>
                </a:solidFill>
                <a:latin typeface="Arial" panose="020B0604020202020204" pitchFamily="34" charset="0"/>
              </a:defRPr>
            </a:lvl6pPr>
            <a:lvl7pPr eaLnBrk="0" fontAlgn="base" hangingPunct="0">
              <a:spcBef>
                <a:spcPct val="0"/>
              </a:spcBef>
              <a:spcAft>
                <a:spcPct val="0"/>
              </a:spcAft>
              <a:tabLst>
                <a:tab pos="800100" algn="l"/>
              </a:tabLst>
              <a:defRPr>
                <a:solidFill>
                  <a:schemeClr val="tx1"/>
                </a:solidFill>
                <a:latin typeface="Arial" panose="020B0604020202020204" pitchFamily="34" charset="0"/>
              </a:defRPr>
            </a:lvl7pPr>
            <a:lvl8pPr eaLnBrk="0" fontAlgn="base" hangingPunct="0">
              <a:spcBef>
                <a:spcPct val="0"/>
              </a:spcBef>
              <a:spcAft>
                <a:spcPct val="0"/>
              </a:spcAft>
              <a:tabLst>
                <a:tab pos="800100" algn="l"/>
              </a:tabLst>
              <a:defRPr>
                <a:solidFill>
                  <a:schemeClr val="tx1"/>
                </a:solidFill>
                <a:latin typeface="Arial" panose="020B0604020202020204" pitchFamily="34" charset="0"/>
              </a:defRPr>
            </a:lvl8pPr>
            <a:lvl9pPr eaLnBrk="0" fontAlgn="base" hangingPunct="0">
              <a:spcBef>
                <a:spcPct val="0"/>
              </a:spcBef>
              <a:spcAft>
                <a:spcPct val="0"/>
              </a:spcAft>
              <a:tabLst>
                <a:tab pos="8001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800100" algn="l"/>
              </a:tabLst>
            </a:pPr>
            <a:r>
              <a:rPr kumimoji="0" lang="fr-FR" altLang="fr-FR" sz="3200" b="1"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Injection Intra Veineuse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800100" algn="l"/>
              </a:tabLst>
            </a:pPr>
            <a:endPar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8001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Région d’élection</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Veine de la région du pli du coude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laver les mains et les passer à l’alcool ou porter des gants stériles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Prévenir le malade de l’imminence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confortablement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8001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Placer le garrot, ne pas trop serrer, le pouls doit rester perceptible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95623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61851" y="674913"/>
            <a:ext cx="10972800" cy="5246915"/>
          </a:xfrm>
        </p:spPr>
        <p:txBody>
          <a:bodyPr>
            <a:noAutofit/>
          </a:bodyPr>
          <a:lstStyle/>
          <a:p>
            <a:pPr marL="0" indent="0" algn="just" eaLnBrk="0" fontAlgn="base" hangingPunct="0">
              <a:spcBef>
                <a:spcPct val="0"/>
              </a:spcBef>
              <a:spcAft>
                <a:spcPct val="0"/>
              </a:spcAft>
              <a:buClrTx/>
              <a:buSzTx/>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Aseptiser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la peau au niveau du pli du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coude</a:t>
            </a:r>
          </a:p>
          <a:p>
            <a:pPr marL="0" lvl="0" indent="0" algn="just" eaLnBrk="0" fontAlgn="base" hangingPunct="0">
              <a:spcBef>
                <a:spcPct val="0"/>
              </a:spcBef>
              <a:spcAft>
                <a:spcPct val="0"/>
              </a:spcAft>
              <a:buClrTx/>
              <a:buSzTx/>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Tenir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le bras à pleine main</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Mettre le bras en extension</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Saisir la seringue en maintenant le biseau de l’aiguille tourné vers le haut</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Repérer la veine</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Empaumer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le coude, tendre la peau et immobiliser la veine avec le pouce</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Appuyer l’aiguille au centre de la veine</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8001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Perforer la peau et la veine en angle aigu</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1664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674914"/>
            <a:ext cx="10972800" cy="5573486"/>
          </a:xfrm>
        </p:spPr>
        <p:txBody>
          <a:bodyPr>
            <a:noAutofit/>
          </a:bodyPr>
          <a:lstStyle/>
          <a:p>
            <a:pPr lvl="0"/>
            <a:r>
              <a:rPr lang="fr-FR" sz="3200" dirty="0">
                <a:latin typeface="Times New Roman" panose="02020603050405020304" pitchFamily="18" charset="0"/>
                <a:cs typeface="Times New Roman" panose="02020603050405020304" pitchFamily="18" charset="0"/>
              </a:rPr>
              <a:t>Mettre alors l’aiguille en position tangentielle à la peau et pousser l’aiguille d’un à deux centimètre</a:t>
            </a:r>
          </a:p>
          <a:p>
            <a:pPr lvl="0"/>
            <a:r>
              <a:rPr lang="fr-FR" sz="3200" dirty="0">
                <a:latin typeface="Times New Roman" panose="02020603050405020304" pitchFamily="18" charset="0"/>
                <a:cs typeface="Times New Roman" panose="02020603050405020304" pitchFamily="18" charset="0"/>
              </a:rPr>
              <a:t>Aspirer ; le sang doit arriver dans la seringue</a:t>
            </a:r>
          </a:p>
          <a:p>
            <a:pPr lvl="0"/>
            <a:r>
              <a:rPr lang="fr-FR" sz="3200" dirty="0">
                <a:latin typeface="Times New Roman" panose="02020603050405020304" pitchFamily="18" charset="0"/>
                <a:cs typeface="Times New Roman" panose="02020603050405020304" pitchFamily="18" charset="0"/>
              </a:rPr>
              <a:t>Enlever le garrot</a:t>
            </a:r>
          </a:p>
          <a:p>
            <a:pPr lvl="0"/>
            <a:r>
              <a:rPr lang="fr-FR" sz="3200" dirty="0">
                <a:latin typeface="Times New Roman" panose="02020603050405020304" pitchFamily="18" charset="0"/>
                <a:cs typeface="Times New Roman" panose="02020603050405020304" pitchFamily="18" charset="0"/>
              </a:rPr>
              <a:t>Pousser le liquide très lentement dans la veine</a:t>
            </a:r>
          </a:p>
          <a:p>
            <a:pPr lvl="0"/>
            <a:r>
              <a:rPr lang="fr-FR" sz="3200" dirty="0">
                <a:latin typeface="Times New Roman" panose="02020603050405020304" pitchFamily="18" charset="0"/>
                <a:cs typeface="Times New Roman" panose="02020603050405020304" pitchFamily="18" charset="0"/>
              </a:rPr>
              <a:t>Aspirer le sang de temps en temps pour vérifier que l’aiguille est toujours dans la veine</a:t>
            </a:r>
          </a:p>
          <a:p>
            <a:pPr lvl="0"/>
            <a:r>
              <a:rPr lang="fr-FR" sz="3200" dirty="0">
                <a:latin typeface="Times New Roman" panose="02020603050405020304" pitchFamily="18" charset="0"/>
                <a:cs typeface="Times New Roman" panose="02020603050405020304" pitchFamily="18" charset="0"/>
              </a:rPr>
              <a:t>Vérifier les réactions du malade</a:t>
            </a:r>
          </a:p>
          <a:p>
            <a:pPr lvl="0"/>
            <a:r>
              <a:rPr lang="fr-FR" sz="3200" dirty="0">
                <a:latin typeface="Times New Roman" panose="02020603050405020304" pitchFamily="18" charset="0"/>
                <a:cs typeface="Times New Roman" panose="02020603050405020304" pitchFamily="18" charset="0"/>
              </a:rPr>
              <a:t>Lorsque l’injection est terminée, poser et maintenir un tampon</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6827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57645" y="1306287"/>
            <a:ext cx="10972800" cy="3788227"/>
          </a:xfrm>
        </p:spPr>
        <p:txBody>
          <a:bodyPr>
            <a:noAutofit/>
          </a:bodyPr>
          <a:lstStyle/>
          <a:p>
            <a:pPr lvl="0"/>
            <a:r>
              <a:rPr lang="fr-FR" sz="3200" dirty="0" smtClean="0">
                <a:latin typeface="Times New Roman" panose="02020603050405020304" pitchFamily="18" charset="0"/>
                <a:cs typeface="Times New Roman" panose="02020603050405020304" pitchFamily="18" charset="0"/>
              </a:rPr>
              <a:t>d’alcool  </a:t>
            </a:r>
            <a:r>
              <a:rPr lang="fr-FR" sz="3200" dirty="0">
                <a:latin typeface="Times New Roman" panose="02020603050405020304" pitchFamily="18" charset="0"/>
                <a:cs typeface="Times New Roman" panose="02020603050405020304" pitchFamily="18" charset="0"/>
              </a:rPr>
              <a:t>à la base de l’aiguille et retirer celle-ci</a:t>
            </a:r>
          </a:p>
          <a:p>
            <a:pPr lvl="0"/>
            <a:r>
              <a:rPr lang="fr-FR" sz="3200" dirty="0">
                <a:latin typeface="Times New Roman" panose="02020603050405020304" pitchFamily="18" charset="0"/>
                <a:cs typeface="Times New Roman" panose="02020603050405020304" pitchFamily="18" charset="0"/>
              </a:rPr>
              <a:t>Maintenir la pression sur la veine pendant quelques instants, pour éviter l’écoulement du sang</a:t>
            </a:r>
          </a:p>
          <a:p>
            <a:pPr lvl="0"/>
            <a:r>
              <a:rPr lang="fr-FR" sz="3200" dirty="0">
                <a:latin typeface="Times New Roman" panose="02020603050405020304" pitchFamily="18" charset="0"/>
                <a:cs typeface="Times New Roman" panose="02020603050405020304" pitchFamily="18" charset="0"/>
              </a:rPr>
              <a:t>Remercier le malade pour sa collaboration et prendre congé de lui avec des mots gentils</a:t>
            </a:r>
          </a:p>
          <a:p>
            <a:pPr lvl="0"/>
            <a:r>
              <a:rPr lang="fr-FR" sz="3200" dirty="0">
                <a:latin typeface="Times New Roman" panose="02020603050405020304" pitchFamily="18" charset="0"/>
                <a:cs typeface="Times New Roman" panose="02020603050405020304" pitchFamily="18" charset="0"/>
              </a:rPr>
              <a:t>Nettoyer et ranger le matériel</a:t>
            </a:r>
          </a:p>
        </p:txBody>
      </p:sp>
    </p:spTree>
    <p:extLst>
      <p:ext uri="{BB962C8B-B14F-4D97-AF65-F5344CB8AC3E}">
        <p14:creationId xmlns:p14="http://schemas.microsoft.com/office/powerpoint/2010/main" val="367275382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70411" y="1060269"/>
            <a:ext cx="10972800" cy="5057502"/>
          </a:xfrm>
        </p:spPr>
        <p:txBody>
          <a:bodyPr>
            <a:noAutofit/>
          </a:bodyPr>
          <a:lstStyle/>
          <a:p>
            <a:pPr marL="0" indent="0">
              <a:buNone/>
            </a:pPr>
            <a:r>
              <a:rPr lang="fr-FR" sz="3200" b="1" dirty="0" smtClean="0">
                <a:solidFill>
                  <a:srgbClr val="C00000"/>
                </a:solidFill>
                <a:latin typeface="Times New Roman" panose="02020603050405020304" pitchFamily="18" charset="0"/>
                <a:cs typeface="Times New Roman" panose="02020603050405020304" pitchFamily="18" charset="0"/>
              </a:rPr>
              <a:t>- </a:t>
            </a:r>
            <a:r>
              <a:rPr lang="fr-FR" sz="3200" b="1" u="sng" dirty="0">
                <a:solidFill>
                  <a:srgbClr val="C00000"/>
                </a:solidFill>
                <a:latin typeface="Times New Roman" panose="02020603050405020304" pitchFamily="18" charset="0"/>
                <a:cs typeface="Times New Roman" panose="02020603050405020304" pitchFamily="18" charset="0"/>
              </a:rPr>
              <a:t>Injection Intra Dermique</a:t>
            </a:r>
            <a:endParaRPr lang="fr-FR" sz="32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3200" b="1" dirty="0" smtClean="0">
              <a:latin typeface="Times New Roman" panose="02020603050405020304" pitchFamily="18" charset="0"/>
              <a:cs typeface="Times New Roman" panose="02020603050405020304" pitchFamily="18" charset="0"/>
            </a:endParaRPr>
          </a:p>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Région </a:t>
            </a:r>
            <a:r>
              <a:rPr lang="fr-FR" sz="3200" b="1" dirty="0">
                <a:solidFill>
                  <a:srgbClr val="FF0000"/>
                </a:solidFill>
                <a:latin typeface="Times New Roman" panose="02020603050405020304" pitchFamily="18" charset="0"/>
                <a:cs typeface="Times New Roman" panose="02020603050405020304" pitchFamily="18" charset="0"/>
              </a:rPr>
              <a:t>d’élection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Face externe et interne de l’avant bras</a:t>
            </a:r>
          </a:p>
          <a:p>
            <a:pPr lvl="0"/>
            <a:r>
              <a:rPr lang="fr-FR" sz="3200" dirty="0">
                <a:latin typeface="Times New Roman" panose="02020603050405020304" pitchFamily="18" charset="0"/>
                <a:cs typeface="Times New Roman" panose="02020603050405020304" pitchFamily="18" charset="0"/>
              </a:rPr>
              <a:t>Face externe et interne du bras</a:t>
            </a:r>
          </a:p>
          <a:p>
            <a:pPr lvl="0"/>
            <a:r>
              <a:rPr lang="fr-FR" sz="3200" dirty="0">
                <a:latin typeface="Times New Roman" panose="02020603050405020304" pitchFamily="18" charset="0"/>
                <a:cs typeface="Times New Roman" panose="02020603050405020304" pitchFamily="18" charset="0"/>
              </a:rPr>
              <a:t>Face externe et interne de la cuisse</a:t>
            </a:r>
          </a:p>
          <a:p>
            <a:pPr lvl="0"/>
            <a:r>
              <a:rPr lang="fr-FR" sz="3200" dirty="0">
                <a:latin typeface="Times New Roman" panose="02020603050405020304" pitchFamily="18" charset="0"/>
                <a:cs typeface="Times New Roman" panose="02020603050405020304" pitchFamily="18" charset="0"/>
              </a:rPr>
              <a:t>Au niveau de toute les régions douloureuse, pour les thérapeutiques analgésiques</a:t>
            </a:r>
          </a:p>
        </p:txBody>
      </p:sp>
    </p:spTree>
    <p:extLst>
      <p:ext uri="{BB962C8B-B14F-4D97-AF65-F5344CB8AC3E}">
        <p14:creationId xmlns:p14="http://schemas.microsoft.com/office/powerpoint/2010/main" val="401938457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701040" y="1591589"/>
            <a:ext cx="1116003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Informer le malade de l’imminence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confortablement le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laver les mains et les passer à l’alcool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Repérer la zone d’injection et aseptiser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Tenir le bras à pleine main et tendre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Saisir la seringue avec l’autre main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Introduire l’aiguille tangentiellement à la peau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26899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066800"/>
            <a:ext cx="10972800" cy="5257800"/>
          </a:xfrm>
        </p:spPr>
        <p:txBody>
          <a:bodyPr>
            <a:normAutofit/>
          </a:bodyPr>
          <a:lstStyle/>
          <a:p>
            <a:pPr marL="0" indent="0" algn="just" eaLnBrk="0" fontAlgn="base" hangingPunct="0">
              <a:spcBef>
                <a:spcPct val="0"/>
              </a:spcBef>
              <a:spcAft>
                <a:spcPct val="0"/>
              </a:spcAft>
              <a:buClrTx/>
              <a:buSzTx/>
              <a:buNone/>
              <a:tabLst>
                <a:tab pos="457200" algn="l"/>
              </a:tabLst>
            </a:pPr>
            <a:r>
              <a:rPr lang="fr-FR" altLang="fr-FR" sz="32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La </a:t>
            </a:r>
            <a:r>
              <a:rPr lang="fr-FR" alt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Technique (suite)</a:t>
            </a:r>
            <a:endParaRPr lang="fr-FR" altLang="fr-FR" sz="3200" dirty="0">
              <a:solidFill>
                <a:srgbClr val="FF0000"/>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tabLst>
                <a:tab pos="457200" algn="l"/>
              </a:tabLst>
            </a:pPr>
            <a:endPar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Dès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que le biseau a disparu, pousser doucement le produit</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Le volume injecté doit produire une petite boule d’œdème blanc</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Retirer l’aiguille et mettre un tampon de coton à l’endroit de l’injection</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Remercier le malade et prendre congé de lui avec des mots gentils</a:t>
            </a:r>
            <a:endParaRPr lang="fr-FR" altLang="fr-FR" sz="32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Nettoyer et ranger le matériel.</a:t>
            </a:r>
            <a:endParaRPr lang="fr-FR" alt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1126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22663" y="1190897"/>
            <a:ext cx="10972800" cy="4796246"/>
          </a:xfrm>
        </p:spPr>
        <p:txBody>
          <a:bodyPr>
            <a:normAutofit/>
          </a:bodyPr>
          <a:lstStyle/>
          <a:p>
            <a:pPr marL="393192" lvl="1" indent="0">
              <a:buNone/>
            </a:pPr>
            <a:r>
              <a:rPr lang="fr-FR" sz="3200" b="1" u="sng" dirty="0">
                <a:latin typeface="Times New Roman" panose="02020603050405020304" pitchFamily="18" charset="0"/>
                <a:cs typeface="Times New Roman" panose="02020603050405020304" pitchFamily="18" charset="0"/>
              </a:rPr>
              <a:t>INCIDENTS ET ACCIDENTS DUS AUX </a:t>
            </a:r>
            <a:r>
              <a:rPr lang="fr-FR" sz="3200" b="1" u="sng" dirty="0" smtClean="0">
                <a:latin typeface="Times New Roman" panose="02020603050405020304" pitchFamily="18" charset="0"/>
                <a:cs typeface="Times New Roman" panose="02020603050405020304" pitchFamily="18" charset="0"/>
              </a:rPr>
              <a:t>INJECTIONS</a:t>
            </a:r>
          </a:p>
          <a:p>
            <a:pPr marL="393192" lvl="1" indent="0">
              <a:buNone/>
            </a:pP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L’injection médicamenteuse, quelque soit son type, n’est pas toujours sans dangers pour le patient et pour le personnel soignant. L’infirmier est responsable des accidents pouvant survenir par erreur ou par négligence.</a:t>
            </a:r>
          </a:p>
          <a:p>
            <a:r>
              <a:rPr lang="fr-FR" sz="3200" dirty="0">
                <a:latin typeface="Times New Roman" panose="02020603050405020304" pitchFamily="18" charset="0"/>
                <a:cs typeface="Times New Roman" panose="02020603050405020304" pitchFamily="18" charset="0"/>
              </a:rPr>
              <a:t>Les accidents ou incidents pouvant survenir au cours ou à l’issus d’une injection sont :</a:t>
            </a:r>
          </a:p>
        </p:txBody>
      </p:sp>
    </p:spTree>
    <p:extLst>
      <p:ext uri="{BB962C8B-B14F-4D97-AF65-F5344CB8AC3E}">
        <p14:creationId xmlns:p14="http://schemas.microsoft.com/office/powerpoint/2010/main" val="162932347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01486" y="500743"/>
            <a:ext cx="9884229" cy="5965372"/>
          </a:xfrm>
        </p:spPr>
        <p:txBody>
          <a:bodyPr>
            <a:normAutofit fontScale="92500" lnSpcReduction="10000"/>
          </a:bodyPr>
          <a:lstStyle/>
          <a:p>
            <a:pPr marL="0" lvl="0" indent="0">
              <a:buNone/>
            </a:pPr>
            <a:r>
              <a:rPr lang="fr-FR" sz="3000" b="1" dirty="0" smtClean="0">
                <a:solidFill>
                  <a:srgbClr val="C00000"/>
                </a:solidFill>
              </a:rPr>
              <a:t>	</a:t>
            </a:r>
            <a:r>
              <a:rPr lang="fr-FR" sz="3500" b="1" dirty="0" smtClean="0">
                <a:solidFill>
                  <a:srgbClr val="C00000"/>
                </a:solidFill>
                <a:latin typeface="Times New Roman" panose="02020603050405020304" pitchFamily="18" charset="0"/>
                <a:cs typeface="Times New Roman" panose="02020603050405020304" pitchFamily="18" charset="0"/>
              </a:rPr>
              <a:t>Erreurs </a:t>
            </a:r>
            <a:r>
              <a:rPr lang="fr-FR" sz="3500" b="1" dirty="0">
                <a:solidFill>
                  <a:srgbClr val="C00000"/>
                </a:solidFill>
                <a:latin typeface="Times New Roman" panose="02020603050405020304" pitchFamily="18" charset="0"/>
                <a:cs typeface="Times New Roman" panose="02020603050405020304" pitchFamily="18" charset="0"/>
              </a:rPr>
              <a:t>Médicamenteuses</a:t>
            </a:r>
            <a:endParaRPr lang="fr-FR" sz="3500" dirty="0">
              <a:solidFill>
                <a:srgbClr val="C00000"/>
              </a:solidFill>
              <a:latin typeface="Times New Roman" panose="02020603050405020304" pitchFamily="18" charset="0"/>
              <a:cs typeface="Times New Roman" panose="02020603050405020304" pitchFamily="18" charset="0"/>
            </a:endParaRPr>
          </a:p>
          <a:p>
            <a:r>
              <a:rPr lang="fr-FR" sz="3500" dirty="0">
                <a:latin typeface="Times New Roman" panose="02020603050405020304" pitchFamily="18" charset="0"/>
                <a:cs typeface="Times New Roman" panose="02020603050405020304" pitchFamily="18" charset="0"/>
              </a:rPr>
              <a:t>Il faut toujours vérifier avant l’injection :</a:t>
            </a:r>
          </a:p>
          <a:p>
            <a:pPr lvl="0"/>
            <a:r>
              <a:rPr lang="fr-FR" sz="3500" dirty="0">
                <a:latin typeface="Times New Roman" panose="02020603050405020304" pitchFamily="18" charset="0"/>
                <a:cs typeface="Times New Roman" panose="02020603050405020304" pitchFamily="18" charset="0"/>
              </a:rPr>
              <a:t>la dose de produit prescrit</a:t>
            </a:r>
          </a:p>
          <a:p>
            <a:pPr lvl="0"/>
            <a:r>
              <a:rPr lang="fr-FR" sz="3500" dirty="0">
                <a:latin typeface="Times New Roman" panose="02020603050405020304" pitchFamily="18" charset="0"/>
                <a:cs typeface="Times New Roman" panose="02020603050405020304" pitchFamily="18" charset="0"/>
              </a:rPr>
              <a:t>le dosage de l’ampoule</a:t>
            </a:r>
          </a:p>
          <a:p>
            <a:pPr lvl="0"/>
            <a:r>
              <a:rPr lang="fr-FR" sz="3500" dirty="0">
                <a:latin typeface="Times New Roman" panose="02020603050405020304" pitchFamily="18" charset="0"/>
                <a:cs typeface="Times New Roman" panose="02020603050405020304" pitchFamily="18" charset="0"/>
              </a:rPr>
              <a:t>le nom du malade</a:t>
            </a:r>
          </a:p>
          <a:p>
            <a:pPr lvl="0"/>
            <a:r>
              <a:rPr lang="fr-FR" sz="3500" dirty="0">
                <a:latin typeface="Times New Roman" panose="02020603050405020304" pitchFamily="18" charset="0"/>
                <a:cs typeface="Times New Roman" panose="02020603050405020304" pitchFamily="18" charset="0"/>
              </a:rPr>
              <a:t>la voie d’injection de l’ampoule</a:t>
            </a:r>
          </a:p>
          <a:p>
            <a:pPr lvl="0"/>
            <a:r>
              <a:rPr lang="fr-FR" sz="3500" dirty="0">
                <a:latin typeface="Times New Roman" panose="02020603050405020304" pitchFamily="18" charset="0"/>
                <a:cs typeface="Times New Roman" panose="02020603050405020304" pitchFamily="18" charset="0"/>
              </a:rPr>
              <a:t>préparer toujours l’injection au pied du lit</a:t>
            </a:r>
          </a:p>
          <a:p>
            <a:pPr marL="393192" lvl="1" indent="0">
              <a:buNone/>
            </a:pPr>
            <a:r>
              <a:rPr lang="fr-FR" sz="3500" b="1" dirty="0">
                <a:latin typeface="Times New Roman" panose="02020603050405020304" pitchFamily="18" charset="0"/>
                <a:cs typeface="Times New Roman" panose="02020603050405020304" pitchFamily="18" charset="0"/>
              </a:rPr>
              <a:t>	</a:t>
            </a:r>
            <a:r>
              <a:rPr lang="fr-FR" sz="3500" b="1" dirty="0" smtClean="0">
                <a:solidFill>
                  <a:srgbClr val="C00000"/>
                </a:solidFill>
                <a:latin typeface="Times New Roman" panose="02020603050405020304" pitchFamily="18" charset="0"/>
                <a:cs typeface="Times New Roman" panose="02020603050405020304" pitchFamily="18" charset="0"/>
              </a:rPr>
              <a:t>Les </a:t>
            </a:r>
            <a:r>
              <a:rPr lang="fr-FR" sz="3500" b="1" dirty="0">
                <a:solidFill>
                  <a:srgbClr val="C00000"/>
                </a:solidFill>
                <a:latin typeface="Times New Roman" panose="02020603050405020304" pitchFamily="18" charset="0"/>
                <a:cs typeface="Times New Roman" panose="02020603050405020304" pitchFamily="18" charset="0"/>
              </a:rPr>
              <a:t>Abcès</a:t>
            </a:r>
          </a:p>
          <a:p>
            <a:r>
              <a:rPr lang="fr-FR" sz="3500" dirty="0">
                <a:latin typeface="Times New Roman" panose="02020603050405020304" pitchFamily="18" charset="0"/>
                <a:cs typeface="Times New Roman" panose="02020603050405020304" pitchFamily="18" charset="0"/>
              </a:rPr>
              <a:t>L’abcès survient :</a:t>
            </a:r>
          </a:p>
          <a:p>
            <a:pPr lvl="0"/>
            <a:r>
              <a:rPr lang="fr-FR" sz="3500" dirty="0">
                <a:latin typeface="Times New Roman" panose="02020603050405020304" pitchFamily="18" charset="0"/>
                <a:cs typeface="Times New Roman" panose="02020603050405020304" pitchFamily="18" charset="0"/>
              </a:rPr>
              <a:t>par manque d’asepsie</a:t>
            </a:r>
          </a:p>
          <a:p>
            <a:pPr lvl="0"/>
            <a:r>
              <a:rPr lang="fr-FR" sz="3500" dirty="0">
                <a:latin typeface="Times New Roman" panose="02020603050405020304" pitchFamily="18" charset="0"/>
                <a:cs typeface="Times New Roman" panose="02020603050405020304" pitchFamily="18" charset="0"/>
              </a:rPr>
              <a:t>par une mauvaise résorption du produit</a:t>
            </a:r>
          </a:p>
          <a:p>
            <a:endParaRPr lang="fr-FR" dirty="0"/>
          </a:p>
        </p:txBody>
      </p:sp>
    </p:spTree>
    <p:extLst>
      <p:ext uri="{BB962C8B-B14F-4D97-AF65-F5344CB8AC3E}">
        <p14:creationId xmlns:p14="http://schemas.microsoft.com/office/powerpoint/2010/main" val="27683786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44286" y="912223"/>
            <a:ext cx="10972800" cy="4389120"/>
          </a:xfrm>
        </p:spPr>
        <p:txBody>
          <a:bodyPr>
            <a:normAutofit lnSpcReduction="10000"/>
          </a:bodyPr>
          <a:lstStyle/>
          <a:p>
            <a:pPr marL="0" lvl="0" indent="0" algn="just" eaLnBrk="0" fontAlgn="base" hangingPunct="0">
              <a:spcBef>
                <a:spcPct val="0"/>
              </a:spcBef>
              <a:spcAft>
                <a:spcPct val="0"/>
              </a:spcAft>
              <a:buClrTx/>
              <a:buSzTx/>
              <a:buNone/>
              <a:tabLst>
                <a:tab pos="457200" algn="l"/>
              </a:tabLst>
            </a:pPr>
            <a:r>
              <a:rPr lang="fr-FR" altLang="fr-FR" sz="2400" b="1" dirty="0" smtClean="0">
                <a:solidFill>
                  <a:srgbClr val="C00000"/>
                </a:solidFill>
                <a:latin typeface="Arial" panose="020B0604020202020204" pitchFamily="34" charset="0"/>
                <a:ea typeface="Times New Roman" panose="02020603050405020304" pitchFamily="18" charset="0"/>
              </a:rPr>
              <a:t>	</a:t>
            </a:r>
            <a:r>
              <a:rPr lang="fr-FR" altLang="fr-FR" sz="3200" b="1" dirty="0" smtClean="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Les Escarres</a:t>
            </a:r>
          </a:p>
          <a:p>
            <a:pPr marL="0" lvl="0" indent="0" algn="just" eaLnBrk="0" fontAlgn="base" hangingPunct="0">
              <a:spcBef>
                <a:spcPct val="0"/>
              </a:spcBef>
              <a:spcAft>
                <a:spcPct val="0"/>
              </a:spcAft>
              <a:buClrTx/>
              <a:buSzTx/>
              <a:buNone/>
              <a:tabLst>
                <a:tab pos="457200" algn="l"/>
              </a:tabLst>
            </a:pPr>
            <a:endParaRPr lang="fr-FR" altLang="fr-FR" sz="3200" dirty="0">
              <a:solidFill>
                <a:srgbClr val="C00000"/>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L’escarre survient par erreur de voie d’introduction pour certains produits (ne jamais injecter les solutés hypertoniques en S/C ou en IM mais toujours en IVD</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SzTx/>
              <a:buNone/>
              <a:tabLst>
                <a:tab pos="457200" algn="l"/>
              </a:tabLst>
            </a:pPr>
            <a:endParaRPr lang="fr-FR" altLang="fr-FR" sz="3200" dirty="0">
              <a:latin typeface="Times New Roman" panose="02020603050405020304" pitchFamily="18" charset="0"/>
              <a:cs typeface="Times New Roman" panose="02020603050405020304" pitchFamily="18" charset="0"/>
            </a:endParaRPr>
          </a:p>
          <a:p>
            <a:pPr marL="365760" lvl="1" indent="0" algn="just" eaLnBrk="0" fontAlgn="base" hangingPunct="0">
              <a:spcBef>
                <a:spcPct val="0"/>
              </a:spcBef>
              <a:spcAft>
                <a:spcPct val="0"/>
              </a:spcAft>
              <a:buClrTx/>
              <a:buSzTx/>
              <a:buFontTx/>
              <a:buChar char="•"/>
              <a:tabLst>
                <a:tab pos="457200" algn="l"/>
              </a:tabLst>
            </a:pPr>
            <a:r>
              <a:rPr lang="fr-FR" altLang="fr-FR"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Rupture de l’aiguille dans les tissus</a:t>
            </a:r>
            <a:endParaRPr lang="fr-FR" altLang="fr-FR" sz="3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65760" lvl="1" indent="0" algn="just" eaLnBrk="0" fontAlgn="base" hangingPunct="0">
              <a:spcBef>
                <a:spcPct val="0"/>
              </a:spcBef>
              <a:spcAft>
                <a:spcPct val="0"/>
              </a:spcAft>
              <a:buClrTx/>
              <a:buSzTx/>
              <a:buFontTx/>
              <a:buChar char="•"/>
              <a:tabLst>
                <a:tab pos="457200" algn="l"/>
              </a:tabLst>
            </a:pPr>
            <a:r>
              <a:rPr lang="fr-FR" altLang="fr-FR"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Piqûre dans un vaisseau</a:t>
            </a:r>
            <a:endParaRPr lang="fr-FR" altLang="fr-FR" sz="3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65760" lvl="1" indent="0" algn="just" eaLnBrk="0" fontAlgn="base" hangingPunct="0">
              <a:spcBef>
                <a:spcPct val="0"/>
              </a:spcBef>
              <a:spcAft>
                <a:spcPct val="0"/>
              </a:spcAft>
              <a:buClrTx/>
              <a:buSzTx/>
              <a:buFontTx/>
              <a:buChar char="•"/>
              <a:tabLst>
                <a:tab pos="457200" algn="l"/>
              </a:tabLst>
            </a:pPr>
            <a:r>
              <a:rPr lang="fr-FR" altLang="fr-FR"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Douleurs au point d’injection</a:t>
            </a:r>
            <a:endParaRPr lang="fr-FR" altLang="fr-FR" sz="3200" dirty="0">
              <a:solidFill>
                <a:srgbClr val="C0000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247846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39782" y="550507"/>
            <a:ext cx="1113390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892175"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Pour éviter la douleur, il faut :</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bien délimiter le lieu d’injection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introduire l’aiguille d’un coup rapide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injecter lentement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une seringue non émoussée</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Contamination par la seringue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Pour éviter la contamination par la seringue, prescrire des seringues individuelles ou à usage unique.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55733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12274" y="1958122"/>
            <a:ext cx="7837715" cy="2182803"/>
          </a:xfr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a:normAutofit/>
            <a:scene3d>
              <a:camera prst="orthographicFront"/>
              <a:lightRig rig="freezing" dir="t">
                <a:rot lat="0" lon="0" rev="5640000"/>
              </a:lightRig>
            </a:scene3d>
            <a:sp3d prstMaterial="flat">
              <a:contourClr>
                <a:schemeClr val="tx2"/>
              </a:contourClr>
            </a:sp3d>
          </a:bodyPr>
          <a:lstStyle/>
          <a:p>
            <a:pPr algn="ctr"/>
            <a:r>
              <a:rPr lang="fr-FR" b="1" dirty="0">
                <a:latin typeface="Times New Roman" panose="02020603050405020304" pitchFamily="18" charset="0"/>
                <a:cs typeface="Times New Roman" panose="02020603050405020304" pitchFamily="18" charset="0"/>
              </a:rPr>
              <a:t>LES HEMORRAGIES</a:t>
            </a:r>
            <a:r>
              <a:rPr lang="fr-FR" dirty="0"/>
              <a:t/>
            </a:r>
            <a:br>
              <a:rPr lang="fr-FR" dirty="0"/>
            </a:br>
            <a:endParaRPr lang="fr-FR" dirty="0"/>
          </a:p>
        </p:txBody>
      </p:sp>
    </p:spTree>
    <p:extLst>
      <p:ext uri="{BB962C8B-B14F-4D97-AF65-F5344CB8AC3E}">
        <p14:creationId xmlns:p14="http://schemas.microsoft.com/office/powerpoint/2010/main" val="338511358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071154"/>
            <a:ext cx="10972800" cy="5266509"/>
          </a:xfrm>
        </p:spPr>
        <p:txBody>
          <a:bodyPr/>
          <a:lstStyle/>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 GENERAL</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L’étudiant de la 1</a:t>
            </a:r>
            <a:r>
              <a:rPr lang="fr-FR" sz="3200" baseline="30000" dirty="0">
                <a:latin typeface="Times New Roman" panose="02020603050405020304" pitchFamily="18" charset="0"/>
                <a:cs typeface="Times New Roman" panose="02020603050405020304" pitchFamily="18" charset="0"/>
              </a:rPr>
              <a:t>ère</a:t>
            </a:r>
            <a:r>
              <a:rPr lang="fr-FR" sz="3200" dirty="0">
                <a:latin typeface="Times New Roman" panose="02020603050405020304" pitchFamily="18" charset="0"/>
                <a:cs typeface="Times New Roman" panose="02020603050405020304" pitchFamily="18" charset="0"/>
              </a:rPr>
              <a:t> AC doit pouvoir acquérir des connaissances sur les Hémorragies.</a:t>
            </a:r>
          </a:p>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OBJECTIFS SPECIFIQUES</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dirty="0">
                <a:latin typeface="Times New Roman" panose="02020603050405020304" pitchFamily="18" charset="0"/>
                <a:cs typeface="Times New Roman" panose="02020603050405020304" pitchFamily="18" charset="0"/>
              </a:rPr>
              <a:t>Au terme de ce cours, l’étudiant de la 1</a:t>
            </a:r>
            <a:r>
              <a:rPr lang="fr-FR" sz="3200" baseline="30000" dirty="0">
                <a:latin typeface="Times New Roman" panose="02020603050405020304" pitchFamily="18" charset="0"/>
                <a:cs typeface="Times New Roman" panose="02020603050405020304" pitchFamily="18" charset="0"/>
              </a:rPr>
              <a:t>ère</a:t>
            </a:r>
            <a:r>
              <a:rPr lang="fr-FR" sz="3200" dirty="0">
                <a:latin typeface="Times New Roman" panose="02020603050405020304" pitchFamily="18" charset="0"/>
                <a:cs typeface="Times New Roman" panose="02020603050405020304" pitchFamily="18" charset="0"/>
              </a:rPr>
              <a:t> AC doit être capable :</a:t>
            </a:r>
          </a:p>
          <a:p>
            <a:pPr lvl="0"/>
            <a:r>
              <a:rPr lang="fr-FR" sz="3200" dirty="0">
                <a:latin typeface="Times New Roman" panose="02020603050405020304" pitchFamily="18" charset="0"/>
                <a:cs typeface="Times New Roman" panose="02020603050405020304" pitchFamily="18" charset="0"/>
              </a:rPr>
              <a:t>de définir l’hémorragie conformément à l’enseignement reçu ;</a:t>
            </a:r>
          </a:p>
          <a:p>
            <a:pPr lvl="0"/>
            <a:r>
              <a:rPr lang="fr-FR" sz="3200" dirty="0">
                <a:latin typeface="Times New Roman" panose="02020603050405020304" pitchFamily="18" charset="0"/>
                <a:cs typeface="Times New Roman" panose="02020603050405020304" pitchFamily="18" charset="0"/>
              </a:rPr>
              <a:t>d’énumérer les causes d’une hémorragie ;</a:t>
            </a:r>
          </a:p>
          <a:p>
            <a:pPr lvl="0"/>
            <a:r>
              <a:rPr lang="fr-FR" sz="3200" dirty="0">
                <a:latin typeface="Times New Roman" panose="02020603050405020304" pitchFamily="18" charset="0"/>
                <a:cs typeface="Times New Roman" panose="02020603050405020304" pitchFamily="18" charset="0"/>
              </a:rPr>
              <a:t>d’expliquer les signes d’une hémorragie ;</a:t>
            </a:r>
          </a:p>
          <a:p>
            <a:pPr lvl="0"/>
            <a:r>
              <a:rPr lang="fr-FR" sz="3200" dirty="0">
                <a:latin typeface="Times New Roman" panose="02020603050405020304" pitchFamily="18" charset="0"/>
                <a:cs typeface="Times New Roman" panose="02020603050405020304" pitchFamily="18" charset="0"/>
              </a:rPr>
              <a:t>d’expliquer la conduite à tenir devant une hémorragie ;</a:t>
            </a:r>
          </a:p>
          <a:p>
            <a:endParaRPr lang="fr-FR" dirty="0"/>
          </a:p>
        </p:txBody>
      </p:sp>
    </p:spTree>
    <p:extLst>
      <p:ext uri="{BB962C8B-B14F-4D97-AF65-F5344CB8AC3E}">
        <p14:creationId xmlns:p14="http://schemas.microsoft.com/office/powerpoint/2010/main" val="326644912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201783"/>
            <a:ext cx="10972800" cy="5122817"/>
          </a:xfrm>
        </p:spPr>
        <p:txBody>
          <a:bodyPr>
            <a:normAutofit/>
          </a:bodyPr>
          <a:lstStyle/>
          <a:p>
            <a:pPr marL="0" indent="0">
              <a:buNone/>
            </a:pPr>
            <a:r>
              <a:rPr lang="fr-FR" sz="3200" b="1" dirty="0">
                <a:solidFill>
                  <a:srgbClr val="C00000"/>
                </a:solidFill>
                <a:latin typeface="Times New Roman" panose="02020603050405020304" pitchFamily="18" charset="0"/>
                <a:cs typeface="Times New Roman" panose="02020603050405020304" pitchFamily="18" charset="0"/>
              </a:rPr>
              <a:t>I </a:t>
            </a:r>
            <a:r>
              <a:rPr lang="fr-FR" sz="3200" b="1" dirty="0" smtClean="0">
                <a:solidFill>
                  <a:srgbClr val="C00000"/>
                </a:solidFill>
                <a:latin typeface="Times New Roman" panose="02020603050405020304" pitchFamily="18" charset="0"/>
                <a:cs typeface="Times New Roman" panose="02020603050405020304" pitchFamily="18" charset="0"/>
              </a:rPr>
              <a:t>–</a:t>
            </a:r>
            <a:r>
              <a:rPr lang="fr-FR" sz="3200" b="1" u="sng" dirty="0" smtClean="0">
                <a:solidFill>
                  <a:srgbClr val="C00000"/>
                </a:solidFill>
                <a:latin typeface="Times New Roman" panose="02020603050405020304" pitchFamily="18" charset="0"/>
                <a:cs typeface="Times New Roman" panose="02020603050405020304" pitchFamily="18" charset="0"/>
              </a:rPr>
              <a:t> DEFINITION</a:t>
            </a:r>
          </a:p>
          <a:p>
            <a:pPr marL="0" indent="0">
              <a:buNone/>
            </a:pPr>
            <a:endParaRPr lang="fr-FR"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Une hémorragie est un écoulement de sang hors des cavités vasculaires. L’hémorragie peut être interne ou externe et, selon la localisation, elle peut être artérielle veineuse ou capillaire.</a:t>
            </a:r>
          </a:p>
        </p:txBody>
      </p:sp>
    </p:spTree>
    <p:extLst>
      <p:ext uri="{BB962C8B-B14F-4D97-AF65-F5344CB8AC3E}">
        <p14:creationId xmlns:p14="http://schemas.microsoft.com/office/powerpoint/2010/main" val="394603927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83029" y="370115"/>
            <a:ext cx="11713027" cy="6291942"/>
          </a:xfrm>
        </p:spPr>
        <p:txBody>
          <a:bodyPr>
            <a:noAutofit/>
          </a:bodyPr>
          <a:lstStyle/>
          <a:p>
            <a:pPr marL="0" indent="0">
              <a:buNone/>
            </a:pPr>
            <a:r>
              <a:rPr lang="fr-FR" sz="3200" b="1" dirty="0">
                <a:solidFill>
                  <a:srgbClr val="C00000"/>
                </a:solidFill>
                <a:latin typeface="Times New Roman" panose="02020603050405020304" pitchFamily="18" charset="0"/>
                <a:cs typeface="Times New Roman" panose="02020603050405020304" pitchFamily="18" charset="0"/>
              </a:rPr>
              <a:t>II – </a:t>
            </a:r>
            <a:r>
              <a:rPr lang="fr-FR" sz="3200" b="1" u="sng" dirty="0">
                <a:solidFill>
                  <a:srgbClr val="C00000"/>
                </a:solidFill>
                <a:latin typeface="Times New Roman" panose="02020603050405020304" pitchFamily="18" charset="0"/>
                <a:cs typeface="Times New Roman" panose="02020603050405020304" pitchFamily="18" charset="0"/>
              </a:rPr>
              <a:t>ETIOLOGIE</a:t>
            </a:r>
            <a:endParaRPr lang="fr-FR" sz="3200" dirty="0">
              <a:solidFill>
                <a:srgbClr val="C00000"/>
              </a:solidFill>
              <a:latin typeface="Times New Roman" panose="02020603050405020304" pitchFamily="18" charset="0"/>
              <a:cs typeface="Times New Roman" panose="02020603050405020304" pitchFamily="18" charset="0"/>
            </a:endParaRPr>
          </a:p>
          <a:p>
            <a:pPr lvl="0"/>
            <a:r>
              <a:rPr lang="fr-FR" sz="3200" b="1" dirty="0">
                <a:solidFill>
                  <a:srgbClr val="FF0000"/>
                </a:solidFill>
                <a:latin typeface="Times New Roman" panose="02020603050405020304" pitchFamily="18" charset="0"/>
                <a:cs typeface="Times New Roman" panose="02020603050405020304" pitchFamily="18" charset="0"/>
              </a:rPr>
              <a:t>Hémorragie de cause traumatique</a:t>
            </a:r>
            <a:endParaRPr lang="fr-FR" sz="3200" dirty="0">
              <a:solidFill>
                <a:srgbClr val="FF0000"/>
              </a:solidFill>
              <a:latin typeface="Times New Roman" panose="02020603050405020304" pitchFamily="18" charset="0"/>
              <a:cs typeface="Times New Roman" panose="02020603050405020304" pitchFamily="18" charset="0"/>
            </a:endParaRPr>
          </a:p>
          <a:p>
            <a:pPr marL="0" lvl="0" indent="0">
              <a:buNone/>
            </a:pPr>
            <a:r>
              <a:rPr lang="fr-FR" sz="3200" dirty="0" smtClean="0">
                <a:latin typeface="Times New Roman" panose="02020603050405020304" pitchFamily="18" charset="0"/>
                <a:cs typeface="Times New Roman" panose="02020603050405020304" pitchFamily="18" charset="0"/>
              </a:rPr>
              <a:t>- Hémorragie </a:t>
            </a:r>
            <a:r>
              <a:rPr lang="fr-FR" sz="3200" dirty="0">
                <a:latin typeface="Times New Roman" panose="02020603050405020304" pitchFamily="18" charset="0"/>
                <a:cs typeface="Times New Roman" panose="02020603050405020304" pitchFamily="18" charset="0"/>
              </a:rPr>
              <a:t>primitive, qui survient aussitôt après le traumatisme</a:t>
            </a:r>
          </a:p>
          <a:p>
            <a:pPr marL="0" lvl="0" indent="0">
              <a:buNone/>
            </a:pPr>
            <a:r>
              <a:rPr lang="fr-FR" sz="3200" dirty="0" smtClean="0">
                <a:latin typeface="Times New Roman" panose="02020603050405020304" pitchFamily="18" charset="0"/>
                <a:cs typeface="Times New Roman" panose="02020603050405020304" pitchFamily="18" charset="0"/>
              </a:rPr>
              <a:t>- Hémorragie </a:t>
            </a:r>
            <a:r>
              <a:rPr lang="fr-FR" sz="3200" dirty="0">
                <a:latin typeface="Times New Roman" panose="02020603050405020304" pitchFamily="18" charset="0"/>
                <a:cs typeface="Times New Roman" panose="02020603050405020304" pitchFamily="18" charset="0"/>
              </a:rPr>
              <a:t>secondaire, celle qui apparaît plusieurs heures ou des jours après le traumatisme.</a:t>
            </a:r>
          </a:p>
          <a:p>
            <a:pPr lvl="0"/>
            <a:r>
              <a:rPr lang="fr-FR" sz="3200" b="1" dirty="0">
                <a:solidFill>
                  <a:srgbClr val="FF0000"/>
                </a:solidFill>
                <a:latin typeface="Times New Roman" panose="02020603050405020304" pitchFamily="18" charset="0"/>
                <a:cs typeface="Times New Roman" panose="02020603050405020304" pitchFamily="18" charset="0"/>
              </a:rPr>
              <a:t>Trouble de la coagulation sanguine</a:t>
            </a:r>
            <a:endParaRPr lang="fr-FR" sz="3200" dirty="0">
              <a:solidFill>
                <a:srgbClr val="FF0000"/>
              </a:solidFill>
              <a:latin typeface="Times New Roman" panose="02020603050405020304" pitchFamily="18" charset="0"/>
              <a:cs typeface="Times New Roman" panose="02020603050405020304" pitchFamily="18" charset="0"/>
            </a:endParaRPr>
          </a:p>
          <a:p>
            <a:pPr marL="0" lvl="0" indent="0">
              <a:buNone/>
            </a:pPr>
            <a:r>
              <a:rPr lang="fr-FR" sz="3200" dirty="0" smtClean="0">
                <a:latin typeface="Times New Roman" panose="02020603050405020304" pitchFamily="18" charset="0"/>
                <a:cs typeface="Times New Roman" panose="02020603050405020304" pitchFamily="18" charset="0"/>
              </a:rPr>
              <a:t>- Hémophilies</a:t>
            </a:r>
            <a:endParaRPr lang="fr-FR" sz="3200" dirty="0">
              <a:latin typeface="Times New Roman" panose="02020603050405020304" pitchFamily="18" charset="0"/>
              <a:cs typeface="Times New Roman" panose="02020603050405020304" pitchFamily="18" charset="0"/>
            </a:endParaRPr>
          </a:p>
          <a:p>
            <a:pPr lvl="0"/>
            <a:r>
              <a:rPr lang="fr-FR" sz="3200" b="1" dirty="0">
                <a:solidFill>
                  <a:srgbClr val="FF0000"/>
                </a:solidFill>
                <a:latin typeface="Times New Roman" panose="02020603050405020304" pitchFamily="18" charset="0"/>
                <a:cs typeface="Times New Roman" panose="02020603050405020304" pitchFamily="18" charset="0"/>
              </a:rPr>
              <a:t>Maladie de l’appareil circulatoire</a:t>
            </a:r>
            <a:endParaRPr lang="fr-FR" sz="3200" dirty="0">
              <a:solidFill>
                <a:srgbClr val="FF0000"/>
              </a:solidFill>
              <a:latin typeface="Times New Roman" panose="02020603050405020304" pitchFamily="18" charset="0"/>
              <a:cs typeface="Times New Roman" panose="02020603050405020304" pitchFamily="18" charset="0"/>
            </a:endParaRPr>
          </a:p>
          <a:p>
            <a:pPr marL="0" lvl="0" indent="0">
              <a:buNone/>
            </a:pPr>
            <a:r>
              <a:rPr lang="fr-FR" sz="3200" dirty="0" smtClean="0">
                <a:latin typeface="Times New Roman" panose="02020603050405020304" pitchFamily="18" charset="0"/>
                <a:cs typeface="Times New Roman" panose="02020603050405020304" pitchFamily="18" charset="0"/>
              </a:rPr>
              <a:t>- Hypertension </a:t>
            </a:r>
            <a:r>
              <a:rPr lang="fr-FR" sz="3200" dirty="0">
                <a:latin typeface="Times New Roman" panose="02020603050405020304" pitchFamily="18" charset="0"/>
                <a:cs typeface="Times New Roman" panose="02020603050405020304" pitchFamily="18" charset="0"/>
              </a:rPr>
              <a:t>Artérielle</a:t>
            </a:r>
          </a:p>
          <a:p>
            <a:pPr lvl="0"/>
            <a:r>
              <a:rPr lang="fr-FR" sz="3200" b="1" dirty="0">
                <a:solidFill>
                  <a:srgbClr val="FF0000"/>
                </a:solidFill>
                <a:latin typeface="Times New Roman" panose="02020603050405020304" pitchFamily="18" charset="0"/>
                <a:cs typeface="Times New Roman" panose="02020603050405020304" pitchFamily="18" charset="0"/>
              </a:rPr>
              <a:t>Lésion </a:t>
            </a:r>
            <a:r>
              <a:rPr lang="fr-FR" sz="3200" b="1" dirty="0" smtClean="0">
                <a:solidFill>
                  <a:srgbClr val="FF0000"/>
                </a:solidFill>
                <a:latin typeface="Times New Roman" panose="02020603050405020304" pitchFamily="18" charset="0"/>
                <a:cs typeface="Times New Roman" panose="02020603050405020304" pitchFamily="18" charset="0"/>
              </a:rPr>
              <a:t>organique</a:t>
            </a:r>
            <a:endParaRPr lang="fr-FR" sz="3200" dirty="0" smtClean="0">
              <a:solidFill>
                <a:srgbClr val="FF0000"/>
              </a:solidFill>
              <a:latin typeface="Times New Roman" panose="02020603050405020304" pitchFamily="18" charset="0"/>
              <a:cs typeface="Times New Roman" panose="02020603050405020304" pitchFamily="18" charset="0"/>
            </a:endParaRPr>
          </a:p>
          <a:p>
            <a:pPr marL="0" lvl="0" indent="0">
              <a:buNone/>
            </a:pPr>
            <a:r>
              <a:rPr lang="fr-FR" sz="3200" dirty="0" smtClean="0">
                <a:latin typeface="Times New Roman" panose="02020603050405020304" pitchFamily="18" charset="0"/>
                <a:cs typeface="Times New Roman" panose="02020603050405020304" pitchFamily="18" charset="0"/>
              </a:rPr>
              <a:t>- Ulcère de l’estomac</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6925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6571" y="500743"/>
            <a:ext cx="11625943" cy="6117771"/>
          </a:xfrm>
        </p:spPr>
        <p:txBody>
          <a:bodyPr>
            <a:normAutofit fontScale="92500" lnSpcReduction="10000"/>
          </a:bodyPr>
          <a:lstStyle/>
          <a:p>
            <a:r>
              <a:rPr lang="fr-FR" sz="3200" b="1" dirty="0">
                <a:solidFill>
                  <a:srgbClr val="C00000"/>
                </a:solidFill>
                <a:latin typeface="Times New Roman" panose="02020603050405020304" pitchFamily="18" charset="0"/>
                <a:cs typeface="Times New Roman" panose="02020603050405020304" pitchFamily="18" charset="0"/>
              </a:rPr>
              <a:t>III -  </a:t>
            </a:r>
            <a:r>
              <a:rPr lang="fr-FR" sz="3200" b="1" u="sng" dirty="0">
                <a:solidFill>
                  <a:srgbClr val="C00000"/>
                </a:solidFill>
                <a:latin typeface="Times New Roman" panose="02020603050405020304" pitchFamily="18" charset="0"/>
                <a:cs typeface="Times New Roman" panose="02020603050405020304" pitchFamily="18" charset="0"/>
              </a:rPr>
              <a:t>LES SIGNES</a:t>
            </a:r>
            <a:endParaRPr lang="fr-FR" sz="32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Signes locaux</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b="1" dirty="0">
                <a:solidFill>
                  <a:srgbClr val="FF0000"/>
                </a:solidFill>
                <a:latin typeface="Times New Roman" panose="02020603050405020304" pitchFamily="18" charset="0"/>
                <a:cs typeface="Times New Roman" panose="02020603050405020304" pitchFamily="18" charset="0"/>
              </a:rPr>
              <a:t>Hémorragie Externe</a:t>
            </a:r>
            <a:endParaRPr lang="fr-FR" sz="3200" dirty="0">
              <a:solidFill>
                <a:srgbClr val="FF0000"/>
              </a:solidFill>
              <a:latin typeface="Times New Roman" panose="02020603050405020304" pitchFamily="18" charset="0"/>
              <a:cs typeface="Times New Roman" panose="02020603050405020304" pitchFamily="18" charset="0"/>
            </a:endParaRPr>
          </a:p>
          <a:p>
            <a:pPr marL="0" indent="0">
              <a:buNone/>
            </a:pPr>
            <a:r>
              <a:rPr lang="fr-FR" sz="3200" dirty="0" smtClean="0">
                <a:latin typeface="Times New Roman" panose="02020603050405020304" pitchFamily="18" charset="0"/>
                <a:cs typeface="Times New Roman" panose="02020603050405020304" pitchFamily="18" charset="0"/>
              </a:rPr>
              <a:t>- On </a:t>
            </a:r>
            <a:r>
              <a:rPr lang="fr-FR" sz="3200" dirty="0">
                <a:latin typeface="Times New Roman" panose="02020603050405020304" pitchFamily="18" charset="0"/>
                <a:cs typeface="Times New Roman" panose="02020603050405020304" pitchFamily="18" charset="0"/>
              </a:rPr>
              <a:t>parle d’hémorragie externe lorsqu’il y a ouverture cutanée et que le sang s’écoule à l’extérieur de l’organisme. Les signes diffèrent en fonction des vaisseaux lésés.</a:t>
            </a:r>
          </a:p>
          <a:p>
            <a:pPr marL="0" lvl="0" indent="0">
              <a:buNone/>
            </a:pPr>
            <a:r>
              <a:rPr lang="fr-FR" sz="3200" dirty="0" smtClean="0">
                <a:latin typeface="Times New Roman" panose="02020603050405020304" pitchFamily="18" charset="0"/>
                <a:cs typeface="Times New Roman" panose="02020603050405020304" pitchFamily="18" charset="0"/>
              </a:rPr>
              <a:t>- Hémorragie </a:t>
            </a:r>
            <a:r>
              <a:rPr lang="fr-FR" sz="3200" dirty="0">
                <a:latin typeface="Times New Roman" panose="02020603050405020304" pitchFamily="18" charset="0"/>
                <a:cs typeface="Times New Roman" panose="02020603050405020304" pitchFamily="18" charset="0"/>
              </a:rPr>
              <a:t>Artérielle : c’est un écoulement de sang rouge vif, en jets saccadés et rythmé sur les pulsations.</a:t>
            </a:r>
          </a:p>
          <a:p>
            <a:pPr marL="0" lvl="0" indent="0">
              <a:buNone/>
            </a:pPr>
            <a:r>
              <a:rPr lang="fr-FR" sz="3200" dirty="0" smtClean="0">
                <a:latin typeface="Times New Roman" panose="02020603050405020304" pitchFamily="18" charset="0"/>
                <a:cs typeface="Times New Roman" panose="02020603050405020304" pitchFamily="18" charset="0"/>
              </a:rPr>
              <a:t>-</a:t>
            </a:r>
            <a:r>
              <a:rPr lang="fr-FR" sz="3200" dirty="0">
                <a:latin typeface="Times New Roman" panose="02020603050405020304" pitchFamily="18" charset="0"/>
                <a:cs typeface="Times New Roman" panose="02020603050405020304" pitchFamily="18" charset="0"/>
              </a:rPr>
              <a:t> </a:t>
            </a:r>
            <a:r>
              <a:rPr lang="fr-FR" sz="3200" dirty="0" smtClean="0">
                <a:latin typeface="Times New Roman" panose="02020603050405020304" pitchFamily="18" charset="0"/>
                <a:cs typeface="Times New Roman" panose="02020603050405020304" pitchFamily="18" charset="0"/>
              </a:rPr>
              <a:t>Hémorragie </a:t>
            </a:r>
            <a:r>
              <a:rPr lang="fr-FR" sz="3200" dirty="0">
                <a:latin typeface="Times New Roman" panose="02020603050405020304" pitchFamily="18" charset="0"/>
                <a:cs typeface="Times New Roman" panose="02020603050405020304" pitchFamily="18" charset="0"/>
              </a:rPr>
              <a:t>Veineuse : c’est un faible écoulement de sang foncé, continu sans saccades.</a:t>
            </a:r>
          </a:p>
          <a:p>
            <a:pPr marL="0" lvl="0" indent="0">
              <a:buNone/>
            </a:pPr>
            <a:r>
              <a:rPr lang="fr-FR" sz="3200" dirty="0" smtClean="0">
                <a:latin typeface="Times New Roman" panose="02020603050405020304" pitchFamily="18" charset="0"/>
                <a:cs typeface="Times New Roman" panose="02020603050405020304" pitchFamily="18" charset="0"/>
              </a:rPr>
              <a:t>- Hémorragie </a:t>
            </a:r>
            <a:r>
              <a:rPr lang="fr-FR" sz="3200" dirty="0">
                <a:latin typeface="Times New Roman" panose="02020603050405020304" pitchFamily="18" charset="0"/>
                <a:cs typeface="Times New Roman" panose="02020603050405020304" pitchFamily="18" charset="0"/>
              </a:rPr>
              <a:t>Capillaire : c’est un écoulement de sang en nappe, en surface (raclage d’un bras contre le mur).</a:t>
            </a:r>
          </a:p>
          <a:p>
            <a:endParaRPr lang="fr-FR" dirty="0"/>
          </a:p>
        </p:txBody>
      </p:sp>
    </p:spTree>
    <p:extLst>
      <p:ext uri="{BB962C8B-B14F-4D97-AF65-F5344CB8AC3E}">
        <p14:creationId xmlns:p14="http://schemas.microsoft.com/office/powerpoint/2010/main" val="91460053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8343" y="679269"/>
            <a:ext cx="11560627" cy="5808617"/>
          </a:xfrm>
        </p:spPr>
        <p:txBody>
          <a:bodyPr>
            <a:noAutofit/>
          </a:bodyPr>
          <a:lstStyle/>
          <a:p>
            <a:pPr lvl="0"/>
            <a:r>
              <a:rPr lang="fr-FR" sz="3200" b="1" dirty="0">
                <a:solidFill>
                  <a:srgbClr val="FF0000"/>
                </a:solidFill>
                <a:latin typeface="Times New Roman" panose="02020603050405020304" pitchFamily="18" charset="0"/>
                <a:cs typeface="Times New Roman" panose="02020603050405020304" pitchFamily="18" charset="0"/>
              </a:rPr>
              <a:t>Hémorragie Interne</a:t>
            </a:r>
            <a:endParaRPr lang="fr-FR" sz="3200" dirty="0">
              <a:solidFill>
                <a:srgbClr val="FF0000"/>
              </a:solidFill>
              <a:latin typeface="Times New Roman" panose="02020603050405020304" pitchFamily="18" charset="0"/>
              <a:cs typeface="Times New Roman" panose="02020603050405020304" pitchFamily="18" charset="0"/>
            </a:endParaRPr>
          </a:p>
          <a:p>
            <a:pPr marL="0" indent="0">
              <a:buNone/>
            </a:pPr>
            <a:r>
              <a:rPr lang="fr-FR" sz="3200" dirty="0" smtClean="0">
                <a:latin typeface="Times New Roman" panose="02020603050405020304" pitchFamily="18" charset="0"/>
                <a:cs typeface="Times New Roman" panose="02020603050405020304" pitchFamily="18" charset="0"/>
              </a:rPr>
              <a:t>- On </a:t>
            </a:r>
            <a:r>
              <a:rPr lang="fr-FR" sz="3200" dirty="0">
                <a:latin typeface="Times New Roman" panose="02020603050405020304" pitchFamily="18" charset="0"/>
                <a:cs typeface="Times New Roman" panose="02020603050405020304" pitchFamily="18" charset="0"/>
              </a:rPr>
              <a:t>parle d’hémorragie interne lorsque le sang se répand dans les tissus ou dans une cavité close de l’organisme (rate, thorax, abdomen, crâne, estomac, …)</a:t>
            </a:r>
          </a:p>
          <a:p>
            <a:pPr marL="0" lvl="0" indent="0">
              <a:buNone/>
            </a:pPr>
            <a:r>
              <a:rPr lang="fr-FR" sz="3200" dirty="0" smtClean="0">
                <a:latin typeface="Times New Roman" panose="02020603050405020304" pitchFamily="18" charset="0"/>
                <a:cs typeface="Times New Roman" panose="02020603050405020304" pitchFamily="18" charset="0"/>
              </a:rPr>
              <a:t>- L’hémorragie </a:t>
            </a:r>
            <a:r>
              <a:rPr lang="fr-FR" sz="3200" dirty="0">
                <a:latin typeface="Times New Roman" panose="02020603050405020304" pitchFamily="18" charset="0"/>
                <a:cs typeface="Times New Roman" panose="02020603050405020304" pitchFamily="18" charset="0"/>
              </a:rPr>
              <a:t>interne peut s’extérioriser ; elle est alors décelée par l’écoulement de sang à l’extérieur de l’organisme, et diagnostiqué par son caractère propre : hémoptysie, hématémèse, métrorragie, …</a:t>
            </a:r>
          </a:p>
          <a:p>
            <a:pPr marL="0" lvl="0" indent="0">
              <a:buNone/>
            </a:pPr>
            <a:r>
              <a:rPr lang="fr-FR" sz="3200" dirty="0" smtClean="0">
                <a:latin typeface="Times New Roman" panose="02020603050405020304" pitchFamily="18" charset="0"/>
                <a:cs typeface="Times New Roman" panose="02020603050405020304" pitchFamily="18" charset="0"/>
              </a:rPr>
              <a:t>- L’hémorragie </a:t>
            </a:r>
            <a:r>
              <a:rPr lang="fr-FR" sz="3200" dirty="0">
                <a:latin typeface="Times New Roman" panose="02020603050405020304" pitchFamily="18" charset="0"/>
                <a:cs typeface="Times New Roman" panose="02020603050405020304" pitchFamily="18" charset="0"/>
              </a:rPr>
              <a:t>interne peut ne pas s’extérioriser (rupture de la rate, ou du foie) ; dans ce cas le diagnostic repose sur l’atteinte de l’état général.</a:t>
            </a:r>
          </a:p>
        </p:txBody>
      </p:sp>
    </p:spTree>
    <p:extLst>
      <p:ext uri="{BB962C8B-B14F-4D97-AF65-F5344CB8AC3E}">
        <p14:creationId xmlns:p14="http://schemas.microsoft.com/office/powerpoint/2010/main" val="49364145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5943" y="587829"/>
            <a:ext cx="11821885" cy="5921827"/>
          </a:xfrm>
        </p:spPr>
        <p:txBody>
          <a:bodyPr>
            <a:noAutofit/>
          </a:bodyPr>
          <a:lstStyle/>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 Signes généraux</a:t>
            </a:r>
            <a:endParaRPr lang="fr-FR" sz="3200" dirty="0">
              <a:solidFill>
                <a:srgbClr val="FF0000"/>
              </a:solidFill>
              <a:latin typeface="Times New Roman" panose="02020603050405020304" pitchFamily="18" charset="0"/>
              <a:cs typeface="Times New Roman" panose="02020603050405020304" pitchFamily="18" charset="0"/>
            </a:endParaRPr>
          </a:p>
          <a:p>
            <a:pPr marL="0" indent="0">
              <a:buNone/>
            </a:pPr>
            <a:r>
              <a:rPr lang="fr-FR" sz="3200" dirty="0">
                <a:latin typeface="Times New Roman" panose="02020603050405020304" pitchFamily="18" charset="0"/>
                <a:cs typeface="Times New Roman" panose="02020603050405020304" pitchFamily="18" charset="0"/>
              </a:rPr>
              <a:t>Ils sont d’autant plus importants que l’hémorragie est abondante et intense :</a:t>
            </a:r>
          </a:p>
          <a:p>
            <a:pPr lvl="0"/>
            <a:r>
              <a:rPr lang="fr-FR" sz="3200" dirty="0">
                <a:latin typeface="Times New Roman" panose="02020603050405020304" pitchFamily="18" charset="0"/>
                <a:cs typeface="Times New Roman" panose="02020603050405020304" pitchFamily="18" charset="0"/>
              </a:rPr>
              <a:t>pâleur du </a:t>
            </a:r>
            <a:r>
              <a:rPr lang="fr-FR" sz="3200" dirty="0" smtClean="0">
                <a:latin typeface="Times New Roman" panose="02020603050405020304" pitchFamily="18" charset="0"/>
                <a:cs typeface="Times New Roman" panose="02020603050405020304" pitchFamily="18" charset="0"/>
              </a:rPr>
              <a:t>visage, refroidissement</a:t>
            </a:r>
            <a:r>
              <a:rPr lang="fr-FR" sz="3200" dirty="0">
                <a:latin typeface="Times New Roman" panose="02020603050405020304" pitchFamily="18" charset="0"/>
                <a:cs typeface="Times New Roman" panose="02020603050405020304" pitchFamily="18" charset="0"/>
              </a:rPr>
              <a:t>, sueur froide, hypothermie, frisson</a:t>
            </a:r>
          </a:p>
          <a:p>
            <a:r>
              <a:rPr lang="fr-FR" sz="3200" dirty="0" smtClean="0">
                <a:latin typeface="Times New Roman" panose="02020603050405020304" pitchFamily="18" charset="0"/>
                <a:cs typeface="Times New Roman" panose="02020603050405020304" pitchFamily="18" charset="0"/>
              </a:rPr>
              <a:t>pouls </a:t>
            </a:r>
            <a:r>
              <a:rPr lang="fr-FR" sz="3200" dirty="0">
                <a:latin typeface="Times New Roman" panose="02020603050405020304" pitchFamily="18" charset="0"/>
                <a:cs typeface="Times New Roman" panose="02020603050405020304" pitchFamily="18" charset="0"/>
              </a:rPr>
              <a:t>petit et </a:t>
            </a:r>
            <a:r>
              <a:rPr lang="fr-FR" sz="3200" dirty="0" smtClean="0">
                <a:latin typeface="Times New Roman" panose="02020603050405020304" pitchFamily="18" charset="0"/>
                <a:cs typeface="Times New Roman" panose="02020603050405020304" pitchFamily="18" charset="0"/>
              </a:rPr>
              <a:t>filant, tendance </a:t>
            </a:r>
            <a:r>
              <a:rPr lang="fr-FR" sz="3200" dirty="0">
                <a:latin typeface="Times New Roman" panose="02020603050405020304" pitchFamily="18" charset="0"/>
                <a:cs typeface="Times New Roman" panose="02020603050405020304" pitchFamily="18" charset="0"/>
              </a:rPr>
              <a:t>à la </a:t>
            </a:r>
            <a:r>
              <a:rPr lang="fr-FR" sz="3200" dirty="0" smtClean="0">
                <a:latin typeface="Times New Roman" panose="02020603050405020304" pitchFamily="18" charset="0"/>
                <a:cs typeface="Times New Roman" panose="02020603050405020304" pitchFamily="18" charset="0"/>
              </a:rPr>
              <a:t>syncope</a:t>
            </a:r>
            <a:endParaRPr lang="fr-FR" sz="3200" dirty="0">
              <a:latin typeface="Times New Roman" panose="02020603050405020304" pitchFamily="18" charset="0"/>
              <a:cs typeface="Times New Roman" panose="02020603050405020304" pitchFamily="18" charset="0"/>
            </a:endParaRPr>
          </a:p>
          <a:p>
            <a:pPr lvl="0"/>
            <a:r>
              <a:rPr lang="fr-FR" sz="3200" dirty="0" smtClean="0">
                <a:latin typeface="Times New Roman" panose="02020603050405020304" pitchFamily="18" charset="0"/>
                <a:cs typeface="Times New Roman" panose="02020603050405020304" pitchFamily="18" charset="0"/>
              </a:rPr>
              <a:t>chute de la tension artérielle, respiration </a:t>
            </a:r>
            <a:r>
              <a:rPr lang="fr-FR" sz="3200" dirty="0">
                <a:latin typeface="Times New Roman" panose="02020603050405020304" pitchFamily="18" charset="0"/>
                <a:cs typeface="Times New Roman" panose="02020603050405020304" pitchFamily="18" charset="0"/>
              </a:rPr>
              <a:t>accélérée et superficielle</a:t>
            </a:r>
          </a:p>
          <a:p>
            <a:pPr lvl="0"/>
            <a:r>
              <a:rPr lang="fr-FR" sz="3200" dirty="0">
                <a:latin typeface="Times New Roman" panose="02020603050405020304" pitchFamily="18" charset="0"/>
                <a:cs typeface="Times New Roman" panose="02020603050405020304" pitchFamily="18" charset="0"/>
              </a:rPr>
              <a:t>soif </a:t>
            </a:r>
            <a:r>
              <a:rPr lang="fr-FR" sz="3200" dirty="0" smtClean="0">
                <a:latin typeface="Times New Roman" panose="02020603050405020304" pitchFamily="18" charset="0"/>
                <a:cs typeface="Times New Roman" panose="02020603050405020304" pitchFamily="18" charset="0"/>
              </a:rPr>
              <a:t>ardente et agitations</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douleurs vives localisées dans les hémorragies internes.</a:t>
            </a:r>
          </a:p>
          <a:p>
            <a:r>
              <a:rPr lang="fr-FR" sz="3200" dirty="0">
                <a:latin typeface="Times New Roman" panose="02020603050405020304" pitchFamily="18" charset="0"/>
                <a:cs typeface="Times New Roman" panose="02020603050405020304" pitchFamily="18" charset="0"/>
              </a:rPr>
              <a:t>Les signes généraux d’une hémorragie importante sont ceux du Choc (Hypovolémique).</a:t>
            </a:r>
          </a:p>
        </p:txBody>
      </p:sp>
    </p:spTree>
    <p:extLst>
      <p:ext uri="{BB962C8B-B14F-4D97-AF65-F5344CB8AC3E}">
        <p14:creationId xmlns:p14="http://schemas.microsoft.com/office/powerpoint/2010/main" val="309293027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None/>
            </a:pPr>
            <a:r>
              <a:rPr lang="fr-FR" sz="3200" b="1" dirty="0">
                <a:solidFill>
                  <a:srgbClr val="C00000"/>
                </a:solidFill>
                <a:latin typeface="Times New Roman" panose="02020603050405020304" pitchFamily="18" charset="0"/>
                <a:cs typeface="Times New Roman" panose="02020603050405020304" pitchFamily="18" charset="0"/>
              </a:rPr>
              <a:t>IV – CONDUITE A TENIR</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(sur les lieus de l’accident ou en urgence)</a:t>
            </a:r>
          </a:p>
          <a:p>
            <a:pPr lvl="1"/>
            <a:endParaRPr lang="fr-FR" sz="3200" b="1" dirty="0" smtClean="0">
              <a:latin typeface="Times New Roman" panose="02020603050405020304" pitchFamily="18" charset="0"/>
              <a:cs typeface="Times New Roman" panose="02020603050405020304" pitchFamily="18" charset="0"/>
            </a:endParaRPr>
          </a:p>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Hémorragie Artérielle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Deux gestes peuvent s’avérer nécessaires et efficaces : la compression manuelle et la pose de garrot.</a:t>
            </a:r>
          </a:p>
          <a:p>
            <a:endParaRPr lang="fr-FR" dirty="0"/>
          </a:p>
        </p:txBody>
      </p:sp>
    </p:spTree>
    <p:extLst>
      <p:ext uri="{BB962C8B-B14F-4D97-AF65-F5344CB8AC3E}">
        <p14:creationId xmlns:p14="http://schemas.microsoft.com/office/powerpoint/2010/main" val="260090041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95943" y="489728"/>
            <a:ext cx="11800114"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Compression Manuelle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Elle se fait au moyen du poing ou des doigts, il faut écraser, comprimer l’artère au dessus de la plaie. Les points de compression sont les suivants</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fr-FR" altLang="fr-FR" sz="1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Artère humérale : la compression se fait au pli du coude, en dedans du tendon du biceps ou au milieu du bras, à la face interne entre le biceps et le triceps.</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1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Artère axillaire : au milieu du creux axillaire, faire une compression énergique de bas en haut.</a:t>
            </a: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endParaRPr kumimoji="0" lang="fr-FR" altLang="fr-FR" sz="1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Artère carotide : la compression se fait sur l’apophyse transverse de la 5</a:t>
            </a:r>
            <a:r>
              <a:rPr kumimoji="0" lang="fr-FR" altLang="fr-FR" sz="3200" b="0" i="0" u="none" strike="noStrike" cap="none" normalizeH="0" baseline="30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ème</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vertèbre cervicale (au niveau du larynx)</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2397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260566"/>
            <a:ext cx="10972800" cy="4922520"/>
          </a:xfrm>
        </p:spPr>
        <p:txBody>
          <a:bodyPr/>
          <a:lstStyle/>
          <a:p>
            <a:pPr marL="0" indent="0" algn="just" eaLnBrk="0" fontAlgn="base" hangingPunct="0">
              <a:spcBef>
                <a:spcPct val="0"/>
              </a:spcBef>
              <a:spcAft>
                <a:spcPct val="0"/>
              </a:spcAft>
              <a:buClrTx/>
              <a:buSzTx/>
              <a:buNone/>
              <a:tabLst>
                <a:tab pos="457200" algn="l"/>
              </a:tabLst>
            </a:pPr>
            <a:r>
              <a:rPr lang="fr-FR" altLang="fr-FR" sz="32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La Compression </a:t>
            </a:r>
            <a:r>
              <a:rPr lang="fr-FR" alt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Manuelle (suite)</a:t>
            </a:r>
            <a:endParaRPr lang="fr-FR" altLang="fr-FR" sz="3200" dirty="0">
              <a:solidFill>
                <a:srgbClr val="FF0000"/>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tabLst>
                <a:tab pos="457200" algn="l"/>
              </a:tabLst>
            </a:pPr>
            <a:endPar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Artère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abdominale (hémorragie après un accouchement ou un avortement) : écraser l’aorte abdominale, au niveau de l’ombilic, en la comprimant contre la colonne vertébrale (efficace seulement chez le sujet maigre</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SzTx/>
              <a:buNone/>
              <a:tabLst>
                <a:tab pos="457200" algn="l"/>
              </a:tabLst>
            </a:pPr>
            <a:endParaRPr lang="fr-FR" altLang="fr-FR" sz="1000" dirty="0" smtClean="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Artère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fémorale : faire la compression au niveau du pli de l’aine, ou à la face interne de la cuisse, ou dans le creux poplité</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fr-FR" alt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34678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91886" y="955451"/>
            <a:ext cx="1138645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Pose de Garrot</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Garrot doit être posé tout en maintenant la compression ; se faire aider si nécessaire. On peut utiliser pour le garrot, un tube élastique, une cravate ou un bas.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poser le garrot en double, en amont de la plaie, le plus près possible de la plaie (jamais sur un avant bras ou en dessous du genou)</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tout en maintenant une main sur la compression, passer avec la main libre, les deux chefs dans la boucle formée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un des chefs et maintenir l’autre entre les dents</a:t>
            </a:r>
            <a:r>
              <a:rPr lang="fr-FR" altLang="fr-FR" sz="3200" dirty="0">
                <a:latin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cs typeface="Times New Roman" panose="02020603050405020304" pitchFamily="18" charset="0"/>
              </a:rPr>
              <a:t>et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serrer au maximum</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56547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762000"/>
            <a:ext cx="10972800" cy="5562600"/>
          </a:xfrm>
        </p:spPr>
        <p:txBody>
          <a:bodyPr>
            <a:normAutofit/>
          </a:bodyPr>
          <a:lstStyle/>
          <a:p>
            <a:pPr marL="0" indent="0" algn="just" eaLnBrk="0" fontAlgn="base" hangingPunct="0">
              <a:spcBef>
                <a:spcPct val="0"/>
              </a:spcBef>
              <a:spcAft>
                <a:spcPct val="0"/>
              </a:spcAft>
              <a:buClrTx/>
              <a:buSzTx/>
              <a:buFontTx/>
              <a:buChar char="•"/>
              <a:tabLst>
                <a:tab pos="457200" algn="l"/>
              </a:tabLst>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lâcher à ce moment le point de compression et achever de serrer le garrot</a:t>
            </a:r>
            <a:r>
              <a:rPr lang="fr-FR" altLang="fr-FR" sz="3200" dirty="0">
                <a:latin typeface="Times New Roman" panose="02020603050405020304" pitchFamily="18" charset="0"/>
                <a:cs typeface="Times New Roman" panose="02020603050405020304" pitchFamily="18" charset="0"/>
              </a:rPr>
              <a:t> puis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ramener les deux chefs de chaque côté du membre et nouer en faisant un nœud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plat</a:t>
            </a:r>
          </a:p>
          <a:p>
            <a:pPr marL="0" indent="0" algn="just" eaLnBrk="0" fontAlgn="base" hangingPunct="0">
              <a:spcBef>
                <a:spcPct val="0"/>
              </a:spcBef>
              <a:spcAft>
                <a:spcPct val="0"/>
              </a:spcAft>
              <a:buClrTx/>
              <a:buSzTx/>
              <a:buNone/>
              <a:tabLst>
                <a:tab pos="457200" algn="l"/>
              </a:tabLst>
            </a:pPr>
            <a:endParaRPr lang="fr-FR" altLang="fr-FR" sz="10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faire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un pansement stérile sur la plaie et évacuer d’urgence le blessé vers le centre chirurgical le plus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proche</a:t>
            </a:r>
          </a:p>
          <a:p>
            <a:pPr marL="0" lvl="0" indent="0" algn="just" eaLnBrk="0" fontAlgn="base" hangingPunct="0">
              <a:spcBef>
                <a:spcPct val="0"/>
              </a:spcBef>
              <a:spcAft>
                <a:spcPct val="0"/>
              </a:spcAft>
              <a:buClrTx/>
              <a:buSzTx/>
              <a:buFontTx/>
              <a:buChar char="•"/>
              <a:tabLst>
                <a:tab pos="457200" algn="l"/>
              </a:tabLst>
            </a:pPr>
            <a:endParaRPr lang="fr-FR" altLang="fr-FR" sz="1000" dirty="0" smtClean="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FontTx/>
              <a:buChar char="•"/>
              <a:tabLst>
                <a:tab pos="457200" algn="l"/>
              </a:tabLst>
            </a:pP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inscrire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toujours l’heure de la pose du garrot et l’attacher au pansement ; il y a danger à laisser longtemps un garrot en place car les tissus étant privés de sang, il peut y avoir gangrène</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SzTx/>
              <a:buNone/>
              <a:tabLst>
                <a:tab pos="457200" algn="l"/>
              </a:tabLst>
            </a:pPr>
            <a:endParaRPr lang="fr-FR" altLang="fr-FR" sz="10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SzTx/>
              <a:buNone/>
              <a:tabLst>
                <a:tab pos="457200" algn="l"/>
              </a:tabLst>
            </a:pPr>
            <a:r>
              <a:rPr lang="fr-FR" alt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NB</a:t>
            </a:r>
            <a:r>
              <a:rPr lang="fr-FR" altLang="fr-FR" sz="3200" b="1" dirty="0">
                <a:latin typeface="Times New Roman" panose="02020603050405020304" pitchFamily="18" charset="0"/>
                <a:ea typeface="Times New Roman" panose="02020603050405020304" pitchFamily="18" charset="0"/>
                <a:cs typeface="Times New Roman" panose="02020603050405020304" pitchFamily="18" charset="0"/>
              </a:rPr>
              <a:t>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 Le garrot ne doit être utilisé que pour une hémorragie d’une grosse artère ; autrement il est inutile et même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dangereux</a:t>
            </a:r>
            <a:endParaRPr lang="fr-FR" alt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75214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87531" y="1345474"/>
            <a:ext cx="11430000" cy="4554583"/>
          </a:xfrm>
        </p:spPr>
        <p:txBody>
          <a:bodyPr>
            <a:normAutofit/>
          </a:bodyPr>
          <a:lstStyle/>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Hémorragie Veineuse et Capillaire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Dans ce cas faire un pansement compressif. Vérifier ensuite après le pansement, la chaleur et la couleur du membre, qui ne doit être ni froid, ni cyanosé ; rechercher de même la perception des pulsations ; si elles n’existent pas, il faudrait desserrer légèrement le pansement. Enfin placer le membre en position surélevée.</a:t>
            </a:r>
          </a:p>
          <a:p>
            <a:r>
              <a:rPr lang="fr-FR" sz="3200" dirty="0">
                <a:latin typeface="Times New Roman" panose="02020603050405020304" pitchFamily="18" charset="0"/>
                <a:cs typeface="Times New Roman" panose="02020603050405020304" pitchFamily="18" charset="0"/>
              </a:rPr>
              <a:t>En cas d’hémorragie par rupture des varices, placer un garrot au dessous de la plaie.</a:t>
            </a:r>
          </a:p>
          <a:p>
            <a:endParaRPr lang="fr-FR" dirty="0"/>
          </a:p>
        </p:txBody>
      </p:sp>
    </p:spTree>
    <p:extLst>
      <p:ext uri="{BB962C8B-B14F-4D97-AF65-F5344CB8AC3E}">
        <p14:creationId xmlns:p14="http://schemas.microsoft.com/office/powerpoint/2010/main" val="397783886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74914" y="1478280"/>
            <a:ext cx="10972800" cy="3964577"/>
          </a:xfrm>
        </p:spPr>
        <p:txBody>
          <a:bodyPr>
            <a:normAutofit/>
          </a:bodyPr>
          <a:lstStyle/>
          <a:p>
            <a:pPr marL="393192" lvl="1" indent="0">
              <a:buNone/>
            </a:pPr>
            <a:r>
              <a:rPr lang="fr-FR" sz="3200" b="1" dirty="0">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Hémorragie Interne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L’hémorragie interne constitue une urgence chirurgicale. Seule l’intervention chirurgicale peut arrêter l’hémorragie.</a:t>
            </a:r>
          </a:p>
          <a:p>
            <a:r>
              <a:rPr lang="fr-FR" sz="3200" dirty="0">
                <a:latin typeface="Times New Roman" panose="02020603050405020304" pitchFamily="18" charset="0"/>
                <a:cs typeface="Times New Roman" panose="02020603050405020304" pitchFamily="18" charset="0"/>
              </a:rPr>
              <a:t>Mettre le blessé la tête basse et l’envelopper dans une couverture sans le réchauffer et l’évacuer d’urgence vers un centre chirurgical qui fera une prise en charge et un traitement adapté et adéquat.</a:t>
            </a:r>
          </a:p>
          <a:p>
            <a:endParaRPr lang="fr-FR" dirty="0"/>
          </a:p>
        </p:txBody>
      </p:sp>
    </p:spTree>
    <p:extLst>
      <p:ext uri="{BB962C8B-B14F-4D97-AF65-F5344CB8AC3E}">
        <p14:creationId xmlns:p14="http://schemas.microsoft.com/office/powerpoint/2010/main" val="8676610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3748" y="1553173"/>
            <a:ext cx="7746275" cy="2483250"/>
          </a:xfr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a:normAutofit fontScale="90000"/>
            <a:scene3d>
              <a:camera prst="orthographicFront"/>
              <a:lightRig rig="freezing" dir="t">
                <a:rot lat="0" lon="0" rev="5640000"/>
              </a:lightRig>
            </a:scene3d>
            <a:sp3d prstMaterial="flat">
              <a:contourClr>
                <a:schemeClr val="tx2"/>
              </a:contourClr>
            </a:sp3d>
          </a:bodyPr>
          <a:lstStyle/>
          <a:p>
            <a:pPr algn="ctr"/>
            <a:r>
              <a:rPr lang="fr-FR" sz="7200" b="1" dirty="0">
                <a:latin typeface="Times New Roman" panose="02020603050405020304" pitchFamily="18" charset="0"/>
                <a:cs typeface="Times New Roman" panose="02020603050405020304" pitchFamily="18" charset="0"/>
              </a:rPr>
              <a:t>LES PERFUSIONS</a:t>
            </a:r>
            <a:r>
              <a:rPr lang="fr-FR" dirty="0"/>
              <a:t/>
            </a:r>
            <a:br>
              <a:rPr lang="fr-FR" dirty="0"/>
            </a:br>
            <a:endParaRPr lang="fr-FR" dirty="0"/>
          </a:p>
        </p:txBody>
      </p:sp>
    </p:spTree>
    <p:extLst>
      <p:ext uri="{BB962C8B-B14F-4D97-AF65-F5344CB8AC3E}">
        <p14:creationId xmlns:p14="http://schemas.microsoft.com/office/powerpoint/2010/main" val="286395581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39486" y="326571"/>
            <a:ext cx="11778343" cy="6357257"/>
          </a:xfrm>
        </p:spPr>
        <p:txBody>
          <a:bodyPr>
            <a:noAutofit/>
          </a:bodyPr>
          <a:lstStyle/>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 GENERAL</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smtClean="0">
                <a:latin typeface="Times New Roman" panose="02020603050405020304" pitchFamily="18" charset="0"/>
                <a:cs typeface="Times New Roman" panose="02020603050405020304" pitchFamily="18" charset="0"/>
              </a:rPr>
              <a:t>acquérir </a:t>
            </a:r>
            <a:r>
              <a:rPr lang="fr-FR" sz="3200" dirty="0">
                <a:latin typeface="Times New Roman" panose="02020603050405020304" pitchFamily="18" charset="0"/>
                <a:cs typeface="Times New Roman" panose="02020603050405020304" pitchFamily="18" charset="0"/>
              </a:rPr>
              <a:t>des notions sur les perfusions.</a:t>
            </a:r>
          </a:p>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OBJECTIFS SPECIFIQUES</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dirty="0">
                <a:latin typeface="Times New Roman" panose="02020603050405020304" pitchFamily="18" charset="0"/>
                <a:cs typeface="Times New Roman" panose="02020603050405020304" pitchFamily="18" charset="0"/>
              </a:rPr>
              <a:t>Au terme de ce cours, l’étudiant de la 1</a:t>
            </a:r>
            <a:r>
              <a:rPr lang="fr-FR" sz="3200" baseline="30000" dirty="0">
                <a:latin typeface="Times New Roman" panose="02020603050405020304" pitchFamily="18" charset="0"/>
                <a:cs typeface="Times New Roman" panose="02020603050405020304" pitchFamily="18" charset="0"/>
              </a:rPr>
              <a:t>ère</a:t>
            </a:r>
            <a:r>
              <a:rPr lang="fr-FR" sz="3200" dirty="0">
                <a:latin typeface="Times New Roman" panose="02020603050405020304" pitchFamily="18" charset="0"/>
                <a:cs typeface="Times New Roman" panose="02020603050405020304" pitchFamily="18" charset="0"/>
              </a:rPr>
              <a:t> AC doit être capable :</a:t>
            </a:r>
          </a:p>
          <a:p>
            <a:pPr lvl="0"/>
            <a:r>
              <a:rPr lang="fr-FR" sz="3200" dirty="0">
                <a:latin typeface="Times New Roman" panose="02020603050405020304" pitchFamily="18" charset="0"/>
                <a:cs typeface="Times New Roman" panose="02020603050405020304" pitchFamily="18" charset="0"/>
              </a:rPr>
              <a:t>de définir selon le cours, le concept de perfusion ;</a:t>
            </a:r>
          </a:p>
          <a:p>
            <a:pPr lvl="0"/>
            <a:r>
              <a:rPr lang="fr-FR" sz="3200" dirty="0" smtClean="0">
                <a:latin typeface="Times New Roman" panose="02020603050405020304" pitchFamily="18" charset="0"/>
                <a:cs typeface="Times New Roman" panose="02020603050405020304" pitchFamily="18" charset="0"/>
              </a:rPr>
              <a:t>d’en énumérer </a:t>
            </a:r>
            <a:r>
              <a:rPr lang="fr-FR" sz="3200" dirty="0">
                <a:latin typeface="Times New Roman" panose="02020603050405020304" pitchFamily="18" charset="0"/>
                <a:cs typeface="Times New Roman" panose="02020603050405020304" pitchFamily="18" charset="0"/>
              </a:rPr>
              <a:t>quatre indications et deux </a:t>
            </a:r>
            <a:r>
              <a:rPr lang="fr-FR" sz="3200" dirty="0" smtClean="0">
                <a:latin typeface="Times New Roman" panose="02020603050405020304" pitchFamily="18" charset="0"/>
                <a:cs typeface="Times New Roman" panose="02020603050405020304" pitchFamily="18" charset="0"/>
              </a:rPr>
              <a:t>contre-indications</a:t>
            </a:r>
            <a:endParaRPr lang="fr-FR" sz="3200" dirty="0">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d’énumérer les différents solutés à perfuser, en indiquant deux exemples de chaque ;</a:t>
            </a:r>
          </a:p>
          <a:p>
            <a:pPr lvl="0"/>
            <a:r>
              <a:rPr lang="fr-FR" sz="3200" dirty="0">
                <a:latin typeface="Times New Roman" panose="02020603050405020304" pitchFamily="18" charset="0"/>
                <a:cs typeface="Times New Roman" panose="02020603050405020304" pitchFamily="18" charset="0"/>
              </a:rPr>
              <a:t>de </a:t>
            </a:r>
            <a:r>
              <a:rPr lang="fr-FR" sz="3200" dirty="0" smtClean="0">
                <a:latin typeface="Times New Roman" panose="02020603050405020304" pitchFamily="18" charset="0"/>
                <a:cs typeface="Times New Roman" panose="02020603050405020304" pitchFamily="18" charset="0"/>
              </a:rPr>
              <a:t>décrire </a:t>
            </a:r>
            <a:r>
              <a:rPr lang="fr-FR" sz="3200" dirty="0">
                <a:latin typeface="Times New Roman" panose="02020603050405020304" pitchFamily="18" charset="0"/>
                <a:cs typeface="Times New Roman" panose="02020603050405020304" pitchFamily="18" charset="0"/>
              </a:rPr>
              <a:t>la procédure de préparation </a:t>
            </a:r>
            <a:r>
              <a:rPr lang="fr-FR" sz="3200" dirty="0" smtClean="0">
                <a:latin typeface="Times New Roman" panose="02020603050405020304" pitchFamily="18" charset="0"/>
                <a:cs typeface="Times New Roman" panose="02020603050405020304" pitchFamily="18" charset="0"/>
              </a:rPr>
              <a:t>et la technique de </a:t>
            </a:r>
            <a:r>
              <a:rPr lang="fr-FR" sz="3200" dirty="0">
                <a:latin typeface="Times New Roman" panose="02020603050405020304" pitchFamily="18" charset="0"/>
                <a:cs typeface="Times New Roman" panose="02020603050405020304" pitchFamily="18" charset="0"/>
              </a:rPr>
              <a:t>la perfusion;</a:t>
            </a:r>
          </a:p>
          <a:p>
            <a:pPr lvl="0"/>
            <a:r>
              <a:rPr lang="fr-FR" sz="3200" dirty="0" smtClean="0">
                <a:latin typeface="Times New Roman" panose="02020603050405020304" pitchFamily="18" charset="0"/>
                <a:cs typeface="Times New Roman" panose="02020603050405020304" pitchFamily="18" charset="0"/>
              </a:rPr>
              <a:t>de </a:t>
            </a:r>
            <a:r>
              <a:rPr lang="fr-FR" sz="3200" dirty="0">
                <a:latin typeface="Times New Roman" panose="02020603050405020304" pitchFamily="18" charset="0"/>
                <a:cs typeface="Times New Roman" panose="02020603050405020304" pitchFamily="18" charset="0"/>
              </a:rPr>
              <a:t>citer tous les accidents et incidents de la perfusion ;</a:t>
            </a:r>
          </a:p>
          <a:p>
            <a:pPr lvl="0"/>
            <a:r>
              <a:rPr lang="fr-FR" sz="3200" dirty="0">
                <a:latin typeface="Times New Roman" panose="02020603050405020304" pitchFamily="18" charset="0"/>
                <a:cs typeface="Times New Roman" panose="02020603050405020304" pitchFamily="18" charset="0"/>
              </a:rPr>
              <a:t>de décrire selon le cours la surveillance d’un malade sous perfusion</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821408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935480"/>
            <a:ext cx="10972800" cy="3028406"/>
          </a:xfrm>
        </p:spPr>
        <p:txBody>
          <a:bodyPr>
            <a:norm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DEFINITION</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La perfusion est une injection prolongée, continue ou discontinue, par voie intraveineuse ou sous-cutanée, d’une quantité importante de soluté, contenant ou non des médicaments</a:t>
            </a:r>
          </a:p>
        </p:txBody>
      </p:sp>
    </p:spTree>
    <p:extLst>
      <p:ext uri="{BB962C8B-B14F-4D97-AF65-F5344CB8AC3E}">
        <p14:creationId xmlns:p14="http://schemas.microsoft.com/office/powerpoint/2010/main" val="303364960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87829" y="1064623"/>
            <a:ext cx="10972800" cy="4683034"/>
          </a:xfrm>
        </p:spPr>
        <p:txBody>
          <a:bodyPr>
            <a:norm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INDICATIONS ET CONTRE-INDICATIONS</a:t>
            </a:r>
            <a:endParaRPr lang="fr-FR" sz="32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Indications</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Déshydratation aigue</a:t>
            </a:r>
          </a:p>
          <a:p>
            <a:pPr lvl="0"/>
            <a:r>
              <a:rPr lang="fr-FR" sz="3200" dirty="0">
                <a:latin typeface="Times New Roman" panose="02020603050405020304" pitchFamily="18" charset="0"/>
                <a:cs typeface="Times New Roman" panose="02020603050405020304" pitchFamily="18" charset="0"/>
              </a:rPr>
              <a:t>Réanimation hydro électrolytique</a:t>
            </a:r>
          </a:p>
          <a:p>
            <a:pPr lvl="0"/>
            <a:r>
              <a:rPr lang="fr-FR" sz="3200" dirty="0">
                <a:latin typeface="Times New Roman" panose="02020603050405020304" pitchFamily="18" charset="0"/>
                <a:cs typeface="Times New Roman" panose="02020603050405020304" pitchFamily="18" charset="0"/>
              </a:rPr>
              <a:t>Soins pré, per et post-opératoire</a:t>
            </a:r>
          </a:p>
          <a:p>
            <a:pPr lvl="0"/>
            <a:r>
              <a:rPr lang="fr-FR" sz="3200" dirty="0">
                <a:latin typeface="Times New Roman" panose="02020603050405020304" pitchFamily="18" charset="0"/>
                <a:cs typeface="Times New Roman" panose="02020603050405020304" pitchFamily="18" charset="0"/>
              </a:rPr>
              <a:t>Alimentation parentérale intraveineuse chez les comateux, les grands dénutries ou les anorexiques</a:t>
            </a:r>
          </a:p>
        </p:txBody>
      </p:sp>
    </p:spTree>
    <p:extLst>
      <p:ext uri="{BB962C8B-B14F-4D97-AF65-F5344CB8AC3E}">
        <p14:creationId xmlns:p14="http://schemas.microsoft.com/office/powerpoint/2010/main" val="372546682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935480"/>
            <a:ext cx="10972800" cy="3267891"/>
          </a:xfrm>
        </p:spPr>
        <p:txBody>
          <a:bodyPr/>
          <a:lstStyle/>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u="sng" dirty="0" smtClean="0">
                <a:solidFill>
                  <a:srgbClr val="FF0000"/>
                </a:solidFill>
                <a:latin typeface="Times New Roman" panose="02020603050405020304" pitchFamily="18" charset="0"/>
                <a:cs typeface="Times New Roman" panose="02020603050405020304" pitchFamily="18" charset="0"/>
              </a:rPr>
              <a:t>Les </a:t>
            </a:r>
            <a:r>
              <a:rPr lang="fr-FR" sz="3200" b="1" u="sng" dirty="0">
                <a:solidFill>
                  <a:srgbClr val="FF0000"/>
                </a:solidFill>
                <a:latin typeface="Times New Roman" panose="02020603050405020304" pitchFamily="18" charset="0"/>
                <a:cs typeface="Times New Roman" panose="02020603050405020304" pitchFamily="18" charset="0"/>
              </a:rPr>
              <a:t>Contre-indications</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dans les cas d’œdème aigu des poumons (OAP)</a:t>
            </a:r>
          </a:p>
          <a:p>
            <a:pPr lvl="0"/>
            <a:r>
              <a:rPr lang="fr-FR" sz="3200" dirty="0">
                <a:latin typeface="Times New Roman" panose="02020603050405020304" pitchFamily="18" charset="0"/>
                <a:cs typeface="Times New Roman" panose="02020603050405020304" pitchFamily="18" charset="0"/>
              </a:rPr>
              <a:t>Insuffisance cardiaque</a:t>
            </a:r>
          </a:p>
          <a:p>
            <a:pPr lvl="0"/>
            <a:r>
              <a:rPr lang="fr-FR" sz="3200" dirty="0">
                <a:latin typeface="Times New Roman" panose="02020603050405020304" pitchFamily="18" charset="0"/>
                <a:cs typeface="Times New Roman" panose="02020603050405020304" pitchFamily="18" charset="0"/>
              </a:rPr>
              <a:t>Anasarque (œdème généralisé)</a:t>
            </a:r>
          </a:p>
          <a:p>
            <a:pPr lvl="0"/>
            <a:r>
              <a:rPr lang="fr-FR" sz="3200" dirty="0">
                <a:latin typeface="Times New Roman" panose="02020603050405020304" pitchFamily="18" charset="0"/>
                <a:cs typeface="Times New Roman" panose="02020603050405020304" pitchFamily="18" charset="0"/>
              </a:rPr>
              <a:t>Dans les néphropathies sévères</a:t>
            </a:r>
          </a:p>
          <a:p>
            <a:endParaRPr lang="fr-FR" dirty="0"/>
          </a:p>
        </p:txBody>
      </p:sp>
    </p:spTree>
    <p:extLst>
      <p:ext uri="{BB962C8B-B14F-4D97-AF65-F5344CB8AC3E}">
        <p14:creationId xmlns:p14="http://schemas.microsoft.com/office/powerpoint/2010/main" val="393924384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609600"/>
            <a:ext cx="10972800" cy="5987143"/>
          </a:xfrm>
        </p:spPr>
        <p:txBody>
          <a:bodyPr>
            <a:normAutofit fontScale="70000" lnSpcReduction="20000"/>
          </a:bodyPr>
          <a:lstStyle/>
          <a:p>
            <a:pPr marL="393192" lvl="1" indent="0">
              <a:buNone/>
            </a:pPr>
            <a:r>
              <a:rPr lang="fr-FR" sz="4600" b="1" u="sng" dirty="0">
                <a:solidFill>
                  <a:srgbClr val="C00000"/>
                </a:solidFill>
                <a:latin typeface="Times New Roman" panose="02020603050405020304" pitchFamily="18" charset="0"/>
                <a:cs typeface="Times New Roman" panose="02020603050405020304" pitchFamily="18" charset="0"/>
              </a:rPr>
              <a:t>LES SOLUTES INJECTABLES</a:t>
            </a:r>
            <a:endParaRPr lang="fr-FR" sz="46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4600" b="1" dirty="0">
                <a:solidFill>
                  <a:srgbClr val="FF0000"/>
                </a:solidFill>
                <a:latin typeface="Times New Roman" panose="02020603050405020304" pitchFamily="18" charset="0"/>
                <a:cs typeface="Times New Roman" panose="02020603050405020304" pitchFamily="18" charset="0"/>
              </a:rPr>
              <a:t>- </a:t>
            </a:r>
            <a:r>
              <a:rPr lang="fr-FR" sz="4600" b="1" u="sng" dirty="0">
                <a:solidFill>
                  <a:srgbClr val="FF0000"/>
                </a:solidFill>
                <a:latin typeface="Times New Roman" panose="02020603050405020304" pitchFamily="18" charset="0"/>
                <a:cs typeface="Times New Roman" panose="02020603050405020304" pitchFamily="18" charset="0"/>
              </a:rPr>
              <a:t>Les Solutés Isotoniques</a:t>
            </a:r>
            <a:endParaRPr lang="fr-FR" sz="4600" dirty="0">
              <a:solidFill>
                <a:srgbClr val="FF0000"/>
              </a:solidFill>
              <a:latin typeface="Times New Roman" panose="02020603050405020304" pitchFamily="18" charset="0"/>
              <a:cs typeface="Times New Roman" panose="02020603050405020304" pitchFamily="18" charset="0"/>
            </a:endParaRPr>
          </a:p>
          <a:p>
            <a:r>
              <a:rPr lang="fr-FR" sz="4600" dirty="0">
                <a:latin typeface="Times New Roman" panose="02020603050405020304" pitchFamily="18" charset="0"/>
                <a:cs typeface="Times New Roman" panose="02020603050405020304" pitchFamily="18" charset="0"/>
              </a:rPr>
              <a:t>Un soluté est dit isotonique, lorsqu’il a la même pression osmotique que le sérum sanguin</a:t>
            </a:r>
          </a:p>
          <a:p>
            <a:r>
              <a:rPr lang="fr-FR" sz="4600" dirty="0">
                <a:latin typeface="Times New Roman" panose="02020603050405020304" pitchFamily="18" charset="0"/>
                <a:cs typeface="Times New Roman" panose="02020603050405020304" pitchFamily="18" charset="0"/>
              </a:rPr>
              <a:t>Dans un soluté isotonique, les éléments figurés du sang (hématies, leucocytes, plaquettes…) peuvent se maintenir sans modification sensible de leurs propriétés et de leur forme</a:t>
            </a:r>
            <a:r>
              <a:rPr lang="fr-FR" sz="4600" dirty="0" smtClean="0">
                <a:latin typeface="Times New Roman" panose="02020603050405020304" pitchFamily="18" charset="0"/>
                <a:cs typeface="Times New Roman" panose="02020603050405020304" pitchFamily="18" charset="0"/>
              </a:rPr>
              <a:t>.</a:t>
            </a:r>
          </a:p>
          <a:p>
            <a:pPr marL="0" indent="0">
              <a:buNone/>
            </a:pPr>
            <a:r>
              <a:rPr lang="fr-FR" sz="4600" b="1" dirty="0">
                <a:latin typeface="Times New Roman" panose="02020603050405020304" pitchFamily="18" charset="0"/>
                <a:cs typeface="Times New Roman" panose="02020603050405020304" pitchFamily="18" charset="0"/>
              </a:rPr>
              <a:t/>
            </a:r>
            <a:br>
              <a:rPr lang="fr-FR" sz="4600" b="1" dirty="0">
                <a:latin typeface="Times New Roman" panose="02020603050405020304" pitchFamily="18" charset="0"/>
                <a:cs typeface="Times New Roman" panose="02020603050405020304" pitchFamily="18" charset="0"/>
              </a:rPr>
            </a:br>
            <a:r>
              <a:rPr lang="fr-FR" sz="4600" b="1" dirty="0">
                <a:solidFill>
                  <a:srgbClr val="FF0000"/>
                </a:solidFill>
                <a:latin typeface="Times New Roman" panose="02020603050405020304" pitchFamily="18" charset="0"/>
                <a:cs typeface="Times New Roman" panose="02020603050405020304" pitchFamily="18" charset="0"/>
              </a:rPr>
              <a:t>Exemples de solutés isotoniques :</a:t>
            </a:r>
            <a:endParaRPr lang="fr-FR" sz="4600" dirty="0">
              <a:solidFill>
                <a:srgbClr val="FF0000"/>
              </a:solidFill>
              <a:latin typeface="Times New Roman" panose="02020603050405020304" pitchFamily="18" charset="0"/>
              <a:cs typeface="Times New Roman" panose="02020603050405020304" pitchFamily="18" charset="0"/>
            </a:endParaRPr>
          </a:p>
          <a:p>
            <a:pPr lvl="0"/>
            <a:r>
              <a:rPr lang="fr-FR" sz="4600" dirty="0">
                <a:latin typeface="Times New Roman" panose="02020603050405020304" pitchFamily="18" charset="0"/>
                <a:cs typeface="Times New Roman" panose="02020603050405020304" pitchFamily="18" charset="0"/>
              </a:rPr>
              <a:t>sérum glucosé isotonique (SGI) à 5%</a:t>
            </a:r>
          </a:p>
          <a:p>
            <a:pPr lvl="0"/>
            <a:r>
              <a:rPr lang="fr-FR" sz="4600" dirty="0">
                <a:latin typeface="Times New Roman" panose="02020603050405020304" pitchFamily="18" charset="0"/>
                <a:cs typeface="Times New Roman" panose="02020603050405020304" pitchFamily="18" charset="0"/>
              </a:rPr>
              <a:t>sérum salé ou sérum physiologique à 0,9%</a:t>
            </a:r>
          </a:p>
          <a:p>
            <a:pPr lvl="0"/>
            <a:r>
              <a:rPr lang="fr-FR" sz="4600" dirty="0">
                <a:latin typeface="Times New Roman" panose="02020603050405020304" pitchFamily="18" charset="0"/>
                <a:cs typeface="Times New Roman" panose="02020603050405020304" pitchFamily="18" charset="0"/>
              </a:rPr>
              <a:t>sérum bicarbonaté à 1,4%</a:t>
            </a:r>
          </a:p>
          <a:p>
            <a:endParaRPr lang="fr-FR" dirty="0"/>
          </a:p>
        </p:txBody>
      </p:sp>
    </p:spTree>
    <p:extLst>
      <p:ext uri="{BB962C8B-B14F-4D97-AF65-F5344CB8AC3E}">
        <p14:creationId xmlns:p14="http://schemas.microsoft.com/office/powerpoint/2010/main" val="360526056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13658" y="696687"/>
            <a:ext cx="11538857" cy="5704113"/>
          </a:xfrm>
        </p:spPr>
        <p:txBody>
          <a:bodyPr>
            <a:noAutofit/>
          </a:bodyPr>
          <a:lstStyle/>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Solutés Hypertoniques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Un soluté est dit hypertonique lorsque sa pression osmotique est plus élevée que celle du plasma sanguin.</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Exemples de solutés hypertoniques :</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sérum glucosé à 10%</a:t>
            </a:r>
          </a:p>
          <a:p>
            <a:pPr lvl="0"/>
            <a:r>
              <a:rPr lang="fr-FR" sz="3200" dirty="0">
                <a:latin typeface="Times New Roman" panose="02020603050405020304" pitchFamily="18" charset="0"/>
                <a:cs typeface="Times New Roman" panose="02020603050405020304" pitchFamily="18" charset="0"/>
              </a:rPr>
              <a:t>sérum glucosé à 30%</a:t>
            </a:r>
          </a:p>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NB</a:t>
            </a:r>
            <a:r>
              <a:rPr lang="fr-FR" sz="3200" dirty="0">
                <a:solidFill>
                  <a:srgbClr val="FF0000"/>
                </a:solidFill>
                <a:latin typeface="Times New Roman" panose="02020603050405020304" pitchFamily="18" charset="0"/>
                <a:cs typeface="Times New Roman" panose="02020603050405020304" pitchFamily="18" charset="0"/>
              </a:rPr>
              <a:t> : </a:t>
            </a:r>
            <a:r>
              <a:rPr lang="fr-FR" sz="3200" dirty="0">
                <a:latin typeface="Times New Roman" panose="02020603050405020304" pitchFamily="18" charset="0"/>
                <a:cs typeface="Times New Roman" panose="02020603050405020304" pitchFamily="18" charset="0"/>
              </a:rPr>
              <a:t>Un soluté hypertonique ne doit jamais être utilisé par voie hypodermique, mais exclusivement par voie intraveineuse. La forte concentration provoque de vastes escarres au point d’injection, par suite de déshydratation extracellulaire localisée.</a:t>
            </a:r>
          </a:p>
        </p:txBody>
      </p:sp>
    </p:spTree>
    <p:extLst>
      <p:ext uri="{BB962C8B-B14F-4D97-AF65-F5344CB8AC3E}">
        <p14:creationId xmlns:p14="http://schemas.microsoft.com/office/powerpoint/2010/main" val="336725577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53143" y="1021080"/>
            <a:ext cx="10972800" cy="5619206"/>
          </a:xfrm>
        </p:spPr>
        <p:txBody>
          <a:bodyPr>
            <a:normAutofit lnSpcReduction="10000"/>
          </a:bodyPr>
          <a:lstStyle/>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Solutés à grosses molécules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Ce sont des solutés qui sont utilisés à la place du sang, dans les hémorragies intenses, dans les états de Choc ou en cas de dénutrition grave.</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Exemples de solutés à grosses molécules :</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err="1">
                <a:latin typeface="Times New Roman" panose="02020603050405020304" pitchFamily="18" charset="0"/>
                <a:cs typeface="Times New Roman" panose="02020603050405020304" pitchFamily="18" charset="0"/>
              </a:rPr>
              <a:t>Géloplasma</a:t>
            </a:r>
            <a:endParaRPr lang="fr-FR" sz="3200" dirty="0">
              <a:latin typeface="Times New Roman" panose="02020603050405020304" pitchFamily="18" charset="0"/>
              <a:cs typeface="Times New Roman" panose="02020603050405020304" pitchFamily="18" charset="0"/>
            </a:endParaRPr>
          </a:p>
          <a:p>
            <a:pPr lvl="0"/>
            <a:r>
              <a:rPr lang="fr-FR" sz="3200" dirty="0" err="1">
                <a:latin typeface="Times New Roman" panose="02020603050405020304" pitchFamily="18" charset="0"/>
                <a:cs typeface="Times New Roman" panose="02020603050405020304" pitchFamily="18" charset="0"/>
              </a:rPr>
              <a:t>Ringer</a:t>
            </a:r>
            <a:r>
              <a:rPr lang="fr-FR" sz="3200" dirty="0">
                <a:latin typeface="Times New Roman" panose="02020603050405020304" pitchFamily="18" charset="0"/>
                <a:cs typeface="Times New Roman" panose="02020603050405020304" pitchFamily="18" charset="0"/>
              </a:rPr>
              <a:t> lactate</a:t>
            </a:r>
          </a:p>
          <a:p>
            <a:pPr lvl="0"/>
            <a:r>
              <a:rPr lang="fr-FR" sz="3200" dirty="0" err="1">
                <a:latin typeface="Times New Roman" panose="02020603050405020304" pitchFamily="18" charset="0"/>
                <a:cs typeface="Times New Roman" panose="02020603050405020304" pitchFamily="18" charset="0"/>
              </a:rPr>
              <a:t>Nutrilamine</a:t>
            </a:r>
            <a:endParaRPr lang="fr-FR" sz="3200" dirty="0">
              <a:latin typeface="Times New Roman" panose="02020603050405020304" pitchFamily="18" charset="0"/>
              <a:cs typeface="Times New Roman" panose="02020603050405020304" pitchFamily="18" charset="0"/>
            </a:endParaRPr>
          </a:p>
          <a:p>
            <a:pPr lvl="0"/>
            <a:r>
              <a:rPr lang="fr-FR" sz="3200" dirty="0" err="1">
                <a:latin typeface="Times New Roman" panose="02020603050405020304" pitchFamily="18" charset="0"/>
                <a:cs typeface="Times New Roman" panose="02020603050405020304" pitchFamily="18" charset="0"/>
              </a:rPr>
              <a:t>Plasmacaire</a:t>
            </a:r>
            <a:endParaRPr lang="fr-FR" sz="3200" dirty="0">
              <a:latin typeface="Times New Roman" panose="02020603050405020304" pitchFamily="18" charset="0"/>
              <a:cs typeface="Times New Roman" panose="02020603050405020304" pitchFamily="18" charset="0"/>
            </a:endParaRPr>
          </a:p>
          <a:p>
            <a:pPr lvl="0"/>
            <a:r>
              <a:rPr lang="fr-FR" sz="3200" dirty="0" err="1">
                <a:latin typeface="Times New Roman" panose="02020603050405020304" pitchFamily="18" charset="0"/>
                <a:cs typeface="Times New Roman" panose="02020603050405020304" pitchFamily="18" charset="0"/>
              </a:rPr>
              <a:t>Rhéomacrodex</a:t>
            </a:r>
            <a:endParaRPr lang="fr-FR" sz="3200" dirty="0">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384503854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632858" y="924975"/>
            <a:ext cx="88011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TECHNIQUE DE LA PERFUSION</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 Matériel</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Prendre un chariot à pansement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un plateau stérile si possible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 tampons de coton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un flacon d’alcool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une seringue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une épicrânienne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un garrot</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solutés à perfuser</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74911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80456" y="1042851"/>
            <a:ext cx="9100458" cy="5053150"/>
          </a:xfrm>
        </p:spPr>
        <p:txBody>
          <a:bodyPr>
            <a:normAutofit/>
          </a:bodyPr>
          <a:lstStyle/>
          <a:p>
            <a:pPr lvl="0"/>
            <a:r>
              <a:rPr lang="fr-FR" sz="3200" dirty="0">
                <a:latin typeface="Times New Roman" panose="02020603050405020304" pitchFamily="18" charset="0"/>
                <a:cs typeface="Times New Roman" panose="02020603050405020304" pitchFamily="18" charset="0"/>
              </a:rPr>
              <a:t>une potence</a:t>
            </a:r>
          </a:p>
          <a:p>
            <a:pPr lvl="0"/>
            <a:r>
              <a:rPr lang="fr-FR" sz="3200" dirty="0">
                <a:latin typeface="Times New Roman" panose="02020603050405020304" pitchFamily="18" charset="0"/>
                <a:cs typeface="Times New Roman" panose="02020603050405020304" pitchFamily="18" charset="0"/>
              </a:rPr>
              <a:t>une montre avec trotteuse</a:t>
            </a:r>
          </a:p>
          <a:p>
            <a:pPr lvl="0"/>
            <a:r>
              <a:rPr lang="fr-FR" sz="3200" dirty="0">
                <a:latin typeface="Times New Roman" panose="02020603050405020304" pitchFamily="18" charset="0"/>
                <a:cs typeface="Times New Roman" panose="02020603050405020304" pitchFamily="18" charset="0"/>
              </a:rPr>
              <a:t>du sparadrap</a:t>
            </a:r>
          </a:p>
          <a:p>
            <a:pPr lvl="0"/>
            <a:r>
              <a:rPr lang="fr-FR" sz="3200" dirty="0">
                <a:latin typeface="Times New Roman" panose="02020603050405020304" pitchFamily="18" charset="0"/>
                <a:cs typeface="Times New Roman" panose="02020603050405020304" pitchFamily="18" charset="0"/>
              </a:rPr>
              <a:t>des compresses</a:t>
            </a:r>
          </a:p>
          <a:p>
            <a:pPr lvl="0"/>
            <a:r>
              <a:rPr lang="fr-FR" sz="3200" dirty="0">
                <a:latin typeface="Times New Roman" panose="02020603050405020304" pitchFamily="18" charset="0"/>
                <a:cs typeface="Times New Roman" panose="02020603050405020304" pitchFamily="18" charset="0"/>
              </a:rPr>
              <a:t>une paire de gants</a:t>
            </a:r>
          </a:p>
          <a:p>
            <a:pPr lvl="0"/>
            <a:r>
              <a:rPr lang="fr-FR" sz="3200" dirty="0">
                <a:latin typeface="Times New Roman" panose="02020603050405020304" pitchFamily="18" charset="0"/>
                <a:cs typeface="Times New Roman" panose="02020603050405020304" pitchFamily="18" charset="0"/>
              </a:rPr>
              <a:t>une alèse</a:t>
            </a:r>
          </a:p>
          <a:p>
            <a:pPr lvl="0"/>
            <a:r>
              <a:rPr lang="fr-FR" sz="3200" dirty="0">
                <a:latin typeface="Times New Roman" panose="02020603050405020304" pitchFamily="18" charset="0"/>
                <a:cs typeface="Times New Roman" panose="02020603050405020304" pitchFamily="18" charset="0"/>
              </a:rPr>
              <a:t>un haricot</a:t>
            </a:r>
          </a:p>
          <a:p>
            <a:pPr lvl="0"/>
            <a:r>
              <a:rPr lang="fr-FR" sz="3200" dirty="0">
                <a:latin typeface="Times New Roman" panose="02020603050405020304" pitchFamily="18" charset="0"/>
                <a:cs typeface="Times New Roman" panose="02020603050405020304" pitchFamily="18" charset="0"/>
              </a:rPr>
              <a:t>un bac à ordure</a:t>
            </a:r>
          </a:p>
          <a:p>
            <a:endParaRPr lang="fr-FR" dirty="0"/>
          </a:p>
        </p:txBody>
      </p:sp>
    </p:spTree>
    <p:extLst>
      <p:ext uri="{BB962C8B-B14F-4D97-AF65-F5344CB8AC3E}">
        <p14:creationId xmlns:p14="http://schemas.microsoft.com/office/powerpoint/2010/main" val="120855295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83771" y="1652451"/>
            <a:ext cx="10972800" cy="3485606"/>
          </a:xfrm>
        </p:spPr>
        <p:txBody>
          <a:bodyPr>
            <a:normAutofit/>
          </a:bodyPr>
          <a:lstStyle/>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Préparation du Médicament</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Certaines substances peuvent être perfusées directement ; ce sont : le </a:t>
            </a:r>
            <a:r>
              <a:rPr lang="fr-FR" sz="3200" dirty="0" err="1">
                <a:latin typeface="Times New Roman" panose="02020603050405020304" pitchFamily="18" charset="0"/>
                <a:cs typeface="Times New Roman" panose="02020603050405020304" pitchFamily="18" charset="0"/>
              </a:rPr>
              <a:t>Flagyl</a:t>
            </a:r>
            <a:r>
              <a:rPr lang="fr-FR" sz="3200" dirty="0">
                <a:latin typeface="Times New Roman" panose="02020603050405020304" pitchFamily="18" charset="0"/>
                <a:cs typeface="Times New Roman" panose="02020603050405020304" pitchFamily="18" charset="0"/>
              </a:rPr>
              <a:t>, le </a:t>
            </a:r>
            <a:r>
              <a:rPr lang="fr-FR" sz="3200" dirty="0" err="1">
                <a:latin typeface="Times New Roman" panose="02020603050405020304" pitchFamily="18" charset="0"/>
                <a:cs typeface="Times New Roman" panose="02020603050405020304" pitchFamily="18" charset="0"/>
              </a:rPr>
              <a:t>Ringer</a:t>
            </a:r>
            <a:r>
              <a:rPr lang="fr-FR" sz="3200" dirty="0">
                <a:latin typeface="Times New Roman" panose="02020603050405020304" pitchFamily="18" charset="0"/>
                <a:cs typeface="Times New Roman" panose="02020603050405020304" pitchFamily="18" charset="0"/>
              </a:rPr>
              <a:t>, le </a:t>
            </a:r>
            <a:r>
              <a:rPr lang="fr-FR" sz="3200" dirty="0" err="1">
                <a:latin typeface="Times New Roman" panose="02020603050405020304" pitchFamily="18" charset="0"/>
                <a:cs typeface="Times New Roman" panose="02020603050405020304" pitchFamily="18" charset="0"/>
              </a:rPr>
              <a:t>Géloplasma</a:t>
            </a:r>
            <a:r>
              <a:rPr lang="fr-FR" sz="3200" dirty="0">
                <a:latin typeface="Times New Roman" panose="02020603050405020304" pitchFamily="18" charset="0"/>
                <a:cs typeface="Times New Roman" panose="02020603050405020304" pitchFamily="18" charset="0"/>
              </a:rPr>
              <a:t> etc. d’autres par contre demandent une préparation, lorsqu’il est nécessaire d’ajouter au soluté certains produits tels : les Antibiotiques, les Antipaludiques, les Vitamines Etc</a:t>
            </a:r>
            <a:r>
              <a:rPr lang="fr-FR" sz="3200" dirty="0" smtClean="0">
                <a:latin typeface="Times New Roman" panose="02020603050405020304" pitchFamily="18" charset="0"/>
                <a:cs typeface="Times New Roman" panose="02020603050405020304" pitchFamily="18" charset="0"/>
              </a:rPr>
              <a:t>.</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777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96685" y="631371"/>
            <a:ext cx="10972800" cy="5998029"/>
          </a:xfrm>
        </p:spPr>
        <p:txBody>
          <a:bodyPr>
            <a:normAutofit lnSpcReduction="10000"/>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Procédure de la préparation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Réunir le matériel nécessaire et indispensable au soin</a:t>
            </a:r>
          </a:p>
          <a:p>
            <a:pPr lvl="0"/>
            <a:r>
              <a:rPr lang="fr-FR" sz="3200" dirty="0">
                <a:latin typeface="Times New Roman" panose="02020603050405020304" pitchFamily="18" charset="0"/>
                <a:cs typeface="Times New Roman" panose="02020603050405020304" pitchFamily="18" charset="0"/>
              </a:rPr>
              <a:t>Aller au lit du malade</a:t>
            </a:r>
          </a:p>
          <a:p>
            <a:pPr lvl="0"/>
            <a:r>
              <a:rPr lang="fr-FR" sz="3200" dirty="0">
                <a:latin typeface="Times New Roman" panose="02020603050405020304" pitchFamily="18" charset="0"/>
                <a:cs typeface="Times New Roman" panose="02020603050405020304" pitchFamily="18" charset="0"/>
              </a:rPr>
              <a:t>Se laver les mains et les passer à l’alcool ou porter les gants</a:t>
            </a:r>
          </a:p>
          <a:p>
            <a:pPr lvl="0"/>
            <a:r>
              <a:rPr lang="fr-FR" sz="3200" dirty="0">
                <a:latin typeface="Times New Roman" panose="02020603050405020304" pitchFamily="18" charset="0"/>
                <a:cs typeface="Times New Roman" panose="02020603050405020304" pitchFamily="18" charset="0"/>
              </a:rPr>
              <a:t>Flamber le plateau s’il n’a pas été stérilisé, et le laisser refroidir</a:t>
            </a:r>
          </a:p>
          <a:p>
            <a:pPr lvl="0"/>
            <a:r>
              <a:rPr lang="fr-FR" sz="3200" dirty="0">
                <a:latin typeface="Times New Roman" panose="02020603050405020304" pitchFamily="18" charset="0"/>
                <a:cs typeface="Times New Roman" panose="02020603050405020304" pitchFamily="18" charset="0"/>
              </a:rPr>
              <a:t>Sortir la seringue de son emballage et la déposer dans le plateau</a:t>
            </a:r>
          </a:p>
          <a:p>
            <a:pPr lvl="0"/>
            <a:r>
              <a:rPr lang="fr-FR" sz="3200" dirty="0">
                <a:latin typeface="Times New Roman" panose="02020603050405020304" pitchFamily="18" charset="0"/>
                <a:cs typeface="Times New Roman" panose="02020603050405020304" pitchFamily="18" charset="0"/>
              </a:rPr>
              <a:t>Déposer quelques tampons d’alcool dans le plateau</a:t>
            </a:r>
          </a:p>
          <a:p>
            <a:pPr lvl="0"/>
            <a:r>
              <a:rPr lang="fr-FR" sz="3200" dirty="0">
                <a:latin typeface="Times New Roman" panose="02020603050405020304" pitchFamily="18" charset="0"/>
                <a:cs typeface="Times New Roman" panose="02020603050405020304" pitchFamily="18" charset="0"/>
              </a:rPr>
              <a:t>Désinfecter la surface externe du bouchon du soluté</a:t>
            </a:r>
          </a:p>
          <a:p>
            <a:pPr lvl="0"/>
            <a:r>
              <a:rPr lang="fr-FR" sz="3200" dirty="0">
                <a:latin typeface="Times New Roman" panose="02020603050405020304" pitchFamily="18" charset="0"/>
                <a:cs typeface="Times New Roman" panose="02020603050405020304" pitchFamily="18" charset="0"/>
              </a:rPr>
              <a:t>Prélever les différents médicaments dans une seringue et les ajouter au soluté</a:t>
            </a:r>
          </a:p>
          <a:p>
            <a:pPr lvl="0"/>
            <a:r>
              <a:rPr lang="fr-FR" sz="3200" dirty="0">
                <a:latin typeface="Times New Roman" panose="02020603050405020304" pitchFamily="18" charset="0"/>
                <a:cs typeface="Times New Roman" panose="02020603050405020304" pitchFamily="18" charset="0"/>
              </a:rPr>
              <a:t>Inscrire sur l’étiquette du flacon, le nom des produits ajoutés</a:t>
            </a:r>
          </a:p>
          <a:p>
            <a:endParaRPr lang="fr-FR" dirty="0"/>
          </a:p>
        </p:txBody>
      </p:sp>
    </p:spTree>
    <p:extLst>
      <p:ext uri="{BB962C8B-B14F-4D97-AF65-F5344CB8AC3E}">
        <p14:creationId xmlns:p14="http://schemas.microsoft.com/office/powerpoint/2010/main" val="378283429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61257" y="478971"/>
            <a:ext cx="11669485" cy="6226629"/>
          </a:xfrm>
        </p:spPr>
        <p:txBody>
          <a:bodyPr>
            <a:normAutofit fontScale="92500" lnSpcReduction="20000"/>
          </a:bodyPr>
          <a:lstStyle/>
          <a:p>
            <a:pPr lvl="0"/>
            <a:r>
              <a:rPr lang="fr-FR" sz="3500" dirty="0">
                <a:latin typeface="Times New Roman" panose="02020603050405020304" pitchFamily="18" charset="0"/>
                <a:cs typeface="Times New Roman" panose="02020603050405020304" pitchFamily="18" charset="0"/>
              </a:rPr>
              <a:t>Sortir le perfuseur de son emballage et le déposer dans le plateau</a:t>
            </a:r>
          </a:p>
          <a:p>
            <a:pPr lvl="0"/>
            <a:r>
              <a:rPr lang="fr-FR" sz="3500" dirty="0">
                <a:latin typeface="Times New Roman" panose="02020603050405020304" pitchFamily="18" charset="0"/>
                <a:cs typeface="Times New Roman" panose="02020603050405020304" pitchFamily="18" charset="0"/>
              </a:rPr>
              <a:t>Fermer le raccord avec le presse-tube</a:t>
            </a:r>
          </a:p>
          <a:p>
            <a:pPr lvl="0"/>
            <a:r>
              <a:rPr lang="fr-FR" sz="3500" dirty="0">
                <a:latin typeface="Times New Roman" panose="02020603050405020304" pitchFamily="18" charset="0"/>
                <a:cs typeface="Times New Roman" panose="02020603050405020304" pitchFamily="18" charset="0"/>
              </a:rPr>
              <a:t>Aseptiser de nouveau le bouchon du flacon</a:t>
            </a:r>
          </a:p>
          <a:p>
            <a:pPr lvl="0"/>
            <a:r>
              <a:rPr lang="fr-FR" sz="3500" dirty="0">
                <a:latin typeface="Times New Roman" panose="02020603050405020304" pitchFamily="18" charset="0"/>
                <a:cs typeface="Times New Roman" panose="02020603050405020304" pitchFamily="18" charset="0"/>
              </a:rPr>
              <a:t>Adapter le perfuseur au flacon de soluté</a:t>
            </a:r>
          </a:p>
          <a:p>
            <a:pPr lvl="0"/>
            <a:r>
              <a:rPr lang="fr-FR" sz="3500" dirty="0">
                <a:latin typeface="Times New Roman" panose="02020603050405020304" pitchFamily="18" charset="0"/>
                <a:cs typeface="Times New Roman" panose="02020603050405020304" pitchFamily="18" charset="0"/>
              </a:rPr>
              <a:t>Suspendre le soluté sur la potence ou le pied à sérum</a:t>
            </a:r>
          </a:p>
          <a:p>
            <a:pPr lvl="0"/>
            <a:r>
              <a:rPr lang="fr-FR" sz="3500" dirty="0">
                <a:latin typeface="Times New Roman" panose="02020603050405020304" pitchFamily="18" charset="0"/>
                <a:cs typeface="Times New Roman" panose="02020603050405020304" pitchFamily="18" charset="0"/>
              </a:rPr>
              <a:t>Comprimer la chambre compte gouttes et relâcher pour la remplir à la moitié ou au deux tiers (2/3)</a:t>
            </a:r>
          </a:p>
          <a:p>
            <a:pPr lvl="0"/>
            <a:r>
              <a:rPr lang="fr-FR" sz="3500" dirty="0">
                <a:latin typeface="Times New Roman" panose="02020603050405020304" pitchFamily="18" charset="0"/>
                <a:cs typeface="Times New Roman" panose="02020603050405020304" pitchFamily="18" charset="0"/>
              </a:rPr>
              <a:t>Ouvrir doucement le presse-tube pour laisser couler le soluté</a:t>
            </a:r>
          </a:p>
          <a:p>
            <a:pPr lvl="0"/>
            <a:r>
              <a:rPr lang="fr-FR" sz="3500" dirty="0">
                <a:latin typeface="Times New Roman" panose="02020603050405020304" pitchFamily="18" charset="0"/>
                <a:cs typeface="Times New Roman" panose="02020603050405020304" pitchFamily="18" charset="0"/>
              </a:rPr>
              <a:t>Chasser complètement l’air dans la tubulure ; il ne doit pas y avoir de bulle d’air</a:t>
            </a:r>
          </a:p>
          <a:p>
            <a:pPr lvl="0"/>
            <a:r>
              <a:rPr lang="fr-FR" sz="3500" dirty="0">
                <a:latin typeface="Times New Roman" panose="02020603050405020304" pitchFamily="18" charset="0"/>
                <a:cs typeface="Times New Roman" panose="02020603050405020304" pitchFamily="18" charset="0"/>
              </a:rPr>
              <a:t>Informer le malade de l’imminence du soin</a:t>
            </a:r>
          </a:p>
          <a:p>
            <a:pPr lvl="0"/>
            <a:r>
              <a:rPr lang="fr-FR" sz="3500" dirty="0">
                <a:latin typeface="Times New Roman" panose="02020603050405020304" pitchFamily="18" charset="0"/>
                <a:cs typeface="Times New Roman" panose="02020603050405020304" pitchFamily="18" charset="0"/>
              </a:rPr>
              <a:t>Placer la perfusion selon la technique propre à chaque voie d’injection.</a:t>
            </a:r>
          </a:p>
          <a:p>
            <a:endParaRPr lang="fr-FR" dirty="0"/>
          </a:p>
        </p:txBody>
      </p:sp>
    </p:spTree>
    <p:extLst>
      <p:ext uri="{BB962C8B-B14F-4D97-AF65-F5344CB8AC3E}">
        <p14:creationId xmlns:p14="http://schemas.microsoft.com/office/powerpoint/2010/main" val="31919285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262743" y="834837"/>
            <a:ext cx="88773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Les Différents types de Perfusion</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Perfusion sous-cutanée</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10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Région d’é</a:t>
            </a:r>
            <a:r>
              <a:rPr kumimoji="0" lang="fr-FR" altLang="fr-FR" sz="3200"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t>
            </a: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ection</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1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face externe de la cuisse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côté gauche de la paroi abdominale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au niveau de la grille costale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27590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87829" y="762000"/>
            <a:ext cx="11168743" cy="5780315"/>
          </a:xfrm>
        </p:spPr>
        <p:txBody>
          <a:bodyPr>
            <a:normAutofit/>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Procédure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installer confortablement le malade en décubitus dorsal</a:t>
            </a:r>
          </a:p>
          <a:p>
            <a:pPr lvl="0"/>
            <a:r>
              <a:rPr lang="fr-FR" sz="3200" dirty="0">
                <a:latin typeface="Times New Roman" panose="02020603050405020304" pitchFamily="18" charset="0"/>
                <a:cs typeface="Times New Roman" panose="02020603050405020304" pitchFamily="18" charset="0"/>
              </a:rPr>
              <a:t>placer l’alèse sous le malade, du coté de l’opérant</a:t>
            </a:r>
          </a:p>
          <a:p>
            <a:pPr lvl="0"/>
            <a:r>
              <a:rPr lang="fr-FR" sz="3200" dirty="0">
                <a:latin typeface="Times New Roman" panose="02020603050405020304" pitchFamily="18" charset="0"/>
                <a:cs typeface="Times New Roman" panose="02020603050405020304" pitchFamily="18" charset="0"/>
              </a:rPr>
              <a:t>identifier la région d’injection et aseptiser la peau</a:t>
            </a:r>
          </a:p>
          <a:p>
            <a:pPr lvl="0"/>
            <a:r>
              <a:rPr lang="fr-FR" sz="3200" dirty="0">
                <a:latin typeface="Times New Roman" panose="02020603050405020304" pitchFamily="18" charset="0"/>
                <a:cs typeface="Times New Roman" panose="02020603050405020304" pitchFamily="18" charset="0"/>
              </a:rPr>
              <a:t>introduire l’aiguille montée sur la seringue comme pour une injection sous cutanée</a:t>
            </a:r>
          </a:p>
          <a:p>
            <a:pPr lvl="0"/>
            <a:r>
              <a:rPr lang="fr-FR" sz="3200" dirty="0">
                <a:latin typeface="Times New Roman" panose="02020603050405020304" pitchFamily="18" charset="0"/>
                <a:cs typeface="Times New Roman" panose="02020603050405020304" pitchFamily="18" charset="0"/>
              </a:rPr>
              <a:t>mobiliser l’aiguille pour vérifier sa position dans les tissus sous cutanés</a:t>
            </a:r>
          </a:p>
          <a:p>
            <a:pPr lvl="0"/>
            <a:r>
              <a:rPr lang="fr-FR" sz="3200" dirty="0" err="1">
                <a:latin typeface="Times New Roman" panose="02020603050405020304" pitchFamily="18" charset="0"/>
                <a:cs typeface="Times New Roman" panose="02020603050405020304" pitchFamily="18" charset="0"/>
              </a:rPr>
              <a:t>désinserrer</a:t>
            </a:r>
            <a:r>
              <a:rPr lang="fr-FR" sz="3200" dirty="0">
                <a:latin typeface="Times New Roman" panose="02020603050405020304" pitchFamily="18" charset="0"/>
                <a:cs typeface="Times New Roman" panose="02020603050405020304" pitchFamily="18" charset="0"/>
              </a:rPr>
              <a:t> l’aiguille de la seringue et l’adapter à la tubulure ou perfuseur</a:t>
            </a:r>
          </a:p>
          <a:p>
            <a:endParaRPr lang="fr-FR" dirty="0"/>
          </a:p>
        </p:txBody>
      </p:sp>
    </p:spTree>
    <p:extLst>
      <p:ext uri="{BB962C8B-B14F-4D97-AF65-F5344CB8AC3E}">
        <p14:creationId xmlns:p14="http://schemas.microsoft.com/office/powerpoint/2010/main" val="62973154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8343" y="955765"/>
            <a:ext cx="11451771" cy="5205549"/>
          </a:xfrm>
        </p:spPr>
        <p:txBody>
          <a:bodyPr>
            <a:noAutofit/>
          </a:bodyPr>
          <a:lstStyle/>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Procédure (suite)</a:t>
            </a:r>
            <a:endParaRPr lang="fr-FR" sz="3200" dirty="0" smtClean="0">
              <a:latin typeface="Times New Roman" panose="02020603050405020304" pitchFamily="18" charset="0"/>
              <a:cs typeface="Times New Roman" panose="02020603050405020304" pitchFamily="18" charset="0"/>
            </a:endParaRPr>
          </a:p>
          <a:p>
            <a:pPr lvl="0"/>
            <a:r>
              <a:rPr lang="fr-FR" sz="3200" dirty="0" smtClean="0">
                <a:latin typeface="Times New Roman" panose="02020603050405020304" pitchFamily="18" charset="0"/>
                <a:cs typeface="Times New Roman" panose="02020603050405020304" pitchFamily="18" charset="0"/>
              </a:rPr>
              <a:t>recouvrir </a:t>
            </a:r>
            <a:r>
              <a:rPr lang="fr-FR" sz="3200" dirty="0">
                <a:latin typeface="Times New Roman" panose="02020603050405020304" pitchFamily="18" charset="0"/>
                <a:cs typeface="Times New Roman" panose="02020603050405020304" pitchFamily="18" charset="0"/>
              </a:rPr>
              <a:t>d’une compresse pliée en deux</a:t>
            </a:r>
          </a:p>
          <a:p>
            <a:pPr lvl="0"/>
            <a:r>
              <a:rPr lang="fr-FR" sz="3200" dirty="0">
                <a:latin typeface="Times New Roman" panose="02020603050405020304" pitchFamily="18" charset="0"/>
                <a:cs typeface="Times New Roman" panose="02020603050405020304" pitchFamily="18" charset="0"/>
              </a:rPr>
              <a:t>ouvrir le presse tube pour permettre l’écoulement du soluté</a:t>
            </a:r>
          </a:p>
          <a:p>
            <a:pPr lvl="0"/>
            <a:r>
              <a:rPr lang="fr-FR" sz="3200" dirty="0">
                <a:latin typeface="Times New Roman" panose="02020603050405020304" pitchFamily="18" charset="0"/>
                <a:cs typeface="Times New Roman" panose="02020603050405020304" pitchFamily="18" charset="0"/>
              </a:rPr>
              <a:t>maintenir le perfuseur à la peau à l’aide d’une bande adhésive ou sparadrap</a:t>
            </a:r>
          </a:p>
          <a:p>
            <a:pPr lvl="0"/>
            <a:r>
              <a:rPr lang="fr-FR" sz="3200" dirty="0">
                <a:latin typeface="Times New Roman" panose="02020603050405020304" pitchFamily="18" charset="0"/>
                <a:cs typeface="Times New Roman" panose="02020603050405020304" pitchFamily="18" charset="0"/>
              </a:rPr>
              <a:t>régler le débit</a:t>
            </a:r>
          </a:p>
          <a:p>
            <a:pPr lvl="0"/>
            <a:r>
              <a:rPr lang="fr-FR" sz="3200" dirty="0">
                <a:latin typeface="Times New Roman" panose="02020603050405020304" pitchFamily="18" charset="0"/>
                <a:cs typeface="Times New Roman" panose="02020603050405020304" pitchFamily="18" charset="0"/>
              </a:rPr>
              <a:t>noter le soin</a:t>
            </a:r>
          </a:p>
          <a:p>
            <a:pPr lvl="0"/>
            <a:r>
              <a:rPr lang="fr-FR" sz="3200" dirty="0">
                <a:latin typeface="Times New Roman" panose="02020603050405020304" pitchFamily="18" charset="0"/>
                <a:cs typeface="Times New Roman" panose="02020603050405020304" pitchFamily="18" charset="0"/>
              </a:rPr>
              <a:t>remercier le malade pour sa collaboration et prendre congé de lui</a:t>
            </a:r>
          </a:p>
          <a:p>
            <a:pPr lvl="0"/>
            <a:r>
              <a:rPr lang="fr-FR" sz="3200" dirty="0">
                <a:latin typeface="Times New Roman" panose="02020603050405020304" pitchFamily="18" charset="0"/>
                <a:cs typeface="Times New Roman" panose="02020603050405020304" pitchFamily="18" charset="0"/>
              </a:rPr>
              <a:t>nettoyer et ranger le </a:t>
            </a:r>
            <a:r>
              <a:rPr lang="fr-FR" sz="3200" dirty="0" smtClean="0">
                <a:latin typeface="Times New Roman" panose="02020603050405020304" pitchFamily="18" charset="0"/>
                <a:cs typeface="Times New Roman" panose="02020603050405020304" pitchFamily="18" charset="0"/>
              </a:rPr>
              <a:t>matériel</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19031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088572" y="1079218"/>
            <a:ext cx="891540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449263"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Perfusion Intraveineuse simple</a:t>
            </a:r>
          </a:p>
          <a:p>
            <a:pPr marL="0" marR="0" lvl="0" indent="449263" algn="just" defTabSz="914400" rtl="0" eaLnBrk="0" fontAlgn="base" latinLnBrk="0" hangingPunct="0">
              <a:lnSpc>
                <a:spcPct val="100000"/>
              </a:lnSpc>
              <a:spcBef>
                <a:spcPct val="0"/>
              </a:spcBef>
              <a:spcAft>
                <a:spcPct val="0"/>
              </a:spcAft>
              <a:buClrTx/>
              <a:buSzTx/>
              <a:buFont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Région d’élection</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1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du pli du coude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de l’avant bras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du dos de la main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du pied</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veines du crâne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026511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70859"/>
            <a:ext cx="11386457" cy="5551713"/>
          </a:xfrm>
        </p:spPr>
        <p:txBody>
          <a:bodyPr>
            <a:normAutofit fontScale="92500" lnSpcReduction="20000"/>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Procédure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informer le malade de l’imminence du soin</a:t>
            </a:r>
          </a:p>
          <a:p>
            <a:pPr lvl="0"/>
            <a:r>
              <a:rPr lang="fr-FR" sz="3200" dirty="0">
                <a:latin typeface="Times New Roman" panose="02020603050405020304" pitchFamily="18" charset="0"/>
                <a:cs typeface="Times New Roman" panose="02020603050405020304" pitchFamily="18" charset="0"/>
              </a:rPr>
              <a:t>laver les mains et les passer à l’alcool ou porter des gants</a:t>
            </a:r>
          </a:p>
          <a:p>
            <a:pPr lvl="0"/>
            <a:r>
              <a:rPr lang="fr-FR" sz="3200" dirty="0">
                <a:latin typeface="Times New Roman" panose="02020603050405020304" pitchFamily="18" charset="0"/>
                <a:cs typeface="Times New Roman" panose="02020603050405020304" pitchFamily="18" charset="0"/>
              </a:rPr>
              <a:t>installer confortablement le malade en décubitus dorsal</a:t>
            </a:r>
          </a:p>
          <a:p>
            <a:pPr lvl="0"/>
            <a:r>
              <a:rPr lang="fr-FR" sz="3200" dirty="0">
                <a:latin typeface="Times New Roman" panose="02020603050405020304" pitchFamily="18" charset="0"/>
                <a:cs typeface="Times New Roman" panose="02020603050405020304" pitchFamily="18" charset="0"/>
              </a:rPr>
              <a:t>sortir l’épicrânienne de son emballage (s’il y en a)</a:t>
            </a:r>
          </a:p>
          <a:p>
            <a:pPr lvl="0"/>
            <a:r>
              <a:rPr lang="fr-FR" sz="3200" dirty="0">
                <a:latin typeface="Times New Roman" panose="02020603050405020304" pitchFamily="18" charset="0"/>
                <a:cs typeface="Times New Roman" panose="02020603050405020304" pitchFamily="18" charset="0"/>
              </a:rPr>
              <a:t>purger l’épicrânienne </a:t>
            </a:r>
          </a:p>
          <a:p>
            <a:pPr lvl="0"/>
            <a:r>
              <a:rPr lang="fr-FR" sz="3200" dirty="0">
                <a:latin typeface="Times New Roman" panose="02020603050405020304" pitchFamily="18" charset="0"/>
                <a:cs typeface="Times New Roman" panose="02020603050405020304" pitchFamily="18" charset="0"/>
              </a:rPr>
              <a:t>placer l’alèse sous le bras le plus accessible et recouvrir l’hémi thorax du même côté</a:t>
            </a:r>
          </a:p>
          <a:p>
            <a:pPr lvl="0"/>
            <a:r>
              <a:rPr lang="fr-FR" sz="3200" dirty="0">
                <a:latin typeface="Times New Roman" panose="02020603050405020304" pitchFamily="18" charset="0"/>
                <a:cs typeface="Times New Roman" panose="02020603050405020304" pitchFamily="18" charset="0"/>
              </a:rPr>
              <a:t>placer le garrot sur le bras ou l’avant bras, selon le site que l’on se propose de choisir</a:t>
            </a:r>
          </a:p>
          <a:p>
            <a:pPr lvl="0"/>
            <a:r>
              <a:rPr lang="fr-FR" sz="3200" dirty="0">
                <a:latin typeface="Times New Roman" panose="02020603050405020304" pitchFamily="18" charset="0"/>
                <a:cs typeface="Times New Roman" panose="02020603050405020304" pitchFamily="18" charset="0"/>
              </a:rPr>
              <a:t>repérer la veine à ponctionner ; choisir une grosse veine</a:t>
            </a:r>
          </a:p>
          <a:p>
            <a:pPr lvl="0"/>
            <a:r>
              <a:rPr lang="fr-FR" sz="3200" dirty="0">
                <a:latin typeface="Times New Roman" panose="02020603050405020304" pitchFamily="18" charset="0"/>
                <a:cs typeface="Times New Roman" panose="02020603050405020304" pitchFamily="18" charset="0"/>
              </a:rPr>
              <a:t>aseptiser la peau</a:t>
            </a:r>
          </a:p>
          <a:p>
            <a:endParaRPr lang="fr-FR" dirty="0"/>
          </a:p>
        </p:txBody>
      </p:sp>
    </p:spTree>
    <p:extLst>
      <p:ext uri="{BB962C8B-B14F-4D97-AF65-F5344CB8AC3E}">
        <p14:creationId xmlns:p14="http://schemas.microsoft.com/office/powerpoint/2010/main" val="132287815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8971" y="805543"/>
            <a:ext cx="10972800" cy="5638800"/>
          </a:xfrm>
        </p:spPr>
        <p:txBody>
          <a:bodyPr>
            <a:normAutofit fontScale="92500" lnSpcReduction="20000"/>
          </a:bodyPr>
          <a:lstStyle/>
          <a:p>
            <a:pPr marL="0" lvl="0" indent="0">
              <a:buNone/>
            </a:pPr>
            <a:r>
              <a:rPr lang="fr-FR" sz="3500" b="1" dirty="0" smtClean="0">
                <a:solidFill>
                  <a:srgbClr val="FF0000"/>
                </a:solidFill>
                <a:latin typeface="Times New Roman" panose="02020603050405020304" pitchFamily="18" charset="0"/>
                <a:cs typeface="Times New Roman" panose="02020603050405020304" pitchFamily="18" charset="0"/>
              </a:rPr>
              <a:t>Procédure (suite)</a:t>
            </a:r>
          </a:p>
          <a:p>
            <a:pPr marL="0" lvl="0" indent="0">
              <a:buNone/>
            </a:pPr>
            <a:endParaRPr lang="fr-FR" sz="1200" dirty="0" smtClean="0"/>
          </a:p>
          <a:p>
            <a:pPr lvl="0"/>
            <a:r>
              <a:rPr lang="fr-FR" sz="3500" dirty="0" smtClean="0">
                <a:latin typeface="Times New Roman" panose="02020603050405020304" pitchFamily="18" charset="0"/>
                <a:cs typeface="Times New Roman" panose="02020603050405020304" pitchFamily="18" charset="0"/>
              </a:rPr>
              <a:t>empaumer </a:t>
            </a:r>
            <a:r>
              <a:rPr lang="fr-FR" sz="3500" dirty="0">
                <a:latin typeface="Times New Roman" panose="02020603050405020304" pitchFamily="18" charset="0"/>
                <a:cs typeface="Times New Roman" panose="02020603050405020304" pitchFamily="18" charset="0"/>
              </a:rPr>
              <a:t>le bras, tendre la peau et immobiliser la veine avec le pouce</a:t>
            </a:r>
          </a:p>
          <a:p>
            <a:pPr lvl="0"/>
            <a:r>
              <a:rPr lang="fr-FR" sz="3500" dirty="0">
                <a:latin typeface="Times New Roman" panose="02020603050405020304" pitchFamily="18" charset="0"/>
                <a:cs typeface="Times New Roman" panose="02020603050405020304" pitchFamily="18" charset="0"/>
              </a:rPr>
              <a:t>piquer la veine en son centre avec l’aiguille de l’épicrânienne</a:t>
            </a:r>
          </a:p>
          <a:p>
            <a:pPr lvl="0"/>
            <a:r>
              <a:rPr lang="fr-FR" sz="3500" dirty="0">
                <a:latin typeface="Times New Roman" panose="02020603050405020304" pitchFamily="18" charset="0"/>
                <a:cs typeface="Times New Roman" panose="02020603050405020304" pitchFamily="18" charset="0"/>
              </a:rPr>
              <a:t>enfoncer l’aiguille dans toute sa longueur</a:t>
            </a:r>
          </a:p>
          <a:p>
            <a:pPr lvl="0"/>
            <a:r>
              <a:rPr lang="fr-FR" sz="3500" dirty="0">
                <a:latin typeface="Times New Roman" panose="02020603050405020304" pitchFamily="18" charset="0"/>
                <a:cs typeface="Times New Roman" panose="02020603050405020304" pitchFamily="18" charset="0"/>
              </a:rPr>
              <a:t>ouvrir le bouchon de l’embout de l’épicrânienne</a:t>
            </a:r>
          </a:p>
          <a:p>
            <a:pPr lvl="0"/>
            <a:r>
              <a:rPr lang="fr-FR" sz="3500" dirty="0">
                <a:latin typeface="Times New Roman" panose="02020603050405020304" pitchFamily="18" charset="0"/>
                <a:cs typeface="Times New Roman" panose="02020603050405020304" pitchFamily="18" charset="0"/>
              </a:rPr>
              <a:t>le sang doit remonter dans la tubulure de l’épicrânienne</a:t>
            </a:r>
          </a:p>
          <a:p>
            <a:pPr lvl="0"/>
            <a:r>
              <a:rPr lang="fr-FR" sz="3500" dirty="0">
                <a:latin typeface="Times New Roman" panose="02020603050405020304" pitchFamily="18" charset="0"/>
                <a:cs typeface="Times New Roman" panose="02020603050405020304" pitchFamily="18" charset="0"/>
              </a:rPr>
              <a:t>adapter alors le perfuseur à l’épicrânienne puis desserrer le garrot</a:t>
            </a:r>
          </a:p>
          <a:p>
            <a:pPr lvl="0"/>
            <a:r>
              <a:rPr lang="fr-FR" sz="3500" dirty="0">
                <a:latin typeface="Times New Roman" panose="02020603050405020304" pitchFamily="18" charset="0"/>
                <a:cs typeface="Times New Roman" panose="02020603050405020304" pitchFamily="18" charset="0"/>
              </a:rPr>
              <a:t>ouvrir le presse-tube et regarder le soluté s’écouler dans le compte </a:t>
            </a:r>
            <a:r>
              <a:rPr lang="fr-FR" sz="3500" dirty="0" smtClean="0">
                <a:latin typeface="Times New Roman" panose="02020603050405020304" pitchFamily="18" charset="0"/>
                <a:cs typeface="Times New Roman" panose="02020603050405020304" pitchFamily="18" charset="0"/>
              </a:rPr>
              <a:t>gouttes</a:t>
            </a:r>
            <a:endParaRPr lang="fr-FR"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01100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413657"/>
            <a:ext cx="10972800" cy="6139543"/>
          </a:xfrm>
        </p:spPr>
        <p:txBody>
          <a:bodyPr>
            <a:normAutofit lnSpcReduction="10000"/>
          </a:bodyPr>
          <a:lstStyle/>
          <a:p>
            <a:pPr marL="0" lvl="0" indent="0">
              <a:buNone/>
            </a:pPr>
            <a:r>
              <a:rPr lang="fr-FR" sz="3500" b="1" dirty="0" smtClean="0">
                <a:solidFill>
                  <a:srgbClr val="FF0000"/>
                </a:solidFill>
                <a:latin typeface="Times New Roman" panose="02020603050405020304" pitchFamily="18" charset="0"/>
                <a:cs typeface="Times New Roman" panose="02020603050405020304" pitchFamily="18" charset="0"/>
              </a:rPr>
              <a:t>Procédure (suite et fin)</a:t>
            </a:r>
            <a:endParaRPr lang="fr-FR" sz="3500" dirty="0" smtClean="0"/>
          </a:p>
          <a:p>
            <a:pPr lvl="0"/>
            <a:r>
              <a:rPr lang="fr-FR" sz="3200" dirty="0" smtClean="0">
                <a:latin typeface="Times New Roman" panose="02020603050405020304" pitchFamily="18" charset="0"/>
                <a:cs typeface="Times New Roman" panose="02020603050405020304" pitchFamily="18" charset="0"/>
              </a:rPr>
              <a:t>immobiliser </a:t>
            </a:r>
            <a:r>
              <a:rPr lang="fr-FR" sz="3200" dirty="0">
                <a:latin typeface="Times New Roman" panose="02020603050405020304" pitchFamily="18" charset="0"/>
                <a:cs typeface="Times New Roman" panose="02020603050405020304" pitchFamily="18" charset="0"/>
              </a:rPr>
              <a:t>l’épicrânienne et la tubulure avec une bande adhésive</a:t>
            </a:r>
          </a:p>
          <a:p>
            <a:pPr lvl="0"/>
            <a:r>
              <a:rPr lang="fr-FR" sz="3200" dirty="0">
                <a:latin typeface="Times New Roman" panose="02020603050405020304" pitchFamily="18" charset="0"/>
                <a:cs typeface="Times New Roman" panose="02020603050405020304" pitchFamily="18" charset="0"/>
              </a:rPr>
              <a:t>régler le débit de la perfusion</a:t>
            </a:r>
          </a:p>
          <a:p>
            <a:pPr lvl="0"/>
            <a:r>
              <a:rPr lang="fr-FR" sz="3200" dirty="0">
                <a:latin typeface="Times New Roman" panose="02020603050405020304" pitchFamily="18" charset="0"/>
                <a:cs typeface="Times New Roman" panose="02020603050405020304" pitchFamily="18" charset="0"/>
              </a:rPr>
              <a:t>enlever l’alèse et le garrot</a:t>
            </a:r>
          </a:p>
          <a:p>
            <a:pPr lvl="0"/>
            <a:r>
              <a:rPr lang="fr-FR" sz="3200" dirty="0">
                <a:latin typeface="Times New Roman" panose="02020603050405020304" pitchFamily="18" charset="0"/>
                <a:cs typeface="Times New Roman" panose="02020603050405020304" pitchFamily="18" charset="0"/>
              </a:rPr>
              <a:t>réinstaller le malade</a:t>
            </a:r>
          </a:p>
          <a:p>
            <a:pPr lvl="0"/>
            <a:r>
              <a:rPr lang="fr-FR" sz="3200" dirty="0">
                <a:latin typeface="Times New Roman" panose="02020603050405020304" pitchFamily="18" charset="0"/>
                <a:cs typeface="Times New Roman" panose="02020603050405020304" pitchFamily="18" charset="0"/>
              </a:rPr>
              <a:t>se laver les mains</a:t>
            </a:r>
          </a:p>
          <a:p>
            <a:pPr lvl="0"/>
            <a:r>
              <a:rPr lang="fr-FR" sz="3200" dirty="0">
                <a:latin typeface="Times New Roman" panose="02020603050405020304" pitchFamily="18" charset="0"/>
                <a:cs typeface="Times New Roman" panose="02020603050405020304" pitchFamily="18" charset="0"/>
              </a:rPr>
              <a:t>noter le soin</a:t>
            </a:r>
          </a:p>
          <a:p>
            <a:pPr lvl="0"/>
            <a:r>
              <a:rPr lang="fr-FR" sz="3200" dirty="0">
                <a:latin typeface="Times New Roman" panose="02020603050405020304" pitchFamily="18" charset="0"/>
                <a:cs typeface="Times New Roman" panose="02020603050405020304" pitchFamily="18" charset="0"/>
              </a:rPr>
              <a:t>remercier le malade de sa collaboration et prendre congé de lui avec des mots gentils</a:t>
            </a:r>
          </a:p>
          <a:p>
            <a:pPr lvl="0"/>
            <a:r>
              <a:rPr lang="fr-FR" sz="3200" dirty="0">
                <a:latin typeface="Times New Roman" panose="02020603050405020304" pitchFamily="18" charset="0"/>
                <a:cs typeface="Times New Roman" panose="02020603050405020304" pitchFamily="18" charset="0"/>
              </a:rPr>
              <a:t>nettoyer et ranger le matériel</a:t>
            </a:r>
          </a:p>
          <a:p>
            <a:endParaRPr lang="fr-FR" dirty="0"/>
          </a:p>
        </p:txBody>
      </p:sp>
    </p:spTree>
    <p:extLst>
      <p:ext uri="{BB962C8B-B14F-4D97-AF65-F5344CB8AC3E}">
        <p14:creationId xmlns:p14="http://schemas.microsoft.com/office/powerpoint/2010/main" val="18502552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Line 34"/>
          <p:cNvSpPr>
            <a:spLocks noChangeShapeType="1"/>
          </p:cNvSpPr>
          <p:nvPr/>
        </p:nvSpPr>
        <p:spPr bwMode="auto">
          <a:xfrm flipV="1">
            <a:off x="2146087" y="5284653"/>
            <a:ext cx="118494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4" name="Groupe 3"/>
          <p:cNvGrpSpPr/>
          <p:nvPr/>
        </p:nvGrpSpPr>
        <p:grpSpPr>
          <a:xfrm>
            <a:off x="152398" y="178474"/>
            <a:ext cx="11887201" cy="6133985"/>
            <a:chOff x="152398" y="178474"/>
            <a:chExt cx="11887201" cy="6133985"/>
          </a:xfrm>
        </p:grpSpPr>
        <p:sp>
          <p:nvSpPr>
            <p:cNvPr id="37" name="Line 33"/>
            <p:cNvSpPr>
              <a:spLocks noChangeShapeType="1"/>
            </p:cNvSpPr>
            <p:nvPr/>
          </p:nvSpPr>
          <p:spPr bwMode="auto">
            <a:xfrm flipV="1">
              <a:off x="5282076" y="5298441"/>
              <a:ext cx="109697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fr-FR"/>
            </a:p>
          </p:txBody>
        </p:sp>
        <p:sp>
          <p:nvSpPr>
            <p:cNvPr id="39" name="Rectangle 36"/>
            <p:cNvSpPr>
              <a:spLocks noChangeArrowheads="1"/>
            </p:cNvSpPr>
            <p:nvPr/>
          </p:nvSpPr>
          <p:spPr bwMode="auto">
            <a:xfrm>
              <a:off x="870857" y="949982"/>
              <a:ext cx="333967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1ml = 20gttes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40" name="Rectangle 37"/>
            <p:cNvSpPr>
              <a:spLocks noChangeArrowheads="1"/>
            </p:cNvSpPr>
            <p:nvPr/>
          </p:nvSpPr>
          <p:spPr bwMode="auto">
            <a:xfrm rot="10800000" flipV="1">
              <a:off x="152398" y="2034252"/>
              <a:ext cx="11887201"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49263"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87313" algn="l"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Débit (ou nombre de gouttes/mn) = quantité de soluté en ml x  20 gttes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Temps en mn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kumimoji="0" lang="fr-FR" altLang="fr-FR" sz="3200" b="1" i="0" u="sng"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Exemple :</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Passer 500ml de soluté en 4heures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49263"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41" name="Rectangle 38"/>
            <p:cNvSpPr>
              <a:spLocks noChangeArrowheads="1"/>
            </p:cNvSpPr>
            <p:nvPr/>
          </p:nvSpPr>
          <p:spPr bwMode="auto">
            <a:xfrm rot="10800000" flipV="1">
              <a:off x="628410" y="4742799"/>
              <a:ext cx="901065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Débit = 500 x 20</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10 000</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4 x 60			  240</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Débit	  =   42 gttes / mn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2" name="Rectangle 41"/>
            <p:cNvSpPr/>
            <p:nvPr/>
          </p:nvSpPr>
          <p:spPr>
            <a:xfrm>
              <a:off x="3715869" y="178474"/>
              <a:ext cx="4912659" cy="830997"/>
            </a:xfrm>
            <a:prstGeom prst="rect">
              <a:avLst/>
            </a:prstGeom>
          </p:spPr>
          <p:txBody>
            <a:bodyPr wrap="square">
              <a:spAutoFit/>
            </a:bodyPr>
            <a:lstStyle/>
            <a:p>
              <a:pPr marL="342900" lvl="0" indent="-342900" algn="just">
                <a:lnSpc>
                  <a:spcPct val="150000"/>
                </a:lnSpc>
                <a:spcAft>
                  <a:spcPts val="0"/>
                </a:spcAft>
                <a:buFont typeface="Symbol" panose="05050102010706020507" pitchFamily="18" charset="2"/>
                <a:buChar char=""/>
                <a:tabLst>
                  <a:tab pos="228600" algn="l"/>
                </a:tabLst>
              </a:pPr>
              <a:r>
                <a:rPr lang="fr-FR" sz="3200" b="1" dirty="0">
                  <a:latin typeface="Times New Roman" panose="02020603050405020304" pitchFamily="18" charset="0"/>
                  <a:ea typeface="Times New Roman" panose="02020603050405020304" pitchFamily="18" charset="0"/>
                  <a:cs typeface="Times New Roman" panose="02020603050405020304" pitchFamily="18" charset="0"/>
                </a:rPr>
                <a:t>Calcul du débit</a:t>
              </a:r>
              <a:endParaRPr lang="fr-FR"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cxnSp>
        <p:nvCxnSpPr>
          <p:cNvPr id="3" name="Connecteur droit 2"/>
          <p:cNvCxnSpPr/>
          <p:nvPr/>
        </p:nvCxnSpPr>
        <p:spPr>
          <a:xfrm flipV="1">
            <a:off x="6218229" y="2590800"/>
            <a:ext cx="5451257" cy="217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4283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40229" y="1066800"/>
            <a:ext cx="10972800" cy="5268686"/>
          </a:xfrm>
        </p:spPr>
        <p:txBody>
          <a:bodyPr>
            <a:no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ACCIDENTS ET INCIDENTS</a:t>
            </a:r>
            <a:endParaRPr lang="fr-FR" sz="32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200" b="1" dirty="0">
                <a:solidFill>
                  <a:srgbClr val="C00000"/>
                </a:solidFill>
                <a:latin typeface="Times New Roman" panose="02020603050405020304" pitchFamily="18" charset="0"/>
                <a:cs typeface="Times New Roman" panose="02020603050405020304" pitchFamily="18" charset="0"/>
              </a:rPr>
              <a:t>- </a:t>
            </a:r>
            <a:r>
              <a:rPr lang="fr-FR" sz="3200" b="1" u="sng" dirty="0">
                <a:solidFill>
                  <a:srgbClr val="C00000"/>
                </a:solidFill>
                <a:latin typeface="Times New Roman" panose="02020603050405020304" pitchFamily="18" charset="0"/>
                <a:cs typeface="Times New Roman" panose="02020603050405020304" pitchFamily="18" charset="0"/>
              </a:rPr>
              <a:t>Au Plan Local</a:t>
            </a:r>
            <a:endParaRPr lang="fr-FR" sz="3200" dirty="0">
              <a:solidFill>
                <a:srgbClr val="C00000"/>
              </a:solidFill>
              <a:latin typeface="Times New Roman" panose="02020603050405020304" pitchFamily="18" charset="0"/>
              <a:cs typeface="Times New Roman" panose="02020603050405020304" pitchFamily="18" charset="0"/>
            </a:endParaRPr>
          </a:p>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1. Gonflement </a:t>
            </a:r>
            <a:r>
              <a:rPr lang="fr-FR" sz="3200" b="1" dirty="0">
                <a:solidFill>
                  <a:srgbClr val="FF0000"/>
                </a:solidFill>
                <a:latin typeface="Times New Roman" panose="02020603050405020304" pitchFamily="18" charset="0"/>
                <a:cs typeface="Times New Roman" panose="02020603050405020304" pitchFamily="18" charset="0"/>
              </a:rPr>
              <a:t>ou Œdème du membre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Il se produit au point d’injection ; le liquide passe en dehors de la veine.</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Conduite à tenir :</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enlever la perfusion et la replacer ailleurs</a:t>
            </a:r>
          </a:p>
          <a:p>
            <a:pPr lvl="0"/>
            <a:r>
              <a:rPr lang="fr-FR" sz="3200" dirty="0">
                <a:latin typeface="Times New Roman" panose="02020603050405020304" pitchFamily="18" charset="0"/>
                <a:cs typeface="Times New Roman" panose="02020603050405020304" pitchFamily="18" charset="0"/>
              </a:rPr>
              <a:t>faire un pansement alcoolisé au niveau de l’</a:t>
            </a:r>
            <a:r>
              <a:rPr lang="fr-FR" sz="3200" dirty="0" err="1">
                <a:latin typeface="Times New Roman" panose="02020603050405020304" pitchFamily="18" charset="0"/>
                <a:cs typeface="Times New Roman" panose="02020603050405020304" pitchFamily="18" charset="0"/>
              </a:rPr>
              <a:t>oedème</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2693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18456" y="870859"/>
            <a:ext cx="10972800" cy="5029199"/>
          </a:xfrm>
        </p:spPr>
        <p:txBody>
          <a:bodyPr>
            <a:normAutofit/>
          </a:bodyPr>
          <a:lstStyle/>
          <a:p>
            <a:pPr marL="0" lvl="0" indent="0" algn="just">
              <a:lnSpc>
                <a:spcPct val="150000"/>
              </a:lnSpc>
              <a:spcAft>
                <a:spcPts val="0"/>
              </a:spcAft>
              <a:buNone/>
              <a:tabLst>
                <a:tab pos="457200" algn="l"/>
              </a:tabLst>
            </a:pPr>
            <a:r>
              <a:rPr 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 Hématome</a:t>
            </a:r>
            <a:endParaRPr lang="fr-FR" sz="3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0000"/>
              </a:lnSpc>
              <a:spcAft>
                <a:spcPts val="0"/>
              </a:spcAft>
            </a:pPr>
            <a:r>
              <a:rPr lang="fr-FR" sz="3200" dirty="0">
                <a:latin typeface="Times New Roman" panose="02020603050405020304" pitchFamily="18" charset="0"/>
                <a:ea typeface="Times New Roman" panose="02020603050405020304" pitchFamily="18" charset="0"/>
                <a:cs typeface="Times New Roman" panose="02020603050405020304" pitchFamily="18" charset="0"/>
              </a:rPr>
              <a:t>Il s’agit d’un épanchement de sang autour du point d’injection ; il se voit chez le sujet ayant une fragilité capillaire et des troubles de la coagulation. Cliniquement, le sujet ressent une douleur au niveau de l’hématome.</a:t>
            </a:r>
          </a:p>
          <a:p>
            <a:pPr marL="0" indent="0" algn="just">
              <a:lnSpc>
                <a:spcPct val="150000"/>
              </a:lnSpc>
              <a:spcAft>
                <a:spcPts val="0"/>
              </a:spcAft>
              <a:buNone/>
            </a:pPr>
            <a:r>
              <a:rPr lang="fr-FR" sz="32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Conduite à tenir :</a:t>
            </a:r>
            <a:endParaRPr lang="fr-FR" sz="3200"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50000"/>
              </a:lnSpc>
              <a:spcAft>
                <a:spcPts val="0"/>
              </a:spcAft>
              <a:buFont typeface="Times New Roman" panose="02020603050405020304" pitchFamily="18" charset="0"/>
              <a:buChar char="-"/>
              <a:tabLst>
                <a:tab pos="457200" algn="l"/>
              </a:tabLst>
            </a:pPr>
            <a:r>
              <a:rPr lang="fr-FR" sz="3200" dirty="0" smtClean="0">
                <a:latin typeface="Times New Roman" panose="02020603050405020304" pitchFamily="18" charset="0"/>
                <a:ea typeface="Times New Roman" panose="02020603050405020304" pitchFamily="18" charset="0"/>
                <a:cs typeface="Times New Roman" panose="02020603050405020304" pitchFamily="18" charset="0"/>
              </a:rPr>
              <a:t>Faire </a:t>
            </a:r>
            <a:r>
              <a:rPr lang="fr-FR" sz="3200" dirty="0">
                <a:latin typeface="Times New Roman" panose="02020603050405020304" pitchFamily="18" charset="0"/>
                <a:ea typeface="Times New Roman" panose="02020603050405020304" pitchFamily="18" charset="0"/>
                <a:cs typeface="Times New Roman" panose="02020603050405020304" pitchFamily="18" charset="0"/>
              </a:rPr>
              <a:t>un pansement alcoolisé sur </a:t>
            </a:r>
            <a:r>
              <a:rPr lang="fr-FR" sz="3200" dirty="0" smtClean="0">
                <a:latin typeface="Times New Roman" panose="02020603050405020304" pitchFamily="18" charset="0"/>
                <a:ea typeface="Times New Roman" panose="02020603050405020304" pitchFamily="18" charset="0"/>
                <a:cs typeface="Times New Roman" panose="02020603050405020304" pitchFamily="18" charset="0"/>
              </a:rPr>
              <a:t>l’hématome</a:t>
            </a:r>
            <a:endParaRPr lang="fr-FR"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31062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53143" y="1129937"/>
            <a:ext cx="10972800" cy="4389120"/>
          </a:xfrm>
        </p:spPr>
        <p:txBody>
          <a:bodyPr>
            <a:normAutofit lnSpcReduction="10000"/>
          </a:bodyPr>
          <a:lstStyle/>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3. Lymphangite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Elle se traduit par une traînée rouge et douloureuse le long du membre et une augmentation de la température ; elle est due a une faute d’asepsie</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Conduite à tenir :</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Changement d’emplacement de la perfusion</a:t>
            </a:r>
          </a:p>
          <a:p>
            <a:pPr lvl="0"/>
            <a:r>
              <a:rPr lang="fr-FR" sz="3200" dirty="0">
                <a:latin typeface="Times New Roman" panose="02020603050405020304" pitchFamily="18" charset="0"/>
                <a:cs typeface="Times New Roman" panose="02020603050405020304" pitchFamily="18" charset="0"/>
              </a:rPr>
              <a:t>Faire un pansement chaud et alcoolisé</a:t>
            </a:r>
          </a:p>
          <a:p>
            <a:pPr lvl="0"/>
            <a:r>
              <a:rPr lang="fr-FR" sz="3200" dirty="0">
                <a:latin typeface="Times New Roman" panose="02020603050405020304" pitchFamily="18" charset="0"/>
                <a:cs typeface="Times New Roman" panose="02020603050405020304" pitchFamily="18" charset="0"/>
              </a:rPr>
              <a:t>Faire une antibiothérapie</a:t>
            </a:r>
          </a:p>
          <a:p>
            <a:endParaRPr lang="fr-FR" dirty="0"/>
          </a:p>
        </p:txBody>
      </p:sp>
    </p:spTree>
    <p:extLst>
      <p:ext uri="{BB962C8B-B14F-4D97-AF65-F5344CB8AC3E}">
        <p14:creationId xmlns:p14="http://schemas.microsoft.com/office/powerpoint/2010/main" val="22813867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74915" y="1108166"/>
            <a:ext cx="10972800" cy="4389120"/>
          </a:xfrm>
        </p:spPr>
        <p:txBody>
          <a:bodyPr/>
          <a:lstStyle/>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4. Sclérose </a:t>
            </a:r>
            <a:r>
              <a:rPr lang="fr-FR" sz="3200" b="1" dirty="0">
                <a:solidFill>
                  <a:srgbClr val="FF0000"/>
                </a:solidFill>
                <a:latin typeface="Times New Roman" panose="02020603050405020304" pitchFamily="18" charset="0"/>
                <a:cs typeface="Times New Roman" panose="02020603050405020304" pitchFamily="18" charset="0"/>
              </a:rPr>
              <a:t>de la veine</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Elle est due a l’irritation de la paroi interne de la veine. Cliniquement le malade ressent une douleur sur le trajet de la veine et le soluté passe difficilement.</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Conduite à tenir :</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 Changer très souvent le lieu de l’injection, si la perfusion doit être maintenue pendant plusieurs jours</a:t>
            </a:r>
          </a:p>
          <a:p>
            <a:endParaRPr lang="fr-FR" dirty="0"/>
          </a:p>
        </p:txBody>
      </p:sp>
    </p:spTree>
    <p:extLst>
      <p:ext uri="{BB962C8B-B14F-4D97-AF65-F5344CB8AC3E}">
        <p14:creationId xmlns:p14="http://schemas.microsoft.com/office/powerpoint/2010/main" val="246859952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151708"/>
            <a:ext cx="10972800" cy="4389120"/>
          </a:xfrm>
        </p:spPr>
        <p:txBody>
          <a:bodyPr>
            <a:normAutofit/>
          </a:bodyPr>
          <a:lstStyle/>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5. Escarres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L’escarre se voit lorsque le soluté passe dans les tissus sous cutanés (uniquement avec les solutés hypertoniques). Cliniquement on a une nécrose locale des tissus.</a:t>
            </a:r>
          </a:p>
          <a:p>
            <a:pPr marL="0" indent="0">
              <a:buNone/>
            </a:pPr>
            <a:r>
              <a:rPr lang="fr-FR" sz="3200" b="1" dirty="0">
                <a:solidFill>
                  <a:srgbClr val="FF0000"/>
                </a:solidFill>
                <a:latin typeface="Times New Roman" panose="02020603050405020304" pitchFamily="18" charset="0"/>
                <a:cs typeface="Times New Roman" panose="02020603050405020304" pitchFamily="18" charset="0"/>
              </a:rPr>
              <a:t>Conduite à tenir :</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Faire la perfusion avec un cathéter veineux ou intranule, ou bien surveiller la perfusion s’il s’agit d’un soluté hypertonique.</a:t>
            </a:r>
          </a:p>
        </p:txBody>
      </p:sp>
    </p:spTree>
    <p:extLst>
      <p:ext uri="{BB962C8B-B14F-4D97-AF65-F5344CB8AC3E}">
        <p14:creationId xmlns:p14="http://schemas.microsoft.com/office/powerpoint/2010/main" val="17296510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87829" y="977537"/>
            <a:ext cx="10972800" cy="4389120"/>
          </a:xfrm>
        </p:spPr>
        <p:txBody>
          <a:bodyPr>
            <a:normAutofit/>
          </a:bodyPr>
          <a:lstStyle/>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6. Interruption </a:t>
            </a:r>
            <a:r>
              <a:rPr lang="fr-FR" sz="3200" b="1" dirty="0">
                <a:solidFill>
                  <a:srgbClr val="FF0000"/>
                </a:solidFill>
                <a:latin typeface="Times New Roman" panose="02020603050405020304" pitchFamily="18" charset="0"/>
                <a:cs typeface="Times New Roman" panose="02020603050405020304" pitchFamily="18" charset="0"/>
              </a:rPr>
              <a:t>des gouttes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Vérifier la position de l’aiguille, la faire bouger légèrement, la tourner ou la soulever et faire glisser un petit bout de coton sous l’embout. Si l’aiguille est bouchée, la changer et recommencer la pose de la perfusion.</a:t>
            </a:r>
          </a:p>
          <a:p>
            <a:pPr marL="0" lvl="0" indent="0">
              <a:buNone/>
            </a:pPr>
            <a:r>
              <a:rPr lang="fr-FR" sz="3200" b="1" dirty="0" smtClean="0">
                <a:solidFill>
                  <a:srgbClr val="FF0000"/>
                </a:solidFill>
                <a:latin typeface="Times New Roman" panose="02020603050405020304" pitchFamily="18" charset="0"/>
                <a:cs typeface="Times New Roman" panose="02020603050405020304" pitchFamily="18" charset="0"/>
              </a:rPr>
              <a:t>7. Le </a:t>
            </a:r>
            <a:r>
              <a:rPr lang="fr-FR" sz="3200" b="1" dirty="0">
                <a:solidFill>
                  <a:srgbClr val="FF0000"/>
                </a:solidFill>
                <a:latin typeface="Times New Roman" panose="02020603050405020304" pitchFamily="18" charset="0"/>
                <a:cs typeface="Times New Roman" panose="02020603050405020304" pitchFamily="18" charset="0"/>
              </a:rPr>
              <a:t>liquide coule sur le bras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Il s’agit probablement d’une mauvaise adaptation de l’aiguille et de l’embout, ou d’une injection trop rapide de </a:t>
            </a:r>
            <a:r>
              <a:rPr lang="fr-FR" sz="3200" dirty="0" smtClean="0">
                <a:latin typeface="Times New Roman" panose="02020603050405020304" pitchFamily="18" charset="0"/>
                <a:cs typeface="Times New Roman" panose="02020603050405020304" pitchFamily="18" charset="0"/>
              </a:rPr>
              <a:t>soluté</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4920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48343" y="287335"/>
            <a:ext cx="11538857"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457200" marR="0" lvl="1" indent="0" algn="l"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Au Plan Général</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Les Céphalées et les Nausées</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Il faut ralentir le débit et surveiller le malade ; si les troubles persistent ou s’aggravent, arrêter la perfusion.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Septicémie</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Elle est due à une faute d’asepsie. Il faudrait donc appliquer une asepsie rigoureuse à toutes les étapes de la technique de la perfusion.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 Choc ou </a:t>
            </a:r>
            <a:r>
              <a:rPr kumimoji="0" lang="fr-FR" altLang="fr-FR" sz="3200" b="1" i="0" u="none" strike="noStrike" cap="none" normalizeH="0" baseline="0" dirty="0" err="1"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shock</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Devant l’apparition de la sueur, la pâleur du visage, l’agitation, les frissons, une soif intense, il faut arrêter la perfusion </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et administrer des corticoïdes et faire si possible une oxygénothérapie.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68665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Grp="1" noChangeArrowheads="1"/>
          </p:cNvSpPr>
          <p:nvPr>
            <p:ph type="title"/>
          </p:nvPr>
        </p:nvSpPr>
        <p:spPr bwMode="auto">
          <a:xfrm>
            <a:off x="1262743" y="2628030"/>
            <a:ext cx="9622971" cy="1344599"/>
          </a:xfrm>
          <a:prstGeom prst="rect">
            <a:avLst/>
          </a:prstGeo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scene3d>
              <a:camera prst="orthographicFront"/>
              <a:lightRig rig="freezing" dir="t">
                <a:rot lat="0" lon="0" rev="5640000"/>
              </a:lightRig>
            </a:scene3d>
            <a:sp3d prstMaterial="flat">
              <a:contourClr>
                <a:schemeClr val="tx2"/>
              </a:contourClr>
            </a:sp3d>
          </a:bodyPr>
          <a:lstStyle/>
          <a:p>
            <a:pPr marL="0" marR="0" lvl="0" indent="0" algn="ctr" defTabSz="914400" rtl="0" eaLnBrk="0" fontAlgn="base" latinLnBrk="0" hangingPunct="0">
              <a:lnSpc>
                <a:spcPct val="200000"/>
              </a:lnSpc>
              <a:spcBef>
                <a:spcPts val="600"/>
              </a:spcBef>
              <a:spcAft>
                <a:spcPts val="1200"/>
              </a:spcAft>
              <a:buClrTx/>
              <a:buSzTx/>
              <a:buFontTx/>
              <a:buNone/>
              <a:tabLst/>
            </a:pPr>
            <a:r>
              <a:rPr kumimoji="0" lang="fr-FR" altLang="fr-FR" sz="48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TRANSFUSION SANGUINE</a:t>
            </a:r>
            <a:endParaRPr kumimoji="0" lang="fr-FR" altLang="fr-FR" sz="4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1741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5942" y="217714"/>
            <a:ext cx="11756571" cy="6400800"/>
          </a:xfrm>
        </p:spPr>
        <p:txBody>
          <a:bodyPr>
            <a:noAutofit/>
          </a:bodyPr>
          <a:lstStyle/>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 GENERAL</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smtClean="0">
                <a:latin typeface="Times New Roman" panose="02020603050405020304" pitchFamily="18" charset="0"/>
                <a:cs typeface="Times New Roman" panose="02020603050405020304" pitchFamily="18" charset="0"/>
              </a:rPr>
              <a:t>acquérir </a:t>
            </a:r>
            <a:r>
              <a:rPr lang="fr-FR" sz="3200" dirty="0">
                <a:latin typeface="Times New Roman" panose="02020603050405020304" pitchFamily="18" charset="0"/>
                <a:cs typeface="Times New Roman" panose="02020603050405020304" pitchFamily="18" charset="0"/>
              </a:rPr>
              <a:t>des notions sur la transfusion sanguine.</a:t>
            </a:r>
          </a:p>
          <a:p>
            <a:pPr marL="0" indent="0">
              <a:buNone/>
            </a:pPr>
            <a:r>
              <a:rPr lang="fr-FR" sz="3200" u="sng" dirty="0">
                <a:solidFill>
                  <a:srgbClr val="C00000"/>
                </a:solidFill>
                <a:latin typeface="Times New Roman" panose="02020603050405020304" pitchFamily="18" charset="0"/>
                <a:cs typeface="Times New Roman" panose="02020603050405020304" pitchFamily="18" charset="0"/>
              </a:rPr>
              <a:t>OBJECTIFS </a:t>
            </a:r>
            <a:r>
              <a:rPr lang="fr-FR" sz="3200" u="sng" dirty="0" smtClean="0">
                <a:solidFill>
                  <a:srgbClr val="C00000"/>
                </a:solidFill>
                <a:latin typeface="Times New Roman" panose="02020603050405020304" pitchFamily="18" charset="0"/>
                <a:cs typeface="Times New Roman" panose="02020603050405020304" pitchFamily="18" charset="0"/>
              </a:rPr>
              <a:t>SPECIFIQUES:</a:t>
            </a:r>
            <a:r>
              <a:rPr lang="fr-FR" sz="3200" dirty="0">
                <a:solidFill>
                  <a:srgbClr val="C00000"/>
                </a:solidFill>
                <a:latin typeface="Times New Roman" panose="02020603050405020304" pitchFamily="18" charset="0"/>
                <a:cs typeface="Times New Roman" panose="02020603050405020304" pitchFamily="18" charset="0"/>
              </a:rPr>
              <a:t> </a:t>
            </a:r>
            <a:r>
              <a:rPr lang="fr-FR" sz="3200" dirty="0" smtClean="0">
                <a:solidFill>
                  <a:srgbClr val="FF0000"/>
                </a:solidFill>
                <a:latin typeface="Times New Roman" panose="02020603050405020304" pitchFamily="18" charset="0"/>
                <a:cs typeface="Times New Roman" panose="02020603050405020304" pitchFamily="18" charset="0"/>
              </a:rPr>
              <a:t> </a:t>
            </a:r>
            <a:r>
              <a:rPr lang="fr-FR" sz="3200" dirty="0">
                <a:solidFill>
                  <a:srgbClr val="FF0000"/>
                </a:solidFill>
                <a:latin typeface="Times New Roman" panose="02020603050405020304" pitchFamily="18" charset="0"/>
                <a:cs typeface="Times New Roman" panose="02020603050405020304" pitchFamily="18" charset="0"/>
              </a:rPr>
              <a:t>être </a:t>
            </a:r>
            <a:r>
              <a:rPr lang="fr-FR" sz="3200" dirty="0" smtClean="0">
                <a:solidFill>
                  <a:srgbClr val="FF0000"/>
                </a:solidFill>
                <a:latin typeface="Times New Roman" panose="02020603050405020304" pitchFamily="18" charset="0"/>
                <a:cs typeface="Times New Roman" panose="02020603050405020304" pitchFamily="18" charset="0"/>
              </a:rPr>
              <a:t>capable</a:t>
            </a:r>
            <a:r>
              <a:rPr lang="fr-FR" sz="3200" dirty="0">
                <a:solidFill>
                  <a:srgbClr val="FF0000"/>
                </a:solidFill>
                <a:latin typeface="Times New Roman" panose="02020603050405020304" pitchFamily="18" charset="0"/>
                <a:cs typeface="Times New Roman" panose="02020603050405020304" pitchFamily="18" charset="0"/>
              </a:rPr>
              <a:t> </a:t>
            </a:r>
            <a:r>
              <a:rPr lang="fr-FR" sz="3200" dirty="0" smtClean="0">
                <a:solidFill>
                  <a:srgbClr val="FF0000"/>
                </a:solidFill>
                <a:latin typeface="Times New Roman" panose="02020603050405020304" pitchFamily="18" charset="0"/>
                <a:cs typeface="Times New Roman" panose="02020603050405020304" pitchFamily="18" charset="0"/>
              </a:rPr>
              <a:t>de:</a:t>
            </a:r>
            <a:endParaRPr lang="fr-FR" sz="3200" dirty="0">
              <a:latin typeface="Times New Roman" panose="02020603050405020304" pitchFamily="18" charset="0"/>
              <a:cs typeface="Times New Roman" panose="02020603050405020304" pitchFamily="18" charset="0"/>
            </a:endParaRPr>
          </a:p>
          <a:p>
            <a:pPr lvl="0"/>
            <a:r>
              <a:rPr lang="fr-FR" sz="3200" dirty="0" smtClean="0">
                <a:latin typeface="Times New Roman" panose="02020603050405020304" pitchFamily="18" charset="0"/>
                <a:cs typeface="Times New Roman" panose="02020603050405020304" pitchFamily="18" charset="0"/>
              </a:rPr>
              <a:t>définir </a:t>
            </a:r>
            <a:r>
              <a:rPr lang="fr-FR" sz="3200" dirty="0">
                <a:latin typeface="Times New Roman" panose="02020603050405020304" pitchFamily="18" charset="0"/>
                <a:cs typeface="Times New Roman" panose="02020603050405020304" pitchFamily="18" charset="0"/>
              </a:rPr>
              <a:t>selon le cours, la transfusion </a:t>
            </a:r>
            <a:r>
              <a:rPr lang="fr-FR" sz="3200" dirty="0" smtClean="0">
                <a:latin typeface="Times New Roman" panose="02020603050405020304" pitchFamily="18" charset="0"/>
                <a:cs typeface="Times New Roman" panose="02020603050405020304" pitchFamily="18" charset="0"/>
              </a:rPr>
              <a:t>sanguine</a:t>
            </a:r>
          </a:p>
          <a:p>
            <a:pPr lvl="0"/>
            <a:r>
              <a:rPr lang="fr-FR" sz="3200" dirty="0" smtClean="0">
                <a:latin typeface="Times New Roman" panose="02020603050405020304" pitchFamily="18" charset="0"/>
                <a:cs typeface="Times New Roman" panose="02020603050405020304" pitchFamily="18" charset="0"/>
              </a:rPr>
              <a:t>énumérer </a:t>
            </a:r>
            <a:r>
              <a:rPr lang="fr-FR" sz="3200" dirty="0">
                <a:latin typeface="Times New Roman" panose="02020603050405020304" pitchFamily="18" charset="0"/>
                <a:cs typeface="Times New Roman" panose="02020603050405020304" pitchFamily="18" charset="0"/>
              </a:rPr>
              <a:t>les indications et contre-indications de la </a:t>
            </a:r>
            <a:r>
              <a:rPr lang="fr-FR" sz="3200" dirty="0" smtClean="0">
                <a:latin typeface="Times New Roman" panose="02020603050405020304" pitchFamily="18" charset="0"/>
                <a:cs typeface="Times New Roman" panose="02020603050405020304" pitchFamily="18" charset="0"/>
              </a:rPr>
              <a:t>transfusion</a:t>
            </a:r>
          </a:p>
          <a:p>
            <a:pPr lvl="0"/>
            <a:r>
              <a:rPr lang="fr-FR" sz="3200" dirty="0" smtClean="0">
                <a:latin typeface="Times New Roman" panose="02020603050405020304" pitchFamily="18" charset="0"/>
                <a:cs typeface="Times New Roman" panose="02020603050405020304" pitchFamily="18" charset="0"/>
              </a:rPr>
              <a:t>indiquer </a:t>
            </a:r>
            <a:r>
              <a:rPr lang="fr-FR" sz="3200" dirty="0">
                <a:latin typeface="Times New Roman" panose="02020603050405020304" pitchFamily="18" charset="0"/>
                <a:cs typeface="Times New Roman" panose="02020603050405020304" pitchFamily="18" charset="0"/>
              </a:rPr>
              <a:t>les précautions à prendre dans le transport du sang, dans la préparation et lors de la transfusion;</a:t>
            </a:r>
          </a:p>
          <a:p>
            <a:pPr lvl="0"/>
            <a:r>
              <a:rPr lang="fr-FR" sz="3200" dirty="0" smtClean="0">
                <a:latin typeface="Times New Roman" panose="02020603050405020304" pitchFamily="18" charset="0"/>
                <a:cs typeface="Times New Roman" panose="02020603050405020304" pitchFamily="18" charset="0"/>
              </a:rPr>
              <a:t>citer le </a:t>
            </a:r>
            <a:r>
              <a:rPr lang="fr-FR" sz="3200" dirty="0">
                <a:latin typeface="Times New Roman" panose="02020603050405020304" pitchFamily="18" charset="0"/>
                <a:cs typeface="Times New Roman" panose="02020603050405020304" pitchFamily="18" charset="0"/>
              </a:rPr>
              <a:t>matériel courant, le matériel de protection et le matériel spécifique de la transfusion;</a:t>
            </a:r>
          </a:p>
          <a:p>
            <a:pPr lvl="0"/>
            <a:r>
              <a:rPr lang="fr-FR" sz="3200" dirty="0" smtClean="0">
                <a:latin typeface="Times New Roman" panose="02020603050405020304" pitchFamily="18" charset="0"/>
                <a:cs typeface="Times New Roman" panose="02020603050405020304" pitchFamily="18" charset="0"/>
              </a:rPr>
              <a:t>décrire </a:t>
            </a:r>
            <a:r>
              <a:rPr lang="fr-FR" sz="3200" dirty="0">
                <a:latin typeface="Times New Roman" panose="02020603050405020304" pitchFamily="18" charset="0"/>
                <a:cs typeface="Times New Roman" panose="02020603050405020304" pitchFamily="18" charset="0"/>
              </a:rPr>
              <a:t>la technique de la transfusion sanguine;</a:t>
            </a:r>
          </a:p>
          <a:p>
            <a:pPr lvl="0"/>
            <a:r>
              <a:rPr lang="fr-FR" sz="3200" dirty="0">
                <a:latin typeface="Times New Roman" panose="02020603050405020304" pitchFamily="18" charset="0"/>
                <a:cs typeface="Times New Roman" panose="02020603050405020304" pitchFamily="18" charset="0"/>
              </a:rPr>
              <a:t>de citer tous les accidents et incidents de la transfusion sanguine.</a:t>
            </a:r>
          </a:p>
        </p:txBody>
      </p:sp>
    </p:spTree>
    <p:extLst>
      <p:ext uri="{BB962C8B-B14F-4D97-AF65-F5344CB8AC3E}">
        <p14:creationId xmlns:p14="http://schemas.microsoft.com/office/powerpoint/2010/main" val="133409303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1935480"/>
            <a:ext cx="10972800" cy="3333206"/>
          </a:xfrm>
        </p:spPr>
        <p:txBody>
          <a:bodyPr>
            <a:norm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DEFINITION</a:t>
            </a:r>
            <a:endParaRPr lang="fr-FR"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La transfusion consiste à faire passer du sang iso groupe iso rhésus, (ou de ses dérivés : plasma, sérum), d’un sujet appelé ‘’donneur’’, directement dans la circulation veineuse d’un autre sujet appelé ‘’récepteur’’ ou ‘’receveur’’.</a:t>
            </a:r>
          </a:p>
        </p:txBody>
      </p:sp>
    </p:spTree>
    <p:extLst>
      <p:ext uri="{BB962C8B-B14F-4D97-AF65-F5344CB8AC3E}">
        <p14:creationId xmlns:p14="http://schemas.microsoft.com/office/powerpoint/2010/main" val="3133797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74914" y="1195251"/>
            <a:ext cx="10972800" cy="4389120"/>
          </a:xfrm>
        </p:spPr>
        <p:txBody>
          <a:bodyPr>
            <a:normAutofit fontScale="92500" lnSpcReduction="20000"/>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INDICATIONS ET CONTRE-INDICATIONS</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b="1" dirty="0" smtClean="0">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Indications de la transfusion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les anémies sévères</a:t>
            </a:r>
          </a:p>
          <a:p>
            <a:pPr lvl="0"/>
            <a:r>
              <a:rPr lang="fr-FR" sz="3200" dirty="0">
                <a:latin typeface="Times New Roman" panose="02020603050405020304" pitchFamily="18" charset="0"/>
                <a:cs typeface="Times New Roman" panose="02020603050405020304" pitchFamily="18" charset="0"/>
              </a:rPr>
              <a:t>l’état de choc</a:t>
            </a:r>
          </a:p>
          <a:p>
            <a:pPr lvl="0"/>
            <a:r>
              <a:rPr lang="fr-FR" sz="3200" dirty="0">
                <a:latin typeface="Times New Roman" panose="02020603050405020304" pitchFamily="18" charset="0"/>
                <a:cs typeface="Times New Roman" panose="02020603050405020304" pitchFamily="18" charset="0"/>
              </a:rPr>
              <a:t>actions de remplissage en remplacement du sang perdu</a:t>
            </a:r>
          </a:p>
          <a:p>
            <a:pPr lvl="0"/>
            <a:r>
              <a:rPr lang="fr-FR" sz="3200" dirty="0">
                <a:latin typeface="Times New Roman" panose="02020603050405020304" pitchFamily="18" charset="0"/>
                <a:cs typeface="Times New Roman" panose="02020603050405020304" pitchFamily="18" charset="0"/>
              </a:rPr>
              <a:t>action hémostatique</a:t>
            </a:r>
          </a:p>
          <a:p>
            <a:pPr lvl="0"/>
            <a:r>
              <a:rPr lang="fr-FR" sz="3200" dirty="0">
                <a:latin typeface="Times New Roman" panose="02020603050405020304" pitchFamily="18" charset="0"/>
                <a:cs typeface="Times New Roman" panose="02020603050405020304" pitchFamily="18" charset="0"/>
              </a:rPr>
              <a:t>action </a:t>
            </a:r>
            <a:r>
              <a:rPr lang="fr-FR" sz="3200" dirty="0" err="1">
                <a:latin typeface="Times New Roman" panose="02020603050405020304" pitchFamily="18" charset="0"/>
                <a:cs typeface="Times New Roman" panose="02020603050405020304" pitchFamily="18" charset="0"/>
              </a:rPr>
              <a:t>anti-anémique</a:t>
            </a:r>
            <a:r>
              <a:rPr lang="fr-FR" sz="3200" dirty="0">
                <a:latin typeface="Times New Roman" panose="02020603050405020304" pitchFamily="18" charset="0"/>
                <a:cs typeface="Times New Roman" panose="02020603050405020304" pitchFamily="18" charset="0"/>
              </a:rPr>
              <a:t>, anti-infectieux et </a:t>
            </a:r>
            <a:r>
              <a:rPr lang="fr-FR" sz="3200" dirty="0" err="1" smtClean="0">
                <a:latin typeface="Times New Roman" panose="02020603050405020304" pitchFamily="18" charset="0"/>
                <a:cs typeface="Times New Roman" panose="02020603050405020304" pitchFamily="18" charset="0"/>
              </a:rPr>
              <a:t>anti-toxique</a:t>
            </a:r>
            <a:endParaRPr lang="fr-FR" sz="3200" dirty="0">
              <a:latin typeface="Times New Roman" panose="02020603050405020304" pitchFamily="18" charset="0"/>
              <a:cs typeface="Times New Roman" panose="02020603050405020304" pitchFamily="18" charset="0"/>
            </a:endParaRPr>
          </a:p>
          <a:p>
            <a:pPr marL="0" lvl="0" indent="0">
              <a:buNone/>
            </a:pPr>
            <a:r>
              <a:rPr lang="fr-FR" sz="3200" b="1" dirty="0" smtClean="0">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contres indications</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Les contre indications sont ceux de la perfusion.</a:t>
            </a:r>
          </a:p>
          <a:p>
            <a:endParaRPr lang="fr-FR" dirty="0"/>
          </a:p>
        </p:txBody>
      </p:sp>
    </p:spTree>
    <p:extLst>
      <p:ext uri="{BB962C8B-B14F-4D97-AF65-F5344CB8AC3E}">
        <p14:creationId xmlns:p14="http://schemas.microsoft.com/office/powerpoint/2010/main" val="29175719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825137"/>
            <a:ext cx="10972800" cy="5597434"/>
          </a:xfrm>
        </p:spPr>
        <p:txBody>
          <a:bodyPr>
            <a:no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PRECAUTIONS A PRENDRE</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Dans le Transport</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Le sang ne doit pas rester longtemps hors du réfrigérateur ; il faudra aller le chercher au dernier moment</a:t>
            </a:r>
          </a:p>
          <a:p>
            <a:pPr lvl="0"/>
            <a:r>
              <a:rPr lang="fr-FR" sz="3200" dirty="0">
                <a:latin typeface="Times New Roman" panose="02020603050405020304" pitchFamily="18" charset="0"/>
                <a:cs typeface="Times New Roman" panose="02020603050405020304" pitchFamily="18" charset="0"/>
              </a:rPr>
              <a:t>Ne jamais commander un flacon de sang par téléphone, mais aller à la banque de sang avec un bon et la carte de groupe sanguin et facteur rhésus du malade.</a:t>
            </a:r>
          </a:p>
          <a:p>
            <a:pPr lvl="0"/>
            <a:r>
              <a:rPr lang="fr-FR" sz="3200" dirty="0">
                <a:latin typeface="Times New Roman" panose="02020603050405020304" pitchFamily="18" charset="0"/>
                <a:cs typeface="Times New Roman" panose="02020603050405020304" pitchFamily="18" charset="0"/>
              </a:rPr>
              <a:t>Ne pas secouer le sang lors du transport ; penser que c’est un liquide fragile</a:t>
            </a:r>
          </a:p>
          <a:p>
            <a:pPr lvl="0"/>
            <a:r>
              <a:rPr lang="fr-FR" sz="3200" dirty="0">
                <a:latin typeface="Times New Roman" panose="02020603050405020304" pitchFamily="18" charset="0"/>
                <a:cs typeface="Times New Roman" panose="02020603050405020304" pitchFamily="18" charset="0"/>
              </a:rPr>
              <a:t>Assurer le transport dans une glacière</a:t>
            </a:r>
          </a:p>
        </p:txBody>
      </p:sp>
    </p:spTree>
    <p:extLst>
      <p:ext uri="{BB962C8B-B14F-4D97-AF65-F5344CB8AC3E}">
        <p14:creationId xmlns:p14="http://schemas.microsoft.com/office/powerpoint/2010/main" val="39607143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90954" y="1152812"/>
            <a:ext cx="1052732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Dans la Préparation</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Utiliser toujours du sang iso groupe, iso rhésus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Vérifier la date limite d’utilisation (pas plus de 10 jours) et surtout le groupe et le facteur rhésus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Ne pas réchauffer le sang, mais le laisser à la température ambiante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Si le sang ne doit pas être utilisé immédiatement, le conserver dans une glacière à température de +4°C</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7618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13657" y="1260566"/>
            <a:ext cx="10972800" cy="5053148"/>
          </a:xfrm>
        </p:spPr>
        <p:txBody>
          <a:bodyPr>
            <a:noAutofit/>
          </a:bodyPr>
          <a:lstStyle/>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Lors de la transfusion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Revérifier juste avant la pose, l’étiquette du flacon et la carte du groupe sanguin du malade</a:t>
            </a:r>
          </a:p>
          <a:p>
            <a:pPr lvl="0"/>
            <a:r>
              <a:rPr lang="fr-FR" sz="3200" dirty="0">
                <a:latin typeface="Times New Roman" panose="02020603050405020304" pitchFamily="18" charset="0"/>
                <a:cs typeface="Times New Roman" panose="02020603050405020304" pitchFamily="18" charset="0"/>
              </a:rPr>
              <a:t>Faire couler le sang lentement, à raison de 10 à 30 gouttes à la minute. Ne jamais faire passer simultanément ou successivement, du sang et un soluté glucosé, ce qui aurait pour conséquence de provoquer une hémolyse des globules rouges</a:t>
            </a:r>
          </a:p>
          <a:p>
            <a:pPr lvl="0"/>
            <a:r>
              <a:rPr lang="fr-FR" sz="3200" dirty="0">
                <a:latin typeface="Times New Roman" panose="02020603050405020304" pitchFamily="18" charset="0"/>
                <a:cs typeface="Times New Roman" panose="02020603050405020304" pitchFamily="18" charset="0"/>
              </a:rPr>
              <a:t>Surveiller de près la transfusion et arrêter celle-ci immédiatement au moindre frisson ou signe de Choc</a:t>
            </a:r>
          </a:p>
        </p:txBody>
      </p:sp>
    </p:spTree>
    <p:extLst>
      <p:ext uri="{BB962C8B-B14F-4D97-AF65-F5344CB8AC3E}">
        <p14:creationId xmlns:p14="http://schemas.microsoft.com/office/powerpoint/2010/main" val="3466848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44286" y="1238795"/>
            <a:ext cx="10972800" cy="4389120"/>
          </a:xfrm>
        </p:spPr>
        <p:txBody>
          <a:bodyPr>
            <a:normAutofit lnSpcReduction="10000"/>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 MATERIEL</a:t>
            </a:r>
            <a:endParaRPr lang="fr-FR" sz="3200" dirty="0">
              <a:solidFill>
                <a:srgbClr val="C00000"/>
              </a:solidFill>
              <a:latin typeface="Times New Roman" panose="02020603050405020304" pitchFamily="18" charset="0"/>
              <a:cs typeface="Times New Roman" panose="02020603050405020304" pitchFamily="18" charset="0"/>
            </a:endParaRPr>
          </a:p>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Le Matériel Courant</a:t>
            </a:r>
            <a:endParaRPr lang="fr-FR" sz="3200" dirty="0">
              <a:solidFill>
                <a:srgbClr val="FF0000"/>
              </a:solidFill>
              <a:latin typeface="Times New Roman" panose="02020603050405020304" pitchFamily="18" charset="0"/>
              <a:cs typeface="Times New Roman" panose="02020603050405020304" pitchFamily="18" charset="0"/>
            </a:endParaRPr>
          </a:p>
          <a:p>
            <a:pPr lvl="2"/>
            <a:r>
              <a:rPr lang="fr-FR" sz="3200" dirty="0">
                <a:latin typeface="Times New Roman" panose="02020603050405020304" pitchFamily="18" charset="0"/>
                <a:cs typeface="Times New Roman" panose="02020603050405020304" pitchFamily="18" charset="0"/>
              </a:rPr>
              <a:t>un chariot</a:t>
            </a:r>
          </a:p>
          <a:p>
            <a:pPr lvl="2"/>
            <a:r>
              <a:rPr lang="fr-FR" sz="3200" dirty="0">
                <a:latin typeface="Times New Roman" panose="02020603050405020304" pitchFamily="18" charset="0"/>
                <a:cs typeface="Times New Roman" panose="02020603050405020304" pitchFamily="18" charset="0"/>
              </a:rPr>
              <a:t>un haricot</a:t>
            </a:r>
          </a:p>
          <a:p>
            <a:pPr lvl="2"/>
            <a:r>
              <a:rPr lang="fr-FR" sz="3200" dirty="0">
                <a:latin typeface="Times New Roman" panose="02020603050405020304" pitchFamily="18" charset="0"/>
                <a:cs typeface="Times New Roman" panose="02020603050405020304" pitchFamily="18" charset="0"/>
              </a:rPr>
              <a:t>un grand plateau propre et un petit plateau stérile</a:t>
            </a:r>
          </a:p>
          <a:p>
            <a:pPr lvl="2"/>
            <a:r>
              <a:rPr lang="fr-FR" sz="3200" dirty="0">
                <a:latin typeface="Times New Roman" panose="02020603050405020304" pitchFamily="18" charset="0"/>
                <a:cs typeface="Times New Roman" panose="02020603050405020304" pitchFamily="18" charset="0"/>
              </a:rPr>
              <a:t>une boite d’allumettes</a:t>
            </a:r>
          </a:p>
          <a:p>
            <a:pPr lvl="2"/>
            <a:r>
              <a:rPr lang="fr-FR" sz="3200" dirty="0">
                <a:latin typeface="Times New Roman" panose="02020603050405020304" pitchFamily="18" charset="0"/>
                <a:cs typeface="Times New Roman" panose="02020603050405020304" pitchFamily="18" charset="0"/>
              </a:rPr>
              <a:t>un savon</a:t>
            </a:r>
          </a:p>
          <a:p>
            <a:pPr lvl="2"/>
            <a:r>
              <a:rPr lang="fr-FR" sz="3200" dirty="0">
                <a:latin typeface="Times New Roman" panose="02020603050405020304" pitchFamily="18" charset="0"/>
                <a:cs typeface="Times New Roman" panose="02020603050405020304" pitchFamily="18" charset="0"/>
              </a:rPr>
              <a:t>une serviette</a:t>
            </a:r>
          </a:p>
          <a:p>
            <a:endParaRPr lang="fr-FR" dirty="0"/>
          </a:p>
        </p:txBody>
      </p:sp>
    </p:spTree>
    <p:extLst>
      <p:ext uri="{BB962C8B-B14F-4D97-AF65-F5344CB8AC3E}">
        <p14:creationId xmlns:p14="http://schemas.microsoft.com/office/powerpoint/2010/main" val="15353702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19200" y="1412966"/>
            <a:ext cx="8948057" cy="3812177"/>
          </a:xfrm>
        </p:spPr>
        <p:txBody>
          <a:bodyPr/>
          <a:lstStyle/>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 Matériel d’asepsie et de Protection</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alcool à 90° ou l’alcool  iodé</a:t>
            </a:r>
          </a:p>
          <a:p>
            <a:pPr lvl="0"/>
            <a:r>
              <a:rPr lang="fr-FR" sz="3200" dirty="0">
                <a:latin typeface="Times New Roman" panose="02020603050405020304" pitchFamily="18" charset="0"/>
                <a:cs typeface="Times New Roman" panose="02020603050405020304" pitchFamily="18" charset="0"/>
              </a:rPr>
              <a:t>des compresses stériles</a:t>
            </a:r>
          </a:p>
          <a:p>
            <a:pPr lvl="0"/>
            <a:r>
              <a:rPr lang="fr-FR" sz="3200" dirty="0">
                <a:latin typeface="Times New Roman" panose="02020603050405020304" pitchFamily="18" charset="0"/>
                <a:cs typeface="Times New Roman" panose="02020603050405020304" pitchFamily="18" charset="0"/>
              </a:rPr>
              <a:t>du coton</a:t>
            </a:r>
          </a:p>
          <a:p>
            <a:pPr lvl="0"/>
            <a:r>
              <a:rPr lang="fr-FR" sz="3200" dirty="0">
                <a:latin typeface="Times New Roman" panose="02020603050405020304" pitchFamily="18" charset="0"/>
                <a:cs typeface="Times New Roman" panose="02020603050405020304" pitchFamily="18" charset="0"/>
              </a:rPr>
              <a:t>une alèse</a:t>
            </a:r>
          </a:p>
          <a:p>
            <a:pPr lvl="0"/>
            <a:r>
              <a:rPr lang="fr-FR" sz="3200" dirty="0">
                <a:latin typeface="Times New Roman" panose="02020603050405020304" pitchFamily="18" charset="0"/>
                <a:cs typeface="Times New Roman" panose="02020603050405020304" pitchFamily="18" charset="0"/>
              </a:rPr>
              <a:t>une paire de gants stériles</a:t>
            </a:r>
          </a:p>
          <a:p>
            <a:endParaRPr lang="fr-FR" dirty="0"/>
          </a:p>
        </p:txBody>
      </p:sp>
    </p:spTree>
    <p:extLst>
      <p:ext uri="{BB962C8B-B14F-4D97-AF65-F5344CB8AC3E}">
        <p14:creationId xmlns:p14="http://schemas.microsoft.com/office/powerpoint/2010/main" val="372963197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18457" y="846909"/>
            <a:ext cx="10972800" cy="5379720"/>
          </a:xfrm>
        </p:spPr>
        <p:txBody>
          <a:bodyPr>
            <a:noAutofit/>
          </a:bodyPr>
          <a:lstStyle/>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dirty="0">
                <a:solidFill>
                  <a:srgbClr val="FF0000"/>
                </a:solidFill>
                <a:latin typeface="Times New Roman" panose="02020603050405020304" pitchFamily="18" charset="0"/>
                <a:cs typeface="Times New Roman" panose="02020603050405020304" pitchFamily="18" charset="0"/>
              </a:rPr>
              <a:t>Le Matériel Spécifique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un garrot</a:t>
            </a:r>
          </a:p>
          <a:p>
            <a:pPr lvl="0"/>
            <a:r>
              <a:rPr lang="fr-FR" sz="3200" dirty="0">
                <a:latin typeface="Times New Roman" panose="02020603050405020304" pitchFamily="18" charset="0"/>
                <a:cs typeface="Times New Roman" panose="02020603050405020304" pitchFamily="18" charset="0"/>
              </a:rPr>
              <a:t>un transfuseur sous conditionnement stérile</a:t>
            </a:r>
          </a:p>
          <a:p>
            <a:pPr lvl="0"/>
            <a:r>
              <a:rPr lang="fr-FR" sz="3200" dirty="0">
                <a:latin typeface="Times New Roman" panose="02020603050405020304" pitchFamily="18" charset="0"/>
                <a:cs typeface="Times New Roman" panose="02020603050405020304" pitchFamily="18" charset="0"/>
              </a:rPr>
              <a:t>du sparadrap</a:t>
            </a:r>
          </a:p>
          <a:p>
            <a:pPr lvl="0"/>
            <a:r>
              <a:rPr lang="fr-FR" sz="3200" dirty="0">
                <a:latin typeface="Times New Roman" panose="02020603050405020304" pitchFamily="18" charset="0"/>
                <a:cs typeface="Times New Roman" panose="02020603050405020304" pitchFamily="18" charset="0"/>
              </a:rPr>
              <a:t>un flacon de sang ou son dérivé à transfuser</a:t>
            </a:r>
          </a:p>
          <a:p>
            <a:pPr lvl="0"/>
            <a:r>
              <a:rPr lang="fr-FR" sz="3200" dirty="0">
                <a:latin typeface="Times New Roman" panose="02020603050405020304" pitchFamily="18" charset="0"/>
                <a:cs typeface="Times New Roman" panose="02020603050405020304" pitchFamily="18" charset="0"/>
              </a:rPr>
              <a:t>une potence</a:t>
            </a:r>
          </a:p>
          <a:p>
            <a:pPr lvl="0"/>
            <a:r>
              <a:rPr lang="fr-FR" sz="3200" dirty="0">
                <a:latin typeface="Times New Roman" panose="02020603050405020304" pitchFamily="18" charset="0"/>
                <a:cs typeface="Times New Roman" panose="02020603050405020304" pitchFamily="18" charset="0"/>
              </a:rPr>
              <a:t>un cathéter veineux ou intranule</a:t>
            </a:r>
          </a:p>
          <a:p>
            <a:pPr lvl="0"/>
            <a:r>
              <a:rPr lang="fr-FR" sz="3200" dirty="0">
                <a:latin typeface="Times New Roman" panose="02020603050405020304" pitchFamily="18" charset="0"/>
                <a:cs typeface="Times New Roman" panose="02020603050405020304" pitchFamily="18" charset="0"/>
              </a:rPr>
              <a:t>une montre avec trotteuse</a:t>
            </a:r>
          </a:p>
          <a:p>
            <a:pPr lvl="0"/>
            <a:r>
              <a:rPr lang="fr-FR" sz="3200" dirty="0">
                <a:latin typeface="Times New Roman" panose="02020603050405020304" pitchFamily="18" charset="0"/>
                <a:cs typeface="Times New Roman" panose="02020603050405020304" pitchFamily="18" charset="0"/>
              </a:rPr>
              <a:t>une paire de ciseaux</a:t>
            </a:r>
          </a:p>
        </p:txBody>
      </p:sp>
    </p:spTree>
    <p:extLst>
      <p:ext uri="{BB962C8B-B14F-4D97-AF65-F5344CB8AC3E}">
        <p14:creationId xmlns:p14="http://schemas.microsoft.com/office/powerpoint/2010/main" val="205682556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13657" y="1120919"/>
            <a:ext cx="1123405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TECHNIQUE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Préparation de la Transfusion</a:t>
            </a:r>
            <a:endParaRPr kumimoji="0" lang="fr-FR" altLang="fr-FR"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préparation doit se faire au lit du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malade</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laver les mains à l’eau et au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savon</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mains à l’alcool ou porter des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gants</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flamber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plateau s’il n’est pas stérile, et le laisser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refroidir</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sortir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transfuseur de son emballage et le déposer dans le plateau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stérile</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aseptiser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l’embout du flacon de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sang</a:t>
            </a:r>
            <a:endParaRPr lang="fr-FR" altLang="fr-FR" sz="3200" dirty="0">
              <a:latin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fermer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raccord avec le presse tube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44445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91885" y="892629"/>
            <a:ext cx="11386457" cy="5431971"/>
          </a:xfrm>
        </p:spPr>
        <p:txBody>
          <a:bodyPr>
            <a:normAutofit lnSpcReduction="10000"/>
          </a:bodyPr>
          <a:lstStyle/>
          <a:p>
            <a:pPr marL="719138" lvl="2" indent="-457200"/>
            <a:r>
              <a:rPr lang="fr-FR" sz="3200" dirty="0">
                <a:latin typeface="Times New Roman" panose="02020603050405020304" pitchFamily="18" charset="0"/>
                <a:cs typeface="Times New Roman" panose="02020603050405020304" pitchFamily="18" charset="0"/>
              </a:rPr>
              <a:t>piquer franchement dans l’embout du flacon de sang avec la fiche perforante</a:t>
            </a:r>
          </a:p>
          <a:p>
            <a:pPr marL="719138" lvl="2" indent="-457200"/>
            <a:r>
              <a:rPr lang="fr-FR" sz="3200" dirty="0">
                <a:latin typeface="Times New Roman" panose="02020603050405020304" pitchFamily="18" charset="0"/>
                <a:cs typeface="Times New Roman" panose="02020603050405020304" pitchFamily="18" charset="0"/>
              </a:rPr>
              <a:t>suspendre le flacon sur la potence</a:t>
            </a:r>
          </a:p>
          <a:p>
            <a:pPr marL="719138" lvl="2" indent="-457200"/>
            <a:r>
              <a:rPr lang="fr-FR" sz="3200" dirty="0" smtClean="0">
                <a:latin typeface="Times New Roman" panose="02020603050405020304" pitchFamily="18" charset="0"/>
                <a:cs typeface="Times New Roman" panose="02020603050405020304" pitchFamily="18" charset="0"/>
              </a:rPr>
              <a:t>comprimer </a:t>
            </a:r>
            <a:r>
              <a:rPr lang="fr-FR" sz="3200" dirty="0">
                <a:latin typeface="Times New Roman" panose="02020603050405020304" pitchFamily="18" charset="0"/>
                <a:cs typeface="Times New Roman" panose="02020603050405020304" pitchFamily="18" charset="0"/>
              </a:rPr>
              <a:t>la chambre compte gouttes pour la remplir à la moitié ou au 2/3 (le filtre doit être complètement noyé)</a:t>
            </a:r>
          </a:p>
          <a:p>
            <a:pPr marL="719138" lvl="2" indent="-457200"/>
            <a:r>
              <a:rPr lang="fr-FR" sz="3200" dirty="0">
                <a:latin typeface="Times New Roman" panose="02020603050405020304" pitchFamily="18" charset="0"/>
                <a:cs typeface="Times New Roman" panose="02020603050405020304" pitchFamily="18" charset="0"/>
              </a:rPr>
              <a:t>ouvrir doucement le presse tube pour laisser couler le sang ; chasser ainsi l’air du raccord jusqu’à ce qu’il n’y ait plus une seule bulle d’air</a:t>
            </a:r>
          </a:p>
          <a:p>
            <a:pPr marL="719138" lvl="2" indent="-457200"/>
            <a:r>
              <a:rPr lang="fr-FR" sz="3200" dirty="0">
                <a:latin typeface="Times New Roman" panose="02020603050405020304" pitchFamily="18" charset="0"/>
                <a:cs typeface="Times New Roman" panose="02020603050405020304" pitchFamily="18" charset="0"/>
              </a:rPr>
              <a:t>fermer le raccord avec le presse tube</a:t>
            </a:r>
          </a:p>
          <a:p>
            <a:pPr marL="719138" lvl="2" indent="-457200"/>
            <a:r>
              <a:rPr lang="fr-FR" sz="3200" dirty="0">
                <a:latin typeface="Times New Roman" panose="02020603050405020304" pitchFamily="18" charset="0"/>
                <a:cs typeface="Times New Roman" panose="02020603050405020304" pitchFamily="18" charset="0"/>
              </a:rPr>
              <a:t>remettre le capuchon protecteur du trocart</a:t>
            </a:r>
          </a:p>
          <a:p>
            <a:endParaRPr lang="fr-FR" dirty="0"/>
          </a:p>
        </p:txBody>
      </p:sp>
    </p:spTree>
    <p:extLst>
      <p:ext uri="{BB962C8B-B14F-4D97-AF65-F5344CB8AC3E}">
        <p14:creationId xmlns:p14="http://schemas.microsoft.com/office/powerpoint/2010/main" val="32109576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68923" y="1176184"/>
            <a:ext cx="1125415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914400" marR="0" lvl="1" indent="-45720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Pose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 la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Transfusion</a:t>
            </a:r>
          </a:p>
          <a:p>
            <a:pPr marL="457200" marR="0" lvl="1" indent="0" algn="just" defTabSz="914400" rtl="0" eaLnBrk="0" fontAlgn="base" latinLnBrk="0" hangingPunct="0">
              <a:lnSpc>
                <a:spcPct val="100000"/>
              </a:lnSpc>
              <a:spcBef>
                <a:spcPct val="0"/>
              </a:spcBef>
              <a:spcAft>
                <a:spcPct val="0"/>
              </a:spcAft>
              <a:buClrTx/>
              <a:buSzTx/>
              <a:buNone/>
              <a:tabLst>
                <a:tab pos="457200" algn="l"/>
              </a:tabLst>
            </a:pPr>
            <a:endParaRPr lang="fr-FR" altLang="fr-FR" sz="3200" dirty="0" smtClean="0">
              <a:solidFill>
                <a:srgbClr val="FF0000"/>
              </a:solidFill>
              <a:latin typeface="Times New Roman" panose="02020603050405020304" pitchFamily="18" charset="0"/>
              <a:cs typeface="Times New Roman" panose="02020603050405020304" pitchFamily="18" charset="0"/>
            </a:endParaRPr>
          </a:p>
          <a:p>
            <a:pPr marL="719137" lvl="1"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informer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 malade de l’imminence du soin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installer le malade confortablement en décubitus dorsal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faire le test de compatibilité</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 désinfecter à nouveau les mains à l’alcool</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mettre l’alèse ou la toile de protection sous le bras du malade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poser le garrot sur le bras</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719137" lvl="2" indent="-45720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repérer la veine à ponctionner et désinfecter soigneusement la région (choisir une grosse veine)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44750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5943" y="174171"/>
            <a:ext cx="11778343" cy="6444343"/>
          </a:xfrm>
        </p:spPr>
        <p:txBody>
          <a:bodyPr>
            <a:normAutofit fontScale="25000" lnSpcReduction="20000"/>
          </a:bodyPr>
          <a:lstStyle/>
          <a:p>
            <a:pPr marL="347663" lvl="2" indent="-260350"/>
            <a:r>
              <a:rPr lang="fr-FR" sz="12800" dirty="0">
                <a:latin typeface="Times New Roman" panose="02020603050405020304" pitchFamily="18" charset="0"/>
                <a:cs typeface="Times New Roman" panose="02020603050405020304" pitchFamily="18" charset="0"/>
              </a:rPr>
              <a:t>empaumer le bras, tendre la peau et immobiliser la veine avec le pouce</a:t>
            </a:r>
          </a:p>
          <a:p>
            <a:pPr marL="347663" lvl="2" indent="-260350"/>
            <a:r>
              <a:rPr lang="fr-FR" sz="12800" dirty="0">
                <a:latin typeface="Times New Roman" panose="02020603050405020304" pitchFamily="18" charset="0"/>
                <a:cs typeface="Times New Roman" panose="02020603050405020304" pitchFamily="18" charset="0"/>
              </a:rPr>
              <a:t>piquer au milieu de la veine et enfoncer l’aiguille ou l’</a:t>
            </a:r>
            <a:r>
              <a:rPr lang="fr-FR" sz="12800" dirty="0" err="1">
                <a:latin typeface="Times New Roman" panose="02020603050405020304" pitchFamily="18" charset="0"/>
                <a:cs typeface="Times New Roman" panose="02020603050405020304" pitchFamily="18" charset="0"/>
              </a:rPr>
              <a:t>intranule</a:t>
            </a:r>
            <a:r>
              <a:rPr lang="fr-FR" sz="12800" dirty="0">
                <a:latin typeface="Times New Roman" panose="02020603050405020304" pitchFamily="18" charset="0"/>
                <a:cs typeface="Times New Roman" panose="02020603050405020304" pitchFamily="18" charset="0"/>
              </a:rPr>
              <a:t> dans toute sa longueur</a:t>
            </a:r>
          </a:p>
          <a:p>
            <a:pPr marL="347663" lvl="2" indent="-260350"/>
            <a:r>
              <a:rPr lang="fr-FR" sz="12800" dirty="0">
                <a:latin typeface="Times New Roman" panose="02020603050405020304" pitchFamily="18" charset="0"/>
                <a:cs typeface="Times New Roman" panose="02020603050405020304" pitchFamily="18" charset="0"/>
              </a:rPr>
              <a:t>immobiliser l’aiguille ou l’</a:t>
            </a:r>
            <a:r>
              <a:rPr lang="fr-FR" sz="12800" dirty="0" err="1">
                <a:latin typeface="Times New Roman" panose="02020603050405020304" pitchFamily="18" charset="0"/>
                <a:cs typeface="Times New Roman" panose="02020603050405020304" pitchFamily="18" charset="0"/>
              </a:rPr>
              <a:t>intranule</a:t>
            </a:r>
            <a:r>
              <a:rPr lang="fr-FR" sz="12800" dirty="0">
                <a:latin typeface="Times New Roman" panose="02020603050405020304" pitchFamily="18" charset="0"/>
                <a:cs typeface="Times New Roman" panose="02020603050405020304" pitchFamily="18" charset="0"/>
              </a:rPr>
              <a:t> avec une bande adhésive ou du sparadrap</a:t>
            </a:r>
          </a:p>
          <a:p>
            <a:pPr marL="347663" lvl="2" indent="-260350"/>
            <a:r>
              <a:rPr lang="fr-FR" sz="12800" dirty="0">
                <a:latin typeface="Times New Roman" panose="02020603050405020304" pitchFamily="18" charset="0"/>
                <a:cs typeface="Times New Roman" panose="02020603050405020304" pitchFamily="18" charset="0"/>
              </a:rPr>
              <a:t>ôter le garrot</a:t>
            </a:r>
          </a:p>
          <a:p>
            <a:pPr marL="347663" lvl="2" indent="-260350"/>
            <a:r>
              <a:rPr lang="fr-FR" sz="12800" dirty="0">
                <a:latin typeface="Times New Roman" panose="02020603050405020304" pitchFamily="18" charset="0"/>
                <a:cs typeface="Times New Roman" panose="02020603050405020304" pitchFamily="18" charset="0"/>
              </a:rPr>
              <a:t>ouvrir le presse tube pour faire couler le sang</a:t>
            </a:r>
          </a:p>
          <a:p>
            <a:pPr marL="347663" lvl="2" indent="-260350"/>
            <a:r>
              <a:rPr lang="fr-FR" sz="12800" dirty="0">
                <a:latin typeface="Times New Roman" panose="02020603050405020304" pitchFamily="18" charset="0"/>
                <a:cs typeface="Times New Roman" panose="02020603050405020304" pitchFamily="18" charset="0"/>
              </a:rPr>
              <a:t>maintenir le raccord du transfuseur par du sparadrap</a:t>
            </a:r>
          </a:p>
          <a:p>
            <a:pPr marL="347663" lvl="2" indent="-260350"/>
            <a:r>
              <a:rPr lang="fr-FR" sz="12800" dirty="0">
                <a:latin typeface="Times New Roman" panose="02020603050405020304" pitchFamily="18" charset="0"/>
                <a:cs typeface="Times New Roman" panose="02020603050405020304" pitchFamily="18" charset="0"/>
              </a:rPr>
              <a:t>retirer l’alèse</a:t>
            </a:r>
          </a:p>
          <a:p>
            <a:pPr marL="347663" lvl="2" indent="-260350"/>
            <a:r>
              <a:rPr lang="fr-FR" sz="12800" dirty="0">
                <a:latin typeface="Times New Roman" panose="02020603050405020304" pitchFamily="18" charset="0"/>
                <a:cs typeface="Times New Roman" panose="02020603050405020304" pitchFamily="18" charset="0"/>
              </a:rPr>
              <a:t>noter le soin sur une feuille de température</a:t>
            </a:r>
          </a:p>
          <a:p>
            <a:pPr marL="347663" lvl="2" indent="-260350"/>
            <a:r>
              <a:rPr lang="fr-FR" sz="12800" dirty="0">
                <a:latin typeface="Times New Roman" panose="02020603050405020304" pitchFamily="18" charset="0"/>
                <a:cs typeface="Times New Roman" panose="02020603050405020304" pitchFamily="18" charset="0"/>
              </a:rPr>
              <a:t>remercier le malade pour sa collaboration et prendre congé de lui avec des mots gentils</a:t>
            </a:r>
          </a:p>
          <a:p>
            <a:pPr marL="347663" lvl="2" indent="-260350"/>
            <a:r>
              <a:rPr lang="fr-FR" sz="12800" dirty="0">
                <a:latin typeface="Times New Roman" panose="02020603050405020304" pitchFamily="18" charset="0"/>
                <a:cs typeface="Times New Roman" panose="02020603050405020304" pitchFamily="18" charset="0"/>
              </a:rPr>
              <a:t>nettoyer et ranger le matériel</a:t>
            </a:r>
          </a:p>
          <a:p>
            <a:endParaRPr lang="fr-FR" dirty="0"/>
          </a:p>
        </p:txBody>
      </p:sp>
    </p:spTree>
    <p:extLst>
      <p:ext uri="{BB962C8B-B14F-4D97-AF65-F5344CB8AC3E}">
        <p14:creationId xmlns:p14="http://schemas.microsoft.com/office/powerpoint/2010/main" val="187118820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09600" y="696687"/>
            <a:ext cx="10972800" cy="5682342"/>
          </a:xfrm>
        </p:spPr>
        <p:txBody>
          <a:bodyPr>
            <a:norm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ACCIDENTS ET </a:t>
            </a:r>
            <a:r>
              <a:rPr lang="fr-FR" sz="3200" b="1" u="sng" dirty="0" smtClean="0">
                <a:solidFill>
                  <a:srgbClr val="C00000"/>
                </a:solidFill>
                <a:latin typeface="Times New Roman" panose="02020603050405020304" pitchFamily="18" charset="0"/>
                <a:cs typeface="Times New Roman" panose="02020603050405020304" pitchFamily="18" charset="0"/>
              </a:rPr>
              <a:t>INCIDENTS</a:t>
            </a:r>
            <a:endParaRPr lang="fr-FR" sz="3200" dirty="0">
              <a:solidFill>
                <a:srgbClr val="C00000"/>
              </a:solidFill>
              <a:latin typeface="Times New Roman" panose="02020603050405020304" pitchFamily="18" charset="0"/>
              <a:cs typeface="Times New Roman" panose="02020603050405020304" pitchFamily="18" charset="0"/>
            </a:endParaRPr>
          </a:p>
          <a:p>
            <a:pPr marL="393192" lvl="1"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Accidents</a:t>
            </a:r>
            <a:endParaRPr lang="fr-FR" sz="3200" dirty="0">
              <a:solidFill>
                <a:srgbClr val="FF0000"/>
              </a:solidFill>
              <a:latin typeface="Times New Roman" panose="02020603050405020304" pitchFamily="18" charset="0"/>
              <a:cs typeface="Times New Roman" panose="02020603050405020304" pitchFamily="18" charset="0"/>
            </a:endParaRPr>
          </a:p>
          <a:p>
            <a:pPr marL="392113" lvl="0" indent="-304800">
              <a:buNone/>
            </a:pPr>
            <a:r>
              <a:rPr lang="fr-FR" sz="3200" b="1" dirty="0">
                <a:solidFill>
                  <a:srgbClr val="FF0000"/>
                </a:solidFill>
                <a:latin typeface="Times New Roman" panose="02020603050405020304" pitchFamily="18" charset="0"/>
                <a:cs typeface="Times New Roman" panose="02020603050405020304" pitchFamily="18" charset="0"/>
              </a:rPr>
              <a:t>Accidents Précoces</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le Choc (hypovolémique ou anaphylactique)</a:t>
            </a:r>
          </a:p>
          <a:p>
            <a:pPr lvl="1"/>
            <a:r>
              <a:rPr lang="fr-FR" sz="3200" dirty="0">
                <a:latin typeface="Times New Roman" panose="02020603050405020304" pitchFamily="18" charset="0"/>
                <a:cs typeface="Times New Roman" panose="02020603050405020304" pitchFamily="18" charset="0"/>
              </a:rPr>
              <a:t>l’allergie</a:t>
            </a:r>
          </a:p>
          <a:p>
            <a:pPr lvl="1"/>
            <a:r>
              <a:rPr lang="fr-FR" sz="3200" dirty="0">
                <a:latin typeface="Times New Roman" panose="02020603050405020304" pitchFamily="18" charset="0"/>
                <a:cs typeface="Times New Roman" panose="02020603050405020304" pitchFamily="18" charset="0"/>
              </a:rPr>
              <a:t>l’hémolyse</a:t>
            </a:r>
          </a:p>
          <a:p>
            <a:pPr lvl="1"/>
            <a:r>
              <a:rPr lang="fr-FR" sz="3200" dirty="0">
                <a:latin typeface="Times New Roman" panose="02020603050405020304" pitchFamily="18" charset="0"/>
                <a:cs typeface="Times New Roman" panose="02020603050405020304" pitchFamily="18" charset="0"/>
              </a:rPr>
              <a:t>la </a:t>
            </a:r>
            <a:r>
              <a:rPr lang="fr-FR" sz="3200" dirty="0" smtClean="0">
                <a:latin typeface="Times New Roman" panose="02020603050405020304" pitchFamily="18" charset="0"/>
                <a:cs typeface="Times New Roman" panose="02020603050405020304" pitchFamily="18" charset="0"/>
              </a:rPr>
              <a:t>fièvre</a:t>
            </a:r>
          </a:p>
          <a:p>
            <a:pPr marL="392113" lvl="1" indent="-304800">
              <a:buNone/>
            </a:pPr>
            <a:r>
              <a:rPr lang="fr-FR" sz="3200" b="1" dirty="0" smtClean="0">
                <a:solidFill>
                  <a:srgbClr val="FF0000"/>
                </a:solidFill>
                <a:latin typeface="Times New Roman" panose="02020603050405020304" pitchFamily="18" charset="0"/>
                <a:cs typeface="Times New Roman" panose="02020603050405020304" pitchFamily="18" charset="0"/>
              </a:rPr>
              <a:t>Accidents </a:t>
            </a:r>
            <a:r>
              <a:rPr lang="fr-FR" sz="3200" b="1" dirty="0">
                <a:solidFill>
                  <a:srgbClr val="FF0000"/>
                </a:solidFill>
                <a:latin typeface="Times New Roman" panose="02020603050405020304" pitchFamily="18" charset="0"/>
                <a:cs typeface="Times New Roman" panose="02020603050405020304" pitchFamily="18" charset="0"/>
              </a:rPr>
              <a:t>de Surcharge</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œdème aigue des poumons (OAP)</a:t>
            </a:r>
          </a:p>
          <a:p>
            <a:endParaRPr lang="fr-FR" dirty="0"/>
          </a:p>
        </p:txBody>
      </p:sp>
    </p:spTree>
    <p:extLst>
      <p:ext uri="{BB962C8B-B14F-4D97-AF65-F5344CB8AC3E}">
        <p14:creationId xmlns:p14="http://schemas.microsoft.com/office/powerpoint/2010/main" val="42847701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87828" y="1282337"/>
            <a:ext cx="10972800" cy="4389120"/>
          </a:xfrm>
        </p:spPr>
        <p:txBody>
          <a:bodyPr>
            <a:normAutofit/>
          </a:bodyPr>
          <a:lstStyle/>
          <a:p>
            <a:pPr marL="0" lvl="0" indent="0">
              <a:buNone/>
            </a:pPr>
            <a:r>
              <a:rPr lang="fr-FR" sz="3200" b="1" dirty="0">
                <a:solidFill>
                  <a:srgbClr val="FF0000"/>
                </a:solidFill>
                <a:latin typeface="Times New Roman" panose="02020603050405020304" pitchFamily="18" charset="0"/>
                <a:cs typeface="Times New Roman" panose="02020603050405020304" pitchFamily="18" charset="0"/>
              </a:rPr>
              <a:t>Accidents Tardives</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Formation de caillot de sang</a:t>
            </a:r>
          </a:p>
          <a:p>
            <a:pPr lvl="1"/>
            <a:r>
              <a:rPr lang="fr-FR" sz="3200" dirty="0">
                <a:latin typeface="Times New Roman" panose="02020603050405020304" pitchFamily="18" charset="0"/>
                <a:cs typeface="Times New Roman" panose="02020603050405020304" pitchFamily="18" charset="0"/>
              </a:rPr>
              <a:t>embolie pulmonaire</a:t>
            </a:r>
          </a:p>
          <a:p>
            <a:pPr lvl="1"/>
            <a:r>
              <a:rPr lang="fr-FR" sz="3200" dirty="0">
                <a:latin typeface="Times New Roman" panose="02020603050405020304" pitchFamily="18" charset="0"/>
                <a:cs typeface="Times New Roman" panose="02020603050405020304" pitchFamily="18" charset="0"/>
              </a:rPr>
              <a:t>infection </a:t>
            </a:r>
            <a:r>
              <a:rPr lang="fr-FR" sz="3200" dirty="0" smtClean="0">
                <a:latin typeface="Times New Roman" panose="02020603050405020304" pitchFamily="18" charset="0"/>
                <a:cs typeface="Times New Roman" panose="02020603050405020304" pitchFamily="18" charset="0"/>
              </a:rPr>
              <a:t>nosocomiale </a:t>
            </a:r>
            <a:r>
              <a:rPr lang="fr-FR" sz="3200" dirty="0">
                <a:latin typeface="Times New Roman" panose="02020603050405020304" pitchFamily="18" charset="0"/>
                <a:cs typeface="Times New Roman" panose="02020603050405020304" pitchFamily="18" charset="0"/>
              </a:rPr>
              <a:t>(paludisme, syphilis, hépatite virale)</a:t>
            </a:r>
          </a:p>
          <a:p>
            <a:pPr marL="393192" lvl="1" indent="0">
              <a:buNone/>
            </a:pPr>
            <a:r>
              <a:rPr lang="fr-FR" sz="3200" b="1" dirty="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Les Incidents</a:t>
            </a:r>
            <a:endParaRPr lang="fr-FR" sz="3200" dirty="0">
              <a:solidFill>
                <a:srgbClr val="FF0000"/>
              </a:solidFill>
              <a:latin typeface="Times New Roman" panose="02020603050405020304" pitchFamily="18" charset="0"/>
              <a:cs typeface="Times New Roman" panose="02020603050405020304" pitchFamily="18" charset="0"/>
            </a:endParaRPr>
          </a:p>
          <a:p>
            <a:pPr lvl="1"/>
            <a:r>
              <a:rPr lang="fr-FR" sz="3200" dirty="0">
                <a:latin typeface="Times New Roman" panose="02020603050405020304" pitchFamily="18" charset="0"/>
                <a:cs typeface="Times New Roman" panose="02020603050405020304" pitchFamily="18" charset="0"/>
              </a:rPr>
              <a:t>perforation de la veine</a:t>
            </a:r>
          </a:p>
          <a:p>
            <a:pPr lvl="1"/>
            <a:r>
              <a:rPr lang="fr-FR" sz="3200" dirty="0">
                <a:latin typeface="Times New Roman" panose="02020603050405020304" pitchFamily="18" charset="0"/>
                <a:cs typeface="Times New Roman" panose="02020603050405020304" pitchFamily="18" charset="0"/>
              </a:rPr>
              <a:t>rupture du cathéter</a:t>
            </a:r>
          </a:p>
        </p:txBody>
      </p:sp>
    </p:spTree>
    <p:extLst>
      <p:ext uri="{BB962C8B-B14F-4D97-AF65-F5344CB8AC3E}">
        <p14:creationId xmlns:p14="http://schemas.microsoft.com/office/powerpoint/2010/main" val="37382325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309143" y="1308562"/>
            <a:ext cx="9530173"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a:t>
            </a: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SURVEILLANCE</a:t>
            </a:r>
          </a:p>
          <a:p>
            <a:pPr marL="457200" marR="0" lvl="1"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Surveillance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du  Matériel de </a:t>
            </a:r>
            <a:r>
              <a:rPr kumimoji="0" lang="fr-FR" altLang="fr-FR" sz="3200" b="1" i="0" u="sng"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Transfusion</a:t>
            </a:r>
          </a:p>
          <a:p>
            <a:pPr marL="0" marR="0" lvl="0" indent="0" algn="just" defTabSz="914400" rtl="0" eaLnBrk="0" fontAlgn="base" latinLnBrk="0" hangingPunct="0">
              <a:lnSpc>
                <a:spcPct val="100000"/>
              </a:lnSpc>
              <a:spcBef>
                <a:spcPct val="0"/>
              </a:spcBef>
              <a:spcAft>
                <a:spcPct val="0"/>
              </a:spcAft>
              <a:buClrTx/>
              <a:buSzTx/>
              <a:buNone/>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vérifier s’il n’y a pas de fuite au niveau du raccord</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vérifier que l’aiguille est toujours en place dans la veine</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vérifier si la chambre compte gouttes marche bien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vérifier le débit de la transfusion</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659088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34093" y="1278847"/>
            <a:ext cx="10972800" cy="4642982"/>
          </a:xfrm>
        </p:spPr>
        <p:txBody>
          <a:bodyPr>
            <a:normAutofit lnSpcReduction="10000"/>
          </a:bodyPr>
          <a:lstStyle/>
          <a:p>
            <a:pPr marL="0" indent="0">
              <a:buNone/>
            </a:pPr>
            <a:r>
              <a:rPr lang="fr-FR" sz="3200" dirty="0" smtClean="0">
                <a:solidFill>
                  <a:srgbClr val="FF0000"/>
                </a:solidFill>
                <a:latin typeface="Times New Roman" panose="02020603050405020304" pitchFamily="18" charset="0"/>
                <a:cs typeface="Times New Roman" panose="02020603050405020304" pitchFamily="18" charset="0"/>
              </a:rPr>
              <a:t>Calcul du Débit</a:t>
            </a:r>
          </a:p>
          <a:p>
            <a:r>
              <a:rPr lang="fr-FR" sz="3200" dirty="0" smtClean="0">
                <a:latin typeface="Times New Roman" panose="02020603050405020304" pitchFamily="18" charset="0"/>
                <a:cs typeface="Times New Roman" panose="02020603050405020304" pitchFamily="18" charset="0"/>
              </a:rPr>
              <a:t>1ml </a:t>
            </a:r>
            <a:r>
              <a:rPr lang="fr-FR" sz="3200" dirty="0">
                <a:latin typeface="Times New Roman" panose="02020603050405020304" pitchFamily="18" charset="0"/>
                <a:cs typeface="Times New Roman" panose="02020603050405020304" pitchFamily="18" charset="0"/>
              </a:rPr>
              <a:t>de sang = 15 gouttes</a:t>
            </a:r>
          </a:p>
          <a:p>
            <a:r>
              <a:rPr lang="fr-FR" sz="3200" dirty="0">
                <a:latin typeface="Times New Roman" panose="02020603050405020304" pitchFamily="18" charset="0"/>
                <a:cs typeface="Times New Roman" panose="02020603050405020304" pitchFamily="18" charset="0"/>
              </a:rPr>
              <a:t>Débit </a:t>
            </a:r>
            <a:r>
              <a:rPr lang="fr-FR" sz="3200" dirty="0" smtClean="0">
                <a:latin typeface="Times New Roman" panose="02020603050405020304" pitchFamily="18" charset="0"/>
                <a:cs typeface="Times New Roman" panose="02020603050405020304" pitchFamily="18" charset="0"/>
              </a:rPr>
              <a:t> =  (</a:t>
            </a:r>
            <a:r>
              <a:rPr lang="fr-FR" sz="3200" dirty="0">
                <a:latin typeface="Times New Roman" panose="02020603050405020304" pitchFamily="18" charset="0"/>
                <a:cs typeface="Times New Roman" panose="02020603050405020304" pitchFamily="18" charset="0"/>
              </a:rPr>
              <a:t>15 gttes x </a:t>
            </a:r>
            <a:r>
              <a:rPr lang="fr-FR" sz="3200" dirty="0" err="1">
                <a:latin typeface="Times New Roman" panose="02020603050405020304" pitchFamily="18" charset="0"/>
                <a:cs typeface="Times New Roman" panose="02020603050405020304" pitchFamily="18" charset="0"/>
              </a:rPr>
              <a:t>qtté</a:t>
            </a:r>
            <a:r>
              <a:rPr lang="fr-FR" sz="3200" dirty="0">
                <a:latin typeface="Times New Roman" panose="02020603050405020304" pitchFamily="18" charset="0"/>
                <a:cs typeface="Times New Roman" panose="02020603050405020304" pitchFamily="18" charset="0"/>
              </a:rPr>
              <a:t> à transfuser)</a:t>
            </a:r>
          </a:p>
          <a:p>
            <a:pPr marL="0" indent="0">
              <a:buNone/>
            </a:pPr>
            <a:r>
              <a:rPr lang="fr-FR" sz="3200" dirty="0" smtClean="0">
                <a:latin typeface="Times New Roman" panose="02020603050405020304" pitchFamily="18" charset="0"/>
                <a:cs typeface="Times New Roman" panose="02020603050405020304" pitchFamily="18" charset="0"/>
              </a:rPr>
              <a:t>			   Temps </a:t>
            </a:r>
            <a:r>
              <a:rPr lang="fr-FR" sz="3200" dirty="0">
                <a:latin typeface="Times New Roman" panose="02020603050405020304" pitchFamily="18" charset="0"/>
                <a:cs typeface="Times New Roman" panose="02020603050405020304" pitchFamily="18" charset="0"/>
              </a:rPr>
              <a:t>en </a:t>
            </a:r>
            <a:r>
              <a:rPr lang="fr-FR" sz="3200" dirty="0" smtClean="0">
                <a:latin typeface="Times New Roman" panose="02020603050405020304" pitchFamily="18" charset="0"/>
                <a:cs typeface="Times New Roman" panose="02020603050405020304" pitchFamily="18" charset="0"/>
              </a:rPr>
              <a:t>mn</a:t>
            </a:r>
          </a:p>
          <a:p>
            <a:pPr marL="0" lvl="0" indent="0" eaLnBrk="0" fontAlgn="base" hangingPunct="0">
              <a:spcBef>
                <a:spcPct val="0"/>
              </a:spcBef>
              <a:spcAft>
                <a:spcPct val="0"/>
              </a:spcAft>
              <a:buClrTx/>
              <a:buSzTx/>
              <a:buNone/>
            </a:pPr>
            <a:endParaRPr lang="fr-FR" altLang="fr-FR" sz="3200" u="sng"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fr-FR" altLang="fr-FR" sz="3200" u="sng" dirty="0" smtClean="0">
                <a:latin typeface="Times New Roman" panose="02020603050405020304" pitchFamily="18" charset="0"/>
                <a:ea typeface="Times New Roman" panose="02020603050405020304" pitchFamily="18" charset="0"/>
                <a:cs typeface="Times New Roman" panose="02020603050405020304" pitchFamily="18" charset="0"/>
              </a:rPr>
              <a:t>Exemple</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 : Calculer le débit de la transfusion, pour 500ml de sang à transfuser en 2 heures</a:t>
            </a:r>
            <a:endParaRPr lang="fr-FR" altLang="fr-FR" sz="32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		15  x  500  =  63 </a:t>
            </a:r>
            <a:r>
              <a:rPr lang="fr-FR" altLang="fr-FR" sz="3200" dirty="0" err="1" smtClean="0">
                <a:latin typeface="Times New Roman" panose="02020603050405020304" pitchFamily="18" charset="0"/>
                <a:ea typeface="Times New Roman" panose="02020603050405020304" pitchFamily="18" charset="0"/>
                <a:cs typeface="Times New Roman" panose="02020603050405020304" pitchFamily="18" charset="0"/>
              </a:rPr>
              <a:t>gttes</a:t>
            </a:r>
            <a:endPar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fr-FR" sz="3200" dirty="0" smtClean="0">
                <a:latin typeface="Times New Roman" panose="02020603050405020304" pitchFamily="18" charset="0"/>
                <a:cs typeface="Times New Roman" panose="02020603050405020304" pitchFamily="18" charset="0"/>
              </a:rPr>
              <a:t>		    2X60</a:t>
            </a:r>
            <a:endParaRPr lang="fr-FR" sz="3200" dirty="0">
              <a:latin typeface="Times New Roman" panose="02020603050405020304" pitchFamily="18" charset="0"/>
              <a:cs typeface="Times New Roman" panose="02020603050405020304" pitchFamily="18" charset="0"/>
            </a:endParaRPr>
          </a:p>
        </p:txBody>
      </p:sp>
      <p:grpSp>
        <p:nvGrpSpPr>
          <p:cNvPr id="10" name="Groupe 9"/>
          <p:cNvGrpSpPr/>
          <p:nvPr/>
        </p:nvGrpSpPr>
        <p:grpSpPr>
          <a:xfrm>
            <a:off x="2656114" y="2503714"/>
            <a:ext cx="4245429" cy="2460172"/>
            <a:chOff x="2656114" y="2503714"/>
            <a:chExt cx="4245429" cy="2460172"/>
          </a:xfrm>
        </p:grpSpPr>
        <p:cxnSp>
          <p:nvCxnSpPr>
            <p:cNvPr id="7" name="Connecteur droit 6"/>
            <p:cNvCxnSpPr/>
            <p:nvPr/>
          </p:nvCxnSpPr>
          <p:spPr>
            <a:xfrm>
              <a:off x="2808514" y="2503714"/>
              <a:ext cx="40930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flipV="1">
              <a:off x="2656114" y="4920343"/>
              <a:ext cx="1436915" cy="43543"/>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454289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31371" y="566057"/>
            <a:ext cx="10972800" cy="5769429"/>
          </a:xfrm>
        </p:spPr>
        <p:txBody>
          <a:bodyPr>
            <a:noAutofit/>
          </a:bodyPr>
          <a:lstStyle/>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 </a:t>
            </a:r>
            <a:r>
              <a:rPr lang="fr-FR" sz="3200" b="1" u="sng" dirty="0">
                <a:solidFill>
                  <a:srgbClr val="FF0000"/>
                </a:solidFill>
                <a:latin typeface="Times New Roman" panose="02020603050405020304" pitchFamily="18" charset="0"/>
                <a:cs typeface="Times New Roman" panose="02020603050405020304" pitchFamily="18" charset="0"/>
              </a:rPr>
              <a:t>Surveillance du malade</a:t>
            </a:r>
            <a:endParaRPr lang="fr-FR" sz="3200" dirty="0">
              <a:solidFill>
                <a:srgbClr val="FF0000"/>
              </a:solidFill>
              <a:latin typeface="Times New Roman" panose="02020603050405020304" pitchFamily="18" charset="0"/>
              <a:cs typeface="Times New Roman" panose="02020603050405020304" pitchFamily="18" charset="0"/>
            </a:endParaRPr>
          </a:p>
          <a:p>
            <a:pPr lvl="0"/>
            <a:r>
              <a:rPr lang="fr-FR" sz="3200" dirty="0">
                <a:latin typeface="Times New Roman" panose="02020603050405020304" pitchFamily="18" charset="0"/>
                <a:cs typeface="Times New Roman" panose="02020603050405020304" pitchFamily="18" charset="0"/>
              </a:rPr>
              <a:t>observer le faciès pour détecter une éventuelle congestion</a:t>
            </a:r>
          </a:p>
          <a:p>
            <a:pPr lvl="0"/>
            <a:r>
              <a:rPr lang="fr-FR" sz="3200" dirty="0">
                <a:latin typeface="Times New Roman" panose="02020603050405020304" pitchFamily="18" charset="0"/>
                <a:cs typeface="Times New Roman" panose="02020603050405020304" pitchFamily="18" charset="0"/>
              </a:rPr>
              <a:t>observer le thorax pour voir s’il respire bien</a:t>
            </a:r>
          </a:p>
          <a:p>
            <a:pPr lvl="0"/>
            <a:r>
              <a:rPr lang="fr-FR" sz="3200" dirty="0">
                <a:latin typeface="Times New Roman" panose="02020603050405020304" pitchFamily="18" charset="0"/>
                <a:cs typeface="Times New Roman" panose="02020603050405020304" pitchFamily="18" charset="0"/>
              </a:rPr>
              <a:t>vérifier les constantes</a:t>
            </a:r>
          </a:p>
          <a:p>
            <a:pPr lvl="0"/>
            <a:r>
              <a:rPr lang="fr-FR" sz="3200" dirty="0">
                <a:latin typeface="Times New Roman" panose="02020603050405020304" pitchFamily="18" charset="0"/>
                <a:cs typeface="Times New Roman" panose="02020603050405020304" pitchFamily="18" charset="0"/>
              </a:rPr>
              <a:t>vérifier le point de transfusion et la veine transfusée</a:t>
            </a:r>
          </a:p>
          <a:p>
            <a:pPr lvl="0"/>
            <a:r>
              <a:rPr lang="fr-FR" sz="3200" dirty="0">
                <a:latin typeface="Times New Roman" panose="02020603050405020304" pitchFamily="18" charset="0"/>
                <a:cs typeface="Times New Roman" panose="02020603050405020304" pitchFamily="18" charset="0"/>
              </a:rPr>
              <a:t>il faut tenir compte des plaintes du malade (céphalées, douleurs lombaires, frissons)</a:t>
            </a:r>
          </a:p>
          <a:p>
            <a:pPr marL="0" indent="0">
              <a:buNone/>
            </a:pPr>
            <a:r>
              <a:rPr lang="fr-FR" sz="3200" b="1" dirty="0" smtClean="0">
                <a:solidFill>
                  <a:srgbClr val="FF0000"/>
                </a:solidFill>
                <a:latin typeface="Times New Roman" panose="02020603050405020304" pitchFamily="18" charset="0"/>
                <a:cs typeface="Times New Roman" panose="02020603050405020304" pitchFamily="18" charset="0"/>
              </a:rPr>
              <a:t>NB</a:t>
            </a:r>
            <a:r>
              <a:rPr lang="fr-FR" sz="3200" b="1" dirty="0">
                <a:solidFill>
                  <a:srgbClr val="FF0000"/>
                </a:solidFill>
                <a:latin typeface="Times New Roman" panose="02020603050405020304" pitchFamily="18" charset="0"/>
                <a:cs typeface="Times New Roman" panose="02020603050405020304" pitchFamily="18" charset="0"/>
              </a:rPr>
              <a:t> :</a:t>
            </a:r>
            <a:endParaRPr lang="fr-FR" sz="3200" dirty="0">
              <a:solidFill>
                <a:srgbClr val="FF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Au moindre signe d’alerte, arrêter immédiatement la transfusion et avertir le Médecin</a:t>
            </a:r>
          </a:p>
        </p:txBody>
      </p:sp>
    </p:spTree>
    <p:extLst>
      <p:ext uri="{BB962C8B-B14F-4D97-AF65-F5344CB8AC3E}">
        <p14:creationId xmlns:p14="http://schemas.microsoft.com/office/powerpoint/2010/main" val="3464081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679269" y="1553173"/>
            <a:ext cx="10881359" cy="2483250"/>
          </a:xfrm>
          <a:solidFill>
            <a:schemeClr val="bg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dk1"/>
          </a:lnRef>
          <a:fillRef idx="1">
            <a:schemeClr val="lt1"/>
          </a:fillRef>
          <a:effectRef idx="0">
            <a:schemeClr val="dk1"/>
          </a:effectRef>
          <a:fontRef idx="minor">
            <a:schemeClr val="dk1"/>
          </a:fontRef>
        </p:style>
        <p:txBody>
          <a:bodyPr>
            <a:normAutofit fontScale="90000"/>
            <a:scene3d>
              <a:camera prst="orthographicFront"/>
              <a:lightRig rig="freezing" dir="t">
                <a:rot lat="0" lon="0" rev="5640000"/>
              </a:lightRig>
            </a:scene3d>
            <a:sp3d prstMaterial="flat">
              <a:contourClr>
                <a:schemeClr val="tx2"/>
              </a:contourClr>
            </a:sp3d>
          </a:bodyPr>
          <a:lstStyle/>
          <a:p>
            <a:pPr algn="ctr"/>
            <a:r>
              <a:rPr lang="fr-FR" b="1" dirty="0"/>
              <a:t>PRINCIPAUX SIGNES D’ATTEINTE DE L’APPAREIL </a:t>
            </a:r>
            <a:r>
              <a:rPr lang="fr-FR" b="1" dirty="0" smtClean="0"/>
              <a:t>CARDIO-VASCULAIRE</a:t>
            </a:r>
            <a:r>
              <a:rPr lang="fr-FR" dirty="0"/>
              <a:t/>
            </a:r>
            <a:br>
              <a:rPr lang="fr-FR" dirty="0"/>
            </a:br>
            <a:endParaRPr lang="fr-FR" dirty="0"/>
          </a:p>
        </p:txBody>
      </p:sp>
    </p:spTree>
    <p:extLst>
      <p:ext uri="{BB962C8B-B14F-4D97-AF65-F5344CB8AC3E}">
        <p14:creationId xmlns:p14="http://schemas.microsoft.com/office/powerpoint/2010/main" val="161007676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66057" y="1064622"/>
            <a:ext cx="10972800" cy="4389120"/>
          </a:xfrm>
        </p:spPr>
        <p:txBody>
          <a:bodyPr/>
          <a:lstStyle/>
          <a:p>
            <a:pPr marL="0" indent="0">
              <a:buNone/>
            </a:pPr>
            <a:r>
              <a:rPr lang="fr-FR" sz="3200" b="1" u="sng" dirty="0">
                <a:solidFill>
                  <a:srgbClr val="C00000"/>
                </a:solidFill>
                <a:latin typeface="Times New Roman" panose="02020603050405020304" pitchFamily="18" charset="0"/>
                <a:cs typeface="Times New Roman" panose="02020603050405020304" pitchFamily="18" charset="0"/>
              </a:rPr>
              <a:t>INTRODUCTION</a:t>
            </a:r>
            <a:endParaRPr lang="en-US"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L’organisme se compose de plusieurs appareils ; l’atteinte de chacun de ces appareils va se manifester par des symptômes ou syndrome qui seront soit ressentis par le malade, soit retrouvés lord de l’examen clinique, ou mis en évidence par des examens paracliniques. Nous nous intéresserons dans ce cours des principaux symptômes ou syndrome ressentis par le malade atteint d’affections cardio-vasculaires.</a:t>
            </a:r>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553241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86761" y="786971"/>
            <a:ext cx="1090556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914400" algn="l"/>
                <a:tab pos="1600200" algn="l"/>
              </a:tabLst>
            </a:pPr>
            <a:r>
              <a:rPr kumimoji="0" lang="fr-FR" altLang="en-US"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DYSPNEE</a:t>
            </a:r>
            <a:endParaRPr kumimoji="0" lang="en-US" altLang="en-US"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indent="-457200" algn="just">
              <a:buClrTx/>
              <a:buSzTx/>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Dyspnée est une difficulté respiratoire ou une modification de la respiration. Elle peut se manifester par l’accélération du rythme respiratoire (polypnée) ou par un ralentissement du rythme (bradypnée).</a:t>
            </a:r>
            <a:endParaRPr kumimoji="0" lang="en-US"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indent="-457200" algn="just">
              <a:buClrTx/>
              <a:buSzTx/>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dyspnées d’origine cardiaque sont provoquées par l’effort ou la position allongée, et elles sont soulagées par le repos ou la position assise.</a:t>
            </a:r>
            <a:endParaRPr kumimoji="0" lang="en-US"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indent="-457200" algn="just">
              <a:buClrTx/>
              <a:buSzTx/>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Fréquemment la dyspnée va s’accompagner de cyanose et de sueur qui sont signes de gravité car traduisent le manque d’oxygène.</a:t>
            </a:r>
            <a:endParaRPr kumimoji="0" lang="fr-FR"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44031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87829" y="1086389"/>
            <a:ext cx="10972800" cy="4878981"/>
          </a:xfrm>
        </p:spPr>
        <p:txBody>
          <a:bodyPr>
            <a:normAutofit lnSpcReduction="10000"/>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LA TOUX ET </a:t>
            </a:r>
            <a:r>
              <a:rPr lang="fr-FR" sz="3200" b="1" u="sng" dirty="0" smtClean="0">
                <a:solidFill>
                  <a:srgbClr val="C00000"/>
                </a:solidFill>
                <a:latin typeface="Times New Roman" panose="02020603050405020304" pitchFamily="18" charset="0"/>
                <a:cs typeface="Times New Roman" panose="02020603050405020304" pitchFamily="18" charset="0"/>
              </a:rPr>
              <a:t>L’EXPECTORATION</a:t>
            </a:r>
          </a:p>
          <a:p>
            <a:pPr marL="393192" lvl="1" indent="0">
              <a:buNone/>
            </a:pPr>
            <a:endParaRPr lang="en-US"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Dans les toux d’origine cardiaque, contrairement aux maladies pulmonaires, il n’y a pas de soulagement du patient qui est fatigué par la toux et l’expectoration.</a:t>
            </a:r>
            <a:endParaRPr lang="en-US" sz="3200" dirty="0">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L’expectoration peut prendre plusieurs formes </a:t>
            </a:r>
            <a:r>
              <a:rPr lang="fr-FR"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a:buFontTx/>
              <a:buChar char="-"/>
            </a:pPr>
            <a:r>
              <a:rPr lang="fr-FR" sz="3200" dirty="0" smtClean="0">
                <a:latin typeface="Times New Roman" panose="02020603050405020304" pitchFamily="18" charset="0"/>
                <a:cs typeface="Times New Roman" panose="02020603050405020304" pitchFamily="18" charset="0"/>
              </a:rPr>
              <a:t>Crachat muqueux</a:t>
            </a:r>
          </a:p>
          <a:p>
            <a:pPr>
              <a:buFontTx/>
              <a:buChar char="-"/>
            </a:pPr>
            <a:r>
              <a:rPr lang="fr-FR" sz="3200" dirty="0" smtClean="0">
                <a:latin typeface="Times New Roman" panose="02020603050405020304" pitchFamily="18" charset="0"/>
                <a:cs typeface="Times New Roman" panose="02020603050405020304" pitchFamily="18" charset="0"/>
              </a:rPr>
              <a:t>Crachat </a:t>
            </a:r>
            <a:r>
              <a:rPr lang="fr-FR" sz="3200" dirty="0">
                <a:latin typeface="Times New Roman" panose="02020603050405020304" pitchFamily="18" charset="0"/>
                <a:cs typeface="Times New Roman" panose="02020603050405020304" pitchFamily="18" charset="0"/>
              </a:rPr>
              <a:t>mousseux et hémoptoïque (Œdème Aigu des </a:t>
            </a:r>
            <a:r>
              <a:rPr lang="fr-FR" sz="3200" dirty="0" smtClean="0">
                <a:latin typeface="Times New Roman" panose="02020603050405020304" pitchFamily="18" charset="0"/>
                <a:cs typeface="Times New Roman" panose="02020603050405020304" pitchFamily="18" charset="0"/>
              </a:rPr>
              <a:t>Poumons)</a:t>
            </a:r>
            <a:endParaRPr lang="en-US" sz="3200" dirty="0">
              <a:latin typeface="Times New Roman" panose="02020603050405020304" pitchFamily="18" charset="0"/>
              <a:cs typeface="Times New Roman" panose="02020603050405020304" pitchFamily="18" charset="0"/>
            </a:endParaRPr>
          </a:p>
          <a:p>
            <a:pPr>
              <a:buFontTx/>
              <a:buChar char="-"/>
            </a:pPr>
            <a:r>
              <a:rPr lang="fr-FR" sz="3200" dirty="0" smtClean="0">
                <a:latin typeface="Times New Roman" panose="02020603050405020304" pitchFamily="18" charset="0"/>
                <a:cs typeface="Times New Roman" panose="02020603050405020304" pitchFamily="18" charset="0"/>
              </a:rPr>
              <a:t>Crachat </a:t>
            </a:r>
            <a:r>
              <a:rPr lang="fr-FR" sz="3200" dirty="0">
                <a:latin typeface="Times New Roman" panose="02020603050405020304" pitchFamily="18" charset="0"/>
                <a:cs typeface="Times New Roman" panose="02020603050405020304" pitchFamily="18" charset="0"/>
              </a:rPr>
              <a:t>sanglant ou hémoptysie (Embolie Pulmonaire)</a:t>
            </a:r>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5097477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61258" y="604479"/>
            <a:ext cx="1171302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914400" algn="l"/>
                <a:tab pos="1600200" algn="l"/>
              </a:tabLst>
            </a:pPr>
            <a:r>
              <a:rPr kumimoji="0" lang="fr-FR" altLang="en-US"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LES DOULEURS THORACIQUES</a:t>
            </a:r>
            <a:endParaRPr kumimoji="0" lang="en-US" altLang="en-US"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457200" indent="-457200" algn="just">
              <a:buClrTx/>
              <a:buSzTx/>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douleur est caractérisée par son siège, son intensité, son horaire, son mode de déclenchement, sa durée, ses irradiations et les signes </a:t>
            </a: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associés</a:t>
            </a:r>
            <a:r>
              <a:rPr lang="fr-FR" altLang="en-US" sz="3200" dirty="0" smtClean="0">
                <a:latin typeface="Times New Roman" panose="02020603050405020304" pitchFamily="18" charset="0"/>
                <a:ea typeface="Times New Roman" panose="02020603050405020304" pitchFamily="18" charset="0"/>
                <a:cs typeface="Times New Roman" panose="02020603050405020304" pitchFamily="18" charset="0"/>
              </a:rPr>
              <a:t>.</a:t>
            </a:r>
          </a:p>
          <a:p>
            <a:pPr marL="457200" indent="-457200" algn="just">
              <a:buClrTx/>
              <a:buSzTx/>
            </a:pPr>
            <a:r>
              <a:rPr lang="fr-FR" altLang="en-US" sz="3200" dirty="0" smtClean="0">
                <a:latin typeface="Times New Roman" panose="02020603050405020304" pitchFamily="18" charset="0"/>
                <a:ea typeface="Times New Roman" panose="02020603050405020304" pitchFamily="18" charset="0"/>
                <a:cs typeface="Times New Roman" panose="02020603050405020304" pitchFamily="18" charset="0"/>
              </a:rPr>
              <a:t>Trois types de douleurs sont en rapport avec une atteinte cardiaque</a:t>
            </a:r>
            <a:endParaRPr lang="en-US" altLang="en-US" sz="3200" dirty="0">
              <a:latin typeface="Times New Roman" panose="02020603050405020304" pitchFamily="18" charset="0"/>
              <a:cs typeface="Times New Roman" panose="02020603050405020304" pitchFamily="18" charset="0"/>
            </a:endParaRPr>
          </a:p>
          <a:p>
            <a:pPr marL="0" indent="0" algn="just">
              <a:buClrTx/>
              <a:buSzTx/>
              <a:buNone/>
            </a:pPr>
            <a:endParaRPr kumimoji="0" lang="en-US"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ClrTx/>
              <a:buSzTx/>
              <a:buNone/>
            </a:pP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a:t>
            </a: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Douleur Ischémique ou </a:t>
            </a: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Coronarienne</a:t>
            </a:r>
            <a:endParaRPr kumimoji="0" lang="en-US"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00000"/>
              </a:lnSpc>
              <a:spcBef>
                <a:spcPct val="0"/>
              </a:spcBef>
              <a:spcAft>
                <a:spcPct val="0"/>
              </a:spcAft>
              <a:buClrTx/>
              <a:buSzTx/>
              <a:buFontTx/>
              <a:buNone/>
              <a:tabLst>
                <a:tab pos="914400" algn="l"/>
                <a:tab pos="1600200" algn="l"/>
              </a:tabLst>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C’est une douleur liée à l’effort, qui prend le caractère d’un serrement au milieu de la poitrine, derrière le sternum et qui irradie vers les mâchoires, les épaules et les bras. Elle s’arrête avec l’effort, se reproduit avec lui ; elle peut s’accompagner de sueurs et de nausées.</a:t>
            </a:r>
            <a:endParaRPr kumimoji="0" lang="fr-FR"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080092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35429" y="814985"/>
            <a:ext cx="1129937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45720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Douleur Péricardique</a:t>
            </a:r>
            <a:endParaRPr kumimoji="0" lang="en-US" altLang="en-US"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C’est une douleur non liée à l’effort, ressentie comme un coup de poignard, restant localisée, s’accentuant avec la respiration et les mouvements</a:t>
            </a: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endParaRPr kumimoji="0" lang="en-US"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457200" algn="l"/>
              </a:tabLst>
            </a:pP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Douleur </a:t>
            </a:r>
            <a:r>
              <a:rPr kumimoji="0" lang="fr-FR" altLang="en-US" sz="3200" b="1" i="0" u="none" strike="noStrike" cap="none" normalizeH="0" baseline="0" dirty="0" err="1"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Neurotonique</a:t>
            </a:r>
            <a:endParaRPr kumimoji="0" lang="en-US" altLang="en-US"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Elle ne correspond pas à une affection organique du cœur. C’est une douleur en pointe, en piqûres brèves, se répétant sans lien avec l’effort et soulagée par le calme et la quiétude psychologique.</a:t>
            </a:r>
            <a:endParaRPr kumimoji="0" lang="fr-FR"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359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PALPITATIONS</a:t>
            </a:r>
            <a:endParaRPr lang="en-US"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C’est la perception par le sujet, des battements cardiaques qui normalement ne sont pas ressentis chez l’individu sain. Elles peuvent être associées à une douleur ou à une dyspnée</a:t>
            </a:r>
            <a:r>
              <a:rPr lang="fr-FR" sz="3200" dirty="0" smtClean="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0125101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57200" y="1216442"/>
            <a:ext cx="1119051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 pos="1600200" algn="l"/>
              </a:tabLst>
              <a:defRPr>
                <a:solidFill>
                  <a:schemeClr val="tx1"/>
                </a:solidFill>
                <a:latin typeface="Arial" panose="020B0604020202020204" pitchFamily="34" charset="0"/>
              </a:defRPr>
            </a:lvl9pPr>
          </a:lstStyle>
          <a:p>
            <a:pPr marL="457200" marR="0" lvl="1" indent="0" algn="just" defTabSz="914400" rtl="0" eaLnBrk="0" fontAlgn="base" latinLnBrk="0" hangingPunct="0">
              <a:lnSpc>
                <a:spcPct val="100000"/>
              </a:lnSpc>
              <a:spcBef>
                <a:spcPct val="0"/>
              </a:spcBef>
              <a:spcAft>
                <a:spcPct val="0"/>
              </a:spcAft>
              <a:buClrTx/>
              <a:buSzTx/>
              <a:buNone/>
              <a:tabLst>
                <a:tab pos="914400" algn="l"/>
                <a:tab pos="1600200" algn="l"/>
              </a:tabLst>
            </a:pPr>
            <a:r>
              <a:rPr kumimoji="0" lang="fr-FR" altLang="en-US"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 LIPOTHYMIE ET LA </a:t>
            </a:r>
            <a:r>
              <a:rPr kumimoji="0" lang="fr-FR" altLang="en-US"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SYNCOPE</a:t>
            </a:r>
          </a:p>
          <a:p>
            <a:pPr marL="457200" marR="0" lvl="1" indent="0" algn="just" defTabSz="914400" rtl="0" eaLnBrk="0" fontAlgn="base" latinLnBrk="0" hangingPunct="0">
              <a:lnSpc>
                <a:spcPct val="100000"/>
              </a:lnSpc>
              <a:spcBef>
                <a:spcPct val="0"/>
              </a:spcBef>
              <a:spcAft>
                <a:spcPct val="0"/>
              </a:spcAft>
              <a:buClrTx/>
              <a:buSzTx/>
              <a:buFontTx/>
              <a:buAutoNum type="romanUcPeriod"/>
              <a:tabLst>
                <a:tab pos="914400" algn="l"/>
                <a:tab pos="1600200" algn="l"/>
              </a:tabLst>
            </a:pPr>
            <a:endParaRPr kumimoji="0" lang="en-US"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tab pos="914400" algn="l"/>
                <a:tab pos="1600200" algn="l"/>
              </a:tabLst>
            </a:pP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Lipothymie ou Malaise</a:t>
            </a:r>
            <a:endParaRPr kumimoji="0" lang="en-US" altLang="en-US"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00000"/>
              </a:lnSpc>
              <a:spcBef>
                <a:spcPct val="0"/>
              </a:spcBef>
              <a:spcAft>
                <a:spcPct val="0"/>
              </a:spcAft>
              <a:buClrTx/>
              <a:buSzTx/>
              <a:buFontTx/>
              <a:buNone/>
              <a:tabLst>
                <a:tab pos="914400" algn="l"/>
                <a:tab pos="1600200" algn="l"/>
              </a:tabLst>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C’est une impression angoissante d’évanouissement imminent, avec pâleur, sueur, acouphène phosphène ou vue trouble. La lipothymie aboutie rarement à un évanouissement ; elle est d’origine vasomotrice et survient à l’occasion d’une émotion ou du premier levé d’un alité.</a:t>
            </a:r>
            <a:endParaRPr kumimoji="0" lang="fr-FR"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56606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35428" y="1471047"/>
            <a:ext cx="1138645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None/>
              <a:tabLst/>
            </a:pP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La </a:t>
            </a:r>
            <a:r>
              <a:rPr kumimoji="0" lang="fr-FR" altLang="en-US" sz="32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Syncope</a:t>
            </a:r>
            <a:endParaRPr kumimoji="0" lang="en-US" altLang="en-US" sz="32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endParaRPr>
          </a:p>
          <a:p>
            <a:pPr marL="0" marR="0" lvl="0" indent="457200" algn="just" defTabSz="914400" rtl="0" eaLnBrk="0" fontAlgn="base" latinLnBrk="0" hangingPunct="0">
              <a:lnSpc>
                <a:spcPct val="100000"/>
              </a:lnSpc>
              <a:spcBef>
                <a:spcPct val="0"/>
              </a:spcBef>
              <a:spcAft>
                <a:spcPct val="0"/>
              </a:spcAft>
              <a:buClrTx/>
              <a:buSzTx/>
              <a:buFontTx/>
              <a:buNone/>
              <a:tabLst/>
            </a:pPr>
            <a:r>
              <a:rPr kumimoji="0" lang="fr-FR" altLang="en-US"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C’est une perte de connaissance brutale, complète, liée à une soudaine anoxie cérébrale. Elle s’accompagne d’arrêt respiratoire ; elle est brève et réversible. La syncope est provoquée par une pause cardiaque, par une bradycardie, ou par une tachycardie excessive ou par une subite hypotension artérielle. La syncope est donc une mort apparente qui devient effective si elle se prolonge.</a:t>
            </a:r>
            <a:endParaRPr kumimoji="0" lang="fr-FR" altLang="en-US"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102211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31371" y="979714"/>
            <a:ext cx="10972800" cy="4920343"/>
          </a:xfrm>
        </p:spPr>
        <p:txBody>
          <a:bodyPr>
            <a:normAutofit/>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LES OEDEMES DES MEMBRES INFERIEURS</a:t>
            </a:r>
            <a:endParaRPr lang="en-US"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Les œdèmes des membres inférieurs ne sont pas spécifiques aux affections cardiaques, mais leur groupement avec d’autres signes permet l’orientation vers une atteinte cardiaque ; ces œdèmes ont la particularité d’être déclives, c’est-à-dire qu’il siège à l’endroit le plus bas du corps : sur un malade debout, ils se montreront aux chevilles et aux pieds ; sur un malade couché, on les retrouvera au niveau des fesses, de la région lombaire et des cuisses.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197780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48343" y="1088567"/>
            <a:ext cx="11473543" cy="4376057"/>
          </a:xfrm>
        </p:spPr>
        <p:txBody>
          <a:bodyPr/>
          <a:lstStyle/>
          <a:p>
            <a:pPr marL="393192" lvl="1" indent="0">
              <a:buNone/>
            </a:pPr>
            <a:r>
              <a:rPr lang="fr-FR" sz="3200" b="1" u="sng" dirty="0">
                <a:solidFill>
                  <a:srgbClr val="C00000"/>
                </a:solidFill>
                <a:latin typeface="Times New Roman" panose="02020603050405020304" pitchFamily="18" charset="0"/>
                <a:cs typeface="Times New Roman" panose="02020603050405020304" pitchFamily="18" charset="0"/>
              </a:rPr>
              <a:t>LA CLAUDICATION INTERMITTENTE</a:t>
            </a:r>
            <a:endParaRPr lang="en-US" sz="3200" dirty="0">
              <a:solidFill>
                <a:srgbClr val="C00000"/>
              </a:solidFill>
              <a:latin typeface="Times New Roman" panose="02020603050405020304" pitchFamily="18" charset="0"/>
              <a:cs typeface="Times New Roman" panose="02020603050405020304" pitchFamily="18" charset="0"/>
            </a:endParaRPr>
          </a:p>
          <a:p>
            <a:r>
              <a:rPr lang="fr-FR" sz="3200" dirty="0">
                <a:latin typeface="Times New Roman" panose="02020603050405020304" pitchFamily="18" charset="0"/>
                <a:cs typeface="Times New Roman" panose="02020603050405020304" pitchFamily="18" charset="0"/>
              </a:rPr>
              <a:t>C’est un symptôme caractéristique d’affection vasculaire (Artériopathie des membres inférieurs). Lorsque le sujet marche, le besoin en oxygène s’accroît ; les artères indurées et rétrécies par l’artériosclérose, ne peuvent assurer, du fait de leur calibre réduit, un apport suffisant de sang. Le manque d’oxygène au membre inférieur provoque une douleur qui amène le patient à interrompre la marche.</a:t>
            </a:r>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9525952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566057" y="1373876"/>
            <a:ext cx="1114697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fr-FR" altLang="fr-FR" sz="3200" b="1" i="0" u="sng" strike="noStrike" cap="none" normalizeH="0" baseline="0" dirty="0" smtClean="0">
                <a:ln>
                  <a:noFill/>
                </a:ln>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BIBLIOGRAPHIE</a:t>
            </a:r>
            <a:endParaRPr kumimoji="0" lang="fr-FR" altLang="fr-FR" sz="32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tab pos="457200" algn="l"/>
              </a:tabLst>
            </a:pPr>
            <a:endPar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LES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FILLES DE LA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CHARITE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1970</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fr-FR" altLang="fr-FR" sz="3200" dirty="0">
                <a:latin typeface="Times New Roman" panose="02020603050405020304" pitchFamily="18" charset="0"/>
                <a:cs typeface="Times New Roman" panose="02020603050405020304" pitchFamily="18" charset="0"/>
              </a:rPr>
              <a:t>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Soins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aux malades et aux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enfants</a:t>
            </a:r>
            <a:r>
              <a:rPr kumimoji="0" lang="fr-FR" altLang="fr-FR" sz="3200" b="0"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Renne, France.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Communauté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Hôtel de Dieu, 2 rue de l’Hôtel de Dieu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P </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283-283</a:t>
            </a:r>
            <a:endParaRPr kumimoji="0" lang="fr-FR"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0" algn="just">
              <a:buClrTx/>
              <a:buSzTx/>
            </a:pP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 </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RENOU (</a:t>
            </a:r>
            <a:r>
              <a:rPr lang="fr-FR" altLang="fr-FR" sz="3200" dirty="0">
                <a:latin typeface="Times New Roman" panose="02020603050405020304" pitchFamily="18" charset="0"/>
                <a:ea typeface="Times New Roman" panose="02020603050405020304" pitchFamily="18" charset="0"/>
                <a:cs typeface="Times New Roman" panose="02020603050405020304" pitchFamily="18" charset="0"/>
              </a:rPr>
              <a:t>1987</a:t>
            </a:r>
            <a:r>
              <a:rPr lang="fr-FR"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fr-FR" altLang="fr-FR" sz="3200" dirty="0" smtClean="0">
                <a:latin typeface="Times New Roman" panose="02020603050405020304" pitchFamily="18" charset="0"/>
                <a:cs typeface="Times New Roman" panose="02020603050405020304" pitchFamily="18" charset="0"/>
              </a:rPr>
              <a:t>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Cahier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 l’Infirmier N°3 : Appareil </a:t>
            </a:r>
            <a:r>
              <a:rPr kumimoji="0" lang="fr-FR" altLang="fr-FR" sz="3200" b="0" i="1"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Cardiovasculaire.</a:t>
            </a:r>
            <a:r>
              <a:rPr kumimoji="0" lang="fr-FR"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altLang="fr-FR" sz="3200" dirty="0">
                <a:latin typeface="Times New Roman" panose="02020603050405020304" pitchFamily="18" charset="0"/>
                <a:ea typeface="Times New Roman" panose="02020603050405020304" pitchFamily="18" charset="0"/>
                <a:cs typeface="Times New Roman" panose="02020603050405020304" pitchFamily="18" charset="0"/>
              </a:rPr>
              <a:t>Paris CEDEX </a:t>
            </a:r>
            <a:r>
              <a:rPr lang="en-GB" altLang="fr-FR" sz="3200" dirty="0" smtClean="0">
                <a:latin typeface="Times New Roman" panose="02020603050405020304" pitchFamily="18" charset="0"/>
                <a:ea typeface="Times New Roman" panose="02020603050405020304" pitchFamily="18" charset="0"/>
                <a:cs typeface="Times New Roman" panose="02020603050405020304" pitchFamily="18" charset="0"/>
              </a:rPr>
              <a:t>06, France. </a:t>
            </a:r>
            <a:r>
              <a:rPr lang="en-GB" altLang="fr-FR" sz="3200" dirty="0">
                <a:latin typeface="Times New Roman" panose="02020603050405020304" pitchFamily="18" charset="0"/>
                <a:ea typeface="Times New Roman" panose="02020603050405020304" pitchFamily="18" charset="0"/>
                <a:cs typeface="Times New Roman" panose="02020603050405020304" pitchFamily="18" charset="0"/>
              </a:rPr>
              <a:t>Edition </a:t>
            </a:r>
            <a:r>
              <a:rPr kumimoji="0" lang="en-GB"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Masson, 120 </a:t>
            </a:r>
            <a:r>
              <a:rPr kumimoji="0" lang="en-GB" altLang="fr-FR" sz="32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Bd</a:t>
            </a:r>
            <a:r>
              <a:rPr kumimoji="0" lang="en-GB"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St </a:t>
            </a:r>
            <a:r>
              <a:rPr kumimoji="0" lang="en-GB" altLang="fr-FR" sz="32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Germain</a:t>
            </a:r>
            <a:r>
              <a:rPr kumimoji="0" lang="en-GB"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75280 </a:t>
            </a:r>
            <a:r>
              <a:rPr kumimoji="0" lang="en-GB"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 </a:t>
            </a:r>
            <a:r>
              <a:rPr kumimoji="0" lang="en-GB" altLang="fr-FR" sz="3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88-90</a:t>
            </a:r>
            <a:endParaRPr kumimoji="0" lang="en-GB" altLang="fr-FR" sz="3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548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ébit">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0A7F1C1BBC144FB1691BAEE0D841C9" ma:contentTypeVersion="7" ma:contentTypeDescription="Crée un document." ma:contentTypeScope="" ma:versionID="5790d786264fc2ae08c5d07248581b66">
  <xsd:schema xmlns:xsd="http://www.w3.org/2001/XMLSchema" xmlns:xs="http://www.w3.org/2001/XMLSchema" xmlns:p="http://schemas.microsoft.com/office/2006/metadata/properties" xmlns:ns2="409b6e37-c54c-4508-b401-023024648bd4" targetNamespace="http://schemas.microsoft.com/office/2006/metadata/properties" ma:root="true" ma:fieldsID="a7a8d0dcee9a25c26f1f1774a1cf3f3d" ns2:_="">
    <xsd:import namespace="409b6e37-c54c-4508-b401-023024648bd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9b6e37-c54c-4508-b401-023024648b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D483FF-A01C-4CF1-BAFE-6AB63E13B923}"/>
</file>

<file path=customXml/itemProps2.xml><?xml version="1.0" encoding="utf-8"?>
<ds:datastoreItem xmlns:ds="http://schemas.openxmlformats.org/officeDocument/2006/customXml" ds:itemID="{13B02A0F-A080-4791-9595-A6B9B95868BB}"/>
</file>

<file path=customXml/itemProps3.xml><?xml version="1.0" encoding="utf-8"?>
<ds:datastoreItem xmlns:ds="http://schemas.openxmlformats.org/officeDocument/2006/customXml" ds:itemID="{345ED985-6344-4C48-9F6F-C270A29A8F84}"/>
</file>

<file path=docProps/app.xml><?xml version="1.0" encoding="utf-8"?>
<Properties xmlns="http://schemas.openxmlformats.org/officeDocument/2006/extended-properties" xmlns:vt="http://schemas.openxmlformats.org/officeDocument/2006/docPropsVTypes">
  <Template/>
  <TotalTime>941</TotalTime>
  <Words>5987</Words>
  <Application>Microsoft Office PowerPoint</Application>
  <PresentationFormat>Personnalisé</PresentationFormat>
  <Paragraphs>926</Paragraphs>
  <Slides>144</Slides>
  <Notes>1</Notes>
  <HiddenSlides>0</HiddenSlides>
  <MMClips>0</MMClips>
  <ScaleCrop>false</ScaleCrop>
  <HeadingPairs>
    <vt:vector size="4" baseType="variant">
      <vt:variant>
        <vt:lpstr>Thème</vt:lpstr>
      </vt:variant>
      <vt:variant>
        <vt:i4>1</vt:i4>
      </vt:variant>
      <vt:variant>
        <vt:lpstr>Titres des diapositives</vt:lpstr>
      </vt:variant>
      <vt:variant>
        <vt:i4>144</vt:i4>
      </vt:variant>
    </vt:vector>
  </HeadingPairs>
  <TitlesOfParts>
    <vt:vector size="145" baseType="lpstr">
      <vt:lpstr>Débit</vt:lpstr>
      <vt:lpstr>COURS DE SOINS INFIRMIERS EN RAPPORT AVEC L’APPAREIL CARDIO-VASCULAIRE AU PROGRAMME DE FORMATION EN PREMIERE ANNEE COMMUNE (Licence 1)</vt:lpstr>
      <vt:lpstr>TITRES DES COURS</vt:lpstr>
      <vt:lpstr>LE POULS</vt:lpstr>
      <vt:lpstr>Présentation PowerPoint</vt:lpstr>
      <vt:lpstr>I. DEFINITION</vt:lpstr>
      <vt:lpstr>DIFFERENTS SITES DU POULS</vt:lpstr>
      <vt:lpstr>DIFFERENTS SITES DU POULS (suite)</vt:lpstr>
      <vt:lpstr>SHEMA DU SYSTÈME ARTERIEL</vt:lpstr>
      <vt:lpstr> LES VARIATIONS DU POULS</vt:lpstr>
      <vt:lpstr>LES VARIATIONS DU POULS</vt:lpstr>
      <vt:lpstr>LES VARIATIONS DU POULS</vt:lpstr>
      <vt:lpstr>LES VARIATIONS DU POULS (suite)</vt:lpstr>
      <vt:lpstr>LES VARIATIONS DU POULS (suite)</vt:lpstr>
      <vt:lpstr>LA PRISE DU POULS</vt:lpstr>
      <vt:lpstr>Le Matériel</vt:lpstr>
      <vt:lpstr>La Technique</vt:lpstr>
      <vt:lpstr>La Technique (suite)</vt:lpstr>
      <vt:lpstr>Présentation PowerPoint</vt:lpstr>
      <vt:lpstr>Présentation PowerPoint</vt:lpstr>
      <vt:lpstr>Présentation PowerPoint</vt:lpstr>
      <vt:lpstr>DEFINITION – GENERALITES</vt:lpstr>
      <vt:lpstr>DEFINITION – GENERALITES</vt:lpstr>
      <vt:lpstr>LES VARIATIONS DE LA TENSION ARTERIELLE </vt:lpstr>
      <vt:lpstr>Hypertension Artérielle </vt:lpstr>
      <vt:lpstr>Hypotension Artérielle </vt:lpstr>
      <vt:lpstr>LES FACTEURS INFLUANT SUR LA TENSION ARTERIELLE</vt:lpstr>
      <vt:lpstr>Présentation PowerPoint</vt:lpstr>
      <vt:lpstr>Présentation PowerPoint</vt:lpstr>
      <vt:lpstr>PRISE DE LA TENSION ARTERIELLE</vt:lpstr>
      <vt:lpstr>Présentation PowerPoint</vt:lpstr>
      <vt:lpstr>Présentation PowerPoint</vt:lpstr>
      <vt:lpstr>Présentation PowerPoint</vt:lpstr>
      <vt:lpstr>Présentation PowerPoint</vt:lpstr>
      <vt:lpstr>Présentation PowerPoint</vt:lpstr>
      <vt:lpstr>COLLAPSUS CARDIOVASCULAIRE ET CHOC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INJECTIONS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HEMORRAGIES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PERFUSIONS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LA TRANSFUSION SANGUINE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PRINCIPAUX SIGNES D’ATTEINTE DE L’APPAREIL CARDIO-VASCULAIRE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DE SOINS INFIRMIERS EN RAPPORT AVEC L’APPAREIL CARDIOVASCULAIRE   AU PROGRAMME DE FORMATION EN PREMIERE ANNEE COMMUNE</dc:title>
  <dc:creator>Mey</dc:creator>
  <cp:lastModifiedBy>ACER</cp:lastModifiedBy>
  <cp:revision>88</cp:revision>
  <dcterms:created xsi:type="dcterms:W3CDTF">2018-02-26T11:54:37Z</dcterms:created>
  <dcterms:modified xsi:type="dcterms:W3CDTF">2020-05-06T16:55:59Z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0x0101001E0A7F1C1BBC144FB1691BAEE0D841C9</vt:lpwstr>
  </property>
</Properties>
</file>