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7" r:id="rId29"/>
    <p:sldId id="285" r:id="rId30"/>
    <p:sldId id="286"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404" r:id="rId48"/>
    <p:sldId id="395" r:id="rId49"/>
    <p:sldId id="413" r:id="rId50"/>
    <p:sldId id="414" r:id="rId51"/>
    <p:sldId id="415" r:id="rId52"/>
    <p:sldId id="416" r:id="rId53"/>
    <p:sldId id="417" r:id="rId54"/>
    <p:sldId id="418" r:id="rId55"/>
    <p:sldId id="419" r:id="rId56"/>
    <p:sldId id="420" r:id="rId57"/>
    <p:sldId id="421" r:id="rId58"/>
    <p:sldId id="422" r:id="rId59"/>
    <p:sldId id="423" r:id="rId60"/>
    <p:sldId id="424" r:id="rId61"/>
    <p:sldId id="425" r:id="rId62"/>
    <p:sldId id="426" r:id="rId63"/>
    <p:sldId id="427" r:id="rId64"/>
    <p:sldId id="428" r:id="rId65"/>
    <p:sldId id="429" r:id="rId66"/>
    <p:sldId id="430" r:id="rId67"/>
    <p:sldId id="431" r:id="rId68"/>
    <p:sldId id="432" r:id="rId69"/>
    <p:sldId id="433" r:id="rId70"/>
    <p:sldId id="434" r:id="rId71"/>
    <p:sldId id="435" r:id="rId72"/>
    <p:sldId id="436" r:id="rId73"/>
    <p:sldId id="590" r:id="rId74"/>
    <p:sldId id="591" r:id="rId75"/>
    <p:sldId id="441" r:id="rId76"/>
    <p:sldId id="442" r:id="rId77"/>
    <p:sldId id="443" r:id="rId78"/>
    <p:sldId id="444" r:id="rId79"/>
    <p:sldId id="445" r:id="rId80"/>
    <p:sldId id="446" r:id="rId81"/>
    <p:sldId id="447" r:id="rId82"/>
    <p:sldId id="448" r:id="rId83"/>
    <p:sldId id="449" r:id="rId84"/>
    <p:sldId id="450" r:id="rId85"/>
    <p:sldId id="451" r:id="rId86"/>
    <p:sldId id="452" r:id="rId87"/>
    <p:sldId id="453" r:id="rId88"/>
    <p:sldId id="454" r:id="rId89"/>
    <p:sldId id="455" r:id="rId90"/>
    <p:sldId id="456" r:id="rId91"/>
    <p:sldId id="457" r:id="rId92"/>
    <p:sldId id="458" r:id="rId93"/>
    <p:sldId id="459" r:id="rId94"/>
    <p:sldId id="460" r:id="rId95"/>
    <p:sldId id="461" r:id="rId96"/>
    <p:sldId id="462" r:id="rId97"/>
    <p:sldId id="463" r:id="rId98"/>
    <p:sldId id="464" r:id="rId99"/>
    <p:sldId id="465" r:id="rId100"/>
    <p:sldId id="466" r:id="rId101"/>
    <p:sldId id="467" r:id="rId102"/>
    <p:sldId id="468" r:id="rId103"/>
    <p:sldId id="469" r:id="rId104"/>
    <p:sldId id="470" r:id="rId105"/>
    <p:sldId id="471" r:id="rId106"/>
    <p:sldId id="472" r:id="rId107"/>
    <p:sldId id="473" r:id="rId108"/>
    <p:sldId id="474" r:id="rId109"/>
    <p:sldId id="475" r:id="rId110"/>
    <p:sldId id="476" r:id="rId111"/>
    <p:sldId id="477" r:id="rId112"/>
    <p:sldId id="478" r:id="rId113"/>
    <p:sldId id="479" r:id="rId114"/>
    <p:sldId id="480" r:id="rId115"/>
    <p:sldId id="481" r:id="rId116"/>
    <p:sldId id="482" r:id="rId117"/>
    <p:sldId id="483" r:id="rId118"/>
    <p:sldId id="484" r:id="rId119"/>
    <p:sldId id="485" r:id="rId120"/>
    <p:sldId id="486" r:id="rId121"/>
    <p:sldId id="499" r:id="rId122"/>
    <p:sldId id="500" r:id="rId123"/>
    <p:sldId id="501" r:id="rId124"/>
    <p:sldId id="502" r:id="rId125"/>
    <p:sldId id="503" r:id="rId126"/>
    <p:sldId id="504" r:id="rId127"/>
    <p:sldId id="505" r:id="rId128"/>
    <p:sldId id="506" r:id="rId129"/>
    <p:sldId id="507" r:id="rId130"/>
    <p:sldId id="508" r:id="rId131"/>
    <p:sldId id="509" r:id="rId132"/>
    <p:sldId id="510" r:id="rId133"/>
    <p:sldId id="511" r:id="rId134"/>
    <p:sldId id="512" r:id="rId135"/>
    <p:sldId id="513" r:id="rId136"/>
    <p:sldId id="514" r:id="rId137"/>
    <p:sldId id="515" r:id="rId138"/>
    <p:sldId id="516" r:id="rId139"/>
    <p:sldId id="517" r:id="rId140"/>
    <p:sldId id="518" r:id="rId141"/>
    <p:sldId id="519" r:id="rId142"/>
    <p:sldId id="520" r:id="rId143"/>
    <p:sldId id="521" r:id="rId144"/>
    <p:sldId id="522" r:id="rId145"/>
    <p:sldId id="523" r:id="rId146"/>
    <p:sldId id="524" r:id="rId147"/>
    <p:sldId id="525" r:id="rId148"/>
    <p:sldId id="526" r:id="rId149"/>
    <p:sldId id="527" r:id="rId150"/>
    <p:sldId id="528" r:id="rId151"/>
    <p:sldId id="529" r:id="rId152"/>
    <p:sldId id="530" r:id="rId153"/>
    <p:sldId id="531" r:id="rId154"/>
    <p:sldId id="532" r:id="rId155"/>
    <p:sldId id="533" r:id="rId156"/>
    <p:sldId id="534" r:id="rId157"/>
    <p:sldId id="535" r:id="rId158"/>
    <p:sldId id="536" r:id="rId159"/>
    <p:sldId id="537" r:id="rId160"/>
    <p:sldId id="538" r:id="rId161"/>
    <p:sldId id="539" r:id="rId162"/>
    <p:sldId id="540" r:id="rId163"/>
    <p:sldId id="541" r:id="rId164"/>
    <p:sldId id="542" r:id="rId165"/>
    <p:sldId id="543" r:id="rId166"/>
    <p:sldId id="544" r:id="rId167"/>
    <p:sldId id="545" r:id="rId168"/>
    <p:sldId id="546" r:id="rId169"/>
    <p:sldId id="547" r:id="rId170"/>
    <p:sldId id="548" r:id="rId171"/>
    <p:sldId id="549" r:id="rId172"/>
    <p:sldId id="550" r:id="rId173"/>
    <p:sldId id="551" r:id="rId174"/>
    <p:sldId id="552" r:id="rId175"/>
    <p:sldId id="553" r:id="rId176"/>
    <p:sldId id="554" r:id="rId177"/>
    <p:sldId id="555" r:id="rId178"/>
    <p:sldId id="556" r:id="rId179"/>
    <p:sldId id="557" r:id="rId180"/>
    <p:sldId id="558" r:id="rId181"/>
    <p:sldId id="559" r:id="rId182"/>
    <p:sldId id="560" r:id="rId183"/>
    <p:sldId id="561" r:id="rId184"/>
    <p:sldId id="562" r:id="rId185"/>
    <p:sldId id="563" r:id="rId186"/>
    <p:sldId id="564" r:id="rId187"/>
    <p:sldId id="565" r:id="rId188"/>
    <p:sldId id="566" r:id="rId189"/>
    <p:sldId id="567" r:id="rId190"/>
    <p:sldId id="568" r:id="rId191"/>
    <p:sldId id="569" r:id="rId192"/>
    <p:sldId id="570" r:id="rId193"/>
    <p:sldId id="571" r:id="rId194"/>
    <p:sldId id="572" r:id="rId195"/>
    <p:sldId id="573" r:id="rId196"/>
    <p:sldId id="574" r:id="rId197"/>
    <p:sldId id="575" r:id="rId198"/>
    <p:sldId id="576" r:id="rId199"/>
    <p:sldId id="577" r:id="rId200"/>
    <p:sldId id="578" r:id="rId201"/>
    <p:sldId id="579" r:id="rId202"/>
    <p:sldId id="580" r:id="rId203"/>
    <p:sldId id="581" r:id="rId204"/>
    <p:sldId id="582" r:id="rId205"/>
    <p:sldId id="583" r:id="rId206"/>
    <p:sldId id="589" r:id="rId207"/>
    <p:sldId id="353" r:id="rId208"/>
    <p:sldId id="354" r:id="rId209"/>
    <p:sldId id="355" r:id="rId210"/>
    <p:sldId id="356" r:id="rId211"/>
    <p:sldId id="357" r:id="rId212"/>
    <p:sldId id="358" r:id="rId213"/>
    <p:sldId id="359" r:id="rId214"/>
    <p:sldId id="360" r:id="rId215"/>
    <p:sldId id="361" r:id="rId216"/>
    <p:sldId id="362" r:id="rId217"/>
    <p:sldId id="363" r:id="rId218"/>
    <p:sldId id="364" r:id="rId219"/>
    <p:sldId id="365" r:id="rId220"/>
    <p:sldId id="366" r:id="rId221"/>
    <p:sldId id="367" r:id="rId222"/>
    <p:sldId id="368" r:id="rId223"/>
    <p:sldId id="369" r:id="rId224"/>
    <p:sldId id="370" r:id="rId225"/>
    <p:sldId id="371" r:id="rId226"/>
    <p:sldId id="372" r:id="rId227"/>
    <p:sldId id="373" r:id="rId228"/>
    <p:sldId id="374" r:id="rId229"/>
    <p:sldId id="375" r:id="rId230"/>
    <p:sldId id="376" r:id="rId231"/>
    <p:sldId id="377" r:id="rId232"/>
    <p:sldId id="378" r:id="rId233"/>
    <p:sldId id="379" r:id="rId234"/>
    <p:sldId id="380" r:id="rId235"/>
    <p:sldId id="381" r:id="rId236"/>
    <p:sldId id="382" r:id="rId237"/>
    <p:sldId id="383" r:id="rId238"/>
    <p:sldId id="384" r:id="rId239"/>
    <p:sldId id="385" r:id="rId240"/>
    <p:sldId id="386" r:id="rId241"/>
    <p:sldId id="387" r:id="rId242"/>
    <p:sldId id="388" r:id="rId243"/>
    <p:sldId id="389" r:id="rId244"/>
    <p:sldId id="390" r:id="rId245"/>
    <p:sldId id="391" r:id="rId246"/>
    <p:sldId id="392" r:id="rId247"/>
    <p:sldId id="393" r:id="rId248"/>
    <p:sldId id="394" r:id="rId249"/>
    <p:sldId id="400" r:id="rId250"/>
    <p:sldId id="344" r:id="rId251"/>
    <p:sldId id="399" r:id="rId252"/>
    <p:sldId id="345" r:id="rId253"/>
    <p:sldId id="346" r:id="rId254"/>
    <p:sldId id="347" r:id="rId255"/>
    <p:sldId id="348" r:id="rId256"/>
    <p:sldId id="349" r:id="rId257"/>
    <p:sldId id="401" r:id="rId258"/>
    <p:sldId id="402" r:id="rId259"/>
    <p:sldId id="396" r:id="rId260"/>
    <p:sldId id="397" r:id="rId261"/>
    <p:sldId id="398" r:id="rId2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0D9"/>
    <a:srgbClr val="FFCCCC"/>
    <a:srgbClr val="EC73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56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presProps" Target="pres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theme" Target="theme/theme1.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tableStyles" Target="tableStyle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accueil">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dirty="0"/>
              <a:t>Modifiez le style du titre</a:t>
            </a:r>
            <a:endParaRPr lang="en-US" dirty="0"/>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Modifier le style des sous-titres du masque</a:t>
            </a:r>
            <a:endParaRPr lang="en-US"/>
          </a:p>
        </p:txBody>
      </p:sp>
    </p:spTree>
    <p:extLst>
      <p:ext uri="{BB962C8B-B14F-4D97-AF65-F5344CB8AC3E}">
        <p14:creationId xmlns:p14="http://schemas.microsoft.com/office/powerpoint/2010/main" val="2893063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61738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a:p>
        </p:txBody>
      </p:sp>
      <p:sp>
        <p:nvSpPr>
          <p:cNvPr id="3" name="Espace réservé du texte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Modifier les styles du texte du masque</a:t>
            </a:r>
          </a:p>
        </p:txBody>
      </p:sp>
    </p:spTree>
    <p:extLst>
      <p:ext uri="{BB962C8B-B14F-4D97-AF65-F5344CB8AC3E}">
        <p14:creationId xmlns:p14="http://schemas.microsoft.com/office/powerpoint/2010/main" val="3552301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3354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57B85565-F84C-4CDD-A2A9-B86FC9B9FE9A}" type="datetimeFigureOut">
              <a:rPr lang="fr-FR" smtClean="0"/>
              <a:t>25/11/2023</a:t>
            </a:fld>
            <a:endParaRPr lang="fr-FR"/>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p:cNvSpPr>
            <a:spLocks noGrp="1"/>
          </p:cNvSpPr>
          <p:nvPr>
            <p:ph type="sldNum" sz="quarter" idx="12"/>
          </p:nvPr>
        </p:nvSpPr>
        <p:spPr>
          <a:xfrm>
            <a:off x="8610600" y="6356350"/>
            <a:ext cx="2743200" cy="365125"/>
          </a:xfrm>
          <a:prstGeom prst="rect">
            <a:avLst/>
          </a:prstGeom>
        </p:spPr>
        <p:txBody>
          <a:bodyPr/>
          <a:lstStyle/>
          <a:p>
            <a:fld id="{B7EAF953-47B8-440C-847C-E5C6C3F4C286}" type="slidenum">
              <a:rPr lang="fr-FR" smtClean="0"/>
              <a:t>‹N°›</a:t>
            </a:fld>
            <a:endParaRPr lang="fr-FR"/>
          </a:p>
        </p:txBody>
      </p:sp>
    </p:spTree>
    <p:extLst>
      <p:ext uri="{BB962C8B-B14F-4D97-AF65-F5344CB8AC3E}">
        <p14:creationId xmlns:p14="http://schemas.microsoft.com/office/powerpoint/2010/main" val="3583676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solidDmn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66337" y="773722"/>
            <a:ext cx="10317480" cy="815927"/>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7" name="ZoneTexte 6"/>
          <p:cNvSpPr txBox="1"/>
          <p:nvPr userDrawn="1"/>
        </p:nvSpPr>
        <p:spPr>
          <a:xfrm>
            <a:off x="-2068" y="6628503"/>
            <a:ext cx="12204000" cy="252000"/>
          </a:xfrm>
          <a:prstGeom prst="rect">
            <a:avLst/>
          </a:prstGeom>
          <a:solidFill>
            <a:srgbClr val="00B050"/>
          </a:solidFill>
          <a:ln w="12700" cmpd="sng">
            <a:solidFill>
              <a:srgbClr val="00B050"/>
            </a:solidFill>
          </a:ln>
        </p:spPr>
        <p:txBody>
          <a:bodyPr wrap="square" tIns="0" bIns="0" rtlCol="0" anchor="b">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fr-FR" sz="1400" dirty="0">
              <a:solidFill>
                <a:schemeClr val="bg1"/>
              </a:solidFill>
              <a:latin typeface="Arial Black" pitchFamily="34"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fr-FR" sz="1400" dirty="0" err="1">
                <a:solidFill>
                  <a:schemeClr val="bg1"/>
                </a:solidFill>
                <a:latin typeface="Arial Black" pitchFamily="34" charset="0"/>
              </a:rPr>
              <a:t>Blvd</a:t>
            </a:r>
            <a:r>
              <a:rPr lang="fr-FR" sz="1400" dirty="0">
                <a:solidFill>
                  <a:schemeClr val="bg1"/>
                </a:solidFill>
                <a:latin typeface="Arial Black" pitchFamily="34" charset="0"/>
              </a:rPr>
              <a:t> de Marseille, 18 BP 720 Abidjan 18, Tel.: (225) 21005660 / 21001906 – Email: info@infas.ci – site web: www.infas.ci</a:t>
            </a:r>
          </a:p>
        </p:txBody>
      </p:sp>
      <p:sp>
        <p:nvSpPr>
          <p:cNvPr id="8" name="ZoneTexte 7"/>
          <p:cNvSpPr txBox="1"/>
          <p:nvPr userDrawn="1"/>
        </p:nvSpPr>
        <p:spPr>
          <a:xfrm>
            <a:off x="0" y="6274189"/>
            <a:ext cx="12192000" cy="307777"/>
          </a:xfrm>
          <a:prstGeom prst="rect">
            <a:avLst/>
          </a:prstGeom>
          <a:solidFill>
            <a:srgbClr val="EC7320"/>
          </a:solid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400" dirty="0">
                <a:solidFill>
                  <a:schemeClr val="bg1"/>
                </a:solidFill>
                <a:latin typeface="Arial Black" pitchFamily="34" charset="0"/>
              </a:rPr>
              <a:t>INSTITUT NATIONAL DE FORMATION DES AGENTS DE SANTE - INFAS </a:t>
            </a:r>
          </a:p>
        </p:txBody>
      </p:sp>
      <p:pic>
        <p:nvPicPr>
          <p:cNvPr id="9" name="Image 8" descr="b"/>
          <p:cNvPicPr/>
          <p:nvPr userDrawn="1"/>
        </p:nvPicPr>
        <p:blipFill>
          <a:blip r:embed="rId7" cstate="print"/>
          <a:srcRect/>
          <a:stretch>
            <a:fillRect/>
          </a:stretch>
        </p:blipFill>
        <p:spPr bwMode="auto">
          <a:xfrm>
            <a:off x="14068" y="20791"/>
            <a:ext cx="928467" cy="880505"/>
          </a:xfrm>
          <a:prstGeom prst="rect">
            <a:avLst/>
          </a:prstGeom>
          <a:noFill/>
          <a:ln w="9525">
            <a:noFill/>
            <a:miter lim="800000"/>
            <a:headEnd/>
            <a:tailEnd/>
          </a:ln>
        </p:spPr>
      </p:pic>
      <p:pic>
        <p:nvPicPr>
          <p:cNvPr id="10" name="Image 9" descr="Résultat de recherche d'images pour &quot;logo mshp&quot;"/>
          <p:cNvPicPr/>
          <p:nvPr userDrawn="1"/>
        </p:nvPicPr>
        <p:blipFill>
          <a:blip r:embed="rId8" cstate="print"/>
          <a:srcRect/>
          <a:stretch>
            <a:fillRect/>
          </a:stretch>
        </p:blipFill>
        <p:spPr bwMode="auto">
          <a:xfrm>
            <a:off x="11029070" y="33240"/>
            <a:ext cx="1148861" cy="880505"/>
          </a:xfrm>
          <a:prstGeom prst="rect">
            <a:avLst/>
          </a:prstGeom>
          <a:noFill/>
          <a:ln w="9525">
            <a:noFill/>
            <a:miter lim="800000"/>
            <a:headEnd/>
            <a:tailEnd/>
          </a:ln>
        </p:spPr>
      </p:pic>
    </p:spTree>
    <p:extLst>
      <p:ext uri="{BB962C8B-B14F-4D97-AF65-F5344CB8AC3E}">
        <p14:creationId xmlns:p14="http://schemas.microsoft.com/office/powerpoint/2010/main" val="573985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377" rtl="0" eaLnBrk="1" latinLnBrk="0" hangingPunct="1">
        <a:lnSpc>
          <a:spcPct val="90000"/>
        </a:lnSpc>
        <a:spcBef>
          <a:spcPct val="0"/>
        </a:spcBef>
        <a:buNone/>
        <a:defRPr sz="3000" kern="1200">
          <a:solidFill>
            <a:schemeClr val="tx1"/>
          </a:solidFill>
          <a:latin typeface="Arial Black" panose="020B0A04020102020204" pitchFamily="34"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hyperlink" Target="http://fr.wikipedia.org/wiki/Eau" TargetMode="External"/><Relationship Id="rId2" Type="http://schemas.openxmlformats.org/officeDocument/2006/relationships/hyperlink" Target="http://fr.wikipedia.org/wiki/R%C3%A9cipient" TargetMode="External"/><Relationship Id="rId1" Type="http://schemas.openxmlformats.org/officeDocument/2006/relationships/slideLayout" Target="../slideLayouts/slideLayout5.xml"/><Relationship Id="rId5" Type="http://schemas.openxmlformats.org/officeDocument/2006/relationships/hyperlink" Target="http://fr.wikipedia.org/wiki/Caoutchouc_(mat%C3%A9riau)" TargetMode="External"/><Relationship Id="rId4" Type="http://schemas.openxmlformats.org/officeDocument/2006/relationships/hyperlink" Target="http://fr.wikipedia.org/wiki/Lit_(mobilier)" TargetMode="External"/></Relationships>
</file>

<file path=ppt/slides/_rels/slide7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2" Type="http://schemas.openxmlformats.org/officeDocument/2006/relationships/hyperlink" Target="http://www.soins-infirmiers.com/hygiene_des_mains.php" TargetMode="External"/><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emf"/><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1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7.xml.rels><?xml version="1.0" encoding="UTF-8" standalone="yes"?>
<Relationships xmlns="http://schemas.openxmlformats.org/package/2006/relationships"><Relationship Id="rId2" Type="http://schemas.openxmlformats.org/officeDocument/2006/relationships/hyperlink" Target="http://www.soins-infirmiers.com/calculs_de_doses.php" TargetMode="External"/><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8.xml.rels><?xml version="1.0" encoding="UTF-8" standalone="yes"?>
<Relationships xmlns="http://schemas.openxmlformats.org/package/2006/relationships"><Relationship Id="rId3" Type="http://schemas.openxmlformats.org/officeDocument/2006/relationships/hyperlink" Target="http://fr.wikipedia.org/wiki/Eau" TargetMode="External"/><Relationship Id="rId2" Type="http://schemas.openxmlformats.org/officeDocument/2006/relationships/hyperlink" Target="http://fr.wikipedia.org/wiki/R%C3%A9cipient" TargetMode="External"/><Relationship Id="rId1" Type="http://schemas.openxmlformats.org/officeDocument/2006/relationships/slideLayout" Target="../slideLayouts/slideLayout5.xml"/><Relationship Id="rId5" Type="http://schemas.openxmlformats.org/officeDocument/2006/relationships/hyperlink" Target="http://fr.wikipedia.org/wiki/Caoutchouc_(mat%C3%A9riau)" TargetMode="External"/><Relationship Id="rId4" Type="http://schemas.openxmlformats.org/officeDocument/2006/relationships/hyperlink" Target="http://fr.wikipedia.org/wiki/Lit_(mobilier)" TargetMode="External"/></Relationships>
</file>

<file path=ppt/slides/_rels/slide2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26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729" y="150473"/>
            <a:ext cx="11681139" cy="5785430"/>
          </a:xfrm>
          <a:prstGeom prst="rect">
            <a:avLst/>
          </a:prstGeom>
        </p:spPr>
        <p:txBody>
          <a:bodyPr wrap="square">
            <a:spAutoFit/>
          </a:bodyPr>
          <a:lstStyle/>
          <a:p>
            <a:pPr algn="ctr">
              <a:lnSpc>
                <a:spcPct val="115000"/>
              </a:lnSpc>
              <a:spcAft>
                <a:spcPts val="0"/>
              </a:spcAft>
            </a:pPr>
            <a:r>
              <a:rPr lang="fr-FR" sz="5400" b="1"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SOMMAIRE (1/6)</a:t>
            </a:r>
            <a:endParaRPr lang="fr-FR" sz="5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800" b="1" dirty="0">
                <a:latin typeface="Times New Roman" panose="02020603050405020304" pitchFamily="18" charset="0"/>
                <a:ea typeface="Calibri" panose="020F0502020204030204" pitchFamily="34" charset="0"/>
                <a:cs typeface="Times New Roman" panose="02020603050405020304" pitchFamily="18" charset="0"/>
              </a:rPr>
              <a:t> </a:t>
            </a:r>
            <a:endParaRPr lang="fr-FR"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endParaRPr lang="fr-FR"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800" b="1" dirty="0">
                <a:latin typeface="Times New Roman" panose="02020603050405020304" pitchFamily="18" charset="0"/>
                <a:ea typeface="Calibri" panose="020F0502020204030204" pitchFamily="34" charset="0"/>
                <a:cs typeface="Times New Roman" panose="02020603050405020304" pitchFamily="18" charset="0"/>
              </a:rPr>
              <a:t> </a:t>
            </a:r>
            <a:endParaRPr lang="fr-FR"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32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CHAPITRE 1 : </a:t>
            </a:r>
            <a:r>
              <a:rPr lang="fr-FR" sz="3200" b="1" dirty="0">
                <a:solidFill>
                  <a:schemeClr val="accent6"/>
                </a:solidFill>
                <a:latin typeface="Arial Black" panose="020B0A04020102020204" pitchFamily="34" charset="0"/>
                <a:ea typeface="Calibri" panose="020F0502020204030204" pitchFamily="34" charset="0"/>
                <a:cs typeface="Times New Roman" panose="02020603050405020304" pitchFamily="18" charset="0"/>
              </a:rPr>
              <a:t>SOINS INFIRMIERS GENERAUX </a:t>
            </a:r>
            <a:endParaRPr lang="fr-FR" sz="3200" dirty="0" smtClean="0">
              <a:solidFill>
                <a:schemeClr val="accent6"/>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320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ACCUEIL </a:t>
            </a:r>
            <a:r>
              <a:rPr lang="fr-FR" sz="32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DU MALADE</a:t>
            </a:r>
          </a:p>
          <a:p>
            <a:pPr>
              <a:lnSpc>
                <a:spcPct val="150000"/>
              </a:lnSpc>
              <a:spcAft>
                <a:spcPts val="0"/>
              </a:spcAft>
            </a:pPr>
            <a:r>
              <a:rPr lang="fr-FR" sz="32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VISITES </a:t>
            </a:r>
            <a:r>
              <a:rPr lang="fr-FR" sz="32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AUX </a:t>
            </a:r>
            <a:r>
              <a:rPr lang="fr-FR" sz="32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MALADES</a:t>
            </a:r>
            <a:endParaRPr lang="fr-FR" sz="32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32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CHAMBRE DU </a:t>
            </a:r>
            <a:r>
              <a:rPr lang="fr-FR" sz="32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MALADE</a:t>
            </a:r>
            <a:endParaRPr lang="fr-FR" sz="32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32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REPOS DU </a:t>
            </a:r>
            <a:r>
              <a:rPr lang="fr-FR" sz="32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MALADE</a:t>
            </a:r>
          </a:p>
          <a:p>
            <a:pPr>
              <a:lnSpc>
                <a:spcPct val="150000"/>
              </a:lnSpc>
              <a:spcAft>
                <a:spcPts val="0"/>
              </a:spcAft>
            </a:pPr>
            <a:r>
              <a:rPr lang="fr-FR" sz="32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REFECTION </a:t>
            </a:r>
            <a:r>
              <a:rPr lang="fr-FR" sz="32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DU LIT DU </a:t>
            </a:r>
            <a:r>
              <a:rPr lang="fr-FR" sz="32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MALADE</a:t>
            </a:r>
            <a:endParaRPr lang="fr-FR" sz="3200" dirty="0">
              <a:solidFill>
                <a:srgbClr val="FF0000"/>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962130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3437" y="0"/>
            <a:ext cx="11848563" cy="5798510"/>
          </a:xfrm>
          <a:prstGeom prst="rect">
            <a:avLst/>
          </a:prstGeom>
        </p:spPr>
        <p:txBody>
          <a:bodyPr wrap="square">
            <a:spAutoFit/>
          </a:bodyPr>
          <a:lstStyle/>
          <a:p>
            <a:pPr>
              <a:lnSpc>
                <a:spcPct val="115000"/>
              </a:lnSpc>
            </a:pPr>
            <a:r>
              <a:rPr lang="fr-FR" sz="2400" b="1" dirty="0" smtClean="0">
                <a:solidFill>
                  <a:srgbClr val="00B0F0"/>
                </a:solidFill>
                <a:latin typeface="Arial Black" panose="020B0A04020102020204" pitchFamily="34" charset="0"/>
                <a:ea typeface="Calibri" panose="020F0502020204030204" pitchFamily="34" charset="0"/>
                <a:cs typeface="Times New Roman" panose="02020603050405020304" pitchFamily="18" charset="0"/>
              </a:rPr>
              <a:t>     </a:t>
            </a:r>
            <a:r>
              <a:rPr lang="fr-FR" sz="20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SOMMAIRE </a:t>
            </a:r>
            <a:r>
              <a:rPr lang="fr-FR" sz="2000" b="1"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(2/6)</a:t>
            </a:r>
            <a:endParaRPr lang="fr-FR" sz="20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400" b="1" dirty="0" smtClean="0">
                <a:solidFill>
                  <a:srgbClr val="00B0F0"/>
                </a:solidFill>
                <a:latin typeface="Arial Black" panose="020B0A04020102020204" pitchFamily="34" charset="0"/>
                <a:ea typeface="Calibri" panose="020F0502020204030204" pitchFamily="34" charset="0"/>
                <a:cs typeface="Times New Roman" panose="02020603050405020304" pitchFamily="18" charset="0"/>
              </a:rPr>
              <a:t>    CHAPITRE </a:t>
            </a:r>
            <a:r>
              <a:rPr lang="fr-FR" sz="2400" b="1" dirty="0">
                <a:solidFill>
                  <a:srgbClr val="00B0F0"/>
                </a:solidFill>
                <a:latin typeface="Arial Black" panose="020B0A04020102020204" pitchFamily="34" charset="0"/>
                <a:ea typeface="Calibri" panose="020F0502020204030204" pitchFamily="34" charset="0"/>
                <a:cs typeface="Times New Roman" panose="02020603050405020304" pitchFamily="18" charset="0"/>
              </a:rPr>
              <a:t>2</a:t>
            </a:r>
            <a:r>
              <a:rPr lang="fr-FR" sz="24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 : </a:t>
            </a:r>
            <a:r>
              <a:rPr lang="fr-FR" sz="2400" b="1" dirty="0">
                <a:solidFill>
                  <a:schemeClr val="accent6"/>
                </a:solidFill>
                <a:latin typeface="Arial Black" panose="020B0A04020102020204" pitchFamily="34" charset="0"/>
                <a:ea typeface="Calibri" panose="020F0502020204030204" pitchFamily="34" charset="0"/>
                <a:cs typeface="Times New Roman" panose="02020603050405020304" pitchFamily="18" charset="0"/>
              </a:rPr>
              <a:t>TECHNIQUES DE SOINS INFIRMIERS DE BASE EN MEDECINE ET EN </a:t>
            </a:r>
            <a:r>
              <a:rPr lang="fr-FR" sz="2400" b="1" dirty="0" smtClean="0">
                <a:solidFill>
                  <a:schemeClr val="accent6"/>
                </a:solidFill>
                <a:latin typeface="Arial Black" panose="020B0A04020102020204" pitchFamily="34" charset="0"/>
                <a:ea typeface="Calibri" panose="020F0502020204030204" pitchFamily="34" charset="0"/>
                <a:cs typeface="Times New Roman" panose="02020603050405020304" pitchFamily="18" charset="0"/>
              </a:rPr>
              <a:t>CHIRURGIE</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b="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SOINS INFIRMIERS DANS LA FONCTION DE </a:t>
            </a:r>
            <a:r>
              <a:rPr lang="fr-FR" sz="24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THERMOREGULATION</a:t>
            </a:r>
            <a:endParaRPr lang="fr-FR" sz="2400" dirty="0">
              <a:solidFill>
                <a:srgbClr val="C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en-US"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THERMOREGULATION</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en-US"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TEMPERATURE CORPORELLE ET THERMOMETRE </a:t>
            </a:r>
            <a:r>
              <a:rPr lang="en-US"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MEDICAL</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FEUILLE DE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TEMPERATURE</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VESSIE DE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GLACE</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BOUILLOTTE</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COUP DE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CHALEUR</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INSOLATION.</a:t>
            </a:r>
            <a:endParaRPr lang="fr-FR" sz="2400" dirty="0">
              <a:solidFill>
                <a:srgbClr val="FF0000"/>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594152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2" y="1305342"/>
            <a:ext cx="11372045" cy="3323987"/>
          </a:xfrm>
          <a:prstGeom prst="rect">
            <a:avLst/>
          </a:prstGeom>
        </p:spPr>
        <p:txBody>
          <a:bodyPr wrap="square">
            <a:spAutoFit/>
          </a:bodyPr>
          <a:lstStyle/>
          <a:p>
            <a:pPr>
              <a:lnSpc>
                <a:spcPct val="150000"/>
              </a:lnSpc>
            </a:pPr>
            <a:r>
              <a:rPr lang="fr-FR" sz="28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SOMMAIRE </a:t>
            </a:r>
            <a:r>
              <a:rPr lang="fr-FR" sz="2800" b="1"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(3/6)</a:t>
            </a:r>
            <a:endParaRPr lang="fr-FR" sz="28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8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SOINS </a:t>
            </a:r>
            <a:r>
              <a:rPr lang="fr-FR" sz="2800" b="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INFIRMIERS DANS LA FONCTION </a:t>
            </a:r>
            <a:r>
              <a:rPr lang="fr-FR" sz="28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LOCOMOTRICE</a:t>
            </a:r>
          </a:p>
          <a:p>
            <a:pPr>
              <a:lnSpc>
                <a:spcPct val="150000"/>
              </a:lnSpc>
              <a:spcAft>
                <a:spcPts val="0"/>
              </a:spcAft>
            </a:pP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PANSEMENTS </a:t>
            </a:r>
          </a:p>
          <a:p>
            <a:pPr>
              <a:lnSpc>
                <a:spcPct val="150000"/>
              </a:lnSpc>
              <a:spcAft>
                <a:spcPts val="0"/>
              </a:spcAft>
            </a:pP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BANDAGES </a:t>
            </a:r>
          </a:p>
          <a:p>
            <a:pPr>
              <a:lnSpc>
                <a:spcPct val="150000"/>
              </a:lnSpc>
              <a:spcAft>
                <a:spcPts val="0"/>
              </a:spcAft>
            </a:pP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IMMOBILISATIONS </a:t>
            </a:r>
            <a:r>
              <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PROVISOIRES </a:t>
            </a:r>
            <a:endParaRPr lang="fr-FR" sz="2800" dirty="0">
              <a:solidFill>
                <a:srgbClr val="FF0000"/>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057219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89" y="0"/>
            <a:ext cx="11861442" cy="5678478"/>
          </a:xfrm>
          <a:prstGeom prst="rect">
            <a:avLst/>
          </a:prstGeom>
        </p:spPr>
        <p:txBody>
          <a:bodyPr wrap="square">
            <a:spAutoFit/>
          </a:bodyPr>
          <a:lstStyle/>
          <a:p>
            <a:pPr>
              <a:lnSpc>
                <a:spcPct val="150000"/>
              </a:lnSpc>
            </a:pPr>
            <a:r>
              <a:rPr lang="fr-FR" sz="25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       </a:t>
            </a:r>
            <a:r>
              <a:rPr lang="fr-FR" sz="20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SOMMAIRE </a:t>
            </a:r>
            <a:r>
              <a:rPr lang="fr-FR" sz="2000" b="1"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(4/6)</a:t>
            </a:r>
            <a:endParaRPr lang="fr-FR" sz="25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5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SOINS </a:t>
            </a:r>
            <a:r>
              <a:rPr lang="fr-FR" sz="2500" b="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INFIRMIERS DANS FONCTION CARDIO-VASCULAIRE </a:t>
            </a:r>
            <a:endParaRPr lang="fr-FR" sz="25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endParaRPr>
          </a:p>
          <a:p>
            <a:pPr>
              <a:spcAft>
                <a:spcPts val="0"/>
              </a:spcAft>
            </a:pP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MESURE </a:t>
            </a: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DES PULSATIONS OU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POULS</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MESURE DE LA TENSION  OU PRESSION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ARTERIELLE</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INJECTIONS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PARENTERALES</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INJECTION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INTRADERMIQUE</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INJECTION SOUS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CUTANEE</a:t>
            </a:r>
          </a:p>
          <a:p>
            <a:r>
              <a:rPr lang="fr-FR" sz="2400" dirty="0">
                <a:solidFill>
                  <a:srgbClr val="FF0000"/>
                </a:solidFill>
                <a:latin typeface="Arial Black" panose="020B0A04020102020204" pitchFamily="34" charset="0"/>
              </a:rPr>
              <a:t>INJECTION </a:t>
            </a:r>
            <a:r>
              <a:rPr lang="fr-FR" sz="2400" dirty="0" smtClean="0">
                <a:solidFill>
                  <a:srgbClr val="FF0000"/>
                </a:solidFill>
                <a:latin typeface="Arial Black" panose="020B0A04020102020204" pitchFamily="34" charset="0"/>
              </a:rPr>
              <a:t>INTRAMUSCULAIRE</a:t>
            </a:r>
            <a:endParaRPr lang="fr-FR" sz="2400" dirty="0">
              <a:solidFill>
                <a:srgbClr val="FF0000"/>
              </a:solidFill>
              <a:latin typeface="Arial Black" panose="020B0A04020102020204" pitchFamily="34" charset="0"/>
            </a:endParaRPr>
          </a:p>
          <a:p>
            <a:r>
              <a:rPr lang="fr-FR" sz="2400" dirty="0">
                <a:solidFill>
                  <a:srgbClr val="FF0000"/>
                </a:solidFill>
                <a:latin typeface="Arial Black" panose="020B0A04020102020204" pitchFamily="34" charset="0"/>
              </a:rPr>
              <a:t>INJECTION </a:t>
            </a:r>
            <a:r>
              <a:rPr lang="fr-FR" sz="2400" dirty="0" smtClean="0">
                <a:solidFill>
                  <a:srgbClr val="FF0000"/>
                </a:solidFill>
                <a:latin typeface="Arial Black" panose="020B0A04020102020204" pitchFamily="34" charset="0"/>
              </a:rPr>
              <a:t>INTRAVEINEUSE</a:t>
            </a:r>
          </a:p>
          <a:p>
            <a:r>
              <a:rPr lang="fr-FR" sz="2400" dirty="0" smtClean="0">
                <a:solidFill>
                  <a:srgbClr val="FF0000"/>
                </a:solidFill>
                <a:latin typeface="Arial Black" panose="020B0A04020102020204" pitchFamily="34" charset="0"/>
              </a:rPr>
              <a:t>INJECTION LENTE PAR DISPOSITIF INTRAVEINEUX</a:t>
            </a:r>
          </a:p>
          <a:p>
            <a:r>
              <a:rPr lang="fr-FR" sz="2400" dirty="0" smtClean="0">
                <a:solidFill>
                  <a:srgbClr val="FF0000"/>
                </a:solidFill>
                <a:latin typeface="Arial Black" panose="020B0A04020102020204" pitchFamily="34" charset="0"/>
              </a:rPr>
              <a:t>PRELEVEMENT </a:t>
            </a:r>
            <a:r>
              <a:rPr lang="fr-FR" sz="2400" dirty="0">
                <a:solidFill>
                  <a:srgbClr val="FF0000"/>
                </a:solidFill>
                <a:latin typeface="Arial Black" panose="020B0A04020102020204" pitchFamily="34" charset="0"/>
              </a:rPr>
              <a:t>DE SANG PAR PONCTION </a:t>
            </a:r>
            <a:r>
              <a:rPr lang="fr-FR" sz="2400" dirty="0" smtClean="0">
                <a:solidFill>
                  <a:srgbClr val="FF0000"/>
                </a:solidFill>
                <a:latin typeface="Arial Black" panose="020B0A04020102020204" pitchFamily="34" charset="0"/>
              </a:rPr>
              <a:t>VEINEUSE</a:t>
            </a:r>
            <a:endParaRPr lang="fr-FR" sz="2400" dirty="0">
              <a:solidFill>
                <a:srgbClr val="FF0000"/>
              </a:solidFill>
              <a:latin typeface="Arial Black" panose="020B0A04020102020204" pitchFamily="34" charset="0"/>
            </a:endParaRPr>
          </a:p>
          <a:p>
            <a:r>
              <a:rPr lang="fr-FR" sz="2400" dirty="0">
                <a:solidFill>
                  <a:srgbClr val="FF0000"/>
                </a:solidFill>
                <a:latin typeface="Arial Black" panose="020B0A04020102020204" pitchFamily="34" charset="0"/>
              </a:rPr>
              <a:t>PERFUSION INTRAVEINEUSE </a:t>
            </a:r>
          </a:p>
          <a:p>
            <a:r>
              <a:rPr lang="fr-FR" sz="2400" dirty="0">
                <a:solidFill>
                  <a:srgbClr val="FF0000"/>
                </a:solidFill>
                <a:latin typeface="Arial Black" panose="020B0A04020102020204" pitchFamily="34" charset="0"/>
              </a:rPr>
              <a:t>SECURITE DES INJECTIONS ET IMPACT DES INJECTIONS A </a:t>
            </a:r>
            <a:r>
              <a:rPr lang="fr-FR" sz="2400" dirty="0" smtClean="0">
                <a:solidFill>
                  <a:srgbClr val="FF0000"/>
                </a:solidFill>
                <a:latin typeface="Arial Black" panose="020B0A04020102020204" pitchFamily="34" charset="0"/>
              </a:rPr>
              <a:t>RISQUE</a:t>
            </a:r>
            <a:endParaRPr lang="fr-FR" sz="2400" dirty="0">
              <a:solidFill>
                <a:srgbClr val="FF0000"/>
              </a:solidFill>
              <a:latin typeface="Arial Black" panose="020B0A04020102020204" pitchFamily="34" charset="0"/>
            </a:endParaRPr>
          </a:p>
          <a:p>
            <a:r>
              <a:rPr lang="fr-FR" sz="2400" dirty="0">
                <a:solidFill>
                  <a:srgbClr val="FF0000"/>
                </a:solidFill>
                <a:latin typeface="Arial Black" panose="020B0A04020102020204" pitchFamily="34" charset="0"/>
              </a:rPr>
              <a:t>CALCUL DES DOSES ET POURCENTAGE DES </a:t>
            </a:r>
            <a:r>
              <a:rPr lang="fr-FR" sz="2400" dirty="0" smtClean="0">
                <a:solidFill>
                  <a:srgbClr val="FF0000"/>
                </a:solidFill>
                <a:latin typeface="Arial Black" panose="020B0A04020102020204" pitchFamily="34" charset="0"/>
              </a:rPr>
              <a:t>MEDICAMENTS</a:t>
            </a:r>
            <a:endParaRPr lang="fr-FR" sz="2400" dirty="0">
              <a:solidFill>
                <a:srgbClr val="FF0000"/>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565956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7128" y="401505"/>
            <a:ext cx="11243256" cy="5410712"/>
          </a:xfrm>
          <a:prstGeom prst="rect">
            <a:avLst/>
          </a:prstGeom>
        </p:spPr>
        <p:txBody>
          <a:bodyPr wrap="square">
            <a:spAutoFit/>
          </a:bodyPr>
          <a:lstStyle/>
          <a:p>
            <a:pPr>
              <a:lnSpc>
                <a:spcPct val="115000"/>
              </a:lnSpc>
              <a:spcAft>
                <a:spcPts val="1000"/>
              </a:spcAft>
            </a:pPr>
            <a:r>
              <a:rPr lang="fr-FR" sz="28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SOMMAIRE </a:t>
            </a:r>
            <a:r>
              <a:rPr lang="fr-FR" sz="2800" b="1"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(5/6)</a:t>
            </a:r>
            <a:endParaRPr lang="fr-FR" sz="28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fr-FR" sz="28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SOINS </a:t>
            </a:r>
            <a:r>
              <a:rPr lang="fr-FR" sz="2800" b="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INFIRMIERS DANS LA FONCTION </a:t>
            </a:r>
            <a:r>
              <a:rPr lang="fr-FR" sz="28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URINAIRE</a:t>
            </a:r>
            <a:endParaRPr lang="fr-FR" sz="2800" dirty="0">
              <a:solidFill>
                <a:srgbClr val="C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GENERALITES</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RECUEIL DES URINES POUR </a:t>
            </a: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ANALYSE</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fr-FR" sz="2800" b="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SOINS INFIRMIERS DANS </a:t>
            </a:r>
            <a:r>
              <a:rPr lang="fr-FR" sz="28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LA </a:t>
            </a:r>
            <a:r>
              <a:rPr lang="fr-FR" sz="2800" b="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FONCTION </a:t>
            </a:r>
            <a:r>
              <a:rPr lang="fr-FR" sz="28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DIGESTIVE</a:t>
            </a:r>
            <a:endParaRPr lang="fr-FR" sz="2800" dirty="0">
              <a:solidFill>
                <a:srgbClr val="C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CONTROLE ET EVACUATION </a:t>
            </a: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INTESTINALE</a:t>
            </a:r>
          </a:p>
          <a:p>
            <a:pPr>
              <a:lnSpc>
                <a:spcPct val="150000"/>
              </a:lnSpc>
              <a:spcAft>
                <a:spcPts val="0"/>
              </a:spcAft>
            </a:pP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RECUEIL </a:t>
            </a:r>
            <a:r>
              <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ET SURVEILLANCE DES </a:t>
            </a: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SELLES</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200000"/>
              </a:lnSpc>
              <a:spcAft>
                <a:spcPts val="0"/>
              </a:spcAft>
            </a:pPr>
            <a:r>
              <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LES LAVEMENTS </a:t>
            </a: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EVACUATEURS </a:t>
            </a:r>
            <a:r>
              <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ET </a:t>
            </a:r>
            <a:r>
              <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MEDICAMENTEUX</a:t>
            </a:r>
            <a:endParaRPr lang="fr-FR" sz="2800" dirty="0">
              <a:solidFill>
                <a:srgbClr val="FF0000"/>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56339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89" y="91676"/>
            <a:ext cx="12063211" cy="5078313"/>
          </a:xfrm>
          <a:prstGeom prst="rect">
            <a:avLst/>
          </a:prstGeom>
        </p:spPr>
        <p:txBody>
          <a:bodyPr wrap="square">
            <a:spAutoFit/>
          </a:bodyPr>
          <a:lstStyle/>
          <a:p>
            <a:pPr>
              <a:lnSpc>
                <a:spcPct val="150000"/>
              </a:lnSpc>
            </a:pPr>
            <a:r>
              <a:rPr lang="fr-FR" sz="24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        </a:t>
            </a:r>
            <a:r>
              <a:rPr lang="fr-FR" sz="24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SOMMAIRE </a:t>
            </a:r>
            <a:r>
              <a:rPr lang="fr-FR" sz="2400" b="1"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(6/6)</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SOINS </a:t>
            </a:r>
            <a:r>
              <a:rPr lang="fr-FR" sz="2400" b="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INFIRMIERS DANS LA FONCTION </a:t>
            </a:r>
            <a:r>
              <a:rPr lang="fr-FR" sz="24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RESPIRATOIRE</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AIDE A LA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VENTILATION</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OXYGENOTHERAPIE</a:t>
            </a:r>
          </a:p>
          <a:p>
            <a:pPr>
              <a:lnSpc>
                <a:spcPct val="150000"/>
              </a:lnSpc>
              <a:spcAft>
                <a:spcPts val="0"/>
              </a:spcAft>
            </a:pPr>
            <a:r>
              <a:rPr lang="fr-FR" sz="24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SOINS </a:t>
            </a:r>
            <a:r>
              <a:rPr lang="fr-FR" sz="2400" b="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INFIRMIERS DE </a:t>
            </a:r>
            <a:r>
              <a:rPr lang="fr-FR" sz="2400" b="1" dirty="0" smtClean="0">
                <a:solidFill>
                  <a:srgbClr val="C00000"/>
                </a:solidFill>
                <a:latin typeface="Arial Black" panose="020B0A04020102020204" pitchFamily="34" charset="0"/>
                <a:ea typeface="Calibri" panose="020F0502020204030204" pitchFamily="34" charset="0"/>
                <a:cs typeface="Times New Roman" panose="02020603050405020304" pitchFamily="18" charset="0"/>
              </a:rPr>
              <a:t>BASE</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TOILETTE GENERALE DU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MALADE</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SOINS DE L’ESCARRE OU L’ULCERE DE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DECUBITUS</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SOINS D’HYGIENE DES CAVITES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NATURELLES</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50000"/>
              </a:lnSpc>
              <a:spcAft>
                <a:spcPts val="0"/>
              </a:spcAft>
            </a:pPr>
            <a:r>
              <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INSTALLATION ET DIVERSES POSITIONS DU MALADE DANS LE </a:t>
            </a:r>
            <a:r>
              <a:rPr lang="fr-FR" sz="24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LIT</a:t>
            </a:r>
            <a:endParaRPr lang="fr-FR" sz="2400" dirty="0">
              <a:solidFill>
                <a:srgbClr val="FF0000"/>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26653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69368" y="0"/>
            <a:ext cx="10317480" cy="815927"/>
          </a:xfrm>
        </p:spPr>
        <p:txBody>
          <a:bodyPr>
            <a:normAutofit fontScale="90000"/>
          </a:bodyPr>
          <a:lstStyle/>
          <a:p>
            <a:r>
              <a:rPr lang="fr-FR" sz="4400" b="1" dirty="0">
                <a:solidFill>
                  <a:srgbClr val="FF0000"/>
                </a:solidFill>
              </a:rPr>
              <a:t>L’ACCUEIL  DU MALADE</a:t>
            </a:r>
            <a:r>
              <a:rPr lang="fr-FR" dirty="0"/>
              <a:t/>
            </a:r>
            <a:br>
              <a:rPr lang="fr-FR" dirty="0"/>
            </a:br>
            <a:endParaRPr lang="fr-FR" dirty="0"/>
          </a:p>
        </p:txBody>
      </p:sp>
      <p:sp>
        <p:nvSpPr>
          <p:cNvPr id="3" name="Rectangle 2"/>
          <p:cNvSpPr/>
          <p:nvPr/>
        </p:nvSpPr>
        <p:spPr>
          <a:xfrm>
            <a:off x="113674" y="941936"/>
            <a:ext cx="12028868" cy="5339923"/>
          </a:xfrm>
          <a:prstGeom prst="rect">
            <a:avLst/>
          </a:prstGeom>
        </p:spPr>
        <p:txBody>
          <a:bodyPr wrap="square">
            <a:spAutoFit/>
          </a:bodyPr>
          <a:lstStyle/>
          <a:p>
            <a:pPr algn="just">
              <a:spcAft>
                <a:spcPts val="600"/>
              </a:spcAft>
            </a:pPr>
            <a:r>
              <a:rPr lang="fr-FR" sz="2800" b="1" u="sng" dirty="0">
                <a:solidFill>
                  <a:schemeClr val="accent6"/>
                </a:solidFill>
                <a:latin typeface="Arial Black" panose="020B0A04020102020204" pitchFamily="34" charset="0"/>
              </a:rPr>
              <a:t>INTRODUCTION</a:t>
            </a:r>
            <a:endParaRPr lang="fr-FR" sz="2800" dirty="0">
              <a:solidFill>
                <a:schemeClr val="accent6"/>
              </a:solidFill>
              <a:latin typeface="Arial Black" panose="020B0A04020102020204" pitchFamily="34" charset="0"/>
            </a:endParaRPr>
          </a:p>
          <a:p>
            <a:pPr algn="just">
              <a:spcAft>
                <a:spcPts val="0"/>
              </a:spcAft>
            </a:pPr>
            <a:r>
              <a:rPr lang="fr-FR" sz="2800" dirty="0">
                <a:solidFill>
                  <a:srgbClr val="000000"/>
                </a:solidFill>
                <a:latin typeface="Arial Black" panose="020B0A04020102020204" pitchFamily="34" charset="0"/>
              </a:rPr>
              <a:t>La réception d’un malade à l’hôpital est, pour l’agent de santé (INFAS), un fait quotidien. L’agent de santé doit faire de la réception du malade un élément important de son travail. Il doit tenir compte de la mentalité du patient et de ses parents.</a:t>
            </a:r>
            <a:endParaRPr lang="fr-FR" sz="2800" dirty="0">
              <a:latin typeface="Arial Black" panose="020B0A04020102020204" pitchFamily="34" charset="0"/>
            </a:endParaRPr>
          </a:p>
          <a:p>
            <a:pPr algn="just">
              <a:spcAft>
                <a:spcPts val="0"/>
              </a:spcAft>
            </a:pPr>
            <a:r>
              <a:rPr lang="fr-FR" sz="2800" dirty="0">
                <a:solidFill>
                  <a:srgbClr val="000000"/>
                </a:solidFill>
                <a:latin typeface="Arial Black" panose="020B0A04020102020204" pitchFamily="34" charset="0"/>
              </a:rPr>
              <a:t>Devant la crainte, l’inconnu, l’incertain, l’incertitude, la douleur  de la séparation, l’attitude de l’agent de santé doit témoigner de compréhension, et créer une atmosphère de confiance et de sécurité ; Car la première impression peut influencer le bien être de tout le séjour du malade à l’hôpital.</a:t>
            </a:r>
            <a:endParaRPr lang="fr-FR" sz="2800" dirty="0">
              <a:effectLst/>
              <a:latin typeface="Arial Black" panose="020B0A04020102020204" pitchFamily="34" charset="0"/>
            </a:endParaRPr>
          </a:p>
        </p:txBody>
      </p:sp>
    </p:spTree>
    <p:extLst>
      <p:ext uri="{BB962C8B-B14F-4D97-AF65-F5344CB8AC3E}">
        <p14:creationId xmlns:p14="http://schemas.microsoft.com/office/powerpoint/2010/main" val="2686806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2" y="964362"/>
            <a:ext cx="11951594" cy="4401205"/>
          </a:xfrm>
          <a:prstGeom prst="rect">
            <a:avLst/>
          </a:prstGeom>
        </p:spPr>
        <p:txBody>
          <a:bodyPr wrap="square">
            <a:spAutoFit/>
          </a:bodyPr>
          <a:lstStyle/>
          <a:p>
            <a:pPr marL="342900" lvl="0" indent="-342900" algn="just">
              <a:spcAft>
                <a:spcPts val="0"/>
              </a:spcAft>
              <a:buFont typeface="+mj-lt"/>
              <a:buAutoNum type="romanUcPeriod"/>
            </a:pPr>
            <a:r>
              <a:rPr lang="fr-FR" sz="2800" b="1" u="sng" dirty="0">
                <a:solidFill>
                  <a:srgbClr val="FF0000"/>
                </a:solidFill>
                <a:latin typeface="Arial Black" panose="020B0A04020102020204" pitchFamily="34" charset="0"/>
              </a:rPr>
              <a:t>DEFINITION </a:t>
            </a:r>
            <a:endParaRPr lang="fr-FR" sz="2800" dirty="0">
              <a:solidFill>
                <a:srgbClr val="FF0000"/>
              </a:solidFill>
              <a:latin typeface="Arial Black" panose="020B0A04020102020204" pitchFamily="34" charset="0"/>
            </a:endParaRPr>
          </a:p>
          <a:p>
            <a:pPr algn="just">
              <a:spcAft>
                <a:spcPts val="0"/>
              </a:spcAft>
            </a:pPr>
            <a:r>
              <a:rPr lang="fr-FR" sz="2800" dirty="0">
                <a:solidFill>
                  <a:srgbClr val="000000"/>
                </a:solidFill>
                <a:latin typeface="Arial Black" panose="020B0A04020102020204" pitchFamily="34" charset="0"/>
              </a:rPr>
              <a:t>Qui dit </a:t>
            </a:r>
            <a:r>
              <a:rPr lang="fr-FR" sz="2800" dirty="0">
                <a:solidFill>
                  <a:schemeClr val="accent6"/>
                </a:solidFill>
                <a:latin typeface="Arial Black" panose="020B0A04020102020204" pitchFamily="34" charset="0"/>
              </a:rPr>
              <a:t>« accueil » </a:t>
            </a:r>
            <a:r>
              <a:rPr lang="fr-FR" sz="2800" dirty="0">
                <a:solidFill>
                  <a:srgbClr val="000000"/>
                </a:solidFill>
                <a:latin typeface="Arial Black" panose="020B0A04020102020204" pitchFamily="34" charset="0"/>
              </a:rPr>
              <a:t>dit réception d’un hôte que l’on attend. L’hôte attendu c’est le malade auquel s’attache une psychologie toute spéciale emprunte de sensibilité </a:t>
            </a:r>
            <a:r>
              <a:rPr lang="fr-FR" sz="2800" dirty="0" smtClean="0">
                <a:solidFill>
                  <a:srgbClr val="000000"/>
                </a:solidFill>
                <a:latin typeface="Arial Black" panose="020B0A04020102020204" pitchFamily="34" charset="0"/>
              </a:rPr>
              <a:t>extrême.</a:t>
            </a:r>
            <a:endParaRPr lang="fr-FR" sz="2800" dirty="0" smtClean="0">
              <a:latin typeface="Arial Black" panose="020B0A04020102020204" pitchFamily="34" charset="0"/>
            </a:endParaRPr>
          </a:p>
          <a:p>
            <a:pPr algn="just">
              <a:spcAft>
                <a:spcPts val="0"/>
              </a:spcAft>
            </a:pPr>
            <a:r>
              <a:rPr lang="fr-FR" sz="2800" dirty="0" smtClean="0">
                <a:solidFill>
                  <a:srgbClr val="000000"/>
                </a:solidFill>
                <a:latin typeface="Arial Black" panose="020B0A04020102020204" pitchFamily="34" charset="0"/>
              </a:rPr>
              <a:t>La </a:t>
            </a:r>
            <a:r>
              <a:rPr lang="fr-FR" sz="2800" dirty="0">
                <a:solidFill>
                  <a:srgbClr val="000000"/>
                </a:solidFill>
                <a:latin typeface="Arial Black" panose="020B0A04020102020204" pitchFamily="34" charset="0"/>
              </a:rPr>
              <a:t>réception d’un malade est une activité qui consiste à recevoir une personne qui vient pour une consultation, un soin, ou une hospitalisation en vue de la mettre dans des conditions idoines au cours de son passage dans une structure sanitaire.</a:t>
            </a:r>
            <a:endParaRPr lang="fr-FR" sz="2800" dirty="0">
              <a:effectLst/>
              <a:latin typeface="Arial Black" panose="020B0A04020102020204" pitchFamily="34" charset="0"/>
            </a:endParaRPr>
          </a:p>
        </p:txBody>
      </p:sp>
    </p:spTree>
    <p:extLst>
      <p:ext uri="{BB962C8B-B14F-4D97-AF65-F5344CB8AC3E}">
        <p14:creationId xmlns:p14="http://schemas.microsoft.com/office/powerpoint/2010/main" val="35113077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7425"/>
            <a:ext cx="11462197" cy="6001643"/>
          </a:xfrm>
          <a:prstGeom prst="rect">
            <a:avLst/>
          </a:prstGeom>
        </p:spPr>
        <p:txBody>
          <a:bodyPr wrap="square">
            <a:spAutoFit/>
          </a:bodyPr>
          <a:lstStyle/>
          <a:p>
            <a:pPr indent="449580" algn="just">
              <a:spcAft>
                <a:spcPts val="0"/>
              </a:spcAft>
            </a:pPr>
            <a:r>
              <a:rPr lang="fr-FR" sz="3200" dirty="0">
                <a:solidFill>
                  <a:srgbClr val="000000"/>
                </a:solidFill>
                <a:latin typeface="Arial Black" panose="020B0A04020102020204" pitchFamily="34" charset="0"/>
              </a:rPr>
              <a:t> </a:t>
            </a:r>
            <a:endParaRPr lang="fr-FR" sz="3200" dirty="0">
              <a:latin typeface="Arial Black" panose="020B0A04020102020204" pitchFamily="34" charset="0"/>
            </a:endParaRPr>
          </a:p>
          <a:p>
            <a:pPr lvl="0" algn="just">
              <a:spcAft>
                <a:spcPts val="0"/>
              </a:spcAft>
            </a:pPr>
            <a:r>
              <a:rPr lang="fr-FR" sz="3200" b="1" u="sng" dirty="0" smtClean="0">
                <a:solidFill>
                  <a:srgbClr val="FF0000"/>
                </a:solidFill>
                <a:latin typeface="Arial Black" panose="020B0A04020102020204" pitchFamily="34" charset="0"/>
              </a:rPr>
              <a:t>II- BUT</a:t>
            </a:r>
            <a:endParaRPr lang="fr-FR" sz="3200" dirty="0">
              <a:solidFill>
                <a:srgbClr val="FF0000"/>
              </a:solidFill>
              <a:latin typeface="Arial Black" panose="020B0A04020102020204" pitchFamily="34" charset="0"/>
            </a:endParaRPr>
          </a:p>
          <a:p>
            <a:pPr algn="just">
              <a:spcAft>
                <a:spcPts val="0"/>
              </a:spcAft>
            </a:pPr>
            <a:r>
              <a:rPr lang="fr-FR" sz="3200" dirty="0">
                <a:solidFill>
                  <a:srgbClr val="000000"/>
                </a:solidFill>
                <a:latin typeface="Arial Black" panose="020B0A04020102020204" pitchFamily="34" charset="0"/>
              </a:rPr>
              <a:t>L’accueil a pour but </a:t>
            </a:r>
            <a:r>
              <a:rPr lang="fr-FR" sz="3200" b="1" dirty="0">
                <a:solidFill>
                  <a:srgbClr val="000000"/>
                </a:solidFill>
                <a:latin typeface="Arial Black" panose="020B0A04020102020204" pitchFamily="34" charset="0"/>
              </a:rPr>
              <a:t>d’</a:t>
            </a:r>
            <a:r>
              <a:rPr lang="fr-FR" sz="3200" b="1" dirty="0">
                <a:solidFill>
                  <a:schemeClr val="accent1"/>
                </a:solidFill>
                <a:latin typeface="Arial Black" panose="020B0A04020102020204" pitchFamily="34" charset="0"/>
              </a:rPr>
              <a:t>amoindrir</a:t>
            </a:r>
            <a:r>
              <a:rPr lang="fr-FR" sz="3200" b="1" dirty="0">
                <a:solidFill>
                  <a:srgbClr val="000000"/>
                </a:solidFill>
                <a:latin typeface="Arial Black" panose="020B0A04020102020204" pitchFamily="34" charset="0"/>
              </a:rPr>
              <a:t>, de </a:t>
            </a:r>
            <a:r>
              <a:rPr lang="fr-FR" sz="3200" b="1" dirty="0">
                <a:solidFill>
                  <a:schemeClr val="accent1"/>
                </a:solidFill>
                <a:latin typeface="Arial Black" panose="020B0A04020102020204" pitchFamily="34" charset="0"/>
              </a:rPr>
              <a:t>réparer, </a:t>
            </a:r>
            <a:r>
              <a:rPr lang="fr-FR" sz="3200" b="1" dirty="0">
                <a:solidFill>
                  <a:srgbClr val="000000"/>
                </a:solidFill>
                <a:latin typeface="Arial Black" panose="020B0A04020102020204" pitchFamily="34" charset="0"/>
              </a:rPr>
              <a:t>de </a:t>
            </a:r>
            <a:r>
              <a:rPr lang="fr-FR" sz="3200" b="1" dirty="0">
                <a:solidFill>
                  <a:schemeClr val="accent1"/>
                </a:solidFill>
                <a:latin typeface="Arial Black" panose="020B0A04020102020204" pitchFamily="34" charset="0"/>
              </a:rPr>
              <a:t>soulager</a:t>
            </a:r>
            <a:r>
              <a:rPr lang="fr-FR" sz="3200" b="1" dirty="0">
                <a:solidFill>
                  <a:srgbClr val="000000"/>
                </a:solidFill>
                <a:latin typeface="Arial Black" panose="020B0A04020102020204" pitchFamily="34" charset="0"/>
              </a:rPr>
              <a:t> en quelque sorte le mal causé par la maladie</a:t>
            </a:r>
            <a:r>
              <a:rPr lang="fr-FR" sz="3200" dirty="0">
                <a:solidFill>
                  <a:srgbClr val="000000"/>
                </a:solidFill>
                <a:latin typeface="Arial Black" panose="020B0A04020102020204" pitchFamily="34" charset="0"/>
              </a:rPr>
              <a:t> (séparation familiale, la souffrance).</a:t>
            </a:r>
            <a:endParaRPr lang="fr-FR" sz="3200" dirty="0">
              <a:latin typeface="Arial Black" panose="020B0A04020102020204" pitchFamily="34" charset="0"/>
            </a:endParaRPr>
          </a:p>
          <a:p>
            <a:pPr algn="just">
              <a:spcAft>
                <a:spcPts val="0"/>
              </a:spcAft>
            </a:pPr>
            <a:r>
              <a:rPr lang="fr-FR" sz="3200" dirty="0">
                <a:solidFill>
                  <a:schemeClr val="accent6"/>
                </a:solidFill>
                <a:latin typeface="Arial Black" panose="020B0A04020102020204" pitchFamily="34" charset="0"/>
              </a:rPr>
              <a:t>« C’est la première impression qui compte » </a:t>
            </a:r>
            <a:r>
              <a:rPr lang="fr-FR" sz="3200" dirty="0">
                <a:solidFill>
                  <a:srgbClr val="000000"/>
                </a:solidFill>
                <a:latin typeface="Arial Black" panose="020B0A04020102020204" pitchFamily="34" charset="0"/>
              </a:rPr>
              <a:t>dit le langage populaire.</a:t>
            </a:r>
            <a:endParaRPr lang="fr-FR" sz="3200" dirty="0">
              <a:latin typeface="Arial Black" panose="020B0A04020102020204" pitchFamily="34" charset="0"/>
            </a:endParaRPr>
          </a:p>
          <a:p>
            <a:pPr algn="just">
              <a:spcAft>
                <a:spcPts val="0"/>
              </a:spcAft>
            </a:pPr>
            <a:r>
              <a:rPr lang="fr-FR" sz="3200" dirty="0">
                <a:solidFill>
                  <a:srgbClr val="000000"/>
                </a:solidFill>
                <a:latin typeface="Arial Black" panose="020B0A04020102020204" pitchFamily="34" charset="0"/>
              </a:rPr>
              <a:t>Le soignant doit alors donner une bonne impression au malade dès leur première rencontre. Un certain nombre de démarche est nécessaire pour que le malade se sente à l’aise. Le soignant a un rôle primordial dans l’accueil.</a:t>
            </a:r>
            <a:endParaRPr lang="fr-FR" sz="3200" dirty="0">
              <a:effectLst/>
              <a:latin typeface="Arial Black" panose="020B0A04020102020204" pitchFamily="34" charset="0"/>
            </a:endParaRPr>
          </a:p>
        </p:txBody>
      </p:sp>
    </p:spTree>
    <p:extLst>
      <p:ext uri="{BB962C8B-B14F-4D97-AF65-F5344CB8AC3E}">
        <p14:creationId xmlns:p14="http://schemas.microsoft.com/office/powerpoint/2010/main" val="23209357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254" y="993494"/>
            <a:ext cx="12041746" cy="2246769"/>
          </a:xfrm>
          <a:prstGeom prst="rect">
            <a:avLst/>
          </a:prstGeom>
        </p:spPr>
        <p:txBody>
          <a:bodyPr wrap="square">
            <a:spAutoFit/>
          </a:bodyPr>
          <a:lstStyle/>
          <a:p>
            <a:pPr algn="just">
              <a:spcAft>
                <a:spcPts val="0"/>
              </a:spcAft>
            </a:pPr>
            <a:r>
              <a:rPr lang="fr-FR" sz="2800" b="1" dirty="0">
                <a:solidFill>
                  <a:srgbClr val="FF0000"/>
                </a:solidFill>
                <a:latin typeface="Arial Black" panose="020B0A04020102020204" pitchFamily="34" charset="0"/>
              </a:rPr>
              <a:t>Le diagnostic infirmier</a:t>
            </a:r>
            <a:r>
              <a:rPr lang="fr-FR" sz="2800" dirty="0">
                <a:solidFill>
                  <a:srgbClr val="FF0000"/>
                </a:solidFill>
                <a:latin typeface="Arial Black" panose="020B0A04020102020204" pitchFamily="34" charset="0"/>
              </a:rPr>
              <a:t> </a:t>
            </a:r>
            <a:r>
              <a:rPr lang="fr-FR" sz="2800" dirty="0">
                <a:solidFill>
                  <a:srgbClr val="000000"/>
                </a:solidFill>
                <a:latin typeface="Arial Black" panose="020B0A04020102020204" pitchFamily="34" charset="0"/>
              </a:rPr>
              <a:t>sera : un déficit de connaissances sur les problèmes liés à l’hospitalisation ou au mal causé par la maladie ; et le rejet de l’environnement sanitaire et/ou des soignants. </a:t>
            </a:r>
            <a:endParaRPr lang="fr-FR" sz="2800" dirty="0">
              <a:latin typeface="Arial Black" panose="020B0A04020102020204" pitchFamily="34" charset="0"/>
            </a:endParaRPr>
          </a:p>
          <a:p>
            <a:pPr algn="just">
              <a:spcAft>
                <a:spcPts val="0"/>
              </a:spcAft>
            </a:pPr>
            <a:r>
              <a:rPr lang="fr-FR" sz="2800" dirty="0">
                <a:solidFill>
                  <a:srgbClr val="000000"/>
                </a:solidFill>
                <a:latin typeface="Arial Black" panose="020B0A04020102020204" pitchFamily="34" charset="0"/>
              </a:rPr>
              <a:t>Les besoins à satisfaire sont : </a:t>
            </a:r>
            <a:r>
              <a:rPr lang="fr-FR" sz="2800" dirty="0">
                <a:solidFill>
                  <a:schemeClr val="accent1"/>
                </a:solidFill>
                <a:latin typeface="Arial Black" panose="020B0A04020102020204" pitchFamily="34" charset="0"/>
              </a:rPr>
              <a:t>apprendre</a:t>
            </a:r>
            <a:r>
              <a:rPr lang="fr-FR" sz="2800" dirty="0">
                <a:solidFill>
                  <a:srgbClr val="000000"/>
                </a:solidFill>
                <a:latin typeface="Arial Black" panose="020B0A04020102020204" pitchFamily="34" charset="0"/>
              </a:rPr>
              <a:t>, </a:t>
            </a:r>
            <a:r>
              <a:rPr lang="fr-FR" sz="2800" dirty="0">
                <a:solidFill>
                  <a:schemeClr val="accent1"/>
                </a:solidFill>
                <a:latin typeface="Arial Black" panose="020B0A04020102020204" pitchFamily="34" charset="0"/>
              </a:rPr>
              <a:t>éviter les dangers</a:t>
            </a:r>
            <a:r>
              <a:rPr lang="fr-FR" sz="2800" dirty="0">
                <a:solidFill>
                  <a:srgbClr val="000000"/>
                </a:solidFill>
                <a:latin typeface="Arial Black" panose="020B0A04020102020204" pitchFamily="34" charset="0"/>
              </a:rPr>
              <a:t>.</a:t>
            </a:r>
            <a:endParaRPr lang="fr-FR" sz="2800" dirty="0">
              <a:effectLst/>
              <a:latin typeface="Arial Black" panose="020B0A04020102020204" pitchFamily="34" charset="0"/>
            </a:endParaRPr>
          </a:p>
        </p:txBody>
      </p:sp>
    </p:spTree>
    <p:extLst>
      <p:ext uri="{BB962C8B-B14F-4D97-AF65-F5344CB8AC3E}">
        <p14:creationId xmlns:p14="http://schemas.microsoft.com/office/powerpoint/2010/main" val="12249796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2496"/>
            <a:ext cx="12093262" cy="6001643"/>
          </a:xfrm>
          <a:prstGeom prst="rect">
            <a:avLst/>
          </a:prstGeom>
        </p:spPr>
        <p:txBody>
          <a:bodyPr wrap="square">
            <a:spAutoFit/>
          </a:bodyPr>
          <a:lstStyle/>
          <a:p>
            <a:pPr lvl="0" algn="just">
              <a:spcAft>
                <a:spcPts val="0"/>
              </a:spcAft>
            </a:pPr>
            <a:r>
              <a:rPr lang="fr-FR" sz="3200" b="1" u="sng" dirty="0" smtClean="0">
                <a:solidFill>
                  <a:srgbClr val="FF0000"/>
                </a:solidFill>
                <a:latin typeface="Arial Black" panose="020B0A04020102020204" pitchFamily="34" charset="0"/>
              </a:rPr>
              <a:t>III- LE RÔLE </a:t>
            </a:r>
            <a:r>
              <a:rPr lang="fr-FR" sz="3200" b="1" u="sng" dirty="0">
                <a:solidFill>
                  <a:srgbClr val="FF0000"/>
                </a:solidFill>
                <a:latin typeface="Arial Black" panose="020B0A04020102020204" pitchFamily="34" charset="0"/>
              </a:rPr>
              <a:t>DE L’INFIRMIER OU DE LA SAGE </a:t>
            </a:r>
            <a:r>
              <a:rPr lang="fr-FR" sz="3200" b="1" u="sng" dirty="0" smtClean="0">
                <a:solidFill>
                  <a:srgbClr val="FF0000"/>
                </a:solidFill>
                <a:latin typeface="Arial Black" panose="020B0A04020102020204" pitchFamily="34" charset="0"/>
              </a:rPr>
              <a:t>FEMME</a:t>
            </a:r>
            <a:endParaRPr lang="fr-FR" sz="3200" dirty="0">
              <a:latin typeface="Arial Black" panose="020B0A04020102020204" pitchFamily="34" charset="0"/>
            </a:endParaRPr>
          </a:p>
          <a:p>
            <a:pPr algn="just">
              <a:spcAft>
                <a:spcPts val="0"/>
              </a:spcAft>
            </a:pPr>
            <a:r>
              <a:rPr lang="fr-FR" sz="3200" dirty="0">
                <a:solidFill>
                  <a:srgbClr val="000000"/>
                </a:solidFill>
                <a:latin typeface="Arial Black" panose="020B0A04020102020204" pitchFamily="34" charset="0"/>
              </a:rPr>
              <a:t>Il est de plusieurs ordres </a:t>
            </a:r>
            <a:endParaRPr lang="fr-FR" sz="3200" dirty="0">
              <a:latin typeface="Arial Black" panose="020B0A04020102020204" pitchFamily="34" charset="0"/>
            </a:endParaRPr>
          </a:p>
          <a:p>
            <a:pPr marL="342900" lvl="0" indent="-342900" algn="just">
              <a:spcAft>
                <a:spcPts val="0"/>
              </a:spcAft>
              <a:buFont typeface="Wingdings" panose="05000000000000000000" pitchFamily="2" charset="2"/>
              <a:buChar char=""/>
              <a:tabLst>
                <a:tab pos="270510" algn="l"/>
              </a:tabLst>
            </a:pPr>
            <a:r>
              <a:rPr lang="fr-FR" sz="3200" b="1" dirty="0">
                <a:solidFill>
                  <a:schemeClr val="accent1"/>
                </a:solidFill>
                <a:latin typeface="Arial Black" panose="020B0A04020102020204" pitchFamily="34" charset="0"/>
              </a:rPr>
              <a:t>Le domaine administratif</a:t>
            </a:r>
            <a:endParaRPr lang="fr-FR" sz="3200" dirty="0">
              <a:solidFill>
                <a:schemeClr val="accent1"/>
              </a:solidFill>
              <a:latin typeface="Arial Black" panose="020B0A04020102020204" pitchFamily="34" charset="0"/>
            </a:endParaRPr>
          </a:p>
          <a:p>
            <a:pPr algn="just">
              <a:spcAft>
                <a:spcPts val="0"/>
              </a:spcAft>
            </a:pPr>
            <a:r>
              <a:rPr lang="fr-FR" sz="3200" dirty="0">
                <a:solidFill>
                  <a:srgbClr val="000000"/>
                </a:solidFill>
                <a:latin typeface="Arial Black" panose="020B0A04020102020204" pitchFamily="34" charset="0"/>
              </a:rPr>
              <a:t>L’infirmier ou la sage-femme </a:t>
            </a:r>
            <a:r>
              <a:rPr lang="fr-FR" sz="3200" dirty="0" smtClean="0">
                <a:solidFill>
                  <a:srgbClr val="000000"/>
                </a:solidFill>
                <a:latin typeface="Arial Black" panose="020B0A04020102020204" pitchFamily="34" charset="0"/>
              </a:rPr>
              <a:t>doit :</a:t>
            </a:r>
          </a:p>
          <a:p>
            <a:pPr marL="457200" indent="-457200" algn="just">
              <a:spcAft>
                <a:spcPts val="0"/>
              </a:spcAft>
              <a:buFont typeface="Wingdings" panose="05000000000000000000" pitchFamily="2" charset="2"/>
              <a:buChar char="Ø"/>
            </a:pPr>
            <a:r>
              <a:rPr lang="fr-FR" sz="3200" dirty="0" smtClean="0">
                <a:solidFill>
                  <a:srgbClr val="000000"/>
                </a:solidFill>
                <a:latin typeface="Arial Black" panose="020B0A04020102020204" pitchFamily="34" charset="0"/>
              </a:rPr>
              <a:t>Diriger le malade et sa famille avec amabilité vers le service ou l’agent chargé des formalités administratives</a:t>
            </a:r>
          </a:p>
          <a:p>
            <a:pPr marL="457200" indent="-457200" algn="just">
              <a:spcAft>
                <a:spcPts val="0"/>
              </a:spcAft>
              <a:buFont typeface="Wingdings" panose="05000000000000000000" pitchFamily="2" charset="2"/>
              <a:buChar char="Ø"/>
            </a:pPr>
            <a:r>
              <a:rPr lang="fr-FR" sz="3200" dirty="0" smtClean="0">
                <a:solidFill>
                  <a:srgbClr val="000000"/>
                </a:solidFill>
                <a:latin typeface="Arial Black" panose="020B0A04020102020204" pitchFamily="34" charset="0"/>
              </a:rPr>
              <a:t>Diriger </a:t>
            </a:r>
            <a:r>
              <a:rPr lang="fr-FR" sz="3200" dirty="0">
                <a:solidFill>
                  <a:srgbClr val="000000"/>
                </a:solidFill>
                <a:latin typeface="Arial Black" panose="020B0A04020102020204" pitchFamily="34" charset="0"/>
              </a:rPr>
              <a:t>le malade vers </a:t>
            </a:r>
            <a:r>
              <a:rPr lang="fr-FR" sz="3200" dirty="0" smtClean="0">
                <a:solidFill>
                  <a:srgbClr val="000000"/>
                </a:solidFill>
                <a:latin typeface="Arial Black" panose="020B0A04020102020204" pitchFamily="34" charset="0"/>
              </a:rPr>
              <a:t>l’hospitalisation</a:t>
            </a:r>
          </a:p>
          <a:p>
            <a:pPr marL="457200" indent="-457200" algn="just">
              <a:spcAft>
                <a:spcPts val="0"/>
              </a:spcAft>
              <a:buFont typeface="Wingdings" panose="05000000000000000000" pitchFamily="2" charset="2"/>
              <a:buChar char="Ø"/>
            </a:pPr>
            <a:r>
              <a:rPr lang="fr-FR" sz="3200" dirty="0" smtClean="0">
                <a:solidFill>
                  <a:srgbClr val="000000"/>
                </a:solidFill>
                <a:latin typeface="Arial Black" panose="020B0A04020102020204" pitchFamily="34" charset="0"/>
              </a:rPr>
              <a:t>Identifier </a:t>
            </a:r>
            <a:r>
              <a:rPr lang="fr-FR" sz="3200" dirty="0">
                <a:solidFill>
                  <a:srgbClr val="000000"/>
                </a:solidFill>
                <a:latin typeface="Arial Black" panose="020B0A04020102020204" pitchFamily="34" charset="0"/>
              </a:rPr>
              <a:t>les personnes chargées de le prendre en </a:t>
            </a:r>
            <a:r>
              <a:rPr lang="fr-FR" sz="3200" dirty="0" smtClean="0">
                <a:solidFill>
                  <a:srgbClr val="000000"/>
                </a:solidFill>
                <a:latin typeface="Arial Black" panose="020B0A04020102020204" pitchFamily="34" charset="0"/>
              </a:rPr>
              <a:t>charge</a:t>
            </a:r>
            <a:endParaRPr lang="fr-FR" sz="3200" dirty="0" smtClean="0">
              <a:latin typeface="Arial Black" panose="020B0A04020102020204" pitchFamily="34" charset="0"/>
            </a:endParaRPr>
          </a:p>
          <a:p>
            <a:pPr marL="457200" indent="-457200" algn="just">
              <a:spcAft>
                <a:spcPts val="0"/>
              </a:spcAft>
              <a:buFont typeface="Wingdings" panose="05000000000000000000" pitchFamily="2" charset="2"/>
              <a:buChar char="Ø"/>
            </a:pPr>
            <a:r>
              <a:rPr lang="fr-FR" sz="3200" dirty="0" smtClean="0">
                <a:solidFill>
                  <a:srgbClr val="000000"/>
                </a:solidFill>
                <a:latin typeface="Arial Black" panose="020B0A04020102020204" pitchFamily="34" charset="0"/>
              </a:rPr>
              <a:t>Conseiller </a:t>
            </a:r>
            <a:r>
              <a:rPr lang="fr-FR" sz="3200" dirty="0">
                <a:solidFill>
                  <a:srgbClr val="000000"/>
                </a:solidFill>
                <a:latin typeface="Arial Black" panose="020B0A04020102020204" pitchFamily="34" charset="0"/>
              </a:rPr>
              <a:t>pour </a:t>
            </a:r>
            <a:r>
              <a:rPr lang="fr-FR" sz="3200" dirty="0" smtClean="0">
                <a:solidFill>
                  <a:srgbClr val="000000"/>
                </a:solidFill>
                <a:latin typeface="Arial Black" panose="020B0A04020102020204" pitchFamily="34" charset="0"/>
              </a:rPr>
              <a:t>bien garder argent, bijoux ou </a:t>
            </a:r>
            <a:r>
              <a:rPr lang="fr-FR" sz="3200" dirty="0">
                <a:solidFill>
                  <a:srgbClr val="000000"/>
                </a:solidFill>
                <a:latin typeface="Arial Black" panose="020B0A04020102020204" pitchFamily="34" charset="0"/>
              </a:rPr>
              <a:t>autres objets de valeurs</a:t>
            </a:r>
            <a:r>
              <a:rPr lang="fr-FR" sz="3200" dirty="0" smtClean="0">
                <a:solidFill>
                  <a:srgbClr val="000000"/>
                </a:solidFill>
                <a:latin typeface="Arial Black" panose="020B0A04020102020204" pitchFamily="34" charset="0"/>
              </a:rPr>
              <a:t>. </a:t>
            </a:r>
            <a:endParaRPr lang="fr-FR" sz="3200" dirty="0">
              <a:effectLst/>
              <a:latin typeface="Arial Black" panose="020B0A04020102020204" pitchFamily="34" charset="0"/>
            </a:endParaRPr>
          </a:p>
        </p:txBody>
      </p:sp>
    </p:spTree>
    <p:extLst>
      <p:ext uri="{BB962C8B-B14F-4D97-AF65-F5344CB8AC3E}">
        <p14:creationId xmlns:p14="http://schemas.microsoft.com/office/powerpoint/2010/main" val="39233659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1820" y="728057"/>
            <a:ext cx="12050332" cy="5509200"/>
          </a:xfrm>
          <a:prstGeom prst="rect">
            <a:avLst/>
          </a:prstGeom>
        </p:spPr>
        <p:txBody>
          <a:bodyPr wrap="square">
            <a:spAutoFit/>
          </a:bodyPr>
          <a:lstStyle/>
          <a:p>
            <a:pPr marL="1143000" lvl="2" indent="-228600" algn="just">
              <a:spcAft>
                <a:spcPts val="0"/>
              </a:spcAft>
              <a:buFont typeface="Wingdings" panose="05000000000000000000" pitchFamily="2" charset="2"/>
              <a:buChar char=""/>
            </a:pPr>
            <a:r>
              <a:rPr lang="fr-FR" sz="3200" b="1" dirty="0">
                <a:solidFill>
                  <a:schemeClr val="accent1"/>
                </a:solidFill>
                <a:latin typeface="Arial Black" panose="020B0A04020102020204" pitchFamily="34" charset="0"/>
              </a:rPr>
              <a:t>Le domaine Médical et de la surveillance</a:t>
            </a:r>
            <a:endParaRPr lang="fr-FR" sz="3200" dirty="0">
              <a:solidFill>
                <a:schemeClr val="accent1"/>
              </a:solidFill>
              <a:latin typeface="Arial Black" panose="020B0A04020102020204" pitchFamily="34" charset="0"/>
            </a:endParaRPr>
          </a:p>
          <a:p>
            <a:pPr marL="342900" lvl="0" indent="-342900" algn="just">
              <a:spcAft>
                <a:spcPts val="0"/>
              </a:spcAft>
              <a:buFont typeface="Symbol" panose="05050102010706020507" pitchFamily="18" charset="2"/>
              <a:buChar char=""/>
            </a:pPr>
            <a:r>
              <a:rPr lang="fr-FR" sz="3200" dirty="0">
                <a:solidFill>
                  <a:srgbClr val="000000"/>
                </a:solidFill>
                <a:latin typeface="Arial Black" panose="020B0A04020102020204" pitchFamily="34" charset="0"/>
              </a:rPr>
              <a:t>Prendre la température, les pulsations et parfois la respiration et inscrire (si possible) sur la feuille de </a:t>
            </a:r>
            <a:r>
              <a:rPr lang="fr-FR" sz="3200" dirty="0" smtClean="0">
                <a:solidFill>
                  <a:srgbClr val="000000"/>
                </a:solidFill>
                <a:latin typeface="Arial Black" panose="020B0A04020102020204" pitchFamily="34" charset="0"/>
              </a:rPr>
              <a:t>température </a:t>
            </a:r>
            <a:endParaRPr lang="fr-FR" sz="3200" dirty="0">
              <a:latin typeface="Arial Black" panose="020B0A04020102020204" pitchFamily="34" charset="0"/>
            </a:endParaRPr>
          </a:p>
          <a:p>
            <a:pPr marL="342900" lvl="0" indent="-342900" algn="just">
              <a:spcAft>
                <a:spcPts val="0"/>
              </a:spcAft>
              <a:buFont typeface="Symbol" panose="05050102010706020507" pitchFamily="18" charset="2"/>
              <a:buChar char=""/>
            </a:pPr>
            <a:r>
              <a:rPr lang="fr-FR" sz="3200" dirty="0">
                <a:solidFill>
                  <a:srgbClr val="000000"/>
                </a:solidFill>
                <a:latin typeface="Arial Black" panose="020B0A04020102020204" pitchFamily="34" charset="0"/>
              </a:rPr>
              <a:t>L</a:t>
            </a:r>
            <a:r>
              <a:rPr lang="fr-FR" sz="3200" dirty="0" smtClean="0">
                <a:solidFill>
                  <a:srgbClr val="000000"/>
                </a:solidFill>
                <a:latin typeface="Arial Black" panose="020B0A04020102020204" pitchFamily="34" charset="0"/>
              </a:rPr>
              <a:t>e </a:t>
            </a:r>
            <a:r>
              <a:rPr lang="fr-FR" sz="3200" dirty="0">
                <a:solidFill>
                  <a:srgbClr val="000000"/>
                </a:solidFill>
                <a:latin typeface="Arial Black" panose="020B0A04020102020204" pitchFamily="34" charset="0"/>
              </a:rPr>
              <a:t>p</a:t>
            </a:r>
            <a:r>
              <a:rPr lang="fr-FR" sz="3200" dirty="0" smtClean="0">
                <a:solidFill>
                  <a:srgbClr val="000000"/>
                </a:solidFill>
                <a:latin typeface="Arial Black" panose="020B0A04020102020204" pitchFamily="34" charset="0"/>
              </a:rPr>
              <a:t>eser</a:t>
            </a:r>
            <a:endParaRPr lang="fr-FR" sz="3200" dirty="0">
              <a:latin typeface="Arial Black" panose="020B0A04020102020204" pitchFamily="34" charset="0"/>
            </a:endParaRPr>
          </a:p>
          <a:p>
            <a:pPr marL="342900" lvl="0" indent="-342900" algn="just">
              <a:spcAft>
                <a:spcPts val="0"/>
              </a:spcAft>
              <a:buFont typeface="Symbol" panose="05050102010706020507" pitchFamily="18" charset="2"/>
              <a:buChar char=""/>
            </a:pPr>
            <a:r>
              <a:rPr lang="fr-FR" sz="3200" dirty="0">
                <a:solidFill>
                  <a:srgbClr val="000000"/>
                </a:solidFill>
                <a:latin typeface="Arial Black" panose="020B0A04020102020204" pitchFamily="34" charset="0"/>
              </a:rPr>
              <a:t>Lui indiquer où prendre les tubes d’examen ou les mettre à sa </a:t>
            </a:r>
            <a:r>
              <a:rPr lang="fr-FR" sz="3200" dirty="0" smtClean="0">
                <a:solidFill>
                  <a:srgbClr val="000000"/>
                </a:solidFill>
                <a:latin typeface="Arial Black" panose="020B0A04020102020204" pitchFamily="34" charset="0"/>
              </a:rPr>
              <a:t>disposition</a:t>
            </a:r>
            <a:endParaRPr lang="fr-FR" sz="3200" dirty="0">
              <a:latin typeface="Arial Black" panose="020B0A04020102020204" pitchFamily="34" charset="0"/>
            </a:endParaRPr>
          </a:p>
          <a:p>
            <a:pPr marL="342900" lvl="0" indent="-342900" algn="just">
              <a:spcAft>
                <a:spcPts val="0"/>
              </a:spcAft>
              <a:buFont typeface="Symbol" panose="05050102010706020507" pitchFamily="18" charset="2"/>
              <a:buChar char=""/>
            </a:pPr>
            <a:r>
              <a:rPr lang="fr-FR" sz="3200" dirty="0">
                <a:solidFill>
                  <a:srgbClr val="000000"/>
                </a:solidFill>
                <a:latin typeface="Arial Black" panose="020B0A04020102020204" pitchFamily="34" charset="0"/>
              </a:rPr>
              <a:t>Noter les </a:t>
            </a:r>
            <a:r>
              <a:rPr lang="fr-FR" sz="3200" dirty="0" smtClean="0">
                <a:solidFill>
                  <a:srgbClr val="000000"/>
                </a:solidFill>
                <a:latin typeface="Arial Black" panose="020B0A04020102020204" pitchFamily="34" charset="0"/>
              </a:rPr>
              <a:t>observations</a:t>
            </a:r>
            <a:endParaRPr lang="fr-FR" sz="3200" dirty="0">
              <a:latin typeface="Arial Black" panose="020B0A04020102020204" pitchFamily="34" charset="0"/>
            </a:endParaRPr>
          </a:p>
          <a:p>
            <a:pPr marL="342900" lvl="0" indent="-342900" algn="just">
              <a:spcAft>
                <a:spcPts val="0"/>
              </a:spcAft>
              <a:buFont typeface="Symbol" panose="05050102010706020507" pitchFamily="18" charset="2"/>
              <a:buChar char=""/>
            </a:pPr>
            <a:r>
              <a:rPr lang="fr-FR" sz="3200" dirty="0">
                <a:solidFill>
                  <a:srgbClr val="000000"/>
                </a:solidFill>
                <a:latin typeface="Arial Black" panose="020B0A04020102020204" pitchFamily="34" charset="0"/>
              </a:rPr>
              <a:t>Prendre connaissance du </a:t>
            </a:r>
            <a:r>
              <a:rPr lang="fr-FR" sz="3200" dirty="0" smtClean="0">
                <a:solidFill>
                  <a:srgbClr val="000000"/>
                </a:solidFill>
                <a:latin typeface="Arial Black" panose="020B0A04020102020204" pitchFamily="34" charset="0"/>
              </a:rPr>
              <a:t>régime</a:t>
            </a:r>
            <a:endParaRPr lang="fr-FR" sz="3200" dirty="0">
              <a:latin typeface="Arial Black" panose="020B0A04020102020204" pitchFamily="34" charset="0"/>
            </a:endParaRPr>
          </a:p>
          <a:p>
            <a:pPr marL="342900" lvl="0" indent="-342900" algn="just">
              <a:spcAft>
                <a:spcPts val="0"/>
              </a:spcAft>
              <a:buFont typeface="Symbol" panose="05050102010706020507" pitchFamily="18" charset="2"/>
              <a:buChar char=""/>
            </a:pPr>
            <a:r>
              <a:rPr lang="fr-FR" sz="3200" dirty="0">
                <a:solidFill>
                  <a:srgbClr val="000000"/>
                </a:solidFill>
                <a:latin typeface="Arial Black" panose="020B0A04020102020204" pitchFamily="34" charset="0"/>
              </a:rPr>
              <a:t>Préparer le nécessaire pour l’examen médical ou la visite</a:t>
            </a:r>
            <a:r>
              <a:rPr lang="fr-FR" sz="1300" dirty="0">
                <a:solidFill>
                  <a:srgbClr val="000000"/>
                </a:solidFill>
                <a:latin typeface="Times New Roman" panose="02020603050405020304" pitchFamily="18" charset="0"/>
              </a:rPr>
              <a:t>.</a:t>
            </a:r>
            <a:endParaRPr lang="fr-FR" dirty="0">
              <a:effectLst/>
            </a:endParaRPr>
          </a:p>
        </p:txBody>
      </p:sp>
    </p:spTree>
    <p:extLst>
      <p:ext uri="{BB962C8B-B14F-4D97-AF65-F5344CB8AC3E}">
        <p14:creationId xmlns:p14="http://schemas.microsoft.com/office/powerpoint/2010/main" val="6204534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9397" y="206062"/>
            <a:ext cx="11565228" cy="4832092"/>
          </a:xfrm>
          <a:prstGeom prst="rect">
            <a:avLst/>
          </a:prstGeom>
        </p:spPr>
        <p:txBody>
          <a:bodyPr wrap="square">
            <a:spAutoFit/>
          </a:bodyPr>
          <a:lstStyle/>
          <a:p>
            <a:pPr marL="1143000" lvl="2" indent="-228600" algn="just">
              <a:spcAft>
                <a:spcPts val="0"/>
              </a:spcAft>
              <a:buFont typeface="Wingdings" panose="05000000000000000000" pitchFamily="2" charset="2"/>
              <a:buChar char=""/>
            </a:pPr>
            <a:r>
              <a:rPr lang="fr-FR" sz="2800" b="1" dirty="0">
                <a:solidFill>
                  <a:srgbClr val="00B0F0"/>
                </a:solidFill>
                <a:latin typeface="Arial Black" panose="020B0A04020102020204" pitchFamily="34" charset="0"/>
              </a:rPr>
              <a:t>Le domaine relationnel et </a:t>
            </a:r>
            <a:r>
              <a:rPr lang="fr-FR" sz="2800" b="1" dirty="0" smtClean="0">
                <a:solidFill>
                  <a:srgbClr val="00B0F0"/>
                </a:solidFill>
                <a:latin typeface="Arial Black" panose="020B0A04020102020204" pitchFamily="34" charset="0"/>
              </a:rPr>
              <a:t>conseil</a:t>
            </a:r>
            <a:endParaRPr lang="fr-FR" sz="2800" dirty="0">
              <a:solidFill>
                <a:srgbClr val="00B0F0"/>
              </a:solidFill>
              <a:latin typeface="Arial Black" panose="020B0A04020102020204" pitchFamily="34" charset="0"/>
            </a:endParaRPr>
          </a:p>
          <a:p>
            <a:pPr marL="342900" lvl="0" indent="-342900" algn="just">
              <a:spcAft>
                <a:spcPts val="0"/>
              </a:spcAft>
              <a:buFont typeface="Symbol" panose="05050102010706020507" pitchFamily="18" charset="2"/>
              <a:buChar char=""/>
            </a:pPr>
            <a:r>
              <a:rPr lang="fr-FR" sz="2800" dirty="0">
                <a:solidFill>
                  <a:srgbClr val="000000"/>
                </a:solidFill>
                <a:latin typeface="Arial Black" panose="020B0A04020102020204" pitchFamily="34" charset="0"/>
              </a:rPr>
              <a:t>Indiquer au malade le bureau pour effectuer les modalités de </a:t>
            </a:r>
            <a:r>
              <a:rPr lang="fr-FR" sz="2800" dirty="0" smtClean="0">
                <a:solidFill>
                  <a:srgbClr val="000000"/>
                </a:solidFill>
                <a:latin typeface="Arial Black" panose="020B0A04020102020204" pitchFamily="34" charset="0"/>
              </a:rPr>
              <a:t>sortie</a:t>
            </a:r>
            <a:endParaRPr lang="fr-FR" sz="2800" dirty="0">
              <a:latin typeface="Arial Black" panose="020B0A04020102020204" pitchFamily="34" charset="0"/>
            </a:endParaRPr>
          </a:p>
          <a:p>
            <a:pPr marL="342900" lvl="0" indent="-342900" algn="just">
              <a:spcAft>
                <a:spcPts val="0"/>
              </a:spcAft>
              <a:buFont typeface="Symbol" panose="05050102010706020507" pitchFamily="18" charset="2"/>
              <a:buChar char=""/>
            </a:pPr>
            <a:r>
              <a:rPr lang="fr-FR" sz="2800" dirty="0">
                <a:solidFill>
                  <a:srgbClr val="000000"/>
                </a:solidFill>
                <a:latin typeface="Arial Black" panose="020B0A04020102020204" pitchFamily="34" charset="0"/>
              </a:rPr>
              <a:t>Veiller à ce que le malade emporte tous ses effets et ne pas, par erreur, des objets appartenant au </a:t>
            </a:r>
            <a:r>
              <a:rPr lang="fr-FR" sz="2800" dirty="0" smtClean="0">
                <a:solidFill>
                  <a:srgbClr val="000000"/>
                </a:solidFill>
                <a:latin typeface="Arial Black" panose="020B0A04020102020204" pitchFamily="34" charset="0"/>
              </a:rPr>
              <a:t>service</a:t>
            </a:r>
            <a:endParaRPr lang="fr-FR" sz="2800" dirty="0">
              <a:latin typeface="Arial Black" panose="020B0A04020102020204" pitchFamily="34" charset="0"/>
            </a:endParaRPr>
          </a:p>
          <a:p>
            <a:pPr marL="342900" lvl="0" indent="-342900" algn="just">
              <a:spcAft>
                <a:spcPts val="0"/>
              </a:spcAft>
              <a:buFont typeface="Symbol" panose="05050102010706020507" pitchFamily="18" charset="2"/>
              <a:buChar char=""/>
            </a:pPr>
            <a:r>
              <a:rPr lang="fr-FR" sz="2800" dirty="0">
                <a:solidFill>
                  <a:srgbClr val="000000"/>
                </a:solidFill>
                <a:latin typeface="Arial Black" panose="020B0A04020102020204" pitchFamily="34" charset="0"/>
              </a:rPr>
              <a:t>Si nécessaire l’aider à faire ses </a:t>
            </a:r>
            <a:r>
              <a:rPr lang="fr-FR" sz="2800" dirty="0" smtClean="0">
                <a:solidFill>
                  <a:srgbClr val="000000"/>
                </a:solidFill>
                <a:latin typeface="Arial Black" panose="020B0A04020102020204" pitchFamily="34" charset="0"/>
              </a:rPr>
              <a:t>bagages</a:t>
            </a:r>
            <a:endParaRPr lang="fr-FR" sz="2800" dirty="0">
              <a:latin typeface="Arial Black" panose="020B0A04020102020204" pitchFamily="34" charset="0"/>
            </a:endParaRPr>
          </a:p>
          <a:p>
            <a:pPr marL="342900" lvl="0" indent="-342900" algn="just">
              <a:spcAft>
                <a:spcPts val="0"/>
              </a:spcAft>
              <a:buFont typeface="Symbol" panose="05050102010706020507" pitchFamily="18" charset="2"/>
              <a:buChar char=""/>
            </a:pPr>
            <a:r>
              <a:rPr lang="fr-FR" sz="2800" dirty="0">
                <a:solidFill>
                  <a:srgbClr val="000000"/>
                </a:solidFill>
                <a:latin typeface="Arial Black" panose="020B0A04020102020204" pitchFamily="34" charset="0"/>
              </a:rPr>
              <a:t>Lui donner des conseils nécessaires pour conserver sa santé et des indications pour ses médicaments, son régime</a:t>
            </a:r>
            <a:r>
              <a:rPr lang="fr-FR" sz="2800" dirty="0" smtClean="0">
                <a:solidFill>
                  <a:srgbClr val="000000"/>
                </a:solidFill>
                <a:latin typeface="Arial Black" panose="020B0A04020102020204" pitchFamily="34" charset="0"/>
              </a:rPr>
              <a:t>…</a:t>
            </a:r>
            <a:r>
              <a:rPr lang="fr-FR" sz="2800" dirty="0">
                <a:solidFill>
                  <a:srgbClr val="000000"/>
                </a:solidFill>
                <a:latin typeface="Arial Black" panose="020B0A04020102020204" pitchFamily="34" charset="0"/>
              </a:rPr>
              <a:t> </a:t>
            </a:r>
            <a:endParaRPr lang="fr-FR" sz="2800" dirty="0">
              <a:latin typeface="Arial Black" panose="020B0A04020102020204" pitchFamily="34" charset="0"/>
            </a:endParaRPr>
          </a:p>
          <a:p>
            <a:pPr algn="just">
              <a:spcAft>
                <a:spcPts val="0"/>
              </a:spcAft>
            </a:pPr>
            <a:r>
              <a:rPr lang="fr-FR" sz="2800" dirty="0">
                <a:solidFill>
                  <a:srgbClr val="FF0000"/>
                </a:solidFill>
                <a:latin typeface="Arial Black" panose="020B0A04020102020204" pitchFamily="34" charset="0"/>
              </a:rPr>
              <a:t>L’agent de santé est tenu au secret professionnel sur tout ce qu’il (elle) apprend au sujet du malade et de sa famille.</a:t>
            </a:r>
            <a:endParaRPr lang="fr-FR" sz="2800" dirty="0">
              <a:solidFill>
                <a:srgbClr val="FF0000"/>
              </a:solidFill>
              <a:effectLst/>
              <a:latin typeface="Arial Black" panose="020B0A04020102020204" pitchFamily="34" charset="0"/>
            </a:endParaRPr>
          </a:p>
        </p:txBody>
      </p:sp>
    </p:spTree>
    <p:extLst>
      <p:ext uri="{BB962C8B-B14F-4D97-AF65-F5344CB8AC3E}">
        <p14:creationId xmlns:p14="http://schemas.microsoft.com/office/powerpoint/2010/main" val="27802456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2" y="990120"/>
            <a:ext cx="11771290" cy="3970318"/>
          </a:xfrm>
          <a:prstGeom prst="rect">
            <a:avLst/>
          </a:prstGeom>
        </p:spPr>
        <p:txBody>
          <a:bodyPr wrap="square">
            <a:spAutoFit/>
          </a:bodyPr>
          <a:lstStyle/>
          <a:p>
            <a:pPr marL="342900" lvl="0" indent="-342900" algn="just">
              <a:spcAft>
                <a:spcPts val="0"/>
              </a:spcAft>
              <a:buFont typeface="Wingdings" panose="05000000000000000000" pitchFamily="2" charset="2"/>
              <a:buChar char=""/>
            </a:pPr>
            <a:r>
              <a:rPr lang="fr-FR" sz="2800" b="1" u="sng" dirty="0">
                <a:solidFill>
                  <a:schemeClr val="accent1"/>
                </a:solidFill>
                <a:latin typeface="Arial Black" panose="020B0A04020102020204" pitchFamily="34" charset="0"/>
              </a:rPr>
              <a:t>Qualités </a:t>
            </a:r>
            <a:r>
              <a:rPr lang="fr-FR" sz="2800" b="1" u="sng" dirty="0" smtClean="0">
                <a:solidFill>
                  <a:schemeClr val="accent1"/>
                </a:solidFill>
                <a:latin typeface="Arial Black" panose="020B0A04020102020204" pitchFamily="34" charset="0"/>
              </a:rPr>
              <a:t>humaines</a:t>
            </a:r>
            <a:endParaRPr lang="fr-FR" sz="2800" dirty="0">
              <a:solidFill>
                <a:schemeClr val="accent1"/>
              </a:solidFill>
              <a:latin typeface="Arial Black" panose="020B0A04020102020204" pitchFamily="34" charset="0"/>
            </a:endParaRPr>
          </a:p>
          <a:p>
            <a:pPr algn="just">
              <a:spcAft>
                <a:spcPts val="0"/>
              </a:spcAft>
            </a:pPr>
            <a:r>
              <a:rPr lang="fr-FR" sz="2800" dirty="0">
                <a:solidFill>
                  <a:srgbClr val="000000"/>
                </a:solidFill>
                <a:latin typeface="Arial Black" panose="020B0A04020102020204" pitchFamily="34" charset="0"/>
              </a:rPr>
              <a:t>Certaines vont de soi : politesse, ponctualité, amabilité, tenue et attitude </a:t>
            </a:r>
            <a:r>
              <a:rPr lang="fr-FR" sz="2800" dirty="0" smtClean="0">
                <a:solidFill>
                  <a:srgbClr val="000000"/>
                </a:solidFill>
                <a:latin typeface="Arial Black" panose="020B0A04020102020204" pitchFamily="34" charset="0"/>
              </a:rPr>
              <a:t>correcte</a:t>
            </a:r>
            <a:endParaRPr lang="fr-FR" sz="2800" dirty="0">
              <a:latin typeface="Arial Black" panose="020B0A04020102020204" pitchFamily="34" charset="0"/>
            </a:endParaRPr>
          </a:p>
          <a:p>
            <a:pPr algn="just">
              <a:spcAft>
                <a:spcPts val="0"/>
              </a:spcAft>
            </a:pPr>
            <a:r>
              <a:rPr lang="fr-FR" sz="2800" dirty="0">
                <a:solidFill>
                  <a:srgbClr val="000000"/>
                </a:solidFill>
                <a:latin typeface="Arial Black" panose="020B0A04020102020204" pitchFamily="34" charset="0"/>
              </a:rPr>
              <a:t>D’autres vertus sont importantes ; l’écoute active et attentive, la </a:t>
            </a:r>
            <a:r>
              <a:rPr lang="fr-FR" sz="2800" dirty="0" smtClean="0">
                <a:solidFill>
                  <a:srgbClr val="000000"/>
                </a:solidFill>
                <a:latin typeface="Arial Black" panose="020B0A04020102020204" pitchFamily="34" charset="0"/>
              </a:rPr>
              <a:t>discrétion</a:t>
            </a:r>
            <a:endParaRPr lang="fr-FR" sz="2800" dirty="0">
              <a:latin typeface="Arial Black" panose="020B0A04020102020204" pitchFamily="34" charset="0"/>
            </a:endParaRPr>
          </a:p>
          <a:p>
            <a:r>
              <a:rPr lang="fr-FR" sz="2800" dirty="0">
                <a:solidFill>
                  <a:srgbClr val="000000"/>
                </a:solidFill>
                <a:latin typeface="Arial Black" panose="020B0A04020102020204" pitchFamily="34" charset="0"/>
                <a:ea typeface="Calibri" panose="020F0502020204030204" pitchFamily="34" charset="0"/>
              </a:rPr>
              <a:t>Le malade doit se sentir reconnu, ne pas se sentir comme un étranger, un </a:t>
            </a:r>
            <a:r>
              <a:rPr lang="fr-FR" sz="2800" dirty="0" smtClean="0">
                <a:solidFill>
                  <a:srgbClr val="000000"/>
                </a:solidFill>
                <a:latin typeface="Arial Black" panose="020B0A04020102020204" pitchFamily="34" charset="0"/>
                <a:ea typeface="Calibri" panose="020F0502020204030204" pitchFamily="34" charset="0"/>
              </a:rPr>
              <a:t>inopportun</a:t>
            </a:r>
          </a:p>
          <a:p>
            <a:r>
              <a:rPr lang="fr-FR" sz="2800" dirty="0" smtClean="0">
                <a:solidFill>
                  <a:srgbClr val="000000"/>
                </a:solidFill>
                <a:latin typeface="Arial Black" panose="020B0A04020102020204" pitchFamily="34" charset="0"/>
                <a:ea typeface="Calibri" panose="020F0502020204030204" pitchFamily="34" charset="0"/>
              </a:rPr>
              <a:t>Lancer </a:t>
            </a:r>
            <a:r>
              <a:rPr lang="fr-FR" sz="2800" dirty="0">
                <a:solidFill>
                  <a:srgbClr val="000000"/>
                </a:solidFill>
                <a:latin typeface="Arial Black" panose="020B0A04020102020204" pitchFamily="34" charset="0"/>
                <a:ea typeface="Calibri" panose="020F0502020204030204" pitchFamily="34" charset="0"/>
              </a:rPr>
              <a:t>alors une petite phrase de reconnaissance qui l’aidera à se sentir à l’aise et à attendre</a:t>
            </a:r>
            <a:endParaRPr lang="fr-FR" sz="2800" dirty="0">
              <a:latin typeface="Arial Black" panose="020B0A04020102020204" pitchFamily="34" charset="0"/>
            </a:endParaRPr>
          </a:p>
        </p:txBody>
      </p:sp>
    </p:spTree>
    <p:extLst>
      <p:ext uri="{BB962C8B-B14F-4D97-AF65-F5344CB8AC3E}">
        <p14:creationId xmlns:p14="http://schemas.microsoft.com/office/powerpoint/2010/main" val="27053139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546" y="409712"/>
            <a:ext cx="11938715" cy="5047536"/>
          </a:xfrm>
          <a:prstGeom prst="rect">
            <a:avLst/>
          </a:prstGeom>
        </p:spPr>
        <p:txBody>
          <a:bodyPr wrap="square">
            <a:spAutoFit/>
          </a:bodyPr>
          <a:lstStyle/>
          <a:p>
            <a:pPr marL="342900" lvl="0" indent="-342900" algn="just">
              <a:lnSpc>
                <a:spcPct val="115000"/>
              </a:lnSpc>
              <a:spcAft>
                <a:spcPts val="0"/>
              </a:spcAft>
              <a:buFont typeface="Wingdings" panose="05000000000000000000" pitchFamily="2" charset="2"/>
              <a:buChar char=""/>
            </a:pPr>
            <a:r>
              <a:rPr lang="fr-FR" sz="2000" b="1" u="sng"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000" b="1" u="sng"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Conditions </a:t>
            </a:r>
            <a:r>
              <a:rPr lang="fr-FR" sz="20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matérielles d’un bon accueil</a:t>
            </a:r>
            <a:endParaRPr lang="fr-FR" sz="20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fr-FR" sz="20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L’apparence du service a un effet sur le patient. Il émanera quelque chose de sympathique et attrayant d’un établissement hospitalier où on aura planté des haies, des parterres de fleurs et dont les murs auront été repeints, crépis ou chaulés.</a:t>
            </a:r>
            <a:endParaRPr lang="fr-FR" sz="20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fr-FR" sz="20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La propreté et l’hygiène des lieux. Cela implique que soient installés un ou plusieurs bidons recouverts servant de poubelles, placés ni trop près ni trop loin des salles d’hospitalisation, à des endroits évitant des nuisances et le contenu vidé et détruit</a:t>
            </a:r>
            <a:r>
              <a:rPr lang="fr-FR" sz="20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endParaRPr lang="fr-FR" sz="20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fr-FR" sz="20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Le confort du malade sera périodiquement réévalué</a:t>
            </a:r>
            <a:r>
              <a:rPr lang="fr-FR" sz="20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endParaRPr lang="fr-FR" sz="20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fr-FR" sz="20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La discrétion doit être assurée</a:t>
            </a:r>
            <a:r>
              <a:rPr lang="fr-FR" sz="20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endParaRPr lang="fr-FR" sz="20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fr-FR" sz="20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La perturbation sonore doit être réduite au maximum, puisque le matin entre huit heures et midi, une foule de gens qui attendent, discutent et s’énervent à cause des resquilleurs</a:t>
            </a:r>
            <a:r>
              <a:rPr lang="fr-FR"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758324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032" y="654856"/>
            <a:ext cx="11900078" cy="5262979"/>
          </a:xfrm>
          <a:prstGeom prst="rect">
            <a:avLst/>
          </a:prstGeom>
        </p:spPr>
        <p:txBody>
          <a:bodyPr wrap="square">
            <a:spAutoFit/>
          </a:bodyPr>
          <a:lstStyle/>
          <a:p>
            <a:pPr marL="228600" algn="just">
              <a:spcAft>
                <a:spcPts val="0"/>
              </a:spcAft>
            </a:pPr>
            <a:r>
              <a:rPr lang="fr-FR" sz="2400" b="1" u="sng" dirty="0" smtClean="0">
                <a:solidFill>
                  <a:srgbClr val="FF0000"/>
                </a:solidFill>
                <a:latin typeface="Arial Black" panose="020B0A04020102020204" pitchFamily="34" charset="0"/>
              </a:rPr>
              <a:t>CONCLUSION</a:t>
            </a:r>
            <a:endParaRPr lang="fr-FR" sz="2400" dirty="0">
              <a:latin typeface="Arial Black" panose="020B0A04020102020204" pitchFamily="34" charset="0"/>
            </a:endParaRPr>
          </a:p>
          <a:p>
            <a:pPr marL="228600" algn="just">
              <a:spcAft>
                <a:spcPts val="0"/>
              </a:spcAft>
            </a:pPr>
            <a:r>
              <a:rPr lang="fr-FR" sz="2400" dirty="0">
                <a:solidFill>
                  <a:srgbClr val="000000"/>
                </a:solidFill>
                <a:latin typeface="Arial Black" panose="020B0A04020102020204" pitchFamily="34" charset="0"/>
              </a:rPr>
              <a:t>L’accueil des malades n’est pas que politesse ou gentillesse, mais en grande partie, écouter et organiser l’attente, le confort de ceux qui patientent et la discrétion des consultations. </a:t>
            </a:r>
            <a:endParaRPr lang="fr-FR" sz="2400" dirty="0">
              <a:latin typeface="Arial Black" panose="020B0A04020102020204" pitchFamily="34" charset="0"/>
            </a:endParaRPr>
          </a:p>
          <a:p>
            <a:pPr marL="228600" algn="just">
              <a:spcAft>
                <a:spcPts val="0"/>
              </a:spcAft>
            </a:pPr>
            <a:r>
              <a:rPr lang="fr-FR" sz="2400" dirty="0">
                <a:solidFill>
                  <a:srgbClr val="000000"/>
                </a:solidFill>
                <a:latin typeface="Arial Black" panose="020B0A04020102020204" pitchFamily="34" charset="0"/>
              </a:rPr>
              <a:t>Un accueil agréable fera beaucoup pour la qualité et la réputation du centre médical. Certes, toutes les propositions précédentes ne sont pas des recommandations, mais nous souhaitons que ce cours sensibilise à la notion d’accueil et surtout vous invite à réfléchir à votre propre accueil dans votre lieu de travail. Car l’entrée d’un malade à l’hôpital est, un univers nouveau pour lui.</a:t>
            </a:r>
            <a:endParaRPr lang="fr-FR" sz="2400" dirty="0">
              <a:latin typeface="Arial Black" panose="020B0A04020102020204" pitchFamily="34" charset="0"/>
            </a:endParaRPr>
          </a:p>
          <a:p>
            <a:pPr marL="228600" algn="just">
              <a:spcAft>
                <a:spcPts val="0"/>
              </a:spcAft>
            </a:pPr>
            <a:r>
              <a:rPr lang="fr-FR" sz="2400" dirty="0">
                <a:solidFill>
                  <a:srgbClr val="000000"/>
                </a:solidFill>
                <a:latin typeface="Arial Black" panose="020B0A04020102020204" pitchFamily="34" charset="0"/>
              </a:rPr>
              <a:t>Par conséquent aucun domaine ne doit être négligé afin de lui permettre de s’insérer sans avoir « le mal d’hospitalisation ». </a:t>
            </a:r>
            <a:endParaRPr lang="fr-FR" sz="2400" dirty="0">
              <a:latin typeface="Arial Black" panose="020B0A04020102020204" pitchFamily="34" charset="0"/>
            </a:endParaRPr>
          </a:p>
          <a:p>
            <a:r>
              <a:rPr lang="fr-FR" sz="2400" dirty="0">
                <a:solidFill>
                  <a:srgbClr val="000000"/>
                </a:solidFill>
                <a:latin typeface="Arial Black" panose="020B0A04020102020204" pitchFamily="34" charset="0"/>
                <a:ea typeface="Calibri" panose="020F0502020204030204" pitchFamily="34" charset="0"/>
              </a:rPr>
              <a:t>Il répond aux besoins d’apprendre et d’éviter le danger selon   Virginia Henderson</a:t>
            </a:r>
            <a:endParaRPr lang="fr-FR" sz="2400" dirty="0">
              <a:latin typeface="Arial Black" panose="020B0A04020102020204" pitchFamily="34" charset="0"/>
            </a:endParaRPr>
          </a:p>
        </p:txBody>
      </p:sp>
    </p:spTree>
    <p:extLst>
      <p:ext uri="{BB962C8B-B14F-4D97-AF65-F5344CB8AC3E}">
        <p14:creationId xmlns:p14="http://schemas.microsoft.com/office/powerpoint/2010/main" val="40642883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89064" y="181294"/>
            <a:ext cx="10317480" cy="815927"/>
          </a:xfrm>
        </p:spPr>
        <p:txBody>
          <a:bodyPr>
            <a:normAutofit fontScale="90000"/>
          </a:bodyPr>
          <a:lstStyle/>
          <a:p>
            <a:r>
              <a:rPr lang="fr-FR" sz="4000" b="1" dirty="0">
                <a:solidFill>
                  <a:srgbClr val="FF0000"/>
                </a:solidFill>
              </a:rPr>
              <a:t>VISITES AUX MALADES</a:t>
            </a:r>
            <a:r>
              <a:rPr lang="fr-FR" dirty="0"/>
              <a:t/>
            </a:r>
            <a:br>
              <a:rPr lang="fr-FR" dirty="0"/>
            </a:br>
            <a:endParaRPr lang="fr-FR" dirty="0"/>
          </a:p>
        </p:txBody>
      </p:sp>
      <p:sp>
        <p:nvSpPr>
          <p:cNvPr id="3" name="Rectangle 2"/>
          <p:cNvSpPr/>
          <p:nvPr/>
        </p:nvSpPr>
        <p:spPr>
          <a:xfrm>
            <a:off x="167425" y="696579"/>
            <a:ext cx="11848564" cy="3593291"/>
          </a:xfrm>
          <a:prstGeom prst="rect">
            <a:avLst/>
          </a:prstGeom>
        </p:spPr>
        <p:txBody>
          <a:bodyPr wrap="square">
            <a:spAutoFit/>
          </a:bodyPr>
          <a:lstStyle/>
          <a:p>
            <a:pPr algn="just">
              <a:lnSpc>
                <a:spcPct val="150000"/>
              </a:lnSpc>
              <a:spcAft>
                <a:spcPts val="0"/>
              </a:spcAft>
            </a:pPr>
            <a:r>
              <a:rPr lang="fr-FR" sz="2900" b="1" u="sng" dirty="0" smtClean="0">
                <a:solidFill>
                  <a:srgbClr val="FF0000"/>
                </a:solidFill>
                <a:latin typeface="Arial Black" panose="020B0A04020102020204" pitchFamily="34" charset="0"/>
              </a:rPr>
              <a:t>I- DEFINITION</a:t>
            </a:r>
            <a:endParaRPr lang="fr-FR" sz="2900" dirty="0">
              <a:solidFill>
                <a:srgbClr val="FF0000"/>
              </a:solidFill>
              <a:latin typeface="Arial Black" panose="020B0A04020102020204" pitchFamily="34" charset="0"/>
            </a:endParaRPr>
          </a:p>
          <a:p>
            <a:pPr algn="just">
              <a:lnSpc>
                <a:spcPct val="150000"/>
              </a:lnSpc>
              <a:spcAft>
                <a:spcPts val="600"/>
              </a:spcAft>
            </a:pPr>
            <a:r>
              <a:rPr lang="fr-FR" sz="2900" dirty="0">
                <a:solidFill>
                  <a:srgbClr val="000000"/>
                </a:solidFill>
                <a:latin typeface="Arial Black" panose="020B0A04020102020204" pitchFamily="34" charset="0"/>
              </a:rPr>
              <a:t>La visite à une personne malade est une action qui consiste à aller voir celle-ci par civilité ou par devoir</a:t>
            </a:r>
            <a:r>
              <a:rPr lang="fr-FR" sz="2900" dirty="0" smtClean="0">
                <a:solidFill>
                  <a:srgbClr val="000000"/>
                </a:solidFill>
                <a:latin typeface="Arial Black" panose="020B0A04020102020204" pitchFamily="34" charset="0"/>
              </a:rPr>
              <a:t>.</a:t>
            </a:r>
            <a:endParaRPr lang="fr-FR" sz="2900" dirty="0">
              <a:latin typeface="Arial Black" panose="020B0A04020102020204" pitchFamily="34" charset="0"/>
            </a:endParaRPr>
          </a:p>
          <a:p>
            <a:pPr algn="just">
              <a:lnSpc>
                <a:spcPct val="200000"/>
              </a:lnSpc>
              <a:spcAft>
                <a:spcPts val="600"/>
              </a:spcAft>
            </a:pPr>
            <a:r>
              <a:rPr lang="fr-FR" sz="2900" b="1" u="sng" dirty="0" smtClean="0">
                <a:solidFill>
                  <a:srgbClr val="FF0000"/>
                </a:solidFill>
                <a:latin typeface="Arial Black" panose="020B0A04020102020204" pitchFamily="34" charset="0"/>
              </a:rPr>
              <a:t>II- BUT</a:t>
            </a:r>
            <a:endParaRPr lang="fr-FR" sz="2900" dirty="0">
              <a:solidFill>
                <a:srgbClr val="FF0000"/>
              </a:solidFill>
              <a:latin typeface="Arial Black" panose="020B0A04020102020204" pitchFamily="34" charset="0"/>
            </a:endParaRPr>
          </a:p>
          <a:p>
            <a:r>
              <a:rPr lang="fr-FR" sz="2900" dirty="0">
                <a:solidFill>
                  <a:srgbClr val="000000"/>
                </a:solidFill>
                <a:latin typeface="Arial Black" panose="020B0A04020102020204" pitchFamily="34" charset="0"/>
                <a:ea typeface="Calibri" panose="020F0502020204030204" pitchFamily="34" charset="0"/>
              </a:rPr>
              <a:t>Réconforter et soutenir celui qui est souffrant</a:t>
            </a:r>
            <a:endParaRPr lang="fr-FR" sz="2900" dirty="0">
              <a:latin typeface="Arial Black" panose="020B0A04020102020204" pitchFamily="34" charset="0"/>
            </a:endParaRPr>
          </a:p>
        </p:txBody>
      </p:sp>
    </p:spTree>
    <p:extLst>
      <p:ext uri="{BB962C8B-B14F-4D97-AF65-F5344CB8AC3E}">
        <p14:creationId xmlns:p14="http://schemas.microsoft.com/office/powerpoint/2010/main" val="25849717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88" y="0"/>
            <a:ext cx="11861443" cy="5986254"/>
          </a:xfrm>
          <a:prstGeom prst="rect">
            <a:avLst/>
          </a:prstGeom>
        </p:spPr>
        <p:txBody>
          <a:bodyPr wrap="square">
            <a:spAutoFit/>
          </a:bodyPr>
          <a:lstStyle/>
          <a:p>
            <a:pPr algn="just">
              <a:spcAft>
                <a:spcPts val="600"/>
              </a:spcAft>
            </a:pPr>
            <a:r>
              <a:rPr lang="fr-FR" sz="1000" dirty="0">
                <a:solidFill>
                  <a:srgbClr val="000000"/>
                </a:solidFill>
                <a:latin typeface="Times New Roman" panose="02020603050405020304" pitchFamily="18" charset="0"/>
              </a:rPr>
              <a:t> </a:t>
            </a:r>
            <a:endParaRPr lang="fr-FR" sz="2800" dirty="0">
              <a:solidFill>
                <a:srgbClr val="FF0000"/>
              </a:solidFill>
              <a:latin typeface="Arial Black" panose="020B0A04020102020204" pitchFamily="34" charset="0"/>
            </a:endParaRPr>
          </a:p>
          <a:p>
            <a:pPr algn="just">
              <a:spcAft>
                <a:spcPts val="600"/>
              </a:spcAft>
            </a:pPr>
            <a:r>
              <a:rPr lang="fr-FR" sz="2800" b="1" u="sng" dirty="0" smtClean="0">
                <a:solidFill>
                  <a:srgbClr val="FF0000"/>
                </a:solidFill>
                <a:latin typeface="Arial Black" panose="020B0A04020102020204" pitchFamily="34" charset="0"/>
              </a:rPr>
              <a:t>      </a:t>
            </a:r>
            <a:r>
              <a:rPr lang="fr-FR" sz="2400" b="1" u="sng" dirty="0" smtClean="0">
                <a:solidFill>
                  <a:srgbClr val="FF0000"/>
                </a:solidFill>
                <a:latin typeface="Arial Black" panose="020B0A04020102020204" pitchFamily="34" charset="0"/>
              </a:rPr>
              <a:t>III- </a:t>
            </a:r>
            <a:r>
              <a:rPr lang="fr-FR" sz="2400" b="1" u="sng" dirty="0">
                <a:solidFill>
                  <a:srgbClr val="FF0000"/>
                </a:solidFill>
                <a:latin typeface="Arial Black" panose="020B0A04020102020204" pitchFamily="34" charset="0"/>
              </a:rPr>
              <a:t>ATTITUDES A ADOPTER AU COURS D’UNE VISITE A UN MALADE :</a:t>
            </a:r>
            <a:endParaRPr lang="fr-FR" sz="2400" dirty="0">
              <a:solidFill>
                <a:srgbClr val="FF0000"/>
              </a:solidFill>
              <a:latin typeface="Arial Black" panose="020B0A04020102020204" pitchFamily="34" charset="0"/>
            </a:endParaRPr>
          </a:p>
          <a:p>
            <a:pPr marL="342900" lvl="0" indent="-342900" algn="just">
              <a:spcAft>
                <a:spcPts val="600"/>
              </a:spcAft>
              <a:buFont typeface="Times New Roman" panose="02020603050405020304" pitchFamily="18" charset="0"/>
              <a:buChar char="-"/>
            </a:pPr>
            <a:r>
              <a:rPr lang="fr-FR" sz="2400" dirty="0">
                <a:latin typeface="Arial Black" panose="020B0A04020102020204" pitchFamily="34" charset="0"/>
                <a:ea typeface="Times New Roman" panose="02020603050405020304" pitchFamily="18" charset="0"/>
              </a:rPr>
              <a:t>Celui qui vient auprès d’un malade ne doit pas adopter une attitude qui pourrait le nuire ou lui occasionner une gêne quelconque. Au cours de la visite, il ne faut pas aborder des sujets qui pourraient indisposer le malade </a:t>
            </a:r>
          </a:p>
          <a:p>
            <a:pPr marL="342900" lvl="0" indent="-342900" algn="just">
              <a:spcAft>
                <a:spcPts val="600"/>
              </a:spcAft>
              <a:buFont typeface="Times New Roman" panose="02020603050405020304" pitchFamily="18" charset="0"/>
              <a:buChar char="-"/>
            </a:pPr>
            <a:r>
              <a:rPr lang="fr-FR" sz="2400" dirty="0">
                <a:latin typeface="Arial Black" panose="020B0A04020102020204" pitchFamily="34" charset="0"/>
                <a:ea typeface="Times New Roman" panose="02020603050405020304" pitchFamily="18" charset="0"/>
              </a:rPr>
              <a:t>Eviter à tout prix les questions, les remarques ou les allusions qui pourraient raviver chez le malade certaines peines ou </a:t>
            </a:r>
            <a:r>
              <a:rPr lang="fr-FR" sz="2400" dirty="0" smtClean="0">
                <a:latin typeface="Arial Black" panose="020B0A04020102020204" pitchFamily="34" charset="0"/>
                <a:ea typeface="Times New Roman" panose="02020603050405020304" pitchFamily="18" charset="0"/>
              </a:rPr>
              <a:t>souffrances</a:t>
            </a:r>
            <a:endParaRPr lang="fr-FR" sz="2400" dirty="0">
              <a:latin typeface="Arial Black" panose="020B0A04020102020204" pitchFamily="34" charset="0"/>
              <a:ea typeface="Times New Roman" panose="02020603050405020304" pitchFamily="18" charset="0"/>
            </a:endParaRPr>
          </a:p>
          <a:p>
            <a:pPr marL="342900" lvl="0" indent="-342900" algn="just">
              <a:spcAft>
                <a:spcPts val="600"/>
              </a:spcAft>
              <a:buFont typeface="Times New Roman" panose="02020603050405020304" pitchFamily="18" charset="0"/>
              <a:buChar char="-"/>
            </a:pPr>
            <a:r>
              <a:rPr lang="fr-FR" sz="2400" dirty="0">
                <a:latin typeface="Arial Black" panose="020B0A04020102020204" pitchFamily="34" charset="0"/>
                <a:ea typeface="Times New Roman" panose="02020603050405020304" pitchFamily="18" charset="0"/>
              </a:rPr>
              <a:t>Il est également bien, dans la mesure du possible, de proposer son aide au malade, et lui demander s’il désire quelque </a:t>
            </a:r>
            <a:r>
              <a:rPr lang="fr-FR" sz="2400" dirty="0" smtClean="0">
                <a:latin typeface="Arial Black" panose="020B0A04020102020204" pitchFamily="34" charset="0"/>
                <a:ea typeface="Times New Roman" panose="02020603050405020304" pitchFamily="18" charset="0"/>
              </a:rPr>
              <a:t>chose</a:t>
            </a:r>
            <a:endParaRPr lang="fr-FR" sz="2400" dirty="0">
              <a:latin typeface="Arial Black" panose="020B0A04020102020204" pitchFamily="34" charset="0"/>
              <a:ea typeface="Times New Roman" panose="02020603050405020304" pitchFamily="18" charset="0"/>
            </a:endParaRPr>
          </a:p>
          <a:p>
            <a:pPr marL="342900" lvl="0" indent="-342900" algn="just">
              <a:spcAft>
                <a:spcPts val="600"/>
              </a:spcAft>
              <a:buFont typeface="Times New Roman" panose="02020603050405020304" pitchFamily="18" charset="0"/>
              <a:buChar char="-"/>
            </a:pPr>
            <a:r>
              <a:rPr lang="fr-FR" sz="2400" dirty="0" smtClean="0">
                <a:latin typeface="Arial Black" panose="020B0A04020102020204" pitchFamily="34" charset="0"/>
                <a:ea typeface="Times New Roman" panose="02020603050405020304" pitchFamily="18" charset="0"/>
              </a:rPr>
              <a:t>Il faut </a:t>
            </a:r>
            <a:r>
              <a:rPr lang="fr-FR" sz="2400" dirty="0">
                <a:latin typeface="Arial Black" panose="020B0A04020102020204" pitchFamily="34" charset="0"/>
                <a:ea typeface="Times New Roman" panose="02020603050405020304" pitchFamily="18" charset="0"/>
              </a:rPr>
              <a:t>dans la mesure du possible, adopter une attitude réconfortante à l’égard du malade </a:t>
            </a:r>
            <a:r>
              <a:rPr lang="fr-FR" sz="2400" i="1" dirty="0">
                <a:latin typeface="Arial Black" panose="020B0A04020102020204" pitchFamily="34" charset="0"/>
                <a:ea typeface="Times New Roman" panose="02020603050405020304" pitchFamily="18" charset="0"/>
              </a:rPr>
              <a:t>(comme par exemple masser son visage ou l’endroit du corps qui le fait souffrir)</a:t>
            </a:r>
            <a:r>
              <a:rPr lang="fr-FR" sz="2400" u="sng" dirty="0">
                <a:latin typeface="Arial Black" panose="020B0A04020102020204" pitchFamily="34" charset="0"/>
                <a:ea typeface="Times New Roman" panose="02020603050405020304" pitchFamily="18" charset="0"/>
              </a:rPr>
              <a:t>,</a:t>
            </a:r>
            <a:r>
              <a:rPr lang="fr-FR" sz="2400" dirty="0">
                <a:latin typeface="Arial Black" panose="020B0A04020102020204" pitchFamily="34" charset="0"/>
                <a:ea typeface="Times New Roman" panose="02020603050405020304" pitchFamily="18" charset="0"/>
              </a:rPr>
              <a:t> mais lui tenir des propos encourageants sur son </a:t>
            </a:r>
            <a:r>
              <a:rPr lang="fr-FR" sz="2400" dirty="0" smtClean="0">
                <a:latin typeface="Arial Black" panose="020B0A04020102020204" pitchFamily="34" charset="0"/>
                <a:ea typeface="Times New Roman" panose="02020603050405020304" pitchFamily="18" charset="0"/>
              </a:rPr>
              <a:t>état</a:t>
            </a:r>
            <a:endParaRPr lang="fr-FR" sz="2400" dirty="0">
              <a:effectLst/>
              <a:latin typeface="Arial Black" panose="020B0A04020102020204" pitchFamily="34" charset="0"/>
              <a:ea typeface="Times New Roman" panose="02020603050405020304" pitchFamily="18" charset="0"/>
            </a:endParaRPr>
          </a:p>
        </p:txBody>
      </p:sp>
    </p:spTree>
    <p:extLst>
      <p:ext uri="{BB962C8B-B14F-4D97-AF65-F5344CB8AC3E}">
        <p14:creationId xmlns:p14="http://schemas.microsoft.com/office/powerpoint/2010/main" val="37936772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668" y="0"/>
            <a:ext cx="11912957" cy="5847755"/>
          </a:xfrm>
          <a:prstGeom prst="rect">
            <a:avLst/>
          </a:prstGeom>
        </p:spPr>
        <p:txBody>
          <a:bodyPr wrap="square">
            <a:spAutoFit/>
          </a:bodyPr>
          <a:lstStyle/>
          <a:p>
            <a:pPr algn="just">
              <a:spcAft>
                <a:spcPts val="600"/>
              </a:spcAft>
            </a:pPr>
            <a:r>
              <a:rPr lang="fr-FR" sz="2800" b="1" dirty="0" smtClean="0">
                <a:solidFill>
                  <a:srgbClr val="FF0000"/>
                </a:solidFill>
                <a:latin typeface="Arial Black" panose="020B0A04020102020204" pitchFamily="34" charset="0"/>
              </a:rPr>
              <a:t>        IV-</a:t>
            </a:r>
            <a:r>
              <a:rPr lang="fr-FR" sz="2800" b="1" u="sng" dirty="0" smtClean="0">
                <a:solidFill>
                  <a:srgbClr val="FF0000"/>
                </a:solidFill>
                <a:latin typeface="Arial Black" panose="020B0A04020102020204" pitchFamily="34" charset="0"/>
              </a:rPr>
              <a:t>CARACTERISTIQUES </a:t>
            </a:r>
            <a:r>
              <a:rPr lang="fr-FR" sz="2800" b="1" u="sng" dirty="0">
                <a:solidFill>
                  <a:srgbClr val="FF0000"/>
                </a:solidFill>
                <a:latin typeface="Arial Black" panose="020B0A04020102020204" pitchFamily="34" charset="0"/>
              </a:rPr>
              <a:t>D’UNE </a:t>
            </a:r>
            <a:r>
              <a:rPr lang="fr-FR" sz="2800" b="1" u="sng" dirty="0" smtClean="0">
                <a:solidFill>
                  <a:srgbClr val="FF0000"/>
                </a:solidFill>
                <a:latin typeface="Arial Black" panose="020B0A04020102020204" pitchFamily="34" charset="0"/>
              </a:rPr>
              <a:t>VISITE</a:t>
            </a:r>
            <a:endParaRPr lang="fr-FR" sz="2800" dirty="0" smtClean="0">
              <a:solidFill>
                <a:srgbClr val="FF0000"/>
              </a:solidFill>
              <a:latin typeface="Arial Black" panose="020B0A04020102020204" pitchFamily="34" charset="0"/>
            </a:endParaRPr>
          </a:p>
          <a:p>
            <a:pPr algn="just">
              <a:spcAft>
                <a:spcPts val="600"/>
              </a:spcAft>
            </a:pPr>
            <a:r>
              <a:rPr lang="fr-FR" sz="2800" dirty="0" smtClean="0">
                <a:solidFill>
                  <a:srgbClr val="000000"/>
                </a:solidFill>
                <a:latin typeface="Arial Black" panose="020B0A04020102020204" pitchFamily="34" charset="0"/>
              </a:rPr>
              <a:t>     La </a:t>
            </a:r>
            <a:r>
              <a:rPr lang="fr-FR" sz="2800" dirty="0">
                <a:solidFill>
                  <a:srgbClr val="000000"/>
                </a:solidFill>
                <a:latin typeface="Arial Black" panose="020B0A04020102020204" pitchFamily="34" charset="0"/>
              </a:rPr>
              <a:t>visite doit être relativement brève. En effet, la présence prolongée de quelqu’un à ses côtés peut incommoder plus ou moins fortement le malade, suivant son état. Par ailleurs, ce dernier préfère souvent que ce soit ceux qui sont les plus proches de lui (enfants, parents, amis intimes, époux ou épouse….) qui restent à ses côtés. Néanmoins, si le malade exprime lui-même le désir que la personne qui vient le voir reste plus longtemps, dans ce cas, il n’y a aucun problème. </a:t>
            </a:r>
            <a:endParaRPr lang="fr-FR" sz="2800" dirty="0">
              <a:latin typeface="Arial Black" panose="020B0A04020102020204" pitchFamily="34" charset="0"/>
            </a:endParaRPr>
          </a:p>
          <a:p>
            <a:pPr algn="just">
              <a:spcAft>
                <a:spcPts val="600"/>
              </a:spcAft>
            </a:pPr>
            <a:r>
              <a:rPr lang="fr-FR" sz="2800" dirty="0">
                <a:solidFill>
                  <a:srgbClr val="000000"/>
                </a:solidFill>
                <a:latin typeface="Arial Black" panose="020B0A04020102020204" pitchFamily="34" charset="0"/>
              </a:rPr>
              <a:t>Les visiteurs ne doivent pas troubler le repos des malades ni gêner le fonctionnement des services et la visite doit se faire à une heure appropriée</a:t>
            </a:r>
            <a:r>
              <a:rPr lang="fr-FR" sz="2800" dirty="0">
                <a:solidFill>
                  <a:srgbClr val="000000"/>
                </a:solidFill>
                <a:latin typeface="Times New Roman" panose="02020603050405020304" pitchFamily="18" charset="0"/>
              </a:rPr>
              <a:t>.</a:t>
            </a:r>
            <a:endParaRPr lang="fr-FR" sz="2800" dirty="0">
              <a:effectLst/>
            </a:endParaRPr>
          </a:p>
        </p:txBody>
      </p:sp>
    </p:spTree>
    <p:extLst>
      <p:ext uri="{BB962C8B-B14F-4D97-AF65-F5344CB8AC3E}">
        <p14:creationId xmlns:p14="http://schemas.microsoft.com/office/powerpoint/2010/main" val="33855875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48781"/>
            <a:ext cx="12192000" cy="4847481"/>
          </a:xfrm>
          <a:prstGeom prst="rect">
            <a:avLst/>
          </a:prstGeom>
        </p:spPr>
        <p:txBody>
          <a:bodyPr wrap="square">
            <a:spAutoFit/>
          </a:bodyPr>
          <a:lstStyle/>
          <a:p>
            <a:pPr algn="just">
              <a:lnSpc>
                <a:spcPct val="150000"/>
              </a:lnSpc>
              <a:spcAft>
                <a:spcPts val="600"/>
              </a:spcAft>
            </a:pP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V-EFFETS DES VISITES SUR LES MALADES</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600"/>
              </a:spcAft>
              <a:buFont typeface="Symbol" panose="05050102010706020507" pitchFamily="18" charset="2"/>
              <a:buChar char=""/>
              <a:tabLst>
                <a:tab pos="457200" algn="l"/>
              </a:tabLst>
            </a:pPr>
            <a:r>
              <a:rPr lang="fr-FR" sz="2800" b="1" u="sng"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Sur celui qui reçoit</a:t>
            </a:r>
            <a:endParaRPr lang="fr-FR" sz="2800" dirty="0">
              <a:solidFill>
                <a:schemeClr val="accent1"/>
              </a:solidFill>
              <a:latin typeface="Arial Black" panose="020B0A04020102020204" pitchFamily="34" charset="0"/>
              <a:ea typeface="Calibri" panose="020F0502020204030204" pitchFamily="34" charset="0"/>
              <a:cs typeface="Times New Roman" panose="02020603050405020304" pitchFamily="18" charset="0"/>
            </a:endParaRPr>
          </a:p>
          <a:p>
            <a:pPr marL="228600" algn="just">
              <a:lnSpc>
                <a:spcPct val="150000"/>
              </a:lnSpc>
              <a:spcAft>
                <a:spcPts val="600"/>
              </a:spcAft>
            </a:pPr>
            <a:r>
              <a:rPr lang="fr-FR" sz="2800" dirty="0">
                <a:solidFill>
                  <a:srgbClr val="000000"/>
                </a:solidFill>
                <a:latin typeface="Arial Black" panose="020B0A04020102020204" pitchFamily="34" charset="0"/>
              </a:rPr>
              <a:t>La visite à un malade peut être une distraction non seulement agréable mais aussi salutaire. </a:t>
            </a:r>
            <a:endParaRPr lang="fr-FR" sz="2800" dirty="0" smtClean="0">
              <a:solidFill>
                <a:srgbClr val="000000"/>
              </a:solidFill>
              <a:latin typeface="Arial Black" panose="020B0A04020102020204" pitchFamily="34" charset="0"/>
            </a:endParaRPr>
          </a:p>
          <a:p>
            <a:pPr marL="228600" algn="just">
              <a:lnSpc>
                <a:spcPct val="150000"/>
              </a:lnSpc>
              <a:spcAft>
                <a:spcPts val="600"/>
              </a:spcAft>
            </a:pPr>
            <a:r>
              <a:rPr lang="fr-FR" sz="2800" dirty="0" smtClean="0">
                <a:solidFill>
                  <a:srgbClr val="000000"/>
                </a:solidFill>
                <a:latin typeface="Arial Black" panose="020B0A04020102020204" pitchFamily="34" charset="0"/>
              </a:rPr>
              <a:t>A </a:t>
            </a:r>
            <a:r>
              <a:rPr lang="fr-FR" sz="2800" dirty="0">
                <a:solidFill>
                  <a:srgbClr val="000000"/>
                </a:solidFill>
                <a:latin typeface="Arial Black" panose="020B0A04020102020204" pitchFamily="34" charset="0"/>
              </a:rPr>
              <a:t>l’opposé, il est des visiteurs dont la venue est mal </a:t>
            </a:r>
            <a:r>
              <a:rPr lang="fr-FR" sz="2800" dirty="0" smtClean="0">
                <a:solidFill>
                  <a:srgbClr val="000000"/>
                </a:solidFill>
                <a:latin typeface="Arial Black" panose="020B0A04020102020204" pitchFamily="34" charset="0"/>
              </a:rPr>
              <a:t>accueillie </a:t>
            </a:r>
            <a:r>
              <a:rPr lang="fr-FR" sz="2800" dirty="0">
                <a:solidFill>
                  <a:srgbClr val="000000"/>
                </a:solidFill>
                <a:latin typeface="Arial Black" panose="020B0A04020102020204" pitchFamily="34" charset="0"/>
              </a:rPr>
              <a:t>ou dont la personne quoique agréable finit par nuire au malade</a:t>
            </a:r>
            <a:endParaRPr lang="fr-FR" sz="2800" dirty="0">
              <a:effectLst/>
              <a:latin typeface="Arial Black" panose="020B0A04020102020204" pitchFamily="34" charset="0"/>
            </a:endParaRPr>
          </a:p>
        </p:txBody>
      </p:sp>
    </p:spTree>
    <p:extLst>
      <p:ext uri="{BB962C8B-B14F-4D97-AF65-F5344CB8AC3E}">
        <p14:creationId xmlns:p14="http://schemas.microsoft.com/office/powerpoint/2010/main" val="20878807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8322"/>
            <a:ext cx="11874321" cy="5569794"/>
          </a:xfrm>
          <a:prstGeom prst="rect">
            <a:avLst/>
          </a:prstGeom>
        </p:spPr>
        <p:txBody>
          <a:bodyPr wrap="square">
            <a:spAutoFit/>
          </a:bodyPr>
          <a:lstStyle/>
          <a:p>
            <a:pPr marL="342900" lvl="0" indent="-342900" algn="just">
              <a:lnSpc>
                <a:spcPct val="150000"/>
              </a:lnSpc>
              <a:spcAft>
                <a:spcPts val="600"/>
              </a:spcAft>
              <a:buFont typeface="Symbol" panose="05050102010706020507" pitchFamily="18" charset="2"/>
              <a:buChar char=""/>
              <a:tabLst>
                <a:tab pos="457200" algn="l"/>
              </a:tabLst>
            </a:pPr>
            <a:r>
              <a:rPr lang="fr-FR" sz="2800" b="1" u="sng"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Sur les autres malades </a:t>
            </a:r>
            <a:endParaRPr lang="fr-FR" sz="2800" dirty="0">
              <a:solidFill>
                <a:schemeClr val="accent1"/>
              </a:solidFill>
              <a:latin typeface="Arial Black" panose="020B0A04020102020204" pitchFamily="34" charset="0"/>
              <a:ea typeface="Calibri" panose="020F0502020204030204" pitchFamily="34" charset="0"/>
              <a:cs typeface="Times New Roman" panose="02020603050405020304" pitchFamily="18" charset="0"/>
            </a:endParaRPr>
          </a:p>
          <a:p>
            <a:pPr marL="228600" algn="just">
              <a:lnSpc>
                <a:spcPct val="150000"/>
              </a:lnSpc>
              <a:spcAft>
                <a:spcPts val="600"/>
              </a:spcAft>
            </a:pPr>
            <a:r>
              <a:rPr lang="fr-FR" sz="2800" dirty="0">
                <a:latin typeface="Arial Black" panose="020B0A04020102020204" pitchFamily="34" charset="0"/>
              </a:rPr>
              <a:t>La gêne provoquée par le son des voix, le bruit, les allées et venues, le  grand nombre de visiteurs, la poussière soulevée, intensifient la souffrance des autres malades.</a:t>
            </a:r>
          </a:p>
          <a:p>
            <a:pPr marL="342900" lvl="0" indent="-342900" algn="just">
              <a:lnSpc>
                <a:spcPct val="150000"/>
              </a:lnSpc>
              <a:spcAft>
                <a:spcPts val="60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rPr>
              <a:t>Dispositions à adopter</a:t>
            </a:r>
          </a:p>
          <a:p>
            <a:pPr marL="342900" lvl="0" indent="-342900" algn="just">
              <a:lnSpc>
                <a:spcPct val="150000"/>
              </a:lnSpc>
              <a:spcAft>
                <a:spcPts val="60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rPr>
              <a:t>Connaitre ses malades</a:t>
            </a:r>
          </a:p>
          <a:p>
            <a:pPr marL="342900" lvl="0" indent="-342900" algn="just">
              <a:lnSpc>
                <a:spcPct val="150000"/>
              </a:lnSpc>
              <a:spcAft>
                <a:spcPts val="60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rPr>
              <a:t>Contrôler les visites</a:t>
            </a:r>
          </a:p>
          <a:p>
            <a:pPr marL="342900" lvl="0" indent="-342900" algn="just">
              <a:lnSpc>
                <a:spcPct val="150000"/>
              </a:lnSpc>
              <a:spcAft>
                <a:spcPts val="60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rPr>
              <a:t>Assurer le contrôle du respect des textes</a:t>
            </a:r>
            <a:endParaRPr lang="fr-FR" sz="2800" dirty="0">
              <a:effectLst/>
              <a:latin typeface="Arial Black" panose="020B0A04020102020204" pitchFamily="34" charset="0"/>
              <a:ea typeface="Times New Roman" panose="02020603050405020304" pitchFamily="18" charset="0"/>
            </a:endParaRPr>
          </a:p>
        </p:txBody>
      </p:sp>
    </p:spTree>
    <p:extLst>
      <p:ext uri="{BB962C8B-B14F-4D97-AF65-F5344CB8AC3E}">
        <p14:creationId xmlns:p14="http://schemas.microsoft.com/office/powerpoint/2010/main" val="10865263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27701" y="1"/>
            <a:ext cx="10317480" cy="1100252"/>
          </a:xfrm>
        </p:spPr>
        <p:txBody>
          <a:bodyPr>
            <a:normAutofit fontScale="90000"/>
          </a:bodyPr>
          <a:lstStyle/>
          <a:p>
            <a:r>
              <a:rPr lang="fr-FR" sz="6000" b="1" dirty="0">
                <a:solidFill>
                  <a:srgbClr val="FF0000"/>
                </a:solidFill>
              </a:rPr>
              <a:t>CHAMBRE DU MALADE</a:t>
            </a:r>
            <a:r>
              <a:rPr lang="fr-FR" dirty="0"/>
              <a:t/>
            </a:r>
            <a:br>
              <a:rPr lang="fr-FR" dirty="0"/>
            </a:br>
            <a:endParaRPr lang="fr-FR" dirty="0"/>
          </a:p>
        </p:txBody>
      </p:sp>
      <p:sp>
        <p:nvSpPr>
          <p:cNvPr id="3" name="Rectangle 2"/>
          <p:cNvSpPr/>
          <p:nvPr/>
        </p:nvSpPr>
        <p:spPr>
          <a:xfrm>
            <a:off x="23523" y="1100253"/>
            <a:ext cx="11925836" cy="4465838"/>
          </a:xfrm>
          <a:prstGeom prst="rect">
            <a:avLst/>
          </a:prstGeom>
        </p:spPr>
        <p:txBody>
          <a:bodyPr wrap="square">
            <a:spAutoFit/>
          </a:bodyPr>
          <a:lstStyle/>
          <a:p>
            <a:pPr>
              <a:lnSpc>
                <a:spcPct val="115000"/>
              </a:lnSpc>
              <a:spcAft>
                <a:spcPts val="0"/>
              </a:spcAft>
            </a:pP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INTRODUCTION</a:t>
            </a:r>
            <a:r>
              <a:rPr lang="fr-FR" sz="2800" b="1" u="sng"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r>
              <a:rPr lang="fr-FR" sz="2800" dirty="0">
                <a:latin typeface="Arial Black" panose="020B0A04020102020204" pitchFamily="34" charset="0"/>
                <a:ea typeface="Calibri" panose="020F0502020204030204" pitchFamily="34" charset="0"/>
              </a:rPr>
              <a:t>La chambre du malade, individuelle ou commune est le lieu où le malade, abandonnant son cadre habituel, va passer un séjour plus ou moins long. </a:t>
            </a:r>
            <a:endParaRPr lang="fr-FR" sz="2800" dirty="0" smtClean="0">
              <a:latin typeface="Arial Black" panose="020B0A04020102020204" pitchFamily="34" charset="0"/>
              <a:ea typeface="Calibri" panose="020F0502020204030204" pitchFamily="34" charset="0"/>
            </a:endParaRPr>
          </a:p>
          <a:p>
            <a:r>
              <a:rPr lang="fr-FR" sz="2800" dirty="0" smtClean="0">
                <a:latin typeface="Arial Black" panose="020B0A04020102020204" pitchFamily="34" charset="0"/>
                <a:ea typeface="Calibri" panose="020F0502020204030204" pitchFamily="34" charset="0"/>
              </a:rPr>
              <a:t>Ainsi</a:t>
            </a:r>
            <a:r>
              <a:rPr lang="fr-FR" sz="2800" dirty="0">
                <a:latin typeface="Arial Black" panose="020B0A04020102020204" pitchFamily="34" charset="0"/>
                <a:ea typeface="Calibri" panose="020F0502020204030204" pitchFamily="34" charset="0"/>
              </a:rPr>
              <a:t>, nous aurons une chambre d’accès facile permettant une surveillance régulière pour les cas graves et une chambre agréable, calme et ensoleillée pour les cas chroniques. </a:t>
            </a:r>
            <a:endParaRPr lang="fr-FR" sz="2800" dirty="0" smtClean="0">
              <a:latin typeface="Arial Black" panose="020B0A04020102020204" pitchFamily="34" charset="0"/>
              <a:ea typeface="Calibri" panose="020F0502020204030204" pitchFamily="34" charset="0"/>
            </a:endParaRPr>
          </a:p>
          <a:p>
            <a:r>
              <a:rPr lang="fr-FR" sz="2800" dirty="0" smtClean="0">
                <a:latin typeface="Arial Black" panose="020B0A04020102020204" pitchFamily="34" charset="0"/>
                <a:ea typeface="Calibri" panose="020F0502020204030204" pitchFamily="34" charset="0"/>
              </a:rPr>
              <a:t>L’infirmier </a:t>
            </a:r>
            <a:r>
              <a:rPr lang="fr-FR" sz="2800" dirty="0">
                <a:latin typeface="Arial Black" panose="020B0A04020102020204" pitchFamily="34" charset="0"/>
                <a:ea typeface="Calibri" panose="020F0502020204030204" pitchFamily="34" charset="0"/>
              </a:rPr>
              <a:t>ou la </a:t>
            </a:r>
            <a:r>
              <a:rPr lang="fr-FR" sz="2800" dirty="0" smtClean="0">
                <a:latin typeface="Arial Black" panose="020B0A04020102020204" pitchFamily="34" charset="0"/>
                <a:ea typeface="Calibri" panose="020F0502020204030204" pitchFamily="34" charset="0"/>
              </a:rPr>
              <a:t>sage-femme </a:t>
            </a:r>
            <a:r>
              <a:rPr lang="fr-FR" sz="2800" dirty="0">
                <a:latin typeface="Arial Black" panose="020B0A04020102020204" pitchFamily="34" charset="0"/>
                <a:ea typeface="Calibri" panose="020F0502020204030204" pitchFamily="34" charset="0"/>
              </a:rPr>
              <a:t>devra donc préparer la chambre en vue de réserver un agréable accueil au malade</a:t>
            </a:r>
            <a:endParaRPr lang="fr-FR" sz="2800" dirty="0">
              <a:latin typeface="Arial Black" panose="020B0A04020102020204" pitchFamily="34" charset="0"/>
            </a:endParaRPr>
          </a:p>
        </p:txBody>
      </p:sp>
    </p:spTree>
    <p:extLst>
      <p:ext uri="{BB962C8B-B14F-4D97-AF65-F5344CB8AC3E}">
        <p14:creationId xmlns:p14="http://schemas.microsoft.com/office/powerpoint/2010/main" val="38497432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2" y="93581"/>
            <a:ext cx="12192000" cy="6075509"/>
          </a:xfrm>
          <a:prstGeom prst="rect">
            <a:avLst/>
          </a:prstGeom>
        </p:spPr>
        <p:txBody>
          <a:bodyPr wrap="square">
            <a:spAutoFit/>
          </a:bodyPr>
          <a:lstStyle/>
          <a:p>
            <a:pPr>
              <a:lnSpc>
                <a:spcPct val="115000"/>
              </a:lnSpc>
              <a:spcAft>
                <a:spcPts val="0"/>
              </a:spcAft>
            </a:pPr>
            <a:r>
              <a:rPr lang="fr-FR" sz="3200" b="1" u="sng"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         I.DESCRIPTION</a:t>
            </a:r>
            <a:endParaRPr lang="fr-FR" sz="32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r>
              <a:rPr lang="fr-FR" sz="3200" dirty="0">
                <a:solidFill>
                  <a:srgbClr val="000000"/>
                </a:solidFill>
                <a:latin typeface="Arial Black" panose="020B0A04020102020204" pitchFamily="34" charset="0"/>
                <a:ea typeface="Calibri" panose="020F0502020204030204" pitchFamily="34" charset="0"/>
              </a:rPr>
              <a:t>En général, la chambre devra être spacieuse, confortable, agréable, aérée, gaie, bien éclairée, ordonnée et propre. </a:t>
            </a:r>
            <a:endParaRPr lang="fr-FR" sz="3200" dirty="0" smtClean="0">
              <a:solidFill>
                <a:srgbClr val="000000"/>
              </a:solidFill>
              <a:latin typeface="Arial Black" panose="020B0A04020102020204" pitchFamily="34" charset="0"/>
              <a:ea typeface="Calibri" panose="020F0502020204030204" pitchFamily="34" charset="0"/>
            </a:endParaRPr>
          </a:p>
          <a:p>
            <a:r>
              <a:rPr lang="fr-FR" sz="3200" dirty="0" smtClean="0">
                <a:solidFill>
                  <a:srgbClr val="000000"/>
                </a:solidFill>
                <a:latin typeface="Arial Black" panose="020B0A04020102020204" pitchFamily="34" charset="0"/>
                <a:ea typeface="Calibri" panose="020F0502020204030204" pitchFamily="34" charset="0"/>
              </a:rPr>
              <a:t>Dans </a:t>
            </a:r>
            <a:r>
              <a:rPr lang="fr-FR" sz="3200" dirty="0">
                <a:solidFill>
                  <a:srgbClr val="000000"/>
                </a:solidFill>
                <a:latin typeface="Arial Black" panose="020B0A04020102020204" pitchFamily="34" charset="0"/>
                <a:ea typeface="Calibri" panose="020F0502020204030204" pitchFamily="34" charset="0"/>
              </a:rPr>
              <a:t>les hôpitaux, elle est conçue pour 1 ,2,3 voire 5 lits. </a:t>
            </a:r>
            <a:endParaRPr lang="fr-FR" sz="3200" dirty="0" smtClean="0">
              <a:solidFill>
                <a:srgbClr val="000000"/>
              </a:solidFill>
              <a:latin typeface="Arial Black" panose="020B0A04020102020204" pitchFamily="34" charset="0"/>
              <a:ea typeface="Calibri" panose="020F0502020204030204" pitchFamily="34" charset="0"/>
            </a:endParaRPr>
          </a:p>
          <a:p>
            <a:r>
              <a:rPr lang="fr-FR" sz="3200" dirty="0" smtClean="0">
                <a:solidFill>
                  <a:srgbClr val="000000"/>
                </a:solidFill>
                <a:latin typeface="Arial Black" panose="020B0A04020102020204" pitchFamily="34" charset="0"/>
                <a:ea typeface="Calibri" panose="020F0502020204030204" pitchFamily="34" charset="0"/>
              </a:rPr>
              <a:t>Dès </a:t>
            </a:r>
            <a:r>
              <a:rPr lang="fr-FR" sz="3200" dirty="0">
                <a:solidFill>
                  <a:srgbClr val="000000"/>
                </a:solidFill>
                <a:latin typeface="Arial Black" panose="020B0A04020102020204" pitchFamily="34" charset="0"/>
                <a:ea typeface="Calibri" panose="020F0502020204030204" pitchFamily="34" charset="0"/>
              </a:rPr>
              <a:t>lors une chambre qui répond aux normes est un allié dans la prestation des soins de qualité. </a:t>
            </a:r>
            <a:endParaRPr lang="fr-FR" sz="3200" dirty="0" smtClean="0">
              <a:solidFill>
                <a:srgbClr val="000000"/>
              </a:solidFill>
              <a:latin typeface="Arial Black" panose="020B0A04020102020204" pitchFamily="34" charset="0"/>
              <a:ea typeface="Calibri" panose="020F0502020204030204" pitchFamily="34" charset="0"/>
            </a:endParaRPr>
          </a:p>
          <a:p>
            <a:r>
              <a:rPr lang="fr-FR" sz="3200" dirty="0" smtClean="0">
                <a:solidFill>
                  <a:srgbClr val="000000"/>
                </a:solidFill>
                <a:latin typeface="Arial Black" panose="020B0A04020102020204" pitchFamily="34" charset="0"/>
                <a:ea typeface="Calibri" panose="020F0502020204030204" pitchFamily="34" charset="0"/>
              </a:rPr>
              <a:t>Elle </a:t>
            </a:r>
            <a:r>
              <a:rPr lang="fr-FR" sz="3200" dirty="0">
                <a:solidFill>
                  <a:srgbClr val="000000"/>
                </a:solidFill>
                <a:latin typeface="Arial Black" panose="020B0A04020102020204" pitchFamily="34" charset="0"/>
                <a:ea typeface="Calibri" panose="020F0502020204030204" pitchFamily="34" charset="0"/>
              </a:rPr>
              <a:t>doit être un formidable outil pour contrer la propagation des germes dans un hôpital. </a:t>
            </a:r>
            <a:endParaRPr lang="fr-FR" sz="3200" dirty="0" smtClean="0">
              <a:solidFill>
                <a:srgbClr val="000000"/>
              </a:solidFill>
              <a:latin typeface="Arial Black" panose="020B0A04020102020204" pitchFamily="34" charset="0"/>
              <a:ea typeface="Calibri" panose="020F0502020204030204" pitchFamily="34" charset="0"/>
            </a:endParaRPr>
          </a:p>
          <a:p>
            <a:r>
              <a:rPr lang="fr-FR" sz="3200" dirty="0" smtClean="0">
                <a:solidFill>
                  <a:srgbClr val="000000"/>
                </a:solidFill>
                <a:latin typeface="Arial Black" panose="020B0A04020102020204" pitchFamily="34" charset="0"/>
                <a:ea typeface="Calibri" panose="020F0502020204030204" pitchFamily="34" charset="0"/>
              </a:rPr>
              <a:t>Elle </a:t>
            </a:r>
            <a:r>
              <a:rPr lang="fr-FR" sz="3200" dirty="0">
                <a:solidFill>
                  <a:srgbClr val="000000"/>
                </a:solidFill>
                <a:latin typeface="Arial Black" panose="020B0A04020102020204" pitchFamily="34" charset="0"/>
                <a:ea typeface="Calibri" panose="020F0502020204030204" pitchFamily="34" charset="0"/>
              </a:rPr>
              <a:t>doit être adaptée aux réalités du personnel et faciliter la mise en place de saines habitudes</a:t>
            </a:r>
            <a:endParaRPr lang="fr-FR" sz="3200" dirty="0">
              <a:latin typeface="Arial Black" panose="020B0A04020102020204" pitchFamily="34" charset="0"/>
            </a:endParaRPr>
          </a:p>
        </p:txBody>
      </p:sp>
    </p:spTree>
    <p:extLst>
      <p:ext uri="{BB962C8B-B14F-4D97-AF65-F5344CB8AC3E}">
        <p14:creationId xmlns:p14="http://schemas.microsoft.com/office/powerpoint/2010/main" val="15509884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545" y="0"/>
            <a:ext cx="11925837" cy="5543056"/>
          </a:xfrm>
          <a:prstGeom prst="rect">
            <a:avLst/>
          </a:prstGeom>
        </p:spPr>
        <p:txBody>
          <a:bodyPr wrap="square">
            <a:spAutoFit/>
          </a:bodyPr>
          <a:lstStyle/>
          <a:p>
            <a:pPr marL="457200">
              <a:lnSpc>
                <a:spcPct val="115000"/>
              </a:lnSpc>
              <a:spcAft>
                <a:spcPts val="0"/>
              </a:spcAft>
            </a:pPr>
            <a:r>
              <a:rPr lang="fr-FR" sz="2800" b="1" dirty="0" smtClean="0">
                <a:solidFill>
                  <a:schemeClr val="accent5"/>
                </a:solidFill>
                <a:latin typeface="Arial Black" panose="020B0A04020102020204" pitchFamily="34" charset="0"/>
                <a:ea typeface="Times New Roman" panose="02020603050405020304" pitchFamily="18" charset="0"/>
                <a:cs typeface="Times New Roman" panose="02020603050405020304" pitchFamily="18" charset="0"/>
              </a:rPr>
              <a:t>  1.1</a:t>
            </a:r>
            <a:r>
              <a:rPr lang="fr-FR" sz="2800" b="1" dirty="0">
                <a:solidFill>
                  <a:schemeClr val="accent5"/>
                </a:solidFill>
                <a:latin typeface="Arial Black" panose="020B0A04020102020204" pitchFamily="34" charset="0"/>
                <a:ea typeface="Times New Roman" panose="02020603050405020304" pitchFamily="18" charset="0"/>
                <a:cs typeface="Times New Roman" panose="02020603050405020304" pitchFamily="18" charset="0"/>
              </a:rPr>
              <a:t>. La salle d’eau ou box sanitaire </a:t>
            </a:r>
            <a:endParaRPr lang="fr-FR" sz="2800" dirty="0">
              <a:solidFill>
                <a:schemeClr val="accent5"/>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Elle doit renfermée :</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lavabo en porcelaine</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bidet</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-une cuvette de WC</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vidoir</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-une douche</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miroir</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porte savon</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-une porte serviette</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éclairage parfait</a:t>
            </a:r>
            <a:endParaRPr lang="fr-FR" sz="28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328877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2" y="699632"/>
            <a:ext cx="11977352" cy="5615383"/>
          </a:xfrm>
          <a:prstGeom prst="rect">
            <a:avLst/>
          </a:prstGeom>
        </p:spPr>
        <p:txBody>
          <a:bodyPr wrap="square">
            <a:spAutoFit/>
          </a:bodyPr>
          <a:lstStyle/>
          <a:p>
            <a:pPr>
              <a:lnSpc>
                <a:spcPct val="115000"/>
              </a:lnSpc>
              <a:spcAft>
                <a:spcPts val="1000"/>
              </a:spcAft>
            </a:pPr>
            <a:r>
              <a:rPr lang="fr-FR" sz="24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1.2. Les murs</a:t>
            </a:r>
            <a:r>
              <a:rPr lang="fr-FR" sz="2400" b="1"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Ils doivent être recouverts de carreaux ou de peinture lavable de couleur gaie apaisante.</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fr-FR" sz="24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1.3. Le sol </a:t>
            </a:r>
            <a:r>
              <a:rPr lang="fr-FR" sz="2400"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Il sera recouvert en matériaux faciles à nettoyer, de préférence carrelé (grands carreaux)</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fr-FR" sz="24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1.4</a:t>
            </a:r>
            <a:r>
              <a:rPr lang="fr-FR" sz="2400"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a:t>
            </a:r>
            <a:r>
              <a:rPr lang="fr-FR" sz="24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 L’aération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Facteur important de salubrité, l’aération est assurée soit par des vitres en chicanes réalisant une ventilation indirecte et permanente soit par des fenêtres assurant un renouvellement rapide de l’air.</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4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1.5</a:t>
            </a:r>
            <a:r>
              <a:rPr lang="fr-FR" sz="2400"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a:t>
            </a:r>
            <a:r>
              <a:rPr lang="fr-FR" sz="24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 L’éclairage</a:t>
            </a:r>
            <a:r>
              <a:rPr lang="fr-FR" sz="2400"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 :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Il est fourni soit par la lumière naturelle des rayons </a:t>
            </a: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solaires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apportant la lumière et la chaleur soit par la lumière artificielle des ampoules électriques placées souvent au plafond, à la tête du lit ou au bas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du mur. </a:t>
            </a:r>
            <a:endParaRPr lang="fr-FR" sz="28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275109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4699" y="130834"/>
            <a:ext cx="11784169" cy="5507662"/>
          </a:xfrm>
          <a:prstGeom prst="rect">
            <a:avLst/>
          </a:prstGeom>
        </p:spPr>
        <p:txBody>
          <a:bodyPr wrap="square">
            <a:spAutoFit/>
          </a:bodyPr>
          <a:lstStyle/>
          <a:p>
            <a:pPr>
              <a:lnSpc>
                <a:spcPct val="115000"/>
              </a:lnSpc>
              <a:spcAft>
                <a:spcPts val="0"/>
              </a:spcAft>
            </a:pPr>
            <a:r>
              <a:rPr lang="fr-FR"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fr-FR" sz="14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b="1" u="sng"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      II </a:t>
            </a: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 MOBILIER</a:t>
            </a:r>
            <a:r>
              <a:rPr lang="fr-FR" sz="2800"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a:t>
            </a:r>
            <a:r>
              <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 </a:t>
            </a:r>
            <a:endParaRPr lang="fr-FR" sz="2800"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000" dirty="0" smtClean="0">
                <a:latin typeface="Arial Black" panose="020B0A04020102020204" pitchFamily="34" charset="0"/>
                <a:ea typeface="Calibri" panose="020F0502020204030204" pitchFamily="34" charset="0"/>
                <a:cs typeface="Times New Roman" panose="02020603050405020304" pitchFamily="18" charset="0"/>
              </a:rPr>
              <a:t>Il </a:t>
            </a:r>
            <a:r>
              <a:rPr lang="fr-FR" sz="2000" dirty="0">
                <a:latin typeface="Arial Black" panose="020B0A04020102020204" pitchFamily="34" charset="0"/>
                <a:ea typeface="Calibri" panose="020F0502020204030204" pitchFamily="34" charset="0"/>
                <a:cs typeface="Times New Roman" panose="02020603050405020304" pitchFamily="18" charset="0"/>
              </a:rPr>
              <a:t>est composé généralement de :</a:t>
            </a:r>
          </a:p>
          <a:p>
            <a:pPr marL="342900" lvl="0" indent="-342900">
              <a:lnSpc>
                <a:spcPct val="115000"/>
              </a:lnSpc>
              <a:spcAft>
                <a:spcPts val="0"/>
              </a:spcAft>
              <a:buFont typeface="Times New Roman" panose="02020603050405020304" pitchFamily="18" charset="0"/>
              <a:buChar char="-"/>
            </a:pPr>
            <a:r>
              <a:rPr lang="fr-FR" sz="2000" dirty="0">
                <a:latin typeface="Arial Black" panose="020B0A04020102020204" pitchFamily="34" charset="0"/>
                <a:ea typeface="Calibri" panose="020F0502020204030204" pitchFamily="34" charset="0"/>
                <a:cs typeface="Times New Roman" panose="02020603050405020304" pitchFamily="18" charset="0"/>
              </a:rPr>
              <a:t>un lit et ses accessoires</a:t>
            </a:r>
          </a:p>
          <a:p>
            <a:pPr marL="342900" lvl="0" indent="-342900">
              <a:lnSpc>
                <a:spcPct val="115000"/>
              </a:lnSpc>
              <a:spcAft>
                <a:spcPts val="0"/>
              </a:spcAft>
              <a:buFont typeface="Times New Roman" panose="02020603050405020304" pitchFamily="18" charset="0"/>
              <a:buChar char="-"/>
            </a:pPr>
            <a:r>
              <a:rPr lang="fr-FR" sz="2000" dirty="0">
                <a:latin typeface="Arial Black" panose="020B0A04020102020204" pitchFamily="34" charset="0"/>
                <a:ea typeface="Calibri" panose="020F0502020204030204" pitchFamily="34" charset="0"/>
                <a:cs typeface="Times New Roman" panose="02020603050405020304" pitchFamily="18" charset="0"/>
              </a:rPr>
              <a:t>une table de chevet (table de nuit placée à côté du lit) </a:t>
            </a:r>
          </a:p>
          <a:p>
            <a:pPr marL="342900" lvl="0" indent="-342900">
              <a:lnSpc>
                <a:spcPct val="115000"/>
              </a:lnSpc>
              <a:spcAft>
                <a:spcPts val="0"/>
              </a:spcAft>
              <a:buFont typeface="Times New Roman" panose="02020603050405020304" pitchFamily="18" charset="0"/>
              <a:buChar char="-"/>
            </a:pPr>
            <a:r>
              <a:rPr lang="fr-FR" sz="2000" dirty="0">
                <a:latin typeface="Arial Black" panose="020B0A04020102020204" pitchFamily="34" charset="0"/>
                <a:ea typeface="Calibri" panose="020F0502020204030204" pitchFamily="34" charset="0"/>
                <a:cs typeface="Times New Roman" panose="02020603050405020304" pitchFamily="18" charset="0"/>
              </a:rPr>
              <a:t>une table de lit </a:t>
            </a:r>
          </a:p>
          <a:p>
            <a:pPr marL="342900" lvl="0" indent="-342900">
              <a:lnSpc>
                <a:spcPct val="115000"/>
              </a:lnSpc>
              <a:spcAft>
                <a:spcPts val="0"/>
              </a:spcAft>
              <a:buFont typeface="Times New Roman" panose="02020603050405020304" pitchFamily="18" charset="0"/>
              <a:buChar char="-"/>
            </a:pPr>
            <a:r>
              <a:rPr lang="fr-FR" sz="2000" dirty="0">
                <a:latin typeface="Arial Black" panose="020B0A04020102020204" pitchFamily="34" charset="0"/>
                <a:ea typeface="Calibri" panose="020F0502020204030204" pitchFamily="34" charset="0"/>
                <a:cs typeface="Times New Roman" panose="02020603050405020304" pitchFamily="18" charset="0"/>
              </a:rPr>
              <a:t>la literie (matelas, coussin, traversin, draps, alèses, couverture, couvre-lit)</a:t>
            </a:r>
          </a:p>
          <a:p>
            <a:pPr marL="342900" lvl="0" indent="-342900">
              <a:lnSpc>
                <a:spcPct val="115000"/>
              </a:lnSpc>
              <a:spcAft>
                <a:spcPts val="0"/>
              </a:spcAft>
              <a:buFont typeface="Times New Roman" panose="02020603050405020304" pitchFamily="18" charset="0"/>
              <a:buChar char="-"/>
            </a:pPr>
            <a:r>
              <a:rPr lang="fr-FR" sz="2000" dirty="0">
                <a:latin typeface="Arial Black" panose="020B0A04020102020204" pitchFamily="34" charset="0"/>
                <a:ea typeface="Calibri" panose="020F0502020204030204" pitchFamily="34" charset="0"/>
                <a:cs typeface="Times New Roman" panose="02020603050405020304" pitchFamily="18" charset="0"/>
              </a:rPr>
              <a:t>une chaise </a:t>
            </a:r>
          </a:p>
          <a:p>
            <a:pPr marL="342900" lvl="0" indent="-342900">
              <a:lnSpc>
                <a:spcPct val="115000"/>
              </a:lnSpc>
              <a:spcAft>
                <a:spcPts val="0"/>
              </a:spcAft>
              <a:buFont typeface="Times New Roman" panose="02020603050405020304" pitchFamily="18" charset="0"/>
              <a:buChar char="-"/>
            </a:pPr>
            <a:r>
              <a:rPr lang="fr-FR" sz="2000" dirty="0">
                <a:latin typeface="Arial Black" panose="020B0A04020102020204" pitchFamily="34" charset="0"/>
                <a:ea typeface="Calibri" panose="020F0502020204030204" pitchFamily="34" charset="0"/>
                <a:cs typeface="Times New Roman" panose="02020603050405020304" pitchFamily="18" charset="0"/>
              </a:rPr>
              <a:t>un fauteuil </a:t>
            </a:r>
          </a:p>
          <a:p>
            <a:pPr marL="342900" lvl="0" indent="-342900">
              <a:lnSpc>
                <a:spcPct val="115000"/>
              </a:lnSpc>
              <a:spcAft>
                <a:spcPts val="0"/>
              </a:spcAft>
              <a:buFont typeface="Times New Roman" panose="02020603050405020304" pitchFamily="18" charset="0"/>
              <a:buChar char="-"/>
            </a:pPr>
            <a:r>
              <a:rPr lang="fr-FR" sz="2000" dirty="0">
                <a:latin typeface="Arial Black" panose="020B0A04020102020204" pitchFamily="34" charset="0"/>
                <a:ea typeface="Calibri" panose="020F0502020204030204" pitchFamily="34" charset="0"/>
                <a:cs typeface="Times New Roman" panose="02020603050405020304" pitchFamily="18" charset="0"/>
              </a:rPr>
              <a:t>une </a:t>
            </a:r>
            <a:r>
              <a:rPr lang="fr-FR" sz="2000" dirty="0" smtClean="0">
                <a:latin typeface="Arial Black" panose="020B0A04020102020204" pitchFamily="34" charset="0"/>
                <a:ea typeface="Calibri" panose="020F0502020204030204" pitchFamily="34" charset="0"/>
                <a:cs typeface="Times New Roman" panose="02020603050405020304" pitchFamily="18" charset="0"/>
              </a:rPr>
              <a:t>armoire</a:t>
            </a:r>
            <a:endParaRPr lang="fr-FR" sz="20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000" dirty="0">
                <a:latin typeface="Arial Black" panose="020B0A04020102020204" pitchFamily="34" charset="0"/>
                <a:ea typeface="Calibri" panose="020F0502020204030204" pitchFamily="34" charset="0"/>
                <a:cs typeface="Times New Roman" panose="02020603050405020304" pitchFamily="18" charset="0"/>
              </a:rPr>
              <a:t>A ce mobilier peut s’ajouter parfois  des appareils électroménagers quand il s’agit de chambre individuelle :</a:t>
            </a:r>
          </a:p>
          <a:p>
            <a:pPr marL="457200">
              <a:lnSpc>
                <a:spcPct val="115000"/>
              </a:lnSpc>
              <a:spcAft>
                <a:spcPts val="0"/>
              </a:spcAft>
            </a:pPr>
            <a:r>
              <a:rPr lang="fr-FR" sz="2000" dirty="0">
                <a:latin typeface="Arial Black" panose="020B0A04020102020204" pitchFamily="34" charset="0"/>
                <a:ea typeface="Calibri" panose="020F0502020204030204" pitchFamily="34" charset="0"/>
                <a:cs typeface="Times New Roman" panose="02020603050405020304" pitchFamily="18" charset="0"/>
              </a:rPr>
              <a:t>-un </a:t>
            </a:r>
            <a:r>
              <a:rPr lang="fr-FR" sz="2000" dirty="0" smtClean="0">
                <a:latin typeface="Arial Black" panose="020B0A04020102020204" pitchFamily="34" charset="0"/>
                <a:ea typeface="Calibri" panose="020F0502020204030204" pitchFamily="34" charset="0"/>
                <a:cs typeface="Times New Roman" panose="02020603050405020304" pitchFamily="18" charset="0"/>
              </a:rPr>
              <a:t>réfrigérateur</a:t>
            </a:r>
            <a:endParaRPr lang="fr-FR" sz="2000" dirty="0">
              <a:latin typeface="Arial Black" panose="020B0A0402010202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fr-FR" sz="2000" dirty="0">
                <a:latin typeface="Arial Black" panose="020B0A04020102020204" pitchFamily="34" charset="0"/>
                <a:ea typeface="Calibri" panose="020F0502020204030204" pitchFamily="34" charset="0"/>
                <a:cs typeface="Times New Roman" panose="02020603050405020304" pitchFamily="18" charset="0"/>
              </a:rPr>
              <a:t>-un ventilateur </a:t>
            </a:r>
          </a:p>
          <a:p>
            <a:pPr marL="457200">
              <a:lnSpc>
                <a:spcPct val="115000"/>
              </a:lnSpc>
              <a:spcAft>
                <a:spcPts val="0"/>
              </a:spcAft>
            </a:pPr>
            <a:r>
              <a:rPr lang="fr-FR" sz="2000" dirty="0">
                <a:latin typeface="Arial Black" panose="020B0A04020102020204" pitchFamily="34" charset="0"/>
                <a:ea typeface="Calibri" panose="020F0502020204030204" pitchFamily="34" charset="0"/>
                <a:cs typeface="Times New Roman" panose="02020603050405020304" pitchFamily="18" charset="0"/>
              </a:rPr>
              <a:t>-un poste </a:t>
            </a:r>
            <a:r>
              <a:rPr lang="fr-FR" sz="2000" dirty="0" smtClean="0">
                <a:latin typeface="Arial Black" panose="020B0A04020102020204" pitchFamily="34" charset="0"/>
                <a:ea typeface="Calibri" panose="020F0502020204030204" pitchFamily="34" charset="0"/>
                <a:cs typeface="Times New Roman" panose="02020603050405020304" pitchFamily="18" charset="0"/>
              </a:rPr>
              <a:t>téléviseur</a:t>
            </a:r>
            <a:endParaRPr lang="fr-FR" sz="20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4186389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426" y="936662"/>
            <a:ext cx="11809927" cy="4056495"/>
          </a:xfrm>
          <a:prstGeom prst="rect">
            <a:avLst/>
          </a:prstGeom>
        </p:spPr>
        <p:txBody>
          <a:bodyPr wrap="square">
            <a:spAutoFit/>
          </a:bodyPr>
          <a:lstStyle/>
          <a:p>
            <a:pPr>
              <a:lnSpc>
                <a:spcPct val="115000"/>
              </a:lnSpc>
              <a:spcAft>
                <a:spcPts val="0"/>
              </a:spcAft>
            </a:pP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III - MATERIEL USUEL</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marL="262890">
              <a:lnSpc>
                <a:spcPct val="115000"/>
              </a:lnSpc>
              <a:spcAft>
                <a:spcPts val="0"/>
              </a:spcAft>
              <a:tabLst>
                <a:tab pos="3965575" algn="l"/>
              </a:tabLs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Le matériel est spécifique à chaque service mais il s’agit en général de :</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262890">
              <a:lnSpc>
                <a:spcPct val="115000"/>
              </a:lnSpc>
              <a:spcAft>
                <a:spcPts val="0"/>
              </a:spcAft>
              <a:tabLst>
                <a:tab pos="3965575" algn="l"/>
              </a:tabLs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-une potence</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262890">
              <a:lnSpc>
                <a:spcPct val="115000"/>
              </a:lnSpc>
              <a:spcAft>
                <a:spcPts val="0"/>
              </a:spcAft>
              <a:tabLst>
                <a:tab pos="3965575" algn="l"/>
              </a:tabLs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urinal</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262890">
              <a:lnSpc>
                <a:spcPct val="115000"/>
              </a:lnSpc>
              <a:spcAft>
                <a:spcPts val="0"/>
              </a:spcAft>
              <a:tabLst>
                <a:tab pos="3965575" algn="l"/>
              </a:tabLs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bassin de lit	</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262890">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crachoir</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262890">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bocal</a:t>
            </a:r>
            <a:endParaRPr lang="fr-FR" sz="28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67911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99245" y="115910"/>
            <a:ext cx="11792755" cy="6284890"/>
          </a:xfrm>
          <a:prstGeom prst="rect">
            <a:avLst/>
          </a:prstGeom>
        </p:spPr>
      </p:pic>
    </p:spTree>
    <p:extLst>
      <p:ext uri="{BB962C8B-B14F-4D97-AF65-F5344CB8AC3E}">
        <p14:creationId xmlns:p14="http://schemas.microsoft.com/office/powerpoint/2010/main" val="27598090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648" y="201535"/>
            <a:ext cx="11977352" cy="6237605"/>
          </a:xfrm>
          <a:prstGeom prst="rect">
            <a:avLst/>
          </a:prstGeom>
        </p:spPr>
        <p:txBody>
          <a:bodyPr wrap="square">
            <a:spAutoFit/>
          </a:bodyPr>
          <a:lstStyle/>
          <a:p>
            <a:pPr>
              <a:lnSpc>
                <a:spcPct val="115000"/>
              </a:lnSpc>
              <a:spcAft>
                <a:spcPts val="1000"/>
              </a:spcAft>
            </a:pPr>
            <a:r>
              <a:rPr lang="fr-FR" sz="2800" b="1" u="sng"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400" b="1" u="sng"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IV- </a:t>
            </a:r>
            <a:r>
              <a:rPr lang="fr-FR" sz="24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ENTRETIEN DE LA CHAMBRE</a:t>
            </a:r>
            <a:r>
              <a:rPr lang="fr-FR" sz="2400" b="1" u="sng"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L’entretien de la chambre est fait chaque matin par les filles de salle et les techniciens de surface. </a:t>
            </a:r>
            <a:endPar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Les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murs et les vitres seront lavés à  l’eau savonneuse tous les quinze jours ou au moins une fois par mois</a:t>
            </a: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p>
          <a:p>
            <a:pPr>
              <a:lnSpc>
                <a:spcPct val="115000"/>
              </a:lnSpc>
              <a:spcAft>
                <a:spcPts val="0"/>
              </a:spcAft>
            </a:pP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 - Le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sol sera nettoyé avec une serpillère imbibée d’eau savonneuse tous les </a:t>
            </a: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matins</a:t>
            </a:r>
          </a:p>
          <a:p>
            <a:pPr>
              <a:lnSpc>
                <a:spcPct val="115000"/>
              </a:lnSpc>
              <a:spcAft>
                <a:spcPts val="0"/>
              </a:spcAft>
            </a:pP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 Le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box sanitaire sera désinfecté à </a:t>
            </a: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l’eau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javellisée au moins deux fois par </a:t>
            </a: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semaine </a:t>
            </a:r>
          </a:p>
          <a:p>
            <a:pPr>
              <a:lnSpc>
                <a:spcPct val="115000"/>
              </a:lnSpc>
              <a:spcAft>
                <a:spcPts val="0"/>
              </a:spcAft>
            </a:pP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Les tables seront nettoyées après chaque repas. Les bassins, les crachoirs, les bocaux seront vidés et lavés après leur utilisation. Ils seront désinfectés une fois par semaine.  </a:t>
            </a:r>
            <a:endPar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 Les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potences, les chaises </a:t>
            </a: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et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les lits seront nettoyés une fois par </a:t>
            </a: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semaine  </a:t>
            </a:r>
            <a:endParaRPr lang="fr-FR" sz="24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270304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006" y="171826"/>
            <a:ext cx="11243256" cy="4829014"/>
          </a:xfrm>
          <a:prstGeom prst="rect">
            <a:avLst/>
          </a:prstGeom>
        </p:spPr>
        <p:txBody>
          <a:bodyPr wrap="square">
            <a:spAutoFit/>
          </a:bodyPr>
          <a:lstStyle/>
          <a:p>
            <a:pPr>
              <a:lnSpc>
                <a:spcPct val="115000"/>
              </a:lnSpc>
              <a:spcAft>
                <a:spcPts val="0"/>
              </a:spcAft>
            </a:pP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CONCLUSION</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La chambre du malade est sa nouvelle demeure qui lui est imposée à cause de son état pathologique. </a:t>
            </a:r>
            <a:endPar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Le confort de la chambre contribue à la guérison du malade; il est donc important  que celle-ci soit nettoyée régulièrement, </a:t>
            </a: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rangée. </a:t>
            </a:r>
          </a:p>
          <a:p>
            <a:pPr>
              <a:lnSpc>
                <a:spcPct val="115000"/>
              </a:lnSpc>
              <a:spcAft>
                <a:spcPts val="0"/>
              </a:spcAft>
            </a:pP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L’infirmier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doit veiller à ce que tout soit fait selon les règles d’hygiène afin de satisfaire le besoin de sécurité du malade.</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indent="228600" algn="just">
              <a:spcAft>
                <a:spcPts val="600"/>
              </a:spcAft>
            </a:pPr>
            <a:r>
              <a:rPr lang="fr-FR" dirty="0">
                <a:solidFill>
                  <a:srgbClr val="000000"/>
                </a:solidFill>
                <a:latin typeface="Times New Roman" panose="02020603050405020304" pitchFamily="18" charset="0"/>
              </a:rPr>
              <a:t> </a:t>
            </a:r>
            <a:endParaRPr lang="fr-FR" dirty="0">
              <a:effectLst/>
            </a:endParaRPr>
          </a:p>
        </p:txBody>
      </p:sp>
    </p:spTree>
    <p:extLst>
      <p:ext uri="{BB962C8B-B14F-4D97-AF65-F5344CB8AC3E}">
        <p14:creationId xmlns:p14="http://schemas.microsoft.com/office/powerpoint/2010/main" val="29215772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7852" y="219930"/>
            <a:ext cx="10317480" cy="815927"/>
          </a:xfrm>
        </p:spPr>
        <p:txBody>
          <a:bodyPr>
            <a:normAutofit fontScale="90000"/>
          </a:bodyPr>
          <a:lstStyle/>
          <a:p>
            <a:r>
              <a:rPr lang="fr-FR" sz="6000" b="1" dirty="0">
                <a:solidFill>
                  <a:srgbClr val="FF0000"/>
                </a:solidFill>
              </a:rPr>
              <a:t>REPOS </a:t>
            </a:r>
            <a:r>
              <a:rPr lang="fr-FR" sz="6000" b="1" dirty="0" smtClean="0">
                <a:solidFill>
                  <a:srgbClr val="FF0000"/>
                </a:solidFill>
              </a:rPr>
              <a:t>DU  </a:t>
            </a:r>
            <a:r>
              <a:rPr lang="fr-FR" sz="6000" b="1" dirty="0">
                <a:solidFill>
                  <a:srgbClr val="FF0000"/>
                </a:solidFill>
              </a:rPr>
              <a:t>MALADE</a:t>
            </a:r>
            <a:r>
              <a:rPr lang="fr-FR" dirty="0"/>
              <a:t/>
            </a:r>
            <a:br>
              <a:rPr lang="fr-FR" dirty="0"/>
            </a:br>
            <a:endParaRPr lang="fr-FR" dirty="0"/>
          </a:p>
        </p:txBody>
      </p:sp>
      <p:sp>
        <p:nvSpPr>
          <p:cNvPr id="3" name="Rectangle 2"/>
          <p:cNvSpPr/>
          <p:nvPr/>
        </p:nvSpPr>
        <p:spPr>
          <a:xfrm>
            <a:off x="0" y="924882"/>
            <a:ext cx="11900079" cy="4724370"/>
          </a:xfrm>
          <a:prstGeom prst="rect">
            <a:avLst/>
          </a:prstGeom>
        </p:spPr>
        <p:txBody>
          <a:bodyPr wrap="square">
            <a:spAutoFit/>
          </a:bodyPr>
          <a:lstStyle/>
          <a:p>
            <a:pPr>
              <a:lnSpc>
                <a:spcPct val="115000"/>
              </a:lnSpc>
              <a:spcAft>
                <a:spcPts val="0"/>
              </a:spcAft>
            </a:pP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INTRODUCTION</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a:latin typeface="Arial Black" panose="020B0A04020102020204" pitchFamily="34" charset="0"/>
                <a:ea typeface="Calibri" panose="020F0502020204030204" pitchFamily="34" charset="0"/>
                <a:cs typeface="Times New Roman" panose="02020603050405020304" pitchFamily="18" charset="0"/>
              </a:rPr>
              <a:t>On ne peut parler de repos sans songer au sommeil. C’est le sommeil qui procure le grand repos. Il est réparateur  et donne la force. Les heures de repos varient selon les individus, la condition de vie et de </a:t>
            </a:r>
            <a:r>
              <a:rPr lang="fr-FR" sz="2800" dirty="0" smtClean="0">
                <a:latin typeface="Arial Black" panose="020B0A04020102020204" pitchFamily="34" charset="0"/>
                <a:ea typeface="Calibri" panose="020F0502020204030204" pitchFamily="34" charset="0"/>
                <a:cs typeface="Times New Roman" panose="02020603050405020304" pitchFamily="18" charset="0"/>
              </a:rPr>
              <a:t>climat</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r>
              <a:rPr lang="fr-FR" sz="2800" b="1" u="sng" dirty="0">
                <a:solidFill>
                  <a:srgbClr val="FF0000"/>
                </a:solidFill>
                <a:latin typeface="Arial Black" panose="020B0A04020102020204" pitchFamily="34" charset="0"/>
                <a:ea typeface="Calibri" panose="020F0502020204030204" pitchFamily="34" charset="0"/>
              </a:rPr>
              <a:t>I.DEFINITION</a:t>
            </a:r>
            <a:r>
              <a:rPr lang="fr-FR" sz="2800" dirty="0">
                <a:solidFill>
                  <a:srgbClr val="FF0000"/>
                </a:solidFill>
                <a:latin typeface="Arial Black" panose="020B0A04020102020204" pitchFamily="34" charset="0"/>
                <a:ea typeface="Calibri" panose="020F0502020204030204" pitchFamily="34" charset="0"/>
              </a:rPr>
              <a:t> </a:t>
            </a:r>
            <a:r>
              <a:rPr lang="fr-FR" sz="2800" dirty="0" smtClean="0">
                <a:solidFill>
                  <a:srgbClr val="FF0000"/>
                </a:solidFill>
                <a:latin typeface="Arial Black" panose="020B0A04020102020204" pitchFamily="34" charset="0"/>
                <a:ea typeface="Calibri" panose="020F0502020204030204" pitchFamily="34" charset="0"/>
              </a:rPr>
              <a:t>:</a:t>
            </a:r>
          </a:p>
          <a:p>
            <a:r>
              <a:rPr lang="fr-FR" sz="2800" dirty="0" smtClean="0">
                <a:solidFill>
                  <a:srgbClr val="FF0000"/>
                </a:solidFill>
                <a:latin typeface="Arial Black" panose="020B0A04020102020204" pitchFamily="34" charset="0"/>
                <a:ea typeface="Calibri" panose="020F0502020204030204" pitchFamily="34" charset="0"/>
              </a:rPr>
              <a:t> </a:t>
            </a:r>
            <a:r>
              <a:rPr lang="fr-FR" sz="2800" dirty="0">
                <a:latin typeface="Arial Black" panose="020B0A04020102020204" pitchFamily="34" charset="0"/>
                <a:ea typeface="Calibri" panose="020F0502020204030204" pitchFamily="34" charset="0"/>
              </a:rPr>
              <a:t>Dans  le domaine infirmier, le repos fait partie des besoins fondamentaux de </a:t>
            </a:r>
            <a:r>
              <a:rPr lang="fr-FR" sz="2800" dirty="0" smtClean="0">
                <a:latin typeface="Arial Black" panose="020B0A04020102020204" pitchFamily="34" charset="0"/>
                <a:ea typeface="Calibri" panose="020F0502020204030204" pitchFamily="34" charset="0"/>
              </a:rPr>
              <a:t>l’homme </a:t>
            </a:r>
          </a:p>
          <a:p>
            <a:r>
              <a:rPr lang="fr-FR" sz="2800" dirty="0" smtClean="0">
                <a:latin typeface="Arial Black" panose="020B0A04020102020204" pitchFamily="34" charset="0"/>
                <a:ea typeface="Calibri" panose="020F0502020204030204" pitchFamily="34" charset="0"/>
              </a:rPr>
              <a:t>Le </a:t>
            </a:r>
            <a:r>
              <a:rPr lang="fr-FR" sz="2800" dirty="0">
                <a:latin typeface="Arial Black" panose="020B0A04020102020204" pitchFamily="34" charset="0"/>
                <a:ea typeface="Calibri" panose="020F0502020204030204" pitchFamily="34" charset="0"/>
              </a:rPr>
              <a:t>malade a besoin d’autant de repos que de médicaments pour retrouver les forces  et santé</a:t>
            </a:r>
            <a:endParaRPr lang="fr-FR" sz="2800" dirty="0">
              <a:latin typeface="Arial Black" panose="020B0A04020102020204" pitchFamily="34" charset="0"/>
            </a:endParaRPr>
          </a:p>
        </p:txBody>
      </p:sp>
    </p:spTree>
    <p:extLst>
      <p:ext uri="{BB962C8B-B14F-4D97-AF65-F5344CB8AC3E}">
        <p14:creationId xmlns:p14="http://schemas.microsoft.com/office/powerpoint/2010/main" val="21042302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547" y="898354"/>
            <a:ext cx="11874321" cy="4178965"/>
          </a:xfrm>
          <a:prstGeom prst="rect">
            <a:avLst/>
          </a:prstGeom>
        </p:spPr>
        <p:txBody>
          <a:bodyPr wrap="square">
            <a:spAutoFit/>
          </a:bodyPr>
          <a:lstStyle/>
          <a:p>
            <a:pPr marL="457200">
              <a:lnSpc>
                <a:spcPct val="115000"/>
              </a:lnSpc>
              <a:spcAft>
                <a:spcPts val="0"/>
              </a:spcAft>
            </a:pPr>
            <a:r>
              <a:rPr lang="fr-FR" sz="28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a:t>
            </a: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a:t>
            </a:r>
            <a:r>
              <a:rPr lang="fr-FR" sz="2800" b="1" u="sng"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 FACTEURS FAVORISANT </a:t>
            </a: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LE REPOS</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Confort de la pièce</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La tension ambiante doit être agréable</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La pièce doit être propre, aérée et sans désordre </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Le degré de luminosité convenable</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Lit avec un matelas confortable</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Absence de bruit</a:t>
            </a:r>
          </a:p>
          <a:p>
            <a:pPr marL="342900" lvl="0" indent="-342900">
              <a:lnSpc>
                <a:spcPct val="115000"/>
              </a:lnSpc>
              <a:spcBef>
                <a:spcPts val="1200"/>
              </a:spcBef>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Absence de souci majeur</a:t>
            </a:r>
            <a:endParaRPr lang="fr-FR" sz="28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419192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080382" cy="6340197"/>
          </a:xfrm>
          <a:prstGeom prst="rect">
            <a:avLst/>
          </a:prstGeom>
        </p:spPr>
        <p:txBody>
          <a:bodyPr wrap="square">
            <a:spAutoFit/>
          </a:bodyPr>
          <a:lstStyle/>
          <a:p>
            <a:pPr marL="457200">
              <a:lnSpc>
                <a:spcPct val="115000"/>
              </a:lnSpc>
              <a:spcAft>
                <a:spcPts val="0"/>
              </a:spcAft>
            </a:pPr>
            <a:r>
              <a:rPr lang="fr-FR" sz="2800" b="1" dirty="0" smtClean="0">
                <a:latin typeface="Arial Black" panose="020B0A04020102020204" pitchFamily="34" charset="0"/>
                <a:ea typeface="Calibri" panose="020F0502020204030204" pitchFamily="34" charset="0"/>
                <a:cs typeface="Times New Roman" panose="02020603050405020304" pitchFamily="18" charset="0"/>
              </a:rPr>
              <a:t>      </a:t>
            </a:r>
            <a:r>
              <a:rPr lang="fr-FR" sz="2800" b="1"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III</a:t>
            </a:r>
            <a:r>
              <a:rPr lang="fr-FR" sz="28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 </a:t>
            </a: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CONDITION D’UN BON DE REPOS</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Organisation du service</a:t>
            </a:r>
            <a:endParaRPr lang="fr-FR" sz="2800" dirty="0">
              <a:solidFill>
                <a:schemeClr val="accent1"/>
              </a:solidFill>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Respecter et faire respecter les heures de visites</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Veiller à ce que le personnel soit discipliné</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Ne pas faire de bruit (</a:t>
            </a:r>
            <a:r>
              <a:rPr lang="fr-FR" sz="2800" dirty="0" smtClean="0">
                <a:latin typeface="Arial Black" panose="020B0A04020102020204" pitchFamily="34" charset="0"/>
                <a:ea typeface="Calibri" panose="020F0502020204030204" pitchFamily="34" charset="0"/>
                <a:cs typeface="Times New Roman" panose="02020603050405020304" pitchFamily="18" charset="0"/>
              </a:rPr>
              <a:t>conversation </a:t>
            </a:r>
            <a:r>
              <a:rPr lang="fr-FR" sz="2800" dirty="0">
                <a:latin typeface="Arial Black" panose="020B0A04020102020204" pitchFamily="34" charset="0"/>
                <a:ea typeface="Calibri" panose="020F0502020204030204" pitchFamily="34" charset="0"/>
                <a:cs typeface="Times New Roman" panose="02020603050405020304" pitchFamily="18" charset="0"/>
              </a:rPr>
              <a:t>bruyante, grand nettoyage aux heures indues, manipulation de matériel</a:t>
            </a:r>
            <a:r>
              <a:rPr lang="fr-FR" sz="2800" dirty="0" smtClean="0">
                <a:latin typeface="Arial Black" panose="020B0A04020102020204" pitchFamily="34" charset="0"/>
                <a:ea typeface="Calibri" panose="020F0502020204030204" pitchFamily="34" charset="0"/>
                <a:cs typeface="Times New Roman" panose="02020603050405020304" pitchFamily="18" charset="0"/>
              </a:rPr>
              <a:t>)</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Eduquer les malades et leur famille pour le respect des autres</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Eviter de discuter à haute voix, de trainer les pas en marchant</a:t>
            </a:r>
          </a:p>
          <a:p>
            <a:r>
              <a:rPr lang="fr-FR" sz="2800" dirty="0">
                <a:latin typeface="Arial Black" panose="020B0A04020102020204" pitchFamily="34" charset="0"/>
                <a:ea typeface="Calibri" panose="020F0502020204030204" pitchFamily="34" charset="0"/>
              </a:rPr>
              <a:t>Les services d’intendance seront situés en </a:t>
            </a:r>
            <a:r>
              <a:rPr lang="fr-FR" sz="2800" dirty="0" smtClean="0">
                <a:latin typeface="Arial Black" panose="020B0A04020102020204" pitchFamily="34" charset="0"/>
                <a:ea typeface="Calibri" panose="020F0502020204030204" pitchFamily="34" charset="0"/>
              </a:rPr>
              <a:t>fonction </a:t>
            </a:r>
            <a:r>
              <a:rPr lang="fr-FR" sz="2800" dirty="0">
                <a:latin typeface="Arial Black" panose="020B0A04020102020204" pitchFamily="34" charset="0"/>
                <a:ea typeface="Calibri" panose="020F0502020204030204" pitchFamily="34" charset="0"/>
              </a:rPr>
              <a:t>des services d’hospitalisation de manière à ne pas perturber les malades au moment du repos</a:t>
            </a:r>
            <a:r>
              <a:rPr lang="fr-FR" dirty="0">
                <a:latin typeface="Times New Roman" panose="02020603050405020304" pitchFamily="18" charset="0"/>
                <a:ea typeface="Calibri" panose="020F0502020204030204" pitchFamily="34" charset="0"/>
              </a:rPr>
              <a:t>.</a:t>
            </a:r>
            <a:endParaRPr lang="fr-FR" dirty="0"/>
          </a:p>
        </p:txBody>
      </p:sp>
    </p:spTree>
    <p:extLst>
      <p:ext uri="{BB962C8B-B14F-4D97-AF65-F5344CB8AC3E}">
        <p14:creationId xmlns:p14="http://schemas.microsoft.com/office/powerpoint/2010/main" val="169829576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6214" y="1018663"/>
            <a:ext cx="11797048" cy="4027256"/>
          </a:xfrm>
          <a:prstGeom prst="rect">
            <a:avLst/>
          </a:prstGeom>
        </p:spPr>
        <p:txBody>
          <a:bodyPr wrap="square">
            <a:spAutoFit/>
          </a:bodyPr>
          <a:lstStyle/>
          <a:p>
            <a:pPr>
              <a:lnSpc>
                <a:spcPct val="115000"/>
              </a:lnSpc>
              <a:spcAft>
                <a:spcPts val="0"/>
              </a:spcAft>
            </a:pPr>
            <a:r>
              <a:rPr lang="fr-FR" sz="2800" b="1" dirty="0">
                <a:solidFill>
                  <a:schemeClr val="accent1"/>
                </a:solidFill>
                <a:latin typeface="Arial Black" panose="020B0A04020102020204" pitchFamily="34" charset="0"/>
                <a:ea typeface="Calibri" panose="020F0502020204030204" pitchFamily="34" charset="0"/>
                <a:cs typeface="Times New Roman" panose="02020603050405020304" pitchFamily="18" charset="0"/>
              </a:rPr>
              <a:t>Organisation des soins</a:t>
            </a:r>
            <a:endParaRPr lang="fr-FR" sz="2800" dirty="0">
              <a:solidFill>
                <a:schemeClr val="accent1"/>
              </a:solidFill>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Suivre autant que possible les habitudes du malade</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Ne pas le réveiller, ni l’appeler </a:t>
            </a:r>
            <a:r>
              <a:rPr lang="fr-FR" sz="2800" dirty="0" smtClean="0">
                <a:latin typeface="Arial Black" panose="020B0A04020102020204" pitchFamily="34" charset="0"/>
                <a:ea typeface="Calibri" panose="020F0502020204030204" pitchFamily="34" charset="0"/>
                <a:cs typeface="Times New Roman" panose="02020603050405020304" pitchFamily="18" charset="0"/>
              </a:rPr>
              <a:t>à </a:t>
            </a:r>
            <a:r>
              <a:rPr lang="fr-FR" sz="2800" dirty="0">
                <a:latin typeface="Arial Black" panose="020B0A04020102020204" pitchFamily="34" charset="0"/>
                <a:ea typeface="Calibri" panose="020F0502020204030204" pitchFamily="34" charset="0"/>
                <a:cs typeface="Times New Roman" panose="02020603050405020304" pitchFamily="18" charset="0"/>
              </a:rPr>
              <a:t>n’importe quelle heure</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Eviter les allées et venues auprès  du malade (au lit)</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Essayer de créer  une ambiance agréable autour du malade</a:t>
            </a: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Veiller au confort : réfection du lit tous les jours avec soins d’hygiène</a:t>
            </a:r>
            <a:r>
              <a:rPr lang="fr-FR" b="1" dirty="0">
                <a:latin typeface="Times New Roman" panose="02020603050405020304" pitchFamily="18" charset="0"/>
                <a:ea typeface="Calibri" panose="020F0502020204030204" pitchFamily="34" charset="0"/>
                <a:cs typeface="Times New Roman" panose="02020603050405020304" pitchFamily="18" charset="0"/>
              </a:rPr>
              <a:t>.</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818305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89" y="946118"/>
            <a:ext cx="11951594" cy="3065455"/>
          </a:xfrm>
          <a:prstGeom prst="rect">
            <a:avLst/>
          </a:prstGeom>
        </p:spPr>
        <p:txBody>
          <a:bodyPr wrap="square">
            <a:spAutoFit/>
          </a:bodyPr>
          <a:lstStyle/>
          <a:p>
            <a:pPr>
              <a:lnSpc>
                <a:spcPct val="115000"/>
              </a:lnSpc>
              <a:spcAft>
                <a:spcPts val="0"/>
              </a:spcAft>
            </a:pPr>
            <a:r>
              <a:rPr lang="fr-FR" sz="28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Education du malade </a:t>
            </a:r>
            <a:r>
              <a:rPr lang="fr-FR" sz="2800" b="1" dirty="0" smtClean="0">
                <a:solidFill>
                  <a:srgbClr val="FF0000"/>
                </a:solidFill>
                <a:latin typeface="Arial Black" panose="020B0A04020102020204" pitchFamily="34" charset="0"/>
                <a:ea typeface="Calibri" panose="020F0502020204030204" pitchFamily="34" charset="0"/>
                <a:cs typeface="Times New Roman" panose="02020603050405020304" pitchFamily="18" charset="0"/>
              </a:rPr>
              <a:t>et/ou </a:t>
            </a:r>
            <a:r>
              <a:rPr lang="fr-FR" sz="28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de ses parents</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Amener le malade à éduquer ses parents par </a:t>
            </a:r>
            <a:r>
              <a:rPr lang="fr-FR" sz="2800" dirty="0" smtClean="0">
                <a:latin typeface="Arial Black" panose="020B0A04020102020204" pitchFamily="34" charset="0"/>
                <a:ea typeface="Calibri" panose="020F0502020204030204" pitchFamily="34" charset="0"/>
                <a:cs typeface="Times New Roman" panose="02020603050405020304" pitchFamily="18" charset="0"/>
              </a:rPr>
              <a:t>rapport </a:t>
            </a:r>
            <a:r>
              <a:rPr lang="fr-FR" sz="2800" dirty="0">
                <a:latin typeface="Arial Black" panose="020B0A04020102020204" pitchFamily="34" charset="0"/>
                <a:ea typeface="Calibri" panose="020F0502020204030204" pitchFamily="34" charset="0"/>
                <a:cs typeface="Times New Roman" panose="02020603050405020304" pitchFamily="18" charset="0"/>
              </a:rPr>
              <a:t>aux </a:t>
            </a:r>
            <a:r>
              <a:rPr lang="fr-FR" sz="2800" dirty="0" err="1" smtClean="0">
                <a:latin typeface="Arial Black" panose="020B0A04020102020204" pitchFamily="34" charset="0"/>
                <a:ea typeface="Calibri" panose="020F0502020204030204" pitchFamily="34" charset="0"/>
                <a:cs typeface="Times New Roman" panose="02020603050405020304" pitchFamily="18" charset="0"/>
              </a:rPr>
              <a:t>proprétés</a:t>
            </a:r>
            <a:r>
              <a:rPr lang="fr-FR" sz="2800" dirty="0" smtClean="0">
                <a:latin typeface="Arial Black" panose="020B0A04020102020204" pitchFamily="34" charset="0"/>
                <a:ea typeface="Calibri" panose="020F0502020204030204" pitchFamily="34" charset="0"/>
                <a:cs typeface="Times New Roman" panose="02020603050405020304" pitchFamily="18" charset="0"/>
              </a:rPr>
              <a:t> </a:t>
            </a:r>
            <a:r>
              <a:rPr lang="fr-FR" sz="2800" dirty="0">
                <a:latin typeface="Arial Black" panose="020B0A04020102020204" pitchFamily="34" charset="0"/>
                <a:ea typeface="Calibri" panose="020F0502020204030204" pitchFamily="34" charset="0"/>
                <a:cs typeface="Times New Roman" panose="02020603050405020304" pitchFamily="18" charset="0"/>
              </a:rPr>
              <a:t>des lieux, des locaux et au repos des </a:t>
            </a:r>
            <a:r>
              <a:rPr lang="fr-FR" sz="2800" dirty="0" smtClean="0">
                <a:latin typeface="Arial Black" panose="020B0A04020102020204" pitchFamily="34" charset="0"/>
                <a:ea typeface="Calibri" panose="020F0502020204030204" pitchFamily="34" charset="0"/>
                <a:cs typeface="Times New Roman" panose="02020603050405020304" pitchFamily="18" charset="0"/>
              </a:rPr>
              <a:t>autres malades</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fr-FR" sz="2800" dirty="0">
                <a:latin typeface="Arial Black" panose="020B0A04020102020204" pitchFamily="34" charset="0"/>
                <a:ea typeface="Calibri" panose="020F0502020204030204" pitchFamily="34" charset="0"/>
                <a:cs typeface="Times New Roman" panose="02020603050405020304" pitchFamily="18" charset="0"/>
              </a:rPr>
              <a:t>Discipliner les parents du malade à respecter le régime alimentaire, le repos et le traitement prescrit.</a:t>
            </a:r>
            <a:endParaRPr lang="fr-FR" sz="28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1155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0427" y="181294"/>
            <a:ext cx="10317480" cy="815927"/>
          </a:xfrm>
        </p:spPr>
        <p:txBody>
          <a:bodyPr>
            <a:normAutofit fontScale="90000"/>
          </a:bodyPr>
          <a:lstStyle/>
          <a:p>
            <a:r>
              <a:rPr lang="fr-FR" b="1" dirty="0">
                <a:solidFill>
                  <a:srgbClr val="FF0000"/>
                </a:solidFill>
              </a:rPr>
              <a:t>REFECTION DU LIT DU MALADE</a:t>
            </a:r>
            <a:r>
              <a:rPr lang="fr-FR" dirty="0"/>
              <a:t/>
            </a:r>
            <a:br>
              <a:rPr lang="fr-FR" dirty="0"/>
            </a:br>
            <a:endParaRPr lang="fr-FR" dirty="0"/>
          </a:p>
        </p:txBody>
      </p:sp>
      <p:sp>
        <p:nvSpPr>
          <p:cNvPr id="3" name="Rectangle 2"/>
          <p:cNvSpPr/>
          <p:nvPr/>
        </p:nvSpPr>
        <p:spPr>
          <a:xfrm>
            <a:off x="270456" y="997221"/>
            <a:ext cx="11642501" cy="4422749"/>
          </a:xfrm>
          <a:prstGeom prst="rect">
            <a:avLst/>
          </a:prstGeom>
        </p:spPr>
        <p:txBody>
          <a:bodyPr wrap="square">
            <a:spAutoFit/>
          </a:bodyPr>
          <a:lstStyle/>
          <a:p>
            <a:pPr>
              <a:lnSpc>
                <a:spcPct val="115000"/>
              </a:lnSpc>
              <a:spcAft>
                <a:spcPts val="0"/>
              </a:spcAft>
            </a:pPr>
            <a:r>
              <a:rPr lang="fr-FR" sz="2800" b="1" u="sng"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INTRODUCTION</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a:solidFill>
                  <a:srgbClr val="000000"/>
                </a:solidFill>
                <a:latin typeface="Arial Black" panose="020B0A04020102020204" pitchFamily="34" charset="0"/>
                <a:ea typeface="Calibri" panose="020F0502020204030204" pitchFamily="34" charset="0"/>
                <a:cs typeface="Times New Roman" panose="02020603050405020304" pitchFamily="18" charset="0"/>
              </a:rPr>
              <a:t>Le </a:t>
            </a:r>
            <a:r>
              <a:rPr lang="fr-FR" sz="280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lit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de façon générale est préparé pour que l’on puisse s’y étendre et y dormir. Mais à l’hôpital, le lit permet au malade de se reposer, de faire sa surveillance et son traitement. </a:t>
            </a:r>
            <a:endPar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cet effet il doit être tenu avec art pour le bien être du malade.</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r>
              <a:rPr lang="fr-FR" sz="2800" dirty="0">
                <a:solidFill>
                  <a:srgbClr val="000000"/>
                </a:solidFill>
                <a:latin typeface="Arial Black" panose="020B0A04020102020204" pitchFamily="34" charset="0"/>
                <a:ea typeface="Calibri" panose="020F0502020204030204" pitchFamily="34" charset="0"/>
              </a:rPr>
              <a:t>Le lit doit être fait tous les jours, après la toilette, chaque fois que le besoin se fait sentir</a:t>
            </a:r>
            <a:endParaRPr lang="fr-FR" sz="2800" dirty="0">
              <a:latin typeface="Arial Black" panose="020B0A04020102020204" pitchFamily="34" charset="0"/>
            </a:endParaRPr>
          </a:p>
        </p:txBody>
      </p:sp>
    </p:spTree>
    <p:extLst>
      <p:ext uri="{BB962C8B-B14F-4D97-AF65-F5344CB8AC3E}">
        <p14:creationId xmlns:p14="http://schemas.microsoft.com/office/powerpoint/2010/main" val="38802516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7279" y="267420"/>
            <a:ext cx="11037193" cy="2893100"/>
          </a:xfrm>
          <a:prstGeom prst="rect">
            <a:avLst/>
          </a:prstGeom>
        </p:spPr>
        <p:txBody>
          <a:bodyPr wrap="square">
            <a:spAutoFit/>
          </a:bodyPr>
          <a:lstStyle/>
          <a:p>
            <a:pPr lvl="0" algn="just">
              <a:lnSpc>
                <a:spcPct val="150000"/>
              </a:lnSpc>
              <a:spcAft>
                <a:spcPts val="0"/>
              </a:spcAft>
              <a:buSzPts val="1200"/>
            </a:pPr>
            <a:r>
              <a:rPr lang="fr-FR" sz="2800" b="1" u="sng" dirty="0" smtClean="0">
                <a:solidFill>
                  <a:srgbClr val="FF0000"/>
                </a:solidFill>
                <a:latin typeface="Arial Black" panose="020B0A04020102020204" pitchFamily="34" charset="0"/>
              </a:rPr>
              <a:t>I- DEFINITION</a:t>
            </a:r>
            <a:endParaRPr lang="fr-FR" sz="2800" dirty="0">
              <a:solidFill>
                <a:srgbClr val="FF0000"/>
              </a:solidFill>
              <a:latin typeface="Arial Black" panose="020B0A04020102020204" pitchFamily="34" charset="0"/>
            </a:endParaRPr>
          </a:p>
          <a:p>
            <a:pPr algn="just">
              <a:spcAft>
                <a:spcPts val="0"/>
              </a:spcAft>
            </a:pPr>
            <a:r>
              <a:rPr lang="fr-FR" sz="2800" dirty="0">
                <a:solidFill>
                  <a:srgbClr val="000000"/>
                </a:solidFill>
                <a:latin typeface="Arial Black" panose="020B0A04020102020204" pitchFamily="34" charset="0"/>
              </a:rPr>
              <a:t>La réfection de lit occupé consiste à changer le linge sale du lit du malade impotent (qui ne peut pas bouger) par du linge propre.</a:t>
            </a:r>
            <a:endParaRPr lang="fr-FR" sz="2800" dirty="0">
              <a:latin typeface="Arial Black" panose="020B0A04020102020204" pitchFamily="34" charset="0"/>
            </a:endParaRPr>
          </a:p>
          <a:p>
            <a:pPr algn="just">
              <a:spcAft>
                <a:spcPts val="0"/>
              </a:spcAft>
            </a:pPr>
            <a:r>
              <a:rPr lang="fr-FR" sz="2800" dirty="0">
                <a:solidFill>
                  <a:srgbClr val="000000"/>
                </a:solidFill>
                <a:latin typeface="Arial Black" panose="020B0A04020102020204" pitchFamily="34" charset="0"/>
              </a:rPr>
              <a:t>La réfection de lit non occupé consiste à mettre un linge propre en vue d’installer un malade.</a:t>
            </a:r>
            <a:endParaRPr lang="fr-FR" sz="2800" dirty="0">
              <a:effectLst/>
              <a:latin typeface="Arial Black" panose="020B0A04020102020204" pitchFamily="34" charset="0"/>
            </a:endParaRPr>
          </a:p>
        </p:txBody>
      </p:sp>
    </p:spTree>
    <p:extLst>
      <p:ext uri="{BB962C8B-B14F-4D97-AF65-F5344CB8AC3E}">
        <p14:creationId xmlns:p14="http://schemas.microsoft.com/office/powerpoint/2010/main" val="13545445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1971" y="816994"/>
            <a:ext cx="11732654" cy="4508927"/>
          </a:xfrm>
          <a:prstGeom prst="rect">
            <a:avLst/>
          </a:prstGeom>
        </p:spPr>
        <p:txBody>
          <a:bodyPr wrap="square">
            <a:spAutoFit/>
          </a:bodyPr>
          <a:lstStyle/>
          <a:p>
            <a:pPr lvl="0" algn="just">
              <a:lnSpc>
                <a:spcPct val="150000"/>
              </a:lnSpc>
              <a:spcAft>
                <a:spcPts val="0"/>
              </a:spcAft>
              <a:buSzPts val="1200"/>
            </a:pPr>
            <a:r>
              <a:rPr lang="fr-FR" sz="2800" b="1" u="sng" dirty="0" smtClean="0">
                <a:solidFill>
                  <a:srgbClr val="FF0000"/>
                </a:solidFill>
                <a:latin typeface="Arial Black" panose="020B0A04020102020204" pitchFamily="34" charset="0"/>
              </a:rPr>
              <a:t>II- BUTS</a:t>
            </a:r>
            <a:endParaRPr lang="fr-FR" sz="2800" dirty="0">
              <a:solidFill>
                <a:srgbClr val="FF0000"/>
              </a:solidFill>
              <a:latin typeface="Arial Black" panose="020B0A04020102020204" pitchFamily="34" charset="0"/>
            </a:endParaRPr>
          </a:p>
          <a:p>
            <a:pPr marL="342900" lvl="0" indent="-342900" algn="just">
              <a:spcAft>
                <a:spcPts val="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rPr>
              <a:t>Procurer un confort au malade hospitalisé</a:t>
            </a:r>
          </a:p>
          <a:p>
            <a:pPr marL="342900" lvl="0" indent="-342900" algn="just">
              <a:spcAft>
                <a:spcPts val="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rPr>
              <a:t>Assurer la sécurité du malade (propreté du lit, environnement)</a:t>
            </a:r>
          </a:p>
          <a:p>
            <a:pPr marL="342900" lvl="0" indent="-342900">
              <a:lnSpc>
                <a:spcPct val="115000"/>
              </a:lnSpc>
              <a:spcAft>
                <a:spcPts val="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Maintenir une hygiène quotidienne</a:t>
            </a:r>
          </a:p>
          <a:p>
            <a:pPr marL="342900" lvl="0" indent="-342900">
              <a:lnSpc>
                <a:spcPct val="115000"/>
              </a:lnSpc>
              <a:spcAft>
                <a:spcPts val="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Prévenir les escarres</a:t>
            </a:r>
          </a:p>
          <a:p>
            <a:pPr marL="342900" lvl="0" indent="-342900">
              <a:lnSpc>
                <a:spcPct val="115000"/>
              </a:lnSpc>
              <a:spcAft>
                <a:spcPts val="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Favoriser le confort et la sécurité du malade</a:t>
            </a:r>
          </a:p>
          <a:p>
            <a:pPr marL="342900" lvl="0" indent="-342900">
              <a:lnSpc>
                <a:spcPct val="115000"/>
              </a:lnSpc>
              <a:spcAft>
                <a:spcPts val="0"/>
              </a:spcAft>
              <a:buFont typeface="Times New Roman" panose="02020603050405020304" pitchFamily="18"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Permettre au personnel infirmier de faire tous les autres soins dans un environnement agréable</a:t>
            </a:r>
            <a:r>
              <a:rPr lang="fr-FR" sz="2800" dirty="0">
                <a:latin typeface="Times New Roman" panose="02020603050405020304" pitchFamily="18" charset="0"/>
                <a:ea typeface="Times New Roman" panose="02020603050405020304" pitchFamily="18" charset="0"/>
                <a:cs typeface="Times New Roman" panose="02020603050405020304" pitchFamily="18" charset="0"/>
              </a:rPr>
              <a:t>.</a:t>
            </a:r>
            <a:endParaRPr lang="fr-FR" sz="2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45001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5661"/>
            <a:ext cx="12093262" cy="5478423"/>
          </a:xfrm>
          <a:prstGeom prst="rect">
            <a:avLst/>
          </a:prstGeom>
        </p:spPr>
        <p:txBody>
          <a:bodyPr wrap="square">
            <a:spAutoFit/>
          </a:bodyPr>
          <a:lstStyle/>
          <a:p>
            <a:pPr lvl="0" algn="just">
              <a:lnSpc>
                <a:spcPct val="150000"/>
              </a:lnSpc>
              <a:spcAft>
                <a:spcPts val="0"/>
              </a:spcAft>
              <a:buSzPts val="1200"/>
            </a:pPr>
            <a:r>
              <a:rPr lang="fr-FR" sz="2800" b="1" dirty="0" smtClean="0">
                <a:solidFill>
                  <a:srgbClr val="FF0000"/>
                </a:solidFill>
                <a:latin typeface="Arial Black" panose="020B0A04020102020204" pitchFamily="34" charset="0"/>
              </a:rPr>
              <a:t>III- INDICATION</a:t>
            </a:r>
            <a:endParaRPr lang="fr-FR" sz="2800" dirty="0">
              <a:solidFill>
                <a:srgbClr val="FF0000"/>
              </a:solidFill>
              <a:latin typeface="Arial Black" panose="020B0A04020102020204" pitchFamily="34" charset="0"/>
            </a:endParaRPr>
          </a:p>
          <a:p>
            <a:r>
              <a:rPr lang="fr-FR" sz="2800" dirty="0">
                <a:solidFill>
                  <a:srgbClr val="000000"/>
                </a:solidFill>
                <a:latin typeface="Arial Black" panose="020B0A04020102020204" pitchFamily="34" charset="0"/>
                <a:ea typeface="Calibri" panose="020F0502020204030204" pitchFamily="34" charset="0"/>
              </a:rPr>
              <a:t>Tout malade hospitalisé, en particulier les malades </a:t>
            </a:r>
            <a:r>
              <a:rPr lang="fr-FR" sz="2800" dirty="0" smtClean="0">
                <a:solidFill>
                  <a:srgbClr val="000000"/>
                </a:solidFill>
                <a:latin typeface="Arial Black" panose="020B0A04020102020204" pitchFamily="34" charset="0"/>
                <a:ea typeface="Calibri" panose="020F0502020204030204" pitchFamily="34" charset="0"/>
              </a:rPr>
              <a:t>inconscients</a:t>
            </a:r>
          </a:p>
          <a:p>
            <a:r>
              <a:rPr lang="fr-FR" sz="2800" b="1" dirty="0" smtClean="0">
                <a:solidFill>
                  <a:srgbClr val="FF0000"/>
                </a:solidFill>
                <a:latin typeface="Arial Black" panose="020B0A04020102020204" pitchFamily="34" charset="0"/>
              </a:rPr>
              <a:t>IV- LES </a:t>
            </a:r>
            <a:r>
              <a:rPr lang="fr-FR" sz="2800" b="1" dirty="0">
                <a:solidFill>
                  <a:srgbClr val="FF0000"/>
                </a:solidFill>
                <a:latin typeface="Arial Black" panose="020B0A04020102020204" pitchFamily="34" charset="0"/>
              </a:rPr>
              <a:t>DIFFERENTS  LITS</a:t>
            </a:r>
            <a:endParaRPr lang="fr-FR" sz="2800" dirty="0">
              <a:solidFill>
                <a:srgbClr val="FF0000"/>
              </a:solidFill>
              <a:latin typeface="Arial Black" panose="020B0A04020102020204" pitchFamily="34" charset="0"/>
            </a:endParaRPr>
          </a:p>
          <a:p>
            <a:r>
              <a:rPr lang="fr-FR" sz="2800" dirty="0">
                <a:latin typeface="Arial Black" panose="020B0A04020102020204" pitchFamily="34" charset="0"/>
              </a:rPr>
              <a:t>Ce sont des lits à particularités : roulette à freins, matelas ferme et plastifié, articulé ou médicalisé (tête, pied), à hauteur réglable, à barrières, </a:t>
            </a:r>
            <a:r>
              <a:rPr lang="fr-FR" sz="2800" dirty="0" smtClean="0">
                <a:latin typeface="Arial Black" panose="020B0A04020102020204" pitchFamily="34" charset="0"/>
              </a:rPr>
              <a:t>potence</a:t>
            </a:r>
          </a:p>
          <a:p>
            <a:pPr marL="457200" indent="-457200">
              <a:buFontTx/>
              <a:buChar char="-"/>
            </a:pPr>
            <a:r>
              <a:rPr lang="fr-FR" sz="2800" dirty="0" smtClean="0">
                <a:latin typeface="Arial Black" panose="020B0A04020102020204" pitchFamily="34" charset="0"/>
              </a:rPr>
              <a:t>lit </a:t>
            </a:r>
            <a:r>
              <a:rPr lang="fr-FR" sz="2800" dirty="0">
                <a:latin typeface="Arial Black" panose="020B0A04020102020204" pitchFamily="34" charset="0"/>
              </a:rPr>
              <a:t>à retournement (blessés à la colonne </a:t>
            </a:r>
            <a:r>
              <a:rPr lang="fr-FR" sz="2800" dirty="0" smtClean="0">
                <a:latin typeface="Arial Black" panose="020B0A04020102020204" pitchFamily="34" charset="0"/>
              </a:rPr>
              <a:t>vertébrale)</a:t>
            </a:r>
          </a:p>
          <a:p>
            <a:pPr marL="457200" indent="-457200">
              <a:buFontTx/>
              <a:buChar char="-"/>
            </a:pPr>
            <a:r>
              <a:rPr lang="fr-FR" sz="2800" dirty="0" smtClean="0">
                <a:latin typeface="Arial Black" panose="020B0A04020102020204" pitchFamily="34" charset="0"/>
              </a:rPr>
              <a:t>lit </a:t>
            </a:r>
            <a:r>
              <a:rPr lang="fr-FR" sz="2800" dirty="0">
                <a:latin typeface="Arial Black" panose="020B0A04020102020204" pitchFamily="34" charset="0"/>
              </a:rPr>
              <a:t>spécial en fonction de la pathologie (à fluidité pour les grands brûlés).</a:t>
            </a:r>
          </a:p>
          <a:p>
            <a:endParaRPr lang="fr-FR" sz="2800" dirty="0" smtClean="0">
              <a:solidFill>
                <a:srgbClr val="000000"/>
              </a:solidFill>
              <a:latin typeface="Arial Black" panose="020B0A04020102020204" pitchFamily="34" charset="0"/>
              <a:ea typeface="Calibri" panose="020F0502020204030204" pitchFamily="34" charset="0"/>
            </a:endParaRPr>
          </a:p>
          <a:p>
            <a:endParaRPr lang="fr-FR" sz="2800" dirty="0">
              <a:latin typeface="Arial Black" panose="020B0A04020102020204" pitchFamily="34" charset="0"/>
            </a:endParaRPr>
          </a:p>
        </p:txBody>
      </p:sp>
    </p:spTree>
    <p:extLst>
      <p:ext uri="{BB962C8B-B14F-4D97-AF65-F5344CB8AC3E}">
        <p14:creationId xmlns:p14="http://schemas.microsoft.com/office/powerpoint/2010/main" val="137844937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21971" y="154547"/>
            <a:ext cx="11719775" cy="6156102"/>
          </a:xfrm>
          <a:prstGeom prst="rect">
            <a:avLst/>
          </a:prstGeom>
        </p:spPr>
      </p:pic>
    </p:spTree>
    <p:extLst>
      <p:ext uri="{BB962C8B-B14F-4D97-AF65-F5344CB8AC3E}">
        <p14:creationId xmlns:p14="http://schemas.microsoft.com/office/powerpoint/2010/main" val="29287722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883331"/>
            <a:ext cx="12015989" cy="4422749"/>
          </a:xfrm>
          <a:prstGeom prst="rect">
            <a:avLst/>
          </a:prstGeom>
        </p:spPr>
        <p:txBody>
          <a:bodyPr wrap="square">
            <a:spAutoFit/>
          </a:bodyPr>
          <a:lstStyle/>
          <a:p>
            <a:pPr marL="228600">
              <a:lnSpc>
                <a:spcPct val="115000"/>
              </a:lnSpc>
              <a:spcAft>
                <a:spcPts val="0"/>
              </a:spcAft>
              <a:tabLst>
                <a:tab pos="3183255" algn="l"/>
              </a:tabLst>
            </a:pPr>
            <a:r>
              <a:rPr lang="fr-FR" sz="28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Un lit d’hôpital</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marL="228600">
              <a:lnSpc>
                <a:spcPct val="115000"/>
              </a:lnSpc>
              <a:spcAft>
                <a:spcPts val="0"/>
              </a:spcAft>
              <a:tabLst>
                <a:tab pos="3183255" algn="l"/>
              </a:tabLs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r>
              <a:rPr lang="fr-FR" sz="2800" dirty="0">
                <a:solidFill>
                  <a:srgbClr val="92D050"/>
                </a:solidFill>
                <a:latin typeface="Arial Black" panose="020B0A04020102020204" pitchFamily="34" charset="0"/>
                <a:ea typeface="Calibri" panose="020F0502020204030204" pitchFamily="34" charset="0"/>
                <a:cs typeface="Times New Roman" panose="02020603050405020304" pitchFamily="18" charset="0"/>
              </a:rPr>
              <a:t>Le lit basculant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(même rôle que le lit articulé)</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228600">
              <a:lnSpc>
                <a:spcPct val="115000"/>
              </a:lnSpc>
              <a:spcAft>
                <a:spcPts val="0"/>
              </a:spcAft>
              <a:tabLst>
                <a:tab pos="3183255" algn="l"/>
              </a:tabLs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r>
              <a:rPr lang="fr-FR" sz="2800" dirty="0">
                <a:solidFill>
                  <a:srgbClr val="92D050"/>
                </a:solidFill>
                <a:latin typeface="Arial Black" panose="020B0A04020102020204" pitchFamily="34" charset="0"/>
                <a:ea typeface="Calibri" panose="020F0502020204030204" pitchFamily="34" charset="0"/>
                <a:cs typeface="Times New Roman" panose="02020603050405020304" pitchFamily="18" charset="0"/>
              </a:rPr>
              <a:t>Le lit mécanique Dupont</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 permet de soutenir plus facilement le malade immobilisé </a:t>
            </a: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lorsqu’il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s’agit de lui administrer des soins ou faire sa toilette</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228600">
              <a:lnSpc>
                <a:spcPct val="115000"/>
              </a:lnSpc>
              <a:spcAft>
                <a:spcPts val="0"/>
              </a:spcAft>
              <a:tabLst>
                <a:tab pos="3183255" algn="l"/>
              </a:tabLst>
            </a:pP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r>
              <a:rPr lang="fr-FR" sz="2800" dirty="0">
                <a:solidFill>
                  <a:srgbClr val="92D050"/>
                </a:solidFill>
                <a:latin typeface="Arial Black" panose="020B0A04020102020204" pitchFamily="34" charset="0"/>
                <a:ea typeface="Calibri" panose="020F0502020204030204" pitchFamily="34" charset="0"/>
                <a:cs typeface="Times New Roman" panose="02020603050405020304" pitchFamily="18" charset="0"/>
              </a:rPr>
              <a:t>Le lit Guatheron :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permet de tourner et de maintenir le malade sur le côté grâce au poignet fixé au lit.</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r>
              <a:rPr lang="fr-FR" sz="2800" dirty="0">
                <a:solidFill>
                  <a:srgbClr val="000000"/>
                </a:solidFill>
                <a:latin typeface="Arial Black" panose="020B0A04020102020204" pitchFamily="34" charset="0"/>
                <a:ea typeface="Calibri" panose="020F0502020204030204" pitchFamily="34" charset="0"/>
              </a:rPr>
              <a:t>-</a:t>
            </a:r>
            <a:r>
              <a:rPr lang="fr-FR" sz="2800" dirty="0">
                <a:solidFill>
                  <a:srgbClr val="92D050"/>
                </a:solidFill>
                <a:latin typeface="Arial Black" panose="020B0A04020102020204" pitchFamily="34" charset="0"/>
                <a:ea typeface="Calibri" panose="020F0502020204030204" pitchFamily="34" charset="0"/>
              </a:rPr>
              <a:t>Le lit à inclinaison latéral : </a:t>
            </a:r>
            <a:r>
              <a:rPr lang="fr-FR" sz="2800" dirty="0">
                <a:solidFill>
                  <a:srgbClr val="000000"/>
                </a:solidFill>
                <a:latin typeface="Arial Black" panose="020B0A04020102020204" pitchFamily="34" charset="0"/>
                <a:ea typeface="Calibri" panose="020F0502020204030204" pitchFamily="34" charset="0"/>
              </a:rPr>
              <a:t>permet de modifier la position  du malade sans le bouger</a:t>
            </a:r>
            <a:endParaRPr lang="fr-FR" sz="2800" dirty="0">
              <a:latin typeface="Arial Black" panose="020B0A04020102020204" pitchFamily="34" charset="0"/>
            </a:endParaRPr>
          </a:p>
        </p:txBody>
      </p:sp>
    </p:spTree>
    <p:extLst>
      <p:ext uri="{BB962C8B-B14F-4D97-AF65-F5344CB8AC3E}">
        <p14:creationId xmlns:p14="http://schemas.microsoft.com/office/powerpoint/2010/main" val="33379904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679" y="456112"/>
            <a:ext cx="11874321" cy="5708486"/>
          </a:xfrm>
          <a:prstGeom prst="rect">
            <a:avLst/>
          </a:prstGeom>
        </p:spPr>
        <p:txBody>
          <a:bodyPr wrap="square">
            <a:spAutoFit/>
          </a:bodyPr>
          <a:lstStyle/>
          <a:p>
            <a:pPr marL="228600">
              <a:lnSpc>
                <a:spcPct val="115000"/>
              </a:lnSpc>
              <a:spcAft>
                <a:spcPts val="0"/>
              </a:spcAft>
              <a:tabLst>
                <a:tab pos="3183255" algn="l"/>
              </a:tabLst>
            </a:pPr>
            <a:r>
              <a:rPr lang="fr-FR" sz="13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1143000" lvl="2" indent="-228600" algn="just">
              <a:spcAft>
                <a:spcPts val="0"/>
              </a:spcAft>
              <a:buFont typeface="+mj-lt"/>
              <a:buAutoNum type="arabicPeriod"/>
            </a:pPr>
            <a:r>
              <a:rPr lang="fr-FR" sz="2800" b="1" dirty="0">
                <a:solidFill>
                  <a:srgbClr val="FF0000"/>
                </a:solidFill>
                <a:latin typeface="Arial Black" panose="020B0A04020102020204" pitchFamily="34" charset="0"/>
              </a:rPr>
              <a:t>Les accessoires du lit</a:t>
            </a:r>
            <a:endParaRPr lang="fr-FR" sz="2800" dirty="0">
              <a:solidFill>
                <a:srgbClr val="FF0000"/>
              </a:solidFill>
              <a:latin typeface="Arial Black" panose="020B0A04020102020204" pitchFamily="34" charset="0"/>
            </a:endParaRPr>
          </a:p>
          <a:p>
            <a:pPr algn="just">
              <a:spcAft>
                <a:spcPts val="0"/>
              </a:spcAft>
            </a:pPr>
            <a:r>
              <a:rPr lang="fr-FR" sz="2800" dirty="0">
                <a:solidFill>
                  <a:srgbClr val="000000"/>
                </a:solidFill>
                <a:latin typeface="Arial Black" panose="020B0A04020102020204" pitchFamily="34" charset="0"/>
              </a:rPr>
              <a:t>Ils sont nombreux et assurent la sécurité et le confort du malade et facilitent l’exécution des soins. </a:t>
            </a:r>
            <a:endParaRPr lang="fr-FR" sz="2800" dirty="0" smtClean="0">
              <a:solidFill>
                <a:srgbClr val="000000"/>
              </a:solidFill>
              <a:latin typeface="Arial Black" panose="020B0A04020102020204" pitchFamily="34" charset="0"/>
            </a:endParaRPr>
          </a:p>
          <a:p>
            <a:pPr algn="just">
              <a:spcAft>
                <a:spcPts val="0"/>
              </a:spcAft>
            </a:pPr>
            <a:r>
              <a:rPr lang="fr-FR" sz="2800" dirty="0" smtClean="0">
                <a:solidFill>
                  <a:srgbClr val="000000"/>
                </a:solidFill>
                <a:latin typeface="Arial Black" panose="020B0A04020102020204" pitchFamily="34" charset="0"/>
              </a:rPr>
              <a:t>Ce </a:t>
            </a:r>
            <a:r>
              <a:rPr lang="fr-FR" sz="2800" dirty="0">
                <a:solidFill>
                  <a:srgbClr val="000000"/>
                </a:solidFill>
                <a:latin typeface="Arial Black" panose="020B0A04020102020204" pitchFamily="34" charset="0"/>
              </a:rPr>
              <a:t>sont :</a:t>
            </a:r>
            <a:endParaRPr lang="fr-FR" sz="2800" dirty="0">
              <a:latin typeface="Arial Black" panose="020B0A04020102020204" pitchFamily="34" charset="0"/>
            </a:endParaRPr>
          </a:p>
          <a:p>
            <a:pPr marL="342900" lvl="0" indent="-342900" algn="just">
              <a:lnSpc>
                <a:spcPct val="150000"/>
              </a:lnSpc>
              <a:spcAft>
                <a:spcPts val="0"/>
              </a:spcAft>
              <a:buFont typeface="Times New Roman" panose="02020603050405020304" pitchFamily="18" charset="0"/>
              <a:buChar char="-"/>
              <a:tabLst>
                <a:tab pos="457200" algn="l"/>
              </a:tabLst>
            </a:pPr>
            <a:r>
              <a:rPr lang="fr-FR" sz="2800" dirty="0">
                <a:solidFill>
                  <a:srgbClr val="000000"/>
                </a:solidFill>
                <a:latin typeface="Arial Black" panose="020B0A04020102020204" pitchFamily="34" charset="0"/>
                <a:ea typeface="Times New Roman" panose="02020603050405020304" pitchFamily="18" charset="0"/>
              </a:rPr>
              <a:t>la </a:t>
            </a:r>
            <a:r>
              <a:rPr lang="fr-FR" sz="2800" dirty="0" smtClean="0">
                <a:solidFill>
                  <a:srgbClr val="000000"/>
                </a:solidFill>
                <a:latin typeface="Arial Black" panose="020B0A04020102020204" pitchFamily="34" charset="0"/>
                <a:ea typeface="Times New Roman" panose="02020603050405020304" pitchFamily="18" charset="0"/>
              </a:rPr>
              <a:t>potence</a:t>
            </a:r>
            <a:endParaRPr lang="fr-FR" sz="2800" dirty="0">
              <a:latin typeface="Arial Black" panose="020B0A04020102020204" pitchFamily="34" charset="0"/>
              <a:ea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tabLst>
                <a:tab pos="457200" algn="l"/>
              </a:tabLst>
            </a:pPr>
            <a:r>
              <a:rPr lang="fr-FR" sz="2800" dirty="0">
                <a:solidFill>
                  <a:srgbClr val="000000"/>
                </a:solidFill>
                <a:latin typeface="Arial Black" panose="020B0A04020102020204" pitchFamily="34" charset="0"/>
                <a:ea typeface="Times New Roman" panose="02020603050405020304" pitchFamily="18" charset="0"/>
              </a:rPr>
              <a:t>les cales </a:t>
            </a:r>
            <a:r>
              <a:rPr lang="fr-FR" sz="2800" dirty="0" smtClean="0">
                <a:solidFill>
                  <a:srgbClr val="000000"/>
                </a:solidFill>
                <a:latin typeface="Arial Black" panose="020B0A04020102020204" pitchFamily="34" charset="0"/>
                <a:ea typeface="Times New Roman" panose="02020603050405020304" pitchFamily="18" charset="0"/>
              </a:rPr>
              <a:t>butoir </a:t>
            </a:r>
            <a:endParaRPr lang="fr-FR" sz="2800" dirty="0">
              <a:latin typeface="Arial Black" panose="020B0A04020102020204" pitchFamily="34" charset="0"/>
              <a:ea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tabLst>
                <a:tab pos="457200" algn="l"/>
              </a:tabLst>
            </a:pPr>
            <a:r>
              <a:rPr lang="fr-FR" sz="2800" dirty="0">
                <a:solidFill>
                  <a:srgbClr val="000000"/>
                </a:solidFill>
                <a:latin typeface="Arial Black" panose="020B0A04020102020204" pitchFamily="34" charset="0"/>
                <a:ea typeface="Times New Roman" panose="02020603050405020304" pitchFamily="18" charset="0"/>
              </a:rPr>
              <a:t>les grilles de sécurité (lit d’enfants)</a:t>
            </a:r>
            <a:endParaRPr lang="fr-FR" sz="2800" dirty="0">
              <a:latin typeface="Arial Black" panose="020B0A04020102020204" pitchFamily="34" charset="0"/>
              <a:ea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tabLst>
                <a:tab pos="457200" algn="l"/>
              </a:tabLst>
            </a:pPr>
            <a:r>
              <a:rPr lang="fr-FR" sz="2800" dirty="0">
                <a:solidFill>
                  <a:srgbClr val="000000"/>
                </a:solidFill>
                <a:latin typeface="Arial Black" panose="020B0A04020102020204" pitchFamily="34" charset="0"/>
                <a:ea typeface="Times New Roman" panose="02020603050405020304" pitchFamily="18" charset="0"/>
              </a:rPr>
              <a:t>les galeries de </a:t>
            </a:r>
            <a:r>
              <a:rPr lang="fr-FR" sz="2800" dirty="0" smtClean="0">
                <a:solidFill>
                  <a:srgbClr val="000000"/>
                </a:solidFill>
                <a:latin typeface="Arial Black" panose="020B0A04020102020204" pitchFamily="34" charset="0"/>
                <a:ea typeface="Times New Roman" panose="02020603050405020304" pitchFamily="18" charset="0"/>
              </a:rPr>
              <a:t>côtés</a:t>
            </a:r>
            <a:endParaRPr lang="fr-FR" sz="2800" dirty="0">
              <a:latin typeface="Arial Black" panose="020B0A04020102020204" pitchFamily="34" charset="0"/>
              <a:ea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tabLst>
                <a:tab pos="457200" algn="l"/>
              </a:tabLst>
            </a:pPr>
            <a:r>
              <a:rPr lang="fr-FR" sz="2800" dirty="0">
                <a:solidFill>
                  <a:srgbClr val="000000"/>
                </a:solidFill>
                <a:latin typeface="Arial Black" panose="020B0A04020102020204" pitchFamily="34" charset="0"/>
                <a:ea typeface="Times New Roman" panose="02020603050405020304" pitchFamily="18" charset="0"/>
              </a:rPr>
              <a:t>les porte-bassins, portes </a:t>
            </a:r>
            <a:r>
              <a:rPr lang="fr-FR" sz="2800" dirty="0" smtClean="0">
                <a:solidFill>
                  <a:srgbClr val="000000"/>
                </a:solidFill>
                <a:latin typeface="Arial Black" panose="020B0A04020102020204" pitchFamily="34" charset="0"/>
                <a:ea typeface="Times New Roman" panose="02020603050405020304" pitchFamily="18" charset="0"/>
              </a:rPr>
              <a:t>urinal</a:t>
            </a:r>
            <a:endParaRPr lang="fr-FR" sz="2800" dirty="0">
              <a:latin typeface="Arial Black" panose="020B0A04020102020204" pitchFamily="34" charset="0"/>
              <a:ea typeface="Times New Roman" panose="02020603050405020304" pitchFamily="18" charset="0"/>
            </a:endParaRPr>
          </a:p>
          <a:p>
            <a:r>
              <a:rPr lang="fr-FR" sz="2800" dirty="0" smtClean="0">
                <a:solidFill>
                  <a:srgbClr val="000000"/>
                </a:solidFill>
                <a:latin typeface="Arial Black" panose="020B0A04020102020204" pitchFamily="34" charset="0"/>
                <a:ea typeface="Calibri" panose="020F0502020204030204" pitchFamily="34" charset="0"/>
              </a:rPr>
              <a:t>- les </a:t>
            </a:r>
            <a:r>
              <a:rPr lang="fr-FR" sz="2800" dirty="0">
                <a:solidFill>
                  <a:srgbClr val="000000"/>
                </a:solidFill>
                <a:latin typeface="Arial Black" panose="020B0A04020102020204" pitchFamily="34" charset="0"/>
                <a:ea typeface="Calibri" panose="020F0502020204030204" pitchFamily="34" charset="0"/>
              </a:rPr>
              <a:t>sonnettes, </a:t>
            </a:r>
            <a:r>
              <a:rPr lang="fr-FR" sz="2800" dirty="0" smtClean="0">
                <a:solidFill>
                  <a:srgbClr val="000000"/>
                </a:solidFill>
                <a:latin typeface="Arial Black" panose="020B0A04020102020204" pitchFamily="34" charset="0"/>
                <a:ea typeface="Calibri" panose="020F0502020204030204" pitchFamily="34" charset="0"/>
              </a:rPr>
              <a:t>etc.</a:t>
            </a:r>
            <a:endParaRPr lang="fr-FR" sz="2800" dirty="0">
              <a:latin typeface="Arial Black" panose="020B0A04020102020204" pitchFamily="34" charset="0"/>
            </a:endParaRPr>
          </a:p>
        </p:txBody>
      </p:sp>
    </p:spTree>
    <p:extLst>
      <p:ext uri="{BB962C8B-B14F-4D97-AF65-F5344CB8AC3E}">
        <p14:creationId xmlns:p14="http://schemas.microsoft.com/office/powerpoint/2010/main" val="23929718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89" y="1349947"/>
            <a:ext cx="11900078" cy="3539430"/>
          </a:xfrm>
          <a:prstGeom prst="rect">
            <a:avLst/>
          </a:prstGeom>
        </p:spPr>
        <p:txBody>
          <a:bodyPr wrap="square">
            <a:spAutoFit/>
          </a:bodyPr>
          <a:lstStyle/>
          <a:p>
            <a:pPr marL="1143000" lvl="2" indent="-228600" algn="just">
              <a:spcAft>
                <a:spcPts val="0"/>
              </a:spcAft>
              <a:buFont typeface="+mj-lt"/>
              <a:buAutoNum type="arabicPeriod"/>
            </a:pPr>
            <a:r>
              <a:rPr lang="fr-FR" sz="2800" b="1" u="sng" dirty="0">
                <a:solidFill>
                  <a:srgbClr val="FF0000"/>
                </a:solidFill>
                <a:latin typeface="Arial Black" panose="020B0A04020102020204" pitchFamily="34" charset="0"/>
              </a:rPr>
              <a:t>Les matelas</a:t>
            </a:r>
            <a:endParaRPr lang="fr-FR" sz="2800" dirty="0">
              <a:solidFill>
                <a:srgbClr val="FF0000"/>
              </a:solidFill>
              <a:latin typeface="Arial Black" panose="020B0A04020102020204" pitchFamily="34" charset="0"/>
            </a:endParaRPr>
          </a:p>
          <a:p>
            <a:pPr marL="228600" algn="just">
              <a:spcAft>
                <a:spcPts val="0"/>
              </a:spcAft>
            </a:pPr>
            <a:r>
              <a:rPr lang="fr-FR" sz="2800" dirty="0">
                <a:solidFill>
                  <a:srgbClr val="FF0000"/>
                </a:solidFill>
                <a:latin typeface="Arial Black" panose="020B0A04020102020204" pitchFamily="34" charset="0"/>
              </a:rPr>
              <a:t> </a:t>
            </a:r>
          </a:p>
          <a:p>
            <a:r>
              <a:rPr lang="fr-FR" sz="2800" dirty="0">
                <a:latin typeface="Arial Black" panose="020B0A04020102020204" pitchFamily="34" charset="0"/>
                <a:ea typeface="Calibri" panose="020F0502020204030204" pitchFamily="34" charset="0"/>
              </a:rPr>
              <a:t>Ils peuvent être en crin, en laine, pneumatique ou en mousse de latex. </a:t>
            </a:r>
            <a:endParaRPr lang="fr-FR" sz="2800" dirty="0" smtClean="0">
              <a:latin typeface="Arial Black" panose="020B0A04020102020204" pitchFamily="34" charset="0"/>
              <a:ea typeface="Calibri" panose="020F0502020204030204" pitchFamily="34" charset="0"/>
            </a:endParaRPr>
          </a:p>
          <a:p>
            <a:r>
              <a:rPr lang="fr-FR" sz="2800" dirty="0" smtClean="0">
                <a:latin typeface="Arial Black" panose="020B0A04020102020204" pitchFamily="34" charset="0"/>
                <a:ea typeface="Calibri" panose="020F0502020204030204" pitchFamily="34" charset="0"/>
              </a:rPr>
              <a:t>En </a:t>
            </a:r>
            <a:r>
              <a:rPr lang="fr-FR" sz="2800" dirty="0">
                <a:latin typeface="Arial Black" panose="020B0A04020102020204" pitchFamily="34" charset="0"/>
                <a:ea typeface="Calibri" panose="020F0502020204030204" pitchFamily="34" charset="0"/>
              </a:rPr>
              <a:t>général, le matelas du lit du malade ne doit être ni trop rigide ni trop souple. </a:t>
            </a:r>
            <a:endParaRPr lang="fr-FR" sz="2800" dirty="0" smtClean="0">
              <a:latin typeface="Arial Black" panose="020B0A04020102020204" pitchFamily="34" charset="0"/>
              <a:ea typeface="Calibri" panose="020F0502020204030204" pitchFamily="34" charset="0"/>
            </a:endParaRPr>
          </a:p>
          <a:p>
            <a:r>
              <a:rPr lang="fr-FR" sz="2800" dirty="0" smtClean="0">
                <a:latin typeface="Arial Black" panose="020B0A04020102020204" pitchFamily="34" charset="0"/>
                <a:ea typeface="Calibri" panose="020F0502020204030204" pitchFamily="34" charset="0"/>
              </a:rPr>
              <a:t>Il </a:t>
            </a:r>
            <a:r>
              <a:rPr lang="fr-FR" sz="2800" dirty="0">
                <a:latin typeface="Arial Black" panose="020B0A04020102020204" pitchFamily="34" charset="0"/>
                <a:ea typeface="Calibri" panose="020F0502020204030204" pitchFamily="34" charset="0"/>
              </a:rPr>
              <a:t>est recouvert d’un outil solide et doit être enveloppé d’une housse imperméable</a:t>
            </a:r>
            <a:endParaRPr lang="fr-FR" sz="2800" dirty="0">
              <a:latin typeface="Arial Black" panose="020B0A04020102020204" pitchFamily="34" charset="0"/>
            </a:endParaRPr>
          </a:p>
        </p:txBody>
      </p:sp>
    </p:spTree>
    <p:extLst>
      <p:ext uri="{BB962C8B-B14F-4D97-AF65-F5344CB8AC3E}">
        <p14:creationId xmlns:p14="http://schemas.microsoft.com/office/powerpoint/2010/main" val="23582682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667" y="801457"/>
            <a:ext cx="11912957" cy="4702826"/>
          </a:xfrm>
          <a:prstGeom prst="rect">
            <a:avLst/>
          </a:prstGeom>
        </p:spPr>
        <p:txBody>
          <a:bodyPr wrap="square">
            <a:spAutoFit/>
          </a:bodyPr>
          <a:lstStyle/>
          <a:p>
            <a:pPr>
              <a:lnSpc>
                <a:spcPct val="150000"/>
              </a:lnSpc>
              <a:spcAft>
                <a:spcPts val="0"/>
              </a:spcAft>
              <a:tabLst>
                <a:tab pos="3183255" algn="l"/>
              </a:tabLst>
            </a:pPr>
            <a:r>
              <a:rPr lang="fr-FR" sz="2800" b="1" u="sng" dirty="0">
                <a:solidFill>
                  <a:schemeClr val="accent5"/>
                </a:solidFill>
                <a:latin typeface="Arial Black" panose="020B0A04020102020204" pitchFamily="34" charset="0"/>
                <a:ea typeface="Calibri" panose="020F0502020204030204" pitchFamily="34" charset="0"/>
                <a:cs typeface="Times New Roman" panose="02020603050405020304" pitchFamily="18" charset="0"/>
              </a:rPr>
              <a:t>I-REFECTION DE LIT NON OCCUPE</a:t>
            </a:r>
            <a:endParaRPr lang="fr-FR" sz="2800" dirty="0">
              <a:solidFill>
                <a:schemeClr val="accent5"/>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tabLst>
                <a:tab pos="3183255" algn="l"/>
              </a:tabLst>
            </a:pPr>
            <a:r>
              <a:rPr lang="fr-FR" sz="2800" b="1"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3-1-Matériel</a:t>
            </a:r>
            <a:endParaRPr lang="fr-FR" sz="28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tabLst>
                <a:tab pos="3183255" algn="l"/>
              </a:tabLst>
            </a:pP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2 draps propres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(un drap de dessus, un drap de dessous)</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tabLst>
                <a:tab pos="3183255" algn="l"/>
              </a:tabLst>
            </a:pP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1 couverture</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tabLst>
                <a:tab pos="3183255" algn="l"/>
              </a:tabLst>
            </a:pP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1 couvre-lit</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tabLst>
                <a:tab pos="3183255" algn="l"/>
              </a:tabLst>
            </a:pP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2 alèzes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(coton, toile cirée)</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tabLst>
                <a:tab pos="3183255" algn="l"/>
              </a:tabLst>
            </a:pP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 des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oreillers </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tabLst>
                <a:tab pos="3183255" algn="l"/>
              </a:tabLst>
            </a:pP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1 </a:t>
            </a:r>
            <a:r>
              <a:rPr lang="fr-FR" sz="28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chariot ou 2</a:t>
            </a:r>
            <a:r>
              <a:rPr lang="fr-FR" sz="28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 chaises</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tabLst>
                <a:tab pos="3183255" algn="l"/>
              </a:tabLst>
            </a:pPr>
            <a:r>
              <a:rPr lang="fr-FR" sz="2800" b="1" dirty="0">
                <a:solidFill>
                  <a:srgbClr val="FFC000"/>
                </a:solidFill>
                <a:latin typeface="Arial Black" panose="020B0A04020102020204" pitchFamily="34" charset="0"/>
                <a:ea typeface="Calibri" panose="020F0502020204030204" pitchFamily="34" charset="0"/>
                <a:cs typeface="Times New Roman" panose="02020603050405020304" pitchFamily="18" charset="0"/>
              </a:rPr>
              <a:t>3-2-Technique (</a:t>
            </a:r>
            <a:r>
              <a:rPr lang="fr-FR" sz="2800" b="1" dirty="0" smtClean="0">
                <a:solidFill>
                  <a:srgbClr val="FFC000"/>
                </a:solidFill>
                <a:latin typeface="Arial Black" panose="020B0A04020102020204" pitchFamily="34" charset="0"/>
                <a:ea typeface="Calibri" panose="020F0502020204030204" pitchFamily="34" charset="0"/>
                <a:cs typeface="Times New Roman" panose="02020603050405020304" pitchFamily="18" charset="0"/>
              </a:rPr>
              <a:t>voir </a:t>
            </a:r>
            <a:r>
              <a:rPr lang="fr-FR" sz="2800" b="1" dirty="0">
                <a:solidFill>
                  <a:srgbClr val="FFC000"/>
                </a:solidFill>
                <a:latin typeface="Arial Black" panose="020B0A04020102020204" pitchFamily="34" charset="0"/>
                <a:ea typeface="Calibri" panose="020F0502020204030204" pitchFamily="34" charset="0"/>
                <a:cs typeface="Times New Roman" panose="02020603050405020304" pitchFamily="18" charset="0"/>
              </a:rPr>
              <a:t>TP)</a:t>
            </a:r>
            <a:endParaRPr lang="fr-FR" sz="2800" dirty="0">
              <a:solidFill>
                <a:srgbClr val="FFC000"/>
              </a:solidFill>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343216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4700" y="0"/>
            <a:ext cx="12080382" cy="6800323"/>
          </a:xfrm>
          <a:prstGeom prst="rect">
            <a:avLst/>
          </a:prstGeom>
        </p:spPr>
        <p:txBody>
          <a:bodyPr wrap="square">
            <a:spAutoFit/>
          </a:bodyPr>
          <a:lstStyle/>
          <a:p>
            <a:pPr>
              <a:lnSpc>
                <a:spcPct val="150000"/>
              </a:lnSpc>
              <a:spcAft>
                <a:spcPts val="0"/>
              </a:spcAft>
            </a:pPr>
            <a:r>
              <a:rPr lang="fr-FR" sz="27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IV-    REFECTION DE LIT OCCUPE</a:t>
            </a:r>
            <a:endParaRPr lang="fr-FR" sz="27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fr-FR" sz="2700" b="1"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 </a:t>
            </a:r>
            <a:r>
              <a:rPr lang="fr-FR" sz="2700" b="1" dirty="0">
                <a:solidFill>
                  <a:schemeClr val="accent5"/>
                </a:solidFill>
                <a:latin typeface="Arial Black" panose="020B0A04020102020204" pitchFamily="34" charset="0"/>
                <a:ea typeface="Calibri" panose="020F0502020204030204" pitchFamily="34" charset="0"/>
                <a:cs typeface="Times New Roman" panose="02020603050405020304" pitchFamily="18" charset="0"/>
              </a:rPr>
              <a:t>4-1-Préparation du </a:t>
            </a:r>
            <a:r>
              <a:rPr lang="fr-FR" sz="2700" b="1" dirty="0" smtClean="0">
                <a:solidFill>
                  <a:schemeClr val="accent5"/>
                </a:solidFill>
                <a:latin typeface="Arial Black" panose="020B0A04020102020204" pitchFamily="34" charset="0"/>
                <a:ea typeface="Calibri" panose="020F0502020204030204" pitchFamily="34" charset="0"/>
                <a:cs typeface="Times New Roman" panose="02020603050405020304" pitchFamily="18" charset="0"/>
              </a:rPr>
              <a:t>soin</a:t>
            </a:r>
            <a:endParaRPr lang="fr-FR" sz="2700" dirty="0" smtClean="0">
              <a:solidFill>
                <a:schemeClr val="accent5"/>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fr-FR" sz="27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Aller </a:t>
            </a:r>
            <a:r>
              <a:rPr lang="fr-FR" sz="27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évaluer le degré d’autonomie du patient</a:t>
            </a:r>
            <a:endParaRPr lang="fr-FR" sz="27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0"/>
              </a:spcAft>
            </a:pPr>
            <a:r>
              <a:rPr lang="fr-FR" sz="27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S’il est conscient lui expliquer le soin</a:t>
            </a:r>
            <a:endParaRPr lang="fr-FR" sz="2700" dirty="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fr-FR" sz="27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Rassurer le patient pour dissiper sa </a:t>
            </a:r>
            <a:r>
              <a:rPr lang="fr-FR" sz="27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crainte</a:t>
            </a:r>
          </a:p>
          <a:p>
            <a:r>
              <a:rPr lang="fr-FR" sz="2700" b="1" dirty="0">
                <a:solidFill>
                  <a:srgbClr val="FF0000"/>
                </a:solidFill>
                <a:latin typeface="Arial Black" panose="020B0A04020102020204" pitchFamily="34" charset="0"/>
              </a:rPr>
              <a:t>4-2- Matériel</a:t>
            </a:r>
            <a:endParaRPr lang="fr-FR" sz="2700" dirty="0">
              <a:solidFill>
                <a:srgbClr val="FF0000"/>
              </a:solidFill>
              <a:latin typeface="Arial Black" panose="020B0A04020102020204" pitchFamily="34" charset="0"/>
            </a:endParaRPr>
          </a:p>
          <a:p>
            <a:r>
              <a:rPr lang="fr-FR" sz="2700" dirty="0" smtClean="0">
                <a:latin typeface="Arial Black" panose="020B0A04020102020204" pitchFamily="34" charset="0"/>
              </a:rPr>
              <a:t>- 2 </a:t>
            </a:r>
            <a:r>
              <a:rPr lang="fr-FR" sz="2700" dirty="0">
                <a:latin typeface="Arial Black" panose="020B0A04020102020204" pitchFamily="34" charset="0"/>
              </a:rPr>
              <a:t>draps propres</a:t>
            </a:r>
          </a:p>
          <a:p>
            <a:r>
              <a:rPr lang="fr-FR" sz="2700" dirty="0" smtClean="0">
                <a:latin typeface="Arial Black" panose="020B0A04020102020204" pitchFamily="34" charset="0"/>
              </a:rPr>
              <a:t>- 1 couverture</a:t>
            </a:r>
            <a:r>
              <a:rPr lang="fr-FR" sz="2700" dirty="0">
                <a:latin typeface="Arial Black" panose="020B0A04020102020204" pitchFamily="34" charset="0"/>
              </a:rPr>
              <a:t>	</a:t>
            </a:r>
          </a:p>
          <a:p>
            <a:r>
              <a:rPr lang="fr-FR" sz="2700" dirty="0" smtClean="0">
                <a:latin typeface="Arial Black" panose="020B0A04020102020204" pitchFamily="34" charset="0"/>
              </a:rPr>
              <a:t>- 1 couvre-lit</a:t>
            </a:r>
            <a:endParaRPr lang="fr-FR" sz="2700" dirty="0">
              <a:latin typeface="Arial Black" panose="020B0A04020102020204" pitchFamily="34" charset="0"/>
            </a:endParaRPr>
          </a:p>
          <a:p>
            <a:r>
              <a:rPr lang="fr-FR" sz="2700" dirty="0" smtClean="0">
                <a:latin typeface="Arial Black" panose="020B0A04020102020204" pitchFamily="34" charset="0"/>
              </a:rPr>
              <a:t>- 2 alèzes </a:t>
            </a:r>
            <a:r>
              <a:rPr lang="fr-FR" sz="2700" dirty="0">
                <a:latin typeface="Arial Black" panose="020B0A04020102020204" pitchFamily="34" charset="0"/>
              </a:rPr>
              <a:t>(coton, toile cirée)</a:t>
            </a:r>
          </a:p>
          <a:p>
            <a:r>
              <a:rPr lang="fr-FR" sz="2700" dirty="0" smtClean="0">
                <a:latin typeface="Arial Black" panose="020B0A04020102020204" pitchFamily="34" charset="0"/>
              </a:rPr>
              <a:t>- 1chariot </a:t>
            </a:r>
            <a:r>
              <a:rPr lang="fr-FR" sz="2700" dirty="0">
                <a:latin typeface="Arial Black" panose="020B0A04020102020204" pitchFamily="34" charset="0"/>
              </a:rPr>
              <a:t>ou deux(2) chaises</a:t>
            </a:r>
          </a:p>
          <a:p>
            <a:r>
              <a:rPr lang="fr-FR" sz="2700" dirty="0" smtClean="0">
                <a:latin typeface="Arial Black" panose="020B0A04020102020204" pitchFamily="34" charset="0"/>
              </a:rPr>
              <a:t>-</a:t>
            </a:r>
            <a:r>
              <a:rPr lang="fr-FR" sz="2700" dirty="0">
                <a:latin typeface="Arial Black" panose="020B0A04020102020204" pitchFamily="34" charset="0"/>
              </a:rPr>
              <a:t> </a:t>
            </a:r>
            <a:r>
              <a:rPr lang="fr-FR" sz="2700" dirty="0" smtClean="0">
                <a:latin typeface="Arial Black" panose="020B0A04020102020204" pitchFamily="34" charset="0"/>
              </a:rPr>
              <a:t>1sac </a:t>
            </a:r>
            <a:r>
              <a:rPr lang="fr-FR" sz="2700" dirty="0">
                <a:latin typeface="Arial Black" panose="020B0A04020102020204" pitchFamily="34" charset="0"/>
              </a:rPr>
              <a:t>à linge</a:t>
            </a:r>
          </a:p>
          <a:p>
            <a:r>
              <a:rPr lang="fr-FR" sz="2700" b="1" dirty="0">
                <a:solidFill>
                  <a:srgbClr val="FFC000"/>
                </a:solidFill>
                <a:latin typeface="Arial Black" panose="020B0A04020102020204" pitchFamily="34" charset="0"/>
              </a:rPr>
              <a:t>4-3-Technique (voir TP</a:t>
            </a:r>
            <a:r>
              <a:rPr lang="fr-FR" sz="2700" b="1" dirty="0">
                <a:solidFill>
                  <a:srgbClr val="FFC000"/>
                </a:solidFill>
              </a:rPr>
              <a:t>)</a:t>
            </a:r>
            <a:endParaRPr lang="fr-FR" sz="2700" dirty="0">
              <a:solidFill>
                <a:srgbClr val="FFC000"/>
              </a:solidFill>
            </a:endParaRPr>
          </a:p>
          <a:p>
            <a:pPr>
              <a:lnSpc>
                <a:spcPct val="115000"/>
              </a:lnSpc>
              <a:spcAft>
                <a:spcPts val="1000"/>
              </a:spcAft>
            </a:pP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1671075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910" y="1736731"/>
            <a:ext cx="11912958" cy="2897203"/>
          </a:xfrm>
          <a:prstGeom prst="rect">
            <a:avLst/>
          </a:prstGeom>
        </p:spPr>
        <p:txBody>
          <a:bodyPr wrap="square">
            <a:spAutoFit/>
          </a:bodyPr>
          <a:lstStyle/>
          <a:p>
            <a:pPr>
              <a:lnSpc>
                <a:spcPct val="115000"/>
              </a:lnSpc>
              <a:spcAft>
                <a:spcPts val="1000"/>
              </a:spcAft>
            </a:pPr>
            <a:r>
              <a:rPr lang="fr-FR" sz="2400" b="1" u="sng" dirty="0">
                <a:solidFill>
                  <a:srgbClr val="FF0000"/>
                </a:solidFill>
                <a:latin typeface="Arial Black" panose="020B0A04020102020204" pitchFamily="34" charset="0"/>
                <a:ea typeface="Calibri" panose="020F0502020204030204" pitchFamily="34" charset="0"/>
                <a:cs typeface="Times New Roman" panose="02020603050405020304" pitchFamily="18" charset="0"/>
              </a:rPr>
              <a:t>CONCLUSION</a:t>
            </a:r>
            <a:endParaRPr lang="fr-FR" sz="2400" dirty="0">
              <a:solidFill>
                <a:srgbClr val="FF0000"/>
              </a:solidFill>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La réfection de lit est un acte de soin qui assure au malade un mieux-être </a:t>
            </a: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a:t>
            </a:r>
          </a:p>
          <a:p>
            <a:pPr>
              <a:lnSpc>
                <a:spcPct val="115000"/>
              </a:lnSpc>
              <a:spcAft>
                <a:spcPts val="1000"/>
              </a:spcAft>
            </a:pPr>
            <a:r>
              <a:rPr lang="fr-FR" sz="2400" dirty="0" smtClean="0">
                <a:solidFill>
                  <a:srgbClr val="000000"/>
                </a:solidFill>
                <a:latin typeface="Arial Black" panose="020B0A04020102020204" pitchFamily="34" charset="0"/>
                <a:ea typeface="Calibri" panose="020F0502020204030204" pitchFamily="34" charset="0"/>
                <a:cs typeface="Times New Roman" panose="02020603050405020304" pitchFamily="18" charset="0"/>
              </a:rPr>
              <a:t>Elle </a:t>
            </a:r>
            <a:r>
              <a:rPr lang="fr-FR" sz="2400" dirty="0">
                <a:solidFill>
                  <a:srgbClr val="000000"/>
                </a:solidFill>
                <a:latin typeface="Arial Black" panose="020B0A04020102020204" pitchFamily="34" charset="0"/>
                <a:ea typeface="Calibri" panose="020F0502020204030204" pitchFamily="34" charset="0"/>
                <a:cs typeface="Times New Roman" panose="02020603050405020304" pitchFamily="18" charset="0"/>
              </a:rPr>
              <a:t>contribue  à la qualité de la prestation des services et valorise l’intervention infirmière dans la statistique des besoins de dépendance du client.</a:t>
            </a:r>
            <a:endParaRPr lang="fr-FR" sz="24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71765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12192000" cy="6169892"/>
          </a:xfrm>
          <a:prstGeom prst="rect">
            <a:avLst/>
          </a:prstGeom>
        </p:spPr>
      </p:pic>
    </p:spTree>
    <p:extLst>
      <p:ext uri="{BB962C8B-B14F-4D97-AF65-F5344CB8AC3E}">
        <p14:creationId xmlns:p14="http://schemas.microsoft.com/office/powerpoint/2010/main" val="1062294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727" y="1277127"/>
            <a:ext cx="11794837" cy="3170099"/>
          </a:xfrm>
          <a:prstGeom prst="rect">
            <a:avLst/>
          </a:prstGeom>
        </p:spPr>
        <p:txBody>
          <a:bodyPr wrap="square">
            <a:spAutoFit/>
          </a:bodyPr>
          <a:lstStyle/>
          <a:p>
            <a:r>
              <a:rPr lang="fr-FR" sz="4000" b="1" dirty="0">
                <a:solidFill>
                  <a:schemeClr val="accent5"/>
                </a:solidFill>
                <a:latin typeface="Arial Black" panose="020B0A04020102020204" pitchFamily="34" charset="0"/>
                <a:cs typeface="Arial" panose="020B0604020202020204" pitchFamily="34" charset="0"/>
              </a:rPr>
              <a:t>BROU FELIX, INSPECTEUR DES SOINS INFIRMIERS</a:t>
            </a:r>
          </a:p>
          <a:p>
            <a:r>
              <a:rPr lang="fr-FR" sz="4000" b="1" dirty="0">
                <a:solidFill>
                  <a:schemeClr val="accent5"/>
                </a:solidFill>
                <a:latin typeface="Arial Black" panose="020B0A04020102020204" pitchFamily="34" charset="0"/>
                <a:cs typeface="Arial" panose="020B0604020202020204" pitchFamily="34" charset="0"/>
              </a:rPr>
              <a:t>DOCTORANT EN SCIENCES DE L’EDUCATION</a:t>
            </a:r>
          </a:p>
          <a:p>
            <a:r>
              <a:rPr lang="fr-FR" sz="4000" b="1" dirty="0">
                <a:solidFill>
                  <a:schemeClr val="accent5"/>
                </a:solidFill>
                <a:latin typeface="Arial Black" panose="020B0A04020102020204" pitchFamily="34" charset="0"/>
                <a:cs typeface="Arial" panose="020B0604020202020204" pitchFamily="34" charset="0"/>
              </a:rPr>
              <a:t>COORDONNATEUR DES STAGES </a:t>
            </a:r>
          </a:p>
        </p:txBody>
      </p:sp>
    </p:spTree>
    <p:extLst>
      <p:ext uri="{BB962C8B-B14F-4D97-AF65-F5344CB8AC3E}">
        <p14:creationId xmlns:p14="http://schemas.microsoft.com/office/powerpoint/2010/main" val="29080073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0B3D4B-8844-4059-88EA-9EDB1973EE30}"/>
              </a:ext>
            </a:extLst>
          </p:cNvPr>
          <p:cNvSpPr>
            <a:spLocks noGrp="1"/>
          </p:cNvSpPr>
          <p:nvPr>
            <p:ph type="title"/>
          </p:nvPr>
        </p:nvSpPr>
        <p:spPr/>
        <p:txBody>
          <a:bodyPr>
            <a:normAutofit fontScale="90000"/>
          </a:bodyPr>
          <a:lstStyle/>
          <a:p>
            <a:pPr algn="ctr"/>
            <a:r>
              <a:rPr lang="fr-FR" sz="4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LE THERMOMETRE MEDICAL</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B201AEB5-9441-4781-8EB5-FA7C568B7E1E}"/>
              </a:ext>
            </a:extLst>
          </p:cNvPr>
          <p:cNvSpPr>
            <a:spLocks noGrp="1"/>
          </p:cNvSpPr>
          <p:nvPr>
            <p:ph idx="1"/>
          </p:nvPr>
        </p:nvSpPr>
        <p:spPr>
          <a:xfrm>
            <a:off x="-1" y="2133600"/>
            <a:ext cx="12080383" cy="3777622"/>
          </a:xfrm>
        </p:spPr>
        <p:txBody>
          <a:bodyPr>
            <a:normAutofit/>
          </a:bodyPr>
          <a:lstStyle/>
          <a:p>
            <a:pPr marL="342900" lvl="0" indent="-342900" algn="just">
              <a:lnSpc>
                <a:spcPct val="125000"/>
              </a:lnSpc>
              <a:spcAft>
                <a:spcPts val="1000"/>
              </a:spcAft>
              <a:buFont typeface="+mj-lt"/>
              <a:buAutoNum type="romanUcPeriod"/>
              <a:tabLst>
                <a:tab pos="342900" algn="l"/>
              </a:tabLst>
            </a:pPr>
            <a:r>
              <a:rPr lang="fr-FR" sz="32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DEFINITION</a:t>
            </a:r>
            <a:r>
              <a:rPr lang="fr-FR" sz="1800" b="1" u="sng"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10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Le thermomètre médical est un appareil qui sert à mesurer et à afficher la valeur de la température du corps humain</a:t>
            </a:r>
            <a:endParaRPr lang="fr-FR" dirty="0">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10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L’unité de mesure de la température est le degré Celsius</a:t>
            </a:r>
            <a:r>
              <a:rPr lang="fr-FR"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103778496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2885" y="115910"/>
            <a:ext cx="11329115" cy="5955476"/>
          </a:xfrm>
          <a:prstGeom prst="rect">
            <a:avLst/>
          </a:prstGeom>
        </p:spPr>
        <p:txBody>
          <a:bodyPr wrap="square">
            <a:spAutoFit/>
          </a:bodyPr>
          <a:lstStyle/>
          <a:p>
            <a:pPr lvl="0" algn="just">
              <a:lnSpc>
                <a:spcPct val="125000"/>
              </a:lnSpc>
              <a:spcAft>
                <a:spcPts val="1000"/>
              </a:spcAft>
              <a:tabLst>
                <a:tab pos="342900" algn="l"/>
              </a:tabLst>
            </a:pPr>
            <a:r>
              <a:rPr lang="fr-FR" sz="2000"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II.LES DIFFERENTS MODELES DE THERMOMETRE</a:t>
            </a:r>
            <a:endParaRPr lang="fr-FR" sz="2000" dirty="0">
              <a:solidFill>
                <a:srgbClr val="FF0000"/>
              </a:solidFill>
              <a:latin typeface="Arial Black" panose="020B0A04020102020204" pitchFamily="34" charset="0"/>
              <a:ea typeface="Times New Roman" panose="02020603050405020304" pitchFamily="18" charset="0"/>
              <a:cs typeface="Arial" panose="020B0604020202020204" pitchFamily="34" charset="0"/>
            </a:endParaRPr>
          </a:p>
          <a:p>
            <a:pPr algn="just">
              <a:spcAft>
                <a:spcPts val="1000"/>
              </a:spcAft>
            </a:pPr>
            <a:r>
              <a:rPr lang="fr-FR" sz="2000" dirty="0">
                <a:latin typeface="Arial Black" panose="020B0A04020102020204" pitchFamily="34" charset="0"/>
                <a:ea typeface="Times New Roman" panose="02020603050405020304" pitchFamily="18" charset="0"/>
                <a:cs typeface="Times New Roman" panose="02020603050405020304" pitchFamily="18" charset="0"/>
              </a:rPr>
              <a:t>Il y a plusieurs types de thermomètre qui sont :</a:t>
            </a:r>
          </a:p>
          <a:p>
            <a:pPr marL="285750" indent="-285750" algn="just">
              <a:spcAft>
                <a:spcPts val="1000"/>
              </a:spcAft>
              <a:buFont typeface="Wingdings" panose="05000000000000000000" pitchFamily="2" charset="2"/>
              <a:buChar char="q"/>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au gallium ou au </a:t>
            </a:r>
            <a:r>
              <a:rPr lang="fr-FR" sz="2000" dirty="0" err="1" smtClean="0">
                <a:latin typeface="Arial Black" panose="020B0A04020102020204" pitchFamily="34" charset="0"/>
                <a:ea typeface="Times New Roman" panose="02020603050405020304" pitchFamily="18" charset="0"/>
                <a:cs typeface="Times New Roman" panose="02020603050405020304" pitchFamily="18" charset="0"/>
              </a:rPr>
              <a:t>galinstan</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médical)</a:t>
            </a:r>
          </a:p>
          <a:p>
            <a:pPr marL="285750" indent="-285750" algn="just">
              <a:spcAft>
                <a:spcPts val="1000"/>
              </a:spcAft>
              <a:buFont typeface="Wingdings" panose="05000000000000000000" pitchFamily="2" charset="2"/>
              <a:buChar char="q"/>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le </a:t>
            </a:r>
            <a:r>
              <a:rPr lang="fr-FR" sz="2800" dirty="0">
                <a:latin typeface="Arial Black" panose="020B0A04020102020204" pitchFamily="34" charset="0"/>
                <a:ea typeface="Times New Roman" panose="02020603050405020304" pitchFamily="18" charset="0"/>
                <a:cs typeface="Times New Roman" panose="02020603050405020304" pitchFamily="18" charset="0"/>
              </a:rPr>
              <a:t>thermomètre à mercure (</a:t>
            </a:r>
            <a:r>
              <a:rPr lang="fr-FR" sz="280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proscrit</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a:t>
            </a:r>
          </a:p>
          <a:p>
            <a:pPr marL="285750" indent="-285750" algn="just">
              <a:spcAft>
                <a:spcPts val="1000"/>
              </a:spcAft>
              <a:buFont typeface="Wingdings" panose="05000000000000000000" pitchFamily="2" charset="2"/>
              <a:buChar char="q"/>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à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carbone</a:t>
            </a:r>
          </a:p>
          <a:p>
            <a:pPr marL="285750" indent="-285750" algn="just">
              <a:spcAft>
                <a:spcPts val="1000"/>
              </a:spcAft>
              <a:buFont typeface="Wingdings" panose="05000000000000000000" pitchFamily="2" charset="2"/>
              <a:buChar char="q"/>
            </a:pPr>
            <a:r>
              <a:rPr lang="fr-FR" sz="2800" dirty="0" smtClean="0">
                <a:solidFill>
                  <a:schemeClr val="accent1"/>
                </a:solidFill>
                <a:latin typeface="Arial Black" panose="020B0A04020102020204" pitchFamily="34" charset="0"/>
                <a:ea typeface="Times New Roman" panose="02020603050405020304" pitchFamily="18" charset="0"/>
                <a:cs typeface="Times New Roman" panose="02020603050405020304" pitchFamily="18" charset="0"/>
              </a:rPr>
              <a:t>le </a:t>
            </a:r>
            <a:r>
              <a:rPr lang="fr-FR" sz="2800" dirty="0">
                <a:solidFill>
                  <a:schemeClr val="accent1"/>
                </a:solidFill>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800" dirty="0" smtClean="0">
                <a:solidFill>
                  <a:schemeClr val="accent1"/>
                </a:solidFill>
                <a:latin typeface="Arial Black" panose="020B0A04020102020204" pitchFamily="34" charset="0"/>
                <a:ea typeface="Times New Roman" panose="02020603050405020304" pitchFamily="18" charset="0"/>
                <a:cs typeface="Times New Roman" panose="02020603050405020304" pitchFamily="18" charset="0"/>
              </a:rPr>
              <a:t>électronique: </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frontal</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à infra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rouge</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auriculaire</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buccal</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sucette</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digital.</a:t>
            </a:r>
          </a:p>
          <a:p>
            <a:r>
              <a:rPr lang="fr-FR" sz="2000" dirty="0">
                <a:latin typeface="Arial Black" panose="020B0A04020102020204" pitchFamily="34" charset="0"/>
                <a:ea typeface="Times New Roman" panose="02020603050405020304" pitchFamily="18" charset="0"/>
              </a:rPr>
              <a:t>Cependant nous allons décrire ceux qui sont utilisés dans nos services</a:t>
            </a:r>
            <a:endParaRPr lang="fr-FR" sz="2000" dirty="0">
              <a:latin typeface="Arial Black" panose="020B0A04020102020204" pitchFamily="34" charset="0"/>
            </a:endParaRPr>
          </a:p>
        </p:txBody>
      </p:sp>
    </p:spTree>
    <p:extLst>
      <p:ext uri="{BB962C8B-B14F-4D97-AF65-F5344CB8AC3E}">
        <p14:creationId xmlns:p14="http://schemas.microsoft.com/office/powerpoint/2010/main" val="148310855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F8E110-CA08-49EA-8ADB-0203A852C0A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0B57FE1B-A19E-4602-A708-AC597363706A}"/>
              </a:ext>
            </a:extLst>
          </p:cNvPr>
          <p:cNvSpPr>
            <a:spLocks noGrp="1"/>
          </p:cNvSpPr>
          <p:nvPr>
            <p:ph idx="1"/>
          </p:nvPr>
        </p:nvSpPr>
        <p:spPr>
          <a:xfrm>
            <a:off x="0" y="2133600"/>
            <a:ext cx="12192000" cy="4100290"/>
          </a:xfrm>
        </p:spPr>
        <p:txBody>
          <a:bodyPr>
            <a:normAutofit lnSpcReduction="10000"/>
          </a:bodyPr>
          <a:lstStyle/>
          <a:p>
            <a:pPr marL="457200" lvl="1" indent="0" algn="just">
              <a:lnSpc>
                <a:spcPct val="125000"/>
              </a:lnSpc>
              <a:spcAft>
                <a:spcPts val="1000"/>
              </a:spcAft>
              <a:buNone/>
              <a:tabLst>
                <a:tab pos="457200" algn="l"/>
              </a:tabLst>
            </a:pPr>
            <a:r>
              <a:rPr lang="fr-FR" sz="3200" b="1" dirty="0">
                <a:effectLst/>
                <a:latin typeface="Arial Black" panose="020B0A04020102020204" pitchFamily="34" charset="0"/>
                <a:ea typeface="Times New Roman" panose="02020603050405020304" pitchFamily="18" charset="0"/>
                <a:cs typeface="Arial" panose="020B0604020202020204" pitchFamily="34" charset="0"/>
              </a:rPr>
              <a:t>2-1 Le thermomètre médical </a:t>
            </a:r>
          </a:p>
          <a:p>
            <a:pPr marL="0" indent="0" algn="just">
              <a:lnSpc>
                <a:spcPct val="125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C’est le thermomètre au gallium qui est communément appelé le thermomètre médical. Il se compose d’un tube de verre fermé, fixé à une réglette graduée allant de 35°C à 42°C et d’une extrémité renflée (cuvette) contenant du mercure. A l’intérieur se trouve un tube très fin dans lequel le mercure remonte quant il est chauffé</a:t>
            </a:r>
          </a:p>
          <a:p>
            <a:pPr marL="0" indent="0">
              <a:buNone/>
            </a:pPr>
            <a:endParaRPr lang="fr-FR" dirty="0"/>
          </a:p>
        </p:txBody>
      </p:sp>
    </p:spTree>
    <p:extLst>
      <p:ext uri="{BB962C8B-B14F-4D97-AF65-F5344CB8AC3E}">
        <p14:creationId xmlns:p14="http://schemas.microsoft.com/office/powerpoint/2010/main" val="231093496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631065" y="180304"/>
            <a:ext cx="4584879" cy="6027313"/>
          </a:xfrm>
          <a:prstGeom prst="rect">
            <a:avLst/>
          </a:prstGeom>
        </p:spPr>
      </p:pic>
      <p:pic>
        <p:nvPicPr>
          <p:cNvPr id="3" name="Image 2"/>
          <p:cNvPicPr>
            <a:picLocks noChangeAspect="1"/>
          </p:cNvPicPr>
          <p:nvPr/>
        </p:nvPicPr>
        <p:blipFill>
          <a:blip r:embed="rId3"/>
          <a:stretch>
            <a:fillRect/>
          </a:stretch>
        </p:blipFill>
        <p:spPr>
          <a:xfrm>
            <a:off x="5803743" y="309093"/>
            <a:ext cx="5594060" cy="5898524"/>
          </a:xfrm>
          <a:prstGeom prst="rect">
            <a:avLst/>
          </a:prstGeom>
        </p:spPr>
      </p:pic>
    </p:spTree>
    <p:extLst>
      <p:ext uri="{BB962C8B-B14F-4D97-AF65-F5344CB8AC3E}">
        <p14:creationId xmlns:p14="http://schemas.microsoft.com/office/powerpoint/2010/main" val="229302461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5EC9D0-28A8-496C-8BB3-246BA9C0DB0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58F3E1E-84D3-4A55-AFF9-4B6A0DC170B2}"/>
              </a:ext>
            </a:extLst>
          </p:cNvPr>
          <p:cNvSpPr>
            <a:spLocks noGrp="1"/>
          </p:cNvSpPr>
          <p:nvPr>
            <p:ph idx="1"/>
          </p:nvPr>
        </p:nvSpPr>
        <p:spPr>
          <a:xfrm>
            <a:off x="0" y="2133600"/>
            <a:ext cx="12003110" cy="4100290"/>
          </a:xfrm>
        </p:spPr>
        <p:txBody>
          <a:bodyPr>
            <a:normAutofit/>
          </a:bodyPr>
          <a:lstStyle/>
          <a:p>
            <a:pPr marL="457200" lvl="1" indent="0" algn="just">
              <a:lnSpc>
                <a:spcPct val="125000"/>
              </a:lnSpc>
              <a:spcAft>
                <a:spcPts val="1000"/>
              </a:spcAft>
              <a:buNone/>
              <a:tabLst>
                <a:tab pos="457200" algn="l"/>
              </a:tabLst>
            </a:pPr>
            <a:r>
              <a:rPr lang="fr-FR" sz="2800" b="1" dirty="0">
                <a:effectLst/>
                <a:latin typeface="Arial Black" panose="020B0A04020102020204" pitchFamily="34" charset="0"/>
                <a:ea typeface="Times New Roman" panose="02020603050405020304" pitchFamily="18" charset="0"/>
                <a:cs typeface="Arial" panose="020B0604020202020204" pitchFamily="34" charset="0"/>
              </a:rPr>
              <a:t>2-2 Le thermomètre électronique</a:t>
            </a:r>
            <a:endParaRPr lang="fr-FR" sz="28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r>
              <a:rPr lang="fr-FR" dirty="0">
                <a:effectLst/>
                <a:latin typeface="Arial Black" panose="020B0A04020102020204" pitchFamily="34" charset="0"/>
                <a:ea typeface="Times New Roman" panose="02020603050405020304" pitchFamily="18" charset="0"/>
                <a:cs typeface="Arial" panose="020B0604020202020204" pitchFamily="34" charset="0"/>
              </a:rPr>
              <a:t>C’est un appareil qui fonctionne selon un système électrique et comporte sur une de ses faces un tableau d’affichage </a:t>
            </a:r>
            <a:r>
              <a:rPr lang="fr-FR" dirty="0" smtClean="0">
                <a:effectLst/>
                <a:latin typeface="Arial Black" panose="020B0A04020102020204" pitchFamily="34" charset="0"/>
                <a:ea typeface="Times New Roman" panose="02020603050405020304" pitchFamily="18" charset="0"/>
                <a:cs typeface="Arial" panose="020B0604020202020204" pitchFamily="34" charset="0"/>
              </a:rPr>
              <a:t>automatique, la </a:t>
            </a:r>
            <a:r>
              <a:rPr lang="fr-FR" dirty="0">
                <a:effectLst/>
                <a:latin typeface="Arial Black" panose="020B0A04020102020204" pitchFamily="34" charset="0"/>
                <a:ea typeface="Times New Roman" panose="02020603050405020304" pitchFamily="18" charset="0"/>
                <a:cs typeface="Arial" panose="020B0604020202020204" pitchFamily="34" charset="0"/>
              </a:rPr>
              <a:t>valeur de la température. </a:t>
            </a:r>
            <a:endParaRPr lang="fr-FR" dirty="0" smtClean="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r>
              <a:rPr lang="fr-FR" dirty="0" smtClean="0">
                <a:effectLst/>
                <a:latin typeface="Arial Black" panose="020B0A04020102020204" pitchFamily="34" charset="0"/>
                <a:ea typeface="Times New Roman" panose="02020603050405020304" pitchFamily="18" charset="0"/>
                <a:cs typeface="Arial" panose="020B0604020202020204" pitchFamily="34" charset="0"/>
              </a:rPr>
              <a:t>Un </a:t>
            </a:r>
            <a:r>
              <a:rPr lang="fr-FR" dirty="0">
                <a:effectLst/>
                <a:latin typeface="Arial Black" panose="020B0A04020102020204" pitchFamily="34" charset="0"/>
                <a:ea typeface="Times New Roman" panose="02020603050405020304" pitchFamily="18" charset="0"/>
                <a:cs typeface="Arial" panose="020B0604020202020204" pitchFamily="34" charset="0"/>
              </a:rPr>
              <a:t>signal sonore </a:t>
            </a:r>
            <a:r>
              <a:rPr lang="fr-FR" dirty="0" smtClean="0">
                <a:effectLst/>
                <a:latin typeface="Arial Black" panose="020B0A04020102020204" pitchFamily="34" charset="0"/>
                <a:ea typeface="Times New Roman" panose="02020603050405020304" pitchFamily="18" charset="0"/>
                <a:cs typeface="Arial" panose="020B0604020202020204" pitchFamily="34" charset="0"/>
              </a:rPr>
              <a:t>annonce </a:t>
            </a:r>
            <a:r>
              <a:rPr lang="fr-FR" dirty="0">
                <a:effectLst/>
                <a:latin typeface="Arial Black" panose="020B0A04020102020204" pitchFamily="34" charset="0"/>
                <a:ea typeface="Times New Roman" panose="02020603050405020304" pitchFamily="18" charset="0"/>
                <a:cs typeface="Arial" panose="020B0604020202020204" pitchFamily="34" charset="0"/>
              </a:rPr>
              <a:t>l’affichage de la température</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38527343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90152" y="128788"/>
            <a:ext cx="4608960" cy="5898524"/>
          </a:xfrm>
          <a:prstGeom prst="rect">
            <a:avLst/>
          </a:prstGeom>
        </p:spPr>
      </p:pic>
      <p:pic>
        <p:nvPicPr>
          <p:cNvPr id="3" name="Image 2"/>
          <p:cNvPicPr>
            <a:picLocks noChangeAspect="1"/>
          </p:cNvPicPr>
          <p:nvPr/>
        </p:nvPicPr>
        <p:blipFill>
          <a:blip r:embed="rId3"/>
          <a:stretch>
            <a:fillRect/>
          </a:stretch>
        </p:blipFill>
        <p:spPr>
          <a:xfrm>
            <a:off x="5215945" y="128788"/>
            <a:ext cx="6800044" cy="6001557"/>
          </a:xfrm>
          <a:prstGeom prst="rect">
            <a:avLst/>
          </a:prstGeom>
        </p:spPr>
      </p:pic>
    </p:spTree>
    <p:extLst>
      <p:ext uri="{BB962C8B-B14F-4D97-AF65-F5344CB8AC3E}">
        <p14:creationId xmlns:p14="http://schemas.microsoft.com/office/powerpoint/2010/main" val="121054130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5725C0-EBB5-44D0-B4B4-F9EB1B0EAA8A}"/>
              </a:ext>
            </a:extLst>
          </p:cNvPr>
          <p:cNvSpPr>
            <a:spLocks noGrp="1"/>
          </p:cNvSpPr>
          <p:nvPr>
            <p:ph type="title"/>
          </p:nvPr>
        </p:nvSpPr>
        <p:spPr>
          <a:xfrm>
            <a:off x="2592925" y="0"/>
            <a:ext cx="8911687" cy="450761"/>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52877EB5-FB95-444E-A728-3780FFCCF450}"/>
              </a:ext>
            </a:extLst>
          </p:cNvPr>
          <p:cNvSpPr>
            <a:spLocks noGrp="1"/>
          </p:cNvSpPr>
          <p:nvPr>
            <p:ph idx="1"/>
          </p:nvPr>
        </p:nvSpPr>
        <p:spPr>
          <a:xfrm>
            <a:off x="0" y="1280890"/>
            <a:ext cx="11504612" cy="3777622"/>
          </a:xfrm>
        </p:spPr>
        <p:txBody>
          <a:bodyPr>
            <a:normAutofit fontScale="92500" lnSpcReduction="20000"/>
          </a:bodyPr>
          <a:lstStyle/>
          <a:p>
            <a:pPr marL="0" lvl="0" indent="0" algn="just">
              <a:lnSpc>
                <a:spcPct val="125000"/>
              </a:lnSpc>
              <a:spcAft>
                <a:spcPts val="1000"/>
              </a:spcAft>
              <a:buNone/>
              <a:tabLst>
                <a:tab pos="342900" algn="l"/>
              </a:tabLst>
            </a:pPr>
            <a:r>
              <a:rPr lang="fr-FR" sz="39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III LES VARIATIONS DE LA TEMPERATURE</a:t>
            </a:r>
            <a:endParaRPr lang="fr-FR" sz="39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r>
              <a:rPr lang="fr-FR" sz="3000" dirty="0">
                <a:effectLst/>
                <a:latin typeface="Arial Black" panose="020B0A04020102020204" pitchFamily="34" charset="0"/>
                <a:ea typeface="Times New Roman" panose="02020603050405020304" pitchFamily="18" charset="0"/>
              </a:rPr>
              <a:t>L’équilibre entre la production et la perte de température par l’organisme s’appelle </a:t>
            </a:r>
            <a:r>
              <a:rPr lang="fr-FR" sz="3000" dirty="0">
                <a:solidFill>
                  <a:srgbClr val="FF0000"/>
                </a:solidFill>
                <a:effectLst/>
                <a:latin typeface="Arial Black" panose="020B0A04020102020204" pitchFamily="34" charset="0"/>
                <a:ea typeface="Times New Roman" panose="02020603050405020304" pitchFamily="18" charset="0"/>
              </a:rPr>
              <a:t>la </a:t>
            </a:r>
            <a:r>
              <a:rPr lang="fr-FR" sz="3000" dirty="0" smtClean="0">
                <a:solidFill>
                  <a:srgbClr val="FF0000"/>
                </a:solidFill>
                <a:effectLst/>
                <a:latin typeface="Arial Black" panose="020B0A04020102020204" pitchFamily="34" charset="0"/>
                <a:ea typeface="Times New Roman" panose="02020603050405020304" pitchFamily="18" charset="0"/>
              </a:rPr>
              <a:t>thermorégulation</a:t>
            </a:r>
            <a:r>
              <a:rPr lang="fr-FR" sz="3000" dirty="0" smtClean="0">
                <a:effectLst/>
                <a:latin typeface="Arial Black" panose="020B0A04020102020204" pitchFamily="34" charset="0"/>
                <a:ea typeface="Times New Roman" panose="02020603050405020304" pitchFamily="18" charset="0"/>
              </a:rPr>
              <a:t>   </a:t>
            </a:r>
          </a:p>
          <a:p>
            <a:pPr marL="0" indent="0">
              <a:buNone/>
            </a:pPr>
            <a:r>
              <a:rPr lang="fr-FR" sz="3000" dirty="0" smtClean="0">
                <a:effectLst/>
                <a:latin typeface="Arial Black" panose="020B0A04020102020204" pitchFamily="34" charset="0"/>
                <a:ea typeface="Times New Roman" panose="02020603050405020304" pitchFamily="18" charset="0"/>
              </a:rPr>
              <a:t>Elle </a:t>
            </a:r>
            <a:r>
              <a:rPr lang="fr-FR" sz="3000" dirty="0">
                <a:effectLst/>
                <a:latin typeface="Arial Black" panose="020B0A04020102020204" pitchFamily="34" charset="0"/>
                <a:ea typeface="Times New Roman" panose="02020603050405020304" pitchFamily="18" charset="0"/>
              </a:rPr>
              <a:t>se fait naturellement mais il peut arriver que des éléments perturbent cet équilibre provoquant ainsi une production excessive de chaleur par l’organisme ou un refroidissement de celui-ci. </a:t>
            </a:r>
            <a:endParaRPr lang="fr-FR" sz="3000" dirty="0" smtClean="0">
              <a:effectLst/>
              <a:latin typeface="Arial Black" panose="020B0A04020102020204" pitchFamily="34" charset="0"/>
              <a:ea typeface="Times New Roman" panose="02020603050405020304" pitchFamily="18" charset="0"/>
            </a:endParaRPr>
          </a:p>
          <a:p>
            <a:pPr marL="0" indent="0">
              <a:buNone/>
            </a:pPr>
            <a:r>
              <a:rPr lang="fr-FR" sz="3000" dirty="0" smtClean="0">
                <a:effectLst/>
                <a:latin typeface="Arial Black" panose="020B0A04020102020204" pitchFamily="34" charset="0"/>
                <a:ea typeface="Times New Roman" panose="02020603050405020304" pitchFamily="18" charset="0"/>
              </a:rPr>
              <a:t>Cette </a:t>
            </a:r>
            <a:r>
              <a:rPr lang="fr-FR" sz="3000" dirty="0">
                <a:effectLst/>
                <a:latin typeface="Arial Black" panose="020B0A04020102020204" pitchFamily="34" charset="0"/>
                <a:ea typeface="Times New Roman" panose="02020603050405020304" pitchFamily="18" charset="0"/>
              </a:rPr>
              <a:t>variation de température peut être physiologique ou pathologique</a:t>
            </a:r>
            <a:endParaRPr lang="fr-FR" sz="3000" dirty="0">
              <a:latin typeface="Arial Black" panose="020B0A04020102020204" pitchFamily="34" charset="0"/>
            </a:endParaRPr>
          </a:p>
        </p:txBody>
      </p:sp>
    </p:spTree>
    <p:extLst>
      <p:ext uri="{BB962C8B-B14F-4D97-AF65-F5344CB8AC3E}">
        <p14:creationId xmlns:p14="http://schemas.microsoft.com/office/powerpoint/2010/main" val="33196906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4E58B4-6110-4F2C-AAF1-840F7C045AD9}"/>
              </a:ext>
            </a:extLst>
          </p:cNvPr>
          <p:cNvSpPr>
            <a:spLocks noGrp="1"/>
          </p:cNvSpPr>
          <p:nvPr>
            <p:ph type="title"/>
          </p:nvPr>
        </p:nvSpPr>
        <p:spPr>
          <a:xfrm>
            <a:off x="2567167" y="0"/>
            <a:ext cx="8911687" cy="579549"/>
          </a:xfrm>
        </p:spPr>
        <p:txBody>
          <a:bodyPr/>
          <a:lstStyle/>
          <a:p>
            <a:endParaRPr lang="fr-FR" dirty="0"/>
          </a:p>
        </p:txBody>
      </p:sp>
      <p:sp>
        <p:nvSpPr>
          <p:cNvPr id="3" name="Espace réservé du contenu 2">
            <a:extLst>
              <a:ext uri="{FF2B5EF4-FFF2-40B4-BE49-F238E27FC236}">
                <a16:creationId xmlns:a16="http://schemas.microsoft.com/office/drawing/2014/main" id="{F7C1244A-919C-4905-BAAF-FD27EEE37CE3}"/>
              </a:ext>
            </a:extLst>
          </p:cNvPr>
          <p:cNvSpPr>
            <a:spLocks noGrp="1"/>
          </p:cNvSpPr>
          <p:nvPr>
            <p:ph idx="1"/>
          </p:nvPr>
        </p:nvSpPr>
        <p:spPr>
          <a:xfrm>
            <a:off x="0" y="579549"/>
            <a:ext cx="12093262" cy="5705341"/>
          </a:xfrm>
        </p:spPr>
        <p:txBody>
          <a:bodyPr>
            <a:normAutofit fontScale="25000" lnSpcReduction="20000"/>
          </a:bodyPr>
          <a:lstStyle/>
          <a:p>
            <a:pPr marL="457200" lvl="1" indent="0">
              <a:lnSpc>
                <a:spcPct val="120000"/>
              </a:lnSpc>
              <a:spcAft>
                <a:spcPts val="1000"/>
              </a:spcAft>
              <a:buNone/>
              <a:tabLst>
                <a:tab pos="457200" algn="l"/>
              </a:tabLst>
            </a:pPr>
            <a:r>
              <a:rPr lang="fr-FR" sz="11200" b="1" dirty="0" smtClean="0">
                <a:effectLst/>
                <a:latin typeface="Arial Black" panose="020B0A04020102020204" pitchFamily="34" charset="0"/>
                <a:ea typeface="Times New Roman" panose="02020603050405020304" pitchFamily="18" charset="0"/>
                <a:cs typeface="Arial" panose="020B0604020202020204" pitchFamily="34" charset="0"/>
              </a:rPr>
              <a:t>      </a:t>
            </a:r>
            <a:r>
              <a:rPr lang="fr-FR" sz="112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3-1 </a:t>
            </a:r>
            <a:r>
              <a:rPr lang="fr-FR" sz="11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Les variations physiologiques</a:t>
            </a:r>
          </a:p>
          <a:p>
            <a:pPr marL="457200" lvl="1" indent="0">
              <a:lnSpc>
                <a:spcPct val="120000"/>
              </a:lnSpc>
              <a:spcAft>
                <a:spcPts val="1000"/>
              </a:spcAft>
              <a:buNone/>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Elles dépendent de nombreux facteurs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climat</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l’heure (4h-8h T° basse, 16h - 18h T° élevée)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digestion (repas abondant T° élevée, diète T° basse)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travail physique et intellectuel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les émotions, le repos</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l’âge (nouveau né température irrégulière, vieillard température en dessous de la normale)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Arial" panose="020B0604020202020204" pitchFamily="34" charset="0"/>
              <a:buChar char="-"/>
              <a:tabLst>
                <a:tab pos="457200" algn="l"/>
              </a:tabLst>
            </a:pPr>
            <a:r>
              <a:rPr lang="fr-FR" sz="8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sz="8000" dirty="0">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326978830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3883B8-9FEB-4BEA-9B76-88DF58438899}"/>
              </a:ext>
            </a:extLst>
          </p:cNvPr>
          <p:cNvSpPr>
            <a:spLocks noGrp="1"/>
          </p:cNvSpPr>
          <p:nvPr>
            <p:ph type="title"/>
          </p:nvPr>
        </p:nvSpPr>
        <p:spPr>
          <a:xfrm>
            <a:off x="1571223" y="31682"/>
            <a:ext cx="9984905" cy="1280890"/>
          </a:xfrm>
        </p:spPr>
        <p:txBody>
          <a:bodyPr/>
          <a:lstStyle/>
          <a:p>
            <a:endParaRPr lang="fr-FR"/>
          </a:p>
        </p:txBody>
      </p:sp>
      <p:sp>
        <p:nvSpPr>
          <p:cNvPr id="3" name="Espace réservé du contenu 2">
            <a:extLst>
              <a:ext uri="{FF2B5EF4-FFF2-40B4-BE49-F238E27FC236}">
                <a16:creationId xmlns:a16="http://schemas.microsoft.com/office/drawing/2014/main" id="{7B490A9E-3206-470B-B453-FD6AB1222FA3}"/>
              </a:ext>
            </a:extLst>
          </p:cNvPr>
          <p:cNvSpPr>
            <a:spLocks noGrp="1"/>
          </p:cNvSpPr>
          <p:nvPr>
            <p:ph idx="1"/>
          </p:nvPr>
        </p:nvSpPr>
        <p:spPr>
          <a:xfrm>
            <a:off x="-1" y="1489656"/>
            <a:ext cx="12101847" cy="4100290"/>
          </a:xfrm>
        </p:spPr>
        <p:txBody>
          <a:bodyPr>
            <a:noAutofit/>
          </a:bodyPr>
          <a:lstStyle/>
          <a:p>
            <a:pPr marL="457200" lvl="1" indent="0" algn="just">
              <a:lnSpc>
                <a:spcPct val="100000"/>
              </a:lnSpc>
              <a:spcAft>
                <a:spcPts val="1000"/>
              </a:spcAft>
              <a:buNone/>
              <a:tabLst>
                <a:tab pos="457200" algn="l"/>
              </a:tabLst>
            </a:pPr>
            <a:r>
              <a:rPr lang="fr-FR" sz="2800" b="1" dirty="0">
                <a:effectLst/>
                <a:latin typeface="Arial Black" panose="020B0A04020102020204" pitchFamily="34" charset="0"/>
                <a:ea typeface="Times New Roman" panose="02020603050405020304" pitchFamily="18" charset="0"/>
                <a:cs typeface="Arial" panose="020B0604020202020204" pitchFamily="34" charset="0"/>
              </a:rPr>
              <a:t>3-2 Les variations pathologiques</a:t>
            </a:r>
            <a:endParaRPr lang="fr-FR" sz="28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00000"/>
              </a:lnSpc>
              <a:spcAft>
                <a:spcPts val="1000"/>
              </a:spcAft>
              <a:buNone/>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Elles sont de deux natures :</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00000"/>
              </a:lnSpc>
              <a:spcAft>
                <a:spcPts val="1000"/>
              </a:spcAft>
              <a:buFont typeface="Verdana" panose="020B0604030504040204" pitchFamily="34"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l’hyperthermie ou l’</a:t>
            </a:r>
            <a:r>
              <a:rPr lang="fr-FR" dirty="0" err="1">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hyperpyrexie</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a:t>
            </a:r>
            <a:r>
              <a:rPr lang="fr-FR" dirty="0">
                <a:solidFill>
                  <a:srgbClr val="000000"/>
                </a:solidFill>
                <a:latin typeface="Arial Black" panose="020B0A04020102020204" pitchFamily="34" charset="0"/>
                <a:ea typeface="Times New Roman" panose="02020603050405020304" pitchFamily="18" charset="0"/>
                <a:cs typeface="Arial" panose="020B0604020202020204" pitchFamily="34" charset="0"/>
              </a:rPr>
              <a:t>=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élévation de la température au dessus de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37,5°C.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le cas dans le paludisme ; </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lnSpc>
                <a:spcPct val="100000"/>
              </a:lnSpc>
              <a:buNone/>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l’hypothermie ou l’</a:t>
            </a:r>
            <a:r>
              <a:rPr lang="fr-FR" dirty="0" err="1">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hypopyrexie</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 baisse de la température en dessous de 36°C. C’est le cas dans le choléra</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162522110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E10914-A139-45C3-A220-74C7BDD27B57}"/>
              </a:ext>
            </a:extLst>
          </p:cNvPr>
          <p:cNvSpPr>
            <a:spLocks noGrp="1"/>
          </p:cNvSpPr>
          <p:nvPr>
            <p:ph type="title"/>
          </p:nvPr>
        </p:nvSpPr>
        <p:spPr>
          <a:xfrm>
            <a:off x="1013138" y="0"/>
            <a:ext cx="11178862" cy="1175429"/>
          </a:xfrm>
        </p:spPr>
        <p:txBody>
          <a:bodyPr/>
          <a:lstStyle/>
          <a:p>
            <a:r>
              <a:rPr lang="fr-FR" sz="2400" b="1" dirty="0">
                <a:solidFill>
                  <a:srgbClr val="FF0000"/>
                </a:solidFill>
                <a:ea typeface="Times New Roman" panose="02020603050405020304" pitchFamily="18" charset="0"/>
                <a:cs typeface="Arial" panose="020B0604020202020204" pitchFamily="34" charset="0"/>
              </a:rPr>
              <a:t>IV </a:t>
            </a:r>
            <a:r>
              <a:rPr lang="fr-FR" sz="2400" b="1" dirty="0">
                <a:solidFill>
                  <a:srgbClr val="FF0000"/>
                </a:solidFill>
                <a:effectLst/>
                <a:ea typeface="Times New Roman" panose="02020603050405020304" pitchFamily="18" charset="0"/>
                <a:cs typeface="Arial" panose="020B0604020202020204" pitchFamily="34" charset="0"/>
              </a:rPr>
              <a:t>LES DIFFERENTS SITES DE PRISE DE LA TEMPERATURE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3A545C58-AFE4-4CE4-91E1-962E063E590F}"/>
              </a:ext>
            </a:extLst>
          </p:cNvPr>
          <p:cNvSpPr>
            <a:spLocks noGrp="1"/>
          </p:cNvSpPr>
          <p:nvPr>
            <p:ph idx="1"/>
          </p:nvPr>
        </p:nvSpPr>
        <p:spPr>
          <a:xfrm>
            <a:off x="90152" y="1326525"/>
            <a:ext cx="12003110" cy="4907366"/>
          </a:xfrm>
        </p:spPr>
        <p:txBody>
          <a:bodyPr>
            <a:normAutofit fontScale="47500" lnSpcReduction="20000"/>
          </a:bodyPr>
          <a:lstStyle/>
          <a:p>
            <a:pPr marL="0" indent="0" algn="just">
              <a:lnSpc>
                <a:spcPct val="125000"/>
              </a:lnSpc>
              <a:spcAft>
                <a:spcPts val="1000"/>
              </a:spcAft>
              <a:buNone/>
            </a:pPr>
            <a:r>
              <a:rPr lang="fr-FR" sz="8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fr-FR" sz="8000" dirty="0">
                <a:effectLst/>
                <a:latin typeface="Arial Black" panose="020B0A04020102020204" pitchFamily="34" charset="0"/>
                <a:ea typeface="Times New Roman" panose="02020603050405020304" pitchFamily="18" charset="0"/>
                <a:cs typeface="Arial" panose="020B0604020202020204" pitchFamily="34" charset="0"/>
              </a:rPr>
              <a:t>Dans les cavités </a:t>
            </a:r>
            <a:r>
              <a:rPr lang="fr-FR" sz="8000" dirty="0" smtClean="0">
                <a:effectLst/>
                <a:latin typeface="Arial Black" panose="020B0A04020102020204" pitchFamily="34" charset="0"/>
                <a:ea typeface="Times New Roman" panose="02020603050405020304" pitchFamily="18" charset="0"/>
                <a:cs typeface="Arial" panose="020B0604020202020204" pitchFamily="34" charset="0"/>
              </a:rPr>
              <a:t>naturelles:</a:t>
            </a:r>
            <a:endParaRPr lang="fr-FR" sz="80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Verdana" panose="020B0604030504040204" pitchFamily="34" charset="0"/>
              <a:buChar char="-"/>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rectum</a:t>
            </a:r>
            <a:endParaRPr lang="fr-FR" sz="6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Verdana" panose="020B0604030504040204" pitchFamily="34" charset="0"/>
              <a:buChar char="-"/>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vagin</a:t>
            </a:r>
            <a:endParaRPr lang="fr-FR" sz="6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Verdana" panose="020B0604030504040204" pitchFamily="34" charset="0"/>
              <a:buChar char="-"/>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bouche</a:t>
            </a:r>
            <a:endParaRPr lang="fr-FR" sz="6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Verdana" panose="020B0604030504040204" pitchFamily="34" charset="0"/>
              <a:buChar char="-"/>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l’oreille</a:t>
            </a:r>
            <a:endParaRPr lang="fr-FR" sz="62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0000"/>
              </a:lnSpc>
              <a:spcAft>
                <a:spcPts val="1000"/>
              </a:spcAft>
              <a:buNone/>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ainsi obtenue est dite température des cavités naturelles</a:t>
            </a:r>
            <a:r>
              <a:rPr lang="fr-FR" sz="6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sz="6200" dirty="0">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371117999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1D8436-7432-4698-9381-E15AB3BF56A7}"/>
              </a:ext>
            </a:extLst>
          </p:cNvPr>
          <p:cNvSpPr>
            <a:spLocks noGrp="1"/>
          </p:cNvSpPr>
          <p:nvPr>
            <p:ph type="title"/>
          </p:nvPr>
        </p:nvSpPr>
        <p:spPr>
          <a:xfrm>
            <a:off x="1429556" y="70318"/>
            <a:ext cx="10100814" cy="264533"/>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76E3421F-6BF1-4D2B-B78E-735D2DA772E9}"/>
              </a:ext>
            </a:extLst>
          </p:cNvPr>
          <p:cNvSpPr>
            <a:spLocks noGrp="1"/>
          </p:cNvSpPr>
          <p:nvPr>
            <p:ph idx="1"/>
          </p:nvPr>
        </p:nvSpPr>
        <p:spPr>
          <a:xfrm>
            <a:off x="180305" y="515155"/>
            <a:ext cx="12011695" cy="5808372"/>
          </a:xfrm>
        </p:spPr>
        <p:txBody>
          <a:bodyPr>
            <a:normAutofit fontScale="25000" lnSpcReduction="20000"/>
          </a:bodyPr>
          <a:lstStyle/>
          <a:p>
            <a:pPr lvl="0" algn="just">
              <a:lnSpc>
                <a:spcPct val="120000"/>
              </a:lnSpc>
              <a:spcAft>
                <a:spcPts val="1000"/>
              </a:spcAft>
              <a:buFont typeface="Wingdings" panose="05000000000000000000" pitchFamily="2" charset="2"/>
              <a:buChar char="v"/>
            </a:pPr>
            <a:r>
              <a:rPr lang="fr-FR" sz="112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En </a:t>
            </a:r>
            <a:r>
              <a:rPr lang="fr-FR" sz="11200" b="1"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surface du corps:</a:t>
            </a:r>
          </a:p>
          <a:p>
            <a:pPr marL="342900" lvl="0" indent="-342900" algn="just">
              <a:lnSpc>
                <a:spcPct val="120000"/>
              </a:lnSpc>
              <a:spcAft>
                <a:spcPts val="1000"/>
              </a:spcAft>
              <a:buFont typeface="Verdana" panose="020B0604030504040204" pitchFamily="34"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front</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creux axillaire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région sous mammaire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région inguinale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pli du coude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creux du genou</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0000"/>
              </a:lnSpc>
              <a:spcAft>
                <a:spcPts val="1000"/>
              </a:spcAft>
              <a:buNone/>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ainsi obtenue est dite température des surfaces cutanées</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endParaRPr lang="fr-FR" dirty="0"/>
          </a:p>
        </p:txBody>
      </p:sp>
    </p:spTree>
    <p:extLst>
      <p:ext uri="{BB962C8B-B14F-4D97-AF65-F5344CB8AC3E}">
        <p14:creationId xmlns:p14="http://schemas.microsoft.com/office/powerpoint/2010/main" val="140088962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007568-572E-4688-B7DC-C8A1A01A1E8A}"/>
              </a:ext>
            </a:extLst>
          </p:cNvPr>
          <p:cNvSpPr>
            <a:spLocks noGrp="1"/>
          </p:cNvSpPr>
          <p:nvPr>
            <p:ph type="title"/>
          </p:nvPr>
        </p:nvSpPr>
        <p:spPr>
          <a:xfrm>
            <a:off x="1429555" y="96076"/>
            <a:ext cx="9984905" cy="882718"/>
          </a:xfrm>
        </p:spPr>
        <p:txBody>
          <a:bodyPr>
            <a:normAutofit fontScale="90000"/>
          </a:bodyPr>
          <a:lstStyle/>
          <a:p>
            <a:r>
              <a:rPr lang="fr-FR" sz="3100" b="1" dirty="0">
                <a:solidFill>
                  <a:srgbClr val="FF0000"/>
                </a:solidFill>
                <a:effectLst/>
                <a:ea typeface="Times New Roman" panose="02020603050405020304" pitchFamily="18" charset="0"/>
                <a:cs typeface="Times New Roman" panose="02020603050405020304" pitchFamily="18" charset="0"/>
              </a:rPr>
              <a:t>V- LES TECHNIQUES DE PRISE DE TEMPERATURE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BE413C5A-E6E8-4918-8A7B-5ABE586FDDAF}"/>
              </a:ext>
            </a:extLst>
          </p:cNvPr>
          <p:cNvSpPr>
            <a:spLocks noGrp="1"/>
          </p:cNvSpPr>
          <p:nvPr>
            <p:ph idx="1"/>
          </p:nvPr>
        </p:nvSpPr>
        <p:spPr>
          <a:xfrm>
            <a:off x="0" y="792657"/>
            <a:ext cx="12192000" cy="5569505"/>
          </a:xfrm>
        </p:spPr>
        <p:txBody>
          <a:bodyPr>
            <a:normAutofit fontScale="25000" lnSpcReduction="20000"/>
          </a:bodyPr>
          <a:lstStyle/>
          <a:p>
            <a:pPr marL="457200" lvl="1" indent="0" algn="just">
              <a:lnSpc>
                <a:spcPct val="125000"/>
              </a:lnSpc>
              <a:spcAft>
                <a:spcPts val="1000"/>
              </a:spcAft>
              <a:buNone/>
              <a:tabLst>
                <a:tab pos="457200" algn="l"/>
              </a:tabLst>
            </a:pPr>
            <a:r>
              <a:rPr lang="fr-FR" sz="128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5-1 </a:t>
            </a:r>
            <a:r>
              <a:rPr lang="fr-FR" sz="12800" b="1"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a:t>
            </a:r>
            <a:r>
              <a:rPr lang="fr-FR" sz="128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axillaire </a:t>
            </a:r>
            <a:r>
              <a:rPr lang="fr-FR" sz="128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(1/2)</a:t>
            </a:r>
            <a:endParaRPr lang="fr-FR" sz="128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lvl="0" indent="0" algn="just">
              <a:lnSpc>
                <a:spcPct val="120000"/>
              </a:lnSpc>
              <a:spcAft>
                <a:spcPts val="1000"/>
              </a:spcAft>
              <a:buNone/>
            </a:pP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Si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un thermomètre  médical  à mercure, faire descendre le mercure dans la cuvette en le secouant ; </a:t>
            </a:r>
            <a:endPar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0" lvl="0" indent="0" algn="just">
              <a:lnSpc>
                <a:spcPct val="120000"/>
              </a:lnSpc>
              <a:spcAft>
                <a:spcPts val="1000"/>
              </a:spcAft>
              <a:buNone/>
            </a:pP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Si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un thermomètre </a:t>
            </a: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électronique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a:t>
            </a: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mettre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à </a:t>
            </a: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zéro</a:t>
            </a:r>
            <a:endParaRPr lang="fr-FR" sz="104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0400" dirty="0">
                <a:solidFill>
                  <a:srgbClr val="000000"/>
                </a:solidFill>
                <a:latin typeface="Arial Black" panose="020B0A04020102020204" pitchFamily="34" charset="0"/>
                <a:ea typeface="Times New Roman" panose="02020603050405020304" pitchFamily="18" charset="0"/>
                <a:cs typeface="Arial" panose="020B0604020202020204" pitchFamily="34" charset="0"/>
              </a:rPr>
              <a:t>t</a:t>
            </a: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amponner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l’aisselle avec du coton ou une compresse pour enlever la sueur,</a:t>
            </a:r>
            <a:endParaRPr lang="fr-FR" sz="104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installer le malade (coucher sur le dos ou sur le côté), </a:t>
            </a:r>
            <a:endParaRPr lang="fr-FR" sz="104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placer la cuvette du thermomètre au creux de l’aisselle et serrer le bras sur le thermomètre contre le thorax</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endParaRPr lang="fr-FR" dirty="0"/>
          </a:p>
        </p:txBody>
      </p:sp>
    </p:spTree>
    <p:extLst>
      <p:ext uri="{BB962C8B-B14F-4D97-AF65-F5344CB8AC3E}">
        <p14:creationId xmlns:p14="http://schemas.microsoft.com/office/powerpoint/2010/main" val="56413332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B2473-C518-4882-AE09-D3C2F89FC642}"/>
              </a:ext>
            </a:extLst>
          </p:cNvPr>
          <p:cNvSpPr>
            <a:spLocks noGrp="1"/>
          </p:cNvSpPr>
          <p:nvPr>
            <p:ph type="title"/>
          </p:nvPr>
        </p:nvSpPr>
        <p:spPr>
          <a:xfrm>
            <a:off x="2592925" y="31682"/>
            <a:ext cx="8911687" cy="354684"/>
          </a:xfrm>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EFFB5F6F-99D1-4FA8-AC70-6EC4FA6BEC7F}"/>
              </a:ext>
            </a:extLst>
          </p:cNvPr>
          <p:cNvSpPr>
            <a:spLocks noGrp="1"/>
          </p:cNvSpPr>
          <p:nvPr>
            <p:ph idx="1"/>
          </p:nvPr>
        </p:nvSpPr>
        <p:spPr>
          <a:xfrm>
            <a:off x="-1" y="1222420"/>
            <a:ext cx="11990231" cy="4328890"/>
          </a:xfrm>
        </p:spPr>
        <p:txBody>
          <a:bodyPr>
            <a:normAutofit fontScale="25000" lnSpcReduction="20000"/>
          </a:bodyPr>
          <a:lstStyle/>
          <a:p>
            <a:pPr marL="342900" indent="-342900" algn="just">
              <a:lnSpc>
                <a:spcPct val="120000"/>
              </a:lnSpc>
              <a:spcAft>
                <a:spcPts val="1000"/>
              </a:spcAft>
              <a:buFont typeface="Stencil" panose="040409050D0802020404" pitchFamily="82" charset="0"/>
              <a:buChar char="-"/>
            </a:pPr>
            <a:r>
              <a:rPr lang="fr-FR" sz="11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(2/2</a:t>
            </a:r>
            <a:r>
              <a:rPr lang="fr-FR" sz="11200"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endParaRPr lang="fr-FR" sz="11200" dirty="0">
              <a:solidFill>
                <a:srgbClr val="FF0000"/>
              </a:solidFill>
              <a:latin typeface="Arial Black" panose="020B0A04020102020204" pitchFamily="34" charset="0"/>
              <a:ea typeface="Times New Roman" panose="02020603050405020304" pitchFamily="18" charset="0"/>
              <a:cs typeface="Arial" panose="020B0604020202020204" pitchFamily="34" charset="0"/>
            </a:endParaRPr>
          </a:p>
          <a:p>
            <a:pPr marL="0" lvl="0" indent="0" algn="just">
              <a:lnSpc>
                <a:spcPct val="120000"/>
              </a:lnSpc>
              <a:spcAft>
                <a:spcPts val="1000"/>
              </a:spcAft>
              <a:buNone/>
            </a:pPr>
            <a:r>
              <a:rPr lang="fr-FR" sz="11200" dirty="0" smtClean="0">
                <a:solidFill>
                  <a:srgbClr val="000000"/>
                </a:solidFill>
                <a:latin typeface="Arial Black" panose="020B0A04020102020204" pitchFamily="34" charset="0"/>
                <a:ea typeface="Times New Roman" panose="02020603050405020304" pitchFamily="18" charset="0"/>
                <a:cs typeface="Arial" panose="020B0604020202020204" pitchFamily="34" charset="0"/>
              </a:rPr>
              <a:t>-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retirer </a:t>
            </a: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thermomètre au bout de 5 à 10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minutes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lire la température en inclinant de profil le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thermomètre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Ajouter 5/10</a:t>
            </a:r>
            <a:r>
              <a:rPr lang="fr-FR" sz="11200" baseline="30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ème</a:t>
            </a: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de degré pour obtenir la température des cavités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naturelles</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noter avec </a:t>
            </a:r>
            <a:r>
              <a:rPr lang="fr-FR" sz="112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un stylo bleu </a:t>
            </a: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sur la feuille de température ou la feuille de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surveillance</a:t>
            </a:r>
            <a:endParaRPr lang="fr-FR" sz="11200" dirty="0">
              <a:effectLst/>
              <a:latin typeface="Arial Black" panose="020B0A04020102020204" pitchFamily="34"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65537758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685CCA-1F29-4EB9-9719-95028E87A9B7}"/>
              </a:ext>
            </a:extLst>
          </p:cNvPr>
          <p:cNvSpPr>
            <a:spLocks noGrp="1"/>
          </p:cNvSpPr>
          <p:nvPr>
            <p:ph type="title"/>
          </p:nvPr>
        </p:nvSpPr>
        <p:spPr>
          <a:xfrm>
            <a:off x="1519707" y="44561"/>
            <a:ext cx="9984905" cy="1280890"/>
          </a:xfrm>
        </p:spPr>
        <p:txBody>
          <a:bodyPr/>
          <a:lstStyle/>
          <a:p>
            <a:endParaRPr lang="fr-FR"/>
          </a:p>
        </p:txBody>
      </p:sp>
      <p:sp>
        <p:nvSpPr>
          <p:cNvPr id="3" name="Espace réservé du contenu 2">
            <a:extLst>
              <a:ext uri="{FF2B5EF4-FFF2-40B4-BE49-F238E27FC236}">
                <a16:creationId xmlns:a16="http://schemas.microsoft.com/office/drawing/2014/main" id="{07D0E0CD-1739-44DE-ADBF-AFBB53E966E6}"/>
              </a:ext>
            </a:extLst>
          </p:cNvPr>
          <p:cNvSpPr>
            <a:spLocks noGrp="1"/>
          </p:cNvSpPr>
          <p:nvPr>
            <p:ph idx="1"/>
          </p:nvPr>
        </p:nvSpPr>
        <p:spPr>
          <a:xfrm>
            <a:off x="231820" y="1325451"/>
            <a:ext cx="11272792" cy="3777622"/>
          </a:xfrm>
        </p:spPr>
        <p:txBody>
          <a:bodyPr>
            <a:normAutofit/>
          </a:bodyPr>
          <a:lstStyle/>
          <a:p>
            <a:pPr marL="0" indent="0">
              <a:buNone/>
            </a:pPr>
            <a:r>
              <a:rPr lang="fr-FR"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Contre-indications</a:t>
            </a:r>
            <a:r>
              <a:rPr lang="fr-FR" b="1" dirty="0">
                <a:solidFill>
                  <a:srgbClr val="000000"/>
                </a:solidFill>
                <a:effectLst/>
                <a:latin typeface="Arial Black" panose="020B0A04020102020204" pitchFamily="34" charset="0"/>
                <a:ea typeface="Times New Roman" panose="02020603050405020304" pitchFamily="18" charset="0"/>
              </a:rPr>
              <a:t> </a:t>
            </a:r>
            <a:r>
              <a:rPr lang="fr-FR" dirty="0">
                <a:solidFill>
                  <a:srgbClr val="000000"/>
                </a:solidFill>
                <a:effectLst/>
                <a:latin typeface="Arial Black" panose="020B0A04020102020204" pitchFamily="34" charset="0"/>
                <a:ea typeface="Times New Roman" panose="02020603050405020304" pitchFamily="18" charset="0"/>
              </a:rPr>
              <a:t>:</a:t>
            </a:r>
          </a:p>
          <a:p>
            <a:pPr>
              <a:buFont typeface="Wingdings" panose="05000000000000000000" pitchFamily="2" charset="2"/>
              <a:buChar char="ü"/>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personnes maigres </a:t>
            </a:r>
          </a:p>
          <a:p>
            <a:pPr>
              <a:buFont typeface="Wingdings" panose="05000000000000000000" pitchFamily="2" charset="2"/>
              <a:buChar char="ü"/>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nouveau-nés</a:t>
            </a:r>
          </a:p>
          <a:p>
            <a:pPr>
              <a:buFont typeface="Wingdings" panose="05000000000000000000" pitchFamily="2" charset="2"/>
              <a:buChar char="ü"/>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enfants</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107127378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9B9BF8-7AD7-4641-95FB-1A799011D829}"/>
              </a:ext>
            </a:extLst>
          </p:cNvPr>
          <p:cNvSpPr>
            <a:spLocks noGrp="1"/>
          </p:cNvSpPr>
          <p:nvPr>
            <p:ph type="title"/>
          </p:nvPr>
        </p:nvSpPr>
        <p:spPr>
          <a:xfrm>
            <a:off x="1390919" y="70318"/>
            <a:ext cx="10113694" cy="612262"/>
          </a:xfrm>
        </p:spPr>
        <p:txBody>
          <a:bodyPr/>
          <a:lstStyle/>
          <a:p>
            <a:endParaRPr lang="fr-FR" dirty="0"/>
          </a:p>
        </p:txBody>
      </p:sp>
      <p:sp>
        <p:nvSpPr>
          <p:cNvPr id="3" name="Espace réservé du contenu 2">
            <a:extLst>
              <a:ext uri="{FF2B5EF4-FFF2-40B4-BE49-F238E27FC236}">
                <a16:creationId xmlns:a16="http://schemas.microsoft.com/office/drawing/2014/main" id="{EF4A32AA-AC92-472F-AE38-64DA815B3B1A}"/>
              </a:ext>
            </a:extLst>
          </p:cNvPr>
          <p:cNvSpPr>
            <a:spLocks noGrp="1"/>
          </p:cNvSpPr>
          <p:nvPr>
            <p:ph idx="1"/>
          </p:nvPr>
        </p:nvSpPr>
        <p:spPr>
          <a:xfrm>
            <a:off x="0" y="682580"/>
            <a:ext cx="12192000" cy="5293218"/>
          </a:xfrm>
        </p:spPr>
        <p:txBody>
          <a:bodyPr>
            <a:noAutofit/>
          </a:bodyPr>
          <a:lstStyle/>
          <a:p>
            <a:pPr marL="457200" lvl="1" indent="0" algn="just">
              <a:lnSpc>
                <a:spcPct val="125000"/>
              </a:lnSpc>
              <a:spcAft>
                <a:spcPts val="1000"/>
              </a:spcAft>
              <a:buNone/>
              <a:tabLst>
                <a:tab pos="457200" algn="l"/>
              </a:tabLst>
            </a:pPr>
            <a:r>
              <a:rPr lang="fr-FR" sz="28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5- </a:t>
            </a:r>
            <a:r>
              <a:rPr lang="fr-FR" sz="2800" b="1"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2 La température </a:t>
            </a:r>
            <a:r>
              <a:rPr lang="fr-FR" sz="28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rectale </a:t>
            </a:r>
            <a:r>
              <a:rPr lang="fr-FR" sz="3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r>
              <a:rPr lang="fr-FR" sz="3200"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1/2</a:t>
            </a:r>
            <a:r>
              <a:rPr lang="fr-FR" sz="3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endParaRPr lang="fr-FR" sz="2800" b="1"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dirty="0" smtClean="0">
                <a:solidFill>
                  <a:srgbClr val="000000"/>
                </a:solidFill>
                <a:latin typeface="Arial Black" panose="020B0A04020102020204" pitchFamily="34" charset="0"/>
                <a:ea typeface="Times New Roman" panose="02020603050405020304" pitchFamily="18" charset="0"/>
                <a:cs typeface="Arial" panose="020B0604020202020204" pitchFamily="34" charset="0"/>
              </a:rPr>
              <a:t>S’</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assurer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qu’il n’a pas envie d’aller à la selle en ce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moment</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installer le malade sur le côté, la cuisse supérieure légèrement repliée sur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l’abdomen</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lvl="0" indent="0" algn="just">
              <a:lnSpc>
                <a:spcPct val="115000"/>
              </a:lnSpc>
              <a:spcAft>
                <a:spcPts val="1000"/>
              </a:spcAft>
              <a:buNone/>
            </a:pP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Si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le thermomètre médical faire descendre le mercure dans la cuvette en le secouant, si c’est un thermomètre électronique le mettre à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zéro</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lubrifier légèrement le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thermomètre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5139329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F7E319-6014-4A67-89CF-29DCC4EF6C3B}"/>
              </a:ext>
            </a:extLst>
          </p:cNvPr>
          <p:cNvSpPr>
            <a:spLocks noGrp="1"/>
          </p:cNvSpPr>
          <p:nvPr>
            <p:ph type="title"/>
          </p:nvPr>
        </p:nvSpPr>
        <p:spPr>
          <a:xfrm>
            <a:off x="2605803" y="0"/>
            <a:ext cx="8911687" cy="592428"/>
          </a:xfrm>
        </p:spPr>
        <p:txBody>
          <a:bodyPr/>
          <a:lstStyle/>
          <a:p>
            <a:endParaRPr lang="fr-FR"/>
          </a:p>
        </p:txBody>
      </p:sp>
      <p:sp>
        <p:nvSpPr>
          <p:cNvPr id="3" name="Espace réservé du contenu 2">
            <a:extLst>
              <a:ext uri="{FF2B5EF4-FFF2-40B4-BE49-F238E27FC236}">
                <a16:creationId xmlns:a16="http://schemas.microsoft.com/office/drawing/2014/main" id="{FFBA7F3E-A8EF-4D9C-9530-901013115465}"/>
              </a:ext>
            </a:extLst>
          </p:cNvPr>
          <p:cNvSpPr>
            <a:spLocks noGrp="1"/>
          </p:cNvSpPr>
          <p:nvPr>
            <p:ph idx="1"/>
          </p:nvPr>
        </p:nvSpPr>
        <p:spPr>
          <a:xfrm>
            <a:off x="0" y="721217"/>
            <a:ext cx="12041746" cy="5215943"/>
          </a:xfrm>
        </p:spPr>
        <p:txBody>
          <a:bodyPr>
            <a:normAutofit fontScale="25000" lnSpcReduction="20000"/>
          </a:bodyPr>
          <a:lstStyle/>
          <a:p>
            <a:pPr marL="342900" indent="-342900" algn="just">
              <a:lnSpc>
                <a:spcPct val="115000"/>
              </a:lnSpc>
              <a:spcAft>
                <a:spcPts val="1000"/>
              </a:spcAft>
              <a:buFont typeface="Stencil" panose="040409050D0802020404" pitchFamily="82" charset="0"/>
              <a:buChar char="-"/>
            </a:pPr>
            <a:r>
              <a:rPr lang="fr-FR" sz="11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(2/2)</a:t>
            </a:r>
            <a:endPar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introduire </a:t>
            </a: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thermomètre dans l’anus et le pousser doucement dans le rectum </a:t>
            </a:r>
            <a:r>
              <a:rPr lang="fr-FR" sz="96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jusqu’à 4 cm </a:t>
            </a: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environ ; </a:t>
            </a:r>
            <a:endParaRPr lang="fr-FR" sz="96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si </a:t>
            </a: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malade sait le placer laisser le faire sous votre surveillance,</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laisser le thermomètre en place pendant 3 minutes,</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essuyer le tube de verre s’il est salle avec du coton imbibé d’eau savonneuse ou un antiseptique (dakin),</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lire la température en inclinant de profil le thermomètre,</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noter avec </a:t>
            </a:r>
            <a:r>
              <a:rPr lang="fr-FR" sz="96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un stylo bleu </a:t>
            </a: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sur la feuille de température ou la feuille de surveillance</a:t>
            </a:r>
            <a:endParaRPr lang="fr-FR" sz="9600" dirty="0">
              <a:latin typeface="Arial Black" panose="020B0A0402010202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266342274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C8086B-4371-4322-AD0B-FED0F24B3F87}"/>
              </a:ext>
            </a:extLst>
          </p:cNvPr>
          <p:cNvSpPr>
            <a:spLocks noGrp="1"/>
          </p:cNvSpPr>
          <p:nvPr>
            <p:ph type="title"/>
          </p:nvPr>
        </p:nvSpPr>
        <p:spPr>
          <a:xfrm>
            <a:off x="824248" y="18803"/>
            <a:ext cx="10693243" cy="638020"/>
          </a:xfrm>
        </p:spPr>
        <p:txBody>
          <a:bodyPr/>
          <a:lstStyle/>
          <a:p>
            <a:endParaRPr lang="fr-FR"/>
          </a:p>
        </p:txBody>
      </p:sp>
      <p:sp>
        <p:nvSpPr>
          <p:cNvPr id="3" name="Espace réservé du contenu 2">
            <a:extLst>
              <a:ext uri="{FF2B5EF4-FFF2-40B4-BE49-F238E27FC236}">
                <a16:creationId xmlns:a16="http://schemas.microsoft.com/office/drawing/2014/main" id="{900AE4D0-3767-4325-9311-0413FCBCA196}"/>
              </a:ext>
            </a:extLst>
          </p:cNvPr>
          <p:cNvSpPr>
            <a:spLocks noGrp="1"/>
          </p:cNvSpPr>
          <p:nvPr>
            <p:ph idx="1"/>
          </p:nvPr>
        </p:nvSpPr>
        <p:spPr>
          <a:xfrm>
            <a:off x="0" y="1270716"/>
            <a:ext cx="12192000" cy="4100290"/>
          </a:xfrm>
        </p:spPr>
        <p:txBody>
          <a:bodyPr>
            <a:normAutofit/>
          </a:bodyPr>
          <a:lstStyle/>
          <a:p>
            <a:pPr marL="0" indent="0" algn="just">
              <a:lnSpc>
                <a:spcPct val="125000"/>
              </a:lnSpc>
              <a:spcAft>
                <a:spcPts val="1000"/>
              </a:spcAft>
              <a:buNone/>
            </a:pP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Contre-indications </a:t>
            </a:r>
          </a:p>
          <a:p>
            <a:pPr marL="342900" lvl="0" indent="-342900" algn="just">
              <a:lnSpc>
                <a:spcPct val="12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Abcès de la région anale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Infection intestinale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Etranglement hémorroïdaire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Intervention sur le rectum</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97422825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B38AB9-84EC-45AA-BE4C-7BC977965B7D}"/>
              </a:ext>
            </a:extLst>
          </p:cNvPr>
          <p:cNvSpPr>
            <a:spLocks noGrp="1"/>
          </p:cNvSpPr>
          <p:nvPr>
            <p:ph type="title"/>
          </p:nvPr>
        </p:nvSpPr>
        <p:spPr>
          <a:xfrm>
            <a:off x="1416677" y="0"/>
            <a:ext cx="10062178" cy="734096"/>
          </a:xfrm>
        </p:spPr>
        <p:txBody>
          <a:bodyPr>
            <a:normAutofit fontScale="90000"/>
          </a:bodyPr>
          <a:lstStyle/>
          <a:p>
            <a:r>
              <a:rPr lang="fr-FR" sz="3100" b="1" dirty="0">
                <a:solidFill>
                  <a:srgbClr val="000000"/>
                </a:solidFill>
                <a:effectLst/>
                <a:ea typeface="Times New Roman" panose="02020603050405020304" pitchFamily="18" charset="0"/>
                <a:cs typeface="Arial" panose="020B0604020202020204" pitchFamily="34" charset="0"/>
              </a:rPr>
              <a:t>La température buccale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744EA926-3336-4045-9B11-7ABD411869A5}"/>
              </a:ext>
            </a:extLst>
          </p:cNvPr>
          <p:cNvSpPr>
            <a:spLocks noGrp="1"/>
          </p:cNvSpPr>
          <p:nvPr>
            <p:ph idx="1"/>
          </p:nvPr>
        </p:nvSpPr>
        <p:spPr>
          <a:xfrm>
            <a:off x="120770" y="1165659"/>
            <a:ext cx="12071230" cy="4836411"/>
          </a:xfrm>
        </p:spPr>
        <p:txBody>
          <a:bodyPr>
            <a:noAutofit/>
          </a:bodyPr>
          <a:lstStyle/>
          <a:p>
            <a:pPr marL="800100" lvl="1" indent="-342900" algn="just">
              <a:lnSpc>
                <a:spcPct val="125000"/>
              </a:lnSpc>
              <a:spcAft>
                <a:spcPts val="1000"/>
              </a:spcAft>
              <a:buFont typeface="Wingdings" panose="05000000000000000000" pitchFamily="2" charset="2"/>
              <a:buChar char="v"/>
              <a:tabLst>
                <a:tab pos="457200" algn="l"/>
              </a:tabLs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Thermomètre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sucette </a:t>
            </a:r>
            <a:r>
              <a:rPr lang="fr-FR" sz="3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r>
              <a:rPr lang="fr-FR" sz="3200"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1/2</a:t>
            </a:r>
            <a:r>
              <a:rPr lang="fr-FR" sz="3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228606" indent="0" algn="just">
              <a:lnSpc>
                <a:spcPct val="120000"/>
              </a:lnSpc>
              <a:spcAft>
                <a:spcPts val="1000"/>
              </a:spcAft>
              <a:buNone/>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Surtout avec le thermomètre électronique à cause des accidents qui peuvent survenir avec le mercure. </a:t>
            </a:r>
            <a:endPar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228606" indent="0" algn="just">
              <a:lnSpc>
                <a:spcPct val="120000"/>
              </a:lnSpc>
              <a:spcAft>
                <a:spcPts val="1000"/>
              </a:spcAft>
              <a:buNone/>
            </a:pP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Il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ne doit pas se prendre immédiatement après le repas ou après la prise d’une boisson chaude ou froide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malade peut rester assis ou couché </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mettre le thermomètre à zéro</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01000182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8691B7-3044-4100-A145-F62135543C31}"/>
              </a:ext>
            </a:extLst>
          </p:cNvPr>
          <p:cNvSpPr>
            <a:spLocks noGrp="1"/>
          </p:cNvSpPr>
          <p:nvPr>
            <p:ph type="title"/>
          </p:nvPr>
        </p:nvSpPr>
        <p:spPr>
          <a:xfrm>
            <a:off x="1390918" y="0"/>
            <a:ext cx="10113694" cy="522110"/>
          </a:xfrm>
        </p:spPr>
        <p:txBody>
          <a:bodyPr/>
          <a:lstStyle/>
          <a:p>
            <a:endParaRPr lang="fr-FR" dirty="0"/>
          </a:p>
        </p:txBody>
      </p:sp>
      <p:sp>
        <p:nvSpPr>
          <p:cNvPr id="3" name="Espace réservé du contenu 2">
            <a:extLst>
              <a:ext uri="{FF2B5EF4-FFF2-40B4-BE49-F238E27FC236}">
                <a16:creationId xmlns:a16="http://schemas.microsoft.com/office/drawing/2014/main" id="{FE091EC1-FE03-4D76-AC4E-EE4BAF06834E}"/>
              </a:ext>
            </a:extLst>
          </p:cNvPr>
          <p:cNvSpPr>
            <a:spLocks noGrp="1"/>
          </p:cNvSpPr>
          <p:nvPr>
            <p:ph idx="1"/>
          </p:nvPr>
        </p:nvSpPr>
        <p:spPr>
          <a:xfrm>
            <a:off x="128789" y="1193442"/>
            <a:ext cx="11951593" cy="5207357"/>
          </a:xfrm>
        </p:spPr>
        <p:txBody>
          <a:bodyPr>
            <a:normAutofit fontScale="47500" lnSpcReduction="20000"/>
          </a:bodyPr>
          <a:lstStyle/>
          <a:p>
            <a:pPr marL="457200" lvl="1" indent="0" algn="just">
              <a:lnSpc>
                <a:spcPct val="125000"/>
              </a:lnSpc>
              <a:spcAft>
                <a:spcPts val="1000"/>
              </a:spcAft>
              <a:buNone/>
              <a:tabLst>
                <a:tab pos="457200" algn="l"/>
              </a:tabLst>
            </a:pPr>
            <a:r>
              <a:rPr lang="fr-FR" sz="58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(2/2)</a:t>
            </a:r>
            <a:endParaRPr lang="fr-FR" sz="40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59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placer </a:t>
            </a: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l’extrémité du thermomètre sous la langue</a:t>
            </a:r>
            <a:endParaRPr lang="fr-FR" sz="59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malade doit s’abstenir de parler</a:t>
            </a:r>
            <a:endParaRPr lang="fr-FR" sz="59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laisser le thermomètre en place pendant 3 minutes</a:t>
            </a:r>
            <a:endParaRPr lang="fr-FR" sz="59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retirer dès le signal sonore</a:t>
            </a:r>
            <a:endParaRPr lang="fr-FR" sz="5900" dirty="0">
              <a:effectLst/>
              <a:latin typeface="Arial Black" panose="020B0A04020102020204" pitchFamily="34" charset="0"/>
              <a:ea typeface="Times New Roman" panose="02020603050405020304" pitchFamily="18" charset="0"/>
              <a:cs typeface="Arial" panose="020B0604020202020204" pitchFamily="34" charset="0"/>
            </a:endParaRPr>
          </a:p>
          <a:p>
            <a:pPr>
              <a:lnSpc>
                <a:spcPct val="120000"/>
              </a:lnSpc>
            </a:pP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lire la température affichée et la notée avec un </a:t>
            </a:r>
            <a:r>
              <a:rPr lang="fr-FR" sz="59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stylo bleu </a:t>
            </a: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sur la feuille de température ou la feuille de surveillance</a:t>
            </a:r>
            <a:endParaRPr lang="fr-FR" sz="5900" dirty="0">
              <a:latin typeface="Arial Black" panose="020B0A0402010202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393599924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ECAB14-8C56-47BF-8807-F586056268AF}"/>
              </a:ext>
            </a:extLst>
          </p:cNvPr>
          <p:cNvSpPr>
            <a:spLocks noGrp="1"/>
          </p:cNvSpPr>
          <p:nvPr>
            <p:ph type="title"/>
          </p:nvPr>
        </p:nvSpPr>
        <p:spPr>
          <a:xfrm>
            <a:off x="2592925" y="342756"/>
            <a:ext cx="8911687" cy="407521"/>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55EA5CE1-027A-4420-9E3A-AA2D7201798B}"/>
              </a:ext>
            </a:extLst>
          </p:cNvPr>
          <p:cNvSpPr>
            <a:spLocks noGrp="1"/>
          </p:cNvSpPr>
          <p:nvPr>
            <p:ph idx="1"/>
          </p:nvPr>
        </p:nvSpPr>
        <p:spPr>
          <a:xfrm>
            <a:off x="0" y="931984"/>
            <a:ext cx="12025223" cy="5164016"/>
          </a:xfrm>
        </p:spPr>
        <p:txBody>
          <a:bodyPr>
            <a:normAutofit fontScale="25000" lnSpcReduction="20000"/>
          </a:bodyPr>
          <a:lstStyle/>
          <a:p>
            <a:pPr marL="0" indent="0" algn="just">
              <a:lnSpc>
                <a:spcPct val="125000"/>
              </a:lnSpc>
              <a:spcAft>
                <a:spcPts val="1000"/>
              </a:spcAft>
              <a:buNone/>
            </a:pPr>
            <a:r>
              <a:rPr lang="fr-FR" sz="11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Contre indications</a:t>
            </a:r>
            <a:r>
              <a:rPr lang="fr-FR" sz="11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 :</a:t>
            </a:r>
          </a:p>
          <a:p>
            <a:pPr marL="342900" lvl="0" indent="-342900" algn="just">
              <a:lnSpc>
                <a:spcPct val="12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Malade délirant</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Enfant malade atteint de rhinite</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11200" b="1" u="sng"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NB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noter avec un </a:t>
            </a:r>
            <a:r>
              <a:rPr lang="fr-FR" sz="11200" b="1"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stylo bleu </a:t>
            </a:r>
            <a:r>
              <a:rPr lang="fr-FR" sz="11200" b="1"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a:t>
            </a: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sur la feuille de température ou la feuille de surveillance,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nettoyer méticuleusement le thermomètre avec du coton et de l’eau savonneuse ou un antiseptique le sécher et le ranger</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endParaRPr lang="fr-FR" dirty="0"/>
          </a:p>
        </p:txBody>
      </p:sp>
    </p:spTree>
    <p:extLst>
      <p:ext uri="{BB962C8B-B14F-4D97-AF65-F5344CB8AC3E}">
        <p14:creationId xmlns:p14="http://schemas.microsoft.com/office/powerpoint/2010/main" val="8992017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61506F-D8CB-4953-88A8-10B637E3390E}"/>
              </a:ext>
            </a:extLst>
          </p:cNvPr>
          <p:cNvSpPr>
            <a:spLocks noGrp="1"/>
          </p:cNvSpPr>
          <p:nvPr>
            <p:ph type="title"/>
          </p:nvPr>
        </p:nvSpPr>
        <p:spPr>
          <a:xfrm>
            <a:off x="1699846" y="96571"/>
            <a:ext cx="9769597" cy="677152"/>
          </a:xfrm>
        </p:spPr>
        <p:txBody>
          <a:bodyPr/>
          <a:lstStyle/>
          <a:p>
            <a:endParaRPr lang="fr-FR"/>
          </a:p>
        </p:txBody>
      </p:sp>
      <p:sp>
        <p:nvSpPr>
          <p:cNvPr id="3" name="Espace réservé du contenu 2">
            <a:extLst>
              <a:ext uri="{FF2B5EF4-FFF2-40B4-BE49-F238E27FC236}">
                <a16:creationId xmlns:a16="http://schemas.microsoft.com/office/drawing/2014/main" id="{B5140A14-E27C-4E1A-8C85-6B88402A5C9D}"/>
              </a:ext>
            </a:extLst>
          </p:cNvPr>
          <p:cNvSpPr>
            <a:spLocks noGrp="1"/>
          </p:cNvSpPr>
          <p:nvPr>
            <p:ph idx="1"/>
          </p:nvPr>
        </p:nvSpPr>
        <p:spPr>
          <a:xfrm>
            <a:off x="0" y="1307124"/>
            <a:ext cx="12192000" cy="4133490"/>
          </a:xfrm>
        </p:spPr>
        <p:txBody>
          <a:bodyPr>
            <a:normAutofit lnSpcReduction="10000"/>
          </a:bodyPr>
          <a:lstStyle/>
          <a:p>
            <a:pPr algn="just">
              <a:lnSpc>
                <a:spcPct val="11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thermomètre médical doit être individuel pour éviter les contaminations.</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1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Privilégier toujours la voie rectale s’il n’y a pas de contre indications à cette voie.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1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Faire toujours la communication pour le changement de comportement (C.C.C.) et le remercier avant de prendre congé de lui</a:t>
            </a:r>
            <a:r>
              <a:rPr lang="fr-FR"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08623746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634F42-95DC-43F3-977D-3B94F2816CE3}"/>
              </a:ext>
            </a:extLst>
          </p:cNvPr>
          <p:cNvSpPr>
            <a:spLocks noGrp="1"/>
          </p:cNvSpPr>
          <p:nvPr>
            <p:ph type="title"/>
          </p:nvPr>
        </p:nvSpPr>
        <p:spPr>
          <a:xfrm>
            <a:off x="1617786" y="37956"/>
            <a:ext cx="9883114" cy="372352"/>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C1EEE908-A335-4392-B5B4-39877BD78A96}"/>
              </a:ext>
            </a:extLst>
          </p:cNvPr>
          <p:cNvSpPr>
            <a:spLocks noGrp="1"/>
          </p:cNvSpPr>
          <p:nvPr>
            <p:ph idx="1"/>
          </p:nvPr>
        </p:nvSpPr>
        <p:spPr>
          <a:xfrm>
            <a:off x="90073" y="1383323"/>
            <a:ext cx="11972973" cy="3777622"/>
          </a:xfrm>
        </p:spPr>
        <p:txBody>
          <a:bodyPr>
            <a:normAutofit lnSpcReduction="10000"/>
          </a:bodyPr>
          <a:lstStyle/>
          <a:p>
            <a:pPr>
              <a:buFont typeface="Wingdings" panose="05000000000000000000" pitchFamily="2" charset="2"/>
              <a:buChar char="v"/>
            </a:pP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CONCLUSION</a:t>
            </a:r>
            <a:endParaRPr lang="fr-FR" sz="3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15000"/>
              </a:lnSpc>
              <a:spcAft>
                <a:spcPts val="1000"/>
              </a:spcAft>
              <a:buNone/>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est un élément déterminant du diagnostic donc sa prise doit faire l’objet d’une attention particulière. C’est pourquoi, il est important de savoir utiliser le thermomètre et de connaître les différentes techniques de prise de la température</a:t>
            </a:r>
            <a:r>
              <a:rPr lang="fr-FR"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dirty="0">
              <a:effectLst/>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15000"/>
              </a:lnSpc>
              <a:spcAft>
                <a:spcPts val="1000"/>
              </a:spcAft>
              <a:buNone/>
            </a:pPr>
            <a:r>
              <a:rPr lang="fr-FR"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84934123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C9404E-248C-4625-A2C7-E04755DC2E68}"/>
              </a:ext>
            </a:extLst>
          </p:cNvPr>
          <p:cNvSpPr>
            <a:spLocks noGrp="1"/>
          </p:cNvSpPr>
          <p:nvPr>
            <p:ph type="title"/>
          </p:nvPr>
        </p:nvSpPr>
        <p:spPr>
          <a:xfrm>
            <a:off x="2487418" y="0"/>
            <a:ext cx="8911687" cy="1280890"/>
          </a:xfrm>
        </p:spPr>
        <p:txBody>
          <a:bodyPr/>
          <a:lstStyle/>
          <a:p>
            <a:pPr algn="ctr"/>
            <a:r>
              <a:rPr lang="fr-FR" sz="4400" dirty="0">
                <a:solidFill>
                  <a:srgbClr val="FF0000"/>
                </a:solidFill>
                <a:effectLst/>
                <a:ea typeface="Times New Roman" panose="02020603050405020304" pitchFamily="18" charset="0"/>
                <a:cs typeface="Arial" panose="020B0604020202020204" pitchFamily="34" charset="0"/>
              </a:rPr>
              <a:t>LA TEMPERATURE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5D47B7C0-448B-4CCB-BAA4-7491470017EA}"/>
              </a:ext>
            </a:extLst>
          </p:cNvPr>
          <p:cNvSpPr>
            <a:spLocks noGrp="1"/>
          </p:cNvSpPr>
          <p:nvPr>
            <p:ph idx="1"/>
          </p:nvPr>
        </p:nvSpPr>
        <p:spPr>
          <a:xfrm>
            <a:off x="0" y="964367"/>
            <a:ext cx="12109938" cy="4511107"/>
          </a:xfrm>
        </p:spPr>
        <p:txBody>
          <a:bodyPr>
            <a:normAutofit fontScale="92500" lnSpcReduction="20000"/>
          </a:bodyPr>
          <a:lstStyle/>
          <a:p>
            <a:pPr marL="0" indent="0">
              <a:lnSpc>
                <a:spcPct val="125000"/>
              </a:lnSpc>
              <a:spcAft>
                <a:spcPts val="1000"/>
              </a:spcAft>
              <a:buNone/>
            </a:pPr>
            <a:r>
              <a:rPr lang="fr-FR" sz="3200" b="1" dirty="0" smtClean="0">
                <a:effectLst/>
                <a:latin typeface="Arial Black" panose="020B0A04020102020204" pitchFamily="34" charset="0"/>
                <a:ea typeface="Times New Roman" panose="02020603050405020304" pitchFamily="18" charset="0"/>
                <a:cs typeface="Times New Roman" panose="02020603050405020304" pitchFamily="18" charset="0"/>
              </a:rPr>
              <a:t>            INTRODUCTION</a:t>
            </a:r>
            <a:endParaRPr lang="fr-FR" sz="3200" dirty="0">
              <a:effectLst/>
              <a:latin typeface="Arial Black" panose="020B0A04020102020204" pitchFamily="34" charset="0"/>
              <a:ea typeface="Times New Roman" panose="02020603050405020304" pitchFamily="18" charset="0"/>
              <a:cs typeface="Times New Roman" panose="02020603050405020304" pitchFamily="18" charset="0"/>
            </a:endParaRPr>
          </a:p>
          <a:p>
            <a:pPr marL="0" indent="0" algn="just">
              <a:lnSpc>
                <a:spcPct val="125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La température est une grandeur physique qui mesure le degré de chaleur d'un corps ou d'un milieu</a:t>
            </a:r>
            <a:endParaRPr lang="fr-FR" dirty="0">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5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Lorsque deux corps sont placés dans une enceinte adiabatique, le corps le plus chaud cède de la chaleur au corps le plus froid, jusqu'à ce que les deux corps aient la même température (équilibre thermique)</a:t>
            </a:r>
          </a:p>
          <a:p>
            <a:pPr marL="0" indent="0" algn="just">
              <a:lnSpc>
                <a:spcPct val="125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La température se mesure à l’aide d’un thermomètre</a:t>
            </a:r>
          </a:p>
          <a:p>
            <a:pPr marL="0" indent="0" algn="just">
              <a:lnSpc>
                <a:spcPct val="125000"/>
              </a:lnSpc>
              <a:spcAft>
                <a:spcPts val="1000"/>
              </a:spcAft>
              <a:buNone/>
            </a:pPr>
            <a:endParaRPr lang="fr-FR" dirty="0"/>
          </a:p>
        </p:txBody>
      </p:sp>
    </p:spTree>
    <p:extLst>
      <p:ext uri="{BB962C8B-B14F-4D97-AF65-F5344CB8AC3E}">
        <p14:creationId xmlns:p14="http://schemas.microsoft.com/office/powerpoint/2010/main" val="44674278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794715" y="231820"/>
            <a:ext cx="5859888" cy="5988675"/>
          </a:xfrm>
          <a:prstGeom prst="rect">
            <a:avLst/>
          </a:prstGeom>
        </p:spPr>
      </p:pic>
    </p:spTree>
    <p:extLst>
      <p:ext uri="{BB962C8B-B14F-4D97-AF65-F5344CB8AC3E}">
        <p14:creationId xmlns:p14="http://schemas.microsoft.com/office/powerpoint/2010/main" val="36616246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074" y="455366"/>
            <a:ext cx="11924144" cy="5509200"/>
          </a:xfrm>
          <a:prstGeom prst="rect">
            <a:avLst/>
          </a:prstGeom>
        </p:spPr>
        <p:txBody>
          <a:bodyPr wrap="square">
            <a:spAutoFit/>
          </a:bodyPr>
          <a:lstStyle/>
          <a:p>
            <a:r>
              <a:rPr lang="fr-FR" sz="3200" dirty="0" smtClean="0">
                <a:solidFill>
                  <a:srgbClr val="FF0000"/>
                </a:solidFill>
                <a:latin typeface="Arial Black" panose="020B0A04020102020204" pitchFamily="34" charset="0"/>
              </a:rPr>
              <a:t>        I. DEFINITION </a:t>
            </a:r>
            <a:endParaRPr lang="fr-FR" sz="3200" dirty="0">
              <a:solidFill>
                <a:srgbClr val="FF0000"/>
              </a:solidFill>
              <a:latin typeface="Arial Black" panose="020B0A04020102020204" pitchFamily="34" charset="0"/>
            </a:endParaRPr>
          </a:p>
          <a:p>
            <a:r>
              <a:rPr lang="fr-FR" sz="3200" dirty="0">
                <a:latin typeface="Arial Black" panose="020B0A04020102020204" pitchFamily="34" charset="0"/>
              </a:rPr>
              <a:t>La température du corps humain est le degré de chaleur stocké par l’organisme </a:t>
            </a:r>
          </a:p>
          <a:p>
            <a:r>
              <a:rPr lang="fr-FR" sz="3200" dirty="0">
                <a:latin typeface="Arial Black" panose="020B0A04020102020204" pitchFamily="34" charset="0"/>
              </a:rPr>
              <a:t>Elle est soit :</a:t>
            </a:r>
          </a:p>
          <a:p>
            <a:r>
              <a:rPr lang="fr-FR" sz="3200" dirty="0" smtClean="0">
                <a:latin typeface="Arial Black" panose="020B0A04020102020204" pitchFamily="34" charset="0"/>
              </a:rPr>
              <a:t>physiologique: </a:t>
            </a:r>
            <a:r>
              <a:rPr lang="fr-FR" sz="3200" dirty="0">
                <a:latin typeface="Arial Black" panose="020B0A04020102020204" pitchFamily="34" charset="0"/>
              </a:rPr>
              <a:t>normale</a:t>
            </a:r>
          </a:p>
          <a:p>
            <a:r>
              <a:rPr lang="fr-FR" sz="3200" dirty="0" smtClean="0">
                <a:latin typeface="Arial Black" panose="020B0A04020102020204" pitchFamily="34" charset="0"/>
              </a:rPr>
              <a:t>pathologique: </a:t>
            </a:r>
            <a:r>
              <a:rPr lang="fr-FR" sz="3200" dirty="0">
                <a:latin typeface="Arial Black" panose="020B0A04020102020204" pitchFamily="34" charset="0"/>
              </a:rPr>
              <a:t>due à la maladie</a:t>
            </a:r>
          </a:p>
          <a:p>
            <a:r>
              <a:rPr lang="fr-FR" sz="3200" dirty="0">
                <a:latin typeface="Arial Black" panose="020B0A04020102020204" pitchFamily="34" charset="0"/>
              </a:rPr>
              <a:t>La température se mesure à l’aide d’un thermomètre médical et s’exprime en degré Celsius (°c)</a:t>
            </a:r>
          </a:p>
          <a:p>
            <a:r>
              <a:rPr lang="fr-FR" sz="3200" dirty="0">
                <a:latin typeface="Arial Black" panose="020B0A04020102020204" pitchFamily="34" charset="0"/>
              </a:rPr>
              <a:t>La température normale au repos se situe entre 36,5°C et 37 °C le matin et entre 37°C et 37°5 le soir</a:t>
            </a:r>
          </a:p>
        </p:txBody>
      </p:sp>
    </p:spTree>
    <p:extLst>
      <p:ext uri="{BB962C8B-B14F-4D97-AF65-F5344CB8AC3E}">
        <p14:creationId xmlns:p14="http://schemas.microsoft.com/office/powerpoint/2010/main" val="5382160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75125"/>
            <a:ext cx="11951855" cy="3756285"/>
          </a:xfrm>
          <a:prstGeom prst="rect">
            <a:avLst/>
          </a:prstGeom>
        </p:spPr>
        <p:txBody>
          <a:bodyPr wrap="square">
            <a:spAutoFit/>
          </a:bodyPr>
          <a:lstStyle/>
          <a:p>
            <a:pPr lvl="3" algn="just">
              <a:lnSpc>
                <a:spcPct val="125000"/>
              </a:lnSpc>
              <a:spcAft>
                <a:spcPts val="1000"/>
              </a:spcAft>
            </a:pPr>
            <a:r>
              <a:rPr lang="fr-FR" sz="36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2. Les </a:t>
            </a:r>
            <a:r>
              <a:rPr lang="fr-FR" sz="3600"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variations pathologiques</a:t>
            </a:r>
            <a:endParaRPr lang="fr-FR" sz="3600" dirty="0">
              <a:solidFill>
                <a:srgbClr val="FF0000"/>
              </a:solidFill>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Times New Roman" panose="02020603050405020304" pitchFamily="18" charset="0"/>
              <a:buChar char="-"/>
              <a:tabLst>
                <a:tab pos="457200" algn="l"/>
              </a:tabLst>
            </a:pPr>
            <a:r>
              <a:rPr lang="fr-FR" sz="3600" dirty="0">
                <a:solidFill>
                  <a:srgbClr val="FF0000"/>
                </a:solidFill>
                <a:latin typeface="Arial Black" panose="020B0A04020102020204" pitchFamily="34" charset="0"/>
                <a:ea typeface="Times New Roman" panose="02020603050405020304" pitchFamily="18" charset="0"/>
                <a:cs typeface="Arial" panose="020B0604020202020204" pitchFamily="34" charset="0"/>
              </a:rPr>
              <a:t>L’hyperthermie : </a:t>
            </a:r>
            <a:r>
              <a:rPr lang="fr-FR" sz="3600" dirty="0">
                <a:latin typeface="Arial Black" panose="020B0A04020102020204" pitchFamily="34" charset="0"/>
                <a:ea typeface="Times New Roman" panose="02020603050405020304" pitchFamily="18" charset="0"/>
                <a:cs typeface="Arial" panose="020B0604020202020204" pitchFamily="34" charset="0"/>
              </a:rPr>
              <a:t>C’est l’élévation de la température du corps au-dessus de 37,5°c</a:t>
            </a:r>
          </a:p>
          <a:p>
            <a:pPr marL="342900" lvl="0" indent="-342900" algn="just">
              <a:lnSpc>
                <a:spcPct val="125000"/>
              </a:lnSpc>
              <a:spcAft>
                <a:spcPts val="1000"/>
              </a:spcAft>
              <a:buFont typeface="Times New Roman" panose="02020603050405020304" pitchFamily="18" charset="0"/>
              <a:buChar char="-"/>
              <a:tabLst>
                <a:tab pos="457200" algn="l"/>
              </a:tabLst>
            </a:pPr>
            <a:r>
              <a:rPr lang="fr-FR" sz="3600" dirty="0">
                <a:solidFill>
                  <a:srgbClr val="FF0000"/>
                </a:solidFill>
                <a:latin typeface="Arial Black" panose="020B0A04020102020204" pitchFamily="34" charset="0"/>
                <a:ea typeface="Times New Roman" panose="02020603050405020304" pitchFamily="18" charset="0"/>
                <a:cs typeface="Arial" panose="020B0604020202020204" pitchFamily="34" charset="0"/>
              </a:rPr>
              <a:t>L’Hypothermie : </a:t>
            </a:r>
            <a:r>
              <a:rPr lang="fr-FR" sz="3600" dirty="0">
                <a:latin typeface="Arial Black" panose="020B0A04020102020204" pitchFamily="34" charset="0"/>
                <a:ea typeface="Times New Roman" panose="02020603050405020304" pitchFamily="18" charset="0"/>
                <a:cs typeface="Arial" panose="020B0604020202020204" pitchFamily="34" charset="0"/>
              </a:rPr>
              <a:t>baisse de la température du corps au dessous de 36,5°c</a:t>
            </a:r>
            <a:endParaRPr lang="fr-FR" sz="3600" dirty="0"/>
          </a:p>
        </p:txBody>
      </p:sp>
    </p:spTree>
    <p:extLst>
      <p:ext uri="{BB962C8B-B14F-4D97-AF65-F5344CB8AC3E}">
        <p14:creationId xmlns:p14="http://schemas.microsoft.com/office/powerpoint/2010/main" val="32926198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A432C3-7217-42D2-8A8D-8F96E5934BF5}"/>
              </a:ext>
            </a:extLst>
          </p:cNvPr>
          <p:cNvSpPr>
            <a:spLocks noGrp="1"/>
          </p:cNvSpPr>
          <p:nvPr>
            <p:ph type="title"/>
          </p:nvPr>
        </p:nvSpPr>
        <p:spPr>
          <a:xfrm>
            <a:off x="1711569" y="105508"/>
            <a:ext cx="9793043" cy="1019907"/>
          </a:xfrm>
        </p:spPr>
        <p:txBody>
          <a:bodyPr>
            <a:normAutofit fontScale="90000"/>
          </a:bodyPr>
          <a:lstStyle/>
          <a:p>
            <a:pPr marL="1600200" lvl="3" indent="-228600">
              <a:lnSpc>
                <a:spcPct val="125000"/>
              </a:lnSpc>
              <a:spcAft>
                <a:spcPts val="1000"/>
              </a:spcAft>
            </a:pPr>
            <a:r>
              <a:rPr lang="fr-FR" sz="4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III) </a:t>
            </a:r>
            <a:r>
              <a:rPr lang="fr-FR" sz="4400" b="1" dirty="0" smtClean="0">
                <a:solidFill>
                  <a:srgbClr val="FF0000"/>
                </a:solidFill>
                <a:effectLst/>
                <a:latin typeface="Arial" panose="020B0604020202020204" pitchFamily="34" charset="0"/>
                <a:ea typeface="Times New Roman" panose="02020603050405020304" pitchFamily="18" charset="0"/>
                <a:cs typeface="Arial" panose="020B0604020202020204" pitchFamily="34" charset="0"/>
              </a:rPr>
              <a:t>RÔLE </a:t>
            </a:r>
            <a:r>
              <a:rPr lang="fr-FR" sz="4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 </a:t>
            </a:r>
            <a:r>
              <a:rPr lang="fr-FR" sz="4400" b="1" dirty="0" smtClean="0">
                <a:solidFill>
                  <a:srgbClr val="FF0000"/>
                </a:solidFill>
                <a:effectLst/>
                <a:latin typeface="Arial" panose="020B0604020202020204" pitchFamily="34" charset="0"/>
                <a:ea typeface="Times New Roman" panose="02020603050405020304" pitchFamily="18" charset="0"/>
                <a:cs typeface="Arial" panose="020B0604020202020204" pitchFamily="34" charset="0"/>
              </a:rPr>
              <a:t>L’AGENT DE SANTE </a:t>
            </a:r>
            <a:r>
              <a:rPr lang="fr-FR" sz="11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1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9B607684-8294-442B-B783-C6639008D7F4}"/>
              </a:ext>
            </a:extLst>
          </p:cNvPr>
          <p:cNvSpPr>
            <a:spLocks noGrp="1"/>
          </p:cNvSpPr>
          <p:nvPr>
            <p:ph idx="1"/>
          </p:nvPr>
        </p:nvSpPr>
        <p:spPr>
          <a:xfrm>
            <a:off x="0" y="1207476"/>
            <a:ext cx="12072730" cy="4970585"/>
          </a:xfrm>
        </p:spPr>
        <p:txBody>
          <a:bodyPr>
            <a:normAutofit lnSpcReduction="10000"/>
          </a:bodyPr>
          <a:lstStyle/>
          <a:p>
            <a:pPr marL="1600200" lvl="3" indent="-228600" algn="just">
              <a:lnSpc>
                <a:spcPct val="125000"/>
              </a:lnSpc>
              <a:spcAft>
                <a:spcPts val="1000"/>
              </a:spcAft>
              <a:buFont typeface="+mj-lt"/>
              <a:buAutoNum type="arabicPeriod"/>
            </a:pPr>
            <a:r>
              <a:rPr lang="fr-FR" sz="3000" b="1"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Hyperthermie</a:t>
            </a:r>
            <a:endParaRPr lang="fr-FR" sz="3000"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smtClean="0">
                <a:effectLst/>
                <a:latin typeface="Arial Black" panose="020B0A04020102020204" pitchFamily="34" charset="0"/>
                <a:ea typeface="Times New Roman" panose="02020603050405020304" pitchFamily="18" charset="0"/>
                <a:cs typeface="Arial" panose="020B0604020202020204" pitchFamily="34" charset="0"/>
              </a:rPr>
              <a:t>Prendre la température et la noter </a:t>
            </a: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smtClean="0">
                <a:effectLst/>
                <a:latin typeface="Arial Black" panose="020B0A04020102020204" pitchFamily="34" charset="0"/>
                <a:ea typeface="Times New Roman" panose="02020603050405020304" pitchFamily="18" charset="0"/>
                <a:cs typeface="Arial" panose="020B0604020202020204" pitchFamily="34" charset="0"/>
              </a:rPr>
              <a:t>Déshabiller </a:t>
            </a:r>
            <a:r>
              <a:rPr lang="fr-FR" sz="3000" dirty="0">
                <a:effectLst/>
                <a:latin typeface="Arial Black" panose="020B0A04020102020204" pitchFamily="34" charset="0"/>
                <a:ea typeface="Times New Roman" panose="02020603050405020304" pitchFamily="18" charset="0"/>
                <a:cs typeface="Arial" panose="020B0604020202020204" pitchFamily="34" charset="0"/>
              </a:rPr>
              <a:t>le malade</a:t>
            </a: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a:effectLst/>
                <a:latin typeface="Arial Black" panose="020B0A04020102020204" pitchFamily="34" charset="0"/>
                <a:ea typeface="Times New Roman" panose="02020603050405020304" pitchFamily="18" charset="0"/>
                <a:cs typeface="Arial" panose="020B0604020202020204" pitchFamily="34" charset="0"/>
              </a:rPr>
              <a:t>Faire un enveloppement humide</a:t>
            </a: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a:effectLst/>
                <a:latin typeface="Arial Black" panose="020B0A04020102020204" pitchFamily="34" charset="0"/>
                <a:ea typeface="Times New Roman" panose="02020603050405020304" pitchFamily="18" charset="0"/>
                <a:cs typeface="Arial" panose="020B0604020202020204" pitchFamily="34" charset="0"/>
              </a:rPr>
              <a:t>Lui donner à boire fréquemment</a:t>
            </a: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a:effectLst/>
                <a:latin typeface="Arial Black" panose="020B0A04020102020204" pitchFamily="34" charset="0"/>
                <a:ea typeface="Times New Roman" panose="02020603050405020304" pitchFamily="18" charset="0"/>
                <a:cs typeface="Arial" panose="020B0604020202020204" pitchFamily="34" charset="0"/>
              </a:rPr>
              <a:t>Faire un bain avec de l’eau de réseau (ou à – 2°C de la température mesurée)</a:t>
            </a:r>
          </a:p>
          <a:p>
            <a:pPr marL="0" indent="0">
              <a:buNone/>
            </a:pPr>
            <a:endParaRPr lang="fr-FR" dirty="0"/>
          </a:p>
        </p:txBody>
      </p:sp>
    </p:spTree>
    <p:extLst>
      <p:ext uri="{BB962C8B-B14F-4D97-AF65-F5344CB8AC3E}">
        <p14:creationId xmlns:p14="http://schemas.microsoft.com/office/powerpoint/2010/main" val="28091702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DF3B54-7E4C-4FF6-92A1-51EBDB0458CB}"/>
              </a:ext>
            </a:extLst>
          </p:cNvPr>
          <p:cNvSpPr>
            <a:spLocks noGrp="1"/>
          </p:cNvSpPr>
          <p:nvPr>
            <p:ph type="title"/>
          </p:nvPr>
        </p:nvSpPr>
        <p:spPr>
          <a:xfrm>
            <a:off x="2581202" y="-93785"/>
            <a:ext cx="8911687" cy="738554"/>
          </a:xfrm>
        </p:spPr>
        <p:txBody>
          <a:bodyPr/>
          <a:lstStyle/>
          <a:p>
            <a:endParaRPr lang="fr-FR"/>
          </a:p>
        </p:txBody>
      </p:sp>
      <p:sp>
        <p:nvSpPr>
          <p:cNvPr id="3" name="Espace réservé du contenu 2">
            <a:extLst>
              <a:ext uri="{FF2B5EF4-FFF2-40B4-BE49-F238E27FC236}">
                <a16:creationId xmlns:a16="http://schemas.microsoft.com/office/drawing/2014/main" id="{60643AA0-DFA4-49AB-8F71-5E0952AA3473}"/>
              </a:ext>
            </a:extLst>
          </p:cNvPr>
          <p:cNvSpPr>
            <a:spLocks noGrp="1"/>
          </p:cNvSpPr>
          <p:nvPr>
            <p:ph idx="1"/>
          </p:nvPr>
        </p:nvSpPr>
        <p:spPr>
          <a:xfrm>
            <a:off x="0" y="1271954"/>
            <a:ext cx="12192000" cy="4328890"/>
          </a:xfrm>
        </p:spPr>
        <p:txBody>
          <a:bodyPr/>
          <a:lstStyle/>
          <a:p>
            <a:pPr marL="1371600" lvl="3" indent="0" algn="just">
              <a:lnSpc>
                <a:spcPct val="125000"/>
              </a:lnSpc>
              <a:spcAft>
                <a:spcPts val="1000"/>
              </a:spcAft>
              <a:buNone/>
            </a:pP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2- Hypothermie</a:t>
            </a:r>
            <a:endParaRPr lang="fr-FR" sz="3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Times New Roman" panose="02020603050405020304" pitchFamily="18" charset="0"/>
              <a:buChar char="-"/>
              <a:tabLst>
                <a:tab pos="4572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Prendre régulièrement la température et noter</a:t>
            </a:r>
          </a:p>
          <a:p>
            <a:pPr marL="342900" lvl="0" indent="-342900" algn="just">
              <a:lnSpc>
                <a:spcPct val="125000"/>
              </a:lnSpc>
              <a:spcAft>
                <a:spcPts val="1000"/>
              </a:spcAft>
              <a:buFont typeface="Times New Roman" panose="02020603050405020304" pitchFamily="18" charset="0"/>
              <a:buChar char="-"/>
              <a:tabLst>
                <a:tab pos="4572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Habiller chaudement le client et le couvrir</a:t>
            </a:r>
          </a:p>
          <a:p>
            <a:pPr marL="342900" lvl="0" indent="-342900" algn="just">
              <a:lnSpc>
                <a:spcPct val="125000"/>
              </a:lnSpc>
              <a:spcAft>
                <a:spcPts val="1000"/>
              </a:spcAft>
              <a:buFont typeface="Times New Roman" panose="02020603050405020304" pitchFamily="18" charset="0"/>
              <a:buChar char="-"/>
              <a:tabLst>
                <a:tab pos="4572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Mettre une bouillotte auprès du client</a:t>
            </a:r>
          </a:p>
          <a:p>
            <a:pPr marL="0" indent="0">
              <a:buNone/>
            </a:pPr>
            <a:endParaRPr lang="fr-FR" dirty="0"/>
          </a:p>
        </p:txBody>
      </p:sp>
    </p:spTree>
    <p:extLst>
      <p:ext uri="{BB962C8B-B14F-4D97-AF65-F5344CB8AC3E}">
        <p14:creationId xmlns:p14="http://schemas.microsoft.com/office/powerpoint/2010/main" val="416726561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A4571E-12C7-4916-BD1F-39F607E74632}"/>
              </a:ext>
            </a:extLst>
          </p:cNvPr>
          <p:cNvSpPr>
            <a:spLocks noGrp="1"/>
          </p:cNvSpPr>
          <p:nvPr>
            <p:ph type="title"/>
          </p:nvPr>
        </p:nvSpPr>
        <p:spPr>
          <a:xfrm>
            <a:off x="1582615" y="120018"/>
            <a:ext cx="10609385" cy="946782"/>
          </a:xfrm>
        </p:spPr>
        <p:txBody>
          <a:bodyPr>
            <a:normAutofit fontScale="90000"/>
          </a:bodyPr>
          <a:lstStyle/>
          <a:p>
            <a:r>
              <a:rPr lang="fr-FR" sz="40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LES METHODES DE CORRECTION THERMIQUE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5123B51B-1283-464B-8A6F-46F1C40B9575}"/>
              </a:ext>
            </a:extLst>
          </p:cNvPr>
          <p:cNvSpPr>
            <a:spLocks noGrp="1"/>
          </p:cNvSpPr>
          <p:nvPr>
            <p:ph idx="1"/>
          </p:nvPr>
        </p:nvSpPr>
        <p:spPr>
          <a:xfrm>
            <a:off x="0" y="1289539"/>
            <a:ext cx="12192000" cy="4900246"/>
          </a:xfrm>
        </p:spPr>
        <p:txBody>
          <a:bodyPr>
            <a:normAutofit fontScale="92500" lnSpcReduction="20000"/>
          </a:bodyPr>
          <a:lstStyle/>
          <a:p>
            <a:pPr marL="0" indent="0">
              <a:lnSpc>
                <a:spcPct val="125000"/>
              </a:lnSpc>
              <a:spcAft>
                <a:spcPts val="1000"/>
              </a:spcAft>
              <a:buNone/>
            </a:pPr>
            <a:r>
              <a:rPr lang="fr-FR" sz="3000" b="1" dirty="0" smtClean="0">
                <a:effectLst/>
                <a:latin typeface="Arial Black" panose="020B0A04020102020204" pitchFamily="34" charset="0"/>
                <a:ea typeface="Times New Roman" panose="02020603050405020304" pitchFamily="18" charset="0"/>
                <a:cs typeface="Arial" panose="020B0604020202020204" pitchFamily="34" charset="0"/>
              </a:rPr>
              <a:t>       INTRODUCTION</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00000"/>
              </a:lnSpc>
              <a:spcAft>
                <a:spcPts val="1000"/>
              </a:spcAft>
            </a:pPr>
            <a:r>
              <a:rPr lang="fr-FR" sz="3000" dirty="0">
                <a:effectLst/>
                <a:latin typeface="Arial Black" panose="020B0A04020102020204" pitchFamily="34" charset="0"/>
                <a:ea typeface="Times New Roman" panose="02020603050405020304" pitchFamily="18" charset="0"/>
                <a:cs typeface="Arial" panose="020B0604020202020204" pitchFamily="34" charset="0"/>
              </a:rPr>
              <a:t>Elles visent à corriger les hypo et hyperthermies afin d’en limiter les complications.</a:t>
            </a:r>
          </a:p>
          <a:p>
            <a:pPr algn="just">
              <a:lnSpc>
                <a:spcPct val="100000"/>
              </a:lnSpc>
              <a:spcAft>
                <a:spcPts val="1000"/>
              </a:spcAft>
            </a:pPr>
            <a:r>
              <a:rPr lang="fr-FR" sz="3000" dirty="0">
                <a:effectLst/>
                <a:latin typeface="Arial Black" panose="020B0A04020102020204" pitchFamily="34" charset="0"/>
                <a:ea typeface="Times New Roman" panose="02020603050405020304" pitchFamily="18" charset="0"/>
                <a:cs typeface="Arial" panose="020B0604020202020204" pitchFamily="34" charset="0"/>
              </a:rPr>
              <a:t>Les soins de correction des hypothermies visent à réchauffer progressivement et en toute sécurité la personne soignée.</a:t>
            </a:r>
          </a:p>
          <a:p>
            <a:pPr algn="just">
              <a:lnSpc>
                <a:spcPct val="100000"/>
              </a:lnSpc>
              <a:spcAft>
                <a:spcPts val="1000"/>
              </a:spcAft>
            </a:pPr>
            <a:r>
              <a:rPr lang="fr-FR" sz="3000" dirty="0">
                <a:effectLst/>
                <a:latin typeface="Arial Black" panose="020B0A04020102020204" pitchFamily="34" charset="0"/>
                <a:ea typeface="Times New Roman" panose="02020603050405020304" pitchFamily="18" charset="0"/>
                <a:cs typeface="Arial" panose="020B0604020202020204" pitchFamily="34" charset="0"/>
              </a:rPr>
              <a:t>Les soins de correction de l’hyperthermie visent à refroidir la personne progressivement en toute sécurité.</a:t>
            </a:r>
          </a:p>
          <a:p>
            <a:pPr marL="0" indent="0" algn="just">
              <a:lnSpc>
                <a:spcPct val="100000"/>
              </a:lnSpc>
              <a:spcAft>
                <a:spcPts val="1000"/>
              </a:spcAft>
              <a:buNone/>
            </a:pPr>
            <a:r>
              <a:rPr lang="fr-FR" sz="3000" dirty="0">
                <a:effectLst/>
                <a:latin typeface="Arial Black" panose="020B0A04020102020204" pitchFamily="34" charset="0"/>
                <a:ea typeface="Times New Roman" panose="02020603050405020304" pitchFamily="18" charset="0"/>
                <a:cs typeface="Arial" panose="020B0604020202020204" pitchFamily="34" charset="0"/>
              </a:rPr>
              <a:t>Dans ce cours nous ne parlerons que de la bouillotte qui sera utilisée pour réchauffer et de la vessie de glace pour refroidir</a:t>
            </a:r>
          </a:p>
          <a:p>
            <a:pPr marL="0" indent="0">
              <a:buNone/>
            </a:pPr>
            <a:endParaRPr lang="fr-FR" dirty="0"/>
          </a:p>
        </p:txBody>
      </p:sp>
    </p:spTree>
    <p:extLst>
      <p:ext uri="{BB962C8B-B14F-4D97-AF65-F5344CB8AC3E}">
        <p14:creationId xmlns:p14="http://schemas.microsoft.com/office/powerpoint/2010/main" val="199249174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C61152-8BA2-4D15-93E0-2B3D4831D9B4}"/>
              </a:ext>
            </a:extLst>
          </p:cNvPr>
          <p:cNvSpPr>
            <a:spLocks noGrp="1"/>
          </p:cNvSpPr>
          <p:nvPr>
            <p:ph type="title"/>
          </p:nvPr>
        </p:nvSpPr>
        <p:spPr>
          <a:xfrm>
            <a:off x="2592925" y="84849"/>
            <a:ext cx="8911687" cy="1280890"/>
          </a:xfrm>
        </p:spPr>
        <p:txBody>
          <a:bodyPr/>
          <a:lstStyle/>
          <a:p>
            <a:r>
              <a:rPr lang="fr-FR" sz="3200" b="1" dirty="0">
                <a:solidFill>
                  <a:srgbClr val="FF0000"/>
                </a:solidFill>
                <a:effectLst/>
                <a:ea typeface="Times New Roman" panose="02020603050405020304" pitchFamily="18" charset="0"/>
                <a:cs typeface="Arial" panose="020B0604020202020204" pitchFamily="34" charset="0"/>
              </a:rPr>
              <a:t>A)LA BOUILLOTE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3E3DE4F5-16F7-4A81-9A78-B01EFA10CFA9}"/>
              </a:ext>
            </a:extLst>
          </p:cNvPr>
          <p:cNvSpPr>
            <a:spLocks noGrp="1"/>
          </p:cNvSpPr>
          <p:nvPr>
            <p:ph idx="1"/>
          </p:nvPr>
        </p:nvSpPr>
        <p:spPr>
          <a:xfrm>
            <a:off x="119270" y="1762539"/>
            <a:ext cx="11385342" cy="4148683"/>
          </a:xfrm>
        </p:spPr>
        <p:txBody>
          <a:bodyPr>
            <a:normAutofit fontScale="92500"/>
          </a:bodyPr>
          <a:lstStyle/>
          <a:p>
            <a:pPr marL="342900" lvl="0" indent="-342900">
              <a:lnSpc>
                <a:spcPct val="125000"/>
              </a:lnSpc>
              <a:spcAft>
                <a:spcPts val="1000"/>
              </a:spcAft>
              <a:buFont typeface="+mj-lt"/>
              <a:buAutoNum type="romanUcPeriod"/>
              <a:tabLst>
                <a:tab pos="558800" algn="l"/>
              </a:tabLst>
            </a:pPr>
            <a:r>
              <a:rPr lang="fr-FR" sz="3200" dirty="0">
                <a:effectLst>
                  <a:outerShdw blurRad="38100" dist="38100" dir="2700000" algn="tl">
                    <a:srgbClr val="000000">
                      <a:alpha val="43137"/>
                    </a:srgbClr>
                  </a:outerShdw>
                </a:effectLst>
                <a:latin typeface="Arial Black" panose="020B0A04020102020204" pitchFamily="34" charset="0"/>
                <a:ea typeface="Times New Roman" panose="02020603050405020304" pitchFamily="18" charset="0"/>
                <a:cs typeface="Arial" panose="020B0604020202020204" pitchFamily="34" charset="0"/>
              </a:rPr>
              <a:t>DEFINITION </a:t>
            </a:r>
          </a:p>
          <a:p>
            <a:pPr algn="just">
              <a:lnSpc>
                <a:spcPct val="125000"/>
              </a:lnSpc>
              <a:spcAft>
                <a:spcPts val="1000"/>
              </a:spcAft>
            </a:pPr>
            <a:r>
              <a:rPr lang="fr-FR" dirty="0">
                <a:effectLst/>
                <a:latin typeface="Arial Black" panose="020B0A04020102020204" pitchFamily="34" charset="0"/>
                <a:ea typeface="Times New Roman" panose="02020603050405020304" pitchFamily="18" charset="0"/>
                <a:cs typeface="Arial" panose="020B0604020202020204" pitchFamily="34" charset="0"/>
              </a:rPr>
              <a:t>Une bouillotte est un </a:t>
            </a:r>
            <a:r>
              <a:rPr lang="fr-FR" u="sng" dirty="0">
                <a:solidFill>
                  <a:srgbClr val="0000FF"/>
                </a:solidFill>
                <a:effectLst/>
                <a:latin typeface="Arial Black" panose="020B0A04020102020204" pitchFamily="34" charset="0"/>
                <a:ea typeface="Times New Roman" panose="02020603050405020304" pitchFamily="18" charset="0"/>
                <a:cs typeface="Arial" panose="020B0604020202020204" pitchFamily="34" charset="0"/>
                <a:hlinkClick r:id="rId2" tooltip="Récipient"/>
              </a:rPr>
              <a:t>récipient</a:t>
            </a:r>
            <a:r>
              <a:rPr lang="fr-FR" dirty="0">
                <a:effectLst/>
                <a:latin typeface="Arial Black" panose="020B0A04020102020204" pitchFamily="34" charset="0"/>
                <a:ea typeface="Times New Roman" panose="02020603050405020304" pitchFamily="18" charset="0"/>
                <a:cs typeface="Arial" panose="020B0604020202020204" pitchFamily="34" charset="0"/>
              </a:rPr>
              <a:t> étanche servant à contenir de l'</a:t>
            </a:r>
            <a:r>
              <a:rPr lang="fr-FR" u="sng" dirty="0">
                <a:solidFill>
                  <a:srgbClr val="0000FF"/>
                </a:solidFill>
                <a:effectLst/>
                <a:latin typeface="Arial Black" panose="020B0A04020102020204" pitchFamily="34" charset="0"/>
                <a:ea typeface="Times New Roman" panose="02020603050405020304" pitchFamily="18" charset="0"/>
                <a:cs typeface="Arial" panose="020B0604020202020204" pitchFamily="34" charset="0"/>
                <a:hlinkClick r:id="rId3" tooltip="Eau"/>
              </a:rPr>
              <a:t>eau</a:t>
            </a:r>
            <a:r>
              <a:rPr lang="fr-FR" dirty="0">
                <a:effectLst/>
                <a:latin typeface="Arial Black" panose="020B0A04020102020204" pitchFamily="34" charset="0"/>
                <a:ea typeface="Times New Roman" panose="02020603050405020304" pitchFamily="18" charset="0"/>
                <a:cs typeface="Arial" panose="020B0604020202020204" pitchFamily="34" charset="0"/>
              </a:rPr>
              <a:t> chaude, généralement utilisé pour tenir une personne au chaud, notamment lorsque celle-ci est dans son </a:t>
            </a:r>
            <a:r>
              <a:rPr lang="fr-FR" u="sng" dirty="0">
                <a:solidFill>
                  <a:srgbClr val="0000FF"/>
                </a:solidFill>
                <a:effectLst/>
                <a:latin typeface="Arial Black" panose="020B0A04020102020204" pitchFamily="34" charset="0"/>
                <a:ea typeface="Times New Roman" panose="02020603050405020304" pitchFamily="18" charset="0"/>
                <a:cs typeface="Arial" panose="020B0604020202020204" pitchFamily="34" charset="0"/>
                <a:hlinkClick r:id="rId4" tooltip="Lit (mobilier)"/>
              </a:rPr>
              <a:t>lit</a:t>
            </a:r>
            <a:r>
              <a:rPr lang="fr-FR" dirty="0">
                <a:effectLst/>
                <a:latin typeface="Arial Black" panose="020B0A04020102020204" pitchFamily="34" charset="0"/>
                <a:ea typeface="Times New Roman" panose="02020603050405020304" pitchFamily="18" charset="0"/>
                <a:cs typeface="Arial" panose="020B0604020202020204" pitchFamily="34" charset="0"/>
              </a:rPr>
              <a:t> ou malade. Elle peut être utilisée simplement pour réchauffer le lit avant de se coucher.  Les bouillottes sont généralement faites en </a:t>
            </a:r>
            <a:r>
              <a:rPr lang="fr-FR" u="sng" dirty="0">
                <a:solidFill>
                  <a:srgbClr val="0000FF"/>
                </a:solidFill>
                <a:effectLst/>
                <a:latin typeface="Arial Black" panose="020B0A04020102020204" pitchFamily="34" charset="0"/>
                <a:ea typeface="Times New Roman" panose="02020603050405020304" pitchFamily="18" charset="0"/>
                <a:cs typeface="Arial" panose="020B0604020202020204" pitchFamily="34" charset="0"/>
                <a:hlinkClick r:id="rId5" tooltip="Caoutchouc (matériau)"/>
              </a:rPr>
              <a:t>caoutchouc</a:t>
            </a:r>
            <a:r>
              <a:rPr lang="fr-FR" dirty="0">
                <a:effectLst/>
                <a:latin typeface="Arial Black" panose="020B0A04020102020204" pitchFamily="34" charset="0"/>
                <a:ea typeface="Times New Roman" panose="02020603050405020304" pitchFamily="18" charset="0"/>
                <a:cs typeface="Arial" panose="020B0604020202020204" pitchFamily="34" charset="0"/>
              </a:rPr>
              <a:t> </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92482608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15171" y="0"/>
            <a:ext cx="5641685" cy="5988676"/>
          </a:xfrm>
          <a:prstGeom prst="rect">
            <a:avLst/>
          </a:prstGeom>
        </p:spPr>
      </p:pic>
      <p:pic>
        <p:nvPicPr>
          <p:cNvPr id="3" name="Image 2"/>
          <p:cNvPicPr>
            <a:picLocks noChangeAspect="1"/>
          </p:cNvPicPr>
          <p:nvPr/>
        </p:nvPicPr>
        <p:blipFill>
          <a:blip r:embed="rId3"/>
          <a:stretch>
            <a:fillRect/>
          </a:stretch>
        </p:blipFill>
        <p:spPr>
          <a:xfrm>
            <a:off x="6259132" y="115910"/>
            <a:ext cx="5055427" cy="5872766"/>
          </a:xfrm>
          <a:prstGeom prst="rect">
            <a:avLst/>
          </a:prstGeom>
        </p:spPr>
      </p:pic>
    </p:spTree>
    <p:extLst>
      <p:ext uri="{BB962C8B-B14F-4D97-AF65-F5344CB8AC3E}">
        <p14:creationId xmlns:p14="http://schemas.microsoft.com/office/powerpoint/2010/main" val="407962248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88EEAC-1D99-4BD1-ACFF-7B2006D83F28}"/>
              </a:ext>
            </a:extLst>
          </p:cNvPr>
          <p:cNvSpPr>
            <a:spLocks noGrp="1"/>
          </p:cNvSpPr>
          <p:nvPr>
            <p:ph type="title"/>
          </p:nvPr>
        </p:nvSpPr>
        <p:spPr>
          <a:xfrm>
            <a:off x="2399742" y="0"/>
            <a:ext cx="8911687" cy="431958"/>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D640A9D8-5E7E-49FC-A56F-6B82DF4DC6C3}"/>
              </a:ext>
            </a:extLst>
          </p:cNvPr>
          <p:cNvSpPr>
            <a:spLocks noGrp="1"/>
          </p:cNvSpPr>
          <p:nvPr>
            <p:ph idx="1"/>
          </p:nvPr>
        </p:nvSpPr>
        <p:spPr>
          <a:xfrm>
            <a:off x="231820" y="810295"/>
            <a:ext cx="11960180" cy="5371564"/>
          </a:xfrm>
        </p:spPr>
        <p:txBody>
          <a:bodyPr>
            <a:normAutofit fontScale="92500" lnSpcReduction="10000"/>
          </a:bodyPr>
          <a:lstStyle/>
          <a:p>
            <a:pPr marL="0" indent="0" algn="just">
              <a:lnSpc>
                <a:spcPct val="125000"/>
              </a:lnSpc>
              <a:spcAft>
                <a:spcPts val="1000"/>
              </a:spcAft>
              <a:buNone/>
            </a:pP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1000"/>
              </a:spcAft>
              <a:buFont typeface="+mj-lt"/>
              <a:buAutoNum type="romanUcPeriod"/>
              <a:tabLst>
                <a:tab pos="558800" algn="l"/>
              </a:tabLst>
            </a:pPr>
            <a:r>
              <a:rPr lang="fr-FR" b="1" dirty="0">
                <a:effectLst/>
                <a:latin typeface="Arial Black" panose="020B0A04020102020204" pitchFamily="34" charset="0"/>
                <a:ea typeface="Times New Roman" panose="02020603050405020304" pitchFamily="18" charset="0"/>
                <a:cs typeface="Arial" panose="020B0604020202020204" pitchFamily="34" charset="0"/>
              </a:rPr>
              <a:t>TECHNIQUE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Remplir à moitié la bouillotte avec de l’eau à 80°c chez l’adulte.</a:t>
            </a: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Chasser l’air avant de fermer en appuyant sur la poche.</a:t>
            </a: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Fermer et vérifier l’étanchéité.</a:t>
            </a: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Envelopper la bouillotte d’un morceau de tissu.</a:t>
            </a: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Disposer la bouillotte soit à dix centimètres des pieds de la personne soit sur une partie précise du corps de la personne.</a:t>
            </a:r>
          </a:p>
          <a:p>
            <a:r>
              <a:rPr lang="fr-FR" dirty="0">
                <a:effectLst/>
                <a:latin typeface="Arial Black" panose="020B0A04020102020204" pitchFamily="34" charset="0"/>
                <a:ea typeface="Times New Roman" panose="02020603050405020304" pitchFamily="18" charset="0"/>
                <a:cs typeface="Arial" panose="020B0604020202020204" pitchFamily="34" charset="0"/>
              </a:rPr>
              <a:t>Après usage égoutter la bouillotte, la laisser sécher et désinfecter si nécessaire</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233351172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EA95D6-4896-4753-B463-C280A3E0A363}"/>
              </a:ext>
            </a:extLst>
          </p:cNvPr>
          <p:cNvSpPr>
            <a:spLocks noGrp="1"/>
          </p:cNvSpPr>
          <p:nvPr>
            <p:ph type="title"/>
          </p:nvPr>
        </p:nvSpPr>
        <p:spPr>
          <a:xfrm>
            <a:off x="2589212" y="0"/>
            <a:ext cx="8911687" cy="1280890"/>
          </a:xfrm>
        </p:spPr>
        <p:txBody>
          <a:bodyPr/>
          <a:lstStyle/>
          <a:p>
            <a:endParaRPr lang="fr-FR" dirty="0"/>
          </a:p>
        </p:txBody>
      </p:sp>
      <p:sp>
        <p:nvSpPr>
          <p:cNvPr id="3" name="Espace réservé du contenu 2">
            <a:extLst>
              <a:ext uri="{FF2B5EF4-FFF2-40B4-BE49-F238E27FC236}">
                <a16:creationId xmlns:a16="http://schemas.microsoft.com/office/drawing/2014/main" id="{990FFAD3-12A9-4973-85B6-6E8D0AD33FAB}"/>
              </a:ext>
            </a:extLst>
          </p:cNvPr>
          <p:cNvSpPr>
            <a:spLocks noGrp="1"/>
          </p:cNvSpPr>
          <p:nvPr>
            <p:ph idx="1"/>
          </p:nvPr>
        </p:nvSpPr>
        <p:spPr>
          <a:xfrm>
            <a:off x="569843" y="1280890"/>
            <a:ext cx="10762490" cy="3777622"/>
          </a:xfrm>
        </p:spPr>
        <p:txBody>
          <a:bodyPr/>
          <a:lstStyle/>
          <a:p>
            <a:pPr marL="0" lvl="0" indent="0">
              <a:lnSpc>
                <a:spcPct val="125000"/>
              </a:lnSpc>
              <a:spcAft>
                <a:spcPts val="1000"/>
              </a:spcAft>
              <a:buNone/>
              <a:tabLst>
                <a:tab pos="558800" algn="l"/>
              </a:tabLst>
            </a:pPr>
            <a:r>
              <a:rPr lang="fr-FR" sz="3200" b="1" dirty="0" smtClean="0">
                <a:effectLst/>
                <a:latin typeface="Arial Black" panose="020B0A04020102020204" pitchFamily="34" charset="0"/>
                <a:ea typeface="Times New Roman" panose="02020603050405020304" pitchFamily="18" charset="0"/>
                <a:cs typeface="Arial" panose="020B0604020202020204" pitchFamily="34" charset="0"/>
              </a:rPr>
              <a:t>II- ELEMENTS </a:t>
            </a:r>
            <a:r>
              <a:rPr lang="fr-FR" sz="3200" b="1" dirty="0">
                <a:effectLst/>
                <a:latin typeface="Arial Black" panose="020B0A04020102020204" pitchFamily="34" charset="0"/>
                <a:ea typeface="Times New Roman" panose="02020603050405020304" pitchFamily="18" charset="0"/>
                <a:cs typeface="Arial" panose="020B0604020202020204" pitchFamily="34" charset="0"/>
              </a:rPr>
              <a:t>DE SURVEILLANCE                                                                                           </a:t>
            </a:r>
            <a:endParaRPr lang="fr-FR" sz="3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5000"/>
              </a:lnSpc>
              <a:spcAft>
                <a:spcPts val="1000"/>
              </a:spcAft>
              <a:buFont typeface="Times New Roman" panose="02020603050405020304" pitchFamily="18" charset="0"/>
              <a:buChar char="-"/>
              <a:tabLst>
                <a:tab pos="457200" algn="l"/>
                <a:tab pos="5588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La </a:t>
            </a:r>
            <a:r>
              <a:rPr lang="fr-FR" dirty="0" smtClean="0">
                <a:effectLst/>
                <a:latin typeface="Arial Black" panose="020B0A04020102020204" pitchFamily="34" charset="0"/>
                <a:ea typeface="Times New Roman" panose="02020603050405020304" pitchFamily="18" charset="0"/>
                <a:cs typeface="Arial" panose="020B0604020202020204" pitchFamily="34" charset="0"/>
              </a:rPr>
              <a:t>peau du malade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5000"/>
              </a:lnSpc>
              <a:spcAft>
                <a:spcPts val="1000"/>
              </a:spcAft>
              <a:buFont typeface="Times New Roman" panose="02020603050405020304" pitchFamily="18" charset="0"/>
              <a:buChar char="-"/>
              <a:tabLst>
                <a:tab pos="457200" algn="l"/>
                <a:tab pos="5588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La température </a:t>
            </a:r>
            <a:r>
              <a:rPr lang="fr-FR" dirty="0" smtClean="0">
                <a:effectLst/>
                <a:latin typeface="Arial Black" panose="020B0A04020102020204" pitchFamily="34" charset="0"/>
                <a:ea typeface="Times New Roman" panose="02020603050405020304" pitchFamily="18" charset="0"/>
                <a:cs typeface="Arial" panose="020B0604020202020204" pitchFamily="34" charset="0"/>
              </a:rPr>
              <a:t>du malade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r>
              <a:rPr lang="fr-FR" sz="1800" dirty="0">
                <a:effectLst/>
                <a:latin typeface="Times New Roman" panose="02020603050405020304" pitchFamily="18" charset="0"/>
                <a:ea typeface="Times New Roman" panose="02020603050405020304" pitchFamily="18" charset="0"/>
              </a:rPr>
              <a:t> </a:t>
            </a:r>
          </a:p>
          <a:p>
            <a:pPr marL="0" indent="0">
              <a:buNone/>
            </a:pPr>
            <a:endParaRPr lang="fr-FR" dirty="0"/>
          </a:p>
        </p:txBody>
      </p:sp>
    </p:spTree>
    <p:extLst>
      <p:ext uri="{BB962C8B-B14F-4D97-AF65-F5344CB8AC3E}">
        <p14:creationId xmlns:p14="http://schemas.microsoft.com/office/powerpoint/2010/main" val="380387332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5DE6CF-CCBE-4263-B507-65386D95BB6C}"/>
              </a:ext>
            </a:extLst>
          </p:cNvPr>
          <p:cNvSpPr>
            <a:spLocks noGrp="1"/>
          </p:cNvSpPr>
          <p:nvPr>
            <p:ph type="title"/>
          </p:nvPr>
        </p:nvSpPr>
        <p:spPr/>
        <p:txBody>
          <a:bodyPr>
            <a:normAutofit fontScale="90000"/>
          </a:bodyPr>
          <a:lstStyle/>
          <a:p>
            <a:r>
              <a:rPr lang="fr-FR" sz="4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B- VESSIE DE GLACE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0A66058F-62C7-4CB5-B64F-1033E2217FFB}"/>
              </a:ext>
            </a:extLst>
          </p:cNvPr>
          <p:cNvSpPr>
            <a:spLocks noGrp="1"/>
          </p:cNvSpPr>
          <p:nvPr>
            <p:ph idx="1"/>
          </p:nvPr>
        </p:nvSpPr>
        <p:spPr>
          <a:xfrm>
            <a:off x="240406" y="1264555"/>
            <a:ext cx="11801340" cy="3777622"/>
          </a:xfrm>
        </p:spPr>
        <p:txBody>
          <a:bodyPr>
            <a:normAutofit/>
          </a:bodyPr>
          <a:lstStyle/>
          <a:p>
            <a:pPr marL="0" indent="0" algn="just">
              <a:lnSpc>
                <a:spcPct val="125000"/>
              </a:lnSpc>
              <a:spcAft>
                <a:spcPts val="1000"/>
              </a:spcAft>
              <a:buNone/>
            </a:pPr>
            <a:r>
              <a:rPr lang="fr-FR" b="1" dirty="0">
                <a:effectLst/>
                <a:latin typeface="Arial Black" panose="020B0A04020102020204" pitchFamily="34" charset="0"/>
                <a:ea typeface="Times New Roman" panose="02020603050405020304" pitchFamily="18" charset="0"/>
                <a:cs typeface="Arial" panose="020B0604020202020204" pitchFamily="34" charset="0"/>
              </a:rPr>
              <a:t>INTRODUCTION</a:t>
            </a:r>
            <a:r>
              <a:rPr lang="fr-FR" b="1" u="sng" dirty="0">
                <a:effectLst/>
                <a:latin typeface="Arial Black" panose="020B0A04020102020204" pitchFamily="34" charset="0"/>
                <a:ea typeface="Times New Roman" panose="02020603050405020304" pitchFamily="18" charset="0"/>
                <a:cs typeface="Times New Roman" panose="02020603050405020304" pitchFamily="18" charset="0"/>
              </a:rPr>
              <a:t> </a:t>
            </a:r>
            <a:endParaRPr lang="fr-FR"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une poche en caoutchouc, où l'on introduit des glaçons</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thérapie par le froid consiste à appliquer le froid pour soulager un </a:t>
            </a:r>
            <a:r>
              <a:rPr lang="fr-FR" dirty="0" smtClean="0">
                <a:solidFill>
                  <a:srgbClr val="000000"/>
                </a:solidFill>
                <a:latin typeface="Arial Black" panose="020B0A04020102020204" pitchFamily="34" charset="0"/>
                <a:ea typeface="Times New Roman" panose="02020603050405020304" pitchFamily="18" charset="0"/>
                <a:cs typeface="Arial" panose="020B0604020202020204" pitchFamily="34" charset="0"/>
              </a:rPr>
              <a:t>pat</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ient</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365848103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17586" y="244699"/>
            <a:ext cx="4428656" cy="5937160"/>
          </a:xfrm>
          <a:prstGeom prst="rect">
            <a:avLst/>
          </a:prstGeom>
        </p:spPr>
      </p:pic>
      <p:pic>
        <p:nvPicPr>
          <p:cNvPr id="3" name="Image 2"/>
          <p:cNvPicPr>
            <a:picLocks noChangeAspect="1"/>
          </p:cNvPicPr>
          <p:nvPr/>
        </p:nvPicPr>
        <p:blipFill>
          <a:blip r:embed="rId3"/>
          <a:stretch>
            <a:fillRect/>
          </a:stretch>
        </p:blipFill>
        <p:spPr>
          <a:xfrm>
            <a:off x="5537915" y="244699"/>
            <a:ext cx="6538175" cy="5937160"/>
          </a:xfrm>
          <a:prstGeom prst="rect">
            <a:avLst/>
          </a:prstGeom>
        </p:spPr>
      </p:pic>
    </p:spTree>
    <p:extLst>
      <p:ext uri="{BB962C8B-B14F-4D97-AF65-F5344CB8AC3E}">
        <p14:creationId xmlns:p14="http://schemas.microsoft.com/office/powerpoint/2010/main" val="146518923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516358-B24C-47E1-82AF-E6182886F352}"/>
              </a:ext>
            </a:extLst>
          </p:cNvPr>
          <p:cNvSpPr>
            <a:spLocks noGrp="1"/>
          </p:cNvSpPr>
          <p:nvPr>
            <p:ph type="title"/>
          </p:nvPr>
        </p:nvSpPr>
        <p:spPr>
          <a:xfrm>
            <a:off x="2580046" y="70832"/>
            <a:ext cx="8911687" cy="1280890"/>
          </a:xfrm>
        </p:spPr>
        <p:txBody>
          <a:bodyPr/>
          <a:lstStyle/>
          <a:p>
            <a:r>
              <a:rPr lang="fr-FR" sz="3200" b="1" dirty="0">
                <a:solidFill>
                  <a:srgbClr val="FF0000"/>
                </a:solidFill>
                <a:effectLst/>
                <a:ea typeface="Times New Roman" panose="02020603050405020304" pitchFamily="18" charset="0"/>
                <a:cs typeface="Arial" panose="020B0604020202020204" pitchFamily="34" charset="0"/>
              </a:rPr>
              <a:t>I- </a:t>
            </a:r>
            <a:r>
              <a:rPr lang="fr-FR" sz="3200" b="1" dirty="0" smtClean="0">
                <a:solidFill>
                  <a:srgbClr val="FF0000"/>
                </a:solidFill>
                <a:effectLst/>
                <a:ea typeface="Times New Roman" panose="02020603050405020304" pitchFamily="18" charset="0"/>
                <a:cs typeface="Arial" panose="020B0604020202020204" pitchFamily="34" charset="0"/>
              </a:rPr>
              <a:t>INDICATIONS </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AB7FC342-5C03-4038-9BB1-95ECEC93406F}"/>
              </a:ext>
            </a:extLst>
          </p:cNvPr>
          <p:cNvSpPr>
            <a:spLocks noGrp="1"/>
          </p:cNvSpPr>
          <p:nvPr>
            <p:ph idx="1"/>
          </p:nvPr>
        </p:nvSpPr>
        <p:spPr>
          <a:xfrm>
            <a:off x="0" y="1351722"/>
            <a:ext cx="12059478" cy="4882168"/>
          </a:xfrm>
        </p:spPr>
        <p:txBody>
          <a:bodyPr>
            <a:normAutofit fontScale="25000" lnSpcReduction="20000"/>
          </a:bodyPr>
          <a:lstStyle/>
          <a:p>
            <a:pPr marL="342900" lvl="0" indent="-342900" algn="just">
              <a:lnSpc>
                <a:spcPct val="120000"/>
              </a:lnSpc>
              <a:spcAft>
                <a:spcPts val="1000"/>
              </a:spcAft>
              <a:buFont typeface="Times New Roman" panose="02020603050405020304" pitchFamily="18" charset="0"/>
              <a:buChar char="-"/>
              <a:tabLst>
                <a:tab pos="457200" algn="l"/>
              </a:tabLst>
            </a:pPr>
            <a:r>
              <a:rPr lang="fr-FR" sz="11200" b="1" u="sng"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Médicales </a:t>
            </a:r>
            <a:r>
              <a:rPr lang="fr-FR" sz="11200" b="1" u="sng"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  </a:t>
            </a:r>
            <a:r>
              <a:rPr lang="fr-FR" sz="11200" b="1"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(1/2)                                   </a:t>
            </a:r>
            <a:endParaRPr lang="fr-FR" sz="112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Hémorragies</a:t>
            </a:r>
            <a:endParaRPr lang="fr-FR" sz="112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Méningites</a:t>
            </a: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Soulager </a:t>
            </a:r>
            <a:r>
              <a:rPr lang="fr-FR" sz="112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une </a:t>
            </a: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douleur</a:t>
            </a:r>
            <a:endParaRPr lang="fr-FR" sz="112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Diminuer </a:t>
            </a:r>
            <a:r>
              <a:rPr lang="fr-FR" sz="112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une </a:t>
            </a: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enflure</a:t>
            </a:r>
            <a:endParaRPr lang="fr-FR" sz="112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Fièvre </a:t>
            </a:r>
            <a:endParaRPr lang="fr-FR" sz="11200" dirty="0">
              <a:effectLst/>
              <a:latin typeface="Arial Black" panose="020B0A04020102020204" pitchFamily="34" charset="0"/>
              <a:ea typeface="Times New Roman" panose="02020603050405020304" pitchFamily="18" charset="0"/>
              <a:cs typeface="Times New Roman" panose="02020603050405020304" pitchFamily="18" charset="0"/>
            </a:endParaRPr>
          </a:p>
          <a:p>
            <a:pPr marL="0" indent="0" algn="just">
              <a:lnSpc>
                <a:spcPct val="120000"/>
              </a:lnSpc>
              <a:spcAft>
                <a:spcPts val="1000"/>
              </a:spcAft>
              <a:buNone/>
            </a:pPr>
            <a:endParaRPr lang="fr-FR" sz="8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25000"/>
              </a:lnSpc>
              <a:spcAft>
                <a:spcPts val="1000"/>
              </a:spcAft>
            </a:pPr>
            <a:r>
              <a:rPr lang="fr-FR"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227553542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E2B7FE-4584-4455-B2B1-B9EEEBAEB014}"/>
              </a:ext>
            </a:extLst>
          </p:cNvPr>
          <p:cNvSpPr>
            <a:spLocks noGrp="1"/>
          </p:cNvSpPr>
          <p:nvPr>
            <p:ph type="title"/>
          </p:nvPr>
        </p:nvSpPr>
        <p:spPr>
          <a:xfrm>
            <a:off x="2631561" y="0"/>
            <a:ext cx="8911687" cy="1280890"/>
          </a:xfrm>
        </p:spPr>
        <p:txBody>
          <a:bodyPr/>
          <a:lstStyle/>
          <a:p>
            <a:endParaRPr lang="fr-FR" dirty="0"/>
          </a:p>
        </p:txBody>
      </p:sp>
      <p:sp>
        <p:nvSpPr>
          <p:cNvPr id="3" name="Espace réservé du contenu 2">
            <a:extLst>
              <a:ext uri="{FF2B5EF4-FFF2-40B4-BE49-F238E27FC236}">
                <a16:creationId xmlns:a16="http://schemas.microsoft.com/office/drawing/2014/main" id="{371DDCD1-61D9-4159-A432-73BD527E56C6}"/>
              </a:ext>
            </a:extLst>
          </p:cNvPr>
          <p:cNvSpPr>
            <a:spLocks noGrp="1"/>
          </p:cNvSpPr>
          <p:nvPr>
            <p:ph idx="1"/>
          </p:nvPr>
        </p:nvSpPr>
        <p:spPr>
          <a:xfrm>
            <a:off x="-90152" y="1280890"/>
            <a:ext cx="12059478" cy="4328890"/>
          </a:xfrm>
        </p:spPr>
        <p:txBody>
          <a:bodyPr>
            <a:normAutofit fontScale="92500" lnSpcReduction="10000"/>
          </a:bodyPr>
          <a:lstStyle/>
          <a:p>
            <a:pPr marL="342900" lvl="0" indent="-342900" algn="just">
              <a:lnSpc>
                <a:spcPct val="120000"/>
              </a:lnSpc>
              <a:spcAft>
                <a:spcPts val="1000"/>
              </a:spcAft>
              <a:buFont typeface="Times New Roman" panose="02020603050405020304" pitchFamily="18" charset="0"/>
              <a:buChar char="-"/>
              <a:tabLst>
                <a:tab pos="457200" algn="l"/>
              </a:tabLst>
            </a:pPr>
            <a:r>
              <a:rPr lang="fr-FR" sz="3000" b="1" u="sng"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Chirurgicales</a:t>
            </a:r>
            <a:r>
              <a:rPr lang="fr-FR" sz="30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a:t>
            </a:r>
            <a:r>
              <a:rPr lang="fr-FR" sz="30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(2/2</a:t>
            </a:r>
            <a:r>
              <a:rPr lang="fr-FR" sz="30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Limiter un épanchement de sang dans les tissus</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Appendicites</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Salpingites aiguës</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Fracture du crâne</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Péritonite</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2224920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D9E1F0-9CD3-4840-8D0E-3CC8CEB48BE1}"/>
              </a:ext>
            </a:extLst>
          </p:cNvPr>
          <p:cNvSpPr>
            <a:spLocks noGrp="1"/>
          </p:cNvSpPr>
          <p:nvPr>
            <p:ph type="title"/>
          </p:nvPr>
        </p:nvSpPr>
        <p:spPr>
          <a:xfrm>
            <a:off x="2589212" y="0"/>
            <a:ext cx="8911687" cy="1280890"/>
          </a:xfrm>
        </p:spPr>
        <p:txBody>
          <a:bodyPr/>
          <a:lstStyle/>
          <a:p>
            <a:endParaRPr lang="fr-FR" dirty="0"/>
          </a:p>
        </p:txBody>
      </p:sp>
      <p:sp>
        <p:nvSpPr>
          <p:cNvPr id="3" name="Espace réservé du contenu 2">
            <a:extLst>
              <a:ext uri="{FF2B5EF4-FFF2-40B4-BE49-F238E27FC236}">
                <a16:creationId xmlns:a16="http://schemas.microsoft.com/office/drawing/2014/main" id="{717DCC70-3C9B-4149-A23E-E5A9E35AFCF1}"/>
              </a:ext>
            </a:extLst>
          </p:cNvPr>
          <p:cNvSpPr>
            <a:spLocks noGrp="1"/>
          </p:cNvSpPr>
          <p:nvPr>
            <p:ph idx="1"/>
          </p:nvPr>
        </p:nvSpPr>
        <p:spPr>
          <a:xfrm>
            <a:off x="193741" y="1280890"/>
            <a:ext cx="11732095" cy="4507425"/>
          </a:xfrm>
        </p:spPr>
        <p:txBody>
          <a:bodyPr>
            <a:normAutofit lnSpcReduction="10000"/>
          </a:bodyPr>
          <a:lstStyle/>
          <a:p>
            <a:pPr marL="0" lvl="0" indent="0" algn="just">
              <a:lnSpc>
                <a:spcPct val="125000"/>
              </a:lnSpc>
              <a:spcAft>
                <a:spcPts val="1000"/>
              </a:spcAft>
              <a:buNone/>
            </a:pPr>
            <a:r>
              <a:rPr lang="fr-FR" sz="30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II- MATERIEL</a:t>
            </a:r>
            <a:endParaRPr lang="fr-FR" sz="30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Calibri" panose="020F0502020204030204" pitchFamily="34" charset="0"/>
              <a:buChar char="-"/>
            </a:pPr>
            <a:r>
              <a:rPr lang="fr-FR" sz="3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Vessie de glace</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Calibri" panose="020F0502020204030204" pitchFamily="34" charset="0"/>
              <a:buChar char="-"/>
            </a:pPr>
            <a:r>
              <a:rPr lang="fr-FR" sz="3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Glaçon ou glace pilée</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Calibri" panose="020F0502020204030204" pitchFamily="34" charset="0"/>
              <a:buChar char="-"/>
            </a:pPr>
            <a:r>
              <a:rPr lang="fr-FR" sz="3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Talc</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Calibri" panose="020F0502020204030204" pitchFamily="34" charset="0"/>
              <a:buChar char="-"/>
            </a:pPr>
            <a:r>
              <a:rPr lang="fr-FR" sz="3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Alaise ou linge de dimension adaptée à la région à traiter ou une serviette</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9176208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182006-71F1-4F0F-A6C9-CBDCF7B33B89}"/>
              </a:ext>
            </a:extLst>
          </p:cNvPr>
          <p:cNvSpPr>
            <a:spLocks noGrp="1"/>
          </p:cNvSpPr>
          <p:nvPr>
            <p:ph type="title"/>
          </p:nvPr>
        </p:nvSpPr>
        <p:spPr>
          <a:xfrm>
            <a:off x="2670198" y="0"/>
            <a:ext cx="8911687" cy="618186"/>
          </a:xfrm>
        </p:spPr>
        <p:txBody>
          <a:bodyPr/>
          <a:lstStyle/>
          <a:p>
            <a:endParaRPr lang="fr-FR" dirty="0"/>
          </a:p>
        </p:txBody>
      </p:sp>
      <p:sp>
        <p:nvSpPr>
          <p:cNvPr id="3" name="Espace réservé du contenu 2">
            <a:extLst>
              <a:ext uri="{FF2B5EF4-FFF2-40B4-BE49-F238E27FC236}">
                <a16:creationId xmlns:a16="http://schemas.microsoft.com/office/drawing/2014/main" id="{E59735A0-829F-4C59-A383-73069CE2C010}"/>
              </a:ext>
            </a:extLst>
          </p:cNvPr>
          <p:cNvSpPr>
            <a:spLocks noGrp="1"/>
          </p:cNvSpPr>
          <p:nvPr>
            <p:ph idx="1"/>
          </p:nvPr>
        </p:nvSpPr>
        <p:spPr>
          <a:xfrm>
            <a:off x="115910" y="1120462"/>
            <a:ext cx="11983325" cy="5241701"/>
          </a:xfrm>
        </p:spPr>
        <p:txBody>
          <a:bodyPr>
            <a:normAutofit fontScale="25000" lnSpcReduction="20000"/>
          </a:bodyPr>
          <a:lstStyle/>
          <a:p>
            <a:pPr marL="228606" indent="0" algn="just">
              <a:lnSpc>
                <a:spcPct val="125000"/>
              </a:lnSpc>
              <a:spcAft>
                <a:spcPts val="1000"/>
              </a:spcAft>
              <a:buNone/>
            </a:pPr>
            <a:r>
              <a:rPr lang="fr-FR" sz="9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III-</a:t>
            </a:r>
            <a:r>
              <a:rPr lang="fr-FR" sz="9800" b="1"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TECHNIQUE</a:t>
            </a:r>
            <a:endParaRPr lang="fr-FR" sz="9800"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1000"/>
              </a:spcAft>
            </a:pPr>
            <a:r>
              <a:rPr lang="fr-FR" sz="98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Remplir la poche ou la vessie aux 2/3 avec des glaçons ou de la glace pilée</a:t>
            </a:r>
            <a:endParaRPr lang="fr-FR" sz="9800" dirty="0" smtClean="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98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Entourer </a:t>
            </a:r>
            <a:r>
              <a:rPr lang="fr-FR" sz="98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poche avec un linge</a:t>
            </a:r>
            <a:endParaRPr lang="fr-FR" sz="98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98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Talquer la surface cutanée à traiter et y placer la poche</a:t>
            </a:r>
            <a:endParaRPr lang="fr-FR" sz="98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98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Maintenir la poche en place avec une bande souple et élastique renouveler aussi souvent que nécessaire selon la prescription médicale</a:t>
            </a:r>
            <a:endParaRPr lang="fr-FR" sz="98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9800" u="sng"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N.B</a:t>
            </a:r>
            <a:r>
              <a:rPr lang="fr-FR" sz="98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 : ne jamais appliquer la vessie de glace au niveau du cœur</a:t>
            </a:r>
            <a:endParaRPr lang="fr-FR" sz="98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210538860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5AEEAC-CA20-459C-9410-64BCB1BE7D35}"/>
              </a:ext>
            </a:extLst>
          </p:cNvPr>
          <p:cNvSpPr>
            <a:spLocks noGrp="1"/>
          </p:cNvSpPr>
          <p:nvPr>
            <p:ph type="title"/>
          </p:nvPr>
        </p:nvSpPr>
        <p:spPr>
          <a:xfrm>
            <a:off x="1648496" y="0"/>
            <a:ext cx="9753085" cy="824248"/>
          </a:xfrm>
        </p:spPr>
        <p:txBody>
          <a:bodyPr/>
          <a:lstStyle/>
          <a:p>
            <a:endParaRPr lang="fr-FR" dirty="0"/>
          </a:p>
        </p:txBody>
      </p:sp>
      <p:sp>
        <p:nvSpPr>
          <p:cNvPr id="3" name="Espace réservé du contenu 2">
            <a:extLst>
              <a:ext uri="{FF2B5EF4-FFF2-40B4-BE49-F238E27FC236}">
                <a16:creationId xmlns:a16="http://schemas.microsoft.com/office/drawing/2014/main" id="{BD9CCB53-6CA8-41B2-A6F7-0322DAE33A69}"/>
              </a:ext>
            </a:extLst>
          </p:cNvPr>
          <p:cNvSpPr>
            <a:spLocks noGrp="1"/>
          </p:cNvSpPr>
          <p:nvPr>
            <p:ph idx="1"/>
          </p:nvPr>
        </p:nvSpPr>
        <p:spPr>
          <a:xfrm>
            <a:off x="167426" y="1270715"/>
            <a:ext cx="11401581" cy="3777622"/>
          </a:xfrm>
        </p:spPr>
        <p:txBody>
          <a:bodyPr/>
          <a:lstStyle/>
          <a:p>
            <a:pPr marL="0" lvl="0" indent="0" algn="just">
              <a:lnSpc>
                <a:spcPct val="125000"/>
              </a:lnSpc>
              <a:spcAft>
                <a:spcPts val="1000"/>
              </a:spcAft>
              <a:buNone/>
            </a:pPr>
            <a:r>
              <a:rPr lang="fr-FR"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IV- </a:t>
            </a:r>
            <a:r>
              <a:rPr lang="fr-FR"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ELEMENTS DE SURVEILLANCE</a:t>
            </a:r>
            <a:endParaRPr lang="fr-FR"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du malade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Recherche d’une diminution, d’une absence ou d’une augmentation de la douleur</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257780179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F39287-8F01-4216-BD68-43666FB2B4E7}"/>
              </a:ext>
            </a:extLst>
          </p:cNvPr>
          <p:cNvSpPr>
            <a:spLocks noGrp="1"/>
          </p:cNvSpPr>
          <p:nvPr>
            <p:ph type="title"/>
          </p:nvPr>
        </p:nvSpPr>
        <p:spPr>
          <a:xfrm>
            <a:off x="2034863" y="0"/>
            <a:ext cx="9469750" cy="1030310"/>
          </a:xfrm>
        </p:spPr>
        <p:txBody>
          <a:bodyPr>
            <a:normAutofit fontScale="90000"/>
          </a:bodyPr>
          <a:lstStyle/>
          <a:p>
            <a:pPr algn="ctr"/>
            <a:r>
              <a:rPr lang="fr-FR" sz="4400" dirty="0">
                <a:solidFill>
                  <a:srgbClr val="FF0000"/>
                </a:solidFill>
                <a:effectLst/>
                <a:ea typeface="Times New Roman" panose="02020603050405020304" pitchFamily="18" charset="0"/>
                <a:cs typeface="Arial" panose="020B0604020202020204" pitchFamily="34" charset="0"/>
              </a:rPr>
              <a:t>LE POULS</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3E276DF6-82EB-457F-AEC9-8704ADD7D555}"/>
              </a:ext>
            </a:extLst>
          </p:cNvPr>
          <p:cNvSpPr>
            <a:spLocks noGrp="1"/>
          </p:cNvSpPr>
          <p:nvPr>
            <p:ph idx="1"/>
          </p:nvPr>
        </p:nvSpPr>
        <p:spPr>
          <a:xfrm>
            <a:off x="0" y="722524"/>
            <a:ext cx="12192000" cy="5704034"/>
          </a:xfrm>
        </p:spPr>
        <p:txBody>
          <a:bodyPr>
            <a:normAutofit fontScale="92500" lnSpcReduction="20000"/>
          </a:bodyPr>
          <a:lstStyle/>
          <a:p>
            <a:pPr marL="0" indent="0" algn="just">
              <a:lnSpc>
                <a:spcPct val="125000"/>
              </a:lnSpc>
              <a:spcAft>
                <a:spcPts val="1000"/>
              </a:spcAft>
              <a:buNone/>
            </a:pPr>
            <a:r>
              <a:rPr lang="fr-FR" sz="3200" b="1" dirty="0" smtClean="0">
                <a:effectLst/>
                <a:latin typeface="Arial Black" panose="020B0A04020102020204" pitchFamily="34" charset="0"/>
                <a:ea typeface="Times New Roman" panose="02020603050405020304" pitchFamily="18" charset="0"/>
                <a:cs typeface="Times New Roman" panose="02020603050405020304" pitchFamily="18" charset="0"/>
              </a:rPr>
              <a:t>              INTRODUCTION</a:t>
            </a:r>
            <a:endParaRPr lang="fr-FR" sz="3200" b="1" dirty="0">
              <a:effectLst/>
              <a:latin typeface="Arial Black" panose="020B0A04020102020204" pitchFamily="34" charset="0"/>
              <a:ea typeface="Times New Roman" panose="02020603050405020304" pitchFamily="18" charset="0"/>
              <a:cs typeface="Times New Roman" panose="02020603050405020304" pitchFamily="18" charset="0"/>
            </a:endParaRPr>
          </a:p>
          <a:p>
            <a:pPr marL="0" indent="0" algn="just">
              <a:lnSpc>
                <a:spcPct val="125000"/>
              </a:lnSpc>
              <a:spcAft>
                <a:spcPts val="1000"/>
              </a:spcAft>
              <a:buNone/>
            </a:pPr>
            <a:r>
              <a:rPr lang="fr-FR" sz="3000" dirty="0">
                <a:effectLst/>
                <a:latin typeface="Arial Black" panose="020B0A04020102020204" pitchFamily="34" charset="0"/>
                <a:ea typeface="Times New Roman" panose="02020603050405020304" pitchFamily="18" charset="0"/>
                <a:cs typeface="Arial" panose="020B0604020202020204" pitchFamily="34" charset="0"/>
              </a:rPr>
              <a:t>L’appréciation des pulsations se réalise par la pression des doigts sur le trajet ou au moyen d’un appareil de mesure électronique</a:t>
            </a:r>
          </a:p>
          <a:p>
            <a:pPr marL="0" indent="0" algn="just">
              <a:lnSpc>
                <a:spcPct val="125000"/>
              </a:lnSpc>
              <a:spcAft>
                <a:spcPts val="1000"/>
              </a:spcAft>
              <a:buNone/>
            </a:pPr>
            <a:r>
              <a:rPr lang="fr-FR" sz="3000" dirty="0">
                <a:effectLst/>
                <a:latin typeface="Arial Black" panose="020B0A04020102020204" pitchFamily="34" charset="0"/>
                <a:ea typeface="Times New Roman" panose="02020603050405020304" pitchFamily="18" charset="0"/>
                <a:cs typeface="Arial" panose="020B0604020202020204" pitchFamily="34" charset="0"/>
              </a:rPr>
              <a:t>La mesure des pulsations permet d’apprécier le rythme, la fréquence, l’amplitude, le caractère des battements cardiaques</a:t>
            </a:r>
          </a:p>
          <a:p>
            <a:pPr marL="0" indent="0" algn="just">
              <a:lnSpc>
                <a:spcPct val="125000"/>
              </a:lnSpc>
              <a:spcAft>
                <a:spcPts val="1000"/>
              </a:spcAft>
              <a:buNone/>
            </a:pPr>
            <a:r>
              <a:rPr lang="fr-FR" sz="3000" dirty="0">
                <a:effectLst/>
                <a:latin typeface="Arial Black" panose="020B0A04020102020204" pitchFamily="34" charset="0"/>
                <a:ea typeface="Times New Roman" panose="02020603050405020304" pitchFamily="18" charset="0"/>
                <a:cs typeface="Arial" panose="020B0604020202020204" pitchFamily="34" charset="0"/>
              </a:rPr>
              <a:t>Elle fait partie du recueil des informations qui concourent à la connaissance et à la surveillance de l’état de santé d’une personne </a:t>
            </a:r>
          </a:p>
          <a:p>
            <a:pPr marL="0" indent="0">
              <a:buNone/>
            </a:pP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324633056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274A21-F0CA-48F9-BAFB-B0D6F87EB589}"/>
              </a:ext>
            </a:extLst>
          </p:cNvPr>
          <p:cNvSpPr>
            <a:spLocks noGrp="1"/>
          </p:cNvSpPr>
          <p:nvPr>
            <p:ph type="title"/>
          </p:nvPr>
        </p:nvSpPr>
        <p:spPr>
          <a:xfrm>
            <a:off x="2592925" y="0"/>
            <a:ext cx="8911687" cy="1280890"/>
          </a:xfrm>
        </p:spPr>
        <p:txBody>
          <a:bodyPr/>
          <a:lstStyle/>
          <a:p>
            <a:endParaRPr lang="fr-FR" dirty="0"/>
          </a:p>
        </p:txBody>
      </p:sp>
      <p:sp>
        <p:nvSpPr>
          <p:cNvPr id="3" name="Espace réservé du contenu 2">
            <a:extLst>
              <a:ext uri="{FF2B5EF4-FFF2-40B4-BE49-F238E27FC236}">
                <a16:creationId xmlns:a16="http://schemas.microsoft.com/office/drawing/2014/main" id="{4F8F1BE1-1B12-40CE-9934-CF9A9DB8FA70}"/>
              </a:ext>
            </a:extLst>
          </p:cNvPr>
          <p:cNvSpPr>
            <a:spLocks noGrp="1"/>
          </p:cNvSpPr>
          <p:nvPr>
            <p:ph idx="1"/>
          </p:nvPr>
        </p:nvSpPr>
        <p:spPr>
          <a:xfrm>
            <a:off x="0" y="1412383"/>
            <a:ext cx="12192000" cy="3777622"/>
          </a:xfrm>
        </p:spPr>
        <p:txBody>
          <a:bodyPr/>
          <a:lstStyle/>
          <a:p>
            <a:pPr marL="342900" lvl="0" indent="-342900" algn="just">
              <a:lnSpc>
                <a:spcPct val="125000"/>
              </a:lnSpc>
              <a:spcAft>
                <a:spcPts val="1000"/>
              </a:spcAft>
              <a:buFont typeface="+mj-lt"/>
              <a:buAutoNum type="romanUcPeriod"/>
              <a:tabLst>
                <a:tab pos="628650" algn="l"/>
              </a:tabLst>
            </a:pP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DEFINITION </a:t>
            </a:r>
            <a:endParaRPr lang="fr-FR" sz="3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Le pouls est la sensation de soulèvement perçue par le doigt qui déprime une artère superficielle sur un plan osseux</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277889980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2E8BC6-C56C-4704-8600-8032471D2135}"/>
              </a:ext>
            </a:extLst>
          </p:cNvPr>
          <p:cNvSpPr>
            <a:spLocks noGrp="1"/>
          </p:cNvSpPr>
          <p:nvPr>
            <p:ph type="title"/>
          </p:nvPr>
        </p:nvSpPr>
        <p:spPr>
          <a:xfrm>
            <a:off x="2670198" y="108955"/>
            <a:ext cx="8911687" cy="1280890"/>
          </a:xfrm>
        </p:spPr>
        <p:txBody>
          <a:bodyPr/>
          <a:lstStyle/>
          <a:p>
            <a:endParaRPr lang="fr-FR" dirty="0"/>
          </a:p>
        </p:txBody>
      </p:sp>
      <p:sp>
        <p:nvSpPr>
          <p:cNvPr id="3" name="Espace réservé du contenu 2">
            <a:extLst>
              <a:ext uri="{FF2B5EF4-FFF2-40B4-BE49-F238E27FC236}">
                <a16:creationId xmlns:a16="http://schemas.microsoft.com/office/drawing/2014/main" id="{5FA420BA-7A87-4926-92E3-33035942BCD1}"/>
              </a:ext>
            </a:extLst>
          </p:cNvPr>
          <p:cNvSpPr>
            <a:spLocks noGrp="1"/>
          </p:cNvSpPr>
          <p:nvPr>
            <p:ph idx="1"/>
          </p:nvPr>
        </p:nvSpPr>
        <p:spPr>
          <a:xfrm>
            <a:off x="0" y="1389845"/>
            <a:ext cx="12192000" cy="4843530"/>
          </a:xfrm>
        </p:spPr>
        <p:txBody>
          <a:bodyPr>
            <a:normAutofit fontScale="77500" lnSpcReduction="20000"/>
          </a:bodyPr>
          <a:lstStyle/>
          <a:p>
            <a:pPr marL="0" lvl="0" indent="0" algn="just">
              <a:lnSpc>
                <a:spcPct val="125000"/>
              </a:lnSpc>
              <a:spcAft>
                <a:spcPts val="1000"/>
              </a:spcAft>
              <a:buNone/>
              <a:tabLst>
                <a:tab pos="628650" algn="l"/>
              </a:tabLst>
            </a:pPr>
            <a:r>
              <a:rPr lang="fr-FR" sz="36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II- OBJECTIFS </a:t>
            </a:r>
            <a:endParaRPr lang="fr-FR" sz="36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Arial" panose="020B0604020202020204" pitchFamily="34" charset="0"/>
              <a:buChar char="-"/>
            </a:pPr>
            <a:r>
              <a:rPr lang="fr-FR" sz="3600" dirty="0">
                <a:effectLst/>
                <a:latin typeface="Arial Black" panose="020B0A04020102020204" pitchFamily="34" charset="0"/>
                <a:ea typeface="Times New Roman" panose="02020603050405020304" pitchFamily="18" charset="0"/>
                <a:cs typeface="Arial" panose="020B0604020202020204" pitchFamily="34" charset="0"/>
              </a:rPr>
              <a:t>Surveiller l’état de santé d’une personne</a:t>
            </a:r>
          </a:p>
          <a:p>
            <a:pPr marL="342900" lvl="0" indent="-342900" algn="just">
              <a:lnSpc>
                <a:spcPct val="125000"/>
              </a:lnSpc>
              <a:spcAft>
                <a:spcPts val="1000"/>
              </a:spcAft>
              <a:buFont typeface="Arial" panose="020B0604020202020204" pitchFamily="34" charset="0"/>
              <a:buChar char="-"/>
            </a:pPr>
            <a:r>
              <a:rPr lang="fr-FR" sz="3600" dirty="0">
                <a:effectLst/>
                <a:latin typeface="Arial Black" panose="020B0A04020102020204" pitchFamily="34" charset="0"/>
                <a:ea typeface="Times New Roman" panose="02020603050405020304" pitchFamily="18" charset="0"/>
                <a:cs typeface="Arial" panose="020B0604020202020204" pitchFamily="34" charset="0"/>
              </a:rPr>
              <a:t>Apprécier la fréquence et le rythme cardiaque</a:t>
            </a:r>
          </a:p>
          <a:p>
            <a:pPr marL="342900" lvl="0" indent="-342900" algn="just">
              <a:lnSpc>
                <a:spcPct val="125000"/>
              </a:lnSpc>
              <a:spcAft>
                <a:spcPts val="1000"/>
              </a:spcAft>
              <a:buFont typeface="Arial" panose="020B0604020202020204" pitchFamily="34" charset="0"/>
              <a:buChar char="-"/>
            </a:pPr>
            <a:r>
              <a:rPr lang="fr-FR" sz="3600" dirty="0">
                <a:effectLst/>
                <a:latin typeface="Arial Black" panose="020B0A04020102020204" pitchFamily="34" charset="0"/>
                <a:ea typeface="Times New Roman" panose="02020603050405020304" pitchFamily="18" charset="0"/>
                <a:cs typeface="Arial" panose="020B0604020202020204" pitchFamily="34" charset="0"/>
              </a:rPr>
              <a:t>Déceler des anomalies du fonctionnement de l’appareil cardio-vasculaire</a:t>
            </a:r>
          </a:p>
          <a:p>
            <a:pPr marL="342900" lvl="0" indent="-342900" algn="just">
              <a:lnSpc>
                <a:spcPct val="125000"/>
              </a:lnSpc>
              <a:spcAft>
                <a:spcPts val="1000"/>
              </a:spcAft>
              <a:buFont typeface="Arial" panose="020B0604020202020204" pitchFamily="34" charset="0"/>
              <a:buChar char="-"/>
            </a:pPr>
            <a:r>
              <a:rPr lang="fr-FR" sz="3600" dirty="0">
                <a:effectLst/>
                <a:latin typeface="Arial Black" panose="020B0A04020102020204" pitchFamily="34" charset="0"/>
                <a:ea typeface="Times New Roman" panose="02020603050405020304" pitchFamily="18" charset="0"/>
                <a:cs typeface="Arial" panose="020B0604020202020204" pitchFamily="34" charset="0"/>
              </a:rPr>
              <a:t>Evaluer la régularité et la force du pouls</a:t>
            </a:r>
          </a:p>
          <a:p>
            <a:pPr marL="342900" lvl="0" indent="-342900" algn="just">
              <a:lnSpc>
                <a:spcPct val="125000"/>
              </a:lnSpc>
              <a:spcAft>
                <a:spcPts val="1000"/>
              </a:spcAft>
              <a:buFont typeface="Arial" panose="020B0604020202020204" pitchFamily="34" charset="0"/>
              <a:buChar char="-"/>
            </a:pPr>
            <a:r>
              <a:rPr lang="fr-FR" sz="3600" dirty="0">
                <a:effectLst/>
                <a:latin typeface="Arial Black" panose="020B0A04020102020204" pitchFamily="34" charset="0"/>
                <a:ea typeface="Times New Roman" panose="02020603050405020304" pitchFamily="18" charset="0"/>
                <a:cs typeface="Arial" panose="020B0604020202020204" pitchFamily="34" charset="0"/>
              </a:rPr>
              <a:t>Apprécier les effets d’un traitement médicamenteux</a:t>
            </a:r>
          </a:p>
          <a:p>
            <a:endParaRPr lang="fr-FR" dirty="0"/>
          </a:p>
        </p:txBody>
      </p:sp>
    </p:spTree>
    <p:extLst>
      <p:ext uri="{BB962C8B-B14F-4D97-AF65-F5344CB8AC3E}">
        <p14:creationId xmlns:p14="http://schemas.microsoft.com/office/powerpoint/2010/main" val="87005642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EED7AF-9AC8-480E-A7D8-55ACCAA19DFD}"/>
              </a:ext>
            </a:extLst>
          </p:cNvPr>
          <p:cNvSpPr>
            <a:spLocks noGrp="1"/>
          </p:cNvSpPr>
          <p:nvPr>
            <p:ph type="title"/>
          </p:nvPr>
        </p:nvSpPr>
        <p:spPr>
          <a:xfrm>
            <a:off x="2592925" y="0"/>
            <a:ext cx="8911687" cy="695459"/>
          </a:xfrm>
        </p:spPr>
        <p:txBody>
          <a:bodyPr/>
          <a:lstStyle/>
          <a:p>
            <a:endParaRPr lang="fr-FR" dirty="0"/>
          </a:p>
        </p:txBody>
      </p:sp>
      <p:sp>
        <p:nvSpPr>
          <p:cNvPr id="3" name="Espace réservé du contenu 2">
            <a:extLst>
              <a:ext uri="{FF2B5EF4-FFF2-40B4-BE49-F238E27FC236}">
                <a16:creationId xmlns:a16="http://schemas.microsoft.com/office/drawing/2014/main" id="{8C8039A8-C68B-4936-9D0C-323130C06065}"/>
              </a:ext>
            </a:extLst>
          </p:cNvPr>
          <p:cNvSpPr>
            <a:spLocks noGrp="1"/>
          </p:cNvSpPr>
          <p:nvPr>
            <p:ph idx="1"/>
          </p:nvPr>
        </p:nvSpPr>
        <p:spPr>
          <a:xfrm>
            <a:off x="0" y="1386626"/>
            <a:ext cx="11990231" cy="3777622"/>
          </a:xfrm>
        </p:spPr>
        <p:txBody>
          <a:bodyPr/>
          <a:lstStyle/>
          <a:p>
            <a:pPr marL="0" lvl="0" indent="0" algn="just">
              <a:lnSpc>
                <a:spcPct val="125000"/>
              </a:lnSpc>
              <a:spcAft>
                <a:spcPts val="1000"/>
              </a:spcAft>
              <a:buNone/>
              <a:tabLst>
                <a:tab pos="628650" algn="l"/>
              </a:tabLst>
            </a:pP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III- MATERIEL</a:t>
            </a:r>
            <a:endParaRPr lang="fr-FR" sz="3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Arial" panose="020B0604020202020204" pitchFamily="34" charset="0"/>
              <a:buChar char="-"/>
            </a:pPr>
            <a:r>
              <a:rPr lang="fr-FR" dirty="0">
                <a:effectLst/>
                <a:latin typeface="Arial Black" panose="020B0A04020102020204" pitchFamily="34" charset="0"/>
                <a:ea typeface="Times New Roman" panose="02020603050405020304" pitchFamily="18" charset="0"/>
                <a:cs typeface="Arial" panose="020B0604020202020204" pitchFamily="34" charset="0"/>
              </a:rPr>
              <a:t>Un stylo rouge</a:t>
            </a:r>
          </a:p>
          <a:p>
            <a:pPr marL="342900" lvl="0" indent="-342900" algn="just">
              <a:lnSpc>
                <a:spcPct val="125000"/>
              </a:lnSpc>
              <a:spcAft>
                <a:spcPts val="1000"/>
              </a:spcAft>
              <a:buFont typeface="Arial" panose="020B0604020202020204" pitchFamily="34" charset="0"/>
              <a:buChar char="-"/>
            </a:pPr>
            <a:r>
              <a:rPr lang="fr-FR" dirty="0">
                <a:effectLst/>
                <a:latin typeface="Arial Black" panose="020B0A04020102020204" pitchFamily="34" charset="0"/>
                <a:ea typeface="Times New Roman" panose="02020603050405020304" pitchFamily="18" charset="0"/>
                <a:cs typeface="Arial" panose="020B0604020202020204" pitchFamily="34" charset="0"/>
              </a:rPr>
              <a:t>Une feuille de température ou un carnet de santé</a:t>
            </a:r>
          </a:p>
          <a:p>
            <a:pPr marL="342900" lvl="0" indent="-342900" algn="just">
              <a:lnSpc>
                <a:spcPct val="125000"/>
              </a:lnSpc>
              <a:spcAft>
                <a:spcPts val="1000"/>
              </a:spcAft>
              <a:buFont typeface="Arial" panose="020B0604020202020204" pitchFamily="34" charset="0"/>
              <a:buChar char="-"/>
            </a:pPr>
            <a:r>
              <a:rPr lang="fr-FR" dirty="0">
                <a:effectLst/>
                <a:latin typeface="Arial Black" panose="020B0A04020102020204" pitchFamily="34" charset="0"/>
                <a:ea typeface="Times New Roman" panose="02020603050405020304" pitchFamily="18" charset="0"/>
                <a:cs typeface="Arial" panose="020B0604020202020204" pitchFamily="34" charset="0"/>
              </a:rPr>
              <a:t>Une montre à trotteuse (ou appareil de mesure électronique)</a:t>
            </a:r>
          </a:p>
          <a:p>
            <a:pPr marL="0" indent="0">
              <a:buNone/>
            </a:pPr>
            <a:endParaRPr lang="fr-FR" dirty="0"/>
          </a:p>
        </p:txBody>
      </p:sp>
    </p:spTree>
    <p:extLst>
      <p:ext uri="{BB962C8B-B14F-4D97-AF65-F5344CB8AC3E}">
        <p14:creationId xmlns:p14="http://schemas.microsoft.com/office/powerpoint/2010/main" val="228490409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B71B9B-DBA8-4765-9671-5D6AB107D0EF}"/>
              </a:ext>
            </a:extLst>
          </p:cNvPr>
          <p:cNvSpPr>
            <a:spLocks noGrp="1"/>
          </p:cNvSpPr>
          <p:nvPr>
            <p:ph type="title"/>
          </p:nvPr>
        </p:nvSpPr>
        <p:spPr>
          <a:xfrm>
            <a:off x="1751528" y="44561"/>
            <a:ext cx="9624296" cy="522109"/>
          </a:xfrm>
        </p:spPr>
        <p:txBody>
          <a:bodyPr/>
          <a:lstStyle/>
          <a:p>
            <a:endParaRPr lang="fr-FR" dirty="0"/>
          </a:p>
        </p:txBody>
      </p:sp>
      <p:sp>
        <p:nvSpPr>
          <p:cNvPr id="3" name="Espace réservé du contenu 2">
            <a:extLst>
              <a:ext uri="{FF2B5EF4-FFF2-40B4-BE49-F238E27FC236}">
                <a16:creationId xmlns:a16="http://schemas.microsoft.com/office/drawing/2014/main" id="{43D58A89-04F2-4E10-9404-C4D6E041E9B2}"/>
              </a:ext>
            </a:extLst>
          </p:cNvPr>
          <p:cNvSpPr>
            <a:spLocks noGrp="1"/>
          </p:cNvSpPr>
          <p:nvPr>
            <p:ph idx="1"/>
          </p:nvPr>
        </p:nvSpPr>
        <p:spPr>
          <a:xfrm>
            <a:off x="115910" y="746975"/>
            <a:ext cx="11977352" cy="5550793"/>
          </a:xfrm>
        </p:spPr>
        <p:txBody>
          <a:bodyPr>
            <a:normAutofit fontScale="25000" lnSpcReduction="20000"/>
          </a:bodyPr>
          <a:lstStyle/>
          <a:p>
            <a:pPr marL="0" lvl="0" indent="0" algn="just">
              <a:lnSpc>
                <a:spcPct val="120000"/>
              </a:lnSpc>
              <a:spcAft>
                <a:spcPts val="1000"/>
              </a:spcAft>
              <a:buNone/>
              <a:tabLst>
                <a:tab pos="628650" algn="l"/>
              </a:tabLst>
            </a:pPr>
            <a:r>
              <a:rPr lang="fr-FR" sz="112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            IV- </a:t>
            </a:r>
            <a:r>
              <a:rPr lang="fr-FR" sz="11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DIFFERENTS SITES DE PRISE DU </a:t>
            </a:r>
            <a:r>
              <a:rPr lang="fr-FR" sz="112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POULS (1/2) </a:t>
            </a:r>
            <a:endParaRPr lang="fr-FR" sz="11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0000"/>
              </a:lnSpc>
              <a:spcAft>
                <a:spcPts val="1000"/>
              </a:spcAft>
              <a:buNone/>
            </a:pPr>
            <a:r>
              <a:rPr lang="fr-FR" sz="11200" dirty="0">
                <a:effectLst/>
                <a:latin typeface="Arial Black" panose="020B0A04020102020204" pitchFamily="34" charset="0"/>
                <a:ea typeface="Times New Roman" panose="02020603050405020304" pitchFamily="18" charset="0"/>
                <a:cs typeface="Arial" panose="020B0604020202020204" pitchFamily="34" charset="0"/>
              </a:rPr>
              <a:t>Les pulsations peuvent être perçues à différents niveaux :</a:t>
            </a:r>
          </a:p>
          <a:p>
            <a:pPr lvl="0" algn="just">
              <a:lnSpc>
                <a:spcPct val="120000"/>
              </a:lnSpc>
              <a:spcAft>
                <a:spcPts val="1000"/>
              </a:spcAft>
              <a:buFont typeface="Wingdings" panose="05000000000000000000" pitchFamily="2" charset="2"/>
              <a:buChar char="v"/>
              <a:tabLst>
                <a:tab pos="457200" algn="l"/>
              </a:tabLst>
            </a:pPr>
            <a:r>
              <a:rPr lang="fr-FR" sz="11200" b="1" dirty="0">
                <a:solidFill>
                  <a:schemeClr val="accent6"/>
                </a:solidFill>
                <a:effectLst/>
                <a:latin typeface="Arial Black" panose="020B0A04020102020204" pitchFamily="34" charset="0"/>
                <a:ea typeface="Times New Roman" panose="02020603050405020304" pitchFamily="18" charset="0"/>
                <a:cs typeface="Arial" panose="020B0604020202020204" pitchFamily="34" charset="0"/>
              </a:rPr>
              <a:t>MEMBRES SUPERIEURS : </a:t>
            </a:r>
            <a:endParaRPr lang="fr-FR" sz="11200" dirty="0">
              <a:solidFill>
                <a:schemeClr val="accent6"/>
              </a:solidFill>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0000"/>
              </a:lnSpc>
              <a:spcAft>
                <a:spcPts val="1000"/>
              </a:spcAft>
            </a:pPr>
            <a:r>
              <a:rPr lang="fr-FR" sz="11200" dirty="0">
                <a:effectLst/>
                <a:latin typeface="Arial Black" panose="020B0A04020102020204" pitchFamily="34" charset="0"/>
                <a:ea typeface="Times New Roman" panose="02020603050405020304" pitchFamily="18" charset="0"/>
                <a:cs typeface="Arial" panose="020B0604020202020204" pitchFamily="34" charset="0"/>
              </a:rPr>
              <a:t>Au niveau de l’artère radiale (pouls radial)</a:t>
            </a:r>
          </a:p>
          <a:p>
            <a:pPr lvl="0" algn="just">
              <a:lnSpc>
                <a:spcPct val="120000"/>
              </a:lnSpc>
              <a:spcAft>
                <a:spcPts val="1000"/>
              </a:spcAft>
              <a:buFont typeface="Wingdings" panose="05000000000000000000" pitchFamily="2" charset="2"/>
              <a:buChar char="v"/>
            </a:pPr>
            <a:r>
              <a:rPr lang="fr-FR" sz="11200" b="1" dirty="0">
                <a:solidFill>
                  <a:schemeClr val="accent6"/>
                </a:solidFill>
                <a:effectLst/>
                <a:latin typeface="Arial Black" panose="020B0A04020102020204" pitchFamily="34" charset="0"/>
                <a:ea typeface="Times New Roman" panose="02020603050405020304" pitchFamily="18" charset="0"/>
                <a:cs typeface="Arial" panose="020B0604020202020204" pitchFamily="34" charset="0"/>
              </a:rPr>
              <a:t>FACE ET COU</a:t>
            </a:r>
            <a:endParaRPr lang="fr-FR" sz="11200" dirty="0">
              <a:solidFill>
                <a:schemeClr val="accent6"/>
              </a:solidFill>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0000"/>
              </a:lnSpc>
              <a:spcAft>
                <a:spcPts val="1000"/>
              </a:spcAft>
            </a:pPr>
            <a:r>
              <a:rPr lang="fr-FR" sz="11200" dirty="0">
                <a:effectLst/>
                <a:latin typeface="Arial Black" panose="020B0A04020102020204" pitchFamily="34" charset="0"/>
                <a:ea typeface="Times New Roman" panose="02020603050405020304" pitchFamily="18" charset="0"/>
                <a:cs typeface="Arial" panose="020B0604020202020204" pitchFamily="34" charset="0"/>
              </a:rPr>
              <a:t>Artère temporale</a:t>
            </a:r>
          </a:p>
          <a:p>
            <a:pPr algn="just">
              <a:lnSpc>
                <a:spcPct val="120000"/>
              </a:lnSpc>
              <a:spcAft>
                <a:spcPts val="1000"/>
              </a:spcAft>
            </a:pPr>
            <a:r>
              <a:rPr lang="fr-FR" sz="11200" dirty="0">
                <a:effectLst/>
                <a:latin typeface="Arial Black" panose="020B0A04020102020204" pitchFamily="34" charset="0"/>
                <a:ea typeface="Times New Roman" panose="02020603050405020304" pitchFamily="18" charset="0"/>
                <a:cs typeface="Arial" panose="020B0604020202020204" pitchFamily="34" charset="0"/>
              </a:rPr>
              <a:t>Carotide externe (devant l’oreille)</a:t>
            </a:r>
          </a:p>
          <a:p>
            <a:pPr algn="just">
              <a:lnSpc>
                <a:spcPct val="120000"/>
              </a:lnSpc>
              <a:spcAft>
                <a:spcPts val="1000"/>
              </a:spcAft>
            </a:pPr>
            <a:r>
              <a:rPr lang="fr-FR" sz="11200" dirty="0">
                <a:effectLst/>
                <a:latin typeface="Arial Black" panose="020B0A04020102020204" pitchFamily="34" charset="0"/>
                <a:ea typeface="Times New Roman" panose="02020603050405020304" pitchFamily="18" charset="0"/>
                <a:cs typeface="Arial" panose="020B0604020202020204" pitchFamily="34" charset="0"/>
              </a:rPr>
              <a:t>Carotide interne (en avant du cou)</a:t>
            </a:r>
          </a:p>
          <a:p>
            <a:endParaRPr lang="fr-FR" dirty="0"/>
          </a:p>
        </p:txBody>
      </p:sp>
    </p:spTree>
    <p:extLst>
      <p:ext uri="{BB962C8B-B14F-4D97-AF65-F5344CB8AC3E}">
        <p14:creationId xmlns:p14="http://schemas.microsoft.com/office/powerpoint/2010/main" val="76441729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1CE012-497F-4E91-AF93-0B19C3A20F1C}"/>
              </a:ext>
            </a:extLst>
          </p:cNvPr>
          <p:cNvSpPr>
            <a:spLocks noGrp="1"/>
          </p:cNvSpPr>
          <p:nvPr>
            <p:ph type="title"/>
          </p:nvPr>
        </p:nvSpPr>
        <p:spPr>
          <a:xfrm>
            <a:off x="2589212" y="83197"/>
            <a:ext cx="8911687" cy="573626"/>
          </a:xfrm>
        </p:spPr>
        <p:txBody>
          <a:bodyPr/>
          <a:lstStyle/>
          <a:p>
            <a:endParaRPr lang="fr-FR"/>
          </a:p>
        </p:txBody>
      </p:sp>
      <p:sp>
        <p:nvSpPr>
          <p:cNvPr id="3" name="Espace réservé du contenu 2">
            <a:extLst>
              <a:ext uri="{FF2B5EF4-FFF2-40B4-BE49-F238E27FC236}">
                <a16:creationId xmlns:a16="http://schemas.microsoft.com/office/drawing/2014/main" id="{8FB27DF6-447E-4850-84A0-F4700DA62AAD}"/>
              </a:ext>
            </a:extLst>
          </p:cNvPr>
          <p:cNvSpPr>
            <a:spLocks noGrp="1"/>
          </p:cNvSpPr>
          <p:nvPr>
            <p:ph idx="1"/>
          </p:nvPr>
        </p:nvSpPr>
        <p:spPr>
          <a:xfrm>
            <a:off x="0" y="1232079"/>
            <a:ext cx="11375823" cy="4653566"/>
          </a:xfrm>
        </p:spPr>
        <p:txBody>
          <a:bodyPr>
            <a:normAutofit/>
          </a:bodyPr>
          <a:lstStyle/>
          <a:p>
            <a:pPr marL="0" lvl="0" indent="0" algn="just">
              <a:lnSpc>
                <a:spcPct val="120000"/>
              </a:lnSpc>
              <a:spcAft>
                <a:spcPts val="1000"/>
              </a:spcAft>
              <a:buNone/>
            </a:pPr>
            <a:r>
              <a:rPr lang="fr-FR"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(2/2</a:t>
            </a:r>
            <a:r>
              <a:rPr lang="fr-FR"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endParaRPr lang="fr-FR" sz="2800" b="1" dirty="0" smtClean="0">
              <a:solidFill>
                <a:schemeClr val="accent6"/>
              </a:solidFill>
              <a:effectLst/>
              <a:latin typeface="Arial Black" panose="020B0A04020102020204" pitchFamily="34" charset="0"/>
              <a:ea typeface="Times New Roman" panose="02020603050405020304" pitchFamily="18" charset="0"/>
              <a:cs typeface="Arial" panose="020B0604020202020204" pitchFamily="34" charset="0"/>
            </a:endParaRPr>
          </a:p>
          <a:p>
            <a:pPr marL="0" lvl="0" indent="0" algn="just">
              <a:lnSpc>
                <a:spcPct val="120000"/>
              </a:lnSpc>
              <a:spcAft>
                <a:spcPts val="1000"/>
              </a:spcAft>
              <a:buNone/>
            </a:pPr>
            <a:r>
              <a:rPr lang="fr-FR" sz="2800" b="1" dirty="0" smtClean="0">
                <a:solidFill>
                  <a:schemeClr val="accent6"/>
                </a:solidFill>
                <a:effectLst/>
                <a:latin typeface="Arial Black" panose="020B0A04020102020204" pitchFamily="34" charset="0"/>
                <a:ea typeface="Times New Roman" panose="02020603050405020304" pitchFamily="18" charset="0"/>
                <a:cs typeface="Arial" panose="020B0604020202020204" pitchFamily="34" charset="0"/>
              </a:rPr>
              <a:t>MEMBRES </a:t>
            </a:r>
            <a:r>
              <a:rPr lang="fr-FR" sz="2800" b="1" dirty="0">
                <a:solidFill>
                  <a:schemeClr val="accent6"/>
                </a:solidFill>
                <a:effectLst/>
                <a:latin typeface="Arial Black" panose="020B0A04020102020204" pitchFamily="34" charset="0"/>
                <a:ea typeface="Times New Roman" panose="02020603050405020304" pitchFamily="18" charset="0"/>
                <a:cs typeface="Arial" panose="020B0604020202020204" pitchFamily="34" charset="0"/>
              </a:rPr>
              <a:t>INFERIEURS</a:t>
            </a:r>
            <a:endParaRPr lang="fr-FR" sz="2800" dirty="0">
              <a:solidFill>
                <a:schemeClr val="accent6"/>
              </a:solidFill>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0000"/>
              </a:lnSpc>
              <a:spcAft>
                <a:spcPts val="1000"/>
              </a:spcAft>
            </a:pPr>
            <a:r>
              <a:rPr lang="fr-FR" sz="2800" dirty="0">
                <a:latin typeface="Arial Black" panose="020B0A04020102020204" pitchFamily="34" charset="0"/>
                <a:ea typeface="Times New Roman" panose="02020603050405020304" pitchFamily="18" charset="0"/>
                <a:cs typeface="Arial" panose="020B0604020202020204" pitchFamily="34" charset="0"/>
              </a:rPr>
              <a:t> Artère fémorale (pli de l’aine)</a:t>
            </a:r>
          </a:p>
          <a:p>
            <a:pPr algn="just">
              <a:lnSpc>
                <a:spcPct val="120000"/>
              </a:lnSpc>
              <a:spcAft>
                <a:spcPts val="1000"/>
              </a:spcAft>
            </a:pPr>
            <a:r>
              <a:rPr lang="fr-FR" sz="2800" dirty="0">
                <a:latin typeface="Arial Black" panose="020B0A04020102020204" pitchFamily="34" charset="0"/>
                <a:ea typeface="Times New Roman" panose="02020603050405020304" pitchFamily="18" charset="0"/>
                <a:cs typeface="Arial" panose="020B0604020202020204" pitchFamily="34" charset="0"/>
              </a:rPr>
              <a:t>Artère poplité (sous le genou)</a:t>
            </a:r>
          </a:p>
          <a:p>
            <a:pPr algn="just">
              <a:lnSpc>
                <a:spcPct val="120000"/>
              </a:lnSpc>
              <a:spcAft>
                <a:spcPts val="1000"/>
              </a:spcAft>
            </a:pPr>
            <a:r>
              <a:rPr lang="fr-FR" sz="2800" dirty="0">
                <a:latin typeface="Arial Black" panose="020B0A04020102020204" pitchFamily="34" charset="0"/>
                <a:ea typeface="Times New Roman" panose="02020603050405020304" pitchFamily="18" charset="0"/>
                <a:cs typeface="Arial" panose="020B0604020202020204" pitchFamily="34" charset="0"/>
              </a:rPr>
              <a:t>Artère pédieuse (au dessus pied)</a:t>
            </a:r>
            <a:endParaRPr lang="fr-FR" sz="28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82334696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82247" y="0"/>
            <a:ext cx="10317480" cy="385377"/>
          </a:xfrm>
        </p:spPr>
        <p:txBody>
          <a:bodyPr>
            <a:normAutofit fontScale="90000"/>
          </a:bodyPr>
          <a:lstStyle/>
          <a:p>
            <a:r>
              <a:rPr lang="fr-FR" dirty="0" smtClean="0"/>
              <a:t>Les sites de prise du pouls</a:t>
            </a:r>
            <a:endParaRPr lang="fr-FR" dirty="0"/>
          </a:p>
        </p:txBody>
      </p:sp>
      <p:pic>
        <p:nvPicPr>
          <p:cNvPr id="3" name="Image 2"/>
          <p:cNvPicPr>
            <a:picLocks noChangeAspect="1"/>
          </p:cNvPicPr>
          <p:nvPr/>
        </p:nvPicPr>
        <p:blipFill>
          <a:blip r:embed="rId2"/>
          <a:stretch>
            <a:fillRect/>
          </a:stretch>
        </p:blipFill>
        <p:spPr>
          <a:xfrm>
            <a:off x="141669" y="385377"/>
            <a:ext cx="4598237" cy="5835613"/>
          </a:xfrm>
          <a:prstGeom prst="rect">
            <a:avLst/>
          </a:prstGeom>
        </p:spPr>
      </p:pic>
      <p:pic>
        <p:nvPicPr>
          <p:cNvPr id="4" name="Image 3"/>
          <p:cNvPicPr>
            <a:picLocks noChangeAspect="1"/>
          </p:cNvPicPr>
          <p:nvPr/>
        </p:nvPicPr>
        <p:blipFill>
          <a:blip r:embed="rId3"/>
          <a:stretch>
            <a:fillRect/>
          </a:stretch>
        </p:blipFill>
        <p:spPr>
          <a:xfrm>
            <a:off x="4933090" y="385376"/>
            <a:ext cx="3451056" cy="5835613"/>
          </a:xfrm>
          <a:prstGeom prst="rect">
            <a:avLst/>
          </a:prstGeom>
        </p:spPr>
      </p:pic>
      <p:pic>
        <p:nvPicPr>
          <p:cNvPr id="5" name="Image 4"/>
          <p:cNvPicPr>
            <a:picLocks noChangeAspect="1"/>
          </p:cNvPicPr>
          <p:nvPr/>
        </p:nvPicPr>
        <p:blipFill>
          <a:blip r:embed="rId4"/>
          <a:stretch>
            <a:fillRect/>
          </a:stretch>
        </p:blipFill>
        <p:spPr>
          <a:xfrm>
            <a:off x="8577330" y="385375"/>
            <a:ext cx="3387143" cy="5835613"/>
          </a:xfrm>
          <a:prstGeom prst="rect">
            <a:avLst/>
          </a:prstGeom>
        </p:spPr>
      </p:pic>
    </p:spTree>
    <p:extLst>
      <p:ext uri="{BB962C8B-B14F-4D97-AF65-F5344CB8AC3E}">
        <p14:creationId xmlns:p14="http://schemas.microsoft.com/office/powerpoint/2010/main" val="14574194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6D800B-785F-4A09-9200-E6F984686BD8}"/>
              </a:ext>
            </a:extLst>
          </p:cNvPr>
          <p:cNvSpPr>
            <a:spLocks noGrp="1"/>
          </p:cNvSpPr>
          <p:nvPr>
            <p:ph type="title"/>
          </p:nvPr>
        </p:nvSpPr>
        <p:spPr>
          <a:xfrm>
            <a:off x="1584102" y="108955"/>
            <a:ext cx="9916798" cy="1280890"/>
          </a:xfrm>
        </p:spPr>
        <p:txBody>
          <a:bodyPr/>
          <a:lstStyle/>
          <a:p>
            <a:endParaRPr lang="fr-FR"/>
          </a:p>
        </p:txBody>
      </p:sp>
      <p:sp>
        <p:nvSpPr>
          <p:cNvPr id="3" name="Espace réservé du contenu 2">
            <a:extLst>
              <a:ext uri="{FF2B5EF4-FFF2-40B4-BE49-F238E27FC236}">
                <a16:creationId xmlns:a16="http://schemas.microsoft.com/office/drawing/2014/main" id="{95CEBCAC-53F6-4318-BAC9-F782705272B1}"/>
              </a:ext>
            </a:extLst>
          </p:cNvPr>
          <p:cNvSpPr>
            <a:spLocks noGrp="1"/>
          </p:cNvSpPr>
          <p:nvPr>
            <p:ph idx="1"/>
          </p:nvPr>
        </p:nvSpPr>
        <p:spPr>
          <a:xfrm>
            <a:off x="437882" y="1389845"/>
            <a:ext cx="11221277" cy="3777622"/>
          </a:xfrm>
        </p:spPr>
        <p:txBody>
          <a:bodyPr/>
          <a:lstStyle/>
          <a:p>
            <a:pPr marL="0" indent="0" algn="just">
              <a:lnSpc>
                <a:spcPct val="125000"/>
              </a:lnSpc>
              <a:spcAft>
                <a:spcPts val="1000"/>
              </a:spcAft>
              <a:buNone/>
            </a:pP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3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V- </a:t>
            </a: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VARIATIONS DES PULSATIONS</a:t>
            </a:r>
            <a:endParaRPr lang="fr-FR" sz="3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5000"/>
              </a:lnSpc>
              <a:spcAft>
                <a:spcPts val="1000"/>
              </a:spcAft>
              <a:buNone/>
            </a:pPr>
            <a:r>
              <a:rPr lang="fr-FR" dirty="0">
                <a:effectLst/>
                <a:latin typeface="Arial Black" panose="020B0A04020102020204" pitchFamily="34" charset="0"/>
                <a:ea typeface="Times New Roman" panose="02020603050405020304" pitchFamily="18" charset="0"/>
                <a:cs typeface="Times New Roman" panose="02020603050405020304" pitchFamily="18" charset="0"/>
              </a:rPr>
              <a:t>Elles sont de deux ordres : </a:t>
            </a:r>
          </a:p>
          <a:p>
            <a:pPr marL="342900" lvl="0" indent="-342900" algn="just">
              <a:lnSpc>
                <a:spcPct val="125000"/>
              </a:lnSpc>
              <a:spcAft>
                <a:spcPts val="1000"/>
              </a:spcAft>
              <a:buFont typeface="Arial" panose="020B0604020202020204" pitchFamily="34" charset="0"/>
              <a:buChar char="-"/>
              <a:tabLst>
                <a:tab pos="457200" algn="l"/>
              </a:tabLst>
            </a:pPr>
            <a:r>
              <a:rPr lang="fr-FR" dirty="0">
                <a:effectLst/>
                <a:latin typeface="Arial Black" panose="020B0A04020102020204" pitchFamily="34" charset="0"/>
                <a:ea typeface="Times New Roman" panose="02020603050405020304" pitchFamily="18" charset="0"/>
                <a:cs typeface="Times New Roman" panose="02020603050405020304" pitchFamily="18" charset="0"/>
              </a:rPr>
              <a:t>physiologique</a:t>
            </a:r>
          </a:p>
          <a:p>
            <a:pPr marL="342900" lvl="0" indent="-342900" algn="just">
              <a:lnSpc>
                <a:spcPct val="125000"/>
              </a:lnSpc>
              <a:spcAft>
                <a:spcPts val="1000"/>
              </a:spcAft>
              <a:buFont typeface="Arial" panose="020B0604020202020204" pitchFamily="34" charset="0"/>
              <a:buChar char="-"/>
              <a:tabLst>
                <a:tab pos="457200" algn="l"/>
              </a:tabLst>
            </a:pPr>
            <a:r>
              <a:rPr lang="fr-FR" dirty="0">
                <a:effectLst/>
                <a:latin typeface="Arial Black" panose="020B0A04020102020204" pitchFamily="34" charset="0"/>
                <a:ea typeface="Times New Roman" panose="02020603050405020304" pitchFamily="18" charset="0"/>
                <a:cs typeface="Times New Roman" panose="02020603050405020304" pitchFamily="18" charset="0"/>
              </a:rPr>
              <a:t>pathologique</a:t>
            </a:r>
          </a:p>
          <a:p>
            <a:pPr marL="0" indent="0">
              <a:buNone/>
            </a:pPr>
            <a:endParaRPr lang="fr-FR" dirty="0"/>
          </a:p>
        </p:txBody>
      </p:sp>
    </p:spTree>
    <p:extLst>
      <p:ext uri="{BB962C8B-B14F-4D97-AF65-F5344CB8AC3E}">
        <p14:creationId xmlns:p14="http://schemas.microsoft.com/office/powerpoint/2010/main" val="397368527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065ACB-EB61-4765-9F4E-50BBC69BA365}"/>
              </a:ext>
            </a:extLst>
          </p:cNvPr>
          <p:cNvSpPr>
            <a:spLocks noGrp="1"/>
          </p:cNvSpPr>
          <p:nvPr>
            <p:ph type="title"/>
          </p:nvPr>
        </p:nvSpPr>
        <p:spPr>
          <a:xfrm>
            <a:off x="2631561" y="108955"/>
            <a:ext cx="8911687" cy="303169"/>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4F473C13-B737-4EB9-AE3C-C035D8F35B1D}"/>
              </a:ext>
            </a:extLst>
          </p:cNvPr>
          <p:cNvSpPr>
            <a:spLocks noGrp="1"/>
          </p:cNvSpPr>
          <p:nvPr>
            <p:ph idx="1"/>
          </p:nvPr>
        </p:nvSpPr>
        <p:spPr>
          <a:xfrm>
            <a:off x="128789" y="759852"/>
            <a:ext cx="12063211" cy="5486401"/>
          </a:xfrm>
        </p:spPr>
        <p:txBody>
          <a:bodyPr>
            <a:normAutofit/>
          </a:bodyPr>
          <a:lstStyle/>
          <a:p>
            <a:pPr marL="1600200" lvl="3" indent="-228600" algn="just">
              <a:lnSpc>
                <a:spcPct val="120000"/>
              </a:lnSpc>
              <a:spcAft>
                <a:spcPts val="1000"/>
              </a:spcAft>
              <a:buFont typeface="+mj-lt"/>
              <a:buAutoNum type="arabicPeriod"/>
            </a:pPr>
            <a:r>
              <a:rPr lang="fr-FR" sz="3300" b="1" dirty="0">
                <a:effectLst/>
                <a:latin typeface="Arial Black" panose="020B0A04020102020204" pitchFamily="34" charset="0"/>
                <a:ea typeface="Times New Roman" panose="02020603050405020304" pitchFamily="18" charset="0"/>
                <a:cs typeface="Arial" panose="020B0604020202020204" pitchFamily="34" charset="0"/>
              </a:rPr>
              <a:t>Variations physiologiques</a:t>
            </a:r>
          </a:p>
          <a:p>
            <a:pPr marL="1371600" lvl="3" indent="0" algn="just">
              <a:lnSpc>
                <a:spcPct val="120000"/>
              </a:lnSpc>
              <a:spcAft>
                <a:spcPts val="1000"/>
              </a:spcAft>
              <a:buNone/>
            </a:pPr>
            <a:r>
              <a:rPr lang="fr-FR" sz="3300" dirty="0">
                <a:effectLst/>
                <a:latin typeface="Arial Black" panose="020B0A04020102020204" pitchFamily="34" charset="0"/>
                <a:ea typeface="Times New Roman" panose="02020603050405020304" pitchFamily="18" charset="0"/>
                <a:cs typeface="Arial" panose="020B0604020202020204" pitchFamily="34" charset="0"/>
              </a:rPr>
              <a:t>Elles varient suivant certains </a:t>
            </a:r>
            <a:r>
              <a:rPr lang="fr-FR" sz="3300" dirty="0" smtClean="0">
                <a:effectLst/>
                <a:latin typeface="Arial Black" panose="020B0A04020102020204" pitchFamily="34" charset="0"/>
                <a:ea typeface="Times New Roman" panose="02020603050405020304" pitchFamily="18" charset="0"/>
                <a:cs typeface="Arial" panose="020B0604020202020204" pitchFamily="34" charset="0"/>
              </a:rPr>
              <a:t>facteurs:</a:t>
            </a:r>
          </a:p>
          <a:p>
            <a:pPr marL="0" lvl="0" indent="0" algn="just" defTabSz="914400">
              <a:lnSpc>
                <a:spcPct val="115000"/>
              </a:lnSpc>
              <a:spcBef>
                <a:spcPts val="0"/>
              </a:spcBef>
              <a:spcAft>
                <a:spcPts val="1000"/>
              </a:spcAft>
              <a:buNone/>
            </a:pPr>
            <a:r>
              <a:rPr lang="fr-FR" sz="3300" dirty="0" smtClean="0">
                <a:latin typeface="Arial Black" panose="020B0A04020102020204" pitchFamily="34" charset="0"/>
                <a:ea typeface="Times New Roman" panose="02020603050405020304" pitchFamily="18" charset="0"/>
                <a:cs typeface="Arial" panose="020B0604020202020204" pitchFamily="34" charset="0"/>
              </a:rPr>
              <a:t>- l’âge</a:t>
            </a:r>
            <a:endParaRPr lang="fr-FR" b="1" dirty="0" smtClean="0">
              <a:solidFill>
                <a:prstClr val="black"/>
              </a:solidFill>
              <a:latin typeface="Arial Black" panose="020B0A04020102020204" pitchFamily="34" charset="0"/>
              <a:ea typeface="Times New Roman" panose="02020603050405020304" pitchFamily="18" charset="0"/>
              <a:cs typeface="Arial" panose="020B0604020202020204" pitchFamily="34" charset="0"/>
            </a:endParaRPr>
          </a:p>
          <a:p>
            <a:pPr marL="0" lvl="0" indent="0" algn="just" defTabSz="914400">
              <a:lnSpc>
                <a:spcPct val="115000"/>
              </a:lnSpc>
              <a:spcBef>
                <a:spcPts val="0"/>
              </a:spcBef>
              <a:spcAft>
                <a:spcPts val="1000"/>
              </a:spcAft>
              <a:buNone/>
            </a:pPr>
            <a:r>
              <a:rPr lang="fr-FR" b="1" dirty="0" smtClean="0">
                <a:solidFill>
                  <a:prstClr val="black"/>
                </a:solidFill>
                <a:latin typeface="Arial Black" panose="020B0A04020102020204" pitchFamily="34" charset="0"/>
                <a:ea typeface="Times New Roman" panose="02020603050405020304" pitchFamily="18" charset="0"/>
                <a:cs typeface="Arial" panose="020B0604020202020204" pitchFamily="34" charset="0"/>
              </a:rPr>
              <a:t>- l’émotion</a:t>
            </a:r>
            <a:endParaRPr lang="fr-FR" dirty="0">
              <a:solidFill>
                <a:prstClr val="black"/>
              </a:solidFill>
              <a:latin typeface="Arial Black" panose="020B0A04020102020204" pitchFamily="34" charset="0"/>
              <a:ea typeface="Times New Roman" panose="02020603050405020304" pitchFamily="18" charset="0"/>
              <a:cs typeface="Arial" panose="020B0604020202020204" pitchFamily="34" charset="0"/>
            </a:endParaRPr>
          </a:p>
          <a:p>
            <a:pPr marL="0" lvl="0" indent="0" algn="just" defTabSz="914400">
              <a:lnSpc>
                <a:spcPct val="115000"/>
              </a:lnSpc>
              <a:spcBef>
                <a:spcPts val="0"/>
              </a:spcBef>
              <a:spcAft>
                <a:spcPts val="1000"/>
              </a:spcAft>
              <a:buNone/>
            </a:pPr>
            <a:r>
              <a:rPr lang="fr-FR" b="1" dirty="0" smtClean="0">
                <a:solidFill>
                  <a:prstClr val="black"/>
                </a:solidFill>
                <a:latin typeface="Arial Black" panose="020B0A04020102020204" pitchFamily="34" charset="0"/>
                <a:ea typeface="Times New Roman" panose="02020603050405020304" pitchFamily="18" charset="0"/>
                <a:cs typeface="Arial" panose="020B0604020202020204" pitchFamily="34" charset="0"/>
              </a:rPr>
              <a:t>- l’effort </a:t>
            </a:r>
            <a:endParaRPr lang="fr-FR" dirty="0">
              <a:solidFill>
                <a:prstClr val="black"/>
              </a:solidFill>
              <a:latin typeface="Arial Black" panose="020B0A04020102020204" pitchFamily="34" charset="0"/>
              <a:ea typeface="Times New Roman" panose="02020603050405020304" pitchFamily="18" charset="0"/>
              <a:cs typeface="Arial" panose="020B0604020202020204" pitchFamily="34" charset="0"/>
            </a:endParaRPr>
          </a:p>
          <a:p>
            <a:pPr marL="1828800" lvl="3" indent="-457200" algn="just">
              <a:lnSpc>
                <a:spcPct val="120000"/>
              </a:lnSpc>
              <a:spcAft>
                <a:spcPts val="1000"/>
              </a:spcAft>
              <a:buFontTx/>
              <a:buChar char="-"/>
            </a:pPr>
            <a:endParaRPr lang="fr-FR" sz="3300" dirty="0" smtClean="0">
              <a:latin typeface="Arial Black" panose="020B0A04020102020204" pitchFamily="34" charset="0"/>
              <a:ea typeface="Times New Roman" panose="02020603050405020304" pitchFamily="18" charset="0"/>
              <a:cs typeface="Arial" panose="020B0604020202020204" pitchFamily="34" charset="0"/>
            </a:endParaRPr>
          </a:p>
          <a:p>
            <a:pPr marL="2514600" lvl="3" indent="-1143000" algn="just">
              <a:lnSpc>
                <a:spcPct val="120000"/>
              </a:lnSpc>
              <a:spcAft>
                <a:spcPts val="1000"/>
              </a:spcAft>
              <a:buFontTx/>
              <a:buChar char="-"/>
            </a:pP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449580" algn="just">
              <a:lnSpc>
                <a:spcPct val="120000"/>
              </a:lnSpc>
              <a:spcAft>
                <a:spcPts val="1000"/>
              </a:spcAft>
            </a:pPr>
            <a:endParaRPr lang="fr-FR" dirty="0"/>
          </a:p>
        </p:txBody>
      </p:sp>
    </p:spTree>
    <p:extLst>
      <p:ext uri="{BB962C8B-B14F-4D97-AF65-F5344CB8AC3E}">
        <p14:creationId xmlns:p14="http://schemas.microsoft.com/office/powerpoint/2010/main" val="52368704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7882" y="880546"/>
            <a:ext cx="11578107" cy="3970318"/>
          </a:xfrm>
          <a:prstGeom prst="rect">
            <a:avLst/>
          </a:prstGeom>
        </p:spPr>
        <p:txBody>
          <a:bodyPr wrap="square">
            <a:spAutoFit/>
          </a:bodyPr>
          <a:lstStyle/>
          <a:p>
            <a:pPr marL="457200" indent="-457200">
              <a:buFont typeface="Wingdings" panose="05000000000000000000" pitchFamily="2" charset="2"/>
              <a:buChar char="v"/>
            </a:pPr>
            <a:r>
              <a:rPr lang="fr-FR" sz="2800" dirty="0" smtClean="0">
                <a:solidFill>
                  <a:srgbClr val="FF0000"/>
                </a:solidFill>
                <a:latin typeface="Arial Black" panose="020B0A04020102020204" pitchFamily="34" charset="0"/>
              </a:rPr>
              <a:t>L’âge</a:t>
            </a:r>
            <a:endParaRPr lang="fr-FR" sz="2800" dirty="0">
              <a:solidFill>
                <a:srgbClr val="FF0000"/>
              </a:solidFill>
              <a:latin typeface="Arial Black" panose="020B0A04020102020204" pitchFamily="34" charset="0"/>
            </a:endParaRPr>
          </a:p>
          <a:p>
            <a:r>
              <a:rPr lang="fr-FR" sz="2800" dirty="0">
                <a:latin typeface="Arial Black" panose="020B0A04020102020204" pitchFamily="34" charset="0"/>
              </a:rPr>
              <a:t>Fœtus </a:t>
            </a:r>
            <a:r>
              <a:rPr lang="fr-FR" sz="2800" dirty="0" smtClean="0">
                <a:latin typeface="Arial Black" panose="020B0A04020102020204" pitchFamily="34" charset="0"/>
              </a:rPr>
              <a:t>……………………………………140 à 160 </a:t>
            </a:r>
            <a:r>
              <a:rPr lang="fr-FR" sz="2800" dirty="0">
                <a:latin typeface="Arial Black" panose="020B0A04020102020204" pitchFamily="34" charset="0"/>
              </a:rPr>
              <a:t>pulsations/mn</a:t>
            </a:r>
          </a:p>
          <a:p>
            <a:r>
              <a:rPr lang="fr-FR" sz="2800" dirty="0">
                <a:latin typeface="Arial Black" panose="020B0A04020102020204" pitchFamily="34" charset="0"/>
              </a:rPr>
              <a:t>A la naissance……………………………130 à 140</a:t>
            </a:r>
          </a:p>
          <a:p>
            <a:r>
              <a:rPr lang="fr-FR" sz="2800" dirty="0">
                <a:latin typeface="Arial Black" panose="020B0A04020102020204" pitchFamily="34" charset="0"/>
              </a:rPr>
              <a:t>A 4 mois ……………………………………130</a:t>
            </a:r>
          </a:p>
          <a:p>
            <a:r>
              <a:rPr lang="fr-FR" sz="2800" dirty="0">
                <a:latin typeface="Arial Black" panose="020B0A04020102020204" pitchFamily="34" charset="0"/>
              </a:rPr>
              <a:t>A 1 an…………………………………………100 à 130</a:t>
            </a:r>
          </a:p>
          <a:p>
            <a:r>
              <a:rPr lang="fr-FR" sz="2800" dirty="0">
                <a:latin typeface="Arial Black" panose="020B0A04020102020204" pitchFamily="34" charset="0"/>
              </a:rPr>
              <a:t>A 5 ans </a:t>
            </a:r>
            <a:r>
              <a:rPr lang="fr-FR" sz="2800" dirty="0" smtClean="0">
                <a:latin typeface="Arial Black" panose="020B0A04020102020204" pitchFamily="34" charset="0"/>
              </a:rPr>
              <a:t>……………………………………….100</a:t>
            </a:r>
            <a:endParaRPr lang="fr-FR" sz="2800" dirty="0">
              <a:latin typeface="Arial Black" panose="020B0A04020102020204" pitchFamily="34" charset="0"/>
            </a:endParaRPr>
          </a:p>
          <a:p>
            <a:r>
              <a:rPr lang="fr-FR" sz="2800" dirty="0">
                <a:latin typeface="Arial Black" panose="020B0A04020102020204" pitchFamily="34" charset="0"/>
              </a:rPr>
              <a:t>A 14 ans </a:t>
            </a:r>
            <a:r>
              <a:rPr lang="fr-FR" sz="2800" dirty="0" smtClean="0">
                <a:latin typeface="Arial Black" panose="020B0A04020102020204" pitchFamily="34" charset="0"/>
              </a:rPr>
              <a:t>………………………………………81 </a:t>
            </a:r>
            <a:r>
              <a:rPr lang="fr-FR" sz="2800" dirty="0">
                <a:latin typeface="Arial Black" panose="020B0A04020102020204" pitchFamily="34" charset="0"/>
              </a:rPr>
              <a:t>à 85</a:t>
            </a:r>
          </a:p>
          <a:p>
            <a:r>
              <a:rPr lang="fr-FR" sz="2800" dirty="0">
                <a:latin typeface="Arial Black" panose="020B0A04020102020204" pitchFamily="34" charset="0"/>
              </a:rPr>
              <a:t>Adulte</a:t>
            </a:r>
            <a:r>
              <a:rPr lang="fr-FR" sz="2800" dirty="0" smtClean="0">
                <a:latin typeface="Arial Black" panose="020B0A04020102020204" pitchFamily="34" charset="0"/>
              </a:rPr>
              <a:t>………………………………………….60 </a:t>
            </a:r>
            <a:r>
              <a:rPr lang="fr-FR" sz="2800" dirty="0">
                <a:latin typeface="Arial Black" panose="020B0A04020102020204" pitchFamily="34" charset="0"/>
              </a:rPr>
              <a:t>à 80</a:t>
            </a:r>
          </a:p>
          <a:p>
            <a:r>
              <a:rPr lang="fr-FR" sz="2800" dirty="0">
                <a:latin typeface="Arial Black" panose="020B0A04020102020204" pitchFamily="34" charset="0"/>
              </a:rPr>
              <a:t>Vieillard</a:t>
            </a:r>
            <a:r>
              <a:rPr lang="fr-FR" sz="2800" dirty="0" smtClean="0">
                <a:latin typeface="Arial Black" panose="020B0A04020102020204" pitchFamily="34" charset="0"/>
              </a:rPr>
              <a:t>…………………………………………60 </a:t>
            </a:r>
            <a:r>
              <a:rPr lang="fr-FR" sz="2800" dirty="0">
                <a:latin typeface="Arial Black" panose="020B0A04020102020204" pitchFamily="34" charset="0"/>
              </a:rPr>
              <a:t>à 70</a:t>
            </a:r>
          </a:p>
        </p:txBody>
      </p:sp>
    </p:spTree>
    <p:extLst>
      <p:ext uri="{BB962C8B-B14F-4D97-AF65-F5344CB8AC3E}">
        <p14:creationId xmlns:p14="http://schemas.microsoft.com/office/powerpoint/2010/main" val="102661500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426" y="1070491"/>
            <a:ext cx="11771290" cy="2825389"/>
          </a:xfrm>
          <a:prstGeom prst="rect">
            <a:avLst/>
          </a:prstGeom>
        </p:spPr>
        <p:txBody>
          <a:bodyPr wrap="square">
            <a:spAutoFit/>
          </a:bodyPr>
          <a:lstStyle/>
          <a:p>
            <a:pPr marL="457200" indent="-457200" algn="just">
              <a:lnSpc>
                <a:spcPct val="115000"/>
              </a:lnSpc>
              <a:spcAft>
                <a:spcPts val="1000"/>
              </a:spcAft>
              <a:buFont typeface="Wingdings" panose="05000000000000000000" pitchFamily="2" charset="2"/>
              <a:buChar char="v"/>
            </a:pPr>
            <a:r>
              <a:rPr lang="fr-FR" sz="28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L’émotion</a:t>
            </a:r>
            <a:endParaRPr lang="fr-FR" sz="2800" dirty="0">
              <a:solidFill>
                <a:srgbClr val="FF0000"/>
              </a:solidFill>
              <a:latin typeface="Arial Black" panose="020B0A04020102020204" pitchFamily="34" charset="0"/>
              <a:ea typeface="Times New Roman" panose="02020603050405020304" pitchFamily="18" charset="0"/>
              <a:cs typeface="Arial" panose="020B0604020202020204" pitchFamily="34" charset="0"/>
            </a:endParaRPr>
          </a:p>
          <a:p>
            <a:pPr algn="just">
              <a:lnSpc>
                <a:spcPct val="115000"/>
              </a:lnSpc>
              <a:spcAft>
                <a:spcPts val="1000"/>
              </a:spcAft>
            </a:pPr>
            <a:r>
              <a:rPr lang="fr-FR" sz="2800" dirty="0">
                <a:latin typeface="Arial Black" panose="020B0A04020102020204" pitchFamily="34" charset="0"/>
                <a:ea typeface="Times New Roman" panose="02020603050405020304" pitchFamily="18" charset="0"/>
                <a:cs typeface="Arial" panose="020B0604020202020204" pitchFamily="34" charset="0"/>
              </a:rPr>
              <a:t>Toute émotion provoque une accélération du rythme</a:t>
            </a:r>
          </a:p>
          <a:p>
            <a:pPr marL="457200" indent="-457200" algn="just">
              <a:lnSpc>
                <a:spcPct val="115000"/>
              </a:lnSpc>
              <a:spcAft>
                <a:spcPts val="1000"/>
              </a:spcAft>
              <a:buFont typeface="Wingdings" panose="05000000000000000000" pitchFamily="2" charset="2"/>
              <a:buChar char="v"/>
            </a:pPr>
            <a:r>
              <a:rPr lang="fr-FR" sz="28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L’effort </a:t>
            </a:r>
            <a:endParaRPr lang="fr-FR" sz="2800" dirty="0">
              <a:solidFill>
                <a:srgbClr val="FF0000"/>
              </a:solidFill>
              <a:latin typeface="Arial Black" panose="020B0A04020102020204" pitchFamily="34" charset="0"/>
              <a:ea typeface="Times New Roman" panose="02020603050405020304" pitchFamily="18" charset="0"/>
              <a:cs typeface="Arial" panose="020B0604020202020204" pitchFamily="34" charset="0"/>
            </a:endParaRPr>
          </a:p>
          <a:p>
            <a:r>
              <a:rPr lang="fr-FR" sz="2800" spc="-40" dirty="0">
                <a:latin typeface="Arial Black" panose="020B0A04020102020204" pitchFamily="34" charset="0"/>
                <a:ea typeface="Times New Roman" panose="02020603050405020304" pitchFamily="18" charset="0"/>
                <a:cs typeface="Arial" panose="020B0604020202020204" pitchFamily="34" charset="0"/>
              </a:rPr>
              <a:t>Accélération du rythme correspondant à l’accélération des contractions cardiaques</a:t>
            </a:r>
            <a:endParaRPr lang="fr-FR" sz="2800"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222321834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25730D-F1D8-49CC-86B1-7C60DF805FC5}"/>
              </a:ext>
            </a:extLst>
          </p:cNvPr>
          <p:cNvSpPr>
            <a:spLocks noGrp="1"/>
          </p:cNvSpPr>
          <p:nvPr>
            <p:ph type="title"/>
          </p:nvPr>
        </p:nvSpPr>
        <p:spPr>
          <a:xfrm>
            <a:off x="1442434" y="154546"/>
            <a:ext cx="10165209" cy="631065"/>
          </a:xfrm>
        </p:spPr>
        <p:txBody>
          <a:bodyPr/>
          <a:lstStyle/>
          <a:p>
            <a:endParaRPr lang="fr-FR" dirty="0"/>
          </a:p>
        </p:txBody>
      </p:sp>
      <p:sp>
        <p:nvSpPr>
          <p:cNvPr id="3" name="Espace réservé du contenu 2">
            <a:extLst>
              <a:ext uri="{FF2B5EF4-FFF2-40B4-BE49-F238E27FC236}">
                <a16:creationId xmlns:a16="http://schemas.microsoft.com/office/drawing/2014/main" id="{12EE477E-858F-479B-91D7-83A783EDCD15}"/>
              </a:ext>
            </a:extLst>
          </p:cNvPr>
          <p:cNvSpPr>
            <a:spLocks noGrp="1"/>
          </p:cNvSpPr>
          <p:nvPr>
            <p:ph idx="1"/>
          </p:nvPr>
        </p:nvSpPr>
        <p:spPr>
          <a:xfrm>
            <a:off x="0" y="1235298"/>
            <a:ext cx="12080383" cy="5023833"/>
          </a:xfrm>
        </p:spPr>
        <p:txBody>
          <a:bodyPr>
            <a:normAutofit fontScale="85000" lnSpcReduction="20000"/>
          </a:bodyPr>
          <a:lstStyle/>
          <a:p>
            <a:pPr marL="1371600" lvl="3" indent="0" algn="just">
              <a:lnSpc>
                <a:spcPct val="125000"/>
              </a:lnSpc>
              <a:spcAft>
                <a:spcPts val="1000"/>
              </a:spcAft>
              <a:buNone/>
            </a:pPr>
            <a:r>
              <a:rPr lang="fr-FR" sz="3300" b="1" dirty="0">
                <a:effectLst/>
                <a:latin typeface="Arial Black" panose="020B0A04020102020204" pitchFamily="34" charset="0"/>
                <a:ea typeface="Times New Roman" panose="02020603050405020304" pitchFamily="18" charset="0"/>
                <a:cs typeface="Arial" panose="020B0604020202020204" pitchFamily="34" charset="0"/>
              </a:rPr>
              <a:t>2-Variations pathologiques</a:t>
            </a:r>
            <a:endParaRPr lang="fr-FR" sz="33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10000"/>
              </a:lnSpc>
              <a:spcAft>
                <a:spcPts val="1000"/>
              </a:spcAft>
            </a:pPr>
            <a:r>
              <a:rPr lang="fr-FR" sz="3300" dirty="0">
                <a:effectLst/>
                <a:latin typeface="Arial Black" panose="020B0A04020102020204" pitchFamily="34" charset="0"/>
                <a:ea typeface="Times New Roman" panose="02020603050405020304" pitchFamily="18" charset="0"/>
                <a:cs typeface="Times New Roman" panose="02020603050405020304" pitchFamily="18" charset="0"/>
              </a:rPr>
              <a:t>Elles varient selon l’état du cœur et sont en rapport avec la rapidité, la régularité et l’amplitude cardiaque</a:t>
            </a:r>
          </a:p>
          <a:p>
            <a:pPr marL="342900" lvl="0" indent="-342900" algn="just">
              <a:lnSpc>
                <a:spcPct val="110000"/>
              </a:lnSpc>
              <a:spcAft>
                <a:spcPts val="1000"/>
              </a:spcAft>
              <a:buFont typeface="Arial" panose="020B0604020202020204" pitchFamily="34" charset="0"/>
              <a:buChar char="-"/>
              <a:tabLst>
                <a:tab pos="270510" algn="l"/>
              </a:tabLst>
            </a:pPr>
            <a:r>
              <a:rPr lang="fr-FR" sz="3300" dirty="0">
                <a:effectLst/>
                <a:latin typeface="Arial Black" panose="020B0A04020102020204" pitchFamily="34" charset="0"/>
                <a:ea typeface="Times New Roman" panose="02020603050405020304" pitchFamily="18" charset="0"/>
                <a:cs typeface="Times New Roman" panose="02020603050405020304" pitchFamily="18" charset="0"/>
              </a:rPr>
              <a:t>la tachycardie : fréquence accélérée au-dessus de </a:t>
            </a:r>
            <a:r>
              <a:rPr lang="fr-FR" sz="3300" dirty="0" smtClean="0">
                <a:effectLst/>
                <a:latin typeface="Arial Black" panose="020B0A04020102020204" pitchFamily="34" charset="0"/>
                <a:ea typeface="Times New Roman" panose="02020603050405020304" pitchFamily="18" charset="0"/>
                <a:cs typeface="Times New Roman" panose="02020603050405020304" pitchFamily="18" charset="0"/>
              </a:rPr>
              <a:t>100 pulsations/mn </a:t>
            </a:r>
            <a:r>
              <a:rPr lang="fr-FR" sz="3300" dirty="0">
                <a:effectLst/>
                <a:latin typeface="Arial Black" panose="020B0A04020102020204" pitchFamily="34" charset="0"/>
                <a:ea typeface="Times New Roman" panose="02020603050405020304" pitchFamily="18" charset="0"/>
                <a:cs typeface="Times New Roman" panose="02020603050405020304" pitchFamily="18" charset="0"/>
              </a:rPr>
              <a:t>chez l’adulte</a:t>
            </a:r>
          </a:p>
          <a:p>
            <a:pPr algn="just">
              <a:lnSpc>
                <a:spcPct val="110000"/>
              </a:lnSpc>
              <a:spcAft>
                <a:spcPts val="1000"/>
              </a:spcAft>
              <a:tabLst>
                <a:tab pos="270510" algn="l"/>
              </a:tabLst>
            </a:pPr>
            <a:r>
              <a:rPr lang="fr-FR" sz="3300" dirty="0">
                <a:effectLst/>
                <a:latin typeface="Arial Black" panose="020B0A04020102020204" pitchFamily="34" charset="0"/>
                <a:ea typeface="Times New Roman" panose="02020603050405020304" pitchFamily="18" charset="0"/>
                <a:cs typeface="Times New Roman" panose="02020603050405020304" pitchFamily="18" charset="0"/>
              </a:rPr>
              <a:t>Cela se voit en présence d’une émotion, d’un effort, de la prise de café</a:t>
            </a:r>
          </a:p>
          <a:p>
            <a:pPr marL="342900" lvl="0" indent="-342900" algn="just">
              <a:lnSpc>
                <a:spcPct val="110000"/>
              </a:lnSpc>
              <a:spcAft>
                <a:spcPts val="1000"/>
              </a:spcAft>
              <a:buFont typeface="Arial" panose="020B0604020202020204" pitchFamily="34" charset="0"/>
              <a:buChar char="-"/>
              <a:tabLst>
                <a:tab pos="270510" algn="l"/>
              </a:tabLst>
            </a:pPr>
            <a:r>
              <a:rPr lang="fr-FR" sz="3300" dirty="0">
                <a:effectLst/>
                <a:latin typeface="Arial Black" panose="020B0A04020102020204" pitchFamily="34" charset="0"/>
                <a:ea typeface="Times New Roman" panose="02020603050405020304" pitchFamily="18" charset="0"/>
                <a:cs typeface="Times New Roman" panose="02020603050405020304" pitchFamily="18" charset="0"/>
              </a:rPr>
              <a:t>la bradycardie : fréquence ralentie au-dessous de 60 pulsations par minute chez l’adulte</a:t>
            </a:r>
          </a:p>
          <a:p>
            <a:pPr marL="0" indent="0" algn="just">
              <a:lnSpc>
                <a:spcPct val="115000"/>
              </a:lnSpc>
              <a:spcAft>
                <a:spcPts val="1000"/>
              </a:spcAft>
              <a:buNone/>
            </a:pPr>
            <a:endParaRPr lang="fr-FR" dirty="0"/>
          </a:p>
        </p:txBody>
      </p:sp>
    </p:spTree>
    <p:extLst>
      <p:ext uri="{BB962C8B-B14F-4D97-AF65-F5344CB8AC3E}">
        <p14:creationId xmlns:p14="http://schemas.microsoft.com/office/powerpoint/2010/main" val="156445645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5841A0-997F-42B9-B431-57AC85EE1D78}"/>
              </a:ext>
            </a:extLst>
          </p:cNvPr>
          <p:cNvSpPr>
            <a:spLocks noGrp="1"/>
          </p:cNvSpPr>
          <p:nvPr>
            <p:ph type="title"/>
          </p:nvPr>
        </p:nvSpPr>
        <p:spPr>
          <a:xfrm>
            <a:off x="2605804" y="0"/>
            <a:ext cx="8911687" cy="566670"/>
          </a:xfrm>
        </p:spPr>
        <p:txBody>
          <a:bodyPr/>
          <a:lstStyle/>
          <a:p>
            <a:endParaRPr lang="fr-FR"/>
          </a:p>
        </p:txBody>
      </p:sp>
      <p:sp>
        <p:nvSpPr>
          <p:cNvPr id="3" name="Espace réservé du contenu 2">
            <a:extLst>
              <a:ext uri="{FF2B5EF4-FFF2-40B4-BE49-F238E27FC236}">
                <a16:creationId xmlns:a16="http://schemas.microsoft.com/office/drawing/2014/main" id="{6E748EB3-BFC8-4C2E-804D-33E880FF1643}"/>
              </a:ext>
            </a:extLst>
          </p:cNvPr>
          <p:cNvSpPr>
            <a:spLocks noGrp="1"/>
          </p:cNvSpPr>
          <p:nvPr>
            <p:ph idx="1"/>
          </p:nvPr>
        </p:nvSpPr>
        <p:spPr>
          <a:xfrm>
            <a:off x="0" y="668628"/>
            <a:ext cx="12028868" cy="5616262"/>
          </a:xfrm>
        </p:spPr>
        <p:txBody>
          <a:bodyPr>
            <a:normAutofit fontScale="25000" lnSpcReduction="20000"/>
          </a:bodyPr>
          <a:lstStyle/>
          <a:p>
            <a:pPr marL="0" lvl="0" indent="0" algn="just">
              <a:lnSpc>
                <a:spcPct val="125000"/>
              </a:lnSpc>
              <a:spcAft>
                <a:spcPts val="1000"/>
              </a:spcAft>
              <a:buNone/>
              <a:tabLst>
                <a:tab pos="628650" algn="l"/>
              </a:tabLst>
            </a:pPr>
            <a:r>
              <a:rPr lang="fr-FR" sz="11200" b="1" dirty="0" smtClean="0">
                <a:effectLst/>
                <a:latin typeface="Arial Black" panose="020B0A04020102020204" pitchFamily="34" charset="0"/>
                <a:ea typeface="Times New Roman" panose="02020603050405020304" pitchFamily="18" charset="0"/>
                <a:cs typeface="Arial" panose="020B0604020202020204" pitchFamily="34" charset="0"/>
              </a:rPr>
              <a:t>              </a:t>
            </a:r>
            <a:r>
              <a:rPr lang="fr-FR" sz="112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VI- TECHNIQUE</a:t>
            </a:r>
            <a:endParaRPr lang="fr-FR" sz="11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Arial" panose="020B0604020202020204" pitchFamily="34" charset="0"/>
              <a:buChar char="-"/>
            </a:pPr>
            <a:r>
              <a:rPr lang="fr-FR" sz="11200" dirty="0">
                <a:effectLst/>
                <a:latin typeface="Arial Black" panose="020B0A04020102020204" pitchFamily="34" charset="0"/>
                <a:ea typeface="Times New Roman" panose="02020603050405020304" pitchFamily="18" charset="0"/>
                <a:cs typeface="Arial" panose="020B0604020202020204" pitchFamily="34" charset="0"/>
              </a:rPr>
              <a:t>Lavage simple des mains</a:t>
            </a:r>
          </a:p>
          <a:p>
            <a:pPr marL="342900" lvl="0" indent="-342900" algn="just">
              <a:lnSpc>
                <a:spcPct val="120000"/>
              </a:lnSpc>
              <a:spcAft>
                <a:spcPts val="1000"/>
              </a:spcAft>
              <a:buFont typeface="Arial" panose="020B0604020202020204" pitchFamily="34" charset="0"/>
              <a:buChar char="-"/>
            </a:pPr>
            <a:r>
              <a:rPr lang="fr-FR" sz="11200" dirty="0">
                <a:effectLst/>
                <a:latin typeface="Arial Black" panose="020B0A04020102020204" pitchFamily="34" charset="0"/>
                <a:ea typeface="Times New Roman" panose="02020603050405020304" pitchFamily="18" charset="0"/>
                <a:cs typeface="Arial" panose="020B0604020202020204" pitchFamily="34" charset="0"/>
              </a:rPr>
              <a:t>Expliquer le soin au client</a:t>
            </a:r>
          </a:p>
          <a:p>
            <a:pPr marL="342900" lvl="0" indent="-342900" algn="just">
              <a:lnSpc>
                <a:spcPct val="120000"/>
              </a:lnSpc>
              <a:spcAft>
                <a:spcPts val="1000"/>
              </a:spcAft>
              <a:buFont typeface="Arial" panose="020B0604020202020204" pitchFamily="34" charset="0"/>
              <a:buChar char="-"/>
            </a:pPr>
            <a:r>
              <a:rPr lang="fr-FR" sz="11200" dirty="0">
                <a:effectLst/>
                <a:latin typeface="Arial Black" panose="020B0A04020102020204" pitchFamily="34" charset="0"/>
                <a:ea typeface="Times New Roman" panose="02020603050405020304" pitchFamily="18" charset="0"/>
                <a:cs typeface="Arial" panose="020B0604020202020204" pitchFamily="34" charset="0"/>
              </a:rPr>
              <a:t>Choisir le site</a:t>
            </a:r>
          </a:p>
          <a:p>
            <a:pPr marL="342900" lvl="0" indent="-342900" algn="just">
              <a:lnSpc>
                <a:spcPct val="120000"/>
              </a:lnSpc>
              <a:spcAft>
                <a:spcPts val="1000"/>
              </a:spcAft>
              <a:buFont typeface="Arial" panose="020B0604020202020204" pitchFamily="34" charset="0"/>
              <a:buChar char="-"/>
            </a:pPr>
            <a:r>
              <a:rPr lang="fr-FR" sz="11200" dirty="0">
                <a:effectLst/>
                <a:latin typeface="Arial Black" panose="020B0A04020102020204" pitchFamily="34" charset="0"/>
                <a:ea typeface="Times New Roman" panose="02020603050405020304" pitchFamily="18" charset="0"/>
                <a:cs typeface="Arial" panose="020B0604020202020204" pitchFamily="34" charset="0"/>
              </a:rPr>
              <a:t>Palper le pouls</a:t>
            </a:r>
          </a:p>
          <a:p>
            <a:pPr marL="342900" lvl="0" indent="-342900" algn="just">
              <a:lnSpc>
                <a:spcPct val="120000"/>
              </a:lnSpc>
              <a:spcAft>
                <a:spcPts val="1000"/>
              </a:spcAft>
              <a:buFont typeface="Arial" panose="020B0604020202020204" pitchFamily="34" charset="0"/>
              <a:buChar char="-"/>
            </a:pPr>
            <a:r>
              <a:rPr lang="fr-FR" sz="11200" dirty="0">
                <a:effectLst/>
                <a:latin typeface="Arial Black" panose="020B0A04020102020204" pitchFamily="34" charset="0"/>
                <a:ea typeface="Times New Roman" panose="02020603050405020304" pitchFamily="18" charset="0"/>
                <a:cs typeface="Arial" panose="020B0604020202020204" pitchFamily="34" charset="0"/>
              </a:rPr>
              <a:t>Appuyer avec l’index et le majeur</a:t>
            </a:r>
          </a:p>
          <a:p>
            <a:pPr marL="342900" lvl="0" indent="-342900" algn="just">
              <a:lnSpc>
                <a:spcPct val="120000"/>
              </a:lnSpc>
              <a:spcAft>
                <a:spcPts val="1000"/>
              </a:spcAft>
              <a:buFont typeface="Arial" panose="020B0604020202020204" pitchFamily="34" charset="0"/>
              <a:buChar char="-"/>
            </a:pPr>
            <a:r>
              <a:rPr lang="fr-FR" sz="11200" dirty="0">
                <a:effectLst/>
                <a:latin typeface="Arial Black" panose="020B0A04020102020204" pitchFamily="34" charset="0"/>
                <a:ea typeface="Times New Roman" panose="02020603050405020304" pitchFamily="18" charset="0"/>
                <a:cs typeface="Arial" panose="020B0604020202020204" pitchFamily="34" charset="0"/>
              </a:rPr>
              <a:t>Compter pendant 1 minute</a:t>
            </a:r>
          </a:p>
          <a:p>
            <a:pPr marL="342900" lvl="0" indent="-342900" algn="just">
              <a:lnSpc>
                <a:spcPct val="120000"/>
              </a:lnSpc>
              <a:spcAft>
                <a:spcPts val="1000"/>
              </a:spcAft>
              <a:buFont typeface="Arial" panose="020B0604020202020204" pitchFamily="34" charset="0"/>
              <a:buChar char="-"/>
            </a:pPr>
            <a:r>
              <a:rPr lang="fr-FR" sz="11200" dirty="0">
                <a:effectLst/>
                <a:latin typeface="Arial Black" panose="020B0A04020102020204" pitchFamily="34" charset="0"/>
                <a:ea typeface="Times New Roman" panose="02020603050405020304" pitchFamily="18" charset="0"/>
                <a:cs typeface="Arial" panose="020B0604020202020204" pitchFamily="34" charset="0"/>
              </a:rPr>
              <a:t>Noter le soin avec un </a:t>
            </a:r>
            <a:r>
              <a:rPr lang="fr-FR" sz="11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stylo rouge </a:t>
            </a:r>
            <a:r>
              <a:rPr lang="fr-FR" sz="11200" dirty="0">
                <a:effectLst/>
                <a:latin typeface="Arial Black" panose="020B0A04020102020204" pitchFamily="34" charset="0"/>
                <a:ea typeface="Times New Roman" panose="02020603050405020304" pitchFamily="18" charset="0"/>
                <a:cs typeface="Arial" panose="020B0604020202020204" pitchFamily="34" charset="0"/>
              </a:rPr>
              <a:t>sur la feuille de température</a:t>
            </a:r>
          </a:p>
          <a:p>
            <a:pPr marL="0" indent="0">
              <a:buNone/>
            </a:pPr>
            <a:endParaRPr lang="fr-FR" dirty="0"/>
          </a:p>
        </p:txBody>
      </p:sp>
    </p:spTree>
    <p:extLst>
      <p:ext uri="{BB962C8B-B14F-4D97-AF65-F5344CB8AC3E}">
        <p14:creationId xmlns:p14="http://schemas.microsoft.com/office/powerpoint/2010/main" val="391923117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C64C3C-5D12-49BA-84BF-A1934AE89141}"/>
              </a:ext>
            </a:extLst>
          </p:cNvPr>
          <p:cNvSpPr>
            <a:spLocks noGrp="1"/>
          </p:cNvSpPr>
          <p:nvPr>
            <p:ph type="title"/>
          </p:nvPr>
        </p:nvSpPr>
        <p:spPr>
          <a:xfrm>
            <a:off x="1571223" y="0"/>
            <a:ext cx="9946267" cy="901521"/>
          </a:xfrm>
        </p:spPr>
        <p:txBody>
          <a:bodyPr>
            <a:normAutofit fontScale="90000"/>
          </a:bodyPr>
          <a:lstStyle/>
          <a:p>
            <a:pPr algn="ctr"/>
            <a:r>
              <a:rPr lang="fr-FR" sz="4400" b="1" dirty="0">
                <a:solidFill>
                  <a:srgbClr val="FF0000"/>
                </a:solidFill>
                <a:effectLst/>
                <a:ea typeface="Times New Roman" panose="02020603050405020304" pitchFamily="18" charset="0"/>
                <a:cs typeface="Times New Roman" panose="02020603050405020304" pitchFamily="18" charset="0"/>
              </a:rPr>
              <a:t>LA TENSION ARTERIELLE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066325BB-BE79-4872-9455-941057D73FF1}"/>
              </a:ext>
            </a:extLst>
          </p:cNvPr>
          <p:cNvSpPr>
            <a:spLocks noGrp="1"/>
          </p:cNvSpPr>
          <p:nvPr>
            <p:ph idx="1"/>
          </p:nvPr>
        </p:nvSpPr>
        <p:spPr>
          <a:xfrm>
            <a:off x="0" y="1299692"/>
            <a:ext cx="12192000" cy="5010955"/>
          </a:xfrm>
        </p:spPr>
        <p:txBody>
          <a:bodyPr>
            <a:noAutofit/>
          </a:bodyPr>
          <a:lstStyle/>
          <a:p>
            <a:pPr marL="0" indent="0">
              <a:lnSpc>
                <a:spcPct val="115000"/>
              </a:lnSpc>
              <a:spcAft>
                <a:spcPts val="1000"/>
              </a:spcAft>
              <a:buNone/>
            </a:pPr>
            <a:r>
              <a:rPr lang="fr-FR" sz="2400" b="1" u="sng" dirty="0">
                <a:effectLst/>
                <a:latin typeface="Arial Black" panose="020B0A04020102020204" pitchFamily="34" charset="0"/>
                <a:ea typeface="Times New Roman" panose="02020603050405020304" pitchFamily="18" charset="0"/>
                <a:cs typeface="Arial" panose="020B0604020202020204" pitchFamily="34" charset="0"/>
              </a:rPr>
              <a:t>INTRODUCTION</a:t>
            </a:r>
            <a:r>
              <a:rPr lang="fr-FR" sz="2400" dirty="0">
                <a:effectLst/>
                <a:latin typeface="Arial Black" panose="020B0A04020102020204" pitchFamily="34" charset="0"/>
                <a:ea typeface="Times New Roman" panose="02020603050405020304" pitchFamily="18" charset="0"/>
                <a:cs typeface="Arial" panose="020B0604020202020204" pitchFamily="34" charset="0"/>
              </a:rPr>
              <a:t> </a:t>
            </a:r>
          </a:p>
          <a:p>
            <a:pPr marL="0" indent="0" algn="just">
              <a:lnSpc>
                <a:spcPct val="115000"/>
              </a:lnSpc>
              <a:spcAft>
                <a:spcPts val="1000"/>
              </a:spcAft>
              <a:buNone/>
            </a:pPr>
            <a:r>
              <a:rPr lang="fr-FR" sz="2400" dirty="0">
                <a:effectLst/>
                <a:latin typeface="Arial Black" panose="020B0A04020102020204" pitchFamily="34" charset="0"/>
                <a:ea typeface="Times New Roman" panose="02020603050405020304" pitchFamily="18" charset="0"/>
                <a:cs typeface="Arial" panose="020B0604020202020204" pitchFamily="34" charset="0"/>
              </a:rPr>
              <a:t>La mesure de la tension artérielle est un acte de soin qui consiste à apprécier la pression selon laquelle le sang circule dans les artères </a:t>
            </a:r>
          </a:p>
          <a:p>
            <a:pPr marL="0" indent="0" algn="just">
              <a:lnSpc>
                <a:spcPct val="115000"/>
              </a:lnSpc>
              <a:spcAft>
                <a:spcPts val="1000"/>
              </a:spcAft>
              <a:buNone/>
            </a:pPr>
            <a:r>
              <a:rPr lang="fr-FR" sz="2400" dirty="0">
                <a:effectLst/>
                <a:latin typeface="Arial Black" panose="020B0A04020102020204" pitchFamily="34" charset="0"/>
                <a:ea typeface="Times New Roman" panose="02020603050405020304" pitchFamily="18" charset="0"/>
                <a:cs typeface="Arial" panose="020B0604020202020204" pitchFamily="34" charset="0"/>
              </a:rPr>
              <a:t>L’appréciation de la pression artérielle fait partie des informations qui concourent à la connaissance et à la surveillance de l’état de santé d’une personne </a:t>
            </a:r>
          </a:p>
          <a:p>
            <a:pPr marL="0" indent="0" algn="just">
              <a:lnSpc>
                <a:spcPct val="115000"/>
              </a:lnSpc>
              <a:spcAft>
                <a:spcPts val="1000"/>
              </a:spcAft>
              <a:buNone/>
            </a:pPr>
            <a:r>
              <a:rPr lang="fr-FR" sz="2400" dirty="0">
                <a:effectLst/>
                <a:latin typeface="Arial Black" panose="020B0A04020102020204" pitchFamily="34" charset="0"/>
                <a:ea typeface="Times New Roman" panose="02020603050405020304" pitchFamily="18" charset="0"/>
                <a:cs typeface="Arial" panose="020B0604020202020204" pitchFamily="34" charset="0"/>
              </a:rPr>
              <a:t>La mesure de la pression artérielle se fait au moyen d’un tensiomètre </a:t>
            </a:r>
          </a:p>
          <a:p>
            <a:pPr marL="0" indent="0">
              <a:buNone/>
            </a:pPr>
            <a:r>
              <a:rPr lang="fr-FR" sz="2400" dirty="0">
                <a:effectLst/>
                <a:latin typeface="Arial Black" panose="020B0A04020102020204" pitchFamily="34" charset="0"/>
                <a:ea typeface="Times New Roman" panose="02020603050405020304" pitchFamily="18" charset="0"/>
                <a:cs typeface="Arial" panose="020B0604020202020204" pitchFamily="34" charset="0"/>
              </a:rPr>
              <a:t>Il s’agit de mesurer la pression artérielle en position couchée bras le long du corps. En position assise au niveau de l’artère brachiale</a:t>
            </a:r>
            <a:endParaRPr lang="fr-FR" sz="2400"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154556423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BD6264-43ED-44F1-8009-01AE83A9643E}"/>
              </a:ext>
            </a:extLst>
          </p:cNvPr>
          <p:cNvSpPr>
            <a:spLocks noGrp="1"/>
          </p:cNvSpPr>
          <p:nvPr>
            <p:ph type="title"/>
          </p:nvPr>
        </p:nvSpPr>
        <p:spPr>
          <a:xfrm>
            <a:off x="2592925" y="0"/>
            <a:ext cx="8911687" cy="238775"/>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B0D952C9-991F-4503-AC4B-261A3363E2EB}"/>
              </a:ext>
            </a:extLst>
          </p:cNvPr>
          <p:cNvSpPr>
            <a:spLocks noGrp="1"/>
          </p:cNvSpPr>
          <p:nvPr>
            <p:ph idx="1"/>
          </p:nvPr>
        </p:nvSpPr>
        <p:spPr>
          <a:xfrm>
            <a:off x="270456" y="1335109"/>
            <a:ext cx="11337187" cy="4666445"/>
          </a:xfrm>
        </p:spPr>
        <p:txBody>
          <a:bodyPr>
            <a:normAutofit fontScale="25000" lnSpcReduction="20000"/>
          </a:bodyPr>
          <a:lstStyle/>
          <a:p>
            <a:pPr marL="342900" lvl="0" indent="-342900" algn="just">
              <a:lnSpc>
                <a:spcPct val="125000"/>
              </a:lnSpc>
              <a:spcAft>
                <a:spcPts val="1000"/>
              </a:spcAft>
              <a:buFont typeface="+mj-lt"/>
              <a:buAutoNum type="romanUcPeriod"/>
              <a:tabLst>
                <a:tab pos="628650" algn="l"/>
              </a:tabLst>
            </a:pPr>
            <a:r>
              <a:rPr lang="fr-FR" sz="100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DEFINITION</a:t>
            </a:r>
            <a:endParaRPr lang="fr-FR" sz="100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5000"/>
              </a:lnSpc>
              <a:spcAft>
                <a:spcPts val="1000"/>
              </a:spcAft>
              <a:buNone/>
            </a:pPr>
            <a:r>
              <a:rPr lang="fr-FR" sz="10000" dirty="0">
                <a:effectLst/>
                <a:latin typeface="Arial Black" panose="020B0A04020102020204" pitchFamily="34" charset="0"/>
                <a:ea typeface="Times New Roman" panose="02020603050405020304" pitchFamily="18" charset="0"/>
                <a:cs typeface="Arial" panose="020B0604020202020204" pitchFamily="34" charset="0"/>
              </a:rPr>
              <a:t>La tension artérielle est la pression sous laquelle le sang circule dans les vaisseaux. </a:t>
            </a:r>
            <a:endParaRPr lang="fr-FR" sz="10000" dirty="0" smtClean="0">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5000"/>
              </a:lnSpc>
              <a:spcAft>
                <a:spcPts val="1000"/>
              </a:spcAft>
              <a:buNone/>
            </a:pPr>
            <a:r>
              <a:rPr lang="fr-FR" sz="10000" dirty="0" smtClean="0">
                <a:effectLst/>
                <a:latin typeface="Arial Black" panose="020B0A04020102020204" pitchFamily="34" charset="0"/>
                <a:ea typeface="Times New Roman" panose="02020603050405020304" pitchFamily="18" charset="0"/>
                <a:cs typeface="Arial" panose="020B0604020202020204" pitchFamily="34" charset="0"/>
              </a:rPr>
              <a:t> </a:t>
            </a:r>
            <a:r>
              <a:rPr lang="fr-FR" sz="10000" dirty="0">
                <a:effectLst/>
                <a:latin typeface="Arial Black" panose="020B0A04020102020204" pitchFamily="34" charset="0"/>
                <a:ea typeface="Times New Roman" panose="02020603050405020304" pitchFamily="18" charset="0"/>
                <a:cs typeface="Arial" panose="020B0604020202020204" pitchFamily="34" charset="0"/>
              </a:rPr>
              <a:t>Elle dépend surtout de :</a:t>
            </a:r>
          </a:p>
          <a:p>
            <a:pPr marL="342900" lvl="0" indent="-342900" algn="just">
              <a:lnSpc>
                <a:spcPct val="125000"/>
              </a:lnSpc>
              <a:spcAft>
                <a:spcPts val="1000"/>
              </a:spcAft>
              <a:buFont typeface="Arial" panose="020B0604020202020204" pitchFamily="34" charset="0"/>
              <a:buChar char="-"/>
              <a:tabLst>
                <a:tab pos="457200" algn="l"/>
              </a:tabLst>
            </a:pPr>
            <a:r>
              <a:rPr lang="fr-FR" sz="10000" dirty="0">
                <a:effectLst/>
                <a:latin typeface="Arial Black" panose="020B0A04020102020204" pitchFamily="34" charset="0"/>
                <a:ea typeface="Times New Roman" panose="02020603050405020304" pitchFamily="18" charset="0"/>
                <a:cs typeface="Arial" panose="020B0604020202020204" pitchFamily="34" charset="0"/>
              </a:rPr>
              <a:t>la force de contraction du cœur</a:t>
            </a:r>
          </a:p>
          <a:p>
            <a:pPr marL="342900" lvl="0" indent="-342900" algn="just">
              <a:lnSpc>
                <a:spcPct val="125000"/>
              </a:lnSpc>
              <a:spcAft>
                <a:spcPts val="1000"/>
              </a:spcAft>
              <a:buFont typeface="Arial" panose="020B0604020202020204" pitchFamily="34" charset="0"/>
              <a:buChar char="-"/>
              <a:tabLst>
                <a:tab pos="457200" algn="l"/>
              </a:tabLst>
            </a:pPr>
            <a:r>
              <a:rPr lang="fr-FR" sz="10000" dirty="0">
                <a:effectLst/>
                <a:latin typeface="Arial Black" panose="020B0A04020102020204" pitchFamily="34" charset="0"/>
                <a:ea typeface="Times New Roman" panose="02020603050405020304" pitchFamily="18" charset="0"/>
                <a:cs typeface="Arial" panose="020B0604020202020204" pitchFamily="34" charset="0"/>
              </a:rPr>
              <a:t>l’état des vaisseaux</a:t>
            </a:r>
          </a:p>
          <a:p>
            <a:pPr marL="342900" lvl="0" indent="-342900" algn="just">
              <a:lnSpc>
                <a:spcPct val="125000"/>
              </a:lnSpc>
              <a:spcAft>
                <a:spcPts val="1000"/>
              </a:spcAft>
              <a:buFont typeface="Arial" panose="020B0604020202020204" pitchFamily="34" charset="0"/>
              <a:buChar char="-"/>
              <a:tabLst>
                <a:tab pos="457200" algn="l"/>
              </a:tabLst>
            </a:pPr>
            <a:r>
              <a:rPr lang="fr-FR" sz="10000" dirty="0">
                <a:effectLst/>
                <a:latin typeface="Arial Black" panose="020B0A04020102020204" pitchFamily="34" charset="0"/>
                <a:ea typeface="Times New Roman" panose="02020603050405020304" pitchFamily="18" charset="0"/>
                <a:cs typeface="Arial" panose="020B0604020202020204" pitchFamily="34" charset="0"/>
              </a:rPr>
              <a:t>la masse sanguine</a:t>
            </a:r>
          </a:p>
          <a:p>
            <a:pPr marL="0" indent="0">
              <a:buNone/>
            </a:pPr>
            <a:endParaRPr lang="fr-FR" dirty="0"/>
          </a:p>
        </p:txBody>
      </p:sp>
    </p:spTree>
    <p:extLst>
      <p:ext uri="{BB962C8B-B14F-4D97-AF65-F5344CB8AC3E}">
        <p14:creationId xmlns:p14="http://schemas.microsoft.com/office/powerpoint/2010/main" val="22713057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59138B-DBED-40AE-98B5-5AC15B2B579D}"/>
              </a:ext>
            </a:extLst>
          </p:cNvPr>
          <p:cNvSpPr>
            <a:spLocks noGrp="1"/>
          </p:cNvSpPr>
          <p:nvPr>
            <p:ph type="title"/>
          </p:nvPr>
        </p:nvSpPr>
        <p:spPr/>
        <p:txBody>
          <a:bodyPr/>
          <a:lstStyle/>
          <a:p>
            <a:r>
              <a:rPr lang="fr-FR" dirty="0"/>
              <a:t>  </a:t>
            </a:r>
          </a:p>
        </p:txBody>
      </p:sp>
      <p:sp>
        <p:nvSpPr>
          <p:cNvPr id="3" name="Espace réservé du contenu 2">
            <a:extLst>
              <a:ext uri="{FF2B5EF4-FFF2-40B4-BE49-F238E27FC236}">
                <a16:creationId xmlns:a16="http://schemas.microsoft.com/office/drawing/2014/main" id="{B0C2451A-8932-4420-9B7F-EB67C703258B}"/>
              </a:ext>
            </a:extLst>
          </p:cNvPr>
          <p:cNvSpPr>
            <a:spLocks noGrp="1"/>
          </p:cNvSpPr>
          <p:nvPr>
            <p:ph idx="1"/>
          </p:nvPr>
        </p:nvSpPr>
        <p:spPr>
          <a:xfrm>
            <a:off x="-1" y="1263482"/>
            <a:ext cx="12093263" cy="4957014"/>
          </a:xfrm>
        </p:spPr>
        <p:txBody>
          <a:bodyPr>
            <a:normAutofit fontScale="77500" lnSpcReduction="20000"/>
          </a:bodyPr>
          <a:lstStyle/>
          <a:p>
            <a:pPr marL="0" lvl="0" indent="0" algn="just">
              <a:lnSpc>
                <a:spcPct val="125000"/>
              </a:lnSpc>
              <a:spcAft>
                <a:spcPts val="1000"/>
              </a:spcAft>
              <a:buNone/>
              <a:tabLst>
                <a:tab pos="628650" algn="l"/>
              </a:tabLst>
            </a:pPr>
            <a:r>
              <a:rPr lang="fr-FR" sz="33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II- OBJECTIFS</a:t>
            </a:r>
            <a:endParaRPr lang="fr-FR" sz="33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0000"/>
              </a:lnSpc>
              <a:spcAft>
                <a:spcPts val="1000"/>
              </a:spcAft>
              <a:buFont typeface="Arial" panose="020B0604020202020204" pitchFamily="34" charset="0"/>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surveiller la santé d’une personne</a:t>
            </a:r>
          </a:p>
          <a:p>
            <a:pPr marL="342900" lvl="0" indent="-342900" algn="just">
              <a:lnSpc>
                <a:spcPct val="110000"/>
              </a:lnSpc>
              <a:spcAft>
                <a:spcPts val="1000"/>
              </a:spcAft>
              <a:buFont typeface="Arial" panose="020B0604020202020204" pitchFamily="34" charset="0"/>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identifier les signes d’aggravation subite de l’état du patient (choc)</a:t>
            </a:r>
          </a:p>
          <a:p>
            <a:pPr marL="342900" lvl="0" indent="-342900" algn="just">
              <a:lnSpc>
                <a:spcPct val="110000"/>
              </a:lnSpc>
              <a:spcAft>
                <a:spcPts val="1000"/>
              </a:spcAft>
              <a:buFont typeface="Arial" panose="020B0604020202020204" pitchFamily="34" charset="0"/>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surveiller un patient en période postopératoire</a:t>
            </a:r>
          </a:p>
          <a:p>
            <a:pPr marL="342900" lvl="0" indent="-342900" algn="just">
              <a:lnSpc>
                <a:spcPct val="110000"/>
              </a:lnSpc>
              <a:spcAft>
                <a:spcPts val="1000"/>
              </a:spcAft>
              <a:buFont typeface="Arial" panose="020B0604020202020204" pitchFamily="34" charset="0"/>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surveiller les chiffres de pression artérielle</a:t>
            </a:r>
          </a:p>
          <a:p>
            <a:pPr marL="342900" lvl="0" indent="-342900" algn="just">
              <a:lnSpc>
                <a:spcPct val="110000"/>
              </a:lnSpc>
              <a:spcAft>
                <a:spcPts val="1000"/>
              </a:spcAft>
              <a:buFont typeface="Arial" panose="020B0604020202020204" pitchFamily="34" charset="0"/>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comparer les résultats en fonction des positions debout/couché</a:t>
            </a:r>
          </a:p>
          <a:p>
            <a:pPr marL="342900" lvl="0" indent="-342900" algn="just">
              <a:lnSpc>
                <a:spcPct val="110000"/>
              </a:lnSpc>
              <a:spcAft>
                <a:spcPts val="1000"/>
              </a:spcAft>
              <a:buFont typeface="Arial" panose="020B0604020202020204" pitchFamily="34" charset="0"/>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apprécier les effets d’un traitement antihypertenseur</a:t>
            </a:r>
          </a:p>
          <a:p>
            <a:pPr marL="0" indent="0">
              <a:buNone/>
            </a:pPr>
            <a:endParaRPr lang="fr-FR" dirty="0"/>
          </a:p>
        </p:txBody>
      </p:sp>
    </p:spTree>
    <p:extLst>
      <p:ext uri="{BB962C8B-B14F-4D97-AF65-F5344CB8AC3E}">
        <p14:creationId xmlns:p14="http://schemas.microsoft.com/office/powerpoint/2010/main" val="50869854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30EC37-D1D6-4363-AFF4-8E5B121A1E39}"/>
              </a:ext>
            </a:extLst>
          </p:cNvPr>
          <p:cNvSpPr>
            <a:spLocks noGrp="1"/>
          </p:cNvSpPr>
          <p:nvPr>
            <p:ph type="title"/>
          </p:nvPr>
        </p:nvSpPr>
        <p:spPr>
          <a:xfrm>
            <a:off x="2541410" y="57440"/>
            <a:ext cx="8911687" cy="509230"/>
          </a:xfrm>
        </p:spPr>
        <p:txBody>
          <a:bodyPr/>
          <a:lstStyle/>
          <a:p>
            <a:endParaRPr lang="fr-FR"/>
          </a:p>
        </p:txBody>
      </p:sp>
      <p:sp>
        <p:nvSpPr>
          <p:cNvPr id="3" name="Espace réservé du contenu 2">
            <a:extLst>
              <a:ext uri="{FF2B5EF4-FFF2-40B4-BE49-F238E27FC236}">
                <a16:creationId xmlns:a16="http://schemas.microsoft.com/office/drawing/2014/main" id="{F38B52A9-2601-4734-B153-341A5CFA794D}"/>
              </a:ext>
            </a:extLst>
          </p:cNvPr>
          <p:cNvSpPr>
            <a:spLocks noGrp="1"/>
          </p:cNvSpPr>
          <p:nvPr>
            <p:ph idx="1"/>
          </p:nvPr>
        </p:nvSpPr>
        <p:spPr>
          <a:xfrm>
            <a:off x="118895" y="746973"/>
            <a:ext cx="11926957" cy="5550795"/>
          </a:xfrm>
        </p:spPr>
        <p:txBody>
          <a:bodyPr>
            <a:normAutofit fontScale="32500" lnSpcReduction="20000"/>
          </a:bodyPr>
          <a:lstStyle/>
          <a:p>
            <a:pPr marL="0" lvl="0" indent="0" algn="just">
              <a:lnSpc>
                <a:spcPct val="125000"/>
              </a:lnSpc>
              <a:spcAft>
                <a:spcPts val="1000"/>
              </a:spcAft>
              <a:buNone/>
              <a:tabLst>
                <a:tab pos="628650" algn="l"/>
              </a:tabLst>
            </a:pPr>
            <a:r>
              <a:rPr lang="fr-FR" sz="70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                         III-MATERIEL</a:t>
            </a:r>
            <a:endParaRPr lang="fr-FR" sz="70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5000"/>
              </a:lnSpc>
              <a:spcAft>
                <a:spcPts val="1000"/>
              </a:spcAft>
              <a:buNone/>
            </a:pPr>
            <a:r>
              <a:rPr lang="fr-FR" sz="7000" dirty="0">
                <a:effectLst/>
                <a:latin typeface="Arial Black" panose="020B0A04020102020204" pitchFamily="34" charset="0"/>
                <a:ea typeface="Times New Roman" panose="02020603050405020304" pitchFamily="18" charset="0"/>
                <a:cs typeface="Arial" panose="020B0604020202020204" pitchFamily="34" charset="0"/>
              </a:rPr>
              <a:t>La mesure se fait à l’aide d’un appareil appelé </a:t>
            </a:r>
            <a:r>
              <a:rPr lang="fr-FR" sz="7000" b="1" dirty="0">
                <a:effectLst/>
                <a:latin typeface="Arial Black" panose="020B0A04020102020204" pitchFamily="34" charset="0"/>
                <a:ea typeface="Times New Roman" panose="02020603050405020304" pitchFamily="18" charset="0"/>
                <a:cs typeface="Arial" panose="020B0604020202020204" pitchFamily="34" charset="0"/>
              </a:rPr>
              <a:t>tensiomètre</a:t>
            </a:r>
            <a:r>
              <a:rPr lang="fr-FR" sz="7000" dirty="0">
                <a:effectLst/>
                <a:latin typeface="Arial Black" panose="020B0A04020102020204" pitchFamily="34" charset="0"/>
                <a:ea typeface="Times New Roman" panose="02020603050405020304" pitchFamily="18" charset="0"/>
                <a:cs typeface="Arial" panose="020B0604020202020204" pitchFamily="34" charset="0"/>
              </a:rPr>
              <a:t>. Il est composé de :</a:t>
            </a:r>
          </a:p>
          <a:p>
            <a:pPr marL="342900" lvl="0" indent="-342900" algn="just">
              <a:lnSpc>
                <a:spcPct val="125000"/>
              </a:lnSpc>
              <a:spcAft>
                <a:spcPts val="1000"/>
              </a:spcAft>
              <a:buFont typeface="Arial" panose="020B0604020202020204" pitchFamily="34" charset="0"/>
              <a:buChar char="-"/>
              <a:tabLst>
                <a:tab pos="457200" algn="l"/>
              </a:tabLst>
            </a:pPr>
            <a:r>
              <a:rPr lang="fr-FR" sz="7000" dirty="0">
                <a:effectLst/>
                <a:latin typeface="Arial Black" panose="020B0A04020102020204" pitchFamily="34" charset="0"/>
                <a:ea typeface="Times New Roman" panose="02020603050405020304" pitchFamily="18" charset="0"/>
                <a:cs typeface="Arial" panose="020B0604020202020204" pitchFamily="34" charset="0"/>
              </a:rPr>
              <a:t>un manomètre gradué de 1 à 30 cm Hg ou de 0 à 300 mm hg</a:t>
            </a:r>
          </a:p>
          <a:p>
            <a:pPr marL="342900" lvl="0" indent="-342900" algn="just">
              <a:lnSpc>
                <a:spcPct val="125000"/>
              </a:lnSpc>
              <a:spcAft>
                <a:spcPts val="1000"/>
              </a:spcAft>
              <a:buFont typeface="Arial" panose="020B0604020202020204" pitchFamily="34" charset="0"/>
              <a:buChar char="-"/>
              <a:tabLst>
                <a:tab pos="457200" algn="l"/>
              </a:tabLst>
            </a:pPr>
            <a:r>
              <a:rPr lang="fr-FR" sz="7000" dirty="0">
                <a:effectLst/>
                <a:latin typeface="Arial Black" panose="020B0A04020102020204" pitchFamily="34" charset="0"/>
                <a:ea typeface="Times New Roman" panose="02020603050405020304" pitchFamily="18" charset="0"/>
                <a:cs typeface="Arial" panose="020B0604020202020204" pitchFamily="34" charset="0"/>
              </a:rPr>
              <a:t>un brassard pneumatique</a:t>
            </a:r>
          </a:p>
          <a:p>
            <a:pPr marL="342900" lvl="0" indent="-342900" algn="just">
              <a:lnSpc>
                <a:spcPct val="125000"/>
              </a:lnSpc>
              <a:spcAft>
                <a:spcPts val="1000"/>
              </a:spcAft>
              <a:buFont typeface="Arial" panose="020B0604020202020204" pitchFamily="34" charset="0"/>
              <a:buChar char="-"/>
              <a:tabLst>
                <a:tab pos="457200" algn="l"/>
              </a:tabLst>
            </a:pPr>
            <a:r>
              <a:rPr lang="fr-FR" sz="7000" dirty="0">
                <a:effectLst/>
                <a:latin typeface="Arial Black" panose="020B0A04020102020204" pitchFamily="34" charset="0"/>
                <a:ea typeface="Times New Roman" panose="02020603050405020304" pitchFamily="18" charset="0"/>
                <a:cs typeface="Arial" panose="020B0604020202020204" pitchFamily="34" charset="0"/>
              </a:rPr>
              <a:t>une poire servant à gonfler le brassard</a:t>
            </a:r>
          </a:p>
          <a:p>
            <a:pPr marL="342900" lvl="0" indent="-342900" algn="just">
              <a:lnSpc>
                <a:spcPct val="125000"/>
              </a:lnSpc>
              <a:spcAft>
                <a:spcPts val="1000"/>
              </a:spcAft>
              <a:buFont typeface="Arial" panose="020B0604020202020204" pitchFamily="34" charset="0"/>
              <a:buChar char="-"/>
              <a:tabLst>
                <a:tab pos="457200" algn="l"/>
              </a:tabLst>
            </a:pPr>
            <a:r>
              <a:rPr lang="fr-FR" sz="7000" dirty="0">
                <a:effectLst/>
                <a:latin typeface="Arial Black" panose="020B0A04020102020204" pitchFamily="34" charset="0"/>
                <a:ea typeface="Times New Roman" panose="02020603050405020304" pitchFamily="18" charset="0"/>
                <a:cs typeface="Times New Roman" panose="02020603050405020304" pitchFamily="18" charset="0"/>
              </a:rPr>
              <a:t>un stéthoscope</a:t>
            </a:r>
          </a:p>
          <a:p>
            <a:pPr marL="0" lvl="0" indent="0" algn="just">
              <a:lnSpc>
                <a:spcPct val="125000"/>
              </a:lnSpc>
              <a:spcAft>
                <a:spcPts val="1000"/>
              </a:spcAft>
              <a:buNone/>
              <a:tabLst>
                <a:tab pos="457200" algn="l"/>
              </a:tabLst>
            </a:pPr>
            <a:r>
              <a:rPr lang="fr-FR" sz="7000" dirty="0">
                <a:latin typeface="Arial Black" panose="020B0A04020102020204" pitchFamily="34" charset="0"/>
                <a:ea typeface="Times New Roman" panose="02020603050405020304" pitchFamily="18" charset="0"/>
                <a:cs typeface="Times New Roman" panose="02020603050405020304" pitchFamily="18" charset="0"/>
              </a:rPr>
              <a:t>-</a:t>
            </a:r>
            <a:r>
              <a:rPr lang="fr-FR" sz="7000" dirty="0" smtClean="0">
                <a:effectLst/>
                <a:latin typeface="Arial Black" panose="020B0A04020102020204" pitchFamily="34" charset="0"/>
                <a:ea typeface="Times New Roman" panose="02020603050405020304" pitchFamily="18" charset="0"/>
                <a:cs typeface="Times New Roman" panose="02020603050405020304" pitchFamily="18" charset="0"/>
              </a:rPr>
              <a:t> </a:t>
            </a:r>
            <a:r>
              <a:rPr lang="fr-FR" sz="7000" b="1" dirty="0">
                <a:effectLst/>
                <a:latin typeface="Arial Black" panose="020B0A04020102020204" pitchFamily="34" charset="0"/>
                <a:ea typeface="Times New Roman" panose="02020603050405020304" pitchFamily="18" charset="0"/>
                <a:cs typeface="Times New Roman" panose="02020603050405020304" pitchFamily="18" charset="0"/>
              </a:rPr>
              <a:t>un stylo rouge</a:t>
            </a:r>
          </a:p>
          <a:p>
            <a:pPr marL="0" indent="0">
              <a:buNone/>
            </a:pPr>
            <a:r>
              <a:rPr lang="fr-FR" sz="7000" dirty="0">
                <a:effectLst/>
                <a:latin typeface="Arial Black" panose="020B0A04020102020204" pitchFamily="34" charset="0"/>
                <a:ea typeface="Times New Roman" panose="02020603050405020304" pitchFamily="18" charset="0"/>
              </a:rPr>
              <a:t>Il existe des tensiomètres électroniques</a:t>
            </a:r>
            <a:endParaRPr lang="fr-FR" sz="70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125649644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54547" y="115910"/>
            <a:ext cx="5370490" cy="6065949"/>
          </a:xfrm>
          <a:prstGeom prst="rect">
            <a:avLst/>
          </a:prstGeom>
        </p:spPr>
      </p:pic>
      <p:pic>
        <p:nvPicPr>
          <p:cNvPr id="3" name="Image 2"/>
          <p:cNvPicPr>
            <a:picLocks noChangeAspect="1"/>
          </p:cNvPicPr>
          <p:nvPr/>
        </p:nvPicPr>
        <p:blipFill>
          <a:blip r:embed="rId3"/>
          <a:stretch>
            <a:fillRect/>
          </a:stretch>
        </p:blipFill>
        <p:spPr>
          <a:xfrm>
            <a:off x="5962919" y="115911"/>
            <a:ext cx="5254580" cy="6065948"/>
          </a:xfrm>
          <a:prstGeom prst="rect">
            <a:avLst/>
          </a:prstGeom>
        </p:spPr>
      </p:pic>
    </p:spTree>
    <p:extLst>
      <p:ext uri="{BB962C8B-B14F-4D97-AF65-F5344CB8AC3E}">
        <p14:creationId xmlns:p14="http://schemas.microsoft.com/office/powerpoint/2010/main" val="5170921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6658378" y="103031"/>
            <a:ext cx="5370490" cy="5962919"/>
          </a:xfrm>
          <a:prstGeom prst="rect">
            <a:avLst/>
          </a:prstGeom>
        </p:spPr>
      </p:pic>
      <p:pic>
        <p:nvPicPr>
          <p:cNvPr id="3" name="Image 2"/>
          <p:cNvPicPr>
            <a:picLocks noChangeAspect="1"/>
          </p:cNvPicPr>
          <p:nvPr/>
        </p:nvPicPr>
        <p:blipFill>
          <a:blip r:embed="rId3"/>
          <a:stretch>
            <a:fillRect/>
          </a:stretch>
        </p:blipFill>
        <p:spPr>
          <a:xfrm>
            <a:off x="0" y="103032"/>
            <a:ext cx="6413679" cy="6156100"/>
          </a:xfrm>
          <a:prstGeom prst="rect">
            <a:avLst/>
          </a:prstGeom>
        </p:spPr>
      </p:pic>
    </p:spTree>
    <p:extLst>
      <p:ext uri="{BB962C8B-B14F-4D97-AF65-F5344CB8AC3E}">
        <p14:creationId xmlns:p14="http://schemas.microsoft.com/office/powerpoint/2010/main" val="39774906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ECAD36-48A8-48AE-AB97-6EE34A67C3BC}"/>
              </a:ext>
            </a:extLst>
          </p:cNvPr>
          <p:cNvSpPr>
            <a:spLocks noGrp="1"/>
          </p:cNvSpPr>
          <p:nvPr>
            <p:ph type="title"/>
          </p:nvPr>
        </p:nvSpPr>
        <p:spPr>
          <a:xfrm>
            <a:off x="2489894" y="-264532"/>
            <a:ext cx="8911687" cy="1280890"/>
          </a:xfrm>
        </p:spPr>
        <p:txBody>
          <a:bodyPr/>
          <a:lstStyle/>
          <a:p>
            <a:endParaRPr lang="fr-FR"/>
          </a:p>
        </p:txBody>
      </p:sp>
      <p:sp>
        <p:nvSpPr>
          <p:cNvPr id="3" name="Espace réservé du contenu 2">
            <a:extLst>
              <a:ext uri="{FF2B5EF4-FFF2-40B4-BE49-F238E27FC236}">
                <a16:creationId xmlns:a16="http://schemas.microsoft.com/office/drawing/2014/main" id="{A9B92CDF-66DA-43F5-BA19-28E5E8FB9376}"/>
              </a:ext>
            </a:extLst>
          </p:cNvPr>
          <p:cNvSpPr>
            <a:spLocks noGrp="1"/>
          </p:cNvSpPr>
          <p:nvPr>
            <p:ph idx="1"/>
          </p:nvPr>
        </p:nvSpPr>
        <p:spPr>
          <a:xfrm>
            <a:off x="0" y="1159099"/>
            <a:ext cx="12192000" cy="5074791"/>
          </a:xfrm>
        </p:spPr>
        <p:txBody>
          <a:bodyPr>
            <a:normAutofit fontScale="47500" lnSpcReduction="20000"/>
          </a:bodyPr>
          <a:lstStyle/>
          <a:p>
            <a:pPr marL="0" lvl="0" indent="0" algn="just">
              <a:lnSpc>
                <a:spcPct val="125000"/>
              </a:lnSpc>
              <a:spcAft>
                <a:spcPts val="1000"/>
              </a:spcAft>
              <a:buNone/>
              <a:tabLst>
                <a:tab pos="628650" algn="l"/>
              </a:tabLst>
            </a:pPr>
            <a:r>
              <a:rPr lang="fr-FR" sz="5100" b="1"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IV- TECHNIQUE</a:t>
            </a:r>
          </a:p>
          <a:p>
            <a:pPr marL="342900" lvl="0" indent="-342900" algn="just">
              <a:lnSpc>
                <a:spcPct val="115000"/>
              </a:lnSpc>
              <a:spcAft>
                <a:spcPts val="1000"/>
              </a:spcAft>
              <a:buFont typeface="Arial" panose="020B0604020202020204" pitchFamily="34" charset="0"/>
              <a:buChar char="-"/>
              <a:tabLst>
                <a:tab pos="457200" algn="l"/>
              </a:tabLst>
            </a:pPr>
            <a:r>
              <a:rPr lang="fr-FR" sz="5100" dirty="0">
                <a:effectLst/>
                <a:latin typeface="Arial Black" panose="020B0A04020102020204" pitchFamily="34" charset="0"/>
                <a:ea typeface="Times New Roman" panose="02020603050405020304" pitchFamily="18" charset="0"/>
                <a:cs typeface="Arial" panose="020B0604020202020204" pitchFamily="34" charset="0"/>
              </a:rPr>
              <a:t>Expliquer au </a:t>
            </a:r>
            <a:r>
              <a:rPr lang="fr-FR" sz="5100" dirty="0" smtClean="0">
                <a:latin typeface="Arial Black" panose="020B0A04020102020204" pitchFamily="34" charset="0"/>
                <a:ea typeface="Times New Roman" panose="02020603050405020304" pitchFamily="18" charset="0"/>
                <a:cs typeface="Arial" panose="020B0604020202020204" pitchFamily="34" charset="0"/>
              </a:rPr>
              <a:t>patient</a:t>
            </a:r>
            <a:r>
              <a:rPr lang="fr-FR" sz="5100" dirty="0" smtClean="0">
                <a:effectLst/>
                <a:latin typeface="Arial Black" panose="020B0A04020102020204" pitchFamily="34" charset="0"/>
                <a:ea typeface="Times New Roman" panose="02020603050405020304" pitchFamily="18" charset="0"/>
                <a:cs typeface="Arial" panose="020B0604020202020204" pitchFamily="34" charset="0"/>
              </a:rPr>
              <a:t> </a:t>
            </a:r>
            <a:r>
              <a:rPr lang="fr-FR" sz="5100" dirty="0">
                <a:effectLst/>
                <a:latin typeface="Arial Black" panose="020B0A04020102020204" pitchFamily="34" charset="0"/>
                <a:ea typeface="Times New Roman" panose="02020603050405020304" pitchFamily="18" charset="0"/>
                <a:cs typeface="Arial" panose="020B0604020202020204" pitchFamily="34" charset="0"/>
              </a:rPr>
              <a:t>le soin, le rassurer</a:t>
            </a:r>
          </a:p>
          <a:p>
            <a:pPr>
              <a:buFontTx/>
              <a:buChar char="-"/>
            </a:pPr>
            <a:r>
              <a:rPr lang="fr-FR" sz="5100" dirty="0">
                <a:effectLst/>
                <a:latin typeface="Arial Black" panose="020B0A04020102020204" pitchFamily="34" charset="0"/>
                <a:ea typeface="Times New Roman" panose="02020603050405020304" pitchFamily="18" charset="0"/>
                <a:cs typeface="Arial" panose="020B0604020202020204" pitchFamily="34" charset="0"/>
              </a:rPr>
              <a:t>Mettre le </a:t>
            </a:r>
            <a:r>
              <a:rPr lang="fr-FR" sz="5100" dirty="0" smtClean="0">
                <a:latin typeface="Arial Black" panose="020B0A04020102020204" pitchFamily="34" charset="0"/>
                <a:ea typeface="Times New Roman" panose="02020603050405020304" pitchFamily="18" charset="0"/>
                <a:cs typeface="Arial" panose="020B0604020202020204" pitchFamily="34" charset="0"/>
              </a:rPr>
              <a:t>patient</a:t>
            </a:r>
            <a:r>
              <a:rPr lang="fr-FR" sz="5100" dirty="0" smtClean="0">
                <a:effectLst/>
                <a:latin typeface="Arial Black" panose="020B0A04020102020204" pitchFamily="34" charset="0"/>
                <a:ea typeface="Times New Roman" panose="02020603050405020304" pitchFamily="18" charset="0"/>
                <a:cs typeface="Arial" panose="020B0604020202020204" pitchFamily="34" charset="0"/>
              </a:rPr>
              <a:t> </a:t>
            </a:r>
            <a:r>
              <a:rPr lang="fr-FR" sz="5100" dirty="0">
                <a:effectLst/>
                <a:latin typeface="Arial Black" panose="020B0A04020102020204" pitchFamily="34" charset="0"/>
                <a:ea typeface="Times New Roman" panose="02020603050405020304" pitchFamily="18" charset="0"/>
                <a:cs typeface="Arial" panose="020B0604020202020204" pitchFamily="34" charset="0"/>
              </a:rPr>
              <a:t>au repos pendant au moins 15 min dans une chambre calme en position couchée</a:t>
            </a:r>
          </a:p>
          <a:p>
            <a:pPr marL="342900" lvl="0" indent="-342900" algn="just">
              <a:lnSpc>
                <a:spcPct val="115000"/>
              </a:lnSpc>
              <a:spcAft>
                <a:spcPts val="1000"/>
              </a:spcAft>
              <a:buFont typeface="Arial" panose="020B0604020202020204" pitchFamily="34" charset="0"/>
              <a:buChar char="-"/>
              <a:tabLst>
                <a:tab pos="457200" algn="l"/>
              </a:tabLst>
            </a:pPr>
            <a:r>
              <a:rPr lang="fr-FR" sz="5100" dirty="0">
                <a:effectLst/>
                <a:latin typeface="Arial Black" panose="020B0A04020102020204" pitchFamily="34" charset="0"/>
                <a:ea typeface="Times New Roman" panose="02020603050405020304" pitchFamily="18" charset="0"/>
                <a:cs typeface="Times New Roman" panose="02020603050405020304" pitchFamily="18" charset="0"/>
              </a:rPr>
              <a:t>Envelopper correctement le bras à l’aide du brassard de dimension appropriée, la poche gonflable sur le trajet de l’artère humérale, le bord inférieur de 2 à 3 cm du pli du coude.</a:t>
            </a:r>
          </a:p>
          <a:p>
            <a:pPr marL="342900" lvl="0" indent="-342900" algn="just">
              <a:lnSpc>
                <a:spcPct val="115000"/>
              </a:lnSpc>
              <a:spcAft>
                <a:spcPts val="1000"/>
              </a:spcAft>
              <a:buFont typeface="Arial" panose="020B0604020202020204" pitchFamily="34" charset="0"/>
              <a:buChar char="-"/>
              <a:tabLst>
                <a:tab pos="457200" algn="l"/>
              </a:tabLst>
            </a:pPr>
            <a:r>
              <a:rPr lang="fr-FR" sz="5100" dirty="0">
                <a:effectLst/>
                <a:latin typeface="Arial Black" panose="020B0A04020102020204" pitchFamily="34" charset="0"/>
                <a:ea typeface="Times New Roman" panose="02020603050405020304" pitchFamily="18" charset="0"/>
                <a:cs typeface="Times New Roman" panose="02020603050405020304" pitchFamily="18" charset="0"/>
              </a:rPr>
              <a:t>Le cadran du manomètre doit être visible</a:t>
            </a:r>
          </a:p>
          <a:p>
            <a:pPr marL="342900" lvl="0" indent="-342900" algn="just">
              <a:lnSpc>
                <a:spcPct val="115000"/>
              </a:lnSpc>
              <a:spcAft>
                <a:spcPts val="1000"/>
              </a:spcAft>
              <a:buFont typeface="Arial" panose="020B0604020202020204" pitchFamily="34" charset="0"/>
              <a:buChar char="-"/>
              <a:tabLst>
                <a:tab pos="457200" algn="l"/>
              </a:tabLst>
            </a:pPr>
            <a:r>
              <a:rPr lang="fr-FR" sz="5100" dirty="0">
                <a:effectLst/>
                <a:latin typeface="Arial Black" panose="020B0A04020102020204" pitchFamily="34" charset="0"/>
                <a:ea typeface="Times New Roman" panose="02020603050405020304" pitchFamily="18" charset="0"/>
                <a:cs typeface="Times New Roman" panose="02020603050405020304" pitchFamily="18" charset="0"/>
              </a:rPr>
              <a:t>Palper le pouls de l’artère humérale</a:t>
            </a:r>
          </a:p>
          <a:p>
            <a:pPr>
              <a:buFontTx/>
              <a:buChar char="-"/>
            </a:pPr>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960197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470135-FAA8-423A-AF2D-B3909E41BC7F}"/>
              </a:ext>
            </a:extLst>
          </p:cNvPr>
          <p:cNvSpPr>
            <a:spLocks noGrp="1"/>
          </p:cNvSpPr>
          <p:nvPr>
            <p:ph type="title"/>
          </p:nvPr>
        </p:nvSpPr>
        <p:spPr>
          <a:xfrm>
            <a:off x="1622738" y="147592"/>
            <a:ext cx="9920511" cy="457715"/>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A475CD5A-7C8B-4135-9E48-83E5BB0DD0E5}"/>
              </a:ext>
            </a:extLst>
          </p:cNvPr>
          <p:cNvSpPr>
            <a:spLocks noGrp="1"/>
          </p:cNvSpPr>
          <p:nvPr>
            <p:ph idx="1"/>
          </p:nvPr>
        </p:nvSpPr>
        <p:spPr>
          <a:xfrm>
            <a:off x="1" y="605306"/>
            <a:ext cx="12192000" cy="5859887"/>
          </a:xfrm>
        </p:spPr>
        <p:txBody>
          <a:bodyPr>
            <a:normAutofit fontScale="25000" lnSpcReduction="20000"/>
          </a:bodyPr>
          <a:lstStyle/>
          <a:p>
            <a:pPr marL="342900" lvl="0" indent="-342900" algn="just">
              <a:lnSpc>
                <a:spcPct val="115000"/>
              </a:lnSpc>
              <a:spcAft>
                <a:spcPts val="1000"/>
              </a:spcAft>
              <a:buFont typeface="Arial" panose="020B0604020202020204" pitchFamily="34" charset="0"/>
              <a:buChar char="-"/>
              <a:tabLst>
                <a:tab pos="457200" algn="l"/>
              </a:tabLst>
            </a:pPr>
            <a:r>
              <a:rPr lang="fr-FR" sz="9600" dirty="0" smtClean="0">
                <a:effectLst/>
                <a:latin typeface="Arial Black" panose="020B0A04020102020204" pitchFamily="34" charset="0"/>
                <a:ea typeface="Times New Roman" panose="02020603050405020304" pitchFamily="18" charset="0"/>
                <a:cs typeface="Times New Roman" panose="02020603050405020304" pitchFamily="18" charset="0"/>
              </a:rPr>
              <a:t>        - Placer </a:t>
            </a:r>
            <a:r>
              <a:rPr lang="fr-FR" sz="9600" dirty="0">
                <a:effectLst/>
                <a:latin typeface="Arial Black" panose="020B0A04020102020204" pitchFamily="34" charset="0"/>
                <a:ea typeface="Times New Roman" panose="02020603050405020304" pitchFamily="18" charset="0"/>
                <a:cs typeface="Times New Roman" panose="02020603050405020304" pitchFamily="18" charset="0"/>
              </a:rPr>
              <a:t>les écouteurs du stéthoscope dans les oreilles et poser la capsule du stéthoscope au-dessus de l’artère humérale.</a:t>
            </a:r>
          </a:p>
          <a:p>
            <a:pPr marL="342900" lvl="0" indent="-342900" algn="just">
              <a:lnSpc>
                <a:spcPct val="115000"/>
              </a:lnSpc>
              <a:spcAft>
                <a:spcPts val="1000"/>
              </a:spcAft>
              <a:buFont typeface="Arial" panose="020B0604020202020204" pitchFamily="34" charset="0"/>
              <a:buChar char="-"/>
              <a:tabLst>
                <a:tab pos="457200" algn="l"/>
              </a:tabLst>
            </a:pPr>
            <a:r>
              <a:rPr lang="fr-FR" sz="9600" dirty="0">
                <a:effectLst/>
                <a:latin typeface="Arial Black" panose="020B0A04020102020204" pitchFamily="34" charset="0"/>
                <a:ea typeface="Times New Roman" panose="02020603050405020304" pitchFamily="18" charset="0"/>
                <a:cs typeface="Times New Roman" panose="02020603050405020304" pitchFamily="18" charset="0"/>
              </a:rPr>
              <a:t>Fermer la vis de la poire</a:t>
            </a:r>
          </a:p>
          <a:p>
            <a:pPr marL="342900" lvl="0" indent="-342900" algn="just">
              <a:lnSpc>
                <a:spcPct val="115000"/>
              </a:lnSpc>
              <a:spcAft>
                <a:spcPts val="1000"/>
              </a:spcAft>
              <a:buFont typeface="Arial" panose="020B0604020202020204" pitchFamily="34" charset="0"/>
              <a:buChar char="-"/>
              <a:tabLst>
                <a:tab pos="457200" algn="l"/>
              </a:tabLst>
            </a:pPr>
            <a:r>
              <a:rPr lang="fr-FR" sz="9600" dirty="0">
                <a:effectLst/>
                <a:latin typeface="Arial Black" panose="020B0A04020102020204" pitchFamily="34" charset="0"/>
                <a:ea typeface="Times New Roman" panose="02020603050405020304" pitchFamily="18" charset="0"/>
                <a:cs typeface="Times New Roman" panose="02020603050405020304" pitchFamily="18" charset="0"/>
              </a:rPr>
              <a:t>Gonfler le brassard doucement jusqu’à la disparition du pouls radial</a:t>
            </a:r>
          </a:p>
          <a:p>
            <a:pPr marL="342900" lvl="0" indent="-342900" algn="just">
              <a:lnSpc>
                <a:spcPct val="115000"/>
              </a:lnSpc>
              <a:spcAft>
                <a:spcPts val="1000"/>
              </a:spcAft>
              <a:buFont typeface="Arial" panose="020B0604020202020204" pitchFamily="34" charset="0"/>
              <a:buChar char="-"/>
              <a:tabLst>
                <a:tab pos="457200" algn="l"/>
              </a:tabLst>
            </a:pPr>
            <a:r>
              <a:rPr lang="fr-FR" sz="9600" dirty="0">
                <a:effectLst/>
                <a:latin typeface="Arial Black" panose="020B0A04020102020204" pitchFamily="34" charset="0"/>
                <a:ea typeface="Times New Roman" panose="02020603050405020304" pitchFamily="18" charset="0"/>
                <a:cs typeface="Times New Roman" panose="02020603050405020304" pitchFamily="18" charset="0"/>
              </a:rPr>
              <a:t>Dégonfler progressivement tout en regardant l’aiguille du manomètre revenir.</a:t>
            </a:r>
          </a:p>
          <a:p>
            <a:pPr marL="342900" lvl="0" indent="-342900" algn="just">
              <a:lnSpc>
                <a:spcPct val="115000"/>
              </a:lnSpc>
              <a:spcAft>
                <a:spcPts val="1000"/>
              </a:spcAft>
              <a:buFont typeface="Arial" panose="020B0604020202020204" pitchFamily="34" charset="0"/>
              <a:buChar char="-"/>
              <a:tabLst>
                <a:tab pos="457200" algn="l"/>
              </a:tabLst>
            </a:pPr>
            <a:r>
              <a:rPr lang="fr-FR" sz="9600" dirty="0">
                <a:effectLst/>
                <a:latin typeface="Arial Black" panose="020B0A04020102020204" pitchFamily="34" charset="0"/>
                <a:ea typeface="Times New Roman" panose="02020603050405020304" pitchFamily="18" charset="0"/>
                <a:cs typeface="Times New Roman" panose="02020603050405020304" pitchFamily="18" charset="0"/>
              </a:rPr>
              <a:t>Le chiffre indiqué par l’aiguille lorsqu’on entend le bruit qui devient régulier correspond à la maxima (ou tension systolique, cela est en rapport avec la contraction du ventricule</a:t>
            </a:r>
            <a:r>
              <a:rPr lang="fr-FR" sz="9600" dirty="0" smtClean="0">
                <a:effectLst/>
                <a:latin typeface="Arial Black" panose="020B0A04020102020204" pitchFamily="34" charset="0"/>
                <a:ea typeface="Times New Roman" panose="02020603050405020304" pitchFamily="18" charset="0"/>
                <a:cs typeface="Times New Roman" panose="02020603050405020304" pitchFamily="18" charset="0"/>
              </a:rPr>
              <a:t>)</a:t>
            </a:r>
          </a:p>
          <a:p>
            <a:pPr marL="342900" lvl="0" indent="-342900" algn="just">
              <a:lnSpc>
                <a:spcPct val="115000"/>
              </a:lnSpc>
              <a:spcAft>
                <a:spcPts val="1000"/>
              </a:spcAft>
              <a:buFont typeface="Arial" panose="020B0604020202020204" pitchFamily="34" charset="0"/>
              <a:buChar char="-"/>
              <a:tabLst>
                <a:tab pos="457200" algn="l"/>
              </a:tabLst>
            </a:pPr>
            <a:r>
              <a:rPr lang="fr-FR" sz="9600" dirty="0" smtClean="0">
                <a:solidFill>
                  <a:prstClr val="black"/>
                </a:solidFill>
                <a:latin typeface="Arial Black" panose="020B0A04020102020204" pitchFamily="34" charset="0"/>
                <a:ea typeface="Times New Roman" panose="02020603050405020304" pitchFamily="18" charset="0"/>
                <a:cs typeface="Arial" panose="020B0604020202020204" pitchFamily="34" charset="0"/>
              </a:rPr>
              <a:t> </a:t>
            </a:r>
            <a:r>
              <a:rPr lang="fr-FR" sz="9600" dirty="0">
                <a:solidFill>
                  <a:prstClr val="black"/>
                </a:solidFill>
                <a:latin typeface="Arial Black" panose="020B0A04020102020204" pitchFamily="34" charset="0"/>
                <a:ea typeface="Times New Roman" panose="02020603050405020304" pitchFamily="18" charset="0"/>
                <a:cs typeface="Arial" panose="020B0604020202020204" pitchFamily="34" charset="0"/>
              </a:rPr>
              <a:t>Continuer à dégonfler le brassard ; le chiffre indiqué par l’aiguille lorsque les battements cessent représente la minima (tension diastolique, cela traduit la résistance des vaisseaux au moment de la diastole ventriculaire</a:t>
            </a:r>
            <a:r>
              <a:rPr lang="fr-FR" sz="8000" dirty="0">
                <a:solidFill>
                  <a:prstClr val="black"/>
                </a:solidFill>
                <a:latin typeface="Arial Black" panose="020B0A04020102020204" pitchFamily="34" charset="0"/>
                <a:ea typeface="Times New Roman" panose="02020603050405020304" pitchFamily="18" charset="0"/>
                <a:cs typeface="Arial" panose="020B0604020202020204" pitchFamily="34" charset="0"/>
              </a:rPr>
              <a:t>)</a:t>
            </a:r>
          </a:p>
          <a:p>
            <a:pPr marL="342900" lvl="0" indent="-342900" algn="just">
              <a:lnSpc>
                <a:spcPct val="115000"/>
              </a:lnSpc>
              <a:spcAft>
                <a:spcPts val="1000"/>
              </a:spcAft>
              <a:buFont typeface="Arial" panose="020B0604020202020204" pitchFamily="34" charset="0"/>
              <a:buChar char="-"/>
              <a:tabLst>
                <a:tab pos="457200" algn="l"/>
              </a:tabLst>
            </a:pPr>
            <a:endParaRPr lang="fr-FR" sz="9600" dirty="0">
              <a:effectLst/>
              <a:latin typeface="Arial Black" panose="020B0A04020102020204" pitchFamily="34" charset="0"/>
              <a:ea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25891616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7690364" y="0"/>
            <a:ext cx="4390019" cy="6117464"/>
          </a:xfrm>
          <a:prstGeom prst="rect">
            <a:avLst/>
          </a:prstGeom>
        </p:spPr>
      </p:pic>
      <p:pic>
        <p:nvPicPr>
          <p:cNvPr id="3" name="Image 2"/>
          <p:cNvPicPr>
            <a:picLocks noChangeAspect="1"/>
          </p:cNvPicPr>
          <p:nvPr/>
        </p:nvPicPr>
        <p:blipFill>
          <a:blip r:embed="rId3"/>
          <a:stretch>
            <a:fillRect/>
          </a:stretch>
        </p:blipFill>
        <p:spPr>
          <a:xfrm>
            <a:off x="167425" y="0"/>
            <a:ext cx="3374265" cy="6117464"/>
          </a:xfrm>
          <a:prstGeom prst="rect">
            <a:avLst/>
          </a:prstGeom>
        </p:spPr>
      </p:pic>
      <p:pic>
        <p:nvPicPr>
          <p:cNvPr id="4" name="Image 3"/>
          <p:cNvPicPr>
            <a:picLocks noChangeAspect="1"/>
          </p:cNvPicPr>
          <p:nvPr/>
        </p:nvPicPr>
        <p:blipFill>
          <a:blip r:embed="rId4"/>
          <a:stretch>
            <a:fillRect/>
          </a:stretch>
        </p:blipFill>
        <p:spPr>
          <a:xfrm>
            <a:off x="3541690" y="0"/>
            <a:ext cx="4148674" cy="6117464"/>
          </a:xfrm>
          <a:prstGeom prst="rect">
            <a:avLst/>
          </a:prstGeom>
        </p:spPr>
      </p:pic>
    </p:spTree>
    <p:extLst>
      <p:ext uri="{BB962C8B-B14F-4D97-AF65-F5344CB8AC3E}">
        <p14:creationId xmlns:p14="http://schemas.microsoft.com/office/powerpoint/2010/main" val="33555562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6722773" y="0"/>
            <a:ext cx="5379076" cy="6181859"/>
          </a:xfrm>
          <a:prstGeom prst="rect">
            <a:avLst/>
          </a:prstGeom>
        </p:spPr>
      </p:pic>
    </p:spTree>
    <p:extLst>
      <p:ext uri="{BB962C8B-B14F-4D97-AF65-F5344CB8AC3E}">
        <p14:creationId xmlns:p14="http://schemas.microsoft.com/office/powerpoint/2010/main" val="14291952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639383-AA29-4E36-A276-B66FA6BD56E2}"/>
              </a:ext>
            </a:extLst>
          </p:cNvPr>
          <p:cNvSpPr>
            <a:spLocks noGrp="1"/>
          </p:cNvSpPr>
          <p:nvPr>
            <p:ph type="title"/>
          </p:nvPr>
        </p:nvSpPr>
        <p:spPr>
          <a:xfrm>
            <a:off x="1828801" y="0"/>
            <a:ext cx="9585660" cy="914400"/>
          </a:xfrm>
        </p:spPr>
        <p:txBody>
          <a:bodyPr>
            <a:normAutofit fontScale="90000"/>
          </a:bodyPr>
          <a:lstStyle/>
          <a:p>
            <a:r>
              <a:rPr lang="fr-FR" sz="3200" b="1" dirty="0">
                <a:solidFill>
                  <a:srgbClr val="FF0000"/>
                </a:solidFill>
                <a:effectLst/>
                <a:ea typeface="Times New Roman" panose="02020603050405020304" pitchFamily="18" charset="0"/>
                <a:cs typeface="Times New Roman" panose="02020603050405020304" pitchFamily="18" charset="0"/>
              </a:rPr>
              <a:t>V- VARIATIONS</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EC9D265C-760A-4843-956A-712B82E53B9C}"/>
              </a:ext>
            </a:extLst>
          </p:cNvPr>
          <p:cNvSpPr>
            <a:spLocks noGrp="1"/>
          </p:cNvSpPr>
          <p:nvPr>
            <p:ph idx="1"/>
          </p:nvPr>
        </p:nvSpPr>
        <p:spPr>
          <a:xfrm>
            <a:off x="0" y="553792"/>
            <a:ext cx="11616744" cy="5705340"/>
          </a:xfrm>
        </p:spPr>
        <p:txBody>
          <a:bodyPr>
            <a:noAutofit/>
          </a:bodyPr>
          <a:lstStyle/>
          <a:p>
            <a:pPr marL="1600200" lvl="3" indent="-228600" algn="just">
              <a:lnSpc>
                <a:spcPct val="125000"/>
              </a:lnSpc>
              <a:spcAft>
                <a:spcPts val="1000"/>
              </a:spcAft>
              <a:buFont typeface="+mj-lt"/>
              <a:buAutoNum type="arabicPeriod"/>
            </a:pPr>
            <a:r>
              <a:rPr lang="fr-FR" sz="2800" b="1" dirty="0">
                <a:effectLst/>
                <a:latin typeface="Arial Black" panose="020B0A04020102020204" pitchFamily="34" charset="0"/>
                <a:ea typeface="Times New Roman" panose="02020603050405020304" pitchFamily="18" charset="0"/>
                <a:cs typeface="Arial" panose="020B0604020202020204" pitchFamily="34" charset="0"/>
              </a:rPr>
              <a:t>Variation physiologique</a:t>
            </a:r>
            <a:endParaRPr lang="fr-FR" sz="2800" dirty="0">
              <a:effectLst/>
              <a:latin typeface="Arial Black" panose="020B0A04020102020204" pitchFamily="34" charset="0"/>
              <a:ea typeface="Times New Roman" panose="02020603050405020304" pitchFamily="18" charset="0"/>
              <a:cs typeface="Arial" panose="020B0604020202020204" pitchFamily="34" charset="0"/>
            </a:endParaRPr>
          </a:p>
          <a:p>
            <a:pPr lvl="0" algn="just">
              <a:lnSpc>
                <a:spcPct val="115000"/>
              </a:lnSpc>
              <a:spcAft>
                <a:spcPts val="1000"/>
              </a:spcAft>
              <a:buFont typeface="Wingdings" panose="05000000000000000000" pitchFamily="2" charset="2"/>
              <a:buChar char="v"/>
              <a:tabLst>
                <a:tab pos="457200" algn="l"/>
              </a:tabLst>
            </a:pPr>
            <a:r>
              <a:rPr lang="fr-FR" sz="2400" u="sng"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L’âge : </a:t>
            </a:r>
          </a:p>
          <a:p>
            <a:pPr marL="342900" lvl="0" indent="-342900" algn="just">
              <a:lnSpc>
                <a:spcPct val="115000"/>
              </a:lnSpc>
              <a:spcAft>
                <a:spcPts val="1000"/>
              </a:spcAft>
              <a:buFont typeface="Arial" panose="020B0604020202020204" pitchFamily="34" charset="0"/>
              <a:buChar char="-"/>
              <a:tabLst>
                <a:tab pos="457200" algn="l"/>
              </a:tabLst>
            </a:pPr>
            <a:r>
              <a:rPr lang="fr-FR" sz="2400" dirty="0" smtClean="0">
                <a:effectLst/>
                <a:latin typeface="Arial Black" panose="020B0A04020102020204" pitchFamily="34" charset="0"/>
                <a:ea typeface="Times New Roman" panose="02020603050405020304" pitchFamily="18" charset="0"/>
                <a:cs typeface="Arial" panose="020B0604020202020204" pitchFamily="34" charset="0"/>
              </a:rPr>
              <a:t>nouveau-né : 6/3 </a:t>
            </a:r>
            <a:r>
              <a:rPr lang="fr-FR" sz="2400" dirty="0" err="1" smtClean="0">
                <a:effectLst/>
                <a:latin typeface="Arial Black" panose="020B0A04020102020204" pitchFamily="34" charset="0"/>
                <a:ea typeface="Times New Roman" panose="02020603050405020304" pitchFamily="18" charset="0"/>
                <a:cs typeface="Arial" panose="020B0604020202020204" pitchFamily="34" charset="0"/>
              </a:rPr>
              <a:t>cmHg</a:t>
            </a:r>
            <a:endParaRPr lang="fr-FR" sz="2400" dirty="0" smtClean="0">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Arial" panose="020B0604020202020204" pitchFamily="34" charset="0"/>
              <a:buChar char="-"/>
              <a:tabLst>
                <a:tab pos="457200" algn="l"/>
              </a:tabLst>
            </a:pPr>
            <a:r>
              <a:rPr lang="fr-FR" sz="2400" dirty="0" smtClean="0">
                <a:effectLst/>
                <a:latin typeface="Arial Black" panose="020B0A04020102020204" pitchFamily="34" charset="0"/>
                <a:ea typeface="Times New Roman" panose="02020603050405020304" pitchFamily="18" charset="0"/>
                <a:cs typeface="Arial" panose="020B0604020202020204" pitchFamily="34" charset="0"/>
              </a:rPr>
              <a:t>adulte</a:t>
            </a:r>
            <a:r>
              <a:rPr lang="fr-FR" sz="2400" dirty="0">
                <a:effectLst/>
                <a:latin typeface="Arial Black" panose="020B0A04020102020204" pitchFamily="34" charset="0"/>
                <a:ea typeface="Times New Roman" panose="02020603050405020304" pitchFamily="18" charset="0"/>
                <a:cs typeface="Arial" panose="020B0604020202020204" pitchFamily="34" charset="0"/>
              </a:rPr>
              <a:t> : 12/7cmHg </a:t>
            </a:r>
            <a:endParaRPr lang="fr-FR" sz="2400" dirty="0" smtClean="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Arial" panose="020B0604020202020204" pitchFamily="34" charset="0"/>
              <a:buChar char="-"/>
              <a:tabLst>
                <a:tab pos="457200" algn="l"/>
              </a:tabLst>
            </a:pPr>
            <a:r>
              <a:rPr lang="fr-FR" sz="2400" dirty="0" smtClean="0">
                <a:effectLst/>
                <a:latin typeface="Arial Black" panose="020B0A04020102020204" pitchFamily="34" charset="0"/>
                <a:ea typeface="Times New Roman" panose="02020603050405020304" pitchFamily="18" charset="0"/>
                <a:cs typeface="Arial" panose="020B0604020202020204" pitchFamily="34" charset="0"/>
              </a:rPr>
              <a:t>vieillard</a:t>
            </a:r>
            <a:r>
              <a:rPr lang="fr-FR" sz="2400" dirty="0">
                <a:effectLst/>
                <a:latin typeface="Arial Black" panose="020B0A04020102020204" pitchFamily="34" charset="0"/>
                <a:ea typeface="Times New Roman" panose="02020603050405020304" pitchFamily="18" charset="0"/>
                <a:cs typeface="Arial" panose="020B0604020202020204" pitchFamily="34" charset="0"/>
              </a:rPr>
              <a:t> : 16/9 cmHg </a:t>
            </a:r>
          </a:p>
          <a:p>
            <a:pPr lvl="0" algn="just">
              <a:lnSpc>
                <a:spcPct val="115000"/>
              </a:lnSpc>
              <a:spcAft>
                <a:spcPts val="1000"/>
              </a:spcAft>
              <a:buFont typeface="Wingdings" panose="05000000000000000000" pitchFamily="2" charset="2"/>
              <a:buChar char="v"/>
              <a:tabLst>
                <a:tab pos="457200" algn="l"/>
              </a:tabLst>
            </a:pPr>
            <a:r>
              <a:rPr lang="fr-FR" sz="2400" u="sng"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L’émotion et l’effort physique</a:t>
            </a:r>
          </a:p>
          <a:p>
            <a:pPr lvl="0" algn="just">
              <a:lnSpc>
                <a:spcPct val="115000"/>
              </a:lnSpc>
              <a:spcAft>
                <a:spcPts val="1000"/>
              </a:spcAft>
              <a:buFont typeface="Wingdings" panose="05000000000000000000" pitchFamily="2" charset="2"/>
              <a:buChar char="v"/>
              <a:tabLst>
                <a:tab pos="457200" algn="l"/>
              </a:tabLst>
            </a:pPr>
            <a:r>
              <a:rPr lang="fr-FR" sz="24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L’heure </a:t>
            </a:r>
            <a:r>
              <a:rPr lang="fr-FR" sz="2400" dirty="0">
                <a:effectLst/>
                <a:latin typeface="Arial Black" panose="020B0A04020102020204" pitchFamily="34" charset="0"/>
                <a:ea typeface="Times New Roman" panose="02020603050405020304" pitchFamily="18" charset="0"/>
                <a:cs typeface="Arial" panose="020B0604020202020204" pitchFamily="34" charset="0"/>
              </a:rPr>
              <a:t>: elle est plus basse le matin et pendant le sommeil ; elle s’élève pendant les activités</a:t>
            </a:r>
          </a:p>
          <a:p>
            <a:pPr>
              <a:buFont typeface="Wingdings" panose="05000000000000000000" pitchFamily="2" charset="2"/>
              <a:buChar char="v"/>
            </a:pPr>
            <a:r>
              <a:rPr lang="fr-FR" sz="24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Les positions corporelles </a:t>
            </a:r>
            <a:r>
              <a:rPr lang="fr-FR" sz="2400" dirty="0">
                <a:effectLst/>
                <a:latin typeface="Arial Black" panose="020B0A04020102020204" pitchFamily="34" charset="0"/>
                <a:ea typeface="Times New Roman" panose="02020603050405020304" pitchFamily="18" charset="0"/>
                <a:cs typeface="Arial" panose="020B0604020202020204" pitchFamily="34" charset="0"/>
              </a:rPr>
              <a:t>: elle est plus basse en position </a:t>
            </a:r>
            <a:r>
              <a:rPr lang="fr-FR" sz="2400" dirty="0" smtClean="0">
                <a:effectLst/>
                <a:latin typeface="Arial Black" panose="020B0A04020102020204" pitchFamily="34" charset="0"/>
                <a:ea typeface="Times New Roman" panose="02020603050405020304" pitchFamily="18" charset="0"/>
                <a:cs typeface="Arial" panose="020B0604020202020204" pitchFamily="34" charset="0"/>
              </a:rPr>
              <a:t>couchée </a:t>
            </a:r>
            <a:endParaRPr lang="fr-FR" sz="2400"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30463355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081B37-19E5-407A-A2E8-1CE13A25F07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3B60591-828C-4F3E-9520-E43315F0F5EA}"/>
              </a:ext>
            </a:extLst>
          </p:cNvPr>
          <p:cNvSpPr>
            <a:spLocks noGrp="1"/>
          </p:cNvSpPr>
          <p:nvPr>
            <p:ph idx="1"/>
          </p:nvPr>
        </p:nvSpPr>
        <p:spPr>
          <a:xfrm>
            <a:off x="90152" y="1905000"/>
            <a:ext cx="11504612" cy="3777622"/>
          </a:xfrm>
        </p:spPr>
        <p:txBody>
          <a:bodyPr/>
          <a:lstStyle/>
          <a:p>
            <a:pPr marL="1371600" lvl="3" indent="0" algn="just">
              <a:lnSpc>
                <a:spcPct val="125000"/>
              </a:lnSpc>
              <a:spcAft>
                <a:spcPts val="1000"/>
              </a:spcAft>
              <a:buNone/>
            </a:pPr>
            <a:r>
              <a:rPr lang="fr-FR" sz="3200" b="1" dirty="0">
                <a:effectLst/>
                <a:latin typeface="Arial Black" panose="020B0A04020102020204" pitchFamily="34" charset="0"/>
                <a:ea typeface="Times New Roman" panose="02020603050405020304" pitchFamily="18" charset="0"/>
                <a:cs typeface="Arial" panose="020B0604020202020204" pitchFamily="34" charset="0"/>
              </a:rPr>
              <a:t>2-Variation pathologique</a:t>
            </a:r>
            <a:endParaRPr lang="fr-FR" sz="3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Arial" panose="020B0604020202020204" pitchFamily="34" charset="0"/>
              <a:buChar char="-"/>
              <a:tabLst>
                <a:tab pos="457200" algn="l"/>
              </a:tabLst>
            </a:pPr>
            <a:r>
              <a:rPr lang="fr-FR"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hypertension artérielle</a:t>
            </a:r>
          </a:p>
          <a:p>
            <a:pPr marL="342900" lvl="0" indent="-342900" algn="just">
              <a:lnSpc>
                <a:spcPct val="125000"/>
              </a:lnSpc>
              <a:spcAft>
                <a:spcPts val="1000"/>
              </a:spcAft>
              <a:buFont typeface="Arial" panose="020B0604020202020204" pitchFamily="34" charset="0"/>
              <a:buChar char="-"/>
              <a:tabLst>
                <a:tab pos="457200" algn="l"/>
              </a:tabLst>
            </a:pPr>
            <a:r>
              <a:rPr lang="fr-FR"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hypotension artérielle </a:t>
            </a:r>
          </a:p>
          <a:p>
            <a:pPr marL="0" indent="0">
              <a:buNone/>
            </a:pPr>
            <a:endParaRPr lang="fr-FR" dirty="0"/>
          </a:p>
        </p:txBody>
      </p:sp>
    </p:spTree>
    <p:extLst>
      <p:ext uri="{BB962C8B-B14F-4D97-AF65-F5344CB8AC3E}">
        <p14:creationId xmlns:p14="http://schemas.microsoft.com/office/powerpoint/2010/main" val="188575972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CA6B5E-0BD8-46EE-899C-7E86B741F0FA}"/>
              </a:ext>
            </a:extLst>
          </p:cNvPr>
          <p:cNvSpPr>
            <a:spLocks noGrp="1"/>
          </p:cNvSpPr>
          <p:nvPr>
            <p:ph type="title"/>
          </p:nvPr>
        </p:nvSpPr>
        <p:spPr>
          <a:xfrm>
            <a:off x="1629271" y="216606"/>
            <a:ext cx="9901099" cy="1280890"/>
          </a:xfrm>
        </p:spPr>
        <p:txBody>
          <a:bodyPr/>
          <a:lstStyle/>
          <a:p>
            <a:r>
              <a:rPr lang="fr-FR" sz="32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LA MESURE DE LA FREQUENCE RESPIRATOIRE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9258B48A-9420-4EB8-9297-B27C6C66EC63}"/>
              </a:ext>
            </a:extLst>
          </p:cNvPr>
          <p:cNvSpPr>
            <a:spLocks noGrp="1"/>
          </p:cNvSpPr>
          <p:nvPr>
            <p:ph idx="1"/>
          </p:nvPr>
        </p:nvSpPr>
        <p:spPr>
          <a:xfrm>
            <a:off x="0" y="1227039"/>
            <a:ext cx="12192000" cy="4736394"/>
          </a:xfrm>
        </p:spPr>
        <p:txBody>
          <a:bodyPr>
            <a:normAutofit fontScale="77500" lnSpcReduction="20000"/>
          </a:bodyPr>
          <a:lstStyle/>
          <a:p>
            <a:pPr>
              <a:lnSpc>
                <a:spcPct val="115000"/>
              </a:lnSpc>
              <a:spcAft>
                <a:spcPts val="1000"/>
              </a:spcAft>
            </a:pPr>
            <a:r>
              <a:rPr lang="fr-FR" sz="3300" b="1" dirty="0">
                <a:effectLst/>
                <a:latin typeface="Arial Black" panose="020B0A04020102020204" pitchFamily="34" charset="0"/>
                <a:ea typeface="Times New Roman" panose="02020603050405020304" pitchFamily="18" charset="0"/>
                <a:cs typeface="Times New Roman" panose="02020603050405020304" pitchFamily="18" charset="0"/>
              </a:rPr>
              <a:t>INTRODUCTION</a:t>
            </a:r>
          </a:p>
          <a:p>
            <a:pPr marL="342900" lvl="0" indent="-342900">
              <a:lnSpc>
                <a:spcPct val="115000"/>
              </a:lnSpc>
              <a:spcAft>
                <a:spcPts val="1000"/>
              </a:spcAft>
              <a:buFont typeface="Wingdings" panose="05000000000000000000" pitchFamily="2" charset="2"/>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La respiration est un phénomène biologique automatique et reflexe, commandée par le centre bulbaire </a:t>
            </a:r>
          </a:p>
          <a:p>
            <a:pPr marL="342900" lvl="0" indent="-342900">
              <a:lnSpc>
                <a:spcPct val="115000"/>
              </a:lnSpc>
              <a:spcAft>
                <a:spcPts val="1000"/>
              </a:spcAft>
              <a:buFont typeface="Wingdings" panose="05000000000000000000" pitchFamily="2" charset="2"/>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La respiration est un processus de ventilation qui assure les échanges gazeux entre l’organisme et son environnement.</a:t>
            </a:r>
          </a:p>
          <a:p>
            <a:pPr marL="342900" lvl="0" indent="-342900">
              <a:lnSpc>
                <a:spcPct val="115000"/>
              </a:lnSpc>
              <a:spcAft>
                <a:spcPts val="1000"/>
              </a:spcAft>
              <a:buFont typeface="Wingdings" panose="05000000000000000000" pitchFamily="2" charset="2"/>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 Elle permet d’absorber de l’oxygène et d’éliminer du gaz carbonique produit du métabolisme. </a:t>
            </a:r>
          </a:p>
          <a:p>
            <a:pPr marL="342900" lvl="0" indent="-342900">
              <a:lnSpc>
                <a:spcPct val="115000"/>
              </a:lnSpc>
              <a:spcAft>
                <a:spcPts val="1000"/>
              </a:spcAft>
              <a:buFont typeface="Wingdings" panose="05000000000000000000" pitchFamily="2" charset="2"/>
              <a:buChar char=""/>
              <a:tabLst>
                <a:tab pos="457200" algn="l"/>
              </a:tabLst>
            </a:pPr>
            <a:r>
              <a:rPr lang="fr-FR" sz="3300" dirty="0">
                <a:effectLst/>
                <a:latin typeface="Arial Black" panose="020B0A04020102020204" pitchFamily="34" charset="0"/>
                <a:ea typeface="Times New Roman" panose="02020603050405020304" pitchFamily="18" charset="0"/>
                <a:cs typeface="Arial" panose="020B0604020202020204" pitchFamily="34" charset="0"/>
              </a:rPr>
              <a:t>Elle est constituée par l’inspiration et l’expiration</a:t>
            </a:r>
          </a:p>
          <a:p>
            <a:pPr marL="0" indent="0">
              <a:buNone/>
            </a:pPr>
            <a:endParaRPr lang="fr-FR" dirty="0"/>
          </a:p>
        </p:txBody>
      </p:sp>
    </p:spTree>
    <p:extLst>
      <p:ext uri="{BB962C8B-B14F-4D97-AF65-F5344CB8AC3E}">
        <p14:creationId xmlns:p14="http://schemas.microsoft.com/office/powerpoint/2010/main" val="282134832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CE5B4F-C537-47AA-A8F1-F29BA59F7285}"/>
              </a:ext>
            </a:extLst>
          </p:cNvPr>
          <p:cNvSpPr>
            <a:spLocks noGrp="1"/>
          </p:cNvSpPr>
          <p:nvPr>
            <p:ph type="title"/>
          </p:nvPr>
        </p:nvSpPr>
        <p:spPr>
          <a:xfrm>
            <a:off x="2592925" y="167426"/>
            <a:ext cx="8911687" cy="734096"/>
          </a:xfrm>
        </p:spPr>
        <p:txBody>
          <a:bodyPr/>
          <a:lstStyle/>
          <a:p>
            <a:endParaRPr lang="fr-FR" dirty="0"/>
          </a:p>
        </p:txBody>
      </p:sp>
      <p:sp>
        <p:nvSpPr>
          <p:cNvPr id="3" name="Espace réservé du contenu 2">
            <a:extLst>
              <a:ext uri="{FF2B5EF4-FFF2-40B4-BE49-F238E27FC236}">
                <a16:creationId xmlns:a16="http://schemas.microsoft.com/office/drawing/2014/main" id="{357C3F5C-7BA8-4637-8BE8-2D81289E3F74}"/>
              </a:ext>
            </a:extLst>
          </p:cNvPr>
          <p:cNvSpPr>
            <a:spLocks noGrp="1"/>
          </p:cNvSpPr>
          <p:nvPr>
            <p:ph idx="1"/>
          </p:nvPr>
        </p:nvSpPr>
        <p:spPr>
          <a:xfrm>
            <a:off x="0" y="1154806"/>
            <a:ext cx="12192000" cy="4100290"/>
          </a:xfrm>
        </p:spPr>
        <p:txBody>
          <a:bodyPr>
            <a:normAutofit fontScale="25000" lnSpcReduction="20000"/>
          </a:bodyPr>
          <a:lstStyle/>
          <a:p>
            <a:pPr marL="0" indent="0">
              <a:lnSpc>
                <a:spcPct val="115000"/>
              </a:lnSpc>
              <a:spcAft>
                <a:spcPts val="1000"/>
              </a:spcAft>
              <a:buNone/>
            </a:pPr>
            <a:r>
              <a:rPr lang="fr-FR" sz="11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1- </a:t>
            </a:r>
            <a:r>
              <a:rPr lang="fr-FR" sz="11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DEFINITION</a:t>
            </a:r>
            <a:endParaRPr lang="fr-FR" sz="11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lnSpc>
                <a:spcPct val="115000"/>
              </a:lnSpc>
              <a:spcAft>
                <a:spcPts val="1000"/>
              </a:spcAft>
              <a:buNone/>
            </a:pPr>
            <a:r>
              <a:rPr lang="fr-FR" sz="11200" dirty="0">
                <a:effectLst/>
                <a:latin typeface="Arial Black" panose="020B0A04020102020204" pitchFamily="34" charset="0"/>
                <a:ea typeface="Times New Roman" panose="02020603050405020304" pitchFamily="18" charset="0"/>
                <a:cs typeface="Arial" panose="020B0604020202020204" pitchFamily="34" charset="0"/>
              </a:rPr>
              <a:t>Elle consiste à mesurer le nombre de mouvements respiratoires pendant une minute</a:t>
            </a:r>
            <a:endParaRPr lang="fr-FR" sz="11200" dirty="0">
              <a:latin typeface="Arial Black" panose="020B0A04020102020204" pitchFamily="34" charset="0"/>
              <a:ea typeface="Times New Roman" panose="02020603050405020304" pitchFamily="18" charset="0"/>
              <a:cs typeface="Arial" panose="020B0604020202020204" pitchFamily="34" charset="0"/>
            </a:endParaRPr>
          </a:p>
          <a:p>
            <a:pPr marL="0" indent="0">
              <a:lnSpc>
                <a:spcPct val="115000"/>
              </a:lnSpc>
              <a:spcAft>
                <a:spcPts val="1000"/>
              </a:spcAft>
              <a:buNone/>
            </a:pPr>
            <a:r>
              <a:rPr lang="fr-FR" sz="11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2. But</a:t>
            </a:r>
          </a:p>
          <a:p>
            <a:pPr marL="342900" lvl="0" indent="-342900">
              <a:lnSpc>
                <a:spcPct val="115000"/>
              </a:lnSpc>
              <a:spcAft>
                <a:spcPts val="1000"/>
              </a:spcAft>
              <a:buFont typeface="Wingdings" panose="05000000000000000000" pitchFamily="2" charset="2"/>
              <a:buChar char=""/>
              <a:tabLst>
                <a:tab pos="457200" algn="l"/>
              </a:tabLst>
            </a:pPr>
            <a:r>
              <a:rPr lang="fr-FR" sz="11200" dirty="0">
                <a:effectLst/>
                <a:latin typeface="Arial Black" panose="020B0A04020102020204" pitchFamily="34" charset="0"/>
                <a:ea typeface="Times New Roman" panose="02020603050405020304" pitchFamily="18" charset="0"/>
                <a:cs typeface="Arial" panose="020B0604020202020204" pitchFamily="34" charset="0"/>
              </a:rPr>
              <a:t>Evaluer la fonction respiratoire</a:t>
            </a:r>
          </a:p>
          <a:p>
            <a:pPr marL="0" indent="0">
              <a:lnSpc>
                <a:spcPct val="115000"/>
              </a:lnSpc>
              <a:spcAft>
                <a:spcPts val="1000"/>
              </a:spcAft>
              <a:buNone/>
            </a:pPr>
            <a:r>
              <a:rPr lang="fr-FR" sz="11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3. Indications</a:t>
            </a:r>
          </a:p>
          <a:p>
            <a:pPr marL="342900" lvl="0" indent="-342900">
              <a:lnSpc>
                <a:spcPct val="115000"/>
              </a:lnSpc>
              <a:spcAft>
                <a:spcPts val="1000"/>
              </a:spcAft>
              <a:buFont typeface="Wingdings" panose="05000000000000000000" pitchFamily="2" charset="2"/>
              <a:buChar char=""/>
              <a:tabLst>
                <a:tab pos="457200" algn="l"/>
              </a:tabLst>
            </a:pPr>
            <a:r>
              <a:rPr lang="fr-FR" sz="11200" dirty="0">
                <a:effectLst/>
                <a:latin typeface="Arial Black" panose="020B0A04020102020204" pitchFamily="34" charset="0"/>
                <a:ea typeface="Times New Roman" panose="02020603050405020304" pitchFamily="18" charset="0"/>
                <a:cs typeface="Arial" panose="020B0604020202020204" pitchFamily="34" charset="0"/>
              </a:rPr>
              <a:t>Evaluation de la fonction respiratoire lors d’une pathologie ou d‘un traitement</a:t>
            </a:r>
          </a:p>
          <a:p>
            <a:pPr marL="342900" lvl="0" indent="-342900">
              <a:lnSpc>
                <a:spcPct val="115000"/>
              </a:lnSpc>
              <a:spcAft>
                <a:spcPts val="1000"/>
              </a:spcAft>
              <a:buFont typeface="Wingdings" panose="05000000000000000000" pitchFamily="2" charset="2"/>
              <a:buChar char=""/>
              <a:tabLst>
                <a:tab pos="457200" algn="l"/>
              </a:tabLst>
            </a:pPr>
            <a:r>
              <a:rPr lang="fr-FR" sz="11200" dirty="0">
                <a:effectLst/>
                <a:latin typeface="Arial Black" panose="020B0A04020102020204" pitchFamily="34" charset="0"/>
                <a:ea typeface="Times New Roman" panose="02020603050405020304" pitchFamily="18" charset="0"/>
                <a:cs typeface="Arial" panose="020B0604020202020204" pitchFamily="34" charset="0"/>
              </a:rPr>
              <a:t>Surveillance du patient (lors d’une transfusion sanguine)</a:t>
            </a:r>
          </a:p>
          <a:p>
            <a:pPr marL="0" indent="0">
              <a:buNone/>
            </a:pPr>
            <a:endParaRPr lang="fr-FR" dirty="0"/>
          </a:p>
        </p:txBody>
      </p:sp>
    </p:spTree>
    <p:extLst>
      <p:ext uri="{BB962C8B-B14F-4D97-AF65-F5344CB8AC3E}">
        <p14:creationId xmlns:p14="http://schemas.microsoft.com/office/powerpoint/2010/main" val="228970440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1EAD49-3DAA-4B70-A8C6-FA312228920C}"/>
              </a:ext>
            </a:extLst>
          </p:cNvPr>
          <p:cNvSpPr>
            <a:spLocks noGrp="1"/>
          </p:cNvSpPr>
          <p:nvPr>
            <p:ph type="title"/>
          </p:nvPr>
        </p:nvSpPr>
        <p:spPr>
          <a:xfrm>
            <a:off x="2592925" y="173350"/>
            <a:ext cx="8911687" cy="496351"/>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7846459B-60F3-4E8B-A877-9C380A1C4F53}"/>
              </a:ext>
            </a:extLst>
          </p:cNvPr>
          <p:cNvSpPr>
            <a:spLocks noGrp="1"/>
          </p:cNvSpPr>
          <p:nvPr>
            <p:ph idx="1"/>
          </p:nvPr>
        </p:nvSpPr>
        <p:spPr>
          <a:xfrm>
            <a:off x="296214" y="1360867"/>
            <a:ext cx="11732654" cy="4730839"/>
          </a:xfrm>
        </p:spPr>
        <p:txBody>
          <a:bodyPr/>
          <a:lstStyle/>
          <a:p>
            <a:pPr marL="0" indent="0">
              <a:lnSpc>
                <a:spcPct val="115000"/>
              </a:lnSpc>
              <a:spcAft>
                <a:spcPts val="1000"/>
              </a:spcAft>
              <a:buNone/>
            </a:pP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4- Matériel</a:t>
            </a:r>
          </a:p>
          <a:p>
            <a:pPr marL="342900" lvl="0" indent="-342900">
              <a:lnSpc>
                <a:spcPct val="115000"/>
              </a:lnSpc>
              <a:spcAft>
                <a:spcPts val="1000"/>
              </a:spcAft>
              <a:buFont typeface="Wingdings" panose="05000000000000000000" pitchFamily="2" charset="2"/>
              <a:buChar char=""/>
              <a:tabLst>
                <a:tab pos="4572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Montre à trotteuse centrale</a:t>
            </a:r>
          </a:p>
          <a:p>
            <a:pPr marL="342900" lvl="0" indent="-342900">
              <a:lnSpc>
                <a:spcPct val="115000"/>
              </a:lnSpc>
              <a:spcAft>
                <a:spcPts val="1000"/>
              </a:spcAft>
              <a:buFont typeface="Wingdings" panose="05000000000000000000" pitchFamily="2" charset="2"/>
              <a:buChar char=""/>
              <a:tabLst>
                <a:tab pos="4572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Feuille de température ou carnet de santé</a:t>
            </a:r>
          </a:p>
          <a:p>
            <a:pPr marL="342900" lvl="0" indent="-342900">
              <a:lnSpc>
                <a:spcPct val="115000"/>
              </a:lnSpc>
              <a:spcAft>
                <a:spcPts val="1000"/>
              </a:spcAft>
              <a:buFont typeface="Wingdings" panose="05000000000000000000" pitchFamily="2" charset="2"/>
              <a:buChar char=""/>
              <a:tabLst>
                <a:tab pos="4572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Désinfectant pour les mains</a:t>
            </a:r>
          </a:p>
          <a:p>
            <a:pPr marL="342900" lvl="0" indent="-342900">
              <a:lnSpc>
                <a:spcPct val="115000"/>
              </a:lnSpc>
              <a:spcAft>
                <a:spcPts val="1000"/>
              </a:spcAft>
              <a:buFont typeface="Wingdings" panose="05000000000000000000" pitchFamily="2" charset="2"/>
              <a:buChar char=""/>
              <a:tabLst>
                <a:tab pos="457200" algn="l"/>
              </a:tabLst>
            </a:pPr>
            <a:r>
              <a:rPr lang="fr-FR" dirty="0">
                <a:solidFill>
                  <a:srgbClr val="92D050"/>
                </a:solidFill>
                <a:effectLst/>
                <a:latin typeface="Arial Black" panose="020B0A04020102020204" pitchFamily="34" charset="0"/>
                <a:ea typeface="Times New Roman" panose="02020603050405020304" pitchFamily="18" charset="0"/>
                <a:cs typeface="Arial" panose="020B0604020202020204" pitchFamily="34" charset="0"/>
              </a:rPr>
              <a:t>Stylo vert</a:t>
            </a:r>
          </a:p>
          <a:p>
            <a:pPr marL="0" indent="0">
              <a:buNone/>
            </a:pPr>
            <a:endParaRPr lang="fr-FR" dirty="0"/>
          </a:p>
        </p:txBody>
      </p:sp>
    </p:spTree>
    <p:extLst>
      <p:ext uri="{BB962C8B-B14F-4D97-AF65-F5344CB8AC3E}">
        <p14:creationId xmlns:p14="http://schemas.microsoft.com/office/powerpoint/2010/main" val="4100312090"/>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6EED2E-4605-4530-8962-A183E9ED23C1}"/>
              </a:ext>
            </a:extLst>
          </p:cNvPr>
          <p:cNvSpPr>
            <a:spLocks noGrp="1"/>
          </p:cNvSpPr>
          <p:nvPr>
            <p:ph type="title"/>
          </p:nvPr>
        </p:nvSpPr>
        <p:spPr>
          <a:xfrm>
            <a:off x="2618683" y="-341805"/>
            <a:ext cx="8911687" cy="1280890"/>
          </a:xfrm>
        </p:spPr>
        <p:txBody>
          <a:bodyPr/>
          <a:lstStyle/>
          <a:p>
            <a:endParaRPr lang="fr-FR" dirty="0"/>
          </a:p>
        </p:txBody>
      </p:sp>
      <p:sp>
        <p:nvSpPr>
          <p:cNvPr id="3" name="Espace réservé du contenu 2">
            <a:extLst>
              <a:ext uri="{FF2B5EF4-FFF2-40B4-BE49-F238E27FC236}">
                <a16:creationId xmlns:a16="http://schemas.microsoft.com/office/drawing/2014/main" id="{E4408F7D-F19C-483B-88FE-87780C1BC120}"/>
              </a:ext>
            </a:extLst>
          </p:cNvPr>
          <p:cNvSpPr>
            <a:spLocks noGrp="1"/>
          </p:cNvSpPr>
          <p:nvPr>
            <p:ph idx="1"/>
          </p:nvPr>
        </p:nvSpPr>
        <p:spPr>
          <a:xfrm>
            <a:off x="90152" y="1312572"/>
            <a:ext cx="12003110" cy="4946560"/>
          </a:xfrm>
        </p:spPr>
        <p:txBody>
          <a:bodyPr>
            <a:normAutofit fontScale="25000" lnSpcReduction="20000"/>
          </a:bodyPr>
          <a:lstStyle/>
          <a:p>
            <a:pPr marL="0" indent="0">
              <a:lnSpc>
                <a:spcPct val="115000"/>
              </a:lnSpc>
              <a:spcAft>
                <a:spcPts val="1000"/>
              </a:spcAft>
              <a:buNone/>
            </a:pPr>
            <a:r>
              <a:rPr lang="fr-FR" sz="86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5- Technique</a:t>
            </a:r>
          </a:p>
          <a:p>
            <a:pPr>
              <a:lnSpc>
                <a:spcPct val="115000"/>
              </a:lnSpc>
              <a:spcAft>
                <a:spcPts val="1000"/>
              </a:spcAft>
              <a:buFont typeface="Wingdings" panose="05000000000000000000" pitchFamily="2" charset="2"/>
              <a:buChar char="v"/>
            </a:pPr>
            <a:r>
              <a:rPr lang="fr-FR" sz="8600" dirty="0">
                <a:effectLst/>
                <a:latin typeface="Arial Black" panose="020B0A04020102020204" pitchFamily="34" charset="0"/>
                <a:ea typeface="Times New Roman" panose="02020603050405020304" pitchFamily="18" charset="0"/>
                <a:cs typeface="Arial" panose="020B0604020202020204" pitchFamily="34" charset="0"/>
              </a:rPr>
              <a:t>Préparation du soin</a:t>
            </a:r>
          </a:p>
          <a:p>
            <a:pPr marL="342900" lvl="0" indent="-342900">
              <a:lnSpc>
                <a:spcPct val="115000"/>
              </a:lnSpc>
              <a:spcAft>
                <a:spcPts val="1000"/>
              </a:spcAft>
              <a:buFont typeface="Wingdings" panose="05000000000000000000" pitchFamily="2" charset="2"/>
              <a:buChar char=""/>
              <a:tabLst>
                <a:tab pos="457200" algn="l"/>
              </a:tabLst>
            </a:pPr>
            <a:r>
              <a:rPr lang="fr-FR" sz="8600" dirty="0">
                <a:effectLst/>
                <a:latin typeface="Arial Black" panose="020B0A04020102020204" pitchFamily="34" charset="0"/>
                <a:ea typeface="Times New Roman" panose="02020603050405020304" pitchFamily="18" charset="0"/>
                <a:cs typeface="Arial" panose="020B0604020202020204" pitchFamily="34" charset="0"/>
              </a:rPr>
              <a:t>Ne pas informer le </a:t>
            </a:r>
            <a:r>
              <a:rPr lang="fr-FR" sz="8600" dirty="0" smtClean="0">
                <a:latin typeface="Arial Black" panose="020B0A04020102020204" pitchFamily="34" charset="0"/>
                <a:ea typeface="Times New Roman" panose="02020603050405020304" pitchFamily="18" charset="0"/>
                <a:cs typeface="Arial" panose="020B0604020202020204" pitchFamily="34" charset="0"/>
              </a:rPr>
              <a:t>patient</a:t>
            </a:r>
            <a:r>
              <a:rPr lang="fr-FR" sz="8600" dirty="0" smtClean="0">
                <a:effectLst/>
                <a:latin typeface="Arial Black" panose="020B0A04020102020204" pitchFamily="34" charset="0"/>
                <a:ea typeface="Times New Roman" panose="02020603050405020304" pitchFamily="18" charset="0"/>
                <a:cs typeface="Arial" panose="020B0604020202020204" pitchFamily="34" charset="0"/>
              </a:rPr>
              <a:t> </a:t>
            </a:r>
            <a:r>
              <a:rPr lang="fr-FR" sz="8600" dirty="0">
                <a:effectLst/>
                <a:latin typeface="Arial Black" panose="020B0A04020102020204" pitchFamily="34" charset="0"/>
                <a:ea typeface="Times New Roman" panose="02020603050405020304" pitchFamily="18" charset="0"/>
                <a:cs typeface="Arial" panose="020B0604020202020204" pitchFamily="34" charset="0"/>
              </a:rPr>
              <a:t>du soin consistant à mesurer sa respiration afin de ne pas perturber les résultats par une concentration du patient sur les mouvements respiratoires</a:t>
            </a:r>
          </a:p>
          <a:p>
            <a:pPr marL="342900" lvl="0" indent="-342900">
              <a:lnSpc>
                <a:spcPct val="115000"/>
              </a:lnSpc>
              <a:spcAft>
                <a:spcPts val="1000"/>
              </a:spcAft>
              <a:buFont typeface="Wingdings" panose="05000000000000000000" pitchFamily="2" charset="2"/>
              <a:buChar char=""/>
              <a:tabLst>
                <a:tab pos="457200" algn="l"/>
              </a:tabLst>
            </a:pPr>
            <a:r>
              <a:rPr lang="fr-FR" sz="8600" dirty="0">
                <a:effectLst/>
                <a:latin typeface="Arial Black" panose="020B0A04020102020204" pitchFamily="34" charset="0"/>
                <a:ea typeface="Times New Roman" panose="02020603050405020304" pitchFamily="18" charset="0"/>
                <a:cs typeface="Arial" panose="020B0604020202020204" pitchFamily="34" charset="0"/>
              </a:rPr>
              <a:t>Dire au </a:t>
            </a:r>
            <a:r>
              <a:rPr lang="fr-FR" sz="8600" dirty="0" smtClean="0">
                <a:latin typeface="Arial Black" panose="020B0A04020102020204" pitchFamily="34" charset="0"/>
                <a:ea typeface="Times New Roman" panose="02020603050405020304" pitchFamily="18" charset="0"/>
                <a:cs typeface="Arial" panose="020B0604020202020204" pitchFamily="34" charset="0"/>
              </a:rPr>
              <a:t>patient</a:t>
            </a:r>
            <a:r>
              <a:rPr lang="fr-FR" sz="8600" dirty="0" smtClean="0">
                <a:effectLst/>
                <a:latin typeface="Arial Black" panose="020B0A04020102020204" pitchFamily="34" charset="0"/>
                <a:ea typeface="Times New Roman" panose="02020603050405020304" pitchFamily="18" charset="0"/>
                <a:cs typeface="Arial" panose="020B0604020202020204" pitchFamily="34" charset="0"/>
              </a:rPr>
              <a:t> </a:t>
            </a:r>
            <a:r>
              <a:rPr lang="fr-FR" sz="8600" dirty="0">
                <a:effectLst/>
                <a:latin typeface="Arial Black" panose="020B0A04020102020204" pitchFamily="34" charset="0"/>
                <a:ea typeface="Times New Roman" panose="02020603050405020304" pitchFamily="18" charset="0"/>
                <a:cs typeface="Arial" panose="020B0604020202020204" pitchFamily="34" charset="0"/>
              </a:rPr>
              <a:t>par exemple que vous venez mesurer le pouls</a:t>
            </a:r>
          </a:p>
          <a:p>
            <a:pPr marL="342900" lvl="0" indent="-342900">
              <a:lnSpc>
                <a:spcPct val="115000"/>
              </a:lnSpc>
              <a:spcAft>
                <a:spcPts val="1000"/>
              </a:spcAft>
              <a:buFont typeface="Wingdings" panose="05000000000000000000" pitchFamily="2" charset="2"/>
              <a:buChar char=""/>
              <a:tabLst>
                <a:tab pos="457200" algn="l"/>
              </a:tabLst>
            </a:pPr>
            <a:r>
              <a:rPr lang="fr-FR" sz="8600" dirty="0">
                <a:effectLst/>
                <a:latin typeface="Arial Black" panose="020B0A04020102020204" pitchFamily="34" charset="0"/>
                <a:ea typeface="Times New Roman" panose="02020603050405020304" pitchFamily="18" charset="0"/>
                <a:cs typeface="Arial" panose="020B0604020202020204" pitchFamily="34" charset="0"/>
              </a:rPr>
              <a:t>S’installer face au client et observer la respiration au repos</a:t>
            </a:r>
          </a:p>
          <a:p>
            <a:pPr marL="342900" lvl="0" indent="-342900">
              <a:lnSpc>
                <a:spcPct val="115000"/>
              </a:lnSpc>
              <a:spcAft>
                <a:spcPts val="1000"/>
              </a:spcAft>
              <a:buFont typeface="Wingdings" panose="05000000000000000000" pitchFamily="2" charset="2"/>
              <a:buChar char=""/>
              <a:tabLst>
                <a:tab pos="457200" algn="l"/>
              </a:tabLst>
            </a:pPr>
            <a:r>
              <a:rPr lang="fr-FR" sz="8600" dirty="0">
                <a:effectLst/>
                <a:latin typeface="Arial Black" panose="020B0A04020102020204" pitchFamily="34" charset="0"/>
                <a:ea typeface="Times New Roman" panose="02020603050405020304" pitchFamily="18" charset="0"/>
                <a:cs typeface="Arial" panose="020B0604020202020204" pitchFamily="34" charset="0"/>
              </a:rPr>
              <a:t>La mesure de la respiration est plus fiable quand elle est faite durant le sommeil chez l’enfant et à la suite de la prise du pouls chez l’adulte</a:t>
            </a:r>
          </a:p>
          <a:p>
            <a:pPr marL="0" indent="0">
              <a:buNone/>
            </a:pPr>
            <a:endParaRPr lang="fr-FR" dirty="0"/>
          </a:p>
        </p:txBody>
      </p:sp>
    </p:spTree>
    <p:extLst>
      <p:ext uri="{BB962C8B-B14F-4D97-AF65-F5344CB8AC3E}">
        <p14:creationId xmlns:p14="http://schemas.microsoft.com/office/powerpoint/2010/main" val="248982493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B5BDFE-6867-4AB7-A527-1DDF4119D363}"/>
              </a:ext>
            </a:extLst>
          </p:cNvPr>
          <p:cNvSpPr>
            <a:spLocks noGrp="1"/>
          </p:cNvSpPr>
          <p:nvPr>
            <p:ph type="title"/>
          </p:nvPr>
        </p:nvSpPr>
        <p:spPr/>
        <p:txBody>
          <a:bodyPr/>
          <a:lstStyle/>
          <a:p>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0A7A5068-5FB5-4051-AD97-6985A9576339}"/>
              </a:ext>
            </a:extLst>
          </p:cNvPr>
          <p:cNvSpPr>
            <a:spLocks noGrp="1"/>
          </p:cNvSpPr>
          <p:nvPr>
            <p:ph idx="1"/>
          </p:nvPr>
        </p:nvSpPr>
        <p:spPr>
          <a:xfrm>
            <a:off x="0" y="1237723"/>
            <a:ext cx="12192000" cy="5124439"/>
          </a:xfrm>
        </p:spPr>
        <p:txBody>
          <a:bodyPr>
            <a:normAutofit fontScale="70000" lnSpcReduction="20000"/>
          </a:bodyPr>
          <a:lstStyle/>
          <a:p>
            <a:pPr>
              <a:lnSpc>
                <a:spcPct val="115000"/>
              </a:lnSpc>
              <a:spcAft>
                <a:spcPts val="1000"/>
              </a:spcAft>
              <a:buFont typeface="Wingdings" panose="05000000000000000000" pitchFamily="2" charset="2"/>
              <a:buChar char="v"/>
            </a:pPr>
            <a:r>
              <a:rPr lang="fr-FR" sz="3600" dirty="0">
                <a:effectLst/>
                <a:latin typeface="Arial Black" panose="020B0A04020102020204" pitchFamily="34" charset="0"/>
                <a:ea typeface="Times New Roman" panose="02020603050405020304" pitchFamily="18" charset="0"/>
                <a:cs typeface="Arial" panose="020B0604020202020204" pitchFamily="34" charset="0"/>
              </a:rPr>
              <a:t>Mesure de la fréquence respiratoire</a:t>
            </a:r>
          </a:p>
          <a:p>
            <a:pPr marL="342900" lvl="0" indent="-342900">
              <a:lnSpc>
                <a:spcPct val="115000"/>
              </a:lnSpc>
              <a:spcAft>
                <a:spcPts val="1000"/>
              </a:spcAft>
              <a:buFont typeface="Wingdings" panose="05000000000000000000" pitchFamily="2" charset="2"/>
              <a:buChar char=""/>
              <a:tabLst>
                <a:tab pos="457200" algn="l"/>
              </a:tabLst>
            </a:pPr>
            <a:r>
              <a:rPr lang="fr-FR" sz="3600" dirty="0">
                <a:effectLst/>
                <a:latin typeface="Arial Black" panose="020B0A04020102020204" pitchFamily="34" charset="0"/>
                <a:ea typeface="Times New Roman" panose="02020603050405020304" pitchFamily="18" charset="0"/>
                <a:cs typeface="Arial" panose="020B0604020202020204" pitchFamily="34" charset="0"/>
              </a:rPr>
              <a:t>Se désinfecter les mains</a:t>
            </a:r>
          </a:p>
          <a:p>
            <a:pPr marL="342900" lvl="0" indent="-342900">
              <a:lnSpc>
                <a:spcPct val="115000"/>
              </a:lnSpc>
              <a:spcAft>
                <a:spcPts val="1000"/>
              </a:spcAft>
              <a:buFont typeface="Wingdings" panose="05000000000000000000" pitchFamily="2" charset="2"/>
              <a:buChar char=""/>
              <a:tabLst>
                <a:tab pos="457200" algn="l"/>
              </a:tabLst>
            </a:pPr>
            <a:r>
              <a:rPr lang="fr-FR" sz="3600" dirty="0">
                <a:effectLst/>
                <a:latin typeface="Arial Black" panose="020B0A04020102020204" pitchFamily="34" charset="0"/>
                <a:ea typeface="Times New Roman" panose="02020603050405020304" pitchFamily="18" charset="0"/>
                <a:cs typeface="Arial" panose="020B0604020202020204" pitchFamily="34" charset="0"/>
              </a:rPr>
              <a:t>Observer les mouvements respiratoires du thorax et compter la respiration pendant </a:t>
            </a:r>
            <a:r>
              <a:rPr lang="fr-FR" sz="3600"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une (01) </a:t>
            </a:r>
            <a:r>
              <a:rPr lang="fr-FR" sz="36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minute</a:t>
            </a:r>
          </a:p>
          <a:p>
            <a:pPr marL="342900" lvl="0" indent="-342900">
              <a:lnSpc>
                <a:spcPct val="115000"/>
              </a:lnSpc>
              <a:spcAft>
                <a:spcPts val="1000"/>
              </a:spcAft>
              <a:buFont typeface="Wingdings" panose="05000000000000000000" pitchFamily="2" charset="2"/>
              <a:buChar char=""/>
              <a:tabLst>
                <a:tab pos="457200" algn="l"/>
              </a:tabLst>
            </a:pPr>
            <a:r>
              <a:rPr lang="fr-FR" sz="3600" dirty="0">
                <a:effectLst/>
                <a:latin typeface="Arial Black" panose="020B0A04020102020204" pitchFamily="34" charset="0"/>
                <a:ea typeface="Times New Roman" panose="02020603050405020304" pitchFamily="18" charset="0"/>
                <a:cs typeface="Arial" panose="020B0604020202020204" pitchFamily="34" charset="0"/>
              </a:rPr>
              <a:t>Chez l’adulte on peut poser la main sur le thorax et compter </a:t>
            </a:r>
            <a:r>
              <a:rPr lang="fr-FR" sz="3600" dirty="0" smtClean="0">
                <a:effectLst/>
                <a:latin typeface="Arial Black" panose="020B0A04020102020204" pitchFamily="34" charset="0"/>
                <a:ea typeface="Times New Roman" panose="02020603050405020304" pitchFamily="18" charset="0"/>
                <a:cs typeface="Arial" panose="020B0604020202020204" pitchFamily="34" charset="0"/>
              </a:rPr>
              <a:t>pendant </a:t>
            </a:r>
            <a:r>
              <a:rPr lang="fr-FR" sz="3600"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1 </a:t>
            </a:r>
            <a:r>
              <a:rPr lang="fr-FR" sz="36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minute</a:t>
            </a:r>
          </a:p>
          <a:p>
            <a:pPr marL="342900" lvl="0" indent="-342900">
              <a:lnSpc>
                <a:spcPct val="115000"/>
              </a:lnSpc>
              <a:spcAft>
                <a:spcPts val="1000"/>
              </a:spcAft>
              <a:buFont typeface="Wingdings" panose="05000000000000000000" pitchFamily="2" charset="2"/>
              <a:buChar char=""/>
              <a:tabLst>
                <a:tab pos="457200" algn="l"/>
              </a:tabLst>
            </a:pPr>
            <a:r>
              <a:rPr lang="fr-FR" sz="3600" dirty="0">
                <a:effectLst/>
                <a:latin typeface="Arial Black" panose="020B0A04020102020204" pitchFamily="34" charset="0"/>
                <a:ea typeface="Times New Roman" panose="02020603050405020304" pitchFamily="18" charset="0"/>
                <a:cs typeface="Arial" panose="020B0604020202020204" pitchFamily="34" charset="0"/>
              </a:rPr>
              <a:t>Chez l’enfant compter les mouvements respiratoires au niveau abdominal</a:t>
            </a:r>
          </a:p>
          <a:p>
            <a:pPr marL="342900" lvl="0" indent="-342900">
              <a:lnSpc>
                <a:spcPct val="115000"/>
              </a:lnSpc>
              <a:spcAft>
                <a:spcPts val="1000"/>
              </a:spcAft>
              <a:buFont typeface="Wingdings" panose="05000000000000000000" pitchFamily="2" charset="2"/>
              <a:buChar char=""/>
              <a:tabLst>
                <a:tab pos="457200" algn="l"/>
              </a:tabLst>
            </a:pPr>
            <a:r>
              <a:rPr lang="fr-FR" sz="3600" dirty="0">
                <a:effectLst/>
                <a:latin typeface="Arial Black" panose="020B0A04020102020204" pitchFamily="34" charset="0"/>
                <a:ea typeface="Times New Roman" panose="02020603050405020304" pitchFamily="18" charset="0"/>
                <a:cs typeface="Arial" panose="020B0604020202020204" pitchFamily="34" charset="0"/>
              </a:rPr>
              <a:t>Noter le soin</a:t>
            </a:r>
          </a:p>
          <a:p>
            <a:pPr marL="0" indent="0">
              <a:buNone/>
            </a:pPr>
            <a:endParaRPr lang="fr-FR" dirty="0"/>
          </a:p>
        </p:txBody>
      </p:sp>
    </p:spTree>
    <p:extLst>
      <p:ext uri="{BB962C8B-B14F-4D97-AF65-F5344CB8AC3E}">
        <p14:creationId xmlns:p14="http://schemas.microsoft.com/office/powerpoint/2010/main" val="277530318"/>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C65F76-006F-4C3D-9CC9-CFFA701D1694}"/>
              </a:ext>
            </a:extLst>
          </p:cNvPr>
          <p:cNvSpPr>
            <a:spLocks noGrp="1"/>
          </p:cNvSpPr>
          <p:nvPr>
            <p:ph type="title"/>
          </p:nvPr>
        </p:nvSpPr>
        <p:spPr>
          <a:xfrm>
            <a:off x="1706170" y="0"/>
            <a:ext cx="9914351" cy="772732"/>
          </a:xfrm>
        </p:spPr>
        <p:txBody>
          <a:bodyPr/>
          <a:lstStyle/>
          <a:p>
            <a:r>
              <a:rPr lang="fr-FR"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6</a:t>
            </a:r>
            <a:r>
              <a:rPr lang="fr-FR" sz="28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 Les variations de la respiration</a:t>
            </a:r>
            <a:endParaRPr lang="fr-FR" dirty="0">
              <a:solidFill>
                <a:srgbClr val="FF0000"/>
              </a:solidFill>
            </a:endParaRPr>
          </a:p>
        </p:txBody>
      </p:sp>
      <p:sp>
        <p:nvSpPr>
          <p:cNvPr id="3" name="Espace réservé du contenu 2">
            <a:extLst>
              <a:ext uri="{FF2B5EF4-FFF2-40B4-BE49-F238E27FC236}">
                <a16:creationId xmlns:a16="http://schemas.microsoft.com/office/drawing/2014/main" id="{A8E42E13-1A54-4B3E-B317-D8163DCB477D}"/>
              </a:ext>
            </a:extLst>
          </p:cNvPr>
          <p:cNvSpPr>
            <a:spLocks noGrp="1"/>
          </p:cNvSpPr>
          <p:nvPr>
            <p:ph idx="1"/>
          </p:nvPr>
        </p:nvSpPr>
        <p:spPr>
          <a:xfrm>
            <a:off x="0" y="772732"/>
            <a:ext cx="12067504" cy="5422006"/>
          </a:xfrm>
        </p:spPr>
        <p:txBody>
          <a:bodyPr>
            <a:normAutofit fontScale="25000" lnSpcReduction="20000"/>
          </a:bodyPr>
          <a:lstStyle/>
          <a:p>
            <a:pPr marL="6" indent="0">
              <a:lnSpc>
                <a:spcPct val="115000"/>
              </a:lnSpc>
              <a:spcAft>
                <a:spcPts val="1000"/>
              </a:spcAft>
              <a:buNone/>
            </a:pPr>
            <a:r>
              <a:rPr lang="fr-FR" sz="4600" b="1" dirty="0" smtClean="0">
                <a:effectLst/>
                <a:latin typeface="Arial Black" panose="020B0A04020102020204" pitchFamily="34" charset="0"/>
                <a:ea typeface="Times New Roman" panose="02020603050405020304" pitchFamily="18" charset="0"/>
                <a:cs typeface="Times New Roman" panose="02020603050405020304" pitchFamily="18" charset="0"/>
              </a:rPr>
              <a:t>         </a:t>
            </a:r>
            <a:r>
              <a:rPr lang="fr-FR" sz="9200" b="1" dirty="0" smtClean="0">
                <a:effectLst/>
                <a:latin typeface="Arial Black" panose="020B0A04020102020204" pitchFamily="34" charset="0"/>
                <a:ea typeface="Times New Roman" panose="02020603050405020304" pitchFamily="18" charset="0"/>
                <a:cs typeface="Times New Roman" panose="02020603050405020304" pitchFamily="18" charset="0"/>
              </a:rPr>
              <a:t>                6-1 </a:t>
            </a:r>
            <a:r>
              <a:rPr lang="fr-FR" sz="9200" b="1" dirty="0">
                <a:effectLst/>
                <a:latin typeface="Arial Black" panose="020B0A04020102020204" pitchFamily="34" charset="0"/>
                <a:ea typeface="Times New Roman" panose="02020603050405020304" pitchFamily="18" charset="0"/>
                <a:cs typeface="Times New Roman" panose="02020603050405020304" pitchFamily="18" charset="0"/>
              </a:rPr>
              <a:t>Les variations physiologiques</a:t>
            </a:r>
            <a:endParaRPr lang="fr-FR" sz="9200" dirty="0">
              <a:effectLst/>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tabLst>
                <a:tab pos="457200" algn="l"/>
              </a:tabLst>
            </a:pPr>
            <a:r>
              <a:rPr lang="fr-FR" sz="9200" dirty="0">
                <a:solidFill>
                  <a:srgbClr val="00B0F0"/>
                </a:solidFill>
                <a:effectLst/>
                <a:latin typeface="Arial Black" panose="020B0A04020102020204" pitchFamily="34" charset="0"/>
                <a:ea typeface="Times New Roman" panose="02020603050405020304" pitchFamily="18" charset="0"/>
                <a:cs typeface="Times New Roman" panose="02020603050405020304" pitchFamily="18" charset="0"/>
              </a:rPr>
              <a:t>La volonté : </a:t>
            </a:r>
            <a:r>
              <a:rPr lang="fr-FR" sz="9200" dirty="0">
                <a:effectLst/>
                <a:latin typeface="Arial Black" panose="020B0A04020102020204" pitchFamily="34" charset="0"/>
                <a:ea typeface="Times New Roman" panose="02020603050405020304" pitchFamily="18" charset="0"/>
                <a:cs typeface="Times New Roman" panose="02020603050405020304" pitchFamily="18" charset="0"/>
              </a:rPr>
              <a:t>la personne peut volontairement accélérer ou ralentir momentanément le rythme respiratoire de son organisme</a:t>
            </a:r>
          </a:p>
          <a:p>
            <a:pPr marL="342900" lvl="0" indent="-342900">
              <a:lnSpc>
                <a:spcPct val="115000"/>
              </a:lnSpc>
              <a:spcAft>
                <a:spcPts val="1000"/>
              </a:spcAft>
              <a:buFont typeface="Wingdings" panose="05000000000000000000" pitchFamily="2" charset="2"/>
              <a:buChar char=""/>
              <a:tabLst>
                <a:tab pos="457200" algn="l"/>
              </a:tabLst>
            </a:pPr>
            <a:r>
              <a:rPr lang="fr-FR" sz="9200" dirty="0">
                <a:solidFill>
                  <a:srgbClr val="00B0F0"/>
                </a:solidFill>
                <a:effectLst/>
                <a:latin typeface="Arial Black" panose="020B0A04020102020204" pitchFamily="34" charset="0"/>
                <a:ea typeface="Times New Roman" panose="02020603050405020304" pitchFamily="18" charset="0"/>
                <a:cs typeface="Times New Roman" panose="02020603050405020304" pitchFamily="18" charset="0"/>
              </a:rPr>
              <a:t>La température ambiante : </a:t>
            </a:r>
            <a:r>
              <a:rPr lang="fr-FR" sz="9200" dirty="0">
                <a:effectLst/>
                <a:latin typeface="Arial Black" panose="020B0A04020102020204" pitchFamily="34" charset="0"/>
                <a:ea typeface="Times New Roman" panose="02020603050405020304" pitchFamily="18" charset="0"/>
                <a:cs typeface="Times New Roman" panose="02020603050405020304" pitchFamily="18" charset="0"/>
              </a:rPr>
              <a:t>la chaleur augmente le rythme respiratoire</a:t>
            </a:r>
          </a:p>
          <a:p>
            <a:pPr marL="342900" lvl="0" indent="-342900">
              <a:lnSpc>
                <a:spcPct val="115000"/>
              </a:lnSpc>
              <a:spcAft>
                <a:spcPts val="1000"/>
              </a:spcAft>
              <a:buFont typeface="Wingdings" panose="05000000000000000000" pitchFamily="2" charset="2"/>
              <a:buChar char=""/>
              <a:tabLst>
                <a:tab pos="457200" algn="l"/>
              </a:tabLst>
            </a:pPr>
            <a:r>
              <a:rPr lang="fr-FR" sz="9200" dirty="0">
                <a:solidFill>
                  <a:srgbClr val="00B0F0"/>
                </a:solidFill>
                <a:effectLst/>
                <a:latin typeface="Arial Black" panose="020B0A04020102020204" pitchFamily="34" charset="0"/>
                <a:ea typeface="Times New Roman" panose="02020603050405020304" pitchFamily="18" charset="0"/>
                <a:cs typeface="Times New Roman" panose="02020603050405020304" pitchFamily="18" charset="0"/>
              </a:rPr>
              <a:t>Le rythme journalier : </a:t>
            </a:r>
            <a:r>
              <a:rPr lang="fr-FR" sz="9200" dirty="0">
                <a:effectLst/>
                <a:latin typeface="Arial Black" panose="020B0A04020102020204" pitchFamily="34" charset="0"/>
                <a:ea typeface="Times New Roman" panose="02020603050405020304" pitchFamily="18" charset="0"/>
                <a:cs typeface="Times New Roman" panose="02020603050405020304" pitchFamily="18" charset="0"/>
              </a:rPr>
              <a:t>le sommeil, le repos ralentissent le rythme respiratoire. </a:t>
            </a:r>
            <a:endParaRPr lang="fr-FR" sz="9200" dirty="0" smtClean="0">
              <a:effectLst/>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tabLst>
                <a:tab pos="457200" algn="l"/>
              </a:tabLst>
            </a:pPr>
            <a:r>
              <a:rPr lang="fr-FR" sz="9200" dirty="0" smtClean="0">
                <a:effectLst/>
                <a:latin typeface="Arial Black" panose="020B0A04020102020204" pitchFamily="34" charset="0"/>
                <a:ea typeface="Times New Roman" panose="02020603050405020304" pitchFamily="18" charset="0"/>
                <a:cs typeface="Times New Roman" panose="02020603050405020304" pitchFamily="18" charset="0"/>
              </a:rPr>
              <a:t>Les </a:t>
            </a:r>
            <a:r>
              <a:rPr lang="fr-FR" sz="9200" dirty="0">
                <a:effectLst/>
                <a:latin typeface="Arial Black" panose="020B0A04020102020204" pitchFamily="34" charset="0"/>
                <a:ea typeface="Times New Roman" panose="02020603050405020304" pitchFamily="18" charset="0"/>
                <a:cs typeface="Times New Roman" panose="02020603050405020304" pitchFamily="18" charset="0"/>
              </a:rPr>
              <a:t>stress, peurs, émotions, travail musculaire en accélèrent le rythme.</a:t>
            </a:r>
          </a:p>
          <a:p>
            <a:pPr marL="342900" lvl="0" indent="-342900">
              <a:lnSpc>
                <a:spcPct val="115000"/>
              </a:lnSpc>
              <a:spcAft>
                <a:spcPts val="1000"/>
              </a:spcAft>
              <a:buFont typeface="Wingdings" panose="05000000000000000000" pitchFamily="2" charset="2"/>
              <a:buChar char=""/>
              <a:tabLst>
                <a:tab pos="457200" algn="l"/>
              </a:tabLst>
            </a:pPr>
            <a:r>
              <a:rPr lang="fr-FR" sz="9200" dirty="0">
                <a:solidFill>
                  <a:srgbClr val="00B0F0"/>
                </a:solidFill>
                <a:effectLst/>
                <a:latin typeface="Arial Black" panose="020B0A04020102020204" pitchFamily="34" charset="0"/>
                <a:ea typeface="Times New Roman" panose="02020603050405020304" pitchFamily="18" charset="0"/>
                <a:cs typeface="Times New Roman" panose="02020603050405020304" pitchFamily="18" charset="0"/>
              </a:rPr>
              <a:t>L’âge </a:t>
            </a:r>
            <a:r>
              <a:rPr lang="fr-FR" sz="9200" dirty="0">
                <a:effectLst/>
                <a:latin typeface="Arial Black" panose="020B0A04020102020204" pitchFamily="34" charset="0"/>
                <a:ea typeface="Times New Roman" panose="02020603050405020304" pitchFamily="18" charset="0"/>
                <a:cs typeface="Times New Roman" panose="02020603050405020304" pitchFamily="18" charset="0"/>
              </a:rPr>
              <a:t>: le rythme est plus accéléré chez l’enfant</a:t>
            </a:r>
          </a:p>
          <a:p>
            <a:pPr marL="342900" lvl="0" indent="-342900">
              <a:lnSpc>
                <a:spcPct val="115000"/>
              </a:lnSpc>
              <a:spcAft>
                <a:spcPts val="1000"/>
              </a:spcAft>
              <a:buFont typeface="Wingdings" panose="05000000000000000000" pitchFamily="2" charset="2"/>
              <a:buChar char=""/>
              <a:tabLst>
                <a:tab pos="457200" algn="l"/>
              </a:tabLst>
            </a:pPr>
            <a:r>
              <a:rPr lang="fr-FR" sz="9200" dirty="0">
                <a:solidFill>
                  <a:srgbClr val="00B0F0"/>
                </a:solidFill>
                <a:effectLst/>
                <a:latin typeface="Arial Black" panose="020B0A04020102020204" pitchFamily="34" charset="0"/>
                <a:ea typeface="Times New Roman" panose="02020603050405020304" pitchFamily="18" charset="0"/>
                <a:cs typeface="Times New Roman" panose="02020603050405020304" pitchFamily="18" charset="0"/>
              </a:rPr>
              <a:t>La position corporelle </a:t>
            </a:r>
            <a:r>
              <a:rPr lang="fr-FR" sz="9200" dirty="0">
                <a:effectLst/>
                <a:latin typeface="Arial Black" panose="020B0A04020102020204" pitchFamily="34" charset="0"/>
                <a:ea typeface="Times New Roman" panose="02020603050405020304" pitchFamily="18" charset="0"/>
                <a:cs typeface="Times New Roman" panose="02020603050405020304" pitchFamily="18" charset="0"/>
              </a:rPr>
              <a:t>: la respiration corporelle s’accélère en position debout</a:t>
            </a:r>
          </a:p>
          <a:p>
            <a:pPr marL="0" indent="0">
              <a:buNone/>
            </a:pPr>
            <a:endParaRPr lang="fr-FR" dirty="0"/>
          </a:p>
        </p:txBody>
      </p:sp>
    </p:spTree>
    <p:extLst>
      <p:ext uri="{BB962C8B-B14F-4D97-AF65-F5344CB8AC3E}">
        <p14:creationId xmlns:p14="http://schemas.microsoft.com/office/powerpoint/2010/main" val="4081352315"/>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635181-DB45-4D74-BE4B-0D8343328947}"/>
              </a:ext>
            </a:extLst>
          </p:cNvPr>
          <p:cNvSpPr>
            <a:spLocks noGrp="1"/>
          </p:cNvSpPr>
          <p:nvPr>
            <p:ph type="title"/>
          </p:nvPr>
        </p:nvSpPr>
        <p:spPr>
          <a:xfrm>
            <a:off x="2631562" y="147592"/>
            <a:ext cx="8911687" cy="586504"/>
          </a:xfrm>
        </p:spPr>
        <p:txBody>
          <a:bodyPr/>
          <a:lstStyle/>
          <a:p>
            <a:endParaRPr lang="fr-FR" dirty="0"/>
          </a:p>
        </p:txBody>
      </p:sp>
      <p:sp>
        <p:nvSpPr>
          <p:cNvPr id="3" name="Espace réservé du contenu 2">
            <a:extLst>
              <a:ext uri="{FF2B5EF4-FFF2-40B4-BE49-F238E27FC236}">
                <a16:creationId xmlns:a16="http://schemas.microsoft.com/office/drawing/2014/main" id="{33A35A66-3EFB-4277-AE41-A3F9B207D36C}"/>
              </a:ext>
            </a:extLst>
          </p:cNvPr>
          <p:cNvSpPr>
            <a:spLocks noGrp="1"/>
          </p:cNvSpPr>
          <p:nvPr>
            <p:ph idx="1"/>
          </p:nvPr>
        </p:nvSpPr>
        <p:spPr>
          <a:xfrm>
            <a:off x="0" y="734096"/>
            <a:ext cx="12192000" cy="5184586"/>
          </a:xfrm>
        </p:spPr>
        <p:txBody>
          <a:bodyPr>
            <a:normAutofit fontScale="25000" lnSpcReduction="20000"/>
          </a:bodyPr>
          <a:lstStyle/>
          <a:p>
            <a:pPr marL="6" indent="0">
              <a:lnSpc>
                <a:spcPct val="120000"/>
              </a:lnSpc>
              <a:spcAft>
                <a:spcPts val="1000"/>
              </a:spcAft>
              <a:buNone/>
            </a:pPr>
            <a:r>
              <a:rPr lang="fr-FR" sz="96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                   6-2 </a:t>
            </a:r>
            <a:r>
              <a:rPr lang="fr-FR" sz="96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Les variations pathologiques</a:t>
            </a:r>
            <a:endParaRPr lang="fr-FR" sz="96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buFont typeface="Wingdings" panose="05000000000000000000" pitchFamily="2" charset="2"/>
              <a:buChar char=""/>
            </a:pPr>
            <a:r>
              <a:rPr lang="fr-FR" sz="8000" dirty="0">
                <a:solidFill>
                  <a:schemeClr val="accent1"/>
                </a:solidFill>
                <a:effectLst/>
                <a:latin typeface="Arial Black" panose="020B0A04020102020204" pitchFamily="34" charset="0"/>
                <a:ea typeface="Calibri" panose="020F0502020204030204" pitchFamily="34" charset="0"/>
                <a:cs typeface="Arial" panose="020B0604020202020204" pitchFamily="34" charset="0"/>
              </a:rPr>
              <a:t>La dyspnée </a:t>
            </a:r>
            <a:r>
              <a:rPr lang="fr-FR" sz="8000" dirty="0">
                <a:effectLst/>
                <a:latin typeface="Arial Black" panose="020B0A04020102020204" pitchFamily="34" charset="0"/>
                <a:ea typeface="Calibri" panose="020F0502020204030204" pitchFamily="34" charset="0"/>
                <a:cs typeface="Arial" panose="020B0604020202020204" pitchFamily="34" charset="0"/>
              </a:rPr>
              <a:t>: difficulté respiratoire soit d’effort, de décubitus ou une orthopnée (soulagement en position assise ou penchée en avant, permanente)</a:t>
            </a:r>
          </a:p>
          <a:p>
            <a:pPr marL="342900" lvl="0" indent="-342900">
              <a:lnSpc>
                <a:spcPct val="120000"/>
              </a:lnSpc>
              <a:spcAft>
                <a:spcPts val="1000"/>
              </a:spcAft>
              <a:buFont typeface="Wingdings" panose="05000000000000000000" pitchFamily="2" charset="2"/>
              <a:buChar char=""/>
              <a:tabLst>
                <a:tab pos="457200" algn="l"/>
              </a:tabLst>
            </a:pPr>
            <a:r>
              <a:rPr lang="fr-FR" sz="80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La bradypnée : </a:t>
            </a:r>
            <a:r>
              <a:rPr lang="fr-FR" sz="8000" dirty="0">
                <a:effectLst/>
                <a:latin typeface="Arial Black" panose="020B0A04020102020204" pitchFamily="34" charset="0"/>
                <a:ea typeface="Times New Roman" panose="02020603050405020304" pitchFamily="18" charset="0"/>
                <a:cs typeface="Arial" panose="020B0604020202020204" pitchFamily="34" charset="0"/>
              </a:rPr>
              <a:t>ralentissement du rythme respiratoire</a:t>
            </a:r>
          </a:p>
          <a:p>
            <a:pPr marL="342900" lvl="0" indent="-342900">
              <a:lnSpc>
                <a:spcPct val="120000"/>
              </a:lnSpc>
              <a:spcAft>
                <a:spcPts val="1000"/>
              </a:spcAft>
              <a:buFont typeface="Wingdings" panose="05000000000000000000" pitchFamily="2" charset="2"/>
              <a:buChar char=""/>
              <a:tabLst>
                <a:tab pos="457200" algn="l"/>
              </a:tabLst>
            </a:pPr>
            <a:r>
              <a:rPr lang="fr-FR" sz="80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La polypnée :</a:t>
            </a:r>
            <a:r>
              <a:rPr lang="fr-FR" sz="8000" dirty="0">
                <a:effectLst/>
                <a:latin typeface="Arial Black" panose="020B0A04020102020204" pitchFamily="34" charset="0"/>
                <a:ea typeface="Times New Roman" panose="02020603050405020304" pitchFamily="18" charset="0"/>
                <a:cs typeface="Arial" panose="020B0604020202020204" pitchFamily="34" charset="0"/>
              </a:rPr>
              <a:t> accélération du rythme respiratoire</a:t>
            </a:r>
          </a:p>
          <a:p>
            <a:pPr marL="342900" lvl="0" indent="-342900">
              <a:lnSpc>
                <a:spcPct val="120000"/>
              </a:lnSpc>
              <a:spcAft>
                <a:spcPts val="1000"/>
              </a:spcAft>
              <a:buFont typeface="Wingdings" panose="05000000000000000000" pitchFamily="2" charset="2"/>
              <a:buChar char=""/>
              <a:tabLst>
                <a:tab pos="457200" algn="l"/>
              </a:tabLst>
            </a:pPr>
            <a:r>
              <a:rPr lang="fr-FR" sz="80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L’apnée : </a:t>
            </a:r>
            <a:r>
              <a:rPr lang="fr-FR" sz="8000" dirty="0">
                <a:effectLst/>
                <a:latin typeface="Arial Black" panose="020B0A04020102020204" pitchFamily="34" charset="0"/>
                <a:ea typeface="Times New Roman" panose="02020603050405020304" pitchFamily="18" charset="0"/>
                <a:cs typeface="Arial" panose="020B0604020202020204" pitchFamily="34" charset="0"/>
              </a:rPr>
              <a:t>pause plus ou moins prolongée de mouvements respiratoires</a:t>
            </a:r>
          </a:p>
          <a:p>
            <a:pPr marL="342900" lvl="0" indent="-342900">
              <a:lnSpc>
                <a:spcPct val="120000"/>
              </a:lnSpc>
              <a:spcAft>
                <a:spcPts val="1000"/>
              </a:spcAft>
              <a:buFont typeface="Wingdings" panose="05000000000000000000" pitchFamily="2" charset="2"/>
              <a:buChar char=""/>
              <a:tabLst>
                <a:tab pos="457200" algn="l"/>
              </a:tabLst>
            </a:pPr>
            <a:r>
              <a:rPr lang="fr-FR" sz="80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le tirage : </a:t>
            </a:r>
            <a:r>
              <a:rPr lang="fr-FR" sz="8000" dirty="0">
                <a:effectLst/>
                <a:latin typeface="Arial Black" panose="020B0A04020102020204" pitchFamily="34" charset="0"/>
                <a:ea typeface="Times New Roman" panose="02020603050405020304" pitchFamily="18" charset="0"/>
                <a:cs typeface="Arial" panose="020B0604020202020204" pitchFamily="34" charset="0"/>
              </a:rPr>
              <a:t>dépression inspiratoire de la paroi thoracique de part et d’autres du sternum se produisant lors d’une difficulté d’entrée de l’air dans les voies respiratoires</a:t>
            </a:r>
          </a:p>
          <a:p>
            <a:pPr marL="342900" lvl="0" indent="-342900">
              <a:lnSpc>
                <a:spcPct val="120000"/>
              </a:lnSpc>
              <a:spcAft>
                <a:spcPts val="1000"/>
              </a:spcAft>
              <a:buFont typeface="Wingdings" panose="05000000000000000000" pitchFamily="2" charset="2"/>
              <a:buChar char=""/>
              <a:tabLst>
                <a:tab pos="457200" algn="l"/>
              </a:tabLst>
            </a:pPr>
            <a:r>
              <a:rPr lang="fr-FR" sz="80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Respiration stertoreuse </a:t>
            </a:r>
            <a:r>
              <a:rPr lang="fr-FR" sz="8000" dirty="0">
                <a:effectLst/>
                <a:latin typeface="Arial Black" panose="020B0A04020102020204" pitchFamily="34" charset="0"/>
                <a:ea typeface="Times New Roman" panose="02020603050405020304" pitchFamily="18" charset="0"/>
                <a:cs typeface="Arial" panose="020B0604020202020204" pitchFamily="34" charset="0"/>
              </a:rPr>
              <a:t>: respiration s’accompagnant d’un ronflement bruyant à l’inspiration/l’expiration</a:t>
            </a:r>
          </a:p>
          <a:p>
            <a:pPr>
              <a:lnSpc>
                <a:spcPct val="115000"/>
              </a:lnSpc>
              <a:spcAft>
                <a:spcPts val="1000"/>
              </a:spcAft>
            </a:pP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160596757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12191999" cy="7122017"/>
          </a:xfrm>
          <a:prstGeom prst="rect">
            <a:avLst/>
          </a:prstGeom>
        </p:spPr>
      </p:pic>
    </p:spTree>
    <p:extLst>
      <p:ext uri="{BB962C8B-B14F-4D97-AF65-F5344CB8AC3E}">
        <p14:creationId xmlns:p14="http://schemas.microsoft.com/office/powerpoint/2010/main" val="10086434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25499" y="0"/>
            <a:ext cx="8911687" cy="837127"/>
          </a:xfrm>
        </p:spPr>
        <p:txBody>
          <a:bodyPr>
            <a:normAutofit fontScale="90000"/>
          </a:bodyPr>
          <a:lstStyle/>
          <a:p>
            <a:r>
              <a:rPr lang="fr-FR" sz="4000" b="1" dirty="0">
                <a:solidFill>
                  <a:srgbClr val="FF0000"/>
                </a:solidFill>
                <a:ea typeface="Times New Roman" panose="02020603050405020304" pitchFamily="18" charset="0"/>
                <a:cs typeface="Arial" panose="020B0604020202020204" pitchFamily="34" charset="0"/>
              </a:rPr>
              <a:t>C - TRAITEMENT PARENTERAL</a:t>
            </a:r>
            <a:r>
              <a:rPr lang="fr-FR" b="1" dirty="0">
                <a:solidFill>
                  <a:srgbClr val="FF0000"/>
                </a:solidFill>
                <a:ea typeface="Times New Roman" panose="02020603050405020304" pitchFamily="18" charset="0"/>
                <a:cs typeface="Arial" panose="020B0604020202020204" pitchFamily="34" charset="0"/>
              </a:rPr>
              <a:t/>
            </a:r>
            <a:br>
              <a:rPr lang="fr-FR" b="1" dirty="0">
                <a:solidFill>
                  <a:srgbClr val="FF0000"/>
                </a:solidFill>
                <a:ea typeface="Times New Roman" panose="02020603050405020304" pitchFamily="18" charset="0"/>
                <a:cs typeface="Arial" panose="020B0604020202020204" pitchFamily="34" charset="0"/>
              </a:rPr>
            </a:br>
            <a:endParaRPr lang="fr-FR" dirty="0"/>
          </a:p>
        </p:txBody>
      </p:sp>
      <p:sp>
        <p:nvSpPr>
          <p:cNvPr id="3" name="Espace réservé du contenu 2"/>
          <p:cNvSpPr>
            <a:spLocks noGrp="1"/>
          </p:cNvSpPr>
          <p:nvPr>
            <p:ph idx="1"/>
          </p:nvPr>
        </p:nvSpPr>
        <p:spPr>
          <a:xfrm>
            <a:off x="0" y="1180564"/>
            <a:ext cx="12192000" cy="5284630"/>
          </a:xfrm>
        </p:spPr>
        <p:txBody>
          <a:bodyPr>
            <a:normAutofit fontScale="62500" lnSpcReduction="20000"/>
          </a:bodyPr>
          <a:lstStyle/>
          <a:p>
            <a:pPr marL="0" indent="0" algn="ctr">
              <a:buNone/>
            </a:pPr>
            <a:r>
              <a:rPr lang="fr-FR" sz="3600" b="1" u="sng" dirty="0" smtClean="0">
                <a:solidFill>
                  <a:srgbClr val="FF0000"/>
                </a:solidFill>
                <a:latin typeface="Arial Black" panose="020B0A04020102020204" pitchFamily="34" charset="0"/>
              </a:rPr>
              <a:t>LES </a:t>
            </a:r>
            <a:r>
              <a:rPr lang="fr-FR" sz="3600" b="1" u="sng" dirty="0">
                <a:solidFill>
                  <a:srgbClr val="FF0000"/>
                </a:solidFill>
                <a:latin typeface="Arial Black" panose="020B0A04020102020204" pitchFamily="34" charset="0"/>
              </a:rPr>
              <a:t>INJECTIONS PARENTERALES</a:t>
            </a:r>
            <a:endParaRPr lang="fr-FR" sz="3600" dirty="0">
              <a:solidFill>
                <a:srgbClr val="FF0000"/>
              </a:solidFill>
              <a:latin typeface="Arial Black" panose="020B0A04020102020204" pitchFamily="34" charset="0"/>
            </a:endParaRPr>
          </a:p>
          <a:p>
            <a:pPr marL="0" indent="0">
              <a:buNone/>
            </a:pPr>
            <a:r>
              <a:rPr lang="fr-FR" sz="3600" b="1" dirty="0" smtClean="0">
                <a:solidFill>
                  <a:srgbClr val="FF0000"/>
                </a:solidFill>
                <a:latin typeface="Arial Black" panose="020B0A04020102020204" pitchFamily="34" charset="0"/>
              </a:rPr>
              <a:t>DEFINITION</a:t>
            </a:r>
            <a:endParaRPr lang="fr-FR" sz="3600" dirty="0">
              <a:solidFill>
                <a:srgbClr val="FF0000"/>
              </a:solidFill>
              <a:latin typeface="Arial Black" panose="020B0A04020102020204" pitchFamily="34" charset="0"/>
            </a:endParaRPr>
          </a:p>
          <a:p>
            <a:pPr marL="0" indent="0">
              <a:buNone/>
            </a:pPr>
            <a:r>
              <a:rPr lang="fr-FR" sz="3600" dirty="0" smtClean="0">
                <a:latin typeface="Arial Black" panose="020B0A04020102020204" pitchFamily="34" charset="0"/>
              </a:rPr>
              <a:t>Une </a:t>
            </a:r>
            <a:r>
              <a:rPr lang="fr-FR" sz="3600" dirty="0">
                <a:latin typeface="Arial Black" panose="020B0A04020102020204" pitchFamily="34" charset="0"/>
              </a:rPr>
              <a:t>injection parentérale est un soin sur prescription médicale qui consiste à introduire dans l’organisme des substances médicamenteuses par une autre voie que le tube digestif (per os) au moyen d’une seringue et d’une aiguille.  </a:t>
            </a:r>
          </a:p>
          <a:p>
            <a:pPr marL="0" indent="0">
              <a:buNone/>
            </a:pPr>
            <a:r>
              <a:rPr lang="fr-FR" sz="3600" dirty="0">
                <a:latin typeface="Arial Black" panose="020B0A04020102020204" pitchFamily="34" charset="0"/>
              </a:rPr>
              <a:t>Il existe différents types d’injections : </a:t>
            </a:r>
            <a:endParaRPr lang="fr-FR" sz="3600" dirty="0" smtClean="0">
              <a:latin typeface="Arial Black" panose="020B0A04020102020204" pitchFamily="34" charset="0"/>
            </a:endParaRPr>
          </a:p>
          <a:p>
            <a:pPr>
              <a:buFontTx/>
              <a:buChar char="-"/>
            </a:pPr>
            <a:r>
              <a:rPr lang="fr-FR" sz="3600" dirty="0" smtClean="0">
                <a:latin typeface="Arial Black" panose="020B0A04020102020204" pitchFamily="34" charset="0"/>
              </a:rPr>
              <a:t>intradermique </a:t>
            </a:r>
          </a:p>
          <a:p>
            <a:pPr>
              <a:buFontTx/>
              <a:buChar char="-"/>
            </a:pPr>
            <a:r>
              <a:rPr lang="fr-FR" sz="3600" dirty="0" smtClean="0">
                <a:latin typeface="Arial Black" panose="020B0A04020102020204" pitchFamily="34" charset="0"/>
              </a:rPr>
              <a:t>sous-cutanée</a:t>
            </a:r>
          </a:p>
          <a:p>
            <a:pPr marL="0" indent="0">
              <a:buNone/>
            </a:pPr>
            <a:r>
              <a:rPr lang="fr-FR" sz="3600" dirty="0" smtClean="0">
                <a:latin typeface="Arial Black" panose="020B0A04020102020204" pitchFamily="34" charset="0"/>
              </a:rPr>
              <a:t>- intramusculaire </a:t>
            </a:r>
          </a:p>
          <a:p>
            <a:pPr marL="0" indent="0">
              <a:buNone/>
            </a:pPr>
            <a:r>
              <a:rPr lang="fr-FR" sz="3600" dirty="0" smtClean="0">
                <a:latin typeface="Arial Black" panose="020B0A04020102020204" pitchFamily="34" charset="0"/>
              </a:rPr>
              <a:t>- intraveineuse</a:t>
            </a:r>
            <a:endParaRPr lang="fr-FR" sz="3600" dirty="0">
              <a:latin typeface="Arial Black" panose="020B0A04020102020204" pitchFamily="34" charset="0"/>
            </a:endParaRPr>
          </a:p>
          <a:p>
            <a:pPr marL="0" indent="0">
              <a:buNone/>
            </a:pPr>
            <a:r>
              <a:rPr lang="fr-FR" sz="3600" b="1" dirty="0">
                <a:solidFill>
                  <a:schemeClr val="accent5"/>
                </a:solidFill>
                <a:latin typeface="Arial Black" panose="020B0A04020102020204" pitchFamily="34" charset="0"/>
              </a:rPr>
              <a:t>BUT </a:t>
            </a:r>
            <a:r>
              <a:rPr lang="fr-FR" sz="3600" dirty="0">
                <a:solidFill>
                  <a:schemeClr val="accent5"/>
                </a:solidFill>
                <a:latin typeface="Arial Black" panose="020B0A04020102020204" pitchFamily="34" charset="0"/>
              </a:rPr>
              <a:t>• </a:t>
            </a:r>
            <a:r>
              <a:rPr lang="fr-FR" sz="3600" dirty="0">
                <a:latin typeface="Arial Black" panose="020B0A04020102020204" pitchFamily="34" charset="0"/>
              </a:rPr>
              <a:t>Obtenir une action plus précise et plus rapide.</a:t>
            </a:r>
          </a:p>
          <a:p>
            <a:pPr marL="0" indent="0">
              <a:buNone/>
            </a:pPr>
            <a:r>
              <a:rPr lang="fr-FR" sz="3600" b="1" dirty="0">
                <a:solidFill>
                  <a:srgbClr val="FF0000"/>
                </a:solidFill>
                <a:latin typeface="Arial Black" panose="020B0A04020102020204" pitchFamily="34" charset="0"/>
              </a:rPr>
              <a:t>NB :</a:t>
            </a:r>
            <a:endParaRPr lang="fr-FR" sz="3600" dirty="0">
              <a:solidFill>
                <a:srgbClr val="FF0000"/>
              </a:solidFill>
              <a:latin typeface="Arial Black" panose="020B0A04020102020204" pitchFamily="34" charset="0"/>
            </a:endParaRPr>
          </a:p>
          <a:p>
            <a:r>
              <a:rPr lang="fr-FR" sz="3600" dirty="0">
                <a:latin typeface="Arial Black" panose="020B0A04020102020204" pitchFamily="34" charset="0"/>
              </a:rPr>
              <a:t> les médicaments passent plus rapidement dans la circulation sanguine. </a:t>
            </a:r>
          </a:p>
          <a:p>
            <a:r>
              <a:rPr lang="fr-FR" sz="3600" dirty="0">
                <a:latin typeface="Arial Black" panose="020B0A04020102020204" pitchFamily="34" charset="0"/>
              </a:rPr>
              <a:t> la dose injectée est parfaitement connue.</a:t>
            </a:r>
          </a:p>
          <a:p>
            <a:endParaRPr lang="fr-FR" dirty="0"/>
          </a:p>
        </p:txBody>
      </p:sp>
    </p:spTree>
    <p:extLst>
      <p:ext uri="{BB962C8B-B14F-4D97-AF65-F5344CB8AC3E}">
        <p14:creationId xmlns:p14="http://schemas.microsoft.com/office/powerpoint/2010/main" val="1863747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90152" y="0"/>
            <a:ext cx="12101848" cy="7018986"/>
          </a:xfrm>
          <a:prstGeom prst="rect">
            <a:avLst/>
          </a:prstGeom>
        </p:spPr>
      </p:pic>
    </p:spTree>
    <p:extLst>
      <p:ext uri="{BB962C8B-B14F-4D97-AF65-F5344CB8AC3E}">
        <p14:creationId xmlns:p14="http://schemas.microsoft.com/office/powerpoint/2010/main" val="99542137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45465" y="0"/>
            <a:ext cx="9959147" cy="721217"/>
          </a:xfrm>
        </p:spPr>
        <p:txBody>
          <a:bodyPr>
            <a:normAutofit fontScale="90000"/>
          </a:bodyPr>
          <a:lstStyle/>
          <a:p>
            <a:r>
              <a:rPr lang="fr-FR" dirty="0">
                <a:solidFill>
                  <a:srgbClr val="FF0000"/>
                </a:solidFill>
              </a:rPr>
              <a:t>INJECTION INTRADERMIQUE</a:t>
            </a:r>
            <a:r>
              <a:rPr lang="fr-FR" dirty="0"/>
              <a:t/>
            </a:r>
            <a:br>
              <a:rPr lang="fr-FR" dirty="0"/>
            </a:br>
            <a:endParaRPr lang="fr-FR" dirty="0"/>
          </a:p>
        </p:txBody>
      </p:sp>
      <p:pic>
        <p:nvPicPr>
          <p:cNvPr id="4" name="Espace réservé du contenu 3"/>
          <p:cNvPicPr>
            <a:picLocks noGrp="1" noChangeAspect="1"/>
          </p:cNvPicPr>
          <p:nvPr>
            <p:ph idx="1"/>
          </p:nvPr>
        </p:nvPicPr>
        <p:blipFill>
          <a:blip r:embed="rId2"/>
          <a:stretch>
            <a:fillRect/>
          </a:stretch>
        </p:blipFill>
        <p:spPr>
          <a:xfrm>
            <a:off x="-1" y="1223494"/>
            <a:ext cx="6349285" cy="4971244"/>
          </a:xfrm>
          <a:prstGeom prst="rect">
            <a:avLst/>
          </a:prstGeom>
        </p:spPr>
      </p:pic>
      <p:pic>
        <p:nvPicPr>
          <p:cNvPr id="5" name="Image 4"/>
          <p:cNvPicPr>
            <a:picLocks noChangeAspect="1"/>
          </p:cNvPicPr>
          <p:nvPr/>
        </p:nvPicPr>
        <p:blipFill>
          <a:blip r:embed="rId3"/>
          <a:stretch>
            <a:fillRect/>
          </a:stretch>
        </p:blipFill>
        <p:spPr>
          <a:xfrm>
            <a:off x="6465194" y="1223494"/>
            <a:ext cx="5726806" cy="4971244"/>
          </a:xfrm>
          <a:prstGeom prst="rect">
            <a:avLst/>
          </a:prstGeom>
        </p:spPr>
      </p:pic>
    </p:spTree>
    <p:extLst>
      <p:ext uri="{BB962C8B-B14F-4D97-AF65-F5344CB8AC3E}">
        <p14:creationId xmlns:p14="http://schemas.microsoft.com/office/powerpoint/2010/main" val="332094496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89" y="0"/>
            <a:ext cx="11900079" cy="6294031"/>
          </a:xfrm>
          <a:prstGeom prst="rect">
            <a:avLst/>
          </a:prstGeom>
        </p:spPr>
        <p:txBody>
          <a:bodyPr wrap="square">
            <a:spAutoFit/>
          </a:bodyPr>
          <a:lstStyle/>
          <a:p>
            <a:pPr marL="342900" lvl="0" indent="-342900" algn="ctr">
              <a:lnSpc>
                <a:spcPct val="125000"/>
              </a:lnSpc>
              <a:spcAft>
                <a:spcPts val="0"/>
              </a:spcAft>
              <a:buFont typeface="+mj-lt"/>
              <a:buAutoNum type="romanUcPeriod"/>
              <a:tabLst>
                <a:tab pos="488950" algn="l"/>
              </a:tabLst>
            </a:pPr>
            <a:r>
              <a:rPr lang="fr-FR" sz="20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DEFINITION</a:t>
            </a:r>
            <a:endParaRPr lang="fr-FR" sz="20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C’est </a:t>
            </a:r>
            <a:r>
              <a:rPr lang="fr-FR" sz="2000" dirty="0">
                <a:latin typeface="Arial Black" panose="020B0A04020102020204" pitchFamily="34" charset="0"/>
                <a:ea typeface="Times New Roman" panose="02020603050405020304" pitchFamily="18" charset="0"/>
                <a:cs typeface="Times New Roman" panose="02020603050405020304" pitchFamily="18" charset="0"/>
              </a:rPr>
              <a:t>l’introduction de toute petite quantité de produit médicamenteux dans le derme.</a:t>
            </a:r>
          </a:p>
          <a:p>
            <a:pPr>
              <a:lnSpc>
                <a:spcPct val="125000"/>
              </a:lnSpc>
              <a:spcAft>
                <a:spcPts val="0"/>
              </a:spcAft>
            </a:pPr>
            <a:r>
              <a:rPr lang="fr-FR" sz="20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Zones </a:t>
            </a:r>
            <a:r>
              <a:rPr lang="fr-FR" sz="20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de ponction</a:t>
            </a:r>
            <a:r>
              <a:rPr lang="fr-FR" sz="20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a:t>
            </a:r>
          </a:p>
          <a:p>
            <a:pPr marL="342900" indent="-342900" algn="just">
              <a:lnSpc>
                <a:spcPct val="115000"/>
              </a:lnSpc>
              <a:spcAft>
                <a:spcPts val="0"/>
              </a:spcAft>
              <a:buFont typeface="Wingdings" panose="05000000000000000000" pitchFamily="2" charset="2"/>
              <a:buChar char="Ø"/>
            </a:pPr>
            <a:r>
              <a:rPr lang="fr-FR" sz="2000" dirty="0">
                <a:latin typeface="Arial Black" panose="020B0A04020102020204" pitchFamily="34" charset="0"/>
                <a:ea typeface="Times New Roman" panose="02020603050405020304" pitchFamily="18" charset="0"/>
                <a:cs typeface="Times New Roman" panose="02020603050405020304" pitchFamily="18" charset="0"/>
              </a:rPr>
              <a:t>Face interne et externe de l’avant bras </a:t>
            </a:r>
            <a:endParaRPr lang="fr-FR" sz="2000"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indent="-342900" algn="just">
              <a:lnSpc>
                <a:spcPct val="115000"/>
              </a:lnSpc>
              <a:spcAft>
                <a:spcPts val="0"/>
              </a:spcAft>
              <a:buFont typeface="Wingdings" panose="05000000000000000000" pitchFamily="2" charset="2"/>
              <a:buChar char="Ø"/>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Face </a:t>
            </a:r>
            <a:r>
              <a:rPr lang="fr-FR" sz="2000" dirty="0">
                <a:latin typeface="Arial Black" panose="020B0A04020102020204" pitchFamily="34" charset="0"/>
                <a:ea typeface="Times New Roman" panose="02020603050405020304" pitchFamily="18" charset="0"/>
                <a:cs typeface="Times New Roman" panose="02020603050405020304" pitchFamily="18" charset="0"/>
              </a:rPr>
              <a:t>externe du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bras</a:t>
            </a:r>
          </a:p>
          <a:p>
            <a:pPr marL="342900" indent="-342900" algn="just">
              <a:lnSpc>
                <a:spcPct val="115000"/>
              </a:lnSpc>
              <a:spcAft>
                <a:spcPts val="0"/>
              </a:spcAft>
              <a:buFont typeface="Wingdings" panose="05000000000000000000" pitchFamily="2" charset="2"/>
              <a:buChar char="Ø"/>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Face </a:t>
            </a:r>
            <a:r>
              <a:rPr lang="fr-FR" sz="2000" dirty="0">
                <a:latin typeface="Arial Black" panose="020B0A04020102020204" pitchFamily="34" charset="0"/>
                <a:ea typeface="Times New Roman" panose="02020603050405020304" pitchFamily="18" charset="0"/>
                <a:cs typeface="Times New Roman" panose="02020603050405020304" pitchFamily="18" charset="0"/>
              </a:rPr>
              <a:t>externe de la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cuisse</a:t>
            </a:r>
          </a:p>
          <a:p>
            <a:pPr marL="342900" indent="-342900" algn="just">
              <a:lnSpc>
                <a:spcPct val="115000"/>
              </a:lnSpc>
              <a:spcAft>
                <a:spcPts val="0"/>
              </a:spcAft>
              <a:buFont typeface="Wingdings" panose="05000000000000000000" pitchFamily="2" charset="2"/>
              <a:buChar char="Ø"/>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Au </a:t>
            </a:r>
            <a:r>
              <a:rPr lang="fr-FR" sz="2000" dirty="0">
                <a:latin typeface="Arial Black" panose="020B0A04020102020204" pitchFamily="34" charset="0"/>
                <a:ea typeface="Times New Roman" panose="02020603050405020304" pitchFamily="18" charset="0"/>
                <a:cs typeface="Times New Roman" panose="02020603050405020304" pitchFamily="18" charset="0"/>
              </a:rPr>
              <a:t>niveau de toute région douloureuse lorsqu’il s’agit de thérapeutique analgésique.</a:t>
            </a:r>
          </a:p>
          <a:p>
            <a:pPr marL="342900" lvl="0" indent="-342900">
              <a:lnSpc>
                <a:spcPct val="125000"/>
              </a:lnSpc>
              <a:spcAft>
                <a:spcPts val="0"/>
              </a:spcAft>
              <a:buFont typeface="+mj-lt"/>
              <a:buAutoNum type="romanUcPeriod"/>
              <a:tabLst>
                <a:tab pos="488950" algn="l"/>
              </a:tabLst>
            </a:pPr>
            <a:r>
              <a:rPr lang="fr-FR" sz="20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MATERIEL</a:t>
            </a:r>
            <a:endParaRPr lang="fr-FR" sz="20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Plateau stérile</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Plateau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propre </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Produit médicamenteux</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Seringue à insuline stérile</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Alcool</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Coton hydrophile</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Gant propre</a:t>
            </a:r>
            <a:endParaRPr lang="fr-FR" sz="20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768215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3" y="0"/>
            <a:ext cx="11977352" cy="6449458"/>
          </a:xfrm>
          <a:prstGeom prst="rect">
            <a:avLst/>
          </a:prstGeom>
        </p:spPr>
        <p:txBody>
          <a:bodyPr wrap="square">
            <a:spAutoFit/>
          </a:bodyPr>
          <a:lstStyle/>
          <a:p>
            <a:pPr marL="342900" lvl="0" indent="-342900" algn="ctr">
              <a:lnSpc>
                <a:spcPct val="125000"/>
              </a:lnSpc>
              <a:spcAft>
                <a:spcPts val="600"/>
              </a:spcAft>
              <a:buFont typeface="+mj-lt"/>
              <a:buAutoNum type="romanUcPeriod"/>
              <a:tabLst>
                <a:tab pos="488950" algn="l"/>
              </a:tabLst>
            </a:pPr>
            <a:r>
              <a:rPr lang="fr-FR" sz="20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TECHNIQUE DE L’INJECTION INTRADERMIQUE</a:t>
            </a:r>
            <a:endParaRPr lang="fr-FR" sz="20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Désinfecter la zone de ponction en </a:t>
            </a:r>
            <a:r>
              <a:rPr lang="fr-FR" sz="2000" dirty="0">
                <a:solidFill>
                  <a:schemeClr val="accent5"/>
                </a:solidFill>
                <a:latin typeface="Arial Black" panose="020B0A04020102020204" pitchFamily="34" charset="0"/>
                <a:ea typeface="Times New Roman" panose="02020603050405020304" pitchFamily="18" charset="0"/>
                <a:cs typeface="Times New Roman" panose="02020603050405020304" pitchFamily="18" charset="0"/>
              </a:rPr>
              <a:t>"escargot" : </a:t>
            </a:r>
            <a:r>
              <a:rPr lang="fr-FR" sz="2000" dirty="0">
                <a:latin typeface="Arial Black" panose="020B0A04020102020204" pitchFamily="34" charset="0"/>
                <a:ea typeface="Times New Roman" panose="02020603050405020304" pitchFamily="18" charset="0"/>
                <a:cs typeface="Times New Roman" panose="02020603050405020304" pitchFamily="18" charset="0"/>
              </a:rPr>
              <a:t>mouvement circulaire en partant du centre vers l'extérieur afin de tuer et d'éloigner les germes du point de ponction.</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Aseptiser la zone de ponction à l’alcool.</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Tenir le bras à pleine main et bien tendre la peau.</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De l’autre main saisir la seringue</a:t>
            </a:r>
            <a:r>
              <a:rPr lang="fr-FR" sz="2000" b="1" dirty="0">
                <a:latin typeface="Arial Black" panose="020B0A04020102020204" pitchFamily="34" charset="0"/>
                <a:ea typeface="Times New Roman" panose="02020603050405020304" pitchFamily="18" charset="0"/>
                <a:cs typeface="Times New Roman" panose="02020603050405020304" pitchFamily="18" charset="0"/>
              </a:rPr>
              <a:t>, </a:t>
            </a:r>
            <a:r>
              <a:rPr lang="fr-FR" sz="2000" dirty="0">
                <a:latin typeface="Arial Black" panose="020B0A04020102020204" pitchFamily="34" charset="0"/>
                <a:ea typeface="Times New Roman" panose="02020603050405020304" pitchFamily="18" charset="0"/>
                <a:cs typeface="Times New Roman" panose="02020603050405020304" pitchFamily="18" charset="0"/>
              </a:rPr>
              <a:t>et introduire la pointe de l’aiguille dans le derme, le biseau vers le haut pour éviter au liquide de se répandre en profondeur.</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Dès que le biseau a disparu, pousser doucement l’aiguille et injecter le volume d’une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lentille</a:t>
            </a:r>
          </a:p>
          <a:p>
            <a:pPr lvl="0"/>
            <a:r>
              <a:rPr lang="fr-FR" sz="2000" dirty="0">
                <a:latin typeface="Arial Black" panose="020B0A04020102020204" pitchFamily="34" charset="0"/>
              </a:rPr>
              <a:t>L’injection doit produire immédiatement une papule (une petite boule d’œdème blanc ou peau d’orange).</a:t>
            </a:r>
          </a:p>
          <a:p>
            <a:pPr lvl="0"/>
            <a:r>
              <a:rPr lang="fr-FR" sz="2000" dirty="0">
                <a:latin typeface="Arial Black" panose="020B0A04020102020204" pitchFamily="34" charset="0"/>
              </a:rPr>
              <a:t>Si la papule ne se forme pas, l’injection doit être recommencée dans un autre endroit.</a:t>
            </a:r>
          </a:p>
          <a:p>
            <a:pPr lvl="0"/>
            <a:r>
              <a:rPr lang="fr-FR" sz="2000" dirty="0">
                <a:latin typeface="Arial Black" panose="020B0A04020102020204" pitchFamily="34" charset="0"/>
              </a:rPr>
              <a:t>Après le retrait de l’aiguille, éviter d’essuyer ou d’appuyer au point d’injection.</a:t>
            </a:r>
          </a:p>
          <a:p>
            <a:pPr lvl="0"/>
            <a:r>
              <a:rPr lang="fr-FR" sz="2000" dirty="0">
                <a:latin typeface="Arial Black" panose="020B0A04020102020204" pitchFamily="34" charset="0"/>
              </a:rPr>
              <a:t>Réinstaller le malade.</a:t>
            </a:r>
          </a:p>
          <a:p>
            <a:pPr lvl="0"/>
            <a:r>
              <a:rPr lang="fr-FR" sz="2000" dirty="0">
                <a:latin typeface="Arial Black" panose="020B0A04020102020204" pitchFamily="34" charset="0"/>
              </a:rPr>
              <a:t>Noter le soin.</a:t>
            </a:r>
          </a:p>
          <a:p>
            <a:pPr lvl="0"/>
            <a:r>
              <a:rPr lang="fr-FR" sz="2000" dirty="0">
                <a:latin typeface="Arial Black" panose="020B0A04020102020204" pitchFamily="34" charset="0"/>
              </a:rPr>
              <a:t>Ranger le matériel.</a:t>
            </a:r>
          </a:p>
          <a:p>
            <a:pPr marL="342900" lvl="0" indent="-342900" algn="just">
              <a:lnSpc>
                <a:spcPct val="115000"/>
              </a:lnSpc>
              <a:spcAft>
                <a:spcPts val="0"/>
              </a:spcAft>
              <a:buFont typeface="Arial" panose="020B0604020202020204" pitchFamily="34" charset="0"/>
              <a:buChar char="-"/>
            </a:pPr>
            <a:endParaRPr lang="fr-FR" sz="1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82764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96980" y="0"/>
            <a:ext cx="10075057" cy="914400"/>
          </a:xfrm>
        </p:spPr>
        <p:txBody>
          <a:bodyPr/>
          <a:lstStyle/>
          <a:p>
            <a:r>
              <a:rPr lang="fr-FR" dirty="0">
                <a:solidFill>
                  <a:srgbClr val="FF0000"/>
                </a:solidFill>
              </a:rPr>
              <a:t>INJECTION SOUS CUTANEE (S/C)</a:t>
            </a:r>
            <a:r>
              <a:rPr lang="fr-FR" dirty="0"/>
              <a:t/>
            </a:r>
            <a:br>
              <a:rPr lang="fr-FR" dirty="0"/>
            </a:br>
            <a:endParaRPr lang="fr-FR" dirty="0"/>
          </a:p>
        </p:txBody>
      </p:sp>
      <p:sp>
        <p:nvSpPr>
          <p:cNvPr id="3" name="Espace réservé du contenu 2"/>
          <p:cNvSpPr>
            <a:spLocks noGrp="1"/>
          </p:cNvSpPr>
          <p:nvPr>
            <p:ph idx="1"/>
          </p:nvPr>
        </p:nvSpPr>
        <p:spPr>
          <a:xfrm>
            <a:off x="0" y="1167683"/>
            <a:ext cx="12041746" cy="5220237"/>
          </a:xfrm>
        </p:spPr>
        <p:txBody>
          <a:bodyPr>
            <a:normAutofit fontScale="85000" lnSpcReduction="20000"/>
          </a:bodyPr>
          <a:lstStyle/>
          <a:p>
            <a:pPr marL="0" lvl="0" indent="0">
              <a:buNone/>
            </a:pPr>
            <a:r>
              <a:rPr lang="fr-FR" sz="3600" b="1" u="sng" dirty="0" smtClean="0">
                <a:solidFill>
                  <a:srgbClr val="FF0000"/>
                </a:solidFill>
                <a:latin typeface="Arial Black" panose="020B0A04020102020204" pitchFamily="34" charset="0"/>
              </a:rPr>
              <a:t>I- DEFINITION</a:t>
            </a:r>
            <a:r>
              <a:rPr lang="fr-FR" sz="3600" b="1" dirty="0" smtClean="0">
                <a:solidFill>
                  <a:srgbClr val="FF0000"/>
                </a:solidFill>
                <a:latin typeface="Arial Black" panose="020B0A04020102020204" pitchFamily="34" charset="0"/>
              </a:rPr>
              <a:t> </a:t>
            </a:r>
            <a:endParaRPr lang="fr-FR" sz="3600" dirty="0">
              <a:solidFill>
                <a:srgbClr val="FF0000"/>
              </a:solidFill>
              <a:latin typeface="Arial Black" panose="020B0A04020102020204" pitchFamily="34" charset="0"/>
            </a:endParaRPr>
          </a:p>
          <a:p>
            <a:pPr marL="0" indent="0">
              <a:buNone/>
            </a:pPr>
            <a:r>
              <a:rPr lang="fr-FR" sz="3600" dirty="0">
                <a:latin typeface="Arial Black" panose="020B0A04020102020204" pitchFamily="34" charset="0"/>
              </a:rPr>
              <a:t>L'injection sous-cutanée (S/C) est l'administration d'un produit médicamenteux présenté sous forme injectable dans le tissu cellulaire sous-cutané</a:t>
            </a:r>
            <a:r>
              <a:rPr lang="fr-FR" sz="3600" dirty="0" smtClean="0">
                <a:latin typeface="Arial Black" panose="020B0A04020102020204" pitchFamily="34" charset="0"/>
              </a:rPr>
              <a:t>.</a:t>
            </a:r>
            <a:endParaRPr lang="fr-FR" sz="3600" dirty="0">
              <a:latin typeface="Arial Black" panose="020B0A04020102020204" pitchFamily="34" charset="0"/>
            </a:endParaRPr>
          </a:p>
          <a:p>
            <a:pPr>
              <a:buFont typeface="Wingdings" panose="05000000000000000000" pitchFamily="2" charset="2"/>
              <a:buChar char="q"/>
            </a:pPr>
            <a:r>
              <a:rPr lang="fr-FR" sz="3600" b="1" dirty="0" smtClean="0">
                <a:solidFill>
                  <a:srgbClr val="FF0000"/>
                </a:solidFill>
                <a:latin typeface="Arial Black" panose="020B0A04020102020204" pitchFamily="34" charset="0"/>
              </a:rPr>
              <a:t>Zones </a:t>
            </a:r>
            <a:r>
              <a:rPr lang="fr-FR" sz="3600" b="1" dirty="0">
                <a:solidFill>
                  <a:srgbClr val="FF0000"/>
                </a:solidFill>
                <a:latin typeface="Arial Black" panose="020B0A04020102020204" pitchFamily="34" charset="0"/>
              </a:rPr>
              <a:t>de ponction :</a:t>
            </a:r>
            <a:endParaRPr lang="fr-FR" sz="3600" dirty="0">
              <a:solidFill>
                <a:srgbClr val="FF0000"/>
              </a:solidFill>
              <a:latin typeface="Arial Black" panose="020B0A04020102020204" pitchFamily="34" charset="0"/>
            </a:endParaRPr>
          </a:p>
          <a:p>
            <a:pPr lvl="0">
              <a:buFont typeface="Wingdings" panose="05000000000000000000" pitchFamily="2" charset="2"/>
              <a:buChar char="Ø"/>
            </a:pPr>
            <a:r>
              <a:rPr lang="fr-FR" sz="3600" dirty="0">
                <a:latin typeface="Arial Black" panose="020B0A04020102020204" pitchFamily="34" charset="0"/>
              </a:rPr>
              <a:t>Face externe du </a:t>
            </a:r>
            <a:r>
              <a:rPr lang="fr-FR" sz="3600" dirty="0" smtClean="0">
                <a:latin typeface="Arial Black" panose="020B0A04020102020204" pitchFamily="34" charset="0"/>
              </a:rPr>
              <a:t>bras</a:t>
            </a:r>
          </a:p>
          <a:p>
            <a:pPr lvl="0">
              <a:buFont typeface="Wingdings" panose="05000000000000000000" pitchFamily="2" charset="2"/>
              <a:buChar char="Ø"/>
            </a:pPr>
            <a:r>
              <a:rPr lang="fr-FR" sz="3600" dirty="0" smtClean="0">
                <a:latin typeface="Arial Black" panose="020B0A04020102020204" pitchFamily="34" charset="0"/>
              </a:rPr>
              <a:t>Face </a:t>
            </a:r>
            <a:r>
              <a:rPr lang="fr-FR" sz="3600" dirty="0">
                <a:latin typeface="Arial Black" panose="020B0A04020102020204" pitchFamily="34" charset="0"/>
              </a:rPr>
              <a:t>externe de la cuisse ou face </a:t>
            </a:r>
            <a:r>
              <a:rPr lang="fr-FR" sz="3600" dirty="0" smtClean="0">
                <a:latin typeface="Arial Black" panose="020B0A04020102020204" pitchFamily="34" charset="0"/>
              </a:rPr>
              <a:t>antérieure</a:t>
            </a:r>
          </a:p>
          <a:p>
            <a:pPr lvl="0">
              <a:buFont typeface="Wingdings" panose="05000000000000000000" pitchFamily="2" charset="2"/>
              <a:buChar char="Ø"/>
            </a:pPr>
            <a:r>
              <a:rPr lang="fr-FR" sz="3600" dirty="0" smtClean="0">
                <a:latin typeface="Arial Black" panose="020B0A04020102020204" pitchFamily="34" charset="0"/>
              </a:rPr>
              <a:t>Zone </a:t>
            </a:r>
            <a:r>
              <a:rPr lang="fr-FR" sz="3600" dirty="0">
                <a:latin typeface="Arial Black" panose="020B0A04020102020204" pitchFamily="34" charset="0"/>
              </a:rPr>
              <a:t>externe de </a:t>
            </a:r>
            <a:r>
              <a:rPr lang="fr-FR" sz="3600" dirty="0" smtClean="0">
                <a:latin typeface="Arial Black" panose="020B0A04020102020204" pitchFamily="34" charset="0"/>
              </a:rPr>
              <a:t>l'abdomen</a:t>
            </a:r>
          </a:p>
          <a:p>
            <a:pPr lvl="0">
              <a:buFont typeface="Wingdings" panose="05000000000000000000" pitchFamily="2" charset="2"/>
              <a:buChar char="Ø"/>
            </a:pPr>
            <a:r>
              <a:rPr lang="fr-FR" sz="3600" dirty="0" smtClean="0">
                <a:latin typeface="Arial Black" panose="020B0A04020102020204" pitchFamily="34" charset="0"/>
              </a:rPr>
              <a:t>Omoplate</a:t>
            </a:r>
            <a:r>
              <a:rPr lang="fr-FR" sz="3600" dirty="0">
                <a:latin typeface="Arial Black" panose="020B0A04020102020204" pitchFamily="34" charset="0"/>
              </a:rPr>
              <a:t>.</a:t>
            </a:r>
          </a:p>
          <a:p>
            <a:pPr marL="0" lvl="0" indent="0">
              <a:buNone/>
            </a:pPr>
            <a:r>
              <a:rPr lang="fr-FR" sz="3600" b="1" u="sng" dirty="0" smtClean="0">
                <a:solidFill>
                  <a:srgbClr val="FF0000"/>
                </a:solidFill>
                <a:latin typeface="Arial Black" panose="020B0A04020102020204" pitchFamily="34" charset="0"/>
              </a:rPr>
              <a:t>II- INDICATION</a:t>
            </a:r>
            <a:endParaRPr lang="fr-FR" sz="3600" dirty="0">
              <a:solidFill>
                <a:srgbClr val="FF0000"/>
              </a:solidFill>
              <a:latin typeface="Arial Black" panose="020B0A04020102020204" pitchFamily="34" charset="0"/>
            </a:endParaRPr>
          </a:p>
          <a:p>
            <a:r>
              <a:rPr lang="fr-FR" sz="3600" dirty="0">
                <a:latin typeface="Arial Black" panose="020B0A04020102020204" pitchFamily="34" charset="0"/>
              </a:rPr>
              <a:t>Absorption lente : le tissu sous-cutané est moins vascularisé que le tissu musculaire.</a:t>
            </a:r>
          </a:p>
          <a:p>
            <a:endParaRPr lang="fr-FR" dirty="0"/>
          </a:p>
        </p:txBody>
      </p:sp>
    </p:spTree>
    <p:extLst>
      <p:ext uri="{BB962C8B-B14F-4D97-AF65-F5344CB8AC3E}">
        <p14:creationId xmlns:p14="http://schemas.microsoft.com/office/powerpoint/2010/main" val="74100131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8642" y="0"/>
            <a:ext cx="11191741" cy="6357959"/>
          </a:xfrm>
          <a:prstGeom prst="rect">
            <a:avLst/>
          </a:prstGeom>
        </p:spPr>
        <p:txBody>
          <a:bodyPr wrap="square">
            <a:spAutoFit/>
          </a:bodyPr>
          <a:lstStyle/>
          <a:p>
            <a:pPr lvl="0" algn="just">
              <a:lnSpc>
                <a:spcPct val="125000"/>
              </a:lnSpc>
              <a:spcAft>
                <a:spcPts val="0"/>
              </a:spcAft>
              <a:tabLst>
                <a:tab pos="419100" algn="l"/>
              </a:tabLst>
            </a:pPr>
            <a:r>
              <a:rPr lang="fr-FR" sz="22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III-  </a:t>
            </a:r>
            <a:r>
              <a:rPr lang="fr-FR" sz="22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MATERIEL</a:t>
            </a:r>
            <a:endParaRPr lang="fr-FR" sz="22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285750" indent="-285750">
              <a:lnSpc>
                <a:spcPct val="115000"/>
              </a:lnSpc>
              <a:spcAft>
                <a:spcPts val="0"/>
              </a:spcAft>
              <a:buFontTx/>
              <a:buChar char="-"/>
            </a:pPr>
            <a:r>
              <a:rPr lang="fr-FR" sz="2200" dirty="0" smtClean="0">
                <a:latin typeface="Arial Black" panose="020B0A04020102020204" pitchFamily="34" charset="0"/>
                <a:ea typeface="Times New Roman" panose="02020603050405020304" pitchFamily="18" charset="0"/>
                <a:cs typeface="Times New Roman" panose="02020603050405020304" pitchFamily="18" charset="0"/>
              </a:rPr>
              <a:t>Plateau stérile</a:t>
            </a:r>
          </a:p>
          <a:p>
            <a:pPr marL="285750" indent="-285750">
              <a:lnSpc>
                <a:spcPct val="115000"/>
              </a:lnSpc>
              <a:spcAft>
                <a:spcPts val="0"/>
              </a:spcAft>
              <a:buFontTx/>
              <a:buChar char="-"/>
            </a:pPr>
            <a:r>
              <a:rPr lang="fr-FR" sz="2200" dirty="0" smtClean="0">
                <a:latin typeface="Arial Black" panose="020B0A04020102020204" pitchFamily="34" charset="0"/>
                <a:ea typeface="Times New Roman" panose="02020603050405020304" pitchFamily="18" charset="0"/>
                <a:cs typeface="Times New Roman" panose="02020603050405020304" pitchFamily="18" charset="0"/>
              </a:rPr>
              <a:t>Produit </a:t>
            </a:r>
            <a:r>
              <a:rPr lang="fr-FR" sz="2200" dirty="0">
                <a:latin typeface="Arial Black" panose="020B0A04020102020204" pitchFamily="34" charset="0"/>
                <a:ea typeface="Times New Roman" panose="02020603050405020304" pitchFamily="18" charset="0"/>
                <a:cs typeface="Times New Roman" panose="02020603050405020304" pitchFamily="18" charset="0"/>
              </a:rPr>
              <a:t>à injecter.</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Matériel pour la préparation du produit.</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Seringue stérile 1 ml à 20 ml en fonction de la quantité du produit à injecter ou seringue à insuline ou dispositif près à l'emploi.</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Aiguille sous-cutanée (orange : 25 Gauge, marron : 26 Gauge).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Compresses non stériles ou boules de coton.</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Antiseptique ou alcool modifié à 70°.</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Pansement ou compresse et sparadrap.</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Gants non stériles à usage unique.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Réniforme (haricot).</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Sac à élimination des déchets.</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Conteneur à déchets contaminés piquants et tranchants.</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Désinfectant de surface et </a:t>
            </a:r>
            <a:r>
              <a:rPr lang="fr-FR" sz="2200" dirty="0" err="1">
                <a:latin typeface="Arial Black" panose="020B0A04020102020204" pitchFamily="34" charset="0"/>
                <a:ea typeface="Times New Roman" panose="02020603050405020304" pitchFamily="18" charset="0"/>
                <a:cs typeface="Times New Roman" panose="02020603050405020304" pitchFamily="18" charset="0"/>
              </a:rPr>
              <a:t>chiffonnette</a:t>
            </a:r>
            <a:r>
              <a:rPr lang="fr-FR" sz="2200" dirty="0">
                <a:latin typeface="Arial Black" panose="020B0A04020102020204" pitchFamily="34" charset="0"/>
                <a:ea typeface="Times New Roman" panose="02020603050405020304" pitchFamily="18" charset="0"/>
                <a:cs typeface="Times New Roman" panose="02020603050405020304" pitchFamily="18" charset="0"/>
              </a:rPr>
              <a:t>.</a:t>
            </a:r>
          </a:p>
          <a:p>
            <a:pPr marL="342900" lvl="0" indent="-342900" algn="just">
              <a:lnSpc>
                <a:spcPct val="125000"/>
              </a:lnSpc>
              <a:spcAft>
                <a:spcPts val="60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Nécessaire à l'hygiène des mains</a:t>
            </a:r>
            <a:endParaRPr lang="fr-FR" sz="22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90943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nvPr>
        </p:nvGraphicFramePr>
        <p:xfrm>
          <a:off x="172279" y="0"/>
          <a:ext cx="12019721" cy="6651882"/>
        </p:xfrm>
        <a:graphic>
          <a:graphicData uri="http://schemas.openxmlformats.org/drawingml/2006/table">
            <a:tbl>
              <a:tblPr firstRow="1" firstCol="1" bandRow="1" bandCol="1"/>
              <a:tblGrid>
                <a:gridCol w="1849187">
                  <a:extLst>
                    <a:ext uri="{9D8B030D-6E8A-4147-A177-3AD203B41FA5}">
                      <a16:colId xmlns:a16="http://schemas.microsoft.com/office/drawing/2014/main" val="20000"/>
                    </a:ext>
                  </a:extLst>
                </a:gridCol>
                <a:gridCol w="1731780">
                  <a:extLst>
                    <a:ext uri="{9D8B030D-6E8A-4147-A177-3AD203B41FA5}">
                      <a16:colId xmlns:a16="http://schemas.microsoft.com/office/drawing/2014/main" val="20001"/>
                    </a:ext>
                  </a:extLst>
                </a:gridCol>
                <a:gridCol w="2113358">
                  <a:extLst>
                    <a:ext uri="{9D8B030D-6E8A-4147-A177-3AD203B41FA5}">
                      <a16:colId xmlns:a16="http://schemas.microsoft.com/office/drawing/2014/main" val="20002"/>
                    </a:ext>
                  </a:extLst>
                </a:gridCol>
                <a:gridCol w="6325396">
                  <a:extLst>
                    <a:ext uri="{9D8B030D-6E8A-4147-A177-3AD203B41FA5}">
                      <a16:colId xmlns:a16="http://schemas.microsoft.com/office/drawing/2014/main" val="20003"/>
                    </a:ext>
                  </a:extLst>
                </a:gridCol>
              </a:tblGrid>
              <a:tr h="944691">
                <a:tc gridSpan="4">
                  <a:txBody>
                    <a:bodyPr/>
                    <a:lstStyle/>
                    <a:p>
                      <a:pPr algn="ctr">
                        <a:lnSpc>
                          <a:spcPct val="115000"/>
                        </a:lnSpc>
                        <a:spcAft>
                          <a:spcPts val="0"/>
                        </a:spcAft>
                      </a:pPr>
                      <a:r>
                        <a:rPr lang="fr-FR" sz="3200" b="1"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Les aiguilles</a:t>
                      </a:r>
                      <a:endParaRPr lang="fr-FR" sz="32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944691">
                <a:tc>
                  <a:txBody>
                    <a:bodyPr/>
                    <a:lstStyle/>
                    <a:p>
                      <a:pPr algn="ctr">
                        <a:lnSpc>
                          <a:spcPct val="115000"/>
                        </a:lnSpc>
                        <a:spcAft>
                          <a:spcPts val="0"/>
                        </a:spcAft>
                      </a:pPr>
                      <a:r>
                        <a:rPr lang="fr-FR" sz="2800" i="1"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Couleur</a:t>
                      </a:r>
                      <a:endParaRPr lang="fr-FR" sz="28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i="1" dirty="0">
                          <a:effectLst/>
                          <a:latin typeface="Arial Black" panose="020B0A04020102020204" pitchFamily="34" charset="0"/>
                          <a:ea typeface="Times New Roman" panose="02020603050405020304" pitchFamily="18" charset="0"/>
                          <a:cs typeface="Times New Roman" panose="02020603050405020304" pitchFamily="18" charset="0"/>
                        </a:rPr>
                        <a:t>Gauge</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i="1" dirty="0">
                          <a:effectLst/>
                          <a:latin typeface="Arial Black" panose="020B0A04020102020204" pitchFamily="34" charset="0"/>
                          <a:ea typeface="Times New Roman" panose="02020603050405020304" pitchFamily="18" charset="0"/>
                          <a:cs typeface="Times New Roman" panose="02020603050405020304" pitchFamily="18" charset="0"/>
                        </a:rPr>
                        <a:t>Diamètre</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i="1"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Utilisation</a:t>
                      </a:r>
                      <a:endParaRPr lang="fr-FR" sz="28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44691">
                <a:tc>
                  <a:txBody>
                    <a:bodyPr/>
                    <a:lstStyle/>
                    <a:p>
                      <a:pPr algn="ctr">
                        <a:lnSpc>
                          <a:spcPct val="115000"/>
                        </a:lnSpc>
                        <a:spcAft>
                          <a:spcPts val="0"/>
                        </a:spcAft>
                      </a:pPr>
                      <a:r>
                        <a:rPr lang="fr-FR" sz="2800" dirty="0">
                          <a:solidFill>
                            <a:srgbClr val="FFFF00"/>
                          </a:solidFill>
                          <a:effectLst/>
                          <a:latin typeface="Arial Black" panose="020B0A04020102020204" pitchFamily="34" charset="0"/>
                          <a:ea typeface="Times New Roman" panose="02020603050405020304" pitchFamily="18" charset="0"/>
                          <a:cs typeface="Times New Roman" panose="02020603050405020304" pitchFamily="18" charset="0"/>
                        </a:rPr>
                        <a:t>Jaune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dirty="0">
                          <a:effectLst/>
                          <a:latin typeface="Arial Black" panose="020B0A04020102020204" pitchFamily="34" charset="0"/>
                          <a:ea typeface="Times New Roman" panose="02020603050405020304" pitchFamily="18" charset="0"/>
                          <a:cs typeface="Times New Roman" panose="02020603050405020304" pitchFamily="18" charset="0"/>
                        </a:rPr>
                        <a:t>30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dirty="0">
                          <a:effectLst/>
                          <a:latin typeface="Arial Black" panose="020B0A04020102020204" pitchFamily="34" charset="0"/>
                          <a:ea typeface="Times New Roman" panose="02020603050405020304" pitchFamily="18" charset="0"/>
                          <a:cs typeface="Times New Roman" panose="02020603050405020304" pitchFamily="18" charset="0"/>
                        </a:rPr>
                        <a:t>0,30 mm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dirty="0">
                          <a:solidFill>
                            <a:srgbClr val="FFFF00"/>
                          </a:solidFill>
                          <a:effectLst/>
                          <a:latin typeface="Arial Black" panose="020B0A04020102020204" pitchFamily="34" charset="0"/>
                          <a:ea typeface="Times New Roman" panose="02020603050405020304" pitchFamily="18" charset="0"/>
                          <a:cs typeface="Times New Roman" panose="02020603050405020304" pitchFamily="18" charset="0"/>
                        </a:rPr>
                        <a:t>Injection SC / intradermique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44691">
                <a:tc>
                  <a:txBody>
                    <a:bodyPr/>
                    <a:lstStyle/>
                    <a:p>
                      <a:pPr algn="ctr">
                        <a:lnSpc>
                          <a:spcPct val="115000"/>
                        </a:lnSpc>
                        <a:spcAft>
                          <a:spcPts val="0"/>
                        </a:spcAft>
                      </a:pPr>
                      <a:r>
                        <a:rPr lang="fr-FR" sz="2800" dirty="0">
                          <a:solidFill>
                            <a:srgbClr val="FFC000"/>
                          </a:solidFill>
                          <a:effectLst/>
                          <a:latin typeface="Arial Black" panose="020B0A04020102020204" pitchFamily="34" charset="0"/>
                          <a:ea typeface="Times New Roman" panose="02020603050405020304" pitchFamily="18" charset="0"/>
                          <a:cs typeface="Times New Roman" panose="02020603050405020304" pitchFamily="18" charset="0"/>
                        </a:rPr>
                        <a:t>Gris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a:effectLst/>
                          <a:latin typeface="Arial Black" panose="020B0A04020102020204" pitchFamily="34" charset="0"/>
                          <a:ea typeface="Times New Roman" panose="02020603050405020304" pitchFamily="18" charset="0"/>
                          <a:cs typeface="Times New Roman" panose="02020603050405020304" pitchFamily="18" charset="0"/>
                        </a:rPr>
                        <a:t>27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dirty="0">
                          <a:effectLst/>
                          <a:latin typeface="Arial Black" panose="020B0A04020102020204" pitchFamily="34" charset="0"/>
                          <a:ea typeface="Times New Roman" panose="02020603050405020304" pitchFamily="18" charset="0"/>
                          <a:cs typeface="Times New Roman" panose="02020603050405020304" pitchFamily="18" charset="0"/>
                        </a:rPr>
                        <a:t>0,40 mm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dirty="0">
                          <a:solidFill>
                            <a:srgbClr val="FFC000"/>
                          </a:solidFill>
                          <a:effectLst/>
                          <a:latin typeface="Arial Black" panose="020B0A04020102020204" pitchFamily="34" charset="0"/>
                          <a:ea typeface="Times New Roman" panose="02020603050405020304" pitchFamily="18" charset="0"/>
                          <a:cs typeface="Times New Roman" panose="02020603050405020304" pitchFamily="18" charset="0"/>
                        </a:rPr>
                        <a:t>Injection SC</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44691">
                <a:tc>
                  <a:txBody>
                    <a:bodyPr/>
                    <a:lstStyle/>
                    <a:p>
                      <a:pPr algn="ctr">
                        <a:lnSpc>
                          <a:spcPct val="115000"/>
                        </a:lnSpc>
                        <a:spcAft>
                          <a:spcPts val="0"/>
                        </a:spcAft>
                      </a:pPr>
                      <a:r>
                        <a:rPr lang="fr-FR" sz="2800">
                          <a:effectLst/>
                          <a:latin typeface="Arial Black" panose="020B0A04020102020204" pitchFamily="34" charset="0"/>
                          <a:ea typeface="Times New Roman" panose="02020603050405020304" pitchFamily="18" charset="0"/>
                          <a:cs typeface="Times New Roman" panose="02020603050405020304" pitchFamily="18" charset="0"/>
                        </a:rPr>
                        <a:t>Brun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a:effectLst/>
                          <a:latin typeface="Arial Black" panose="020B0A04020102020204" pitchFamily="34" charset="0"/>
                          <a:ea typeface="Times New Roman" panose="02020603050405020304" pitchFamily="18" charset="0"/>
                          <a:cs typeface="Times New Roman" panose="02020603050405020304" pitchFamily="18" charset="0"/>
                        </a:rPr>
                        <a:t>26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a:effectLst/>
                          <a:latin typeface="Arial Black" panose="020B0A04020102020204" pitchFamily="34" charset="0"/>
                          <a:ea typeface="Times New Roman" panose="02020603050405020304" pitchFamily="18" charset="0"/>
                          <a:cs typeface="Times New Roman" panose="02020603050405020304" pitchFamily="18" charset="0"/>
                        </a:rPr>
                        <a:t>0,45 mm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dirty="0">
                          <a:effectLst/>
                          <a:latin typeface="Arial Black" panose="020B0A04020102020204" pitchFamily="34" charset="0"/>
                          <a:ea typeface="Times New Roman" panose="02020603050405020304" pitchFamily="18" charset="0"/>
                          <a:cs typeface="Times New Roman" panose="02020603050405020304" pitchFamily="18" charset="0"/>
                        </a:rPr>
                        <a:t>Injection SC</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44691">
                <a:tc>
                  <a:txBody>
                    <a:bodyPr/>
                    <a:lstStyle/>
                    <a:p>
                      <a:pPr algn="ctr">
                        <a:lnSpc>
                          <a:spcPct val="115000"/>
                        </a:lnSpc>
                        <a:spcAft>
                          <a:spcPts val="0"/>
                        </a:spcAft>
                      </a:pPr>
                      <a:r>
                        <a:rPr lang="fr-FR" sz="28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Orange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a:effectLst/>
                          <a:latin typeface="Arial Black" panose="020B0A04020102020204" pitchFamily="34" charset="0"/>
                          <a:ea typeface="Times New Roman" panose="02020603050405020304" pitchFamily="18" charset="0"/>
                          <a:cs typeface="Times New Roman" panose="02020603050405020304" pitchFamily="18" charset="0"/>
                        </a:rPr>
                        <a:t>25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a:effectLst/>
                          <a:latin typeface="Arial Black" panose="020B0A04020102020204" pitchFamily="34" charset="0"/>
                          <a:ea typeface="Times New Roman" panose="02020603050405020304" pitchFamily="18" charset="0"/>
                          <a:cs typeface="Times New Roman" panose="02020603050405020304" pitchFamily="18" charset="0"/>
                        </a:rPr>
                        <a:t>0,50 mm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Injection SC</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944691">
                <a:tc>
                  <a:txBody>
                    <a:bodyPr/>
                    <a:lstStyle/>
                    <a:p>
                      <a:pPr algn="ctr">
                        <a:lnSpc>
                          <a:spcPct val="115000"/>
                        </a:lnSpc>
                        <a:spcAft>
                          <a:spcPts val="0"/>
                        </a:spcAft>
                      </a:pPr>
                      <a:r>
                        <a:rPr lang="fr-FR" sz="2800" dirty="0">
                          <a:solidFill>
                            <a:schemeClr val="tx2"/>
                          </a:solidFill>
                          <a:effectLst/>
                          <a:latin typeface="Arial Black" panose="020B0A04020102020204" pitchFamily="34" charset="0"/>
                          <a:ea typeface="Times New Roman" panose="02020603050405020304" pitchFamily="18" charset="0"/>
                          <a:cs typeface="Times New Roman" panose="02020603050405020304" pitchFamily="18" charset="0"/>
                        </a:rPr>
                        <a:t>Bleu</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a:effectLst/>
                          <a:latin typeface="Arial Black" panose="020B0A04020102020204" pitchFamily="34" charset="0"/>
                          <a:ea typeface="Times New Roman" panose="02020603050405020304" pitchFamily="18" charset="0"/>
                          <a:cs typeface="Times New Roman" panose="02020603050405020304" pitchFamily="18" charset="0"/>
                        </a:rPr>
                        <a:t>23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a:effectLst/>
                          <a:latin typeface="Arial Black" panose="020B0A04020102020204" pitchFamily="34" charset="0"/>
                          <a:ea typeface="Times New Roman" panose="02020603050405020304" pitchFamily="18" charset="0"/>
                          <a:cs typeface="Times New Roman" panose="02020603050405020304" pitchFamily="18" charset="0"/>
                        </a:rPr>
                        <a:t>0,60 mm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fr-FR" sz="2800" dirty="0">
                          <a:solidFill>
                            <a:schemeClr val="accent5"/>
                          </a:solidFill>
                          <a:effectLst/>
                          <a:latin typeface="Arial Black" panose="020B0A04020102020204" pitchFamily="34" charset="0"/>
                          <a:ea typeface="Times New Roman" panose="02020603050405020304" pitchFamily="18" charset="0"/>
                          <a:cs typeface="Times New Roman" panose="02020603050405020304" pitchFamily="18" charset="0"/>
                        </a:rPr>
                        <a:t>Injection SC / IV / IM - Prélèvement IV</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 name="Rectangle 1"/>
          <p:cNvSpPr>
            <a:spLocks noChangeArrowheads="1"/>
          </p:cNvSpPr>
          <p:nvPr/>
        </p:nvSpPr>
        <p:spPr bwMode="auto">
          <a:xfrm>
            <a:off x="3254375" y="31194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297451450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3" y="44997"/>
            <a:ext cx="12101848" cy="7095789"/>
          </a:xfrm>
          <a:prstGeom prst="rect">
            <a:avLst/>
          </a:prstGeom>
        </p:spPr>
        <p:txBody>
          <a:bodyPr wrap="square">
            <a:spAutoFit/>
          </a:bodyPr>
          <a:lstStyle/>
          <a:p>
            <a:pPr lvl="0" algn="ctr">
              <a:lnSpc>
                <a:spcPct val="125000"/>
              </a:lnSpc>
              <a:spcAft>
                <a:spcPts val="0"/>
              </a:spcAft>
              <a:tabLst>
                <a:tab pos="419100" algn="l"/>
              </a:tabLst>
            </a:pPr>
            <a:r>
              <a:rPr lang="fr-FR" sz="20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a:t>
            </a:r>
            <a:r>
              <a:rPr lang="fr-FR" sz="20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REALISATION DU </a:t>
            </a:r>
            <a:r>
              <a:rPr lang="fr-FR" sz="20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SOIN (1/3)</a:t>
            </a:r>
            <a:endParaRPr lang="fr-FR" sz="20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Vérifier la prescription médicale.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Préparer le produit à injecter.</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Prévenir le patient du soin.</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un traitement hygiénique.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Installer le matériel après vérification des dates de péremptions et de l’intégrité des emballages.</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Installation sur une surface propre et désinfectée au préalable.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Installer le réniforme et le container à déchets contaminés piquants loin du matériel propre.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Installer confortablement le patient en ne découvrant que la zone de ponction.</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un traitement hygiénique.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Mettre les gants non stériles.</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Désinfecter la zone de ponction en </a:t>
            </a:r>
            <a:r>
              <a:rPr lang="fr-FR" sz="2200" dirty="0">
                <a:solidFill>
                  <a:schemeClr val="accent5"/>
                </a:solidFill>
                <a:latin typeface="Arial Black" panose="020B0A04020102020204" pitchFamily="34" charset="0"/>
                <a:ea typeface="Times New Roman" panose="02020603050405020304" pitchFamily="18" charset="0"/>
                <a:cs typeface="Times New Roman" panose="02020603050405020304" pitchFamily="18" charset="0"/>
              </a:rPr>
              <a:t>"escargot" : </a:t>
            </a:r>
            <a:r>
              <a:rPr lang="fr-FR" sz="2200" dirty="0">
                <a:latin typeface="Arial Black" panose="020B0A04020102020204" pitchFamily="34" charset="0"/>
                <a:ea typeface="Times New Roman" panose="02020603050405020304" pitchFamily="18" charset="0"/>
                <a:cs typeface="Times New Roman" panose="02020603050405020304" pitchFamily="18" charset="0"/>
              </a:rPr>
              <a:t>mouvement circulaire en partant du centre vers l'extérieur afin de tuer et d'éloigner les germes du point de </a:t>
            </a:r>
            <a:r>
              <a:rPr lang="fr-FR" sz="2200" dirty="0" smtClean="0">
                <a:latin typeface="Arial Black" panose="020B0A04020102020204" pitchFamily="34" charset="0"/>
                <a:ea typeface="Times New Roman" panose="02020603050405020304" pitchFamily="18" charset="0"/>
                <a:cs typeface="Times New Roman" panose="02020603050405020304" pitchFamily="18" charset="0"/>
              </a:rPr>
              <a:t>ponction</a:t>
            </a:r>
          </a:p>
          <a:p>
            <a:pPr lvl="0" algn="just">
              <a:lnSpc>
                <a:spcPct val="115000"/>
              </a:lnSpc>
              <a:spcAft>
                <a:spcPts val="0"/>
              </a:spcAft>
            </a:pPr>
            <a:endParaRPr lang="fr-FR" sz="2200" dirty="0">
              <a:latin typeface="Arial Black" panose="020B0A04020102020204" pitchFamily="34" charset="0"/>
            </a:endParaRPr>
          </a:p>
        </p:txBody>
      </p:sp>
    </p:spTree>
    <p:extLst>
      <p:ext uri="{BB962C8B-B14F-4D97-AF65-F5344CB8AC3E}">
        <p14:creationId xmlns:p14="http://schemas.microsoft.com/office/powerpoint/2010/main" val="28160240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031" y="0"/>
            <a:ext cx="11990231" cy="5684633"/>
          </a:xfrm>
          <a:prstGeom prst="rect">
            <a:avLst/>
          </a:prstGeom>
        </p:spPr>
        <p:txBody>
          <a:bodyPr wrap="square">
            <a:spAutoFit/>
          </a:bodyPr>
          <a:lstStyle/>
          <a:p>
            <a:pPr algn="ctr">
              <a:lnSpc>
                <a:spcPct val="115000"/>
              </a:lnSpc>
            </a:pPr>
            <a:r>
              <a:rPr lang="fr-FR" sz="23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a:t>
            </a:r>
            <a:r>
              <a:rPr lang="fr-FR" sz="23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REALISATION DU SOIN (2/3)</a:t>
            </a:r>
            <a:endParaRPr lang="fr-FR" sz="2300"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300" dirty="0" smtClean="0">
                <a:latin typeface="Arial Black" panose="020B0A04020102020204" pitchFamily="34" charset="0"/>
                <a:ea typeface="Times New Roman" panose="02020603050405020304" pitchFamily="18" charset="0"/>
                <a:cs typeface="Times New Roman" panose="02020603050405020304" pitchFamily="18" charset="0"/>
              </a:rPr>
              <a:t>Faire un pli cutané entre le pouce et l'index.</a:t>
            </a:r>
          </a:p>
          <a:p>
            <a:pPr marL="342900" lvl="0" indent="-342900" algn="just">
              <a:lnSpc>
                <a:spcPct val="115000"/>
              </a:lnSpc>
              <a:spcAft>
                <a:spcPts val="0"/>
              </a:spcAft>
              <a:buFont typeface="Arial" panose="020B0604020202020204" pitchFamily="34" charset="0"/>
              <a:buChar char="-"/>
            </a:pPr>
            <a:r>
              <a:rPr lang="fr-FR" sz="2300" dirty="0" smtClean="0">
                <a:latin typeface="Arial Black" panose="020B0A04020102020204" pitchFamily="34" charset="0"/>
                <a:ea typeface="Times New Roman" panose="02020603050405020304" pitchFamily="18" charset="0"/>
                <a:cs typeface="Times New Roman" panose="02020603050405020304" pitchFamily="18" charset="0"/>
              </a:rPr>
              <a:t>Introduire l'aiguille avec un angle de 45° ou 90° selon l'épaisseur du tissu cutané, d'un geste rapide, précis et ferme.</a:t>
            </a:r>
          </a:p>
          <a:p>
            <a:pPr marL="342900" lvl="0" indent="-342900" algn="just">
              <a:lnSpc>
                <a:spcPct val="115000"/>
              </a:lnSpc>
              <a:spcAft>
                <a:spcPts val="0"/>
              </a:spcAft>
              <a:buFont typeface="Arial" panose="020B0604020202020204" pitchFamily="34" charset="0"/>
              <a:buChar char="-"/>
            </a:pPr>
            <a:r>
              <a:rPr lang="fr-FR" sz="2300" dirty="0" smtClean="0">
                <a:latin typeface="Arial Black" panose="020B0A04020102020204" pitchFamily="34" charset="0"/>
                <a:ea typeface="Times New Roman" panose="02020603050405020304" pitchFamily="18" charset="0"/>
                <a:cs typeface="Times New Roman" panose="02020603050405020304" pitchFamily="18" charset="0"/>
              </a:rPr>
              <a:t>Ne </a:t>
            </a:r>
            <a:r>
              <a:rPr lang="fr-FR" sz="2300" dirty="0">
                <a:latin typeface="Arial Black" panose="020B0A04020102020204" pitchFamily="34" charset="0"/>
                <a:ea typeface="Times New Roman" panose="02020603050405020304" pitchFamily="18" charset="0"/>
                <a:cs typeface="Times New Roman" panose="02020603050405020304" pitchFamily="18" charset="0"/>
              </a:rPr>
              <a:t>pas relâcher la peau car le relâchement des tissus risquerait d'introduire l'aiguille dans un muscle.</a:t>
            </a:r>
          </a:p>
          <a:p>
            <a:pPr marL="342900" lvl="0" indent="-342900" algn="just">
              <a:lnSpc>
                <a:spcPct val="115000"/>
              </a:lnSpc>
              <a:spcAft>
                <a:spcPts val="0"/>
              </a:spcAft>
              <a:buFont typeface="Arial" panose="020B0604020202020204" pitchFamily="34" charset="0"/>
              <a:buChar char="-"/>
            </a:pPr>
            <a:r>
              <a:rPr lang="fr-FR" sz="2300" dirty="0">
                <a:latin typeface="Arial Black" panose="020B0A04020102020204" pitchFamily="34" charset="0"/>
                <a:ea typeface="Times New Roman" panose="02020603050405020304" pitchFamily="18" charset="0"/>
                <a:cs typeface="Times New Roman" panose="02020603050405020304" pitchFamily="18" charset="0"/>
              </a:rPr>
              <a:t>Tirer le piston pour vérifier l'absence d'un reflux sanguin. S'il y a un reflux sanguin, sortir l'aiguille et préparer une nouvelle seringue.</a:t>
            </a:r>
          </a:p>
          <a:p>
            <a:pPr marL="457200">
              <a:lnSpc>
                <a:spcPct val="115000"/>
              </a:lnSpc>
              <a:spcAft>
                <a:spcPts val="0"/>
              </a:spcAft>
            </a:pPr>
            <a:r>
              <a:rPr lang="fr-FR" sz="2300" i="1" dirty="0">
                <a:latin typeface="Arial Black" panose="020B0A04020102020204" pitchFamily="34" charset="0"/>
                <a:ea typeface="Times New Roman" panose="02020603050405020304" pitchFamily="18" charset="0"/>
                <a:cs typeface="Times New Roman" panose="02020603050405020304" pitchFamily="18" charset="0"/>
              </a:rPr>
              <a:t>Lors d'injection d'insuline ou d'héparine, il n'est pas nécessaire de rechercher un reflux sanguin puisqu'un passage faible de ces produits dans la circulation sanguine est sans conséquence.</a:t>
            </a:r>
            <a:endParaRPr lang="fr-FR" sz="23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300" dirty="0">
                <a:latin typeface="Arial Black" panose="020B0A04020102020204" pitchFamily="34" charset="0"/>
                <a:ea typeface="Times New Roman" panose="02020603050405020304" pitchFamily="18" charset="0"/>
                <a:cs typeface="Times New Roman" panose="02020603050405020304" pitchFamily="18" charset="0"/>
              </a:rPr>
              <a:t>Injecter lentement le produit.                </a:t>
            </a:r>
          </a:p>
          <a:p>
            <a:r>
              <a:rPr lang="fr-FR" sz="2300" dirty="0">
                <a:latin typeface="Arial Black" panose="020B0A04020102020204" pitchFamily="34" charset="0"/>
                <a:ea typeface="Times New Roman" panose="02020603050405020304" pitchFamily="18" charset="0"/>
              </a:rPr>
              <a:t>Retirer l'aiguille d'un geste rapide et recouvrir le point de ponction d'une compresse imbibée d'antiseptique</a:t>
            </a:r>
            <a:endParaRPr lang="fr-FR" sz="2300" dirty="0">
              <a:latin typeface="Arial Black" panose="020B0A04020102020204" pitchFamily="34" charset="0"/>
            </a:endParaRPr>
          </a:p>
        </p:txBody>
      </p:sp>
    </p:spTree>
    <p:extLst>
      <p:ext uri="{BB962C8B-B14F-4D97-AF65-F5344CB8AC3E}">
        <p14:creationId xmlns:p14="http://schemas.microsoft.com/office/powerpoint/2010/main" val="355880885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6012" y="805597"/>
            <a:ext cx="12015988" cy="5226046"/>
          </a:xfrm>
          <a:prstGeom prst="rect">
            <a:avLst/>
          </a:prstGeom>
        </p:spPr>
        <p:txBody>
          <a:bodyPr wrap="square">
            <a:spAutoFit/>
          </a:bodyPr>
          <a:lstStyle/>
          <a:p>
            <a:pPr algn="just">
              <a:lnSpc>
                <a:spcPct val="115000"/>
              </a:lnSpc>
            </a:pPr>
            <a:r>
              <a:rPr lang="fr-FR" sz="24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a:t>
            </a:r>
            <a:r>
              <a:rPr lang="fr-FR" sz="24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REALISATION DU SOIN </a:t>
            </a:r>
            <a:r>
              <a:rPr lang="fr-FR" sz="24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(3/3)</a:t>
            </a:r>
            <a:endParaRPr lang="fr-FR" sz="2400"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Jeter </a:t>
            </a:r>
            <a:r>
              <a:rPr lang="fr-FR" sz="2400" dirty="0">
                <a:latin typeface="Arial Black" panose="020B0A04020102020204" pitchFamily="34" charset="0"/>
                <a:ea typeface="Times New Roman" panose="02020603050405020304" pitchFamily="18" charset="0"/>
                <a:cs typeface="Times New Roman" panose="02020603050405020304" pitchFamily="18" charset="0"/>
              </a:rPr>
              <a:t>immédiatement la seringue et l'aiguille dans le container à déchets contaminés piquants.</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Ne pas masser le point de ponction pour ne pas faire sortir le produit injecté par pression.</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Jeter les gants.</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Eliminer les déchets et désinfecter le matériel utilisé.</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effectuer un traitement hygiénique des mains par frictions avec une solution hydro-alcoolique.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Réinstaller le patient.</a:t>
            </a: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Noter le soin</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89490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8186" y="0"/>
            <a:ext cx="11423561" cy="6081665"/>
          </a:xfrm>
          <a:prstGeom prst="rect">
            <a:avLst/>
          </a:prstGeom>
        </p:spPr>
        <p:txBody>
          <a:bodyPr wrap="square">
            <a:spAutoFit/>
          </a:bodyPr>
          <a:lstStyle/>
          <a:p>
            <a:pPr>
              <a:lnSpc>
                <a:spcPct val="125000"/>
              </a:lnSpc>
              <a:spcAft>
                <a:spcPts val="0"/>
              </a:spcAft>
            </a:pPr>
            <a:r>
              <a:rPr lang="fr-FR" b="1" dirty="0">
                <a:latin typeface="Times New Roman" panose="02020603050405020304" pitchFamily="18" charset="0"/>
                <a:ea typeface="Times New Roman" panose="02020603050405020304" pitchFamily="18" charset="0"/>
                <a:cs typeface="Times New Roman" panose="02020603050405020304" pitchFamily="18" charset="0"/>
              </a:rPr>
              <a:t> </a:t>
            </a:r>
            <a:r>
              <a:rPr lang="fr-FR" sz="2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V-  </a:t>
            </a: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COMPLICATIONS</a:t>
            </a:r>
            <a:endPar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Ecchymose.</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Douleur.</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Choc anaphylactique : réaction allergique.</a:t>
            </a:r>
          </a:p>
          <a:p>
            <a:pPr marL="342900" lvl="0" indent="-342900" algn="just">
              <a:lnSpc>
                <a:spcPct val="115000"/>
              </a:lnSpc>
              <a:spcAft>
                <a:spcPts val="0"/>
              </a:spcAft>
              <a:buFont typeface="Arial" panose="020B0604020202020204" pitchFamily="34" charset="0"/>
              <a:buChar char="-"/>
            </a:pPr>
            <a:r>
              <a:rPr lang="fr-FR" sz="2800" dirty="0" err="1">
                <a:latin typeface="Arial Black" panose="020B0A04020102020204" pitchFamily="34" charset="0"/>
                <a:ea typeface="Times New Roman" panose="02020603050405020304" pitchFamily="18" charset="0"/>
                <a:cs typeface="Times New Roman" panose="02020603050405020304" pitchFamily="18" charset="0"/>
              </a:rPr>
              <a:t>Lipodystrophies</a:t>
            </a:r>
            <a:r>
              <a:rPr lang="fr-FR" sz="2800" dirty="0">
                <a:latin typeface="Arial Black" panose="020B0A04020102020204" pitchFamily="34" charset="0"/>
                <a:ea typeface="Times New Roman" panose="02020603050405020304" pitchFamily="18" charset="0"/>
                <a:cs typeface="Times New Roman" panose="02020603050405020304" pitchFamily="18" charset="0"/>
              </a:rPr>
              <a:t> dues à des injections répétées au même endroit.</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Altération de l'état cutané.</a:t>
            </a:r>
          </a:p>
          <a:p>
            <a:pPr>
              <a:lnSpc>
                <a:spcPct val="125000"/>
              </a:lnSpc>
              <a:spcAft>
                <a:spcPts val="0"/>
              </a:spcAft>
            </a:pPr>
            <a:r>
              <a:rPr lang="fr-FR" sz="2800" dirty="0">
                <a:latin typeface="Arial Black" panose="020B0A04020102020204" pitchFamily="34" charset="0"/>
                <a:ea typeface="Times New Roman" panose="02020603050405020304" pitchFamily="18" charset="0"/>
                <a:cs typeface="Times New Roman" panose="02020603050405020304" pitchFamily="18" charset="0"/>
              </a:rPr>
              <a:t> </a:t>
            </a: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VI- SURVEILLANCE </a:t>
            </a: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ET EVALUATION</a:t>
            </a:r>
            <a:endPar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Surveillance du point de ponction.</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Surveillance de l'état cutané.</a:t>
            </a:r>
          </a:p>
          <a:p>
            <a:r>
              <a:rPr lang="fr-FR" sz="2800" dirty="0">
                <a:latin typeface="Arial Black" panose="020B0A04020102020204" pitchFamily="34" charset="0"/>
                <a:ea typeface="Times New Roman" panose="02020603050405020304" pitchFamily="18" charset="0"/>
              </a:rPr>
              <a:t>Surveillance des réactions possibles du patient après l'injection</a:t>
            </a:r>
            <a:endParaRPr lang="fr-FR" sz="2800" dirty="0">
              <a:latin typeface="Arial Black" panose="020B0A04020102020204" pitchFamily="34" charset="0"/>
            </a:endParaRPr>
          </a:p>
        </p:txBody>
      </p:sp>
    </p:spTree>
    <p:extLst>
      <p:ext uri="{BB962C8B-B14F-4D97-AF65-F5344CB8AC3E}">
        <p14:creationId xmlns:p14="http://schemas.microsoft.com/office/powerpoint/2010/main" val="324397792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 y="128788"/>
            <a:ext cx="6053071" cy="6729211"/>
          </a:xfrm>
          <a:prstGeom prst="rect">
            <a:avLst/>
          </a:prstGeom>
        </p:spPr>
      </p:pic>
      <p:pic>
        <p:nvPicPr>
          <p:cNvPr id="3" name="Image 2"/>
          <p:cNvPicPr>
            <a:picLocks noChangeAspect="1"/>
          </p:cNvPicPr>
          <p:nvPr/>
        </p:nvPicPr>
        <p:blipFill>
          <a:blip r:embed="rId3"/>
          <a:stretch>
            <a:fillRect/>
          </a:stretch>
        </p:blipFill>
        <p:spPr>
          <a:xfrm>
            <a:off x="6890197" y="128788"/>
            <a:ext cx="5301804" cy="6729211"/>
          </a:xfrm>
          <a:prstGeom prst="rect">
            <a:avLst/>
          </a:prstGeom>
        </p:spPr>
      </p:pic>
    </p:spTree>
    <p:extLst>
      <p:ext uri="{BB962C8B-B14F-4D97-AF65-F5344CB8AC3E}">
        <p14:creationId xmlns:p14="http://schemas.microsoft.com/office/powerpoint/2010/main" val="204037642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0"/>
            <a:ext cx="8911687" cy="1056068"/>
          </a:xfrm>
        </p:spPr>
        <p:txBody>
          <a:bodyPr/>
          <a:lstStyle/>
          <a:p>
            <a:r>
              <a:rPr lang="fr-FR" dirty="0">
                <a:solidFill>
                  <a:srgbClr val="FF0000"/>
                </a:solidFill>
              </a:rPr>
              <a:t>INJECTION INTRA MUSCULAIRE</a:t>
            </a:r>
            <a:r>
              <a:rPr lang="fr-FR" dirty="0"/>
              <a:t/>
            </a:r>
            <a:br>
              <a:rPr lang="fr-FR" dirty="0"/>
            </a:br>
            <a:endParaRPr lang="fr-FR" dirty="0"/>
          </a:p>
        </p:txBody>
      </p:sp>
      <p:sp>
        <p:nvSpPr>
          <p:cNvPr id="3" name="Espace réservé du contenu 2"/>
          <p:cNvSpPr>
            <a:spLocks noGrp="1"/>
          </p:cNvSpPr>
          <p:nvPr>
            <p:ph idx="1"/>
          </p:nvPr>
        </p:nvSpPr>
        <p:spPr>
          <a:xfrm>
            <a:off x="-1" y="1309353"/>
            <a:ext cx="12080383" cy="4962658"/>
          </a:xfrm>
        </p:spPr>
        <p:txBody>
          <a:bodyPr>
            <a:normAutofit fontScale="25000" lnSpcReduction="20000"/>
          </a:bodyPr>
          <a:lstStyle/>
          <a:p>
            <a:pPr marL="0" lvl="0" indent="0">
              <a:buNone/>
            </a:pPr>
            <a:r>
              <a:rPr lang="fr-FR" sz="11100" b="1" u="sng" dirty="0" smtClean="0">
                <a:solidFill>
                  <a:srgbClr val="FF0000"/>
                </a:solidFill>
                <a:latin typeface="Arial Black" panose="020B0A04020102020204" pitchFamily="34" charset="0"/>
              </a:rPr>
              <a:t>I- DEFINITION</a:t>
            </a:r>
            <a:r>
              <a:rPr lang="fr-FR" sz="11100" b="1" dirty="0" smtClean="0">
                <a:solidFill>
                  <a:srgbClr val="FF0000"/>
                </a:solidFill>
                <a:latin typeface="Arial Black" panose="020B0A04020102020204" pitchFamily="34" charset="0"/>
              </a:rPr>
              <a:t> </a:t>
            </a:r>
            <a:endParaRPr lang="fr-FR" sz="11100" dirty="0">
              <a:solidFill>
                <a:srgbClr val="FF0000"/>
              </a:solidFill>
              <a:latin typeface="Arial Black" panose="020B0A04020102020204" pitchFamily="34" charset="0"/>
            </a:endParaRPr>
          </a:p>
          <a:p>
            <a:pPr marL="0" indent="0">
              <a:buNone/>
            </a:pPr>
            <a:r>
              <a:rPr lang="fr-FR" sz="11100" dirty="0">
                <a:latin typeface="Arial Black" panose="020B0A04020102020204" pitchFamily="34" charset="0"/>
              </a:rPr>
              <a:t>L'injection intramusculaire (IM) est l'administration dans un muscle d'un produit médicamenteux présenté sous forme injectable.</a:t>
            </a:r>
          </a:p>
          <a:p>
            <a:pPr>
              <a:buFont typeface="Wingdings" panose="05000000000000000000" pitchFamily="2" charset="2"/>
              <a:buChar char="q"/>
            </a:pPr>
            <a:r>
              <a:rPr lang="fr-FR" sz="11100" b="1" dirty="0" smtClean="0">
                <a:solidFill>
                  <a:srgbClr val="FF0000"/>
                </a:solidFill>
                <a:latin typeface="Arial Black" panose="020B0A04020102020204" pitchFamily="34" charset="0"/>
              </a:rPr>
              <a:t>Zones </a:t>
            </a:r>
            <a:r>
              <a:rPr lang="fr-FR" sz="11100" b="1" dirty="0">
                <a:solidFill>
                  <a:srgbClr val="FF0000"/>
                </a:solidFill>
                <a:latin typeface="Arial Black" panose="020B0A04020102020204" pitchFamily="34" charset="0"/>
              </a:rPr>
              <a:t>de ponction :</a:t>
            </a:r>
            <a:endParaRPr lang="fr-FR" sz="11100" dirty="0">
              <a:solidFill>
                <a:srgbClr val="FF0000"/>
              </a:solidFill>
              <a:latin typeface="Arial Black" panose="020B0A04020102020204" pitchFamily="34" charset="0"/>
            </a:endParaRPr>
          </a:p>
          <a:p>
            <a:pPr lvl="0">
              <a:buFont typeface="Wingdings" panose="05000000000000000000" pitchFamily="2" charset="2"/>
              <a:buChar char="Ø"/>
            </a:pPr>
            <a:r>
              <a:rPr lang="fr-FR" sz="11100" dirty="0">
                <a:solidFill>
                  <a:schemeClr val="accent6"/>
                </a:solidFill>
                <a:latin typeface="Arial Black" panose="020B0A04020102020204" pitchFamily="34" charset="0"/>
              </a:rPr>
              <a:t>Muscle grand et moyen fessier </a:t>
            </a:r>
            <a:r>
              <a:rPr lang="fr-FR" sz="11100" dirty="0">
                <a:latin typeface="Arial Black" panose="020B0A04020102020204" pitchFamily="34" charset="0"/>
              </a:rPr>
              <a:t>: quart </a:t>
            </a:r>
            <a:r>
              <a:rPr lang="fr-FR" sz="11100" dirty="0" err="1">
                <a:latin typeface="Arial Black" panose="020B0A04020102020204" pitchFamily="34" charset="0"/>
              </a:rPr>
              <a:t>supéro</a:t>
            </a:r>
            <a:r>
              <a:rPr lang="fr-FR" sz="11100" dirty="0">
                <a:latin typeface="Arial Black" panose="020B0A04020102020204" pitchFamily="34" charset="0"/>
              </a:rPr>
              <a:t>-externe de la </a:t>
            </a:r>
            <a:r>
              <a:rPr lang="fr-FR" sz="11100" dirty="0" smtClean="0">
                <a:latin typeface="Arial Black" panose="020B0A04020102020204" pitchFamily="34" charset="0"/>
              </a:rPr>
              <a:t>fesse</a:t>
            </a:r>
          </a:p>
          <a:p>
            <a:pPr lvl="0">
              <a:buFont typeface="Wingdings" panose="05000000000000000000" pitchFamily="2" charset="2"/>
              <a:buChar char="Ø"/>
            </a:pPr>
            <a:r>
              <a:rPr lang="fr-FR" sz="11100" dirty="0" smtClean="0">
                <a:solidFill>
                  <a:schemeClr val="accent6"/>
                </a:solidFill>
                <a:latin typeface="Arial Black" panose="020B0A04020102020204" pitchFamily="34" charset="0"/>
              </a:rPr>
              <a:t>Muscle </a:t>
            </a:r>
            <a:r>
              <a:rPr lang="fr-FR" sz="11100" dirty="0">
                <a:solidFill>
                  <a:schemeClr val="accent6"/>
                </a:solidFill>
                <a:latin typeface="Arial Black" panose="020B0A04020102020204" pitchFamily="34" charset="0"/>
              </a:rPr>
              <a:t>vaste externe de la cuisse </a:t>
            </a:r>
            <a:r>
              <a:rPr lang="fr-FR" sz="11100" dirty="0">
                <a:latin typeface="Arial Black" panose="020B0A04020102020204" pitchFamily="34" charset="0"/>
              </a:rPr>
              <a:t>: s'étend d'une largeur de main au-dessus du genou à une largeur de main au-dessous du grand trochanter du </a:t>
            </a:r>
            <a:r>
              <a:rPr lang="fr-FR" sz="11100" dirty="0" smtClean="0">
                <a:latin typeface="Arial Black" panose="020B0A04020102020204" pitchFamily="34" charset="0"/>
              </a:rPr>
              <a:t>fémur</a:t>
            </a:r>
          </a:p>
          <a:p>
            <a:pPr lvl="0">
              <a:buFont typeface="Wingdings" panose="05000000000000000000" pitchFamily="2" charset="2"/>
              <a:buChar char="Ø"/>
            </a:pPr>
            <a:r>
              <a:rPr lang="fr-FR" sz="11100" dirty="0" smtClean="0">
                <a:solidFill>
                  <a:schemeClr val="accent6"/>
                </a:solidFill>
                <a:latin typeface="Arial Black" panose="020B0A04020102020204" pitchFamily="34" charset="0"/>
              </a:rPr>
              <a:t>Muscle </a:t>
            </a:r>
            <a:r>
              <a:rPr lang="fr-FR" sz="11100" dirty="0">
                <a:solidFill>
                  <a:schemeClr val="accent6"/>
                </a:solidFill>
                <a:latin typeface="Arial Black" panose="020B0A04020102020204" pitchFamily="34" charset="0"/>
              </a:rPr>
              <a:t>deltoïde </a:t>
            </a:r>
            <a:r>
              <a:rPr lang="fr-FR" sz="11100" dirty="0">
                <a:latin typeface="Arial Black" panose="020B0A04020102020204" pitchFamily="34" charset="0"/>
              </a:rPr>
              <a:t>: juste en dessous de l'épaule si la quantité du produit à injecter ne dépasse pas les 2 ml</a:t>
            </a:r>
            <a:r>
              <a:rPr lang="fr-FR" dirty="0"/>
              <a:t>.</a:t>
            </a:r>
          </a:p>
          <a:p>
            <a:endParaRPr lang="fr-FR" dirty="0"/>
          </a:p>
        </p:txBody>
      </p:sp>
    </p:spTree>
    <p:extLst>
      <p:ext uri="{BB962C8B-B14F-4D97-AF65-F5344CB8AC3E}">
        <p14:creationId xmlns:p14="http://schemas.microsoft.com/office/powerpoint/2010/main" val="41932942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425" y="0"/>
            <a:ext cx="11925837" cy="3370153"/>
          </a:xfrm>
          <a:prstGeom prst="rect">
            <a:avLst/>
          </a:prstGeom>
        </p:spPr>
        <p:txBody>
          <a:bodyPr wrap="square">
            <a:spAutoFit/>
          </a:bodyPr>
          <a:lstStyle/>
          <a:p>
            <a:pPr lvl="0" algn="ctr">
              <a:lnSpc>
                <a:spcPct val="125000"/>
              </a:lnSpc>
              <a:spcAft>
                <a:spcPts val="0"/>
              </a:spcAft>
              <a:tabLst>
                <a:tab pos="488950" algn="l"/>
              </a:tabLst>
            </a:pPr>
            <a:r>
              <a:rPr lang="fr-FR" sz="36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 INDICATIONS</a:t>
            </a:r>
            <a:endParaRPr lang="fr-FR" sz="360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1028700" lvl="1" indent="-571500">
              <a:buFont typeface="Wingdings" panose="05000000000000000000" pitchFamily="2" charset="2"/>
              <a:buChar char="Ø"/>
              <a:tabLst>
                <a:tab pos="488950" algn="l"/>
              </a:tabLs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Nécessité </a:t>
            </a:r>
            <a:r>
              <a:rPr lang="fr-FR" sz="2800" dirty="0">
                <a:latin typeface="Arial Black" panose="020B0A04020102020204" pitchFamily="34" charset="0"/>
                <a:ea typeface="Times New Roman" panose="02020603050405020304" pitchFamily="18" charset="0"/>
                <a:cs typeface="Times New Roman" panose="02020603050405020304" pitchFamily="18" charset="0"/>
              </a:rPr>
              <a:t>d'une absorption et donc une action rapide : la résorption est rapide à cause de la vascularisation importante des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muscles</a:t>
            </a:r>
          </a:p>
          <a:p>
            <a:pPr marL="1028700" lvl="1" indent="-571500">
              <a:buFont typeface="Wingdings" panose="05000000000000000000" pitchFamily="2" charset="2"/>
              <a:buChar char="Ø"/>
              <a:tabLst>
                <a:tab pos="488950" algn="l"/>
              </a:tabLs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Voie </a:t>
            </a:r>
            <a:r>
              <a:rPr lang="fr-FR" sz="2800" dirty="0">
                <a:latin typeface="Arial Black" panose="020B0A04020102020204" pitchFamily="34" charset="0"/>
                <a:ea typeface="Times New Roman" panose="02020603050405020304" pitchFamily="18" charset="0"/>
                <a:cs typeface="Times New Roman" panose="02020603050405020304" pitchFamily="18" charset="0"/>
              </a:rPr>
              <a:t>exclusive d’usage pour certains produits (ex : la pénicilline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retard)</a:t>
            </a:r>
          </a:p>
          <a:p>
            <a:pPr marL="1028700" lvl="1" indent="-571500">
              <a:buFont typeface="Wingdings" panose="05000000000000000000" pitchFamily="2" charset="2"/>
              <a:buChar char="Ø"/>
              <a:tabLst>
                <a:tab pos="488950" algn="l"/>
              </a:tabLs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Voie </a:t>
            </a:r>
            <a:r>
              <a:rPr lang="fr-FR" sz="2800" dirty="0">
                <a:latin typeface="Arial Black" panose="020B0A04020102020204" pitchFamily="34" charset="0"/>
                <a:ea typeface="Times New Roman" panose="02020603050405020304" pitchFamily="18" charset="0"/>
                <a:cs typeface="Times New Roman" panose="02020603050405020304" pitchFamily="18" charset="0"/>
              </a:rPr>
              <a:t>d’urgence dans un centre non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équipé</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036229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0608" y="0"/>
            <a:ext cx="11719775" cy="5786199"/>
          </a:xfrm>
          <a:prstGeom prst="rect">
            <a:avLst/>
          </a:prstGeom>
        </p:spPr>
        <p:txBody>
          <a:bodyPr wrap="square">
            <a:spAutoFit/>
          </a:bodyPr>
          <a:lstStyle/>
          <a:p>
            <a:pPr lvl="0" algn="ctr">
              <a:lnSpc>
                <a:spcPct val="125000"/>
              </a:lnSpc>
              <a:spcAft>
                <a:spcPts val="0"/>
              </a:spcAft>
              <a:tabLst>
                <a:tab pos="488950" algn="l"/>
              </a:tabLst>
            </a:pPr>
            <a:r>
              <a:rPr lang="fr-FR" sz="20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III- MATERIEL</a:t>
            </a:r>
            <a:endParaRPr lang="fr-FR" sz="20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Plateau stérile</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Chariot</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Produit à injecter.</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Seringue stérile 1 ml à 20 ml en fonction de la quantité du produit à injecter.</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Aiguille intramusculaire (noir : 22 Gauge ; verte : 21 Gauge).</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Compresses non stériles ou boules de coton.</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Antiseptique ou alcool modifié à 70°.</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Compresse et sparadrap.</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Gants propres.</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Réniforme (haricot).</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Sac à élimination des déchets.</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Boite de sécurité ou   Conteneur à déchets contaminés piquants et tranchants.</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Désinfectant de surface et </a:t>
            </a:r>
            <a:r>
              <a:rPr lang="fr-FR" sz="2000" dirty="0" err="1">
                <a:latin typeface="Arial Black" panose="020B0A04020102020204" pitchFamily="34" charset="0"/>
                <a:ea typeface="Times New Roman" panose="02020603050405020304" pitchFamily="18" charset="0"/>
                <a:cs typeface="Times New Roman" panose="02020603050405020304" pitchFamily="18" charset="0"/>
              </a:rPr>
              <a:t>chiffonnette</a:t>
            </a:r>
            <a:r>
              <a:rPr lang="fr-FR" sz="2000" dirty="0">
                <a:latin typeface="Arial Black" panose="020B0A04020102020204" pitchFamily="34" charset="0"/>
                <a:ea typeface="Times New Roman" panose="02020603050405020304" pitchFamily="18" charset="0"/>
                <a:cs typeface="Times New Roman" panose="02020603050405020304" pitchFamily="18" charset="0"/>
              </a:rPr>
              <a:t>.</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Nécessaire à l'hygiène des mains. (solution hydro alcoolique ou eau, savon et serviette jetable</a:t>
            </a:r>
            <a:r>
              <a:rPr lang="fr-FR" dirty="0">
                <a:latin typeface="Times New Roman" panose="02020603050405020304" pitchFamily="18" charset="0"/>
                <a:ea typeface="Times New Roman" panose="02020603050405020304" pitchFamily="18" charset="0"/>
                <a:cs typeface="Times New Roman" panose="02020603050405020304" pitchFamily="18" charset="0"/>
              </a:rPr>
              <a:t>)</a:t>
            </a:r>
            <a:endParaRPr lang="fr-FR" sz="1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96738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9042" y="0"/>
            <a:ext cx="11912958" cy="5875455"/>
          </a:xfrm>
          <a:prstGeom prst="rect">
            <a:avLst/>
          </a:prstGeom>
        </p:spPr>
        <p:txBody>
          <a:bodyPr wrap="square">
            <a:spAutoFit/>
          </a:bodyPr>
          <a:lstStyle/>
          <a:p>
            <a:pPr lvl="0" algn="ctr">
              <a:lnSpc>
                <a:spcPct val="125000"/>
              </a:lnSpc>
              <a:spcAft>
                <a:spcPts val="600"/>
              </a:spcAft>
              <a:tabLst>
                <a:tab pos="488950" algn="l"/>
              </a:tabLst>
            </a:pP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TECHNIQUE </a:t>
            </a: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DU </a:t>
            </a: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SOIN (1/4)</a:t>
            </a:r>
            <a:endPar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Vérifier la prescription médicale.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Préparer le produit à injecter.</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Prévenir le patient du soin.</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un traitement hygiénique.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Réunir le matériel après vérification des dates de péremptions et de l’intégrité des emballages.</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Placer le matériel sur une surface propre et désinfectée au préalable.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Installer le réniforme et le container à déchets contaminés piquants loin du matériel propre.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Respecter le triangle d'hygiène, de sécurité et d'ergonomie : Propre (matériel) - Patient - Sale (poubelles).</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593540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4154"/>
            <a:ext cx="12192000" cy="4647426"/>
          </a:xfrm>
          <a:prstGeom prst="rect">
            <a:avLst/>
          </a:prstGeom>
        </p:spPr>
        <p:txBody>
          <a:bodyPr wrap="square">
            <a:spAutoFit/>
          </a:bodyPr>
          <a:lstStyle/>
          <a:p>
            <a:pPr algn="ctr">
              <a:lnSpc>
                <a:spcPct val="115000"/>
              </a:lnSpc>
            </a:pPr>
            <a:r>
              <a:rPr lang="fr-FR"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TECHNIQUE DU SOIN </a:t>
            </a:r>
            <a:r>
              <a:rPr lang="fr-FR"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(2/4)</a:t>
            </a:r>
            <a:endParaRPr lang="fr-FR"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Installer </a:t>
            </a:r>
            <a:r>
              <a:rPr lang="fr-FR" sz="2000" dirty="0">
                <a:latin typeface="Arial Black" panose="020B0A04020102020204" pitchFamily="34" charset="0"/>
                <a:ea typeface="Times New Roman" panose="02020603050405020304" pitchFamily="18" charset="0"/>
                <a:cs typeface="Times New Roman" panose="02020603050405020304" pitchFamily="18" charset="0"/>
              </a:rPr>
              <a:t>confortablement le patient en ne découvrant que la zone de ponction.</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Effectuer un lavage antiseptique des mains ou effectuer un traitement hygiénique des mains par frictions avec une solution hydro-alcoolique : </a:t>
            </a:r>
            <a:r>
              <a:rPr lang="fr-FR" sz="2000" dirty="0">
                <a:solidFill>
                  <a:srgbClr val="0563C1"/>
                </a:solidFill>
                <a:latin typeface="Arial Black" panose="020B0A04020102020204" pitchFamily="34" charset="0"/>
                <a:ea typeface="Times New Roman" panose="02020603050405020304" pitchFamily="18" charset="0"/>
                <a:cs typeface="Times New Roman" panose="02020603050405020304" pitchFamily="18" charset="0"/>
                <a:hlinkClick r:id="rId2"/>
              </a:rPr>
              <a:t>hygiène des mains</a:t>
            </a:r>
            <a:r>
              <a:rPr lang="fr-FR" sz="2000" dirty="0">
                <a:latin typeface="Arial Black" panose="020B0A04020102020204" pitchFamily="34" charset="0"/>
                <a:ea typeface="Times New Roman" panose="02020603050405020304" pitchFamily="18" charset="0"/>
                <a:cs typeface="Times New Roman" panose="02020603050405020304" pitchFamily="18" charset="0"/>
              </a:rPr>
              <a:t>.</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Mettre les gants non stériles.</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Tendre la peau.</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Désinfecter la zone de ponction en </a:t>
            </a:r>
            <a:r>
              <a:rPr lang="fr-FR" sz="2000"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"escargot" </a:t>
            </a:r>
            <a:r>
              <a:rPr lang="fr-FR" sz="2000" dirty="0">
                <a:latin typeface="Arial Black" panose="020B0A04020102020204" pitchFamily="34" charset="0"/>
                <a:ea typeface="Times New Roman" panose="02020603050405020304" pitchFamily="18" charset="0"/>
                <a:cs typeface="Times New Roman" panose="02020603050405020304" pitchFamily="18" charset="0"/>
              </a:rPr>
              <a:t>: mouvement circulaire en partant du centre vers l'extérieur afin de tuer et d'éloigner les germes du point de ponction.</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Demander au patient d'expirer afin de détendre son muscle et diminuer la douleur lors de la piqûre.</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Introduire l'aiguille au moment de l'expiration, d'un geste rapide, précis et ferme.</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Relâcher la peau.</a:t>
            </a:r>
          </a:p>
          <a:p>
            <a:r>
              <a:rPr lang="fr-FR" sz="2000" dirty="0" smtClean="0">
                <a:latin typeface="Arial Black" panose="020B0A04020102020204" pitchFamily="34" charset="0"/>
                <a:ea typeface="Times New Roman" panose="02020603050405020304" pitchFamily="18" charset="0"/>
              </a:rPr>
              <a:t>-    Tirer </a:t>
            </a:r>
            <a:r>
              <a:rPr lang="fr-FR" sz="2000" dirty="0">
                <a:latin typeface="Arial Black" panose="020B0A04020102020204" pitchFamily="34" charset="0"/>
                <a:ea typeface="Times New Roman" panose="02020603050405020304" pitchFamily="18" charset="0"/>
              </a:rPr>
              <a:t>le piston pour voir si l'aiguille se trouve dans le muscle </a:t>
            </a:r>
            <a:endParaRPr lang="fr-FR" sz="2000" dirty="0">
              <a:latin typeface="Arial Black" panose="020B0A04020102020204" pitchFamily="34" charset="0"/>
            </a:endParaRPr>
          </a:p>
        </p:txBody>
      </p:sp>
    </p:spTree>
    <p:extLst>
      <p:ext uri="{BB962C8B-B14F-4D97-AF65-F5344CB8AC3E}">
        <p14:creationId xmlns:p14="http://schemas.microsoft.com/office/powerpoint/2010/main" val="277283570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496" y="0"/>
            <a:ext cx="12067504" cy="6073970"/>
          </a:xfrm>
          <a:prstGeom prst="rect">
            <a:avLst/>
          </a:prstGeom>
        </p:spPr>
        <p:txBody>
          <a:bodyPr wrap="square">
            <a:spAutoFit/>
          </a:bodyPr>
          <a:lstStyle/>
          <a:p>
            <a:pPr marL="342900" lvl="0" indent="-342900" algn="just">
              <a:lnSpc>
                <a:spcPct val="115000"/>
              </a:lnSpc>
              <a:spcAft>
                <a:spcPts val="0"/>
              </a:spcAft>
              <a:buFont typeface="Arial" panose="020B0604020202020204" pitchFamily="34" charset="0"/>
              <a:buChar char="-"/>
            </a:pPr>
            <a:r>
              <a:rPr lang="fr-FR"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TECHNIQUE DU SOIN </a:t>
            </a:r>
            <a:r>
              <a:rPr lang="fr-FR"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(3/4)</a:t>
            </a:r>
            <a:endParaRPr lang="fr-FR"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Tirer </a:t>
            </a:r>
            <a:r>
              <a:rPr lang="fr-FR" sz="2000" dirty="0">
                <a:latin typeface="Arial Black" panose="020B0A04020102020204" pitchFamily="34" charset="0"/>
                <a:ea typeface="Times New Roman" panose="02020603050405020304" pitchFamily="18" charset="0"/>
                <a:cs typeface="Times New Roman" panose="02020603050405020304" pitchFamily="18" charset="0"/>
              </a:rPr>
              <a:t>le piston pour voir si l'aiguille se trouve dans le muscle : </a:t>
            </a:r>
          </a:p>
          <a:p>
            <a:pPr marL="381000" algn="just">
              <a:lnSpc>
                <a:spcPct val="115000"/>
              </a:lnSpc>
              <a:spcAft>
                <a:spcPts val="0"/>
              </a:spcAft>
            </a:pPr>
            <a:r>
              <a:rPr lang="fr-FR" sz="2000" i="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S'il y a un reflux sanguin, c'est que l'aiguille est dans un vaisseau, dans ce cas là, sortir un peu l'aiguille sans la retirer entièrement, pencher légèrement l'aiguille pour changer de plan et réintroduire l'aiguille. </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81000" algn="just">
              <a:lnSpc>
                <a:spcPct val="115000"/>
              </a:lnSpc>
              <a:spcAft>
                <a:spcPts val="0"/>
              </a:spcAft>
            </a:pPr>
            <a:r>
              <a:rPr lang="fr-FR" sz="2000" i="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Vérifier l'absence de reflux sanguin, en aspirant de nouveau.</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81000" algn="just">
              <a:lnSpc>
                <a:spcPct val="115000"/>
              </a:lnSpc>
              <a:spcAft>
                <a:spcPts val="0"/>
              </a:spcAft>
            </a:pPr>
            <a:r>
              <a:rPr lang="fr-FR" sz="2000" i="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Si du sang en plus grande quantité apparaît dans la seringue, retirer l’aiguille ; préparer à nouveau l’injection et piquer dans un autre site</a:t>
            </a:r>
            <a:r>
              <a:rPr lang="fr-FR" sz="2000" i="1" dirty="0">
                <a:latin typeface="Arial Black" panose="020B0A04020102020204" pitchFamily="34" charset="0"/>
                <a:ea typeface="Times New Roman" panose="02020603050405020304" pitchFamily="18" charset="0"/>
                <a:cs typeface="Times New Roman" panose="02020603050405020304" pitchFamily="18" charset="0"/>
              </a:rPr>
              <a:t>.</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Injecter lentement le produit.</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Au-delà de 5 ml de produit injecté (2ml s'il s'agit du muscle deltoïde), changer de plan d'injection : sortir un peu l'aiguille sans la retirer entièrement, pencher légèrement l'aiguille ce qui permet de changer le plan et réintroduire l'aiguille.</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Si la quantité à injecter est supérieure à la quantité contenue dans la seringue, désadapter la seringue de l'aiguille sans retirer l'aiguille et sans la toucher (prendre une compresse stérile pour éviter les risques de contamination), adapter la nouvelle seringue purgée à l'aiguille, changer de plan, vérifier l'absence de reflux et injecter le produit tout en surveillant les réactions du patient</a:t>
            </a:r>
            <a:endParaRPr lang="fr-FR" sz="20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226972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183" y="0"/>
            <a:ext cx="12192000" cy="6534096"/>
          </a:xfrm>
          <a:prstGeom prst="rect">
            <a:avLst/>
          </a:prstGeom>
        </p:spPr>
        <p:txBody>
          <a:bodyPr wrap="square">
            <a:spAutoFit/>
          </a:bodyPr>
          <a:lstStyle/>
          <a:p>
            <a:pPr marL="342900" indent="-342900" algn="just">
              <a:lnSpc>
                <a:spcPct val="115000"/>
              </a:lnSpc>
              <a:buFont typeface="Arial" panose="020B0604020202020204" pitchFamily="34" charset="0"/>
              <a:buChar char="-"/>
            </a:pPr>
            <a:r>
              <a:rPr lang="fr-FR" sz="26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TECHNIQUE DU SOIN </a:t>
            </a:r>
            <a:r>
              <a:rPr lang="fr-FR" sz="26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(4/4)</a:t>
            </a:r>
            <a:endParaRPr lang="fr-FR" sz="2600"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600" dirty="0" smtClean="0">
                <a:latin typeface="Arial Black" panose="020B0A04020102020204" pitchFamily="34" charset="0"/>
                <a:ea typeface="Times New Roman" panose="02020603050405020304" pitchFamily="18" charset="0"/>
                <a:cs typeface="Times New Roman" panose="02020603050405020304" pitchFamily="18" charset="0"/>
              </a:rPr>
              <a:t>Retirer </a:t>
            </a:r>
            <a:r>
              <a:rPr lang="fr-FR" sz="2600" dirty="0">
                <a:latin typeface="Arial Black" panose="020B0A04020102020204" pitchFamily="34" charset="0"/>
                <a:ea typeface="Times New Roman" panose="02020603050405020304" pitchFamily="18" charset="0"/>
                <a:cs typeface="Times New Roman" panose="02020603050405020304" pitchFamily="18" charset="0"/>
              </a:rPr>
              <a:t>l'aiguille d'un geste rapide et recouvrir le point de ponction d'une compresse imbibée d'antiseptique.</a:t>
            </a:r>
          </a:p>
          <a:p>
            <a:pPr marL="342900" lvl="0" indent="-342900" algn="just">
              <a:lnSpc>
                <a:spcPct val="11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Jeter immédiatement la seringue et l'aiguille dans le container à déchets contaminés piquants.</a:t>
            </a:r>
          </a:p>
          <a:p>
            <a:pPr marL="342900" lvl="0" indent="-342900" algn="just">
              <a:lnSpc>
                <a:spcPct val="11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Masser le point de ponction pour diffuser le médicament dans le muscle.</a:t>
            </a:r>
          </a:p>
          <a:p>
            <a:pPr marL="342900" lvl="0" indent="-342900" algn="just">
              <a:lnSpc>
                <a:spcPct val="11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Mettre un pansement.</a:t>
            </a:r>
          </a:p>
          <a:p>
            <a:pPr marL="342900" lvl="0" indent="-342900" algn="just">
              <a:lnSpc>
                <a:spcPct val="11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Jeter les gants.</a:t>
            </a:r>
          </a:p>
          <a:p>
            <a:pPr marL="342900" lvl="0" indent="-342900" algn="just">
              <a:lnSpc>
                <a:spcPct val="11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Eliminer les déchets et désinfecter le matériel utilisé.</a:t>
            </a:r>
          </a:p>
          <a:p>
            <a:pPr marL="342900" lvl="0" indent="-342900" algn="just">
              <a:lnSpc>
                <a:spcPct val="11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effectuer un traitement hygiénique des mains par frictions avec une solution </a:t>
            </a:r>
            <a:r>
              <a:rPr lang="fr-FR" sz="2600" dirty="0" smtClean="0">
                <a:latin typeface="Arial Black" panose="020B0A04020102020204" pitchFamily="34" charset="0"/>
                <a:ea typeface="Times New Roman" panose="02020603050405020304" pitchFamily="18" charset="0"/>
                <a:cs typeface="Times New Roman" panose="02020603050405020304" pitchFamily="18" charset="0"/>
              </a:rPr>
              <a:t>hydro-alcoolique</a:t>
            </a:r>
          </a:p>
          <a:p>
            <a:pPr marL="342900" lvl="0" indent="-342900" algn="just">
              <a:lnSpc>
                <a:spcPct val="115000"/>
              </a:lnSpc>
              <a:spcAft>
                <a:spcPts val="0"/>
              </a:spcAft>
              <a:buFont typeface="Arial" panose="020B0604020202020204" pitchFamily="34" charset="0"/>
              <a:buChar char="-"/>
            </a:pPr>
            <a:r>
              <a:rPr lang="fr-FR" sz="2600" dirty="0" smtClean="0">
                <a:latin typeface="Arial Black" panose="020B0A04020102020204" pitchFamily="34" charset="0"/>
                <a:ea typeface="Times New Roman" panose="02020603050405020304" pitchFamily="18" charset="0"/>
              </a:rPr>
              <a:t>Réinstaller </a:t>
            </a:r>
            <a:r>
              <a:rPr lang="fr-FR" sz="2600" dirty="0">
                <a:latin typeface="Arial Black" panose="020B0A04020102020204" pitchFamily="34" charset="0"/>
                <a:ea typeface="Times New Roman" panose="02020603050405020304" pitchFamily="18" charset="0"/>
              </a:rPr>
              <a:t>le patient</a:t>
            </a:r>
            <a:endParaRPr lang="fr-FR" sz="2600" dirty="0">
              <a:latin typeface="Arial Black" panose="020B0A04020102020204" pitchFamily="34" charset="0"/>
            </a:endParaRPr>
          </a:p>
        </p:txBody>
      </p:sp>
    </p:spTree>
    <p:extLst>
      <p:ext uri="{BB962C8B-B14F-4D97-AF65-F5344CB8AC3E}">
        <p14:creationId xmlns:p14="http://schemas.microsoft.com/office/powerpoint/2010/main" val="361382971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1972" y="0"/>
            <a:ext cx="11870028" cy="5330690"/>
          </a:xfrm>
          <a:prstGeom prst="rect">
            <a:avLst/>
          </a:prstGeom>
        </p:spPr>
        <p:txBody>
          <a:bodyPr wrap="square">
            <a:spAutoFit/>
          </a:bodyPr>
          <a:lstStyle/>
          <a:p>
            <a:pPr lvl="0" algn="ctr">
              <a:lnSpc>
                <a:spcPct val="115000"/>
              </a:lnSpc>
              <a:spcAft>
                <a:spcPts val="0"/>
              </a:spcAft>
              <a:tabLst>
                <a:tab pos="488950" algn="l"/>
              </a:tabLst>
            </a:pP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 INCIDENTS </a:t>
            </a: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ET ACCIDENTS </a:t>
            </a:r>
            <a:endParaRPr lang="fr-FR" sz="280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457200" lvl="0" indent="-457200">
              <a:lnSpc>
                <a:spcPct val="115000"/>
              </a:lnSpc>
              <a:spcAft>
                <a:spcPts val="0"/>
              </a:spcAft>
              <a:buFont typeface="Wingdings" panose="05000000000000000000" pitchFamily="2" charset="2"/>
              <a:buChar char="ü"/>
              <a:tabLst>
                <a:tab pos="488950" algn="l"/>
              </a:tabLs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Hématome</a:t>
            </a:r>
          </a:p>
          <a:p>
            <a:pPr marL="457200" lvl="0" indent="-457200">
              <a:lnSpc>
                <a:spcPct val="115000"/>
              </a:lnSpc>
              <a:spcAft>
                <a:spcPts val="0"/>
              </a:spcAft>
              <a:buFont typeface="Wingdings" panose="05000000000000000000" pitchFamily="2" charset="2"/>
              <a:buChar char="ü"/>
              <a:tabLst>
                <a:tab pos="488950" algn="l"/>
              </a:tabLs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Douleur</a:t>
            </a:r>
          </a:p>
          <a:p>
            <a:pPr marL="457200" lvl="0" indent="-457200">
              <a:lnSpc>
                <a:spcPct val="115000"/>
              </a:lnSpc>
              <a:spcAft>
                <a:spcPts val="0"/>
              </a:spcAft>
              <a:buFont typeface="Wingdings" panose="05000000000000000000" pitchFamily="2" charset="2"/>
              <a:buChar char="ü"/>
              <a:tabLst>
                <a:tab pos="488950" algn="l"/>
              </a:tabLs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  Choc </a:t>
            </a:r>
            <a:r>
              <a:rPr lang="fr-FR" sz="2400" dirty="0">
                <a:latin typeface="Arial Black" panose="020B0A04020102020204" pitchFamily="34" charset="0"/>
                <a:ea typeface="Times New Roman" panose="02020603050405020304" pitchFamily="18" charset="0"/>
                <a:cs typeface="Times New Roman" panose="02020603050405020304" pitchFamily="18" charset="0"/>
              </a:rPr>
              <a:t>anaphylactique : réaction </a:t>
            </a: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allergique</a:t>
            </a:r>
          </a:p>
          <a:p>
            <a:pPr marL="457200" lvl="0" indent="-457200">
              <a:lnSpc>
                <a:spcPct val="115000"/>
              </a:lnSpc>
              <a:spcAft>
                <a:spcPts val="0"/>
              </a:spcAft>
              <a:buFont typeface="Wingdings" panose="05000000000000000000" pitchFamily="2" charset="2"/>
              <a:buChar char="ü"/>
              <a:tabLst>
                <a:tab pos="488950" algn="l"/>
              </a:tabLs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Abcès </a:t>
            </a:r>
            <a:r>
              <a:rPr lang="fr-FR" sz="2400" dirty="0">
                <a:latin typeface="Arial Black" panose="020B0A04020102020204" pitchFamily="34" charset="0"/>
                <a:ea typeface="Times New Roman" panose="02020603050405020304" pitchFamily="18" charset="0"/>
                <a:cs typeface="Times New Roman" panose="02020603050405020304" pitchFamily="18" charset="0"/>
              </a:rPr>
              <a:t>post injection</a:t>
            </a:r>
          </a:p>
          <a:p>
            <a:pPr algn="ctr">
              <a:lnSpc>
                <a:spcPct val="115000"/>
              </a:lnSpc>
              <a:spcAft>
                <a:spcPts val="0"/>
              </a:spcAft>
            </a:pPr>
            <a:r>
              <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a:t>
            </a:r>
            <a:r>
              <a:rPr lang="fr-FR" sz="280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VI- </a:t>
            </a: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SURVEILLANCES </a:t>
            </a: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ET </a:t>
            </a: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EVALUATIONS</a:t>
            </a:r>
            <a:endParaRPr lang="fr-FR" sz="280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457200" indent="-457200">
              <a:lnSpc>
                <a:spcPct val="115000"/>
              </a:lnSpc>
              <a:spcAft>
                <a:spcPts val="0"/>
              </a:spcAft>
              <a:buFont typeface="Wingdings" panose="05000000000000000000" pitchFamily="2" charset="2"/>
              <a:buChar char="ü"/>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Surveillance </a:t>
            </a:r>
            <a:r>
              <a:rPr lang="fr-FR" sz="2400" dirty="0">
                <a:latin typeface="Arial Black" panose="020B0A04020102020204" pitchFamily="34" charset="0"/>
                <a:ea typeface="Times New Roman" panose="02020603050405020304" pitchFamily="18" charset="0"/>
                <a:cs typeface="Times New Roman" panose="02020603050405020304" pitchFamily="18" charset="0"/>
              </a:rPr>
              <a:t>du point de ponction. (Hématome, </a:t>
            </a: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inflammation)</a:t>
            </a:r>
          </a:p>
          <a:p>
            <a:pPr marL="457200" indent="-457200">
              <a:lnSpc>
                <a:spcPct val="115000"/>
              </a:lnSpc>
              <a:spcAft>
                <a:spcPts val="0"/>
              </a:spcAft>
              <a:buFont typeface="Wingdings" panose="05000000000000000000" pitchFamily="2" charset="2"/>
              <a:buChar char="ü"/>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Surveillance </a:t>
            </a:r>
            <a:r>
              <a:rPr lang="fr-FR" sz="2400" dirty="0">
                <a:latin typeface="Arial Black" panose="020B0A04020102020204" pitchFamily="34" charset="0"/>
                <a:ea typeface="Times New Roman" panose="02020603050405020304" pitchFamily="18" charset="0"/>
                <a:cs typeface="Times New Roman" panose="02020603050405020304" pitchFamily="18" charset="0"/>
              </a:rPr>
              <a:t>des réactions possibles du patient pendant l’injection. :</a:t>
            </a:r>
          </a:p>
          <a:p>
            <a:pPr marL="457200" lvl="0" indent="-457200" algn="just">
              <a:lnSpc>
                <a:spcPct val="115000"/>
              </a:lnSpc>
              <a:spcAft>
                <a:spcPts val="0"/>
              </a:spcAft>
              <a:buFont typeface="Wingdings" panose="05000000000000000000" pitchFamily="2" charset="2"/>
              <a:buChar char="§"/>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Visage</a:t>
            </a:r>
          </a:p>
          <a:p>
            <a:pPr marL="457200" lvl="0" indent="-457200" algn="just">
              <a:lnSpc>
                <a:spcPct val="115000"/>
              </a:lnSpc>
              <a:spcAft>
                <a:spcPts val="0"/>
              </a:spcAft>
              <a:buFont typeface="Wingdings" panose="05000000000000000000" pitchFamily="2" charset="2"/>
              <a:buChar char="§"/>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Transpiration</a:t>
            </a:r>
          </a:p>
          <a:p>
            <a:pPr marL="457200" lvl="0" indent="-457200" algn="just">
              <a:lnSpc>
                <a:spcPct val="115000"/>
              </a:lnSpc>
              <a:spcAft>
                <a:spcPts val="0"/>
              </a:spcAft>
              <a:buFont typeface="Wingdings" panose="05000000000000000000" pitchFamily="2" charset="2"/>
              <a:buChar char="§"/>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Respiration </a:t>
            </a:r>
            <a:r>
              <a:rPr lang="fr-FR" sz="2400" dirty="0">
                <a:latin typeface="Arial Black" panose="020B0A04020102020204" pitchFamily="34" charset="0"/>
                <a:ea typeface="Times New Roman" panose="02020603050405020304" pitchFamily="18" charset="0"/>
                <a:cs typeface="Times New Roman" panose="02020603050405020304" pitchFamily="18" charset="0"/>
              </a:rPr>
              <a:t>rapide etc.</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506183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 y="115910"/>
            <a:ext cx="6104587" cy="6027312"/>
          </a:xfrm>
          <a:prstGeom prst="rect">
            <a:avLst/>
          </a:prstGeom>
        </p:spPr>
      </p:pic>
      <p:pic>
        <p:nvPicPr>
          <p:cNvPr id="3" name="Image 2"/>
          <p:cNvPicPr>
            <a:picLocks noChangeAspect="1"/>
          </p:cNvPicPr>
          <p:nvPr/>
        </p:nvPicPr>
        <p:blipFill>
          <a:blip r:embed="rId3"/>
          <a:stretch>
            <a:fillRect/>
          </a:stretch>
        </p:blipFill>
        <p:spPr>
          <a:xfrm>
            <a:off x="6104587" y="-1"/>
            <a:ext cx="6087414" cy="6143223"/>
          </a:xfrm>
          <a:prstGeom prst="rect">
            <a:avLst/>
          </a:prstGeom>
        </p:spPr>
      </p:pic>
    </p:spTree>
    <p:extLst>
      <p:ext uri="{BB962C8B-B14F-4D97-AF65-F5344CB8AC3E}">
        <p14:creationId xmlns:p14="http://schemas.microsoft.com/office/powerpoint/2010/main" val="40799790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41668" y="0"/>
            <a:ext cx="12050332" cy="6246254"/>
          </a:xfrm>
          <a:prstGeom prst="rect">
            <a:avLst/>
          </a:prstGeom>
        </p:spPr>
      </p:pic>
    </p:spTree>
    <p:extLst>
      <p:ext uri="{BB962C8B-B14F-4D97-AF65-F5344CB8AC3E}">
        <p14:creationId xmlns:p14="http://schemas.microsoft.com/office/powerpoint/2010/main" val="381648437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99060" y="0"/>
            <a:ext cx="8911687" cy="625141"/>
          </a:xfrm>
        </p:spPr>
        <p:txBody>
          <a:bodyPr>
            <a:normAutofit fontScale="90000"/>
          </a:bodyPr>
          <a:lstStyle/>
          <a:p>
            <a:r>
              <a:rPr lang="fr-FR" dirty="0"/>
              <a:t/>
            </a:r>
            <a:br>
              <a:rPr lang="fr-FR" dirty="0"/>
            </a:br>
            <a:r>
              <a:rPr lang="fr-FR" dirty="0">
                <a:solidFill>
                  <a:srgbClr val="FF0000"/>
                </a:solidFill>
              </a:rPr>
              <a:t>INJECTION INTRA VEINEUSE DIRECTE (</a:t>
            </a:r>
            <a:r>
              <a:rPr lang="fr-FR" dirty="0" smtClean="0">
                <a:solidFill>
                  <a:srgbClr val="FF0000"/>
                </a:solidFill>
              </a:rPr>
              <a:t>IVD)</a:t>
            </a:r>
            <a:endParaRPr lang="fr-FR" dirty="0"/>
          </a:p>
        </p:txBody>
      </p:sp>
      <p:sp>
        <p:nvSpPr>
          <p:cNvPr id="3" name="Espace réservé du contenu 2"/>
          <p:cNvSpPr>
            <a:spLocks noGrp="1"/>
          </p:cNvSpPr>
          <p:nvPr>
            <p:ph idx="1"/>
          </p:nvPr>
        </p:nvSpPr>
        <p:spPr>
          <a:xfrm>
            <a:off x="0" y="1270716"/>
            <a:ext cx="12041746" cy="3777622"/>
          </a:xfrm>
        </p:spPr>
        <p:txBody>
          <a:bodyPr>
            <a:normAutofit fontScale="92500" lnSpcReduction="20000"/>
          </a:bodyPr>
          <a:lstStyle/>
          <a:p>
            <a:pPr marL="0" lvl="0" indent="0">
              <a:buNone/>
            </a:pPr>
            <a:r>
              <a:rPr lang="fr-FR" sz="3200" b="1" u="sng" dirty="0" smtClean="0">
                <a:solidFill>
                  <a:srgbClr val="FF0000"/>
                </a:solidFill>
                <a:latin typeface="Arial Black" panose="020B0A04020102020204" pitchFamily="34" charset="0"/>
              </a:rPr>
              <a:t>I- DEFINITION</a:t>
            </a:r>
            <a:r>
              <a:rPr lang="fr-FR" sz="3200" b="1" dirty="0" smtClean="0">
                <a:solidFill>
                  <a:srgbClr val="FF0000"/>
                </a:solidFill>
                <a:latin typeface="Arial Black" panose="020B0A04020102020204" pitchFamily="34" charset="0"/>
              </a:rPr>
              <a:t> </a:t>
            </a:r>
            <a:endParaRPr lang="fr-FR" sz="3200" dirty="0">
              <a:solidFill>
                <a:srgbClr val="FF0000"/>
              </a:solidFill>
              <a:latin typeface="Arial Black" panose="020B0A04020102020204" pitchFamily="34" charset="0"/>
            </a:endParaRPr>
          </a:p>
          <a:p>
            <a:pPr marL="0" indent="0">
              <a:buNone/>
            </a:pPr>
            <a:r>
              <a:rPr lang="fr-FR" sz="3200" dirty="0">
                <a:latin typeface="Arial Black" panose="020B0A04020102020204" pitchFamily="34" charset="0"/>
              </a:rPr>
              <a:t>L'injection intraveineuse directe (IVD) est l'administration directement dans une veine d'un produit médicamenteux présenté sous forme </a:t>
            </a:r>
            <a:r>
              <a:rPr lang="fr-FR" sz="3200" dirty="0" smtClean="0">
                <a:latin typeface="Arial Black" panose="020B0A04020102020204" pitchFamily="34" charset="0"/>
              </a:rPr>
              <a:t>injectable</a:t>
            </a:r>
            <a:endParaRPr lang="fr-FR" sz="3200" dirty="0">
              <a:latin typeface="Arial Black" panose="020B0A04020102020204" pitchFamily="34" charset="0"/>
            </a:endParaRPr>
          </a:p>
          <a:p>
            <a:pPr marL="0" lvl="0" indent="0">
              <a:buNone/>
            </a:pPr>
            <a:r>
              <a:rPr lang="fr-FR" sz="3200" b="1" u="sng" dirty="0" smtClean="0">
                <a:solidFill>
                  <a:srgbClr val="FF0000"/>
                </a:solidFill>
                <a:latin typeface="Arial Black" panose="020B0A04020102020204" pitchFamily="34" charset="0"/>
              </a:rPr>
              <a:t>II- INDICATIONS</a:t>
            </a:r>
            <a:endParaRPr lang="fr-FR" sz="3200" dirty="0">
              <a:solidFill>
                <a:srgbClr val="FF0000"/>
              </a:solidFill>
              <a:latin typeface="Arial Black" panose="020B0A04020102020204" pitchFamily="34" charset="0"/>
            </a:endParaRPr>
          </a:p>
          <a:p>
            <a:pPr lvl="0">
              <a:buFont typeface="Wingdings" panose="05000000000000000000" pitchFamily="2" charset="2"/>
              <a:buChar char="Ø"/>
            </a:pPr>
            <a:r>
              <a:rPr lang="fr-FR" sz="3200" dirty="0">
                <a:latin typeface="Arial Black" panose="020B0A04020102020204" pitchFamily="34" charset="0"/>
              </a:rPr>
              <a:t>Nécessité d'une action </a:t>
            </a:r>
            <a:r>
              <a:rPr lang="fr-FR" sz="3200" dirty="0" smtClean="0">
                <a:latin typeface="Arial Black" panose="020B0A04020102020204" pitchFamily="34" charset="0"/>
              </a:rPr>
              <a:t>rapide</a:t>
            </a:r>
            <a:endParaRPr lang="fr-FR" sz="3200" dirty="0">
              <a:latin typeface="Arial Black" panose="020B0A04020102020204" pitchFamily="34" charset="0"/>
            </a:endParaRPr>
          </a:p>
          <a:p>
            <a:pPr lvl="0">
              <a:buFont typeface="Wingdings" panose="05000000000000000000" pitchFamily="2" charset="2"/>
              <a:buChar char="Ø"/>
            </a:pPr>
            <a:r>
              <a:rPr lang="fr-FR" sz="3200" dirty="0">
                <a:latin typeface="Arial Black" panose="020B0A04020102020204" pitchFamily="34" charset="0"/>
              </a:rPr>
              <a:t>Médicaments pouvant être caustiques pour les tissus sous-cutanés et musculaires (risque de douleur, œdème, nécrose</a:t>
            </a:r>
            <a:r>
              <a:rPr lang="fr-FR" sz="3200" dirty="0" smtClean="0">
                <a:latin typeface="Arial Black" panose="020B0A04020102020204" pitchFamily="34" charset="0"/>
              </a:rPr>
              <a:t>) </a:t>
            </a:r>
            <a:endParaRPr lang="fr-FR" sz="3200" dirty="0">
              <a:latin typeface="Arial Black" panose="020B0A04020102020204" pitchFamily="34" charset="0"/>
            </a:endParaRPr>
          </a:p>
          <a:p>
            <a:pPr marL="0" indent="0">
              <a:buNone/>
            </a:pPr>
            <a:endParaRPr lang="fr-FR" dirty="0"/>
          </a:p>
        </p:txBody>
      </p:sp>
    </p:spTree>
    <p:extLst>
      <p:ext uri="{BB962C8B-B14F-4D97-AF65-F5344CB8AC3E}">
        <p14:creationId xmlns:p14="http://schemas.microsoft.com/office/powerpoint/2010/main" val="298916945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0456" y="0"/>
            <a:ext cx="11921544" cy="6219267"/>
          </a:xfrm>
          <a:prstGeom prst="rect">
            <a:avLst/>
          </a:prstGeom>
        </p:spPr>
        <p:txBody>
          <a:bodyPr wrap="square">
            <a:spAutoFit/>
          </a:bodyPr>
          <a:lstStyle/>
          <a:p>
            <a:pPr lvl="0" algn="ctr">
              <a:lnSpc>
                <a:spcPct val="125000"/>
              </a:lnSpc>
              <a:spcAft>
                <a:spcPts val="0"/>
              </a:spcAft>
              <a:tabLst>
                <a:tab pos="419100" algn="l"/>
              </a:tabLst>
            </a:pPr>
            <a:r>
              <a:rPr lang="fr-FR" sz="20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III-  </a:t>
            </a:r>
            <a:r>
              <a:rPr lang="fr-FR" sz="20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MATERIEL</a:t>
            </a:r>
            <a:endParaRPr lang="fr-FR" sz="20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Produit à injecter.</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Matériel pour la préparation du produit.</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Seringue stérile 1 ml à 20 ml en fonction de la quantité du produit à injecter.</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Aiguille intraveineuse (jaune : 20 Gauge).</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Garrot désinfecté.</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Compresses non stériles ou boules de coton.</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Antiseptique.</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Pansement ou compresse et sparadrap.</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Gants non stériles à usage unique.</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Alèze ou toile cirée</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Réniforme (haricot).</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Sac à élimination des déchets.</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Conteneur à déchets contaminés piquants et tranchants.</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Désinfectant de surface et </a:t>
            </a:r>
            <a:r>
              <a:rPr lang="fr-FR" sz="2000" dirty="0" err="1">
                <a:latin typeface="Arial Black" panose="020B0A04020102020204" pitchFamily="34" charset="0"/>
                <a:ea typeface="Times New Roman" panose="02020603050405020304" pitchFamily="18" charset="0"/>
                <a:cs typeface="Times New Roman" panose="02020603050405020304" pitchFamily="18" charset="0"/>
              </a:rPr>
              <a:t>chiffonnette</a:t>
            </a:r>
            <a:r>
              <a:rPr lang="fr-FR" sz="2000" dirty="0">
                <a:latin typeface="Arial Black" panose="020B0A04020102020204" pitchFamily="34" charset="0"/>
                <a:ea typeface="Times New Roman" panose="02020603050405020304" pitchFamily="18" charset="0"/>
                <a:cs typeface="Times New Roman" panose="02020603050405020304" pitchFamily="18" charset="0"/>
              </a:rPr>
              <a:t>.</a:t>
            </a:r>
          </a:p>
          <a:p>
            <a:pPr marL="342900" lvl="0" indent="-342900" algn="just">
              <a:lnSpc>
                <a:spcPct val="125000"/>
              </a:lnSpc>
              <a:spcAft>
                <a:spcPts val="6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Nécessaire à l'hygiène des mains (solution hydro alcoolique)</a:t>
            </a:r>
            <a:endParaRPr lang="fr-FR" sz="2000" dirty="0">
              <a:latin typeface="Arial Black" panose="020B0A04020102020204" pitchFamily="34" charset="0"/>
            </a:endParaRPr>
          </a:p>
        </p:txBody>
      </p:sp>
    </p:spTree>
    <p:extLst>
      <p:ext uri="{BB962C8B-B14F-4D97-AF65-F5344CB8AC3E}">
        <p14:creationId xmlns:p14="http://schemas.microsoft.com/office/powerpoint/2010/main" val="235033591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nvPr>
        </p:nvGraphicFramePr>
        <p:xfrm>
          <a:off x="357810" y="185527"/>
          <a:ext cx="11701668" cy="6056246"/>
        </p:xfrm>
        <a:graphic>
          <a:graphicData uri="http://schemas.openxmlformats.org/drawingml/2006/table">
            <a:tbl>
              <a:tblPr firstRow="1" firstCol="1" bandRow="1" bandCol="1"/>
              <a:tblGrid>
                <a:gridCol w="1470990">
                  <a:extLst>
                    <a:ext uri="{9D8B030D-6E8A-4147-A177-3AD203B41FA5}">
                      <a16:colId xmlns:a16="http://schemas.microsoft.com/office/drawing/2014/main" val="20000"/>
                    </a:ext>
                  </a:extLst>
                </a:gridCol>
                <a:gridCol w="2045243">
                  <a:extLst>
                    <a:ext uri="{9D8B030D-6E8A-4147-A177-3AD203B41FA5}">
                      <a16:colId xmlns:a16="http://schemas.microsoft.com/office/drawing/2014/main" val="20001"/>
                    </a:ext>
                  </a:extLst>
                </a:gridCol>
                <a:gridCol w="1846055">
                  <a:extLst>
                    <a:ext uri="{9D8B030D-6E8A-4147-A177-3AD203B41FA5}">
                      <a16:colId xmlns:a16="http://schemas.microsoft.com/office/drawing/2014/main" val="20002"/>
                    </a:ext>
                  </a:extLst>
                </a:gridCol>
                <a:gridCol w="6339380">
                  <a:extLst>
                    <a:ext uri="{9D8B030D-6E8A-4147-A177-3AD203B41FA5}">
                      <a16:colId xmlns:a16="http://schemas.microsoft.com/office/drawing/2014/main" val="20003"/>
                    </a:ext>
                  </a:extLst>
                </a:gridCol>
              </a:tblGrid>
              <a:tr h="865178">
                <a:tc gridSpan="4">
                  <a:txBody>
                    <a:bodyPr/>
                    <a:lstStyle/>
                    <a:p>
                      <a:pPr algn="ctr">
                        <a:lnSpc>
                          <a:spcPct val="125000"/>
                        </a:lnSpc>
                        <a:spcAft>
                          <a:spcPts val="0"/>
                        </a:spcAft>
                      </a:pPr>
                      <a:r>
                        <a:rPr lang="fr-FR" sz="4000" b="1"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Les aiguilles</a:t>
                      </a:r>
                      <a:endParaRPr lang="fr-FR" sz="40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865178">
                <a:tc>
                  <a:txBody>
                    <a:bodyPr/>
                    <a:lstStyle/>
                    <a:p>
                      <a:pPr algn="ctr">
                        <a:lnSpc>
                          <a:spcPct val="125000"/>
                        </a:lnSpc>
                        <a:spcAft>
                          <a:spcPts val="0"/>
                        </a:spcAft>
                      </a:pPr>
                      <a:r>
                        <a:rPr lang="fr-FR" sz="2400" i="1"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Couleur</a:t>
                      </a:r>
                      <a:endParaRPr lang="fr-FR" sz="24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i="1"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Gauge</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i="1"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Diamètre</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i="1"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Utilisation</a:t>
                      </a:r>
                      <a:endParaRPr lang="fr-FR" sz="24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5178">
                <a:tc>
                  <a:txBody>
                    <a:bodyPr/>
                    <a:lstStyle/>
                    <a:p>
                      <a:pPr algn="ctr">
                        <a:lnSpc>
                          <a:spcPct val="125000"/>
                        </a:lnSpc>
                        <a:spcAft>
                          <a:spcPts val="0"/>
                        </a:spcAft>
                      </a:pPr>
                      <a:r>
                        <a:rPr lang="fr-FR" sz="2800" dirty="0">
                          <a:solidFill>
                            <a:schemeClr val="accent5"/>
                          </a:solidFill>
                          <a:effectLst/>
                          <a:latin typeface="Arial Black" panose="020B0A04020102020204" pitchFamily="34" charset="0"/>
                          <a:ea typeface="Times New Roman" panose="02020603050405020304" pitchFamily="18" charset="0"/>
                          <a:cs typeface="Times New Roman" panose="02020603050405020304" pitchFamily="18" charset="0"/>
                        </a:rPr>
                        <a:t>Bleu</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chemeClr val="tx1"/>
                          </a:solidFill>
                          <a:effectLst/>
                          <a:latin typeface="Arial Black" panose="020B0A04020102020204" pitchFamily="34" charset="0"/>
                          <a:ea typeface="Times New Roman" panose="02020603050405020304" pitchFamily="18" charset="0"/>
                          <a:cs typeface="Times New Roman" panose="02020603050405020304" pitchFamily="18" charset="0"/>
                        </a:rPr>
                        <a:t>23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0,60 mm</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chemeClr val="accent5"/>
                          </a:solidFill>
                          <a:effectLst/>
                          <a:latin typeface="Arial Black" panose="020B0A04020102020204" pitchFamily="34" charset="0"/>
                          <a:ea typeface="Times New Roman" panose="02020603050405020304" pitchFamily="18" charset="0"/>
                          <a:cs typeface="Times New Roman" panose="02020603050405020304" pitchFamily="18" charset="0"/>
                        </a:rPr>
                        <a:t>Injection SC / IV / IM - Prélèvement IV</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5178">
                <a:tc>
                  <a:txBody>
                    <a:bodyPr/>
                    <a:lstStyle/>
                    <a:p>
                      <a:pPr algn="ctr">
                        <a:lnSpc>
                          <a:spcPct val="125000"/>
                        </a:lnSpc>
                        <a:spcAft>
                          <a:spcPts val="0"/>
                        </a:spcAft>
                      </a:pPr>
                      <a:r>
                        <a:rPr lang="fr-FR" sz="2800" dirty="0">
                          <a:solidFill>
                            <a:schemeClr val="tx1"/>
                          </a:solidFill>
                          <a:effectLst/>
                          <a:latin typeface="Arial Black" panose="020B0A04020102020204" pitchFamily="34" charset="0"/>
                          <a:ea typeface="Times New Roman" panose="02020603050405020304" pitchFamily="18" charset="0"/>
                          <a:cs typeface="Times New Roman" panose="02020603050405020304" pitchFamily="18" charset="0"/>
                        </a:rPr>
                        <a:t>Noir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chemeClr val="tx1"/>
                          </a:solidFill>
                          <a:effectLst/>
                          <a:latin typeface="Arial Black" panose="020B0A04020102020204" pitchFamily="34" charset="0"/>
                          <a:ea typeface="Times New Roman" panose="02020603050405020304" pitchFamily="18" charset="0"/>
                          <a:cs typeface="Times New Roman" panose="02020603050405020304" pitchFamily="18" charset="0"/>
                        </a:rPr>
                        <a:t>22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0,70 mm</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Injection IM / IV - Prélèvement IV</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5178">
                <a:tc>
                  <a:txBody>
                    <a:bodyPr/>
                    <a:lstStyle/>
                    <a:p>
                      <a:pPr algn="ctr">
                        <a:lnSpc>
                          <a:spcPct val="125000"/>
                        </a:lnSpc>
                        <a:spcAft>
                          <a:spcPts val="0"/>
                        </a:spcAft>
                      </a:pPr>
                      <a:r>
                        <a:rPr lang="fr-FR" sz="2800" dirty="0">
                          <a:solidFill>
                            <a:schemeClr val="accent6"/>
                          </a:solidFill>
                          <a:effectLst/>
                          <a:latin typeface="Arial Black" panose="020B0A04020102020204" pitchFamily="34" charset="0"/>
                          <a:ea typeface="Times New Roman" panose="02020603050405020304" pitchFamily="18" charset="0"/>
                          <a:cs typeface="Times New Roman" panose="02020603050405020304" pitchFamily="18" charset="0"/>
                        </a:rPr>
                        <a:t>Vert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chemeClr val="tx1"/>
                          </a:solidFill>
                          <a:effectLst/>
                          <a:latin typeface="Arial Black" panose="020B0A04020102020204" pitchFamily="34" charset="0"/>
                          <a:ea typeface="Times New Roman" panose="02020603050405020304" pitchFamily="18" charset="0"/>
                          <a:cs typeface="Times New Roman" panose="02020603050405020304" pitchFamily="18" charset="0"/>
                        </a:rPr>
                        <a:t>21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0,80 mm</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chemeClr val="accent6"/>
                          </a:solidFill>
                          <a:effectLst/>
                          <a:latin typeface="Arial Black" panose="020B0A04020102020204" pitchFamily="34" charset="0"/>
                          <a:ea typeface="Times New Roman" panose="02020603050405020304" pitchFamily="18" charset="0"/>
                          <a:cs typeface="Times New Roman" panose="02020603050405020304" pitchFamily="18" charset="0"/>
                        </a:rPr>
                        <a:t>Injection IM / IV - Prélèvement IV</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65178">
                <a:tc>
                  <a:txBody>
                    <a:bodyPr/>
                    <a:lstStyle/>
                    <a:p>
                      <a:pPr algn="ctr">
                        <a:lnSpc>
                          <a:spcPct val="125000"/>
                        </a:lnSpc>
                        <a:spcAft>
                          <a:spcPts val="0"/>
                        </a:spcAft>
                      </a:pPr>
                      <a:r>
                        <a:rPr lang="fr-FR" sz="2800" dirty="0">
                          <a:solidFill>
                            <a:srgbClr val="FFFF00"/>
                          </a:solidFill>
                          <a:effectLst/>
                          <a:latin typeface="Arial Black" panose="020B0A04020102020204" pitchFamily="34" charset="0"/>
                          <a:ea typeface="Times New Roman" panose="02020603050405020304" pitchFamily="18" charset="0"/>
                          <a:cs typeface="Times New Roman" panose="02020603050405020304" pitchFamily="18" charset="0"/>
                        </a:rPr>
                        <a:t>Jaune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chemeClr val="tx1"/>
                          </a:solidFill>
                          <a:effectLst/>
                          <a:latin typeface="Arial Black" panose="020B0A04020102020204" pitchFamily="34" charset="0"/>
                          <a:ea typeface="Times New Roman" panose="02020603050405020304" pitchFamily="18" charset="0"/>
                          <a:cs typeface="Times New Roman" panose="02020603050405020304" pitchFamily="18" charset="0"/>
                        </a:rPr>
                        <a:t>20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0,90 mm</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rgbClr val="FFFF00"/>
                          </a:solidFill>
                          <a:effectLst/>
                          <a:latin typeface="Arial Black" panose="020B0A04020102020204" pitchFamily="34" charset="0"/>
                          <a:ea typeface="Times New Roman" panose="02020603050405020304" pitchFamily="18" charset="0"/>
                          <a:cs typeface="Times New Roman" panose="02020603050405020304" pitchFamily="18" charset="0"/>
                        </a:rPr>
                        <a:t>Prélèvement IV</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865178">
                <a:tc>
                  <a:txBody>
                    <a:bodyPr/>
                    <a:lstStyle/>
                    <a:p>
                      <a:pPr algn="ctr">
                        <a:lnSpc>
                          <a:spcPct val="125000"/>
                        </a:lnSpc>
                        <a:spcAft>
                          <a:spcPts val="0"/>
                        </a:spcAft>
                      </a:pPr>
                      <a:r>
                        <a:rPr lang="fr-FR" sz="2400" dirty="0">
                          <a:solidFill>
                            <a:srgbClr val="C00000"/>
                          </a:solidFill>
                          <a:effectLst/>
                          <a:latin typeface="Arial Black" panose="020B0A04020102020204" pitchFamily="34" charset="0"/>
                          <a:ea typeface="Times New Roman" panose="02020603050405020304" pitchFamily="18" charset="0"/>
                          <a:cs typeface="Times New Roman" panose="02020603050405020304" pitchFamily="18" charset="0"/>
                        </a:rPr>
                        <a:t>Crème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chemeClr val="tx1"/>
                          </a:solidFill>
                          <a:effectLst/>
                          <a:latin typeface="Arial Black" panose="020B0A04020102020204" pitchFamily="34" charset="0"/>
                          <a:ea typeface="Times New Roman" panose="02020603050405020304" pitchFamily="18" charset="0"/>
                          <a:cs typeface="Times New Roman" panose="02020603050405020304" pitchFamily="18" charset="0"/>
                        </a:rPr>
                        <a:t>19 Gauges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1,10 mm</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5000"/>
                        </a:lnSpc>
                        <a:spcAft>
                          <a:spcPts val="0"/>
                        </a:spcAft>
                      </a:pPr>
                      <a:r>
                        <a:rPr lang="fr-FR" sz="2400" dirty="0">
                          <a:solidFill>
                            <a:srgbClr val="C00000"/>
                          </a:solidFill>
                          <a:effectLst/>
                          <a:latin typeface="Arial Black" panose="020B0A04020102020204" pitchFamily="34" charset="0"/>
                          <a:ea typeface="Times New Roman" panose="02020603050405020304" pitchFamily="18" charset="0"/>
                          <a:cs typeface="Times New Roman" panose="02020603050405020304" pitchFamily="18" charset="0"/>
                        </a:rPr>
                        <a:t>Prélèvement IV</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 name="Rectangle 1"/>
          <p:cNvSpPr>
            <a:spLocks noChangeArrowheads="1"/>
          </p:cNvSpPr>
          <p:nvPr/>
        </p:nvSpPr>
        <p:spPr bwMode="auto">
          <a:xfrm>
            <a:off x="3244850" y="31353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050784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546" y="0"/>
            <a:ext cx="12192000" cy="5978560"/>
          </a:xfrm>
          <a:prstGeom prst="rect">
            <a:avLst/>
          </a:prstGeom>
        </p:spPr>
        <p:txBody>
          <a:bodyPr wrap="square">
            <a:spAutoFit/>
          </a:bodyPr>
          <a:lstStyle/>
          <a:p>
            <a:pPr>
              <a:lnSpc>
                <a:spcPct val="125000"/>
              </a:lnSpc>
              <a:spcAft>
                <a:spcPts val="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 </a:t>
            </a:r>
            <a:endParaRPr lang="fr-FR" sz="1400" dirty="0">
              <a:latin typeface="Calibri" panose="020F0502020204030204" pitchFamily="34" charset="0"/>
              <a:ea typeface="Times New Roman" panose="02020603050405020304" pitchFamily="18" charset="0"/>
              <a:cs typeface="Times New Roman" panose="02020603050405020304" pitchFamily="18" charset="0"/>
            </a:endParaRPr>
          </a:p>
          <a:p>
            <a:pPr lvl="0" algn="ctr">
              <a:lnSpc>
                <a:spcPct val="125000"/>
              </a:lnSpc>
              <a:spcAft>
                <a:spcPts val="0"/>
              </a:spcAft>
              <a:tabLst>
                <a:tab pos="419100" algn="l"/>
              </a:tabLst>
            </a:pPr>
            <a:r>
              <a:rPr lang="fr-FR" sz="24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a:t>
            </a:r>
            <a:r>
              <a:rPr lang="fr-FR" sz="24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TECHNIQUE DU </a:t>
            </a:r>
            <a:r>
              <a:rPr lang="fr-FR" sz="24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SOIN </a:t>
            </a:r>
            <a:r>
              <a:rPr lang="fr-FR" sz="24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(1/2)</a:t>
            </a:r>
            <a:endParaRPr lang="fr-FR" sz="2400"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Vérifier la prescription médicale.</a:t>
            </a: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Préparer en respectant les règles d’hygiène, le produit à injecter.</a:t>
            </a: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effectuer un traitement hygiénique des mains par frictions avec une solution hydro-alcoolique.</a:t>
            </a: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Installer le matériel après vérification des dates de péremptions et de l’intégrité des emballages.</a:t>
            </a: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Installation sur une surface propre et désinfectée au préalable.</a:t>
            </a: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Installer le réniforme et le container à déchets contaminés piquants loin du matériel propre.</a:t>
            </a: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un traitement hygiénique</a:t>
            </a:r>
            <a:r>
              <a:rPr lang="fr-FR"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fr-FR" sz="2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807824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270" y="196053"/>
            <a:ext cx="11834192" cy="5978560"/>
          </a:xfrm>
          <a:prstGeom prst="rect">
            <a:avLst/>
          </a:prstGeom>
        </p:spPr>
        <p:txBody>
          <a:bodyPr wrap="square">
            <a:spAutoFit/>
          </a:bodyPr>
          <a:lstStyle/>
          <a:p>
            <a:pPr lvl="0" algn="ctr">
              <a:lnSpc>
                <a:spcPct val="125000"/>
              </a:lnSpc>
              <a:spcAft>
                <a:spcPts val="0"/>
              </a:spcAft>
              <a:tabLst>
                <a:tab pos="419100" algn="l"/>
              </a:tabLst>
            </a:pPr>
            <a:r>
              <a:rPr lang="fr-FR"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a:t>
            </a:r>
            <a:r>
              <a:rPr lang="fr-FR"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TECHNIQUE DU SOIN </a:t>
            </a:r>
            <a:r>
              <a:rPr lang="fr-FR"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(2/2)</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Mettre le garrot et vérifier la présence d’un pouls artériel en contrebas (pouls radial), sinon, risque de thrombose.</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Demander au patient de serrer le poing.</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Choisir la veine : préférer une veine de gros calibre pour les injections.</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Favoriser la vasodilatation de la veine, ce qui rend le geste plus facile</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Demander au patient de serrer le poing.</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Mettre le bras en déclive.</a:t>
            </a:r>
          </a:p>
          <a:p>
            <a:pPr lvl="0" algn="ctr">
              <a:lnSpc>
                <a:spcPct val="125000"/>
              </a:lnSpc>
              <a:spcAft>
                <a:spcPts val="0"/>
              </a:spcAft>
              <a:tabLst>
                <a:tab pos="419100" algn="l"/>
              </a:tabLst>
            </a:pPr>
            <a:endParaRPr lang="fr-FR" b="1" u="sng"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lvl="0" algn="ctr">
              <a:lnSpc>
                <a:spcPct val="125000"/>
              </a:lnSpc>
              <a:spcAft>
                <a:spcPts val="0"/>
              </a:spcAft>
              <a:tabLst>
                <a:tab pos="419100" algn="l"/>
              </a:tabLst>
            </a:pPr>
            <a:endParaRPr lang="fr-FR"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122803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46563"/>
            <a:ext cx="11277600" cy="5519460"/>
          </a:xfrm>
          <a:prstGeom prst="rect">
            <a:avLst/>
          </a:prstGeom>
        </p:spPr>
        <p:txBody>
          <a:bodyPr wrap="square">
            <a:spAutoFit/>
          </a:bodyPr>
          <a:lstStyle/>
          <a:p>
            <a:pPr>
              <a:lnSpc>
                <a:spcPct val="125000"/>
              </a:lnSpc>
              <a:spcAft>
                <a:spcPts val="0"/>
              </a:spcAft>
            </a:pPr>
            <a:r>
              <a:rPr lang="fr-FR" b="1" dirty="0">
                <a:latin typeface="Times New Roman" panose="02020603050405020304" pitchFamily="18" charset="0"/>
                <a:ea typeface="Times New Roman" panose="02020603050405020304" pitchFamily="18" charset="0"/>
                <a:cs typeface="Times New Roman" panose="02020603050405020304" pitchFamily="18" charset="0"/>
              </a:rPr>
              <a:t> </a:t>
            </a:r>
            <a:r>
              <a:rPr lang="fr-FR" sz="20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 </a:t>
            </a:r>
            <a:r>
              <a:rPr lang="fr-FR" sz="20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CHOIX DE LA VEINE DU MEMBRE </a:t>
            </a:r>
            <a:r>
              <a:rPr lang="fr-FR" sz="20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SUPERIEUR </a:t>
            </a:r>
            <a:r>
              <a:rPr lang="fr-FR" sz="20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(1/2)</a:t>
            </a:r>
            <a:endParaRPr lang="fr-FR" sz="2000"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r>
              <a:rPr lang="fr-FR" sz="2000" dirty="0">
                <a:latin typeface="Arial Black" panose="020B0A04020102020204" pitchFamily="34" charset="0"/>
                <a:ea typeface="Times New Roman" panose="02020603050405020304" pitchFamily="18" charset="0"/>
                <a:cs typeface="Times New Roman" panose="02020603050405020304" pitchFamily="18" charset="0"/>
              </a:rPr>
              <a:t>La veine doit être droite sans courbure loin d’une région osseuse ou du pli</a:t>
            </a:r>
          </a:p>
          <a:p>
            <a:pPr marL="342900" lvl="0" indent="-342900" algn="just">
              <a:lnSpc>
                <a:spcPct val="115000"/>
              </a:lnSpc>
              <a:spcAft>
                <a:spcPts val="4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Effectuer un lavage antiseptique des mains ou un traitement hygiénique.</a:t>
            </a:r>
          </a:p>
          <a:p>
            <a:pPr marL="342900" lvl="0" indent="-342900" algn="just">
              <a:lnSpc>
                <a:spcPct val="115000"/>
              </a:lnSpc>
              <a:spcAft>
                <a:spcPts val="4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Mettre les gants non stériles.</a:t>
            </a:r>
          </a:p>
          <a:p>
            <a:pPr marL="342900" lvl="0" indent="-342900" algn="just">
              <a:lnSpc>
                <a:spcPct val="115000"/>
              </a:lnSpc>
              <a:spcAft>
                <a:spcPts val="4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Mettre la protection sous la zone de ponction.</a:t>
            </a:r>
          </a:p>
          <a:p>
            <a:pPr marL="342900" lvl="0" indent="-342900" algn="just">
              <a:lnSpc>
                <a:spcPct val="115000"/>
              </a:lnSpc>
              <a:spcAft>
                <a:spcPts val="4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Effectuer un lavage antiseptique des mains ou un traitement hygiénique.</a:t>
            </a:r>
          </a:p>
          <a:p>
            <a:pPr marL="342900" lvl="0" indent="-342900" algn="just">
              <a:lnSpc>
                <a:spcPct val="115000"/>
              </a:lnSpc>
              <a:spcAft>
                <a:spcPts val="4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Mettre les gants propres</a:t>
            </a:r>
          </a:p>
          <a:p>
            <a:pPr marL="342900" lvl="0" indent="-342900" algn="just">
              <a:lnSpc>
                <a:spcPct val="115000"/>
              </a:lnSpc>
              <a:spcAft>
                <a:spcPts val="4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Pratiquer une antisepsie de la peau : </a:t>
            </a:r>
          </a:p>
          <a:p>
            <a:pPr marL="342900" lvl="0" indent="-342900" algn="just">
              <a:lnSpc>
                <a:spcPct val="115000"/>
              </a:lnSpc>
              <a:spcAft>
                <a:spcPts val="4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Procéder en partant du bas vers le haut afin de favoriser un afflux de sang.</a:t>
            </a:r>
          </a:p>
          <a:p>
            <a:pPr marL="342900" lvl="0" indent="-342900" algn="just">
              <a:lnSpc>
                <a:spcPct val="115000"/>
              </a:lnSpc>
              <a:spcAft>
                <a:spcPts val="4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Ne jamais repasser à un même endroit.</a:t>
            </a:r>
          </a:p>
          <a:p>
            <a:pPr marL="342900" lvl="0" indent="-342900" algn="just">
              <a:lnSpc>
                <a:spcPct val="115000"/>
              </a:lnSpc>
              <a:spcAft>
                <a:spcPts val="4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Utiliser une compresse par passage puis la jeter dans le sac à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déchets</a:t>
            </a:r>
          </a:p>
          <a:p>
            <a:pPr marL="342900" lvl="0" indent="-342900" algn="just">
              <a:lnSpc>
                <a:spcPct val="115000"/>
              </a:lnSpc>
              <a:spcAft>
                <a:spcPts val="400"/>
              </a:spcAft>
              <a:buFont typeface="Arial" panose="020B0604020202020204" pitchFamily="34" charset="0"/>
              <a:buChar char="-"/>
            </a:pPr>
            <a:r>
              <a:rPr lang="fr-FR" sz="2000" dirty="0" smtClean="0">
                <a:latin typeface="Arial Black" panose="020B0A04020102020204" pitchFamily="34" charset="0"/>
                <a:ea typeface="Times New Roman" panose="02020603050405020304" pitchFamily="18" charset="0"/>
              </a:rPr>
              <a:t>Introduire </a:t>
            </a:r>
            <a:r>
              <a:rPr lang="fr-FR" sz="2000" dirty="0">
                <a:latin typeface="Arial Black" panose="020B0A04020102020204" pitchFamily="34" charset="0"/>
                <a:ea typeface="Times New Roman" panose="02020603050405020304" pitchFamily="18" charset="0"/>
              </a:rPr>
              <a:t>l'aiguille biseau vers le haut, dans la veine, puis abaisser légèrement l'aiguille parallèlement à la peau et pénétrer la veine sur une distance d'au moins 1 cm</a:t>
            </a:r>
            <a:endParaRPr lang="fr-FR" sz="2000" dirty="0">
              <a:latin typeface="Arial Black" panose="020B0A04020102020204" pitchFamily="34" charset="0"/>
            </a:endParaRPr>
          </a:p>
        </p:txBody>
      </p:sp>
    </p:spTree>
    <p:extLst>
      <p:ext uri="{BB962C8B-B14F-4D97-AF65-F5344CB8AC3E}">
        <p14:creationId xmlns:p14="http://schemas.microsoft.com/office/powerpoint/2010/main" val="110904633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475945"/>
          </a:xfrm>
          <a:prstGeom prst="rect">
            <a:avLst/>
          </a:prstGeom>
        </p:spPr>
        <p:txBody>
          <a:bodyPr wrap="square">
            <a:spAutoFit/>
          </a:bodyPr>
          <a:lstStyle/>
          <a:p>
            <a:pPr algn="ctr">
              <a:lnSpc>
                <a:spcPct val="125000"/>
              </a:lnSpc>
              <a:spcAft>
                <a:spcPts val="0"/>
              </a:spcAft>
            </a:pPr>
            <a:r>
              <a:rPr lang="fr-FR" sz="23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 </a:t>
            </a:r>
            <a:r>
              <a:rPr lang="fr-FR" sz="23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CHOIX DE LA VEINE DU MEMBRE SUPERIEUR </a:t>
            </a:r>
            <a:r>
              <a:rPr lang="fr-FR" sz="23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(2/2)</a:t>
            </a:r>
            <a:endParaRPr lang="fr-FR" sz="2300" b="1" u="sng"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marL="285750" lvl="0" indent="-285750">
              <a:buFontTx/>
              <a:buChar char="-"/>
            </a:pPr>
            <a:r>
              <a:rPr lang="fr-FR" sz="2200" dirty="0" smtClean="0">
                <a:latin typeface="Arial Black" panose="020B0A04020102020204" pitchFamily="34" charset="0"/>
              </a:rPr>
              <a:t>Vérifier </a:t>
            </a:r>
            <a:r>
              <a:rPr lang="fr-FR" sz="2200" dirty="0">
                <a:latin typeface="Arial Black" panose="020B0A04020102020204" pitchFamily="34" charset="0"/>
              </a:rPr>
              <a:t>le reflux sanguin en tirant légèrement le piston. S'il n'y a pas de reflux sanguin, mobiliser l'aiguille pour l'introduire dans la </a:t>
            </a:r>
            <a:r>
              <a:rPr lang="fr-FR" sz="2200" dirty="0" smtClean="0">
                <a:latin typeface="Arial Black" panose="020B0A04020102020204" pitchFamily="34" charset="0"/>
              </a:rPr>
              <a:t>veine</a:t>
            </a:r>
          </a:p>
          <a:p>
            <a:pPr marL="285750" lvl="0" indent="-285750">
              <a:buFontTx/>
              <a:buChar char="-"/>
            </a:pPr>
            <a:r>
              <a:rPr lang="fr-FR" sz="2200" dirty="0" smtClean="0">
                <a:latin typeface="Arial Black" panose="020B0A04020102020204" pitchFamily="34" charset="0"/>
              </a:rPr>
              <a:t>Enlever </a:t>
            </a:r>
            <a:r>
              <a:rPr lang="fr-FR" sz="2200" dirty="0">
                <a:latin typeface="Arial Black" panose="020B0A04020102020204" pitchFamily="34" charset="0"/>
              </a:rPr>
              <a:t>le garrot, si présence d'un reflux </a:t>
            </a:r>
            <a:r>
              <a:rPr lang="fr-FR" sz="2200" dirty="0" smtClean="0">
                <a:latin typeface="Arial Black" panose="020B0A04020102020204" pitchFamily="34" charset="0"/>
              </a:rPr>
              <a:t>sanguin</a:t>
            </a:r>
          </a:p>
          <a:p>
            <a:pPr marL="285750" lvl="0" indent="-285750">
              <a:buFontTx/>
              <a:buChar char="-"/>
            </a:pPr>
            <a:r>
              <a:rPr lang="fr-FR" sz="2200" dirty="0" smtClean="0">
                <a:latin typeface="Arial Black" panose="020B0A04020102020204" pitchFamily="34" charset="0"/>
              </a:rPr>
              <a:t>Demander </a:t>
            </a:r>
            <a:r>
              <a:rPr lang="fr-FR" sz="2200" dirty="0">
                <a:latin typeface="Arial Black" panose="020B0A04020102020204" pitchFamily="34" charset="0"/>
              </a:rPr>
              <a:t>au patient de desserrer le </a:t>
            </a:r>
            <a:r>
              <a:rPr lang="fr-FR" sz="2200" dirty="0" smtClean="0">
                <a:latin typeface="Arial Black" panose="020B0A04020102020204" pitchFamily="34" charset="0"/>
              </a:rPr>
              <a:t>poing</a:t>
            </a:r>
          </a:p>
          <a:p>
            <a:pPr marL="285750" lvl="0" indent="-285750">
              <a:buFontTx/>
              <a:buChar char="-"/>
            </a:pPr>
            <a:r>
              <a:rPr lang="fr-FR" sz="2200" dirty="0" smtClean="0">
                <a:latin typeface="Arial Black" panose="020B0A04020102020204" pitchFamily="34" charset="0"/>
              </a:rPr>
              <a:t>Injecter </a:t>
            </a:r>
            <a:r>
              <a:rPr lang="fr-FR" sz="2200" dirty="0">
                <a:latin typeface="Arial Black" panose="020B0A04020102020204" pitchFamily="34" charset="0"/>
              </a:rPr>
              <a:t>le produit lentement tout en surveillant la réaction du </a:t>
            </a:r>
            <a:r>
              <a:rPr lang="fr-FR" sz="2200" dirty="0" smtClean="0">
                <a:latin typeface="Arial Black" panose="020B0A04020102020204" pitchFamily="34" charset="0"/>
              </a:rPr>
              <a:t>patient</a:t>
            </a:r>
          </a:p>
          <a:p>
            <a:pPr marL="285750" lvl="0" indent="-285750">
              <a:buFontTx/>
              <a:buChar char="-"/>
            </a:pPr>
            <a:r>
              <a:rPr lang="fr-FR" sz="2200" dirty="0" smtClean="0">
                <a:latin typeface="Arial Black" panose="020B0A04020102020204" pitchFamily="34" charset="0"/>
              </a:rPr>
              <a:t>Retirer </a:t>
            </a:r>
            <a:r>
              <a:rPr lang="fr-FR" sz="2200" dirty="0">
                <a:latin typeface="Arial Black" panose="020B0A04020102020204" pitchFamily="34" charset="0"/>
              </a:rPr>
              <a:t>l'aiguille et comprimer le point de ponction d'une compresse imbibée </a:t>
            </a:r>
            <a:r>
              <a:rPr lang="fr-FR" sz="2200" dirty="0" smtClean="0">
                <a:latin typeface="Arial Black" panose="020B0A04020102020204" pitchFamily="34" charset="0"/>
              </a:rPr>
              <a:t>d'antiseptique</a:t>
            </a:r>
          </a:p>
          <a:p>
            <a:pPr marL="285750" lvl="0" indent="-285750">
              <a:buFontTx/>
              <a:buChar char="-"/>
            </a:pPr>
            <a:r>
              <a:rPr lang="fr-FR" sz="2200" dirty="0" smtClean="0">
                <a:latin typeface="Arial Black" panose="020B0A04020102020204" pitchFamily="34" charset="0"/>
              </a:rPr>
              <a:t>Jeter </a:t>
            </a:r>
            <a:r>
              <a:rPr lang="fr-FR" sz="2200" dirty="0">
                <a:latin typeface="Arial Black" panose="020B0A04020102020204" pitchFamily="34" charset="0"/>
              </a:rPr>
              <a:t>immédiatement la seringue et l'aiguille dans le container à déchets contaminés </a:t>
            </a:r>
            <a:r>
              <a:rPr lang="fr-FR" sz="2200" dirty="0" smtClean="0">
                <a:latin typeface="Arial Black" panose="020B0A04020102020204" pitchFamily="34" charset="0"/>
              </a:rPr>
              <a:t>piquants</a:t>
            </a:r>
          </a:p>
          <a:p>
            <a:pPr marL="285750" lvl="0" indent="-285750">
              <a:buFontTx/>
              <a:buChar char="-"/>
            </a:pPr>
            <a:r>
              <a:rPr lang="fr-FR" sz="2200" dirty="0" smtClean="0">
                <a:latin typeface="Arial Black" panose="020B0A04020102020204" pitchFamily="34" charset="0"/>
              </a:rPr>
              <a:t>Mettre </a:t>
            </a:r>
            <a:r>
              <a:rPr lang="fr-FR" sz="2200" dirty="0">
                <a:latin typeface="Arial Black" panose="020B0A04020102020204" pitchFamily="34" charset="0"/>
              </a:rPr>
              <a:t>un </a:t>
            </a:r>
            <a:r>
              <a:rPr lang="fr-FR" sz="2200" dirty="0" smtClean="0">
                <a:latin typeface="Arial Black" panose="020B0A04020102020204" pitchFamily="34" charset="0"/>
              </a:rPr>
              <a:t>pansement</a:t>
            </a:r>
          </a:p>
          <a:p>
            <a:pPr marL="285750" lvl="0" indent="-285750">
              <a:buFontTx/>
              <a:buChar char="-"/>
            </a:pPr>
            <a:r>
              <a:rPr lang="fr-FR" sz="2200" dirty="0" smtClean="0">
                <a:latin typeface="Arial Black" panose="020B0A04020102020204" pitchFamily="34" charset="0"/>
              </a:rPr>
              <a:t>Jeter </a:t>
            </a:r>
            <a:r>
              <a:rPr lang="fr-FR" sz="2200" dirty="0">
                <a:latin typeface="Arial Black" panose="020B0A04020102020204" pitchFamily="34" charset="0"/>
              </a:rPr>
              <a:t>les </a:t>
            </a:r>
            <a:r>
              <a:rPr lang="fr-FR" sz="2200" dirty="0" smtClean="0">
                <a:latin typeface="Arial Black" panose="020B0A04020102020204" pitchFamily="34" charset="0"/>
              </a:rPr>
              <a:t>gants</a:t>
            </a:r>
          </a:p>
          <a:p>
            <a:pPr marL="285750" lvl="0" indent="-285750">
              <a:buFontTx/>
              <a:buChar char="-"/>
            </a:pPr>
            <a:r>
              <a:rPr lang="fr-FR" sz="2200" dirty="0" smtClean="0">
                <a:latin typeface="Arial Black" panose="020B0A04020102020204" pitchFamily="34" charset="0"/>
              </a:rPr>
              <a:t>Eliminer </a:t>
            </a:r>
            <a:r>
              <a:rPr lang="fr-FR" sz="2200" dirty="0">
                <a:latin typeface="Arial Black" panose="020B0A04020102020204" pitchFamily="34" charset="0"/>
              </a:rPr>
              <a:t>les déchets et désinfecter le matériel </a:t>
            </a:r>
            <a:r>
              <a:rPr lang="fr-FR" sz="2200" dirty="0" smtClean="0">
                <a:latin typeface="Arial Black" panose="020B0A04020102020204" pitchFamily="34" charset="0"/>
              </a:rPr>
              <a:t>utilisé</a:t>
            </a:r>
          </a:p>
          <a:p>
            <a:pPr marL="285750" lvl="0" indent="-285750">
              <a:buFontTx/>
              <a:buChar char="-"/>
            </a:pPr>
            <a:r>
              <a:rPr lang="fr-FR" sz="2200" dirty="0" smtClean="0">
                <a:latin typeface="Arial Black" panose="020B0A04020102020204" pitchFamily="34" charset="0"/>
              </a:rPr>
              <a:t>Effectuer </a:t>
            </a:r>
            <a:r>
              <a:rPr lang="fr-FR" sz="2200" dirty="0">
                <a:latin typeface="Arial Black" panose="020B0A04020102020204" pitchFamily="34" charset="0"/>
              </a:rPr>
              <a:t>un lavage simple des mains ou effectuer un traitement hygiénique des mains par frictions avec une solution </a:t>
            </a:r>
            <a:r>
              <a:rPr lang="fr-FR" sz="2200" dirty="0" smtClean="0">
                <a:latin typeface="Arial Black" panose="020B0A04020102020204" pitchFamily="34" charset="0"/>
              </a:rPr>
              <a:t>hydro-alcoolique</a:t>
            </a:r>
          </a:p>
          <a:p>
            <a:pPr marL="285750" lvl="0" indent="-285750">
              <a:buFontTx/>
              <a:buChar char="-"/>
            </a:pPr>
            <a:r>
              <a:rPr lang="fr-FR" sz="2200" dirty="0" smtClean="0">
                <a:latin typeface="Arial Black" panose="020B0A04020102020204" pitchFamily="34" charset="0"/>
              </a:rPr>
              <a:t>Réinstaller </a:t>
            </a:r>
            <a:r>
              <a:rPr lang="fr-FR" sz="2200" dirty="0">
                <a:latin typeface="Arial Black" panose="020B0A04020102020204" pitchFamily="34" charset="0"/>
              </a:rPr>
              <a:t>le patient</a:t>
            </a:r>
            <a:r>
              <a:rPr lang="fr-FR" sz="2300" dirty="0">
                <a:latin typeface="Arial Black" panose="020B0A04020102020204" pitchFamily="34" charset="0"/>
              </a:rPr>
              <a:t>.</a:t>
            </a:r>
          </a:p>
          <a:p>
            <a:pPr>
              <a:lnSpc>
                <a:spcPct val="125000"/>
              </a:lnSpc>
              <a:spcAft>
                <a:spcPts val="0"/>
              </a:spcAft>
            </a:pPr>
            <a:endParaRPr lang="fr-FR"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endParaRPr lang="fr-FR"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414159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30311" y="0"/>
            <a:ext cx="10474302" cy="978794"/>
          </a:xfrm>
        </p:spPr>
        <p:txBody>
          <a:bodyPr>
            <a:normAutofit fontScale="90000"/>
          </a:bodyPr>
          <a:lstStyle/>
          <a:p>
            <a:r>
              <a:rPr lang="fr-CI" sz="2700" b="1" dirty="0">
                <a:solidFill>
                  <a:srgbClr val="FF0000"/>
                </a:solidFill>
              </a:rPr>
              <a:t>Les sites d’injection intraveineuse du </a:t>
            </a:r>
            <a:r>
              <a:rPr lang="fr-CI" sz="2700" b="1" dirty="0" smtClean="0">
                <a:solidFill>
                  <a:srgbClr val="FF0000"/>
                </a:solidFill>
              </a:rPr>
              <a:t>membre supérieur </a:t>
            </a:r>
            <a:r>
              <a:rPr lang="fr-CI" sz="2700" b="1" dirty="0">
                <a:solidFill>
                  <a:srgbClr val="FF0000"/>
                </a:solidFill>
              </a:rPr>
              <a:t>(F 1)</a:t>
            </a:r>
            <a:r>
              <a:rPr lang="fr-FR" dirty="0"/>
              <a:t/>
            </a:r>
            <a:br>
              <a:rPr lang="fr-FR" dirty="0"/>
            </a:br>
            <a:endParaRPr lang="fr-FR" dirty="0"/>
          </a:p>
        </p:txBody>
      </p:sp>
      <p:sp>
        <p:nvSpPr>
          <p:cNvPr id="3" name="Espace réservé du contenu 2"/>
          <p:cNvSpPr>
            <a:spLocks noGrp="1"/>
          </p:cNvSpPr>
          <p:nvPr>
            <p:ph idx="1"/>
          </p:nvPr>
        </p:nvSpPr>
        <p:spPr>
          <a:xfrm>
            <a:off x="2305877" y="978794"/>
            <a:ext cx="8915400" cy="416417"/>
          </a:xfrm>
        </p:spPr>
        <p:txBody>
          <a:bodyPr>
            <a:normAutofit fontScale="92500" lnSpcReduction="10000"/>
          </a:bodyPr>
          <a:lstStyle/>
          <a:p>
            <a:endParaRPr lang="fr-FR" dirty="0"/>
          </a:p>
        </p:txBody>
      </p:sp>
      <p:pic>
        <p:nvPicPr>
          <p:cNvPr id="4" name="Image 3"/>
          <p:cNvPicPr>
            <a:picLocks noChangeAspect="1"/>
          </p:cNvPicPr>
          <p:nvPr/>
        </p:nvPicPr>
        <p:blipFill>
          <a:blip r:embed="rId2"/>
          <a:stretch>
            <a:fillRect/>
          </a:stretch>
        </p:blipFill>
        <p:spPr>
          <a:xfrm>
            <a:off x="1547355" y="489397"/>
            <a:ext cx="9440213" cy="5795493"/>
          </a:xfrm>
          <a:prstGeom prst="rect">
            <a:avLst/>
          </a:prstGeom>
        </p:spPr>
      </p:pic>
    </p:spTree>
    <p:extLst>
      <p:ext uri="{BB962C8B-B14F-4D97-AF65-F5344CB8AC3E}">
        <p14:creationId xmlns:p14="http://schemas.microsoft.com/office/powerpoint/2010/main" val="261620461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5749"/>
            <a:ext cx="11874321" cy="4608954"/>
          </a:xfrm>
          <a:prstGeom prst="rect">
            <a:avLst/>
          </a:prstGeom>
        </p:spPr>
        <p:txBody>
          <a:bodyPr wrap="square">
            <a:spAutoFit/>
          </a:bodyPr>
          <a:lstStyle/>
          <a:p>
            <a:pPr marL="342900" lvl="0" indent="-342900">
              <a:lnSpc>
                <a:spcPct val="125000"/>
              </a:lnSpc>
              <a:spcAft>
                <a:spcPts val="0"/>
              </a:spcAft>
              <a:buFont typeface="+mj-lt"/>
              <a:buAutoNum type="romanUcPeriod" startAt="6"/>
            </a:pP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RISQUES ET COMPLICATIONS</a:t>
            </a:r>
            <a:endPar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Hématome</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Douleur</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Choc anaphylactique : réaction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allergique; stopper </a:t>
            </a:r>
            <a:r>
              <a:rPr lang="fr-FR" sz="2800" dirty="0">
                <a:latin typeface="Arial Black" panose="020B0A04020102020204" pitchFamily="34" charset="0"/>
                <a:ea typeface="Times New Roman" panose="02020603050405020304" pitchFamily="18" charset="0"/>
                <a:cs typeface="Times New Roman" panose="02020603050405020304" pitchFamily="18" charset="0"/>
              </a:rPr>
              <a:t>l'injection, prévenir le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médecin</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lvl="0">
              <a:lnSpc>
                <a:spcPct val="125000"/>
              </a:lnSpc>
              <a:spcAft>
                <a:spcPts val="0"/>
              </a:spcAft>
            </a:pPr>
            <a:r>
              <a:rPr lang="fr-FR" sz="2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VII. </a:t>
            </a: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SURVEILLANCES </a:t>
            </a: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ET EVALUATIONS</a:t>
            </a:r>
            <a:endPar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Surveillance du point de ponction.</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Surveillance des réactions possibles du patient après l'injection</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25587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77272"/>
            <a:ext cx="6028571" cy="6207617"/>
          </a:xfrm>
          <a:prstGeom prst="rect">
            <a:avLst/>
          </a:prstGeom>
        </p:spPr>
      </p:pic>
      <p:pic>
        <p:nvPicPr>
          <p:cNvPr id="3" name="Image 2"/>
          <p:cNvPicPr>
            <a:picLocks noChangeAspect="1"/>
          </p:cNvPicPr>
          <p:nvPr/>
        </p:nvPicPr>
        <p:blipFill>
          <a:blip r:embed="rId3"/>
          <a:stretch>
            <a:fillRect/>
          </a:stretch>
        </p:blipFill>
        <p:spPr>
          <a:xfrm>
            <a:off x="6207617" y="154546"/>
            <a:ext cx="5884951" cy="6130344"/>
          </a:xfrm>
          <a:prstGeom prst="rect">
            <a:avLst/>
          </a:prstGeom>
        </p:spPr>
      </p:pic>
    </p:spTree>
    <p:extLst>
      <p:ext uri="{BB962C8B-B14F-4D97-AF65-F5344CB8AC3E}">
        <p14:creationId xmlns:p14="http://schemas.microsoft.com/office/powerpoint/2010/main" val="176702878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7127" y="103031"/>
            <a:ext cx="11857150" cy="1280890"/>
          </a:xfrm>
        </p:spPr>
        <p:txBody>
          <a:bodyPr>
            <a:normAutofit/>
          </a:bodyPr>
          <a:lstStyle/>
          <a:p>
            <a:r>
              <a:rPr lang="fr-FR" dirty="0">
                <a:solidFill>
                  <a:srgbClr val="FF0000"/>
                </a:solidFill>
              </a:rPr>
              <a:t>PRELEVEMENT DE </a:t>
            </a:r>
            <a:r>
              <a:rPr lang="fr-FR" dirty="0" smtClean="0">
                <a:solidFill>
                  <a:srgbClr val="FF0000"/>
                </a:solidFill>
              </a:rPr>
              <a:t>SANG PAR </a:t>
            </a:r>
            <a:r>
              <a:rPr lang="fr-FR" dirty="0">
                <a:solidFill>
                  <a:srgbClr val="FF0000"/>
                </a:solidFill>
              </a:rPr>
              <a:t>PONCTION VEINEUSE</a:t>
            </a:r>
            <a:br>
              <a:rPr lang="fr-FR" dirty="0">
                <a:solidFill>
                  <a:srgbClr val="FF0000"/>
                </a:solidFill>
              </a:rPr>
            </a:br>
            <a:endParaRPr lang="fr-FR" dirty="0">
              <a:solidFill>
                <a:srgbClr val="FF0000"/>
              </a:solidFill>
            </a:endParaRPr>
          </a:p>
        </p:txBody>
      </p:sp>
      <p:sp>
        <p:nvSpPr>
          <p:cNvPr id="3" name="Espace réservé du contenu 2"/>
          <p:cNvSpPr>
            <a:spLocks noGrp="1"/>
          </p:cNvSpPr>
          <p:nvPr>
            <p:ph idx="1"/>
          </p:nvPr>
        </p:nvSpPr>
        <p:spPr>
          <a:xfrm>
            <a:off x="373487" y="1383921"/>
            <a:ext cx="11350066" cy="4888090"/>
          </a:xfrm>
        </p:spPr>
        <p:txBody>
          <a:bodyPr>
            <a:noAutofit/>
          </a:bodyPr>
          <a:lstStyle/>
          <a:p>
            <a:pPr marL="0" lvl="0" indent="0">
              <a:buNone/>
            </a:pPr>
            <a:r>
              <a:rPr lang="fr-FR" sz="3200" b="1" dirty="0" smtClean="0">
                <a:solidFill>
                  <a:srgbClr val="FF0000"/>
                </a:solidFill>
                <a:latin typeface="Arial Black" panose="020B0A04020102020204" pitchFamily="34" charset="0"/>
              </a:rPr>
              <a:t>I.DEFINITION</a:t>
            </a:r>
            <a:endParaRPr lang="fr-FR" sz="3200" dirty="0">
              <a:solidFill>
                <a:srgbClr val="FF0000"/>
              </a:solidFill>
              <a:latin typeface="Arial Black" panose="020B0A04020102020204" pitchFamily="34" charset="0"/>
            </a:endParaRPr>
          </a:p>
          <a:p>
            <a:pPr marL="0" indent="0">
              <a:buNone/>
            </a:pPr>
            <a:r>
              <a:rPr lang="fr-FR" sz="3200" dirty="0">
                <a:latin typeface="Arial Black" panose="020B0A04020102020204" pitchFamily="34" charset="0"/>
              </a:rPr>
              <a:t>La ponction veineuse est le prélèvement d'un échantillon de sang veineux afin de réaliser une analyse de biologie </a:t>
            </a:r>
            <a:r>
              <a:rPr lang="fr-FR" sz="3200" dirty="0" smtClean="0">
                <a:latin typeface="Arial Black" panose="020B0A04020102020204" pitchFamily="34" charset="0"/>
              </a:rPr>
              <a:t>médicale</a:t>
            </a:r>
            <a:endParaRPr lang="fr-FR" sz="3200" dirty="0">
              <a:latin typeface="Arial Black" panose="020B0A04020102020204" pitchFamily="34" charset="0"/>
            </a:endParaRPr>
          </a:p>
          <a:p>
            <a:pPr marL="0" lvl="0" indent="0">
              <a:buNone/>
            </a:pPr>
            <a:r>
              <a:rPr lang="fr-FR" sz="3200" b="1" dirty="0" smtClean="0">
                <a:solidFill>
                  <a:srgbClr val="FF0000"/>
                </a:solidFill>
                <a:latin typeface="Arial Black" panose="020B0A04020102020204" pitchFamily="34" charset="0"/>
              </a:rPr>
              <a:t>II. INDICATIONS</a:t>
            </a:r>
            <a:endParaRPr lang="fr-FR" sz="3200" dirty="0">
              <a:solidFill>
                <a:srgbClr val="FF0000"/>
              </a:solidFill>
              <a:latin typeface="Arial Black" panose="020B0A04020102020204" pitchFamily="34" charset="0"/>
            </a:endParaRPr>
          </a:p>
          <a:p>
            <a:pPr lvl="0"/>
            <a:r>
              <a:rPr lang="fr-FR" sz="3200" dirty="0">
                <a:latin typeface="Arial Black" panose="020B0A04020102020204" pitchFamily="34" charset="0"/>
              </a:rPr>
              <a:t>Dépister des troubles </a:t>
            </a:r>
            <a:r>
              <a:rPr lang="fr-FR" sz="3200" dirty="0" smtClean="0">
                <a:latin typeface="Arial Black" panose="020B0A04020102020204" pitchFamily="34" charset="0"/>
              </a:rPr>
              <a:t>biologiques</a:t>
            </a:r>
            <a:endParaRPr lang="fr-FR" sz="3200" dirty="0">
              <a:latin typeface="Arial Black" panose="020B0A04020102020204" pitchFamily="34" charset="0"/>
            </a:endParaRPr>
          </a:p>
          <a:p>
            <a:pPr lvl="0"/>
            <a:r>
              <a:rPr lang="fr-FR" sz="3200" dirty="0">
                <a:latin typeface="Arial Black" panose="020B0A04020102020204" pitchFamily="34" charset="0"/>
              </a:rPr>
              <a:t>Aider au </a:t>
            </a:r>
            <a:r>
              <a:rPr lang="fr-FR" sz="3200" dirty="0" smtClean="0">
                <a:latin typeface="Arial Black" panose="020B0A04020102020204" pitchFamily="34" charset="0"/>
              </a:rPr>
              <a:t>diagnostic</a:t>
            </a:r>
            <a:endParaRPr lang="fr-FR" sz="3200" dirty="0">
              <a:latin typeface="Arial Black" panose="020B0A04020102020204" pitchFamily="34" charset="0"/>
            </a:endParaRPr>
          </a:p>
          <a:p>
            <a:r>
              <a:rPr lang="fr-FR" sz="3200" dirty="0">
                <a:latin typeface="Arial Black" panose="020B0A04020102020204" pitchFamily="34" charset="0"/>
              </a:rPr>
              <a:t>Suivre l'évolution d'un traitement ou d'une </a:t>
            </a:r>
            <a:r>
              <a:rPr lang="fr-FR" sz="3200" dirty="0" smtClean="0">
                <a:latin typeface="Arial Black" panose="020B0A04020102020204" pitchFamily="34" charset="0"/>
              </a:rPr>
              <a:t>maladie</a:t>
            </a:r>
            <a:endParaRPr lang="fr-FR" sz="3200" dirty="0">
              <a:latin typeface="Arial Black" panose="020B0A04020102020204" pitchFamily="34" charset="0"/>
            </a:endParaRPr>
          </a:p>
        </p:txBody>
      </p:sp>
    </p:spTree>
    <p:extLst>
      <p:ext uri="{BB962C8B-B14F-4D97-AF65-F5344CB8AC3E}">
        <p14:creationId xmlns:p14="http://schemas.microsoft.com/office/powerpoint/2010/main" val="161017702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7128" y="0"/>
            <a:ext cx="11354872" cy="5804666"/>
          </a:xfrm>
          <a:prstGeom prst="rect">
            <a:avLst/>
          </a:prstGeom>
        </p:spPr>
        <p:txBody>
          <a:bodyPr wrap="square">
            <a:spAutoFit/>
          </a:bodyPr>
          <a:lstStyle/>
          <a:p>
            <a:pPr lvl="0">
              <a:lnSpc>
                <a:spcPct val="125000"/>
              </a:lnSpc>
              <a:spcAft>
                <a:spcPts val="0"/>
              </a:spcAft>
              <a:tabLst>
                <a:tab pos="488950" algn="l"/>
              </a:tabLst>
            </a:pPr>
            <a:r>
              <a:rPr lang="fr-FR" sz="32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III. MATERIEL </a:t>
            </a:r>
            <a:r>
              <a:rPr lang="fr-FR" sz="3200" b="1"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(1/2)</a:t>
            </a:r>
            <a:endParaRPr lang="fr-FR" sz="3200"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Corps de pompe à usage unique (</a:t>
            </a:r>
            <a:r>
              <a:rPr lang="fr-FR" sz="3200" dirty="0" err="1">
                <a:latin typeface="Arial Black" panose="020B0A04020102020204" pitchFamily="34" charset="0"/>
                <a:ea typeface="Times New Roman" panose="02020603050405020304" pitchFamily="18" charset="0"/>
                <a:cs typeface="Times New Roman" panose="02020603050405020304" pitchFamily="18" charset="0"/>
              </a:rPr>
              <a:t>vacutainer</a:t>
            </a:r>
            <a:r>
              <a:rPr lang="fr-FR" sz="3200" dirty="0">
                <a:latin typeface="Arial Black" panose="020B0A04020102020204" pitchFamily="34" charset="0"/>
                <a:ea typeface="Times New Roman" panose="02020603050405020304" pitchFamily="18" charset="0"/>
                <a:cs typeface="Times New Roman" panose="02020603050405020304" pitchFamily="18" charset="0"/>
              </a:rPr>
              <a:t>).</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Aiguille à monter s'adaptant au corps de pompe.</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Aiguille épicrânienne équipée d'une tubulure et d'un adaptateur au corps de pompe.</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Seringue stérile et aiguille.</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Tube(s) de prélèvement sous vide.</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Antiseptique ou alcool modifié à 70°.</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Compresses non stériles ou boules de coton.</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Garrot.</a:t>
            </a:r>
            <a:endParaRPr lang="fr-FR" sz="32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087599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0158" y="755768"/>
            <a:ext cx="10908406" cy="5363007"/>
          </a:xfrm>
          <a:prstGeom prst="rect">
            <a:avLst/>
          </a:prstGeom>
        </p:spPr>
        <p:txBody>
          <a:bodyPr wrap="square">
            <a:spAutoFit/>
          </a:bodyPr>
          <a:lstStyle/>
          <a:p>
            <a:pPr lvl="0">
              <a:lnSpc>
                <a:spcPct val="125000"/>
              </a:lnSpc>
              <a:spcAft>
                <a:spcPts val="0"/>
              </a:spcAft>
              <a:tabLst>
                <a:tab pos="488950" algn="l"/>
              </a:tabLst>
            </a:pPr>
            <a:r>
              <a:rPr lang="fr-FR"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III. MATERIEL </a:t>
            </a:r>
            <a:r>
              <a:rPr lang="fr-FR" b="1"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(2/2)</a:t>
            </a:r>
          </a:p>
          <a:p>
            <a:pPr lvl="0"/>
            <a:r>
              <a:rPr lang="fr-FR" sz="3200" dirty="0">
                <a:latin typeface="Arial Black" panose="020B0A04020102020204" pitchFamily="34" charset="0"/>
              </a:rPr>
              <a:t>Protection papier absorbant à usage unique.</a:t>
            </a:r>
          </a:p>
          <a:p>
            <a:pPr lvl="0"/>
            <a:r>
              <a:rPr lang="fr-FR" sz="3200" dirty="0">
                <a:latin typeface="Arial Black" panose="020B0A04020102020204" pitchFamily="34" charset="0"/>
              </a:rPr>
              <a:t>Gants non stériles à usage unique.</a:t>
            </a:r>
          </a:p>
          <a:p>
            <a:pPr lvl="0"/>
            <a:r>
              <a:rPr lang="fr-FR" sz="3200" dirty="0">
                <a:latin typeface="Arial Black" panose="020B0A04020102020204" pitchFamily="34" charset="0"/>
              </a:rPr>
              <a:t>Etiquettes laboratoire d'identification patient.</a:t>
            </a:r>
          </a:p>
          <a:p>
            <a:pPr lvl="0"/>
            <a:r>
              <a:rPr lang="fr-FR" sz="3200" dirty="0">
                <a:latin typeface="Arial Black" panose="020B0A04020102020204" pitchFamily="34" charset="0"/>
              </a:rPr>
              <a:t>Bons d'analyses laboratoire, avec pochette de transport.</a:t>
            </a:r>
          </a:p>
          <a:p>
            <a:pPr lvl="0"/>
            <a:r>
              <a:rPr lang="fr-FR" sz="3200" dirty="0">
                <a:latin typeface="Arial Black" panose="020B0A04020102020204" pitchFamily="34" charset="0"/>
              </a:rPr>
              <a:t>Sac à élimination des déchets.</a:t>
            </a:r>
          </a:p>
          <a:p>
            <a:pPr lvl="0"/>
            <a:r>
              <a:rPr lang="fr-FR" sz="3200" dirty="0">
                <a:latin typeface="Arial Black" panose="020B0A04020102020204" pitchFamily="34" charset="0"/>
              </a:rPr>
              <a:t>Conteneur à déchets contaminés piquants et tranchants.</a:t>
            </a:r>
          </a:p>
          <a:p>
            <a:pPr lvl="0"/>
            <a:r>
              <a:rPr lang="fr-FR" sz="3200" dirty="0">
                <a:latin typeface="Arial Black" panose="020B0A04020102020204" pitchFamily="34" charset="0"/>
              </a:rPr>
              <a:t>Désinfectant de surface et </a:t>
            </a:r>
            <a:r>
              <a:rPr lang="fr-FR" sz="3200" dirty="0" err="1">
                <a:latin typeface="Arial Black" panose="020B0A04020102020204" pitchFamily="34" charset="0"/>
              </a:rPr>
              <a:t>chiffonnette</a:t>
            </a:r>
            <a:r>
              <a:rPr lang="fr-FR" sz="3200" dirty="0">
                <a:latin typeface="Arial Black" panose="020B0A04020102020204" pitchFamily="34" charset="0"/>
              </a:rPr>
              <a:t>.</a:t>
            </a:r>
          </a:p>
          <a:p>
            <a:pPr lvl="0"/>
            <a:r>
              <a:rPr lang="fr-FR" sz="3200" dirty="0">
                <a:latin typeface="Arial Black" panose="020B0A04020102020204" pitchFamily="34" charset="0"/>
              </a:rPr>
              <a:t>Nécessaire à l'hygiène des mains.</a:t>
            </a:r>
          </a:p>
        </p:txBody>
      </p:sp>
    </p:spTree>
    <p:extLst>
      <p:ext uri="{BB962C8B-B14F-4D97-AF65-F5344CB8AC3E}">
        <p14:creationId xmlns:p14="http://schemas.microsoft.com/office/powerpoint/2010/main" val="347032027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546" y="0"/>
            <a:ext cx="12037454" cy="6155531"/>
          </a:xfrm>
          <a:prstGeom prst="rect">
            <a:avLst/>
          </a:prstGeom>
        </p:spPr>
        <p:txBody>
          <a:bodyPr wrap="square">
            <a:spAutoFit/>
          </a:bodyPr>
          <a:lstStyle/>
          <a:p>
            <a:pPr lvl="0" algn="just">
              <a:lnSpc>
                <a:spcPct val="115000"/>
              </a:lnSpc>
              <a:spcAft>
                <a:spcPts val="0"/>
              </a:spcAft>
            </a:pPr>
            <a:endParaRPr lang="fr-FR" sz="1400" dirty="0">
              <a:latin typeface="Calibri" panose="020F0502020204030204" pitchFamily="34" charset="0"/>
              <a:ea typeface="Times New Roman" panose="02020603050405020304" pitchFamily="18" charset="0"/>
              <a:cs typeface="Times New Roman" panose="02020603050405020304" pitchFamily="18" charset="0"/>
            </a:endParaRPr>
          </a:p>
          <a:p>
            <a:pPr lvl="0">
              <a:lnSpc>
                <a:spcPct val="115000"/>
              </a:lnSpc>
              <a:spcAft>
                <a:spcPts val="0"/>
              </a:spcAft>
              <a:tabLst>
                <a:tab pos="488950" algn="l"/>
              </a:tabLst>
            </a:pPr>
            <a:r>
              <a:rPr lang="fr-FR" sz="22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IV. REALISATION </a:t>
            </a:r>
            <a:r>
              <a:rPr lang="fr-FR" sz="22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DU </a:t>
            </a:r>
            <a:r>
              <a:rPr lang="fr-FR" sz="22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SOIN </a:t>
            </a:r>
            <a:r>
              <a:rPr lang="fr-FR" sz="2200" b="1"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(1/4)</a:t>
            </a:r>
            <a:endParaRPr lang="fr-FR" sz="2200"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Vérifier la prescription médicale.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Vérifier la concordance entre la prescription médicale et le choix des tubes d’analyses.</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Prévenir le patient du soin.</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Réunir le matériel après vérification des dates de péremptions et de  l'intégrité des emballages.</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Placer le matériel sur une surface propre et désinfectée au préalable.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Installer le réniforme et le container à déchets contaminés piquants loin du matériel propre.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Respecter le triangle d'hygiène, de sécurité et d'ergonomie. </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Prélever le sang du côté opposé à la perfusion intraveineuse.</a:t>
            </a:r>
          </a:p>
          <a:p>
            <a:pPr marL="342900" lvl="0" indent="-342900" algn="just">
              <a:lnSpc>
                <a:spcPct val="115000"/>
              </a:lnSpc>
              <a:spcAft>
                <a:spcPts val="0"/>
              </a:spcAft>
              <a:buFont typeface="Arial" panose="020B0604020202020204" pitchFamily="34" charset="0"/>
              <a:buChar char="-"/>
            </a:pPr>
            <a:r>
              <a:rPr lang="fr-FR" sz="2200" dirty="0">
                <a:latin typeface="Arial Black" panose="020B0A04020102020204" pitchFamily="34" charset="0"/>
                <a:ea typeface="Times New Roman" panose="02020603050405020304" pitchFamily="18" charset="0"/>
                <a:cs typeface="Times New Roman" panose="02020603050405020304" pitchFamily="18" charset="0"/>
              </a:rPr>
              <a:t>Mettre le garrot 10 cm au-dessus du point de ponction et vérifier la présence d'un pouls artériel en contrebas (pouls radial), sinon, risque de thrombose</a:t>
            </a:r>
            <a:r>
              <a:rPr lang="fr-FR" sz="2200" dirty="0">
                <a:latin typeface="Times New Roman" panose="02020603050405020304" pitchFamily="18" charset="0"/>
                <a:ea typeface="Times New Roman" panose="02020603050405020304" pitchFamily="18" charset="0"/>
                <a:cs typeface="Times New Roman" panose="02020603050405020304" pitchFamily="18" charset="0"/>
              </a:rPr>
              <a:t>.</a:t>
            </a:r>
            <a:endParaRPr lang="fr-FR" sz="2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987669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0761" y="0"/>
            <a:ext cx="11590985" cy="5401479"/>
          </a:xfrm>
          <a:prstGeom prst="rect">
            <a:avLst/>
          </a:prstGeom>
        </p:spPr>
        <p:txBody>
          <a:bodyPr wrap="square">
            <a:spAutoFit/>
          </a:bodyPr>
          <a:lstStyle/>
          <a:p>
            <a:pPr marL="381000">
              <a:lnSpc>
                <a:spcPct val="115000"/>
              </a:lnSpc>
            </a:pPr>
            <a:r>
              <a:rPr lang="fr-FR"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REALISATION DU SOIN </a:t>
            </a:r>
            <a:r>
              <a:rPr lang="fr-FR" sz="2000" b="1"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(2/4</a:t>
            </a:r>
            <a:r>
              <a:rPr lang="fr-FR" sz="2000" b="1"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a:t>
            </a:r>
            <a:endParaRPr lang="fr-FR" sz="2000"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marL="381000">
              <a:lnSpc>
                <a:spcPct val="115000"/>
              </a:lnSpc>
              <a:spcAft>
                <a:spcPts val="0"/>
              </a:spcAft>
            </a:pPr>
            <a:r>
              <a:rPr lang="fr-FR" sz="2000" i="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La </a:t>
            </a:r>
            <a:r>
              <a:rPr lang="fr-FR" sz="2000" i="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pose du garrot durant plus de 3 minutes peut modifier les résultats d’analyse puisqu’il y a un risque d'hémolyse des globules.</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Choisir la veine à ponctionner.</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Favoriser la vasodilatation de la veine, ce qui rend le geste plus facile :</a:t>
            </a:r>
          </a:p>
          <a:p>
            <a:pPr marL="342900" lvl="0" indent="-342900" algn="just">
              <a:lnSpc>
                <a:spcPct val="115000"/>
              </a:lnSpc>
              <a:spcAft>
                <a:spcPts val="0"/>
              </a:spcAft>
              <a:buFont typeface="Wingdings" panose="05000000000000000000" pitchFamily="2" charset="2"/>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Demander au patient de serrer le poing.</a:t>
            </a:r>
          </a:p>
          <a:p>
            <a:pPr marL="342900" lvl="0" indent="-342900" algn="just">
              <a:lnSpc>
                <a:spcPct val="115000"/>
              </a:lnSpc>
              <a:spcAft>
                <a:spcPts val="0"/>
              </a:spcAft>
              <a:buFont typeface="Wingdings" panose="05000000000000000000" pitchFamily="2" charset="2"/>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Mettre le bras en déclive.</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Mettre la protection sous la zone de ponction.</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Effectuer un lavage antiseptique des mains ou effectuer un traitement hygiénique des mains.</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Mettre les gants non stériles.</a:t>
            </a:r>
          </a:p>
          <a:p>
            <a:pPr marL="342900" lvl="0" indent="-342900" algn="just">
              <a:lnSpc>
                <a:spcPct val="11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Pratiquer une antisepsie de la peau : </a:t>
            </a:r>
          </a:p>
          <a:p>
            <a:pPr marL="342900" lvl="0" indent="-342900" algn="just">
              <a:lnSpc>
                <a:spcPct val="115000"/>
              </a:lnSpc>
              <a:spcAft>
                <a:spcPts val="0"/>
              </a:spcAft>
              <a:buFont typeface="Symbol" panose="05050102010706020507" pitchFamily="18" charset="2"/>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Procéder en partant du bas vers le haut pour favoriser un afflux de sang.</a:t>
            </a:r>
          </a:p>
          <a:p>
            <a:pPr marL="342900" lvl="0" indent="-342900" algn="just">
              <a:lnSpc>
                <a:spcPct val="115000"/>
              </a:lnSpc>
              <a:spcAft>
                <a:spcPts val="0"/>
              </a:spcAft>
              <a:buFont typeface="Symbol" panose="05050102010706020507" pitchFamily="18" charset="2"/>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Ne jamais repasser à un même endroit.</a:t>
            </a:r>
          </a:p>
          <a:p>
            <a:pPr marL="342900" lvl="0" indent="-342900" algn="just">
              <a:lnSpc>
                <a:spcPct val="115000"/>
              </a:lnSpc>
              <a:spcAft>
                <a:spcPts val="0"/>
              </a:spcAft>
              <a:buFont typeface="Symbol" panose="05050102010706020507" pitchFamily="18" charset="2"/>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Utiliser une compresse par passage puis la jeter dans le sac à déchets</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981854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032" y="0"/>
            <a:ext cx="12088968" cy="6604885"/>
          </a:xfrm>
          <a:prstGeom prst="rect">
            <a:avLst/>
          </a:prstGeom>
        </p:spPr>
        <p:txBody>
          <a:bodyPr wrap="square">
            <a:spAutoFit/>
          </a:bodyPr>
          <a:lstStyle/>
          <a:p>
            <a:pPr marL="342900" indent="-342900" algn="just">
              <a:lnSpc>
                <a:spcPct val="115000"/>
              </a:lnSpc>
              <a:buFont typeface="Arial" panose="020B0604020202020204" pitchFamily="34" charset="0"/>
              <a:buChar char="-"/>
            </a:pPr>
            <a:r>
              <a:rPr lang="fr-FR"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IV</a:t>
            </a:r>
            <a:r>
              <a:rPr lang="fr-FR"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REALISATION DU SOIN </a:t>
            </a:r>
            <a:r>
              <a:rPr lang="fr-FR" b="1"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(3/4)</a:t>
            </a:r>
            <a:endParaRPr lang="fr-FR"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Introduire </a:t>
            </a:r>
            <a:r>
              <a:rPr lang="fr-FR" sz="2800" dirty="0">
                <a:latin typeface="Arial Black" panose="020B0A04020102020204" pitchFamily="34" charset="0"/>
                <a:ea typeface="Times New Roman" panose="02020603050405020304" pitchFamily="18" charset="0"/>
                <a:cs typeface="Times New Roman" panose="02020603050405020304" pitchFamily="18" charset="0"/>
              </a:rPr>
              <a:t>l'aiguille biseau vers le haut, dans la veine.</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Maintenir et immobiliser le corps de prélèvement avec le pouce et l'index de la main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dominante</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Introduire les tubes de prélèvements avec la main non dominante selon un ordre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précis</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Pendant que le tube se remplit, homogénéiser le tube précédent par des retournements lents </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Tubes avec gels : 5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retournements</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Autres tubes : 8 à 10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retournements </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Enlever le tube du corps de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prélèvement</a:t>
            </a:r>
          </a:p>
          <a:p>
            <a:pPr marL="342900" lvl="0" indent="-342900" algn="just">
              <a:lnSpc>
                <a:spcPct val="115000"/>
              </a:lnSpc>
              <a:spcAft>
                <a:spcPts val="0"/>
              </a:spcAft>
              <a:buFont typeface="Arial" panose="020B0604020202020204" pitchFamily="34" charset="0"/>
              <a:buChar char="-"/>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Tout </a:t>
            </a:r>
            <a:r>
              <a:rPr lang="fr-FR" sz="2800" dirty="0">
                <a:latin typeface="Arial Black" panose="020B0A04020102020204" pitchFamily="34" charset="0"/>
                <a:ea typeface="Times New Roman" panose="02020603050405020304" pitchFamily="18" charset="0"/>
                <a:cs typeface="Times New Roman" panose="02020603050405020304" pitchFamily="18" charset="0"/>
              </a:rPr>
              <a:t>en maintenant l'aiguille, desserrer le garrot d'une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main</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51851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9397" y="0"/>
            <a:ext cx="11590986" cy="5896999"/>
          </a:xfrm>
          <a:prstGeom prst="rect">
            <a:avLst/>
          </a:prstGeom>
        </p:spPr>
        <p:txBody>
          <a:bodyPr wrap="square">
            <a:spAutoFit/>
          </a:bodyPr>
          <a:lstStyle/>
          <a:p>
            <a:pPr marL="342900" indent="-342900" algn="just">
              <a:lnSpc>
                <a:spcPct val="115000"/>
              </a:lnSpc>
              <a:buFont typeface="Arial" panose="020B0604020202020204" pitchFamily="34" charset="0"/>
              <a:buChar char="-"/>
            </a:pPr>
            <a:r>
              <a:rPr lang="fr-FR" sz="16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REALISATION DU SOIN </a:t>
            </a:r>
            <a:r>
              <a:rPr lang="fr-FR" sz="1600" b="1"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(4/4)</a:t>
            </a:r>
            <a:endParaRPr lang="fr-FR" sz="2400"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Retirer </a:t>
            </a:r>
            <a:r>
              <a:rPr lang="fr-FR" sz="2400" dirty="0">
                <a:latin typeface="Arial Black" panose="020B0A04020102020204" pitchFamily="34" charset="0"/>
                <a:ea typeface="Times New Roman" panose="02020603050405020304" pitchFamily="18" charset="0"/>
                <a:cs typeface="Times New Roman" panose="02020603050405020304" pitchFamily="18" charset="0"/>
              </a:rPr>
              <a:t>l'aiguille et comprimer le point de ponction pour éviter un hématome.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Jeter immédiatement le corps de pompe et l'aiguille dans le container à déchets contaminés piquants.</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Enlever et jeter les gants.</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Mettre un pansement.</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Eliminer les déchets et désinfecter le matériel utilisé.</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effectuer un traitement hygiénique.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Vérifier la concordance des étiquettes et de l'identité du patient puis étiqueter les tubes d'analyses, remplir les bons d'analyse et acheminer les tubes au laboratoire d'analyse.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Ranger le matériel et noter le soin</a:t>
            </a:r>
          </a:p>
        </p:txBody>
      </p:sp>
    </p:spTree>
    <p:extLst>
      <p:ext uri="{BB962C8B-B14F-4D97-AF65-F5344CB8AC3E}">
        <p14:creationId xmlns:p14="http://schemas.microsoft.com/office/powerpoint/2010/main" val="324091377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6011" y="0"/>
            <a:ext cx="12015989" cy="6321731"/>
          </a:xfrm>
          <a:prstGeom prst="rect">
            <a:avLst/>
          </a:prstGeom>
        </p:spPr>
        <p:txBody>
          <a:bodyPr wrap="square">
            <a:spAutoFit/>
          </a:bodyPr>
          <a:lstStyle/>
          <a:p>
            <a:pPr lvl="0">
              <a:lnSpc>
                <a:spcPct val="115000"/>
              </a:lnSpc>
              <a:spcAft>
                <a:spcPts val="0"/>
              </a:spcAft>
              <a:tabLst>
                <a:tab pos="488950" algn="l"/>
              </a:tabLst>
            </a:pPr>
            <a:r>
              <a:rPr lang="fr-FR" sz="32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V-COMPLICATIONS</a:t>
            </a:r>
            <a:endParaRPr lang="fr-FR" sz="32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Hématome au point de ponction : bien comprimer le point de ponction après le prélèvement.</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Défaut de reflux du sang : non ponction de la veine, transpercement de la veine, veine trop ou pas assez comprimée.</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Douleur.</a:t>
            </a: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Malaise vagal : stopper le soin, mettre le patient en déclive.</a:t>
            </a:r>
          </a:p>
          <a:p>
            <a:pPr lvl="0">
              <a:lnSpc>
                <a:spcPct val="115000"/>
              </a:lnSpc>
              <a:spcAft>
                <a:spcPts val="0"/>
              </a:spcAft>
              <a:tabLst>
                <a:tab pos="488950" algn="l"/>
              </a:tabLst>
            </a:pPr>
            <a:r>
              <a:rPr lang="fr-FR" sz="32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VI- SURVEILLANCE</a:t>
            </a:r>
            <a:endParaRPr lang="fr-FR" sz="32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Surveillance du point de ponction</a:t>
            </a:r>
            <a:endParaRPr lang="fr-FR" sz="32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28022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115910"/>
            <a:ext cx="5419390" cy="6078828"/>
          </a:xfrm>
          <a:prstGeom prst="rect">
            <a:avLst/>
          </a:prstGeom>
        </p:spPr>
      </p:pic>
      <p:pic>
        <p:nvPicPr>
          <p:cNvPr id="3" name="Image 2"/>
          <p:cNvPicPr>
            <a:picLocks noChangeAspect="1"/>
          </p:cNvPicPr>
          <p:nvPr/>
        </p:nvPicPr>
        <p:blipFill>
          <a:blip r:embed="rId3"/>
          <a:stretch>
            <a:fillRect/>
          </a:stretch>
        </p:blipFill>
        <p:spPr>
          <a:xfrm>
            <a:off x="5419390" y="115910"/>
            <a:ext cx="6673872" cy="5950039"/>
          </a:xfrm>
          <a:prstGeom prst="rect">
            <a:avLst/>
          </a:prstGeom>
        </p:spPr>
      </p:pic>
    </p:spTree>
    <p:extLst>
      <p:ext uri="{BB962C8B-B14F-4D97-AF65-F5344CB8AC3E}">
        <p14:creationId xmlns:p14="http://schemas.microsoft.com/office/powerpoint/2010/main" val="73489104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0"/>
            <a:ext cx="8911687" cy="1133341"/>
          </a:xfrm>
        </p:spPr>
        <p:txBody>
          <a:bodyPr>
            <a:normAutofit/>
          </a:bodyPr>
          <a:lstStyle/>
          <a:p>
            <a:r>
              <a:rPr lang="fr-FR" dirty="0">
                <a:solidFill>
                  <a:srgbClr val="FF0000"/>
                </a:solidFill>
              </a:rPr>
              <a:t>PERFUSION INTRAVEINEUSE</a:t>
            </a:r>
            <a:r>
              <a:rPr lang="fr-FR" dirty="0"/>
              <a:t/>
            </a:r>
            <a:br>
              <a:rPr lang="fr-FR" dirty="0"/>
            </a:br>
            <a:endParaRPr lang="fr-FR" dirty="0"/>
          </a:p>
        </p:txBody>
      </p:sp>
      <p:sp>
        <p:nvSpPr>
          <p:cNvPr id="3" name="Espace réservé du contenu 2"/>
          <p:cNvSpPr>
            <a:spLocks noGrp="1"/>
          </p:cNvSpPr>
          <p:nvPr>
            <p:ph idx="1"/>
          </p:nvPr>
        </p:nvSpPr>
        <p:spPr>
          <a:xfrm>
            <a:off x="193183" y="901521"/>
            <a:ext cx="11998817" cy="5589431"/>
          </a:xfrm>
        </p:spPr>
        <p:txBody>
          <a:bodyPr>
            <a:normAutofit fontScale="25000" lnSpcReduction="20000"/>
          </a:bodyPr>
          <a:lstStyle/>
          <a:p>
            <a:pPr marL="342900" lvl="0" indent="-342900">
              <a:lnSpc>
                <a:spcPct val="125000"/>
              </a:lnSpc>
              <a:spcAft>
                <a:spcPts val="0"/>
              </a:spcAft>
              <a:buFont typeface="+mj-lt"/>
              <a:buAutoNum type="romanUcPeriod"/>
              <a:tabLst>
                <a:tab pos="419100" algn="l"/>
              </a:tabLst>
            </a:pPr>
            <a:r>
              <a:rPr lang="fr-FR" sz="92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DEFINITION</a:t>
            </a:r>
            <a:endParaRPr lang="fr-FR" sz="92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0" indent="0" algn="just">
              <a:lnSpc>
                <a:spcPct val="120000"/>
              </a:lnSpc>
              <a:spcAft>
                <a:spcPts val="0"/>
              </a:spcAft>
              <a:buNone/>
            </a:pPr>
            <a:r>
              <a:rPr lang="fr-FR" sz="9200" dirty="0">
                <a:latin typeface="Arial Black" panose="020B0A04020102020204" pitchFamily="34" charset="0"/>
                <a:ea typeface="Times New Roman" panose="02020603050405020304" pitchFamily="18" charset="0"/>
                <a:cs typeface="Times New Roman" panose="02020603050405020304" pitchFamily="18" charset="0"/>
              </a:rPr>
              <a:t>La perfusion périphérique ou intraveineuse est l’introduction d’un cathéter court dans une veine superficielle qui permet d'administrer chez un patient des solutés et/ou des médicaments de façon continue ou </a:t>
            </a: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discontinue</a:t>
            </a:r>
          </a:p>
          <a:p>
            <a:pPr marL="0" indent="0" algn="just">
              <a:lnSpc>
                <a:spcPct val="120000"/>
              </a:lnSpc>
              <a:spcAft>
                <a:spcPts val="0"/>
              </a:spcAft>
              <a:buNone/>
            </a:pPr>
            <a:r>
              <a:rPr lang="fr-FR" sz="92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 INDICATIONS</a:t>
            </a:r>
            <a:endParaRPr lang="fr-FR" sz="920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lvl="0">
              <a:lnSpc>
                <a:spcPct val="120000"/>
              </a:lnSpc>
              <a:spcAft>
                <a:spcPts val="300"/>
              </a:spcAft>
              <a:buFont typeface="Wingdings" panose="05000000000000000000" pitchFamily="2" charset="2"/>
              <a:buChar char="Ø"/>
              <a:tabLst>
                <a:tab pos="419100" algn="l"/>
              </a:tabLst>
            </a:pP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Disposer </a:t>
            </a:r>
            <a:r>
              <a:rPr lang="fr-FR" sz="9200" dirty="0">
                <a:latin typeface="Arial Black" panose="020B0A04020102020204" pitchFamily="34" charset="0"/>
                <a:ea typeface="Times New Roman" panose="02020603050405020304" pitchFamily="18" charset="0"/>
                <a:cs typeface="Times New Roman" panose="02020603050405020304" pitchFamily="18" charset="0"/>
              </a:rPr>
              <a:t>d’une voie d’abord veineuse en cas d’urgence et de </a:t>
            </a: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réanimation</a:t>
            </a:r>
          </a:p>
          <a:p>
            <a:pPr lvl="0">
              <a:lnSpc>
                <a:spcPct val="120000"/>
              </a:lnSpc>
              <a:spcAft>
                <a:spcPts val="300"/>
              </a:spcAft>
              <a:buFont typeface="Wingdings" panose="05000000000000000000" pitchFamily="2" charset="2"/>
              <a:buChar char="Ø"/>
              <a:tabLst>
                <a:tab pos="419100" algn="l"/>
              </a:tabLst>
            </a:pP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Administration </a:t>
            </a:r>
            <a:r>
              <a:rPr lang="fr-FR" sz="9200" dirty="0">
                <a:latin typeface="Arial Black" panose="020B0A04020102020204" pitchFamily="34" charset="0"/>
                <a:ea typeface="Times New Roman" panose="02020603050405020304" pitchFamily="18" charset="0"/>
                <a:cs typeface="Times New Roman" panose="02020603050405020304" pitchFamily="18" charset="0"/>
              </a:rPr>
              <a:t>de </a:t>
            </a: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médicaments</a:t>
            </a:r>
          </a:p>
          <a:p>
            <a:pPr lvl="0">
              <a:lnSpc>
                <a:spcPct val="120000"/>
              </a:lnSpc>
              <a:spcAft>
                <a:spcPts val="300"/>
              </a:spcAft>
              <a:buFont typeface="Wingdings" panose="05000000000000000000" pitchFamily="2" charset="2"/>
              <a:buChar char="Ø"/>
              <a:tabLst>
                <a:tab pos="419100" algn="l"/>
              </a:tabLst>
            </a:pP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Apport </a:t>
            </a:r>
            <a:r>
              <a:rPr lang="fr-FR" sz="9200" dirty="0">
                <a:latin typeface="Arial Black" panose="020B0A04020102020204" pitchFamily="34" charset="0"/>
                <a:ea typeface="Times New Roman" panose="02020603050405020304" pitchFamily="18" charset="0"/>
                <a:cs typeface="Times New Roman" panose="02020603050405020304" pitchFamily="18" charset="0"/>
              </a:rPr>
              <a:t>hydrique et/ou </a:t>
            </a: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électrolytique</a:t>
            </a:r>
          </a:p>
          <a:p>
            <a:pPr lvl="0">
              <a:lnSpc>
                <a:spcPct val="120000"/>
              </a:lnSpc>
              <a:spcAft>
                <a:spcPts val="300"/>
              </a:spcAft>
              <a:buFont typeface="Wingdings" panose="05000000000000000000" pitchFamily="2" charset="2"/>
              <a:buChar char="Ø"/>
              <a:tabLst>
                <a:tab pos="419100" algn="l"/>
              </a:tabLst>
            </a:pP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Transfusion </a:t>
            </a:r>
            <a:r>
              <a:rPr lang="fr-FR" sz="9200" dirty="0">
                <a:latin typeface="Arial Black" panose="020B0A04020102020204" pitchFamily="34" charset="0"/>
                <a:ea typeface="Times New Roman" panose="02020603050405020304" pitchFamily="18" charset="0"/>
                <a:cs typeface="Times New Roman" panose="02020603050405020304" pitchFamily="18" charset="0"/>
              </a:rPr>
              <a:t>de produits </a:t>
            </a: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sanguins</a:t>
            </a:r>
          </a:p>
          <a:p>
            <a:pPr lvl="0">
              <a:lnSpc>
                <a:spcPct val="120000"/>
              </a:lnSpc>
              <a:spcAft>
                <a:spcPts val="300"/>
              </a:spcAft>
              <a:buFont typeface="Wingdings" panose="05000000000000000000" pitchFamily="2" charset="2"/>
              <a:buChar char="Ø"/>
              <a:tabLst>
                <a:tab pos="419100" algn="l"/>
              </a:tabLst>
            </a:pPr>
            <a:r>
              <a:rPr lang="fr-FR" sz="9200" dirty="0" smtClean="0">
                <a:latin typeface="Arial Black" panose="020B0A04020102020204" pitchFamily="34" charset="0"/>
                <a:ea typeface="Times New Roman" panose="02020603050405020304" pitchFamily="18" charset="0"/>
                <a:cs typeface="Times New Roman" panose="02020603050405020304" pitchFamily="18" charset="0"/>
              </a:rPr>
              <a:t>Alimentation </a:t>
            </a:r>
            <a:r>
              <a:rPr lang="fr-FR" sz="9200" dirty="0">
                <a:latin typeface="Arial Black" panose="020B0A04020102020204" pitchFamily="34" charset="0"/>
                <a:ea typeface="Times New Roman" panose="02020603050405020304" pitchFamily="18" charset="0"/>
                <a:cs typeface="Times New Roman" panose="02020603050405020304" pitchFamily="18" charset="0"/>
              </a:rPr>
              <a:t>parentérale</a:t>
            </a:r>
          </a:p>
          <a:p>
            <a:pPr marL="0" indent="0">
              <a:buNone/>
            </a:pPr>
            <a:endParaRPr lang="fr-FR" dirty="0"/>
          </a:p>
        </p:txBody>
      </p:sp>
    </p:spTree>
    <p:extLst>
      <p:ext uri="{BB962C8B-B14F-4D97-AF65-F5344CB8AC3E}">
        <p14:creationId xmlns:p14="http://schemas.microsoft.com/office/powerpoint/2010/main" val="242803383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22" y="193183"/>
            <a:ext cx="11075830" cy="3862596"/>
          </a:xfrm>
          <a:prstGeom prst="rect">
            <a:avLst/>
          </a:prstGeom>
        </p:spPr>
        <p:txBody>
          <a:bodyPr wrap="square">
            <a:spAutoFit/>
          </a:bodyPr>
          <a:lstStyle/>
          <a:p>
            <a:pPr lvl="0">
              <a:lnSpc>
                <a:spcPct val="125000"/>
              </a:lnSpc>
              <a:spcAft>
                <a:spcPts val="0"/>
              </a:spcAft>
              <a:tabLst>
                <a:tab pos="419100" algn="l"/>
              </a:tabLst>
            </a:pP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III. CONTRE-INDICATIONS</a:t>
            </a:r>
            <a:endParaRPr lang="fr-FR" sz="280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285750" lvl="0" indent="-285750">
              <a:lnSpc>
                <a:spcPct val="125000"/>
              </a:lnSpc>
              <a:spcAft>
                <a:spcPts val="0"/>
              </a:spcAft>
              <a:buFont typeface="Wingdings" panose="05000000000000000000" pitchFamily="2" charset="2"/>
              <a:buChar char="Ø"/>
              <a:tabLst>
                <a:tab pos="419100" algn="l"/>
              </a:tabLs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Anémie sévère</a:t>
            </a:r>
          </a:p>
          <a:p>
            <a:pPr marL="285750" lvl="0" indent="-285750">
              <a:lnSpc>
                <a:spcPct val="125000"/>
              </a:lnSpc>
              <a:spcAft>
                <a:spcPts val="0"/>
              </a:spcAft>
              <a:buFont typeface="Wingdings" panose="05000000000000000000" pitchFamily="2" charset="2"/>
              <a:buChar char="Ø"/>
              <a:tabLst>
                <a:tab pos="419100" algn="l"/>
              </a:tabLs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Anasarque</a:t>
            </a:r>
          </a:p>
          <a:p>
            <a:pPr marL="285750" lvl="0" indent="-285750">
              <a:lnSpc>
                <a:spcPct val="125000"/>
              </a:lnSpc>
              <a:spcAft>
                <a:spcPts val="0"/>
              </a:spcAft>
              <a:buFont typeface="Wingdings" panose="05000000000000000000" pitchFamily="2" charset="2"/>
              <a:buChar char="Ø"/>
              <a:tabLst>
                <a:tab pos="419100" algn="l"/>
              </a:tabLs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Œdème </a:t>
            </a:r>
            <a:r>
              <a:rPr lang="fr-FR" sz="2800" dirty="0">
                <a:latin typeface="Arial Black" panose="020B0A04020102020204" pitchFamily="34" charset="0"/>
                <a:ea typeface="Times New Roman" panose="02020603050405020304" pitchFamily="18" charset="0"/>
                <a:cs typeface="Times New Roman" panose="02020603050405020304" pitchFamily="18" charset="0"/>
              </a:rPr>
              <a:t>aigu des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poumons</a:t>
            </a:r>
          </a:p>
          <a:p>
            <a:pPr marL="285750" lvl="0" indent="-285750">
              <a:lnSpc>
                <a:spcPct val="125000"/>
              </a:lnSpc>
              <a:spcAft>
                <a:spcPts val="0"/>
              </a:spcAft>
              <a:buFont typeface="Wingdings" panose="05000000000000000000" pitchFamily="2" charset="2"/>
              <a:buChar char="Ø"/>
              <a:tabLst>
                <a:tab pos="419100" algn="l"/>
              </a:tabLs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Insuffisance </a:t>
            </a:r>
            <a:r>
              <a:rPr lang="fr-FR" sz="2800" dirty="0">
                <a:latin typeface="Arial Black" panose="020B0A04020102020204" pitchFamily="34" charset="0"/>
                <a:ea typeface="Times New Roman" panose="02020603050405020304" pitchFamily="18" charset="0"/>
                <a:cs typeface="Times New Roman" panose="02020603050405020304" pitchFamily="18" charset="0"/>
              </a:rPr>
              <a:t>cardiaque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grave</a:t>
            </a:r>
          </a:p>
          <a:p>
            <a:pPr marL="285750" lvl="0" indent="-285750">
              <a:lnSpc>
                <a:spcPct val="125000"/>
              </a:lnSpc>
              <a:spcAft>
                <a:spcPts val="0"/>
              </a:spcAft>
              <a:buFont typeface="Wingdings" panose="05000000000000000000" pitchFamily="2" charset="2"/>
              <a:buChar char="Ø"/>
              <a:tabLst>
                <a:tab pos="419100" algn="l"/>
              </a:tabLs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Insuffisance rénale</a:t>
            </a:r>
          </a:p>
          <a:p>
            <a:pPr marL="285750" lvl="0" indent="-285750">
              <a:lnSpc>
                <a:spcPct val="125000"/>
              </a:lnSpc>
              <a:spcAft>
                <a:spcPts val="0"/>
              </a:spcAft>
              <a:buFont typeface="Wingdings" panose="05000000000000000000" pitchFamily="2" charset="2"/>
              <a:buChar char="Ø"/>
              <a:tabLst>
                <a:tab pos="419100" algn="l"/>
              </a:tabLs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Dès </a:t>
            </a:r>
            <a:r>
              <a:rPr lang="fr-FR" sz="2800" dirty="0">
                <a:latin typeface="Arial Black" panose="020B0A04020102020204" pitchFamily="34" charset="0"/>
                <a:ea typeface="Times New Roman" panose="02020603050405020304" pitchFamily="18" charset="0"/>
                <a:cs typeface="Times New Roman" panose="02020603050405020304" pitchFamily="18" charset="0"/>
              </a:rPr>
              <a:t>que la voie orale est possible</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380297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1471" y="785612"/>
            <a:ext cx="11320529" cy="5478423"/>
          </a:xfrm>
          <a:prstGeom prst="rect">
            <a:avLst/>
          </a:prstGeom>
        </p:spPr>
        <p:txBody>
          <a:bodyPr wrap="square">
            <a:spAutoFit/>
          </a:bodyPr>
          <a:lstStyle/>
          <a:p>
            <a:pPr lvl="0">
              <a:lnSpc>
                <a:spcPct val="125000"/>
              </a:lnSpc>
              <a:spcAft>
                <a:spcPts val="0"/>
              </a:spcAft>
              <a:tabLst>
                <a:tab pos="419100" algn="l"/>
              </a:tabLst>
            </a:pPr>
            <a:r>
              <a:rPr lang="fr-FR" sz="2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IV. </a:t>
            </a: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PREPARATION </a:t>
            </a: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DU SOIN</a:t>
            </a:r>
            <a:endPar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742950" lvl="1" indent="-285750">
              <a:lnSpc>
                <a:spcPct val="125000"/>
              </a:lnSpc>
              <a:spcAft>
                <a:spcPts val="0"/>
              </a:spcAft>
              <a:buFont typeface="Arial" panose="020B0604020202020204" pitchFamily="34" charset="0"/>
              <a:buChar char=""/>
              <a:tabLst>
                <a:tab pos="228600" algn="l"/>
                <a:tab pos="558800" algn="l"/>
              </a:tabLst>
            </a:pPr>
            <a:r>
              <a:rPr lang="fr-FR" sz="2800" b="1" u="sng" dirty="0">
                <a:latin typeface="Arial Black" panose="020B0A04020102020204" pitchFamily="34" charset="0"/>
                <a:ea typeface="Times New Roman" panose="02020603050405020304" pitchFamily="18" charset="0"/>
                <a:cs typeface="Times New Roman" panose="02020603050405020304" pitchFamily="18" charset="0"/>
              </a:rPr>
              <a:t>Préparation  psychologique du malade</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800" dirty="0">
                <a:latin typeface="Arial Black" panose="020B0A04020102020204" pitchFamily="34" charset="0"/>
                <a:ea typeface="Times New Roman" panose="02020603050405020304" pitchFamily="18" charset="0"/>
                <a:cs typeface="Times New Roman" panose="02020603050405020304" pitchFamily="18" charset="0"/>
              </a:rPr>
              <a:t>Elle est indispensable dans tous les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soins</a:t>
            </a:r>
          </a:p>
          <a:p>
            <a:pPr algn="just">
              <a:lnSpc>
                <a:spcPct val="125000"/>
              </a:lnSpc>
              <a:spcAft>
                <a:spcPts val="0"/>
              </a:spcAft>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Elle </a:t>
            </a:r>
            <a:r>
              <a:rPr lang="fr-FR" sz="2800" dirty="0">
                <a:latin typeface="Arial Black" panose="020B0A04020102020204" pitchFamily="34" charset="0"/>
                <a:ea typeface="Times New Roman" panose="02020603050405020304" pitchFamily="18" charset="0"/>
                <a:cs typeface="Times New Roman" panose="02020603050405020304" pitchFamily="18" charset="0"/>
              </a:rPr>
              <a:t>permet de rassurer le malade, de le mettre en confiance, et d’obtenir son adhésion et sa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collaboration</a:t>
            </a:r>
          </a:p>
          <a:p>
            <a:pPr marL="342900" lvl="0" indent="-342900" algn="just">
              <a:lnSpc>
                <a:spcPct val="125000"/>
              </a:lnSpc>
              <a:spcAft>
                <a:spcPts val="0"/>
              </a:spcAft>
              <a:buSzPts val="1000"/>
              <a:buFont typeface="Arial" panose="020B0604020202020204" pitchFamily="34" charset="0"/>
              <a:buChar char="-"/>
              <a:tabLst>
                <a:tab pos="457200" algn="l"/>
              </a:tabLst>
            </a:pPr>
            <a:endParaRPr lang="fr-FR" sz="2800" dirty="0" smtClean="0">
              <a:effectLst/>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SzPts val="1000"/>
              <a:buFont typeface="Arial" panose="020B0604020202020204" pitchFamily="34" charset="0"/>
              <a:buChar char="-"/>
              <a:tabLst>
                <a:tab pos="457200" algn="l"/>
              </a:tabLst>
            </a:pP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SzPts val="1000"/>
              <a:buFont typeface="Arial" panose="020B0604020202020204" pitchFamily="34" charset="0"/>
              <a:buChar char="-"/>
              <a:tabLst>
                <a:tab pos="457200" algn="l"/>
              </a:tabLst>
            </a:pPr>
            <a:endParaRPr lang="fr-FR" sz="2800" dirty="0" smtClean="0">
              <a:effectLst/>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SzPts val="1000"/>
              <a:buFont typeface="Arial" panose="020B0604020202020204" pitchFamily="34" charset="0"/>
              <a:buChar char="-"/>
              <a:tabLst>
                <a:tab pos="457200" algn="l"/>
              </a:tabLst>
            </a:pP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SzPts val="1000"/>
              <a:buFont typeface="Arial" panose="020B0604020202020204" pitchFamily="34" charset="0"/>
              <a:buChar char="-"/>
              <a:tabLst>
                <a:tab pos="457200" algn="l"/>
              </a:tabLst>
            </a:pP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30592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54546" y="103032"/>
            <a:ext cx="12037454" cy="6065948"/>
          </a:xfrm>
          <a:prstGeom prst="rect">
            <a:avLst/>
          </a:prstGeom>
        </p:spPr>
      </p:pic>
    </p:spTree>
    <p:extLst>
      <p:ext uri="{BB962C8B-B14F-4D97-AF65-F5344CB8AC3E}">
        <p14:creationId xmlns:p14="http://schemas.microsoft.com/office/powerpoint/2010/main" val="317293280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004552" y="-1"/>
            <a:ext cx="9929611" cy="6143223"/>
          </a:xfrm>
          <a:prstGeom prst="rect">
            <a:avLst/>
          </a:prstGeom>
        </p:spPr>
      </p:pic>
    </p:spTree>
    <p:extLst>
      <p:ext uri="{BB962C8B-B14F-4D97-AF65-F5344CB8AC3E}">
        <p14:creationId xmlns:p14="http://schemas.microsoft.com/office/powerpoint/2010/main" val="29191770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7279" y="128789"/>
            <a:ext cx="11165983" cy="6038576"/>
          </a:xfrm>
          <a:prstGeom prst="rect">
            <a:avLst/>
          </a:prstGeom>
        </p:spPr>
        <p:txBody>
          <a:bodyPr wrap="square">
            <a:spAutoFit/>
          </a:bodyPr>
          <a:lstStyle/>
          <a:p>
            <a:pPr lvl="0" algn="just">
              <a:lnSpc>
                <a:spcPct val="115000"/>
              </a:lnSpc>
              <a:spcAft>
                <a:spcPts val="0"/>
              </a:spcAft>
            </a:pPr>
            <a:r>
              <a:rPr lang="fr-FR" sz="160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Matériel</a:t>
            </a:r>
            <a:r>
              <a:rPr lang="fr-FR" sz="1600" dirty="0" smtClean="0">
                <a:latin typeface="Arial Black" panose="020B0A04020102020204" pitchFamily="34" charset="0"/>
                <a:ea typeface="Times New Roman" panose="02020603050405020304" pitchFamily="18" charset="0"/>
                <a:cs typeface="Times New Roman" panose="02020603050405020304" pitchFamily="18" charset="0"/>
              </a:rPr>
              <a:t> </a:t>
            </a:r>
            <a:r>
              <a:rPr lang="fr-FR" sz="2800"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(2/3)</a:t>
            </a:r>
          </a:p>
          <a:p>
            <a:pPr marL="342900" lvl="0" indent="-342900" algn="just">
              <a:lnSpc>
                <a:spcPct val="115000"/>
              </a:lnSpc>
              <a:spcAft>
                <a:spcPts val="0"/>
              </a:spcAft>
              <a:buFont typeface="Arial" panose="020B0604020202020204" pitchFamily="34" charset="0"/>
              <a:buChar char="-"/>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Compresses </a:t>
            </a:r>
            <a:r>
              <a:rPr lang="fr-FR" sz="2800" dirty="0">
                <a:latin typeface="Arial Black" panose="020B0A04020102020204" pitchFamily="34" charset="0"/>
                <a:ea typeface="Times New Roman" panose="02020603050405020304" pitchFamily="18" charset="0"/>
                <a:cs typeface="Times New Roman" panose="02020603050405020304" pitchFamily="18" charset="0"/>
              </a:rPr>
              <a:t>stériles.</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Produits pour l’antisepsie.</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Trocart.</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Sparadrap.</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Seringue stérile.</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Coton hydrophile.</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Produits médicamenteux.</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Un chariot.</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Grand plateau stérile.</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Petit plateau stérile.</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Sérum physiologique ou eau stérile</a:t>
            </a:r>
            <a:r>
              <a:rPr lang="fr-FR" dirty="0">
                <a:latin typeface="Times New Roman" panose="02020603050405020304" pitchFamily="18" charset="0"/>
                <a:ea typeface="Times New Roman" panose="02020603050405020304" pitchFamily="18" charset="0"/>
                <a:cs typeface="Times New Roman" panose="02020603050405020304" pitchFamily="18" charset="0"/>
              </a:rPr>
              <a:t>.</a:t>
            </a:r>
            <a:endParaRPr lang="fr-FR" sz="1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502830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4552" y="12879"/>
            <a:ext cx="11062951" cy="3899529"/>
          </a:xfrm>
          <a:prstGeom prst="rect">
            <a:avLst/>
          </a:prstGeom>
        </p:spPr>
        <p:txBody>
          <a:bodyPr wrap="square">
            <a:spAutoFit/>
          </a:bodyPr>
          <a:lstStyle/>
          <a:p>
            <a:pPr algn="just">
              <a:lnSpc>
                <a:spcPct val="115000"/>
              </a:lnSpc>
            </a:pPr>
            <a:r>
              <a:rPr lang="fr-FR"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Matériel</a:t>
            </a:r>
            <a:r>
              <a:rPr lang="fr-FR" dirty="0">
                <a:latin typeface="Arial Black" panose="020B0A04020102020204" pitchFamily="34" charset="0"/>
                <a:ea typeface="Times New Roman" panose="02020603050405020304" pitchFamily="18" charset="0"/>
                <a:cs typeface="Times New Roman" panose="02020603050405020304" pitchFamily="18" charset="0"/>
              </a:rPr>
              <a:t> </a:t>
            </a:r>
            <a:r>
              <a:rPr lang="fr-FR" sz="3200"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(3/3)</a:t>
            </a:r>
            <a:endParaRPr lang="fr-FR"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dirty="0" smtClean="0">
                <a:latin typeface="Arial Black" panose="020B0A04020102020204" pitchFamily="34" charset="0"/>
                <a:ea typeface="Times New Roman" panose="02020603050405020304" pitchFamily="18" charset="0"/>
                <a:cs typeface="Times New Roman" panose="02020603050405020304" pitchFamily="18" charset="0"/>
              </a:rPr>
              <a:t>Gants </a:t>
            </a:r>
            <a:r>
              <a:rPr lang="fr-FR" dirty="0">
                <a:latin typeface="Arial Black" panose="020B0A04020102020204" pitchFamily="34" charset="0"/>
                <a:ea typeface="Times New Roman" panose="02020603050405020304" pitchFamily="18" charset="0"/>
                <a:cs typeface="Times New Roman" panose="02020603050405020304" pitchFamily="18" charset="0"/>
              </a:rPr>
              <a:t>:</a:t>
            </a:r>
            <a:endParaRPr lang="fr-FR" sz="1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Symbol" panose="05050102010706020507" pitchFamily="18" charset="2"/>
              <a:buChar char=""/>
              <a:tabLst>
                <a:tab pos="540385" algn="l"/>
              </a:tabLst>
            </a:pPr>
            <a:r>
              <a:rPr lang="fr-FR" u="sng" dirty="0">
                <a:latin typeface="Arial Black" panose="020B0A04020102020204" pitchFamily="34" charset="0"/>
                <a:ea typeface="Times New Roman" panose="02020603050405020304" pitchFamily="18" charset="0"/>
                <a:cs typeface="Times New Roman" panose="02020603050405020304" pitchFamily="18" charset="0"/>
              </a:rPr>
              <a:t>Gants non stériles</a:t>
            </a:r>
            <a:r>
              <a:rPr lang="fr-FR" dirty="0">
                <a:latin typeface="Arial Black" panose="020B0A04020102020204" pitchFamily="34" charset="0"/>
                <a:ea typeface="Times New Roman" panose="02020603050405020304" pitchFamily="18" charset="0"/>
                <a:cs typeface="Times New Roman" panose="02020603050405020304" pitchFamily="18" charset="0"/>
              </a:rPr>
              <a:t> s’il n’y a pas de palpation du point de ponction après l'antisepsie.</a:t>
            </a:r>
            <a:endParaRPr lang="fr-FR" sz="1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Symbol" panose="05050102010706020507" pitchFamily="18" charset="2"/>
              <a:buChar char=""/>
              <a:tabLst>
                <a:tab pos="540385" algn="l"/>
              </a:tabLst>
            </a:pPr>
            <a:r>
              <a:rPr lang="fr-FR" u="sng" dirty="0">
                <a:latin typeface="Arial Black" panose="020B0A04020102020204" pitchFamily="34" charset="0"/>
                <a:ea typeface="Times New Roman" panose="02020603050405020304" pitchFamily="18" charset="0"/>
                <a:cs typeface="Times New Roman" panose="02020603050405020304" pitchFamily="18" charset="0"/>
              </a:rPr>
              <a:t>Gants stériles</a:t>
            </a:r>
            <a:r>
              <a:rPr lang="fr-FR" dirty="0">
                <a:latin typeface="Arial Black" panose="020B0A04020102020204" pitchFamily="34" charset="0"/>
                <a:ea typeface="Times New Roman" panose="02020603050405020304" pitchFamily="18" charset="0"/>
                <a:cs typeface="Times New Roman" panose="02020603050405020304" pitchFamily="18" charset="0"/>
              </a:rPr>
              <a:t> s'il y a palpation du point de ponction après l'antisepsie cutanée.</a:t>
            </a:r>
            <a:endParaRPr lang="fr-FR" sz="1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dirty="0">
                <a:latin typeface="Arial Black" panose="020B0A04020102020204" pitchFamily="34" charset="0"/>
                <a:ea typeface="Times New Roman" panose="02020603050405020304" pitchFamily="18" charset="0"/>
                <a:cs typeface="Times New Roman" panose="02020603050405020304" pitchFamily="18" charset="0"/>
              </a:rPr>
              <a:t>Pansement occlusif stérile transparent. </a:t>
            </a:r>
            <a:endParaRPr lang="fr-FR" sz="1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dirty="0">
                <a:latin typeface="Arial Black" panose="020B0A04020102020204" pitchFamily="34" charset="0"/>
                <a:ea typeface="Times New Roman" panose="02020603050405020304" pitchFamily="18" charset="0"/>
                <a:cs typeface="Times New Roman" panose="02020603050405020304" pitchFamily="18" charset="0"/>
              </a:rPr>
              <a:t>Tondeuse si possible.</a:t>
            </a:r>
            <a:endParaRPr lang="fr-FR" sz="1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dirty="0">
                <a:latin typeface="Arial Black" panose="020B0A04020102020204" pitchFamily="34" charset="0"/>
                <a:ea typeface="Times New Roman" panose="02020603050405020304" pitchFamily="18" charset="0"/>
                <a:cs typeface="Times New Roman" panose="02020603050405020304" pitchFamily="18" charset="0"/>
              </a:rPr>
              <a:t>Sac à élimination des déchets (papier et matériel non contaminé) ou haricot.</a:t>
            </a:r>
            <a:endParaRPr lang="fr-FR" sz="1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dirty="0">
                <a:latin typeface="Arial Black" panose="020B0A04020102020204" pitchFamily="34" charset="0"/>
                <a:ea typeface="Times New Roman" panose="02020603050405020304" pitchFamily="18" charset="0"/>
                <a:cs typeface="Times New Roman" panose="02020603050405020304" pitchFamily="18" charset="0"/>
              </a:rPr>
              <a:t>Sac à élimination des déchets d'activités de soins à risques infectieux ou poubelle.</a:t>
            </a:r>
            <a:endParaRPr lang="fr-FR" sz="1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dirty="0">
                <a:latin typeface="Arial Black" panose="020B0A04020102020204" pitchFamily="34" charset="0"/>
                <a:ea typeface="Times New Roman" panose="02020603050405020304" pitchFamily="18" charset="0"/>
                <a:cs typeface="Times New Roman" panose="02020603050405020304" pitchFamily="18" charset="0"/>
              </a:rPr>
              <a:t>Conteneur à déchets contaminés piquants et tranchants. Ou boite de sécurité.</a:t>
            </a:r>
            <a:endParaRPr lang="fr-FR" sz="1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dirty="0">
                <a:latin typeface="Arial Black" panose="020B0A04020102020204" pitchFamily="34" charset="0"/>
                <a:ea typeface="Times New Roman" panose="02020603050405020304" pitchFamily="18" charset="0"/>
                <a:cs typeface="Times New Roman" panose="02020603050405020304" pitchFamily="18" charset="0"/>
              </a:rPr>
              <a:t>Désinfectant de surface et </a:t>
            </a:r>
            <a:r>
              <a:rPr lang="fr-FR" dirty="0" err="1">
                <a:latin typeface="Arial Black" panose="020B0A04020102020204" pitchFamily="34" charset="0"/>
                <a:ea typeface="Times New Roman" panose="02020603050405020304" pitchFamily="18" charset="0"/>
                <a:cs typeface="Times New Roman" panose="02020603050405020304" pitchFamily="18" charset="0"/>
              </a:rPr>
              <a:t>chiffonnette</a:t>
            </a:r>
            <a:r>
              <a:rPr lang="fr-FR" dirty="0">
                <a:latin typeface="Arial Black" panose="020B0A04020102020204" pitchFamily="34" charset="0"/>
                <a:ea typeface="Times New Roman" panose="02020603050405020304" pitchFamily="18" charset="0"/>
                <a:cs typeface="Times New Roman" panose="02020603050405020304" pitchFamily="18" charset="0"/>
              </a:rPr>
              <a:t>.</a:t>
            </a:r>
            <a:endParaRPr lang="fr-FR" sz="1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dirty="0">
                <a:latin typeface="Arial Black" panose="020B0A04020102020204" pitchFamily="34" charset="0"/>
                <a:ea typeface="Times New Roman" panose="02020603050405020304" pitchFamily="18" charset="0"/>
                <a:cs typeface="Times New Roman" panose="02020603050405020304" pitchFamily="18" charset="0"/>
              </a:rPr>
              <a:t>Nécessaire à l'hygiène des mains.</a:t>
            </a:r>
            <a:endParaRPr lang="fr-FR" sz="14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568676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192001" cy="5497659"/>
          </a:xfrm>
          <a:prstGeom prst="rect">
            <a:avLst/>
          </a:prstGeom>
        </p:spPr>
        <p:txBody>
          <a:bodyPr wrap="square">
            <a:spAutoFit/>
          </a:bodyPr>
          <a:lstStyle/>
          <a:p>
            <a:pPr marL="742950" lvl="1" indent="-285750">
              <a:lnSpc>
                <a:spcPct val="125000"/>
              </a:lnSpc>
              <a:spcAft>
                <a:spcPts val="0"/>
              </a:spcAft>
              <a:buFont typeface="Arial" panose="020B0604020202020204" pitchFamily="34" charset="0"/>
              <a:buChar char=""/>
              <a:tabLst>
                <a:tab pos="228600" algn="l"/>
                <a:tab pos="558800" algn="l"/>
              </a:tabLst>
            </a:pP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Technique du </a:t>
            </a: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soin </a:t>
            </a:r>
            <a:r>
              <a:rPr lang="fr-FR" sz="28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(1/4)</a:t>
            </a:r>
            <a:endParaRPr lang="fr-FR" sz="2800"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Vérifier la prescription médicale.</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Prévenir le patient.</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effectuer un traitement hygiénique des mains.</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Réunir le matériel après vérification des dates de péremptions et de l’intégrité des emballages.</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Installer les poubelles de tri des déchets au pied du lit du patient.</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Mettre le garrot.</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Choisir la veine à perfuser : préféré les veines radiales et cubitales aux veines du dos de la main trop fragiles ou aux veines du pli du coude que l’on réserve aux situations d’urgence.</a:t>
            </a:r>
            <a:endParaRPr lang="fr-FR" sz="25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284013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595652"/>
          </a:xfrm>
          <a:prstGeom prst="rect">
            <a:avLst/>
          </a:prstGeom>
        </p:spPr>
        <p:txBody>
          <a:bodyPr wrap="square">
            <a:spAutoFit/>
          </a:bodyPr>
          <a:lstStyle/>
          <a:p>
            <a:pPr marL="342900" indent="-342900" algn="just">
              <a:lnSpc>
                <a:spcPct val="115000"/>
              </a:lnSpc>
              <a:buFont typeface="Arial" panose="020B0604020202020204" pitchFamily="34" charset="0"/>
              <a:buChar char="-"/>
            </a:pPr>
            <a:r>
              <a:rPr lang="fr-FR" sz="20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Technique du soin </a:t>
            </a:r>
            <a:r>
              <a:rPr lang="fr-FR" sz="24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(2/4)</a:t>
            </a:r>
            <a:endParaRPr lang="fr-FR" sz="2500"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500" dirty="0" smtClean="0">
                <a:latin typeface="Arial Black" panose="020B0A04020102020204" pitchFamily="34" charset="0"/>
                <a:ea typeface="Times New Roman" panose="02020603050405020304" pitchFamily="18" charset="0"/>
                <a:cs typeface="Times New Roman" panose="02020603050405020304" pitchFamily="18" charset="0"/>
              </a:rPr>
              <a:t>Favoriser </a:t>
            </a:r>
            <a:r>
              <a:rPr lang="fr-FR" sz="2500" dirty="0">
                <a:latin typeface="Arial Black" panose="020B0A04020102020204" pitchFamily="34" charset="0"/>
                <a:ea typeface="Times New Roman" panose="02020603050405020304" pitchFamily="18" charset="0"/>
                <a:cs typeface="Times New Roman" panose="02020603050405020304" pitchFamily="18" charset="0"/>
              </a:rPr>
              <a:t>la vasodilatation ce qui rend le geste plus facile :</a:t>
            </a:r>
          </a:p>
          <a:p>
            <a:pPr marL="342900" lvl="0" indent="-342900" algn="just">
              <a:lnSpc>
                <a:spcPct val="115000"/>
              </a:lnSpc>
              <a:spcAft>
                <a:spcPts val="0"/>
              </a:spcAft>
              <a:buFont typeface="Symbol" panose="05050102010706020507" pitchFamily="18" charset="2"/>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Demander au patient de serrer le poing.</a:t>
            </a:r>
          </a:p>
          <a:p>
            <a:pPr marL="342900" lvl="0" indent="-342900" algn="just">
              <a:lnSpc>
                <a:spcPct val="115000"/>
              </a:lnSpc>
              <a:spcAft>
                <a:spcPts val="0"/>
              </a:spcAft>
              <a:buFont typeface="Symbol" panose="05050102010706020507" pitchFamily="18" charset="2"/>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Mettre le bras en déclive.</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Si besoin, dépiler la zone à ponctionner avec une tondeuse ou aux ciseaux, ne pas raser.</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Protéger le lit en plaçant une alèze sous la zone de ponction.</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Effectuer un lavage antiseptique des mains ou effectuer un traitement hygiénique des mains.</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Mettre les gants stériles.</a:t>
            </a:r>
          </a:p>
          <a:p>
            <a:pPr marL="342900" lvl="0" indent="-342900" algn="just">
              <a:lnSpc>
                <a:spcPct val="11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Pratiquer une antisepsie de la peau en 4 temps : </a:t>
            </a:r>
          </a:p>
          <a:p>
            <a:pPr marL="342900" lvl="0" indent="-342900" algn="just">
              <a:lnSpc>
                <a:spcPct val="115000"/>
              </a:lnSpc>
              <a:spcAft>
                <a:spcPts val="0"/>
              </a:spcAft>
              <a:buFont typeface="Symbol" panose="05050102010706020507" pitchFamily="18" charset="2"/>
              <a:buChar char=""/>
              <a:tabLst>
                <a:tab pos="630555" algn="l"/>
              </a:tabLst>
            </a:pPr>
            <a:r>
              <a:rPr lang="fr-FR" sz="2500" dirty="0">
                <a:latin typeface="Arial Black" panose="020B0A04020102020204" pitchFamily="34" charset="0"/>
                <a:ea typeface="Times New Roman" panose="02020603050405020304" pitchFamily="18" charset="0"/>
                <a:cs typeface="Times New Roman" panose="02020603050405020304" pitchFamily="18" charset="0"/>
              </a:rPr>
              <a:t>Aller de l’intérieur vers l’extérieur.</a:t>
            </a:r>
          </a:p>
          <a:p>
            <a:pPr marL="342900" lvl="0" indent="-342900" algn="just">
              <a:lnSpc>
                <a:spcPct val="115000"/>
              </a:lnSpc>
              <a:spcAft>
                <a:spcPts val="0"/>
              </a:spcAft>
              <a:buFont typeface="Symbol" panose="05050102010706020507" pitchFamily="18" charset="2"/>
              <a:buChar char=""/>
              <a:tabLst>
                <a:tab pos="630555" algn="l"/>
              </a:tabLst>
            </a:pPr>
            <a:r>
              <a:rPr lang="fr-FR" sz="2500" dirty="0">
                <a:latin typeface="Arial Black" panose="020B0A04020102020204" pitchFamily="34" charset="0"/>
                <a:ea typeface="Times New Roman" panose="02020603050405020304" pitchFamily="18" charset="0"/>
                <a:cs typeface="Times New Roman" panose="02020603050405020304" pitchFamily="18" charset="0"/>
              </a:rPr>
              <a:t>Ne jamais repasser à un même endroit.</a:t>
            </a:r>
          </a:p>
          <a:p>
            <a:r>
              <a:rPr lang="fr-FR" sz="2500" dirty="0">
                <a:latin typeface="Arial Black" panose="020B0A04020102020204" pitchFamily="34" charset="0"/>
                <a:ea typeface="Times New Roman" panose="02020603050405020304" pitchFamily="18" charset="0"/>
              </a:rPr>
              <a:t>Utiliser une compresse par passage puis la jeter dans le sac à déchets contaminés</a:t>
            </a:r>
            <a:endParaRPr lang="fr-FR" sz="2500" dirty="0">
              <a:latin typeface="Arial Black" panose="020B0A04020102020204" pitchFamily="34" charset="0"/>
            </a:endParaRPr>
          </a:p>
        </p:txBody>
      </p:sp>
    </p:spTree>
    <p:extLst>
      <p:ext uri="{BB962C8B-B14F-4D97-AF65-F5344CB8AC3E}">
        <p14:creationId xmlns:p14="http://schemas.microsoft.com/office/powerpoint/2010/main" val="270109143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8942" y="0"/>
            <a:ext cx="11809926" cy="4622804"/>
          </a:xfrm>
          <a:prstGeom prst="rect">
            <a:avLst/>
          </a:prstGeom>
        </p:spPr>
        <p:txBody>
          <a:bodyPr wrap="square">
            <a:spAutoFit/>
          </a:bodyPr>
          <a:lstStyle/>
          <a:p>
            <a:pPr marL="342900" indent="-342900" algn="just">
              <a:lnSpc>
                <a:spcPct val="115000"/>
              </a:lnSpc>
              <a:buFont typeface="Arial" panose="020B0604020202020204" pitchFamily="34" charset="0"/>
              <a:buChar char="-"/>
            </a:pP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Technique du soin </a:t>
            </a:r>
            <a:r>
              <a:rPr lang="fr-FR" sz="32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(3/4)</a:t>
            </a:r>
            <a:endParaRPr lang="fr-FR" sz="2800"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Préparer </a:t>
            </a:r>
            <a:r>
              <a:rPr lang="fr-FR" sz="2800" dirty="0">
                <a:latin typeface="Arial Black" panose="020B0A04020102020204" pitchFamily="34" charset="0"/>
                <a:ea typeface="Times New Roman" panose="02020603050405020304" pitchFamily="18" charset="0"/>
                <a:cs typeface="Times New Roman" panose="02020603050405020304" pitchFamily="18" charset="0"/>
              </a:rPr>
              <a:t>la perfusion : purger la tubulure et disposer la poche sur le pied à perfusion.</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D’une main, tendre la peau et maintenir la veine, de l’autre main, introduire le cathéter biseau vers le haut.</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Desserrer le garrot.</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Retirer le mandrin et l'éliminer immédiatement dans le container à déchets contaminés piquants.</a:t>
            </a:r>
          </a:p>
          <a:p>
            <a:pPr marL="342900" lvl="0" indent="-342900" algn="just">
              <a:lnSpc>
                <a:spcPct val="11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Adapter la tubulure au </a:t>
            </a:r>
            <a:r>
              <a:rPr lang="fr-FR" sz="2800" dirty="0" err="1">
                <a:latin typeface="Arial Black" panose="020B0A04020102020204" pitchFamily="34" charset="0"/>
                <a:ea typeface="Times New Roman" panose="02020603050405020304" pitchFamily="18" charset="0"/>
                <a:cs typeface="Times New Roman" panose="02020603050405020304" pitchFamily="18" charset="0"/>
              </a:rPr>
              <a:t>cathlon</a:t>
            </a:r>
            <a:r>
              <a:rPr lang="fr-FR" sz="2800" dirty="0">
                <a:latin typeface="Arial Black" panose="020B0A04020102020204" pitchFamily="34" charset="0"/>
                <a:ea typeface="Times New Roman" panose="02020603050405020304" pitchFamily="18" charset="0"/>
                <a:cs typeface="Times New Roman" panose="02020603050405020304" pitchFamily="18" charset="0"/>
              </a:rPr>
              <a:t>.</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01311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031" y="819319"/>
            <a:ext cx="12088969" cy="5324535"/>
          </a:xfrm>
          <a:prstGeom prst="rect">
            <a:avLst/>
          </a:prstGeom>
        </p:spPr>
        <p:txBody>
          <a:bodyPr wrap="square">
            <a:spAutoFit/>
          </a:bodyPr>
          <a:lstStyle/>
          <a:p>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Technique du soin </a:t>
            </a:r>
            <a:r>
              <a:rPr lang="fr-FR" sz="32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(4/4)</a:t>
            </a:r>
            <a:endParaRPr lang="fr-FR" sz="2800" dirty="0" smtClean="0">
              <a:solidFill>
                <a:srgbClr val="FF0000"/>
              </a:solidFill>
              <a:latin typeface="Arial Black" panose="020B0A04020102020204" pitchFamily="34" charset="0"/>
            </a:endParaRPr>
          </a:p>
          <a:p>
            <a:r>
              <a:rPr lang="fr-FR" sz="2800" dirty="0" smtClean="0">
                <a:solidFill>
                  <a:srgbClr val="FF0000"/>
                </a:solidFill>
                <a:latin typeface="Arial Black" panose="020B0A04020102020204" pitchFamily="34" charset="0"/>
              </a:rPr>
              <a:t>NB:</a:t>
            </a:r>
            <a:r>
              <a:rPr lang="fr-FR" sz="2800" dirty="0">
                <a:latin typeface="Arial Black" panose="020B0A04020102020204" pitchFamily="34" charset="0"/>
              </a:rPr>
              <a:t>	</a:t>
            </a:r>
            <a:endParaRPr lang="fr-FR" sz="2800" dirty="0" smtClean="0">
              <a:latin typeface="Arial Black" panose="020B0A04020102020204" pitchFamily="34" charset="0"/>
            </a:endParaRPr>
          </a:p>
          <a:p>
            <a:r>
              <a:rPr lang="fr-FR" sz="2800" dirty="0" smtClean="0">
                <a:solidFill>
                  <a:srgbClr val="FF0000"/>
                </a:solidFill>
                <a:latin typeface="Arial Black" panose="020B0A04020102020204" pitchFamily="34" charset="0"/>
              </a:rPr>
              <a:t>Ne </a:t>
            </a:r>
            <a:r>
              <a:rPr lang="fr-FR" sz="2800" dirty="0">
                <a:solidFill>
                  <a:srgbClr val="FF0000"/>
                </a:solidFill>
                <a:latin typeface="Arial Black" panose="020B0A04020102020204" pitchFamily="34" charset="0"/>
              </a:rPr>
              <a:t>jamais piquer : </a:t>
            </a:r>
          </a:p>
          <a:p>
            <a:pPr marL="457200" indent="-457200">
              <a:buFont typeface="Wingdings" panose="05000000000000000000" pitchFamily="2" charset="2"/>
              <a:buChar char="ü"/>
            </a:pPr>
            <a:r>
              <a:rPr lang="fr-FR" sz="2800" dirty="0" smtClean="0">
                <a:solidFill>
                  <a:schemeClr val="accent1"/>
                </a:solidFill>
                <a:latin typeface="Arial Black" panose="020B0A04020102020204" pitchFamily="34" charset="0"/>
              </a:rPr>
              <a:t>sur </a:t>
            </a:r>
            <a:r>
              <a:rPr lang="fr-FR" sz="2800" dirty="0">
                <a:solidFill>
                  <a:schemeClr val="accent1"/>
                </a:solidFill>
                <a:latin typeface="Arial Black" panose="020B0A04020102020204" pitchFamily="34" charset="0"/>
              </a:rPr>
              <a:t>une peau </a:t>
            </a:r>
            <a:r>
              <a:rPr lang="fr-FR" sz="2800" dirty="0" smtClean="0">
                <a:solidFill>
                  <a:schemeClr val="accent1"/>
                </a:solidFill>
                <a:latin typeface="Arial Black" panose="020B0A04020102020204" pitchFamily="34" charset="0"/>
              </a:rPr>
              <a:t>lésée</a:t>
            </a:r>
          </a:p>
          <a:p>
            <a:pPr marL="457200" indent="-457200">
              <a:buFont typeface="Wingdings" panose="05000000000000000000" pitchFamily="2" charset="2"/>
              <a:buChar char="ü"/>
            </a:pPr>
            <a:r>
              <a:rPr lang="fr-FR" sz="2800" dirty="0" smtClean="0">
                <a:solidFill>
                  <a:schemeClr val="accent1"/>
                </a:solidFill>
                <a:latin typeface="Arial Black" panose="020B0A04020102020204" pitchFamily="34" charset="0"/>
              </a:rPr>
              <a:t>sur </a:t>
            </a:r>
            <a:r>
              <a:rPr lang="fr-FR" sz="2800" dirty="0">
                <a:solidFill>
                  <a:schemeClr val="accent1"/>
                </a:solidFill>
                <a:latin typeface="Arial Black" panose="020B0A04020102020204" pitchFamily="34" charset="0"/>
              </a:rPr>
              <a:t>une fistule artério </a:t>
            </a:r>
            <a:r>
              <a:rPr lang="fr-FR" sz="2800" dirty="0" smtClean="0">
                <a:solidFill>
                  <a:schemeClr val="accent1"/>
                </a:solidFill>
                <a:latin typeface="Arial Black" panose="020B0A04020102020204" pitchFamily="34" charset="0"/>
              </a:rPr>
              <a:t>veineuse</a:t>
            </a:r>
          </a:p>
          <a:p>
            <a:pPr marL="457200" indent="-457200">
              <a:buFont typeface="Wingdings" panose="05000000000000000000" pitchFamily="2" charset="2"/>
              <a:buChar char="ü"/>
            </a:pPr>
            <a:r>
              <a:rPr lang="fr-FR" sz="2800" dirty="0" smtClean="0">
                <a:solidFill>
                  <a:schemeClr val="accent1"/>
                </a:solidFill>
                <a:latin typeface="Arial Black" panose="020B0A04020102020204" pitchFamily="34" charset="0"/>
              </a:rPr>
              <a:t>du </a:t>
            </a:r>
            <a:r>
              <a:rPr lang="fr-FR" sz="2800" dirty="0">
                <a:solidFill>
                  <a:schemeClr val="accent1"/>
                </a:solidFill>
                <a:latin typeface="Arial Black" panose="020B0A04020102020204" pitchFamily="34" charset="0"/>
              </a:rPr>
              <a:t>côté d’un curage </a:t>
            </a:r>
            <a:r>
              <a:rPr lang="fr-FR" sz="2800" dirty="0" smtClean="0">
                <a:solidFill>
                  <a:schemeClr val="accent1"/>
                </a:solidFill>
                <a:latin typeface="Arial Black" panose="020B0A04020102020204" pitchFamily="34" charset="0"/>
              </a:rPr>
              <a:t>axillaire</a:t>
            </a:r>
          </a:p>
          <a:p>
            <a:pPr marL="457200" indent="-457200">
              <a:buFont typeface="Wingdings" panose="05000000000000000000" pitchFamily="2" charset="2"/>
              <a:buChar char="ü"/>
            </a:pPr>
            <a:r>
              <a:rPr lang="fr-FR" sz="2800" dirty="0" smtClean="0">
                <a:solidFill>
                  <a:schemeClr val="accent1"/>
                </a:solidFill>
                <a:latin typeface="Arial Black" panose="020B0A04020102020204" pitchFamily="34" charset="0"/>
              </a:rPr>
              <a:t>sur </a:t>
            </a:r>
            <a:r>
              <a:rPr lang="fr-FR" sz="2800" dirty="0">
                <a:solidFill>
                  <a:schemeClr val="accent1"/>
                </a:solidFill>
                <a:latin typeface="Arial Black" panose="020B0A04020102020204" pitchFamily="34" charset="0"/>
              </a:rPr>
              <a:t>un membre </a:t>
            </a:r>
            <a:r>
              <a:rPr lang="fr-FR" sz="2800" dirty="0" smtClean="0">
                <a:solidFill>
                  <a:schemeClr val="accent1"/>
                </a:solidFill>
                <a:latin typeface="Arial Black" panose="020B0A04020102020204" pitchFamily="34" charset="0"/>
              </a:rPr>
              <a:t>paralysé</a:t>
            </a:r>
            <a:endParaRPr lang="fr-FR" sz="2800" dirty="0">
              <a:solidFill>
                <a:schemeClr val="accent1"/>
              </a:solidFill>
              <a:latin typeface="Arial Black" panose="020B0A04020102020204" pitchFamily="34" charset="0"/>
            </a:endParaRPr>
          </a:p>
          <a:p>
            <a:r>
              <a:rPr lang="fr-FR" sz="2800" dirty="0">
                <a:latin typeface="Arial Black" panose="020B0A04020102020204" pitchFamily="34" charset="0"/>
              </a:rPr>
              <a:t>-	Protéger le site de ponction avec le pansement occlusif stérile transparent.</a:t>
            </a:r>
          </a:p>
          <a:p>
            <a:r>
              <a:rPr lang="fr-FR" sz="2800" dirty="0">
                <a:latin typeface="Arial Black" panose="020B0A04020102020204" pitchFamily="34" charset="0"/>
              </a:rPr>
              <a:t>-	Vérifier la bonne position du cathéter en réalisant un reflux (mettre la poche pour perfusion plus bas que le point de ponction et vérifier la venue du sang dans le cathéter).</a:t>
            </a:r>
          </a:p>
        </p:txBody>
      </p:sp>
    </p:spTree>
    <p:extLst>
      <p:ext uri="{BB962C8B-B14F-4D97-AF65-F5344CB8AC3E}">
        <p14:creationId xmlns:p14="http://schemas.microsoft.com/office/powerpoint/2010/main" val="344771149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301516"/>
            <a:ext cx="12192000" cy="5988676"/>
          </a:xfrm>
          <a:prstGeom prst="rect">
            <a:avLst/>
          </a:prstGeom>
        </p:spPr>
      </p:pic>
      <p:pic>
        <p:nvPicPr>
          <p:cNvPr id="3" name="Image 2"/>
          <p:cNvPicPr>
            <a:picLocks noChangeAspect="1"/>
          </p:cNvPicPr>
          <p:nvPr/>
        </p:nvPicPr>
        <p:blipFill>
          <a:blip r:embed="rId3"/>
          <a:stretch>
            <a:fillRect/>
          </a:stretch>
        </p:blipFill>
        <p:spPr>
          <a:xfrm>
            <a:off x="5769737" y="489396"/>
            <a:ext cx="5100034" cy="811369"/>
          </a:xfrm>
          <a:prstGeom prst="rect">
            <a:avLst/>
          </a:prstGeom>
        </p:spPr>
      </p:pic>
    </p:spTree>
    <p:extLst>
      <p:ext uri="{BB962C8B-B14F-4D97-AF65-F5344CB8AC3E}">
        <p14:creationId xmlns:p14="http://schemas.microsoft.com/office/powerpoint/2010/main" val="88892588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953037" y="0"/>
            <a:ext cx="10058400" cy="6078828"/>
          </a:xfrm>
          <a:prstGeom prst="rect">
            <a:avLst/>
          </a:prstGeom>
        </p:spPr>
      </p:pic>
    </p:spTree>
    <p:extLst>
      <p:ext uri="{BB962C8B-B14F-4D97-AF65-F5344CB8AC3E}">
        <p14:creationId xmlns:p14="http://schemas.microsoft.com/office/powerpoint/2010/main" val="403146395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3037" y="239134"/>
            <a:ext cx="9981126" cy="3862596"/>
          </a:xfrm>
          <a:prstGeom prst="rect">
            <a:avLst/>
          </a:prstGeom>
        </p:spPr>
        <p:txBody>
          <a:bodyPr wrap="square">
            <a:spAutoFit/>
          </a:bodyPr>
          <a:lstStyle/>
          <a:p>
            <a:pPr lvl="0">
              <a:lnSpc>
                <a:spcPct val="125000"/>
              </a:lnSpc>
              <a:spcAft>
                <a:spcPts val="0"/>
              </a:spcAft>
              <a:tabLst>
                <a:tab pos="419100" algn="l"/>
              </a:tabLst>
            </a:pPr>
            <a:r>
              <a:rPr lang="fr-FR" sz="2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  </a:t>
            </a: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RISQUES ET COMPLICATIONS</a:t>
            </a:r>
            <a:endPar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SzPts val="1000"/>
              <a:buFont typeface="Arial" panose="020B0604020202020204" pitchFamily="34" charset="0"/>
              <a:buChar char="-"/>
              <a:tabLst>
                <a:tab pos="457200" algn="l"/>
              </a:tabLst>
            </a:pPr>
            <a:r>
              <a:rPr lang="fr-FR" sz="2800" dirty="0">
                <a:latin typeface="Arial Black" panose="020B0A04020102020204" pitchFamily="34" charset="0"/>
                <a:ea typeface="Times New Roman" panose="02020603050405020304" pitchFamily="18" charset="0"/>
                <a:cs typeface="Times New Roman" panose="02020603050405020304" pitchFamily="18" charset="0"/>
              </a:rPr>
              <a:t>Infection.</a:t>
            </a:r>
          </a:p>
          <a:p>
            <a:pPr marL="342900" lvl="0" indent="-342900" algn="just">
              <a:lnSpc>
                <a:spcPct val="125000"/>
              </a:lnSpc>
              <a:spcAft>
                <a:spcPts val="0"/>
              </a:spcAft>
              <a:buSzPts val="1000"/>
              <a:buFont typeface="Arial" panose="020B0604020202020204" pitchFamily="34" charset="0"/>
              <a:buChar char="-"/>
              <a:tabLst>
                <a:tab pos="457200" algn="l"/>
              </a:tabLst>
            </a:pPr>
            <a:r>
              <a:rPr lang="fr-FR" sz="2800" dirty="0">
                <a:latin typeface="Arial Black" panose="020B0A04020102020204" pitchFamily="34" charset="0"/>
                <a:ea typeface="Times New Roman" panose="02020603050405020304" pitchFamily="18" charset="0"/>
                <a:cs typeface="Times New Roman" panose="02020603050405020304" pitchFamily="18" charset="0"/>
              </a:rPr>
              <a:t>Œdème.</a:t>
            </a:r>
          </a:p>
          <a:p>
            <a:pPr marL="342900" lvl="0" indent="-342900" algn="just">
              <a:lnSpc>
                <a:spcPct val="125000"/>
              </a:lnSpc>
              <a:spcAft>
                <a:spcPts val="0"/>
              </a:spcAft>
              <a:buSzPts val="1000"/>
              <a:buFont typeface="Arial" panose="020B0604020202020204" pitchFamily="34" charset="0"/>
              <a:buChar char="-"/>
              <a:tabLst>
                <a:tab pos="457200" algn="l"/>
              </a:tabLst>
            </a:pPr>
            <a:r>
              <a:rPr lang="fr-FR" sz="2800" dirty="0">
                <a:latin typeface="Arial Black" panose="020B0A04020102020204" pitchFamily="34" charset="0"/>
                <a:ea typeface="Times New Roman" panose="02020603050405020304" pitchFamily="18" charset="0"/>
                <a:cs typeface="Times New Roman" panose="02020603050405020304" pitchFamily="18" charset="0"/>
              </a:rPr>
              <a:t>Lymphangite.</a:t>
            </a:r>
          </a:p>
          <a:p>
            <a:pPr marL="342900" lvl="0" indent="-342900" algn="just">
              <a:lnSpc>
                <a:spcPct val="125000"/>
              </a:lnSpc>
              <a:spcAft>
                <a:spcPts val="0"/>
              </a:spcAft>
              <a:buSzPts val="1000"/>
              <a:buFont typeface="Arial" panose="020B0604020202020204" pitchFamily="34" charset="0"/>
              <a:buChar char="-"/>
              <a:tabLst>
                <a:tab pos="457200" algn="l"/>
              </a:tabLst>
            </a:pPr>
            <a:r>
              <a:rPr lang="fr-FR" sz="2800" dirty="0">
                <a:latin typeface="Arial Black" panose="020B0A04020102020204" pitchFamily="34" charset="0"/>
                <a:ea typeface="Times New Roman" panose="02020603050405020304" pitchFamily="18" charset="0"/>
                <a:cs typeface="Times New Roman" panose="02020603050405020304" pitchFamily="18" charset="0"/>
              </a:rPr>
              <a:t>Hématome.</a:t>
            </a:r>
          </a:p>
          <a:p>
            <a:pPr marL="342900" lvl="0" indent="-342900" algn="just">
              <a:lnSpc>
                <a:spcPct val="125000"/>
              </a:lnSpc>
              <a:spcAft>
                <a:spcPts val="0"/>
              </a:spcAft>
              <a:buSzPts val="1000"/>
              <a:buFont typeface="Arial" panose="020B0604020202020204" pitchFamily="34" charset="0"/>
              <a:buChar char="-"/>
              <a:tabLst>
                <a:tab pos="457200" algn="l"/>
              </a:tabLst>
            </a:pPr>
            <a:r>
              <a:rPr lang="fr-FR" sz="2800" dirty="0">
                <a:latin typeface="Arial Black" panose="020B0A04020102020204" pitchFamily="34" charset="0"/>
                <a:ea typeface="Times New Roman" panose="02020603050405020304" pitchFamily="18" charset="0"/>
                <a:cs typeface="Times New Roman" panose="02020603050405020304" pitchFamily="18" charset="0"/>
              </a:rPr>
              <a:t>Obstruction de la perfusion.</a:t>
            </a:r>
          </a:p>
          <a:p>
            <a:pPr marL="342900" lvl="0" indent="-342900" algn="just">
              <a:lnSpc>
                <a:spcPct val="125000"/>
              </a:lnSpc>
              <a:spcAft>
                <a:spcPts val="0"/>
              </a:spcAft>
              <a:buSzPts val="1000"/>
              <a:buFont typeface="Arial" panose="020B0604020202020204" pitchFamily="34" charset="0"/>
              <a:buChar char="-"/>
              <a:tabLst>
                <a:tab pos="457200" algn="l"/>
              </a:tabLst>
            </a:pPr>
            <a:r>
              <a:rPr lang="fr-FR" sz="2800" dirty="0">
                <a:latin typeface="Arial Black" panose="020B0A04020102020204" pitchFamily="34" charset="0"/>
                <a:ea typeface="Times New Roman" panose="02020603050405020304" pitchFamily="18" charset="0"/>
                <a:cs typeface="Times New Roman" panose="02020603050405020304" pitchFamily="18" charset="0"/>
              </a:rPr>
              <a:t>Adhérence du mandrin.</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41295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577" y="798490"/>
            <a:ext cx="11934423" cy="3693319"/>
          </a:xfrm>
          <a:prstGeom prst="rect">
            <a:avLst/>
          </a:prstGeom>
        </p:spPr>
        <p:txBody>
          <a:bodyPr wrap="square">
            <a:spAutoFit/>
          </a:bodyPr>
          <a:lstStyle/>
          <a:p>
            <a:pPr lvl="0">
              <a:lnSpc>
                <a:spcPct val="125000"/>
              </a:lnSpc>
              <a:spcAft>
                <a:spcPts val="0"/>
              </a:spcAft>
              <a:tabLst>
                <a:tab pos="419100" algn="l"/>
              </a:tabLst>
            </a:pPr>
            <a:r>
              <a:rPr lang="fr-FR" sz="24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VI-</a:t>
            </a:r>
            <a:r>
              <a:rPr lang="fr-FR" sz="24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SURVEILLANCE </a:t>
            </a:r>
            <a:r>
              <a:rPr lang="fr-FR" sz="24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ET </a:t>
            </a:r>
            <a:r>
              <a:rPr lang="fr-FR" sz="24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EVALUATION</a:t>
            </a:r>
          </a:p>
          <a:p>
            <a:pPr marL="457200" lvl="0" indent="-457200">
              <a:lnSpc>
                <a:spcPct val="125000"/>
              </a:lnSpc>
              <a:spcAft>
                <a:spcPts val="0"/>
              </a:spcAft>
              <a:buFont typeface="Wingdings" panose="05000000000000000000" pitchFamily="2" charset="2"/>
              <a:buChar char="Ø"/>
              <a:tabLst>
                <a:tab pos="419100" algn="l"/>
              </a:tabLs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Point </a:t>
            </a:r>
            <a:r>
              <a:rPr lang="fr-FR" sz="2400" dirty="0">
                <a:latin typeface="Arial Black" panose="020B0A04020102020204" pitchFamily="34" charset="0"/>
                <a:ea typeface="Times New Roman" panose="02020603050405020304" pitchFamily="18" charset="0"/>
                <a:cs typeface="Times New Roman" panose="02020603050405020304" pitchFamily="18" charset="0"/>
              </a:rPr>
              <a:t>de </a:t>
            </a: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ponction</a:t>
            </a:r>
          </a:p>
          <a:p>
            <a:pPr marL="457200" lvl="0" indent="-457200">
              <a:lnSpc>
                <a:spcPct val="125000"/>
              </a:lnSpc>
              <a:spcAft>
                <a:spcPts val="0"/>
              </a:spcAft>
              <a:buFont typeface="Wingdings" panose="05000000000000000000" pitchFamily="2" charset="2"/>
              <a:buChar char="Ø"/>
              <a:tabLst>
                <a:tab pos="419100" algn="l"/>
              </a:tabLs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Vérifier </a:t>
            </a:r>
            <a:r>
              <a:rPr lang="fr-FR" sz="2400" dirty="0">
                <a:latin typeface="Arial Black" panose="020B0A04020102020204" pitchFamily="34" charset="0"/>
                <a:ea typeface="Times New Roman" panose="02020603050405020304" pitchFamily="18" charset="0"/>
                <a:cs typeface="Times New Roman" panose="02020603050405020304" pitchFamily="18" charset="0"/>
              </a:rPr>
              <a:t>l’absence de signe d’inflammation : douleur, rougeur, chaleur, </a:t>
            </a: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œdème</a:t>
            </a:r>
          </a:p>
          <a:p>
            <a:pPr marL="457200" lvl="0" indent="-457200">
              <a:lnSpc>
                <a:spcPct val="125000"/>
              </a:lnSpc>
              <a:spcAft>
                <a:spcPts val="0"/>
              </a:spcAft>
              <a:buFont typeface="Wingdings" panose="05000000000000000000" pitchFamily="2" charset="2"/>
              <a:buChar char="Ø"/>
              <a:tabLst>
                <a:tab pos="419100" algn="l"/>
              </a:tabLs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Vérification </a:t>
            </a:r>
            <a:r>
              <a:rPr lang="fr-FR" sz="2400" dirty="0">
                <a:latin typeface="Arial Black" panose="020B0A04020102020204" pitchFamily="34" charset="0"/>
                <a:ea typeface="Times New Roman" panose="02020603050405020304" pitchFamily="18" charset="0"/>
                <a:cs typeface="Times New Roman" panose="02020603050405020304" pitchFamily="18" charset="0"/>
              </a:rPr>
              <a:t>de l’écoulement de la </a:t>
            </a: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perfusion</a:t>
            </a:r>
          </a:p>
          <a:p>
            <a:pPr marL="457200" lvl="0" indent="-457200">
              <a:lnSpc>
                <a:spcPct val="125000"/>
              </a:lnSpc>
              <a:spcAft>
                <a:spcPts val="0"/>
              </a:spcAft>
              <a:buFont typeface="Wingdings" panose="05000000000000000000" pitchFamily="2" charset="2"/>
              <a:buChar char="Ø"/>
              <a:tabLst>
                <a:tab pos="419100" algn="l"/>
              </a:tabLs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Vérifier </a:t>
            </a:r>
            <a:r>
              <a:rPr lang="fr-FR" sz="2400" dirty="0">
                <a:latin typeface="Arial Black" panose="020B0A04020102020204" pitchFamily="34" charset="0"/>
                <a:ea typeface="Times New Roman" panose="02020603050405020304" pitchFamily="18" charset="0"/>
                <a:cs typeface="Times New Roman" panose="02020603050405020304" pitchFamily="18" charset="0"/>
              </a:rPr>
              <a:t>le </a:t>
            </a: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débit</a:t>
            </a:r>
          </a:p>
          <a:p>
            <a:pPr marL="457200" lvl="0" indent="-457200">
              <a:lnSpc>
                <a:spcPct val="125000"/>
              </a:lnSpc>
              <a:spcAft>
                <a:spcPts val="0"/>
              </a:spcAft>
              <a:buFont typeface="Wingdings" panose="05000000000000000000" pitchFamily="2" charset="2"/>
              <a:buChar char="Ø"/>
              <a:tabLst>
                <a:tab pos="419100" algn="l"/>
              </a:tabLs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Surveillance </a:t>
            </a:r>
            <a:r>
              <a:rPr lang="fr-FR" sz="2400" dirty="0">
                <a:latin typeface="Arial Black" panose="020B0A04020102020204" pitchFamily="34" charset="0"/>
                <a:ea typeface="Times New Roman" panose="02020603050405020304" pitchFamily="18" charset="0"/>
                <a:cs typeface="Times New Roman" panose="02020603050405020304" pitchFamily="18" charset="0"/>
              </a:rPr>
              <a:t>de la température.</a:t>
            </a:r>
          </a:p>
          <a:p>
            <a:r>
              <a:rPr lang="fr-FR" sz="2400" dirty="0" smtClean="0">
                <a:solidFill>
                  <a:srgbClr val="FF0000"/>
                </a:solidFill>
                <a:latin typeface="Arial Black" panose="020B0A04020102020204" pitchFamily="34" charset="0"/>
                <a:ea typeface="Times New Roman" panose="02020603050405020304" pitchFamily="18" charset="0"/>
              </a:rPr>
              <a:t>NB : Changement </a:t>
            </a:r>
            <a:r>
              <a:rPr lang="fr-FR" sz="2400" dirty="0">
                <a:solidFill>
                  <a:srgbClr val="FF0000"/>
                </a:solidFill>
                <a:latin typeface="Arial Black" panose="020B0A04020102020204" pitchFamily="34" charset="0"/>
                <a:ea typeface="Times New Roman" panose="02020603050405020304" pitchFamily="18" charset="0"/>
              </a:rPr>
              <a:t>de cathéter veineux </a:t>
            </a:r>
            <a:r>
              <a:rPr lang="fr-FR" sz="2400" dirty="0" smtClean="0">
                <a:solidFill>
                  <a:srgbClr val="FF0000"/>
                </a:solidFill>
                <a:latin typeface="Arial Black" panose="020B0A04020102020204" pitchFamily="34" charset="0"/>
                <a:ea typeface="Times New Roman" panose="02020603050405020304" pitchFamily="18" charset="0"/>
              </a:rPr>
              <a:t>court </a:t>
            </a:r>
            <a:r>
              <a:rPr lang="fr-FR" sz="2400" dirty="0">
                <a:solidFill>
                  <a:srgbClr val="FF0000"/>
                </a:solidFill>
                <a:latin typeface="Arial Black" panose="020B0A04020102020204" pitchFamily="34" charset="0"/>
                <a:ea typeface="Times New Roman" panose="02020603050405020304" pitchFamily="18" charset="0"/>
              </a:rPr>
              <a:t>toutes les 72 heures</a:t>
            </a:r>
            <a:endParaRPr lang="fr-FR" sz="2400"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68981033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90152"/>
            <a:ext cx="12191999" cy="6053133"/>
          </a:xfrm>
          <a:prstGeom prst="rect">
            <a:avLst/>
          </a:prstGeom>
        </p:spPr>
      </p:pic>
    </p:spTree>
    <p:extLst>
      <p:ext uri="{BB962C8B-B14F-4D97-AF65-F5344CB8AC3E}">
        <p14:creationId xmlns:p14="http://schemas.microsoft.com/office/powerpoint/2010/main" val="256206704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824248" y="0"/>
            <a:ext cx="10251583" cy="6194738"/>
          </a:xfrm>
          <a:prstGeom prst="rect">
            <a:avLst/>
          </a:prstGeom>
        </p:spPr>
      </p:pic>
    </p:spTree>
    <p:extLst>
      <p:ext uri="{BB962C8B-B14F-4D97-AF65-F5344CB8AC3E}">
        <p14:creationId xmlns:p14="http://schemas.microsoft.com/office/powerpoint/2010/main" val="273818421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682580" y="-1"/>
            <a:ext cx="10303099" cy="6349285"/>
          </a:xfrm>
          <a:prstGeom prst="rect">
            <a:avLst/>
          </a:prstGeom>
        </p:spPr>
      </p:pic>
    </p:spTree>
    <p:extLst>
      <p:ext uri="{BB962C8B-B14F-4D97-AF65-F5344CB8AC3E}">
        <p14:creationId xmlns:p14="http://schemas.microsoft.com/office/powerpoint/2010/main" val="262476560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65915" y="0"/>
            <a:ext cx="11226085" cy="553792"/>
          </a:xfrm>
        </p:spPr>
        <p:txBody>
          <a:bodyPr>
            <a:normAutofit/>
          </a:bodyPr>
          <a:lstStyle/>
          <a:p>
            <a:r>
              <a:rPr lang="fr-FR" sz="2800" dirty="0">
                <a:solidFill>
                  <a:srgbClr val="FF0000"/>
                </a:solidFill>
              </a:rPr>
              <a:t>INJECTION LENTE PAR DISPOSITIF INTRAVEINEUX</a:t>
            </a:r>
          </a:p>
        </p:txBody>
      </p:sp>
      <p:sp>
        <p:nvSpPr>
          <p:cNvPr id="3" name="Espace réservé du contenu 2"/>
          <p:cNvSpPr>
            <a:spLocks noGrp="1"/>
          </p:cNvSpPr>
          <p:nvPr>
            <p:ph idx="1"/>
          </p:nvPr>
        </p:nvSpPr>
        <p:spPr>
          <a:xfrm>
            <a:off x="103031" y="1154806"/>
            <a:ext cx="11990231" cy="3777622"/>
          </a:xfrm>
        </p:spPr>
        <p:txBody>
          <a:bodyPr/>
          <a:lstStyle/>
          <a:p>
            <a:pPr marL="0" indent="0">
              <a:buNone/>
            </a:pPr>
            <a:r>
              <a:rPr lang="fr-FR" b="1" u="sng" dirty="0" smtClean="0">
                <a:solidFill>
                  <a:srgbClr val="FF0000"/>
                </a:solidFill>
                <a:latin typeface="Arial Black" panose="020B0A04020102020204" pitchFamily="34" charset="0"/>
              </a:rPr>
              <a:t>I- DEFINITION</a:t>
            </a:r>
            <a:endParaRPr lang="fr-FR" dirty="0">
              <a:solidFill>
                <a:srgbClr val="FF0000"/>
              </a:solidFill>
              <a:latin typeface="Arial Black" panose="020B0A04020102020204" pitchFamily="34" charset="0"/>
            </a:endParaRPr>
          </a:p>
          <a:p>
            <a:pPr marL="0" indent="0">
              <a:buNone/>
            </a:pPr>
            <a:r>
              <a:rPr lang="fr-FR" dirty="0">
                <a:latin typeface="Arial Black" panose="020B0A04020102020204" pitchFamily="34" charset="0"/>
              </a:rPr>
              <a:t>L'injection lente par dispositif intraveineux (injection intra-tuyaux) est l'administration d'un produit médicamenteux présenté sous forme injectable par la voie d'un dispositif intraveineux déjà posé (cathéter).</a:t>
            </a:r>
          </a:p>
          <a:p>
            <a:pPr marL="0" lvl="0" indent="0">
              <a:buNone/>
            </a:pPr>
            <a:r>
              <a:rPr lang="fr-FR" b="1" u="sng" dirty="0" smtClean="0">
                <a:solidFill>
                  <a:srgbClr val="FF0000"/>
                </a:solidFill>
                <a:latin typeface="Arial Black" panose="020B0A04020102020204" pitchFamily="34" charset="0"/>
              </a:rPr>
              <a:t>II- INDICATION</a:t>
            </a:r>
            <a:endParaRPr lang="fr-FR" dirty="0">
              <a:solidFill>
                <a:srgbClr val="FF0000"/>
              </a:solidFill>
              <a:latin typeface="Arial Black" panose="020B0A04020102020204" pitchFamily="34" charset="0"/>
            </a:endParaRPr>
          </a:p>
          <a:p>
            <a:pPr marL="0" indent="0">
              <a:buNone/>
            </a:pPr>
            <a:r>
              <a:rPr lang="fr-FR" dirty="0">
                <a:latin typeface="Arial Black" panose="020B0A04020102020204" pitchFamily="34" charset="0"/>
              </a:rPr>
              <a:t>Nécessité d'une action rapide.</a:t>
            </a:r>
          </a:p>
          <a:p>
            <a:endParaRPr lang="fr-FR" dirty="0"/>
          </a:p>
        </p:txBody>
      </p:sp>
    </p:spTree>
    <p:extLst>
      <p:ext uri="{BB962C8B-B14F-4D97-AF65-F5344CB8AC3E}">
        <p14:creationId xmlns:p14="http://schemas.microsoft.com/office/powerpoint/2010/main" val="249806528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8794" y="0"/>
            <a:ext cx="11011437" cy="6438173"/>
          </a:xfrm>
          <a:prstGeom prst="rect">
            <a:avLst/>
          </a:prstGeom>
        </p:spPr>
        <p:txBody>
          <a:bodyPr wrap="square">
            <a:spAutoFit/>
          </a:bodyPr>
          <a:lstStyle/>
          <a:p>
            <a:pPr lvl="0">
              <a:lnSpc>
                <a:spcPct val="115000"/>
              </a:lnSpc>
              <a:spcAft>
                <a:spcPts val="0"/>
              </a:spcAft>
              <a:tabLst>
                <a:tab pos="488950" algn="l"/>
              </a:tabLst>
            </a:pPr>
            <a:r>
              <a:rPr lang="fr-FR" sz="24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III- MATERIEL </a:t>
            </a:r>
            <a:endParaRPr lang="fr-FR" sz="24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Un plateau stérile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Produit à injecter.</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Présentation du produit :</a:t>
            </a:r>
          </a:p>
          <a:p>
            <a:pPr marL="342900" lvl="0" indent="-342900" algn="just">
              <a:lnSpc>
                <a:spcPct val="115000"/>
              </a:lnSpc>
              <a:spcAft>
                <a:spcPts val="0"/>
              </a:spcAft>
              <a:buFont typeface="Arial" panose="020B0604020202020204" pitchFamily="34" charset="0"/>
              <a:buChar char="-"/>
            </a:pPr>
            <a:r>
              <a:rPr lang="fr-FR" sz="2400" spc="-50" dirty="0">
                <a:latin typeface="Arial Black" panose="020B0A04020102020204" pitchFamily="34" charset="0"/>
                <a:ea typeface="Times New Roman" panose="02020603050405020304" pitchFamily="18" charset="0"/>
                <a:cs typeface="Times New Roman" panose="02020603050405020304" pitchFamily="18" charset="0"/>
              </a:rPr>
              <a:t>Seringue stérile de 1 ml à 20 ml en fonction de la quantité du produit à injecter</a:t>
            </a:r>
            <a:r>
              <a:rPr lang="fr-FR" sz="2400" dirty="0">
                <a:latin typeface="Arial Black" panose="020B0A04020102020204" pitchFamily="34" charset="0"/>
                <a:ea typeface="Times New Roman" panose="02020603050405020304" pitchFamily="18" charset="0"/>
                <a:cs typeface="Times New Roman" panose="02020603050405020304" pitchFamily="18" charset="0"/>
              </a:rPr>
              <a:t>.</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Poche pour perfusion avec tubulure.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Bouchon stérile pour site d'injection (robinet).</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Compresses stériles.</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Antiseptique.</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Réniforme (haricot).</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Sac à élimination des déchets.</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Conteneur à déchets contaminés piquants et tranchants.</a:t>
            </a:r>
          </a:p>
          <a:p>
            <a:pPr marL="342900" lvl="0" indent="-342900" algn="just">
              <a:lnSpc>
                <a:spcPct val="11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Désinfectant de surface et </a:t>
            </a:r>
            <a:r>
              <a:rPr lang="fr-FR" sz="2400" dirty="0" err="1" smtClean="0">
                <a:latin typeface="Arial Black" panose="020B0A04020102020204" pitchFamily="34" charset="0"/>
                <a:ea typeface="Times New Roman" panose="02020603050405020304" pitchFamily="18" charset="0"/>
                <a:cs typeface="Times New Roman" panose="02020603050405020304" pitchFamily="18" charset="0"/>
              </a:rPr>
              <a:t>chiffonnette</a:t>
            </a:r>
            <a:endParaRPr lang="fr-FR" sz="2400"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0"/>
              </a:spcAft>
              <a:buFont typeface="Arial" panose="020B0604020202020204" pitchFamily="34" charset="0"/>
              <a:buChar char="-"/>
            </a:pPr>
            <a:r>
              <a:rPr lang="fr-FR" sz="2400" dirty="0" smtClean="0">
                <a:latin typeface="Arial Black" panose="020B0A04020102020204" pitchFamily="34" charset="0"/>
                <a:ea typeface="Times New Roman" panose="02020603050405020304" pitchFamily="18" charset="0"/>
              </a:rPr>
              <a:t>Nécessaire </a:t>
            </a:r>
            <a:r>
              <a:rPr lang="fr-FR" sz="2400" dirty="0">
                <a:latin typeface="Arial Black" panose="020B0A04020102020204" pitchFamily="34" charset="0"/>
                <a:ea typeface="Times New Roman" panose="02020603050405020304" pitchFamily="18" charset="0"/>
              </a:rPr>
              <a:t>à l'hygiène des mains</a:t>
            </a:r>
            <a:endParaRPr lang="fr-FR" sz="2400" dirty="0">
              <a:latin typeface="Arial Black" panose="020B0A04020102020204" pitchFamily="34" charset="0"/>
            </a:endParaRPr>
          </a:p>
        </p:txBody>
      </p:sp>
    </p:spTree>
    <p:extLst>
      <p:ext uri="{BB962C8B-B14F-4D97-AF65-F5344CB8AC3E}">
        <p14:creationId xmlns:p14="http://schemas.microsoft.com/office/powerpoint/2010/main" val="232471068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6214" y="0"/>
            <a:ext cx="11797048" cy="6074612"/>
          </a:xfrm>
          <a:prstGeom prst="rect">
            <a:avLst/>
          </a:prstGeom>
        </p:spPr>
        <p:txBody>
          <a:bodyPr wrap="square">
            <a:spAutoFit/>
          </a:bodyPr>
          <a:lstStyle/>
          <a:p>
            <a:pPr lvl="0">
              <a:lnSpc>
                <a:spcPct val="125000"/>
              </a:lnSpc>
              <a:spcAft>
                <a:spcPts val="0"/>
              </a:spcAft>
              <a:tabLst>
                <a:tab pos="488950" algn="l"/>
              </a:tabLst>
            </a:pPr>
            <a:r>
              <a:rPr lang="fr-FR" sz="26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TECHNIQUE </a:t>
            </a:r>
            <a:r>
              <a:rPr lang="fr-FR" sz="26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DU </a:t>
            </a:r>
            <a:r>
              <a:rPr lang="fr-FR" sz="26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SOIN </a:t>
            </a:r>
            <a:r>
              <a:rPr lang="fr-FR" sz="26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(1/2)</a:t>
            </a:r>
            <a:endParaRPr lang="fr-FR" sz="2600"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600" i="1" dirty="0">
                <a:latin typeface="Arial Black" panose="020B0A04020102020204" pitchFamily="34" charset="0"/>
                <a:ea typeface="Times New Roman" panose="02020603050405020304" pitchFamily="18" charset="0"/>
                <a:cs typeface="Times New Roman" panose="02020603050405020304" pitchFamily="18" charset="0"/>
              </a:rPr>
              <a:t>La manipulation de la ligne de perfusion, du robinet ou d'une rampe de perfusion se fait toujours après un lavage antiseptique des mains.</a:t>
            </a:r>
            <a:endParaRPr lang="fr-FR" sz="26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Vérifier la prescription médicale.</a:t>
            </a:r>
          </a:p>
          <a:p>
            <a:pPr marL="342900" lvl="0" indent="-342900" algn="just">
              <a:lnSpc>
                <a:spcPct val="12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Vérifier la compatibilité du traitement à injecter et le traitement en cours d'administration par la perfusion.</a:t>
            </a:r>
          </a:p>
          <a:p>
            <a:pPr marL="342900" lvl="0" indent="-342900" algn="just">
              <a:lnSpc>
                <a:spcPct val="12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Préparer en respectant les règles de préparation, le produit à injecter dans une poche pour perfusion ou dans une seringue.</a:t>
            </a:r>
          </a:p>
          <a:p>
            <a:pPr marL="342900" lvl="0" indent="-342900" algn="just">
              <a:lnSpc>
                <a:spcPct val="12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Prévenir le patient du soin.</a:t>
            </a:r>
          </a:p>
          <a:p>
            <a:pPr marL="342900" lvl="0" indent="-342900" algn="just">
              <a:lnSpc>
                <a:spcPct val="125000"/>
              </a:lnSpc>
              <a:spcAft>
                <a:spcPts val="0"/>
              </a:spcAft>
              <a:buFont typeface="Arial" panose="020B0604020202020204" pitchFamily="34" charset="0"/>
              <a:buChar char="-"/>
            </a:pPr>
            <a:r>
              <a:rPr lang="fr-FR" sz="26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effectuer un traitement hygiénique des mains</a:t>
            </a:r>
            <a:r>
              <a:rPr lang="fr-FR" sz="2700" dirty="0">
                <a:latin typeface="Arial Black" panose="020B0A04020102020204" pitchFamily="34" charset="0"/>
                <a:ea typeface="Times New Roman" panose="02020603050405020304" pitchFamily="18" charset="0"/>
                <a:cs typeface="Times New Roman" panose="02020603050405020304" pitchFamily="18" charset="0"/>
              </a:rPr>
              <a:t>.</a:t>
            </a:r>
            <a:endParaRPr lang="fr-FR" sz="27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388657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6518" y="79221"/>
            <a:ext cx="11715482" cy="6324808"/>
          </a:xfrm>
          <a:prstGeom prst="rect">
            <a:avLst/>
          </a:prstGeom>
        </p:spPr>
        <p:txBody>
          <a:bodyPr wrap="square">
            <a:spAutoFit/>
          </a:bodyPr>
          <a:lstStyle/>
          <a:p>
            <a:pPr marL="342900" indent="-342900" algn="just">
              <a:lnSpc>
                <a:spcPct val="125000"/>
              </a:lnSpc>
              <a:buFont typeface="Arial" panose="020B0604020202020204" pitchFamily="34" charset="0"/>
              <a:buChar char="-"/>
            </a:pPr>
            <a:r>
              <a:rPr lang="fr-FR" sz="16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IV- TECHNIQUE DU SOIN </a:t>
            </a:r>
            <a:r>
              <a:rPr lang="fr-FR" sz="24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(2/2)</a:t>
            </a:r>
            <a:endParaRPr lang="fr-FR" sz="2500" dirty="0" smtClean="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500" dirty="0" smtClean="0">
                <a:latin typeface="Arial Black" panose="020B0A04020102020204" pitchFamily="34" charset="0"/>
                <a:ea typeface="Times New Roman" panose="02020603050405020304" pitchFamily="18" charset="0"/>
                <a:cs typeface="Times New Roman" panose="02020603050405020304" pitchFamily="18" charset="0"/>
              </a:rPr>
              <a:t>Disposer </a:t>
            </a:r>
            <a:r>
              <a:rPr lang="fr-FR" sz="2500" dirty="0">
                <a:latin typeface="Arial Black" panose="020B0A04020102020204" pitchFamily="34" charset="0"/>
                <a:ea typeface="Times New Roman" panose="02020603050405020304" pitchFamily="18" charset="0"/>
                <a:cs typeface="Times New Roman" panose="02020603050405020304" pitchFamily="18" charset="0"/>
              </a:rPr>
              <a:t>le matériel après vérification des dates de péremptions et de l’intégrité des emballages.</a:t>
            </a:r>
          </a:p>
          <a:p>
            <a:pPr marL="342900" lvl="0" indent="-342900" algn="just">
              <a:lnSpc>
                <a:spcPct val="12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Installation sur une surface propre et désinfectée au préalable.</a:t>
            </a:r>
          </a:p>
          <a:p>
            <a:pPr marL="342900" lvl="0" indent="-342900" algn="just">
              <a:lnSpc>
                <a:spcPct val="12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Installer le réniforme loin du matériel propre.</a:t>
            </a:r>
          </a:p>
          <a:p>
            <a:pPr marL="342900" lvl="0" indent="-342900" algn="just">
              <a:lnSpc>
                <a:spcPct val="12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Vérifier le reflux sanguin de la perfusion : ouvrir le débit de la perfusion au maximum, mettre la poche du soluté en déclive (plus bas que le point de ponction), - Vérifier au niveau du </a:t>
            </a:r>
            <a:r>
              <a:rPr lang="fr-FR" sz="2500" dirty="0" err="1">
                <a:latin typeface="Arial Black" panose="020B0A04020102020204" pitchFamily="34" charset="0"/>
                <a:ea typeface="Times New Roman" panose="02020603050405020304" pitchFamily="18" charset="0"/>
                <a:cs typeface="Times New Roman" panose="02020603050405020304" pitchFamily="18" charset="0"/>
              </a:rPr>
              <a:t>cathlon</a:t>
            </a:r>
            <a:r>
              <a:rPr lang="fr-FR" sz="2500" dirty="0">
                <a:latin typeface="Arial Black" panose="020B0A04020102020204" pitchFamily="34" charset="0"/>
                <a:ea typeface="Times New Roman" panose="02020603050405020304" pitchFamily="18" charset="0"/>
                <a:cs typeface="Times New Roman" panose="02020603050405020304" pitchFamily="18" charset="0"/>
              </a:rPr>
              <a:t> la présence d'un reflux sanguin, remettre la poche et le débit de la perfusion.</a:t>
            </a:r>
          </a:p>
          <a:p>
            <a:pPr marL="342900" lvl="0" indent="-342900" algn="just">
              <a:lnSpc>
                <a:spcPct val="125000"/>
              </a:lnSpc>
              <a:spcAft>
                <a:spcPts val="0"/>
              </a:spcAft>
              <a:buFont typeface="Arial" panose="020B0604020202020204" pitchFamily="34" charset="0"/>
              <a:buChar char="-"/>
            </a:pPr>
            <a:r>
              <a:rPr lang="fr-FR" sz="2500" dirty="0">
                <a:latin typeface="Arial Black" panose="020B0A04020102020204" pitchFamily="34" charset="0"/>
                <a:ea typeface="Times New Roman" panose="02020603050405020304" pitchFamily="18" charset="0"/>
                <a:cs typeface="Times New Roman" panose="02020603050405020304" pitchFamily="18" charset="0"/>
              </a:rPr>
              <a:t>Effectuer un lavage antiseptique des mains ou effectuer un traitement hygiénique des mains</a:t>
            </a:r>
            <a:r>
              <a:rPr lang="fr-FR" sz="2500" i="1" dirty="0">
                <a:latin typeface="Arial Black" panose="020B0A04020102020204" pitchFamily="34" charset="0"/>
                <a:ea typeface="Times New Roman" panose="02020603050405020304" pitchFamily="18" charset="0"/>
                <a:cs typeface="Times New Roman" panose="02020603050405020304" pitchFamily="18" charset="0"/>
              </a:rPr>
              <a:t>.</a:t>
            </a:r>
            <a:endParaRPr lang="fr-FR" sz="25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SzPts val="1000"/>
              <a:buFont typeface="Arial" panose="020B0604020202020204" pitchFamily="34" charset="0"/>
              <a:buChar char="-"/>
              <a:tabLst>
                <a:tab pos="457200" algn="l"/>
              </a:tabLst>
            </a:pPr>
            <a:r>
              <a:rPr lang="fr-FR" sz="2500" dirty="0">
                <a:latin typeface="Arial Black" panose="020B0A04020102020204" pitchFamily="34" charset="0"/>
                <a:ea typeface="Times New Roman" panose="02020603050405020304" pitchFamily="18" charset="0"/>
                <a:cs typeface="Times New Roman" panose="02020603050405020304" pitchFamily="18" charset="0"/>
              </a:rPr>
              <a:t>Purger la tubulure. </a:t>
            </a:r>
            <a:endParaRPr lang="fr-FR" sz="25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808878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2073" y="0"/>
            <a:ext cx="11809927" cy="6717223"/>
          </a:xfrm>
          <a:prstGeom prst="rect">
            <a:avLst/>
          </a:prstGeom>
        </p:spPr>
        <p:txBody>
          <a:bodyPr wrap="square">
            <a:spAutoFit/>
          </a:bodyPr>
          <a:lstStyle/>
          <a:p>
            <a:pPr>
              <a:lnSpc>
                <a:spcPct val="125000"/>
              </a:lnSpc>
              <a:spcAft>
                <a:spcPts val="300"/>
              </a:spcAft>
            </a:pPr>
            <a:r>
              <a:rPr lang="fr-FR" sz="24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INJECTION PAR </a:t>
            </a:r>
            <a:r>
              <a:rPr lang="fr-FR" sz="24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SERINGUE </a:t>
            </a:r>
            <a:r>
              <a:rPr lang="fr-FR" sz="2400"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(1/2)</a:t>
            </a:r>
            <a:r>
              <a:rPr lang="fr-FR" sz="24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a:t>
            </a:r>
            <a:r>
              <a:rPr lang="fr-FR" sz="24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a:t>
            </a:r>
            <a:endParaRPr lang="fr-FR" sz="24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Adapter la seringue à la voie d'injection du robinet.</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Ouvrir la voie allant vers le patient et fermer la voie de la perfusion.</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Injecter doucement le produit tout en observant la réaction du malade</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Refermer la voie d'injection et rouvrir la voie de la perfusion.</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Désadapter la seringue de la voie d'injection.</a:t>
            </a:r>
          </a:p>
          <a:p>
            <a:pPr marL="342900" lvl="0" indent="-342900" algn="just">
              <a:lnSpc>
                <a:spcPct val="125000"/>
              </a:lnSpc>
              <a:spcAft>
                <a:spcPts val="300"/>
              </a:spcAft>
              <a:buFont typeface="Arial" panose="020B0604020202020204" pitchFamily="34" charset="0"/>
              <a:buChar char="-"/>
            </a:pPr>
            <a:r>
              <a:rPr lang="fr-FR" sz="2400" spc="-50" dirty="0">
                <a:latin typeface="Arial Black" panose="020B0A04020102020204" pitchFamily="34" charset="0"/>
                <a:ea typeface="Times New Roman" panose="02020603050405020304" pitchFamily="18" charset="0"/>
                <a:cs typeface="Times New Roman" panose="02020603050405020304" pitchFamily="18" charset="0"/>
              </a:rPr>
              <a:t>Mettre un nouveau bouchon stérile en le manipulant avec une compresse stérile.</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Jeter et désinfecter le matériel.</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effectuer un traitement hygiénique des mains </a:t>
            </a:r>
          </a:p>
          <a:p>
            <a:r>
              <a:rPr lang="fr-FR" sz="2400" dirty="0">
                <a:latin typeface="Arial Black" panose="020B0A04020102020204" pitchFamily="34" charset="0"/>
                <a:ea typeface="Times New Roman" panose="02020603050405020304" pitchFamily="18" charset="0"/>
              </a:rPr>
              <a:t>Adapter l'embout de la tubulure en le manipulant avec une compresse stérile imbibée d'antiseptique</a:t>
            </a:r>
            <a:endParaRPr lang="fr-FR" sz="2400" dirty="0">
              <a:latin typeface="Arial Black" panose="020B0A04020102020204" pitchFamily="34" charset="0"/>
            </a:endParaRPr>
          </a:p>
        </p:txBody>
      </p:sp>
    </p:spTree>
    <p:extLst>
      <p:ext uri="{BB962C8B-B14F-4D97-AF65-F5344CB8AC3E}">
        <p14:creationId xmlns:p14="http://schemas.microsoft.com/office/powerpoint/2010/main" val="267303196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2" y="0"/>
            <a:ext cx="11977352" cy="6786473"/>
          </a:xfrm>
          <a:prstGeom prst="rect">
            <a:avLst/>
          </a:prstGeom>
        </p:spPr>
        <p:txBody>
          <a:bodyPr wrap="square">
            <a:spAutoFit/>
          </a:bodyPr>
          <a:lstStyle/>
          <a:p>
            <a:pPr algn="just">
              <a:lnSpc>
                <a:spcPct val="125000"/>
              </a:lnSpc>
              <a:spcAft>
                <a:spcPts val="300"/>
              </a:spcAft>
            </a:pPr>
            <a:r>
              <a:rPr lang="fr-FR" dirty="0" smtClean="0">
                <a:latin typeface="Times New Roman" panose="02020603050405020304" pitchFamily="18" charset="0"/>
                <a:ea typeface="Times New Roman" panose="02020603050405020304" pitchFamily="18" charset="0"/>
                <a:cs typeface="Times New Roman" panose="02020603050405020304" pitchFamily="18" charset="0"/>
              </a:rPr>
              <a:t>-</a:t>
            </a:r>
            <a:r>
              <a:rPr lang="fr-FR" sz="16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INJECTION PAR SERINGUE </a:t>
            </a:r>
            <a:r>
              <a:rPr lang="fr-FR" b="1" u="sng" dirty="0" smtClean="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(2/2</a:t>
            </a:r>
            <a:r>
              <a:rPr lang="fr-FR" b="1" u="sng" dirty="0">
                <a:solidFill>
                  <a:schemeClr val="accent6"/>
                </a:solidFill>
                <a:latin typeface="Arial Black" panose="020B0A04020102020204" pitchFamily="34" charset="0"/>
                <a:ea typeface="Times New Roman" panose="02020603050405020304" pitchFamily="18" charset="0"/>
                <a:cs typeface="Times New Roman" panose="02020603050405020304" pitchFamily="18" charset="0"/>
              </a:rPr>
              <a:t>)</a:t>
            </a:r>
            <a:r>
              <a:rPr lang="fr-FR"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a:t>
            </a:r>
            <a:r>
              <a:rPr lang="fr-FR"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a:t>
            </a:r>
            <a:endParaRPr lang="fr-FR" dirty="0" smtClean="0">
              <a:latin typeface="Times New Roman" panose="02020603050405020304" pitchFamily="18" charset="0"/>
              <a:ea typeface="Times New Roman" panose="02020603050405020304" pitchFamily="18" charset="0"/>
              <a:cs typeface="Times New Roman" panose="02020603050405020304" pitchFamily="18" charset="0"/>
            </a:endParaRPr>
          </a:p>
          <a:p>
            <a:pPr lvl="0" algn="just">
              <a:lnSpc>
                <a:spcPct val="125000"/>
              </a:lnSpc>
              <a:spcAft>
                <a:spcPts val="300"/>
              </a:spcAft>
            </a:pPr>
            <a:r>
              <a:rPr lang="fr-FR" sz="2400" dirty="0" smtClean="0">
                <a:latin typeface="Arial Black" panose="020B0A04020102020204" pitchFamily="34" charset="0"/>
                <a:ea typeface="Times New Roman" panose="02020603050405020304" pitchFamily="18" charset="0"/>
                <a:cs typeface="Times New Roman" panose="02020603050405020304" pitchFamily="18" charset="0"/>
              </a:rPr>
              <a:t>Adapter </a:t>
            </a:r>
            <a:r>
              <a:rPr lang="fr-FR" sz="2400" dirty="0">
                <a:latin typeface="Arial Black" panose="020B0A04020102020204" pitchFamily="34" charset="0"/>
                <a:ea typeface="Times New Roman" panose="02020603050405020304" pitchFamily="18" charset="0"/>
                <a:cs typeface="Times New Roman" panose="02020603050405020304" pitchFamily="18" charset="0"/>
              </a:rPr>
              <a:t>l'embout de la tubulure en le manipulant avec une compresse stérile imbibée d'antiseptique.</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Ouvrir le robinet.</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Régler le </a:t>
            </a:r>
            <a:r>
              <a:rPr lang="fr-FR" sz="2400" u="sng" dirty="0">
                <a:solidFill>
                  <a:srgbClr val="0563C1"/>
                </a:solidFill>
                <a:latin typeface="Arial Black" panose="020B0A04020102020204" pitchFamily="34" charset="0"/>
                <a:ea typeface="Times New Roman" panose="02020603050405020304" pitchFamily="18" charset="0"/>
                <a:cs typeface="Times New Roman" panose="02020603050405020304" pitchFamily="18" charset="0"/>
                <a:hlinkClick r:id="rId2"/>
              </a:rPr>
              <a:t>débit</a:t>
            </a:r>
            <a:r>
              <a:rPr lang="fr-FR" sz="2400" dirty="0">
                <a:latin typeface="Arial Black" panose="020B0A04020102020204" pitchFamily="34" charset="0"/>
                <a:ea typeface="Times New Roman" panose="02020603050405020304" pitchFamily="18" charset="0"/>
                <a:cs typeface="Times New Roman" panose="02020603050405020304" pitchFamily="18" charset="0"/>
              </a:rPr>
              <a:t> de la perfusion.</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Clamper la perfusion quand le produit est administré.</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Refermer la voie d'injection.</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Désadapter l'embout de la tubulure en le manipulant toujours avec une compresse stérile imbibée.</a:t>
            </a:r>
          </a:p>
          <a:p>
            <a:pPr marL="342900" lvl="0" indent="-342900" algn="just">
              <a:lnSpc>
                <a:spcPct val="125000"/>
              </a:lnSpc>
              <a:spcAft>
                <a:spcPts val="300"/>
              </a:spcAft>
              <a:buFont typeface="Arial" panose="020B0604020202020204" pitchFamily="34" charset="0"/>
              <a:buChar char="-"/>
            </a:pPr>
            <a:r>
              <a:rPr lang="fr-FR" sz="2400" spc="-50" dirty="0">
                <a:latin typeface="Arial Black" panose="020B0A04020102020204" pitchFamily="34" charset="0"/>
                <a:ea typeface="Times New Roman" panose="02020603050405020304" pitchFamily="18" charset="0"/>
                <a:cs typeface="Times New Roman" panose="02020603050405020304" pitchFamily="18" charset="0"/>
              </a:rPr>
              <a:t>Mettre un nouveau bouchon stérile en le manipulant avec une compresse stérile</a:t>
            </a:r>
            <a:r>
              <a:rPr lang="fr-FR" sz="2400" dirty="0">
                <a:latin typeface="Arial Black" panose="020B0A04020102020204" pitchFamily="34" charset="0"/>
                <a:ea typeface="Times New Roman" panose="02020603050405020304" pitchFamily="18" charset="0"/>
                <a:cs typeface="Times New Roman" panose="02020603050405020304" pitchFamily="18" charset="0"/>
              </a:rPr>
              <a:t>.</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Jeter et désinfecter le matériel.</a:t>
            </a:r>
          </a:p>
          <a:p>
            <a:pPr marL="342900" lvl="0" indent="-342900" algn="just">
              <a:lnSpc>
                <a:spcPct val="125000"/>
              </a:lnSpc>
              <a:spcAft>
                <a:spcPts val="30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Effectuer un lavage simple des mains ou effectuer un traitement hygiénique.</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934041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0"/>
            <a:ext cx="11178861" cy="4401205"/>
          </a:xfrm>
          <a:prstGeom prst="rect">
            <a:avLst/>
          </a:prstGeom>
        </p:spPr>
        <p:txBody>
          <a:bodyPr wrap="square">
            <a:spAutoFit/>
          </a:bodyPr>
          <a:lstStyle/>
          <a:p>
            <a:pPr lvl="0">
              <a:lnSpc>
                <a:spcPct val="125000"/>
              </a:lnSpc>
              <a:spcAft>
                <a:spcPts val="0"/>
              </a:spcAft>
              <a:tabLst>
                <a:tab pos="488950" algn="l"/>
              </a:tabLst>
            </a:pPr>
            <a:r>
              <a:rPr lang="fr-FR" sz="32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 RISQUE </a:t>
            </a:r>
            <a:r>
              <a:rPr lang="fr-FR" sz="32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ET COMPLICATION</a:t>
            </a:r>
            <a:endParaRPr lang="fr-FR" sz="32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r>
              <a:rPr lang="fr-FR" sz="3200" dirty="0">
                <a:latin typeface="Arial Black" panose="020B0A04020102020204" pitchFamily="34" charset="0"/>
                <a:ea typeface="Times New Roman" panose="02020603050405020304" pitchFamily="18" charset="0"/>
                <a:cs typeface="Times New Roman" panose="02020603050405020304" pitchFamily="18" charset="0"/>
              </a:rPr>
              <a:t>Choc anaphylactique : réaction allergique.</a:t>
            </a:r>
          </a:p>
          <a:p>
            <a:pPr lvl="0">
              <a:lnSpc>
                <a:spcPct val="125000"/>
              </a:lnSpc>
              <a:spcAft>
                <a:spcPts val="0"/>
              </a:spcAft>
              <a:tabLst>
                <a:tab pos="488950" algn="l"/>
              </a:tabLst>
            </a:pPr>
            <a:r>
              <a:rPr lang="fr-FR" sz="32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VI- SURVEILLANCE </a:t>
            </a:r>
            <a:r>
              <a:rPr lang="fr-FR" sz="32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ET EVALUATION</a:t>
            </a:r>
            <a:endParaRPr lang="fr-FR" sz="32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Surveillance du point de ponction du cathéter.</a:t>
            </a:r>
          </a:p>
          <a:p>
            <a:pPr marL="342900" lvl="0" indent="-342900" algn="just">
              <a:lnSpc>
                <a:spcPct val="12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Surveillance du débit.</a:t>
            </a:r>
          </a:p>
          <a:p>
            <a:pPr marL="342900" lvl="0" indent="-342900" algn="just">
              <a:lnSpc>
                <a:spcPct val="125000"/>
              </a:lnSpc>
              <a:spcAft>
                <a:spcPts val="0"/>
              </a:spcAft>
              <a:buFont typeface="Arial" panose="020B0604020202020204" pitchFamily="34" charset="0"/>
              <a:buChar char="-"/>
            </a:pPr>
            <a:r>
              <a:rPr lang="fr-FR" sz="3200" dirty="0">
                <a:latin typeface="Arial Black" panose="020B0A04020102020204" pitchFamily="34" charset="0"/>
                <a:ea typeface="Times New Roman" panose="02020603050405020304" pitchFamily="18" charset="0"/>
                <a:cs typeface="Times New Roman" panose="02020603050405020304" pitchFamily="18" charset="0"/>
              </a:rPr>
              <a:t>Surveillance des réactions possibles du patient pendant et après l'injection.</a:t>
            </a:r>
            <a:endParaRPr lang="fr-FR" sz="32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337100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182" y="0"/>
            <a:ext cx="11861443" cy="6555641"/>
          </a:xfrm>
          <a:prstGeom prst="rect">
            <a:avLst/>
          </a:prstGeom>
        </p:spPr>
        <p:txBody>
          <a:bodyPr wrap="square">
            <a:spAutoFit/>
          </a:bodyPr>
          <a:lstStyle/>
          <a:p>
            <a:pPr lvl="0">
              <a:lnSpc>
                <a:spcPct val="125000"/>
              </a:lnSpc>
              <a:spcAft>
                <a:spcPts val="0"/>
              </a:spcAft>
              <a:tabLst>
                <a:tab pos="488950" algn="l"/>
              </a:tabLst>
            </a:pPr>
            <a:r>
              <a:rPr lang="fr-FR" sz="2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VII- </a:t>
            </a:r>
            <a:r>
              <a:rPr lang="fr-FR" sz="2800" b="1" u="sng"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LES </a:t>
            </a:r>
            <a:r>
              <a:rPr lang="fr-FR" sz="28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INCIDENTS ET ACCIDENTS LIES AUX INJECTIONS </a:t>
            </a:r>
            <a:endPar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Wingdings" panose="05000000000000000000" pitchFamily="2" charset="2"/>
              <a:buChar char=""/>
            </a:pPr>
            <a:r>
              <a:rPr lang="fr-FR" sz="2800" b="1" u="sng"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Les incidents et les accidents liés aux erreurs</a:t>
            </a:r>
            <a:r>
              <a:rPr lang="fr-FR" sz="280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 </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800" dirty="0">
                <a:latin typeface="Arial Black" panose="020B0A04020102020204" pitchFamily="34" charset="0"/>
                <a:ea typeface="Times New Roman" panose="02020603050405020304" pitchFamily="18" charset="0"/>
                <a:cs typeface="Times New Roman" panose="02020603050405020304" pitchFamily="18" charset="0"/>
              </a:rPr>
              <a:t>Les erreurs de médicaments peuvent être redoutables pour cela il faut :</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Bien vérifier le nom du médicament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à injecter </a:t>
            </a:r>
            <a:r>
              <a:rPr lang="fr-FR" sz="2800" dirty="0">
                <a:latin typeface="Arial Black" panose="020B0A04020102020204" pitchFamily="34" charset="0"/>
                <a:ea typeface="Times New Roman" panose="02020603050405020304" pitchFamily="18" charset="0"/>
                <a:cs typeface="Times New Roman" panose="02020603050405020304" pitchFamily="18" charset="0"/>
              </a:rPr>
              <a:t>(la dose prescrite et la dose de </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l’ampoule) </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Vérifier le nom du malade et non le numéro du lit.</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Ne jamais préparer dans un même plateau plusieurs injections pour des malades différents.</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Préparer l’injection au lit du malade. </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Si l’injection est préparée en sale de soin, n’en préparer qu’une à la fois.</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014815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7883" y="0"/>
            <a:ext cx="11754118" cy="6093976"/>
          </a:xfrm>
          <a:prstGeom prst="rect">
            <a:avLst/>
          </a:prstGeom>
        </p:spPr>
        <p:txBody>
          <a:bodyPr wrap="square">
            <a:spAutoFit/>
          </a:bodyPr>
          <a:lstStyle/>
          <a:p>
            <a:pPr marL="342900" lvl="0" indent="-342900">
              <a:lnSpc>
                <a:spcPct val="125000"/>
              </a:lnSpc>
              <a:spcAft>
                <a:spcPts val="0"/>
              </a:spcAft>
              <a:buFont typeface="Wingdings" panose="05000000000000000000" pitchFamily="2" charset="2"/>
              <a:buChar char=""/>
            </a:pPr>
            <a:r>
              <a:rPr lang="fr-FR" sz="2400" b="1" u="sng"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Les erreurs  dans les modes d’injection</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Un produit injecté par voie intra veineuse alors qu’il devrait être parfois intra musculaire ou sous cutané peut déclencher un état de choc.</a:t>
            </a:r>
          </a:p>
          <a:p>
            <a:pPr marL="342900" lvl="0" indent="-342900" algn="just">
              <a:lnSpc>
                <a:spcPct val="125000"/>
              </a:lnSpc>
              <a:spcAft>
                <a:spcPts val="0"/>
              </a:spcAft>
              <a:buFont typeface="Arial" panose="020B0604020202020204" pitchFamily="34" charset="0"/>
              <a:buChar char="-"/>
            </a:pPr>
            <a:r>
              <a:rPr lang="fr-FR" sz="2400" dirty="0">
                <a:latin typeface="Arial Black" panose="020B0A04020102020204" pitchFamily="34" charset="0"/>
                <a:ea typeface="Times New Roman" panose="02020603050405020304" pitchFamily="18" charset="0"/>
                <a:cs typeface="Times New Roman" panose="02020603050405020304" pitchFamily="18" charset="0"/>
              </a:rPr>
              <a:t>Un produit injecté par voie IM ou sous cutané alors qu’il devrait l’être par voie intraveineuse, peut provoquer une escarre…</a:t>
            </a:r>
          </a:p>
          <a:p>
            <a:pPr marL="342900" lvl="0" indent="-342900" algn="just">
              <a:lnSpc>
                <a:spcPct val="125000"/>
              </a:lnSpc>
              <a:spcAft>
                <a:spcPts val="0"/>
              </a:spcAft>
              <a:buFont typeface="Arial" panose="020B0604020202020204" pitchFamily="34" charset="0"/>
              <a:buChar char="-"/>
            </a:pPr>
            <a:r>
              <a:rPr lang="fr-FR" sz="2400" spc="-30" dirty="0">
                <a:latin typeface="Arial Black" panose="020B0A04020102020204" pitchFamily="34" charset="0"/>
                <a:ea typeface="Times New Roman" panose="02020603050405020304" pitchFamily="18" charset="0"/>
                <a:cs typeface="Times New Roman" panose="02020603050405020304" pitchFamily="18" charset="0"/>
              </a:rPr>
              <a:t>Bien vérifier le mode d’injection sur la prescription et sur l’ampoule, en cas de doute se renseigner auprès du médecin traitant avant de faire l’injection</a:t>
            </a:r>
            <a:r>
              <a:rPr lang="fr-FR" sz="2400" dirty="0">
                <a:latin typeface="Arial Black" panose="020B0A04020102020204" pitchFamily="34" charset="0"/>
                <a:ea typeface="Times New Roman" panose="02020603050405020304" pitchFamily="18" charset="0"/>
                <a:cs typeface="Times New Roman" panose="02020603050405020304" pitchFamily="18" charset="0"/>
              </a:rPr>
              <a:t>.</a:t>
            </a:r>
          </a:p>
          <a:p>
            <a:pPr marL="342900" lvl="0" indent="-342900">
              <a:lnSpc>
                <a:spcPct val="125000"/>
              </a:lnSpc>
              <a:spcAft>
                <a:spcPts val="0"/>
              </a:spcAft>
              <a:buFont typeface="Wingdings" panose="05000000000000000000" pitchFamily="2" charset="2"/>
              <a:buChar char=""/>
            </a:pPr>
            <a:r>
              <a:rPr lang="fr-FR" sz="2400" b="1" u="sng"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Incidents et accidents liés au mauvais choix du lieu d’injection</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400" dirty="0">
                <a:latin typeface="Arial Black" panose="020B0A04020102020204" pitchFamily="34" charset="0"/>
                <a:ea typeface="Times New Roman" panose="02020603050405020304" pitchFamily="18" charset="0"/>
                <a:cs typeface="Times New Roman" panose="02020603050405020304" pitchFamily="18" charset="0"/>
              </a:rPr>
              <a:t>L’injection au niveau du nerf sciatique provoque une douleur immédiate mais peut entraîner par la suite </a:t>
            </a:r>
            <a:r>
              <a:rPr lang="fr-FR" sz="24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une sciatique.</a:t>
            </a:r>
            <a:r>
              <a:rPr lang="fr-FR" sz="2400" dirty="0">
                <a:latin typeface="Arial Black" panose="020B0A04020102020204" pitchFamily="34" charset="0"/>
                <a:ea typeface="Times New Roman" panose="02020603050405020304" pitchFamily="18" charset="0"/>
                <a:cs typeface="Times New Roman" panose="02020603050405020304" pitchFamily="18" charset="0"/>
              </a:rPr>
              <a:t> L’injection sur l’os peut entraîner la rupture de l’aiguille dans le corps.</a:t>
            </a:r>
            <a:endParaRPr lang="fr-FR" sz="24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845015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668" y="469902"/>
            <a:ext cx="12050332" cy="5909310"/>
          </a:xfrm>
          <a:prstGeom prst="rect">
            <a:avLst/>
          </a:prstGeom>
        </p:spPr>
        <p:txBody>
          <a:bodyPr wrap="square">
            <a:spAutoFit/>
          </a:bodyPr>
          <a:lstStyle/>
          <a:p>
            <a:pPr marL="342900" lvl="0" indent="-342900">
              <a:lnSpc>
                <a:spcPct val="125000"/>
              </a:lnSpc>
              <a:spcAft>
                <a:spcPts val="0"/>
              </a:spcAft>
              <a:buFont typeface="Wingdings" panose="05000000000000000000" pitchFamily="2" charset="2"/>
              <a:buChar char=""/>
            </a:pPr>
            <a:r>
              <a:rPr lang="fr-FR" sz="2800" b="1" u="sng"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Fautes d’asepsie </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doigts mis sur l’embout ou sur le piston, aiguille ayant touché l’extérieur de l’ampoule ou le chariot </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mauvaise désinfection de la peau etc.</a:t>
            </a:r>
          </a:p>
          <a:p>
            <a:pPr marL="457200" algn="just">
              <a:lnSpc>
                <a:spcPct val="125000"/>
              </a:lnSpc>
              <a:spcAft>
                <a:spcPts val="0"/>
              </a:spcAft>
            </a:pPr>
            <a:r>
              <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Ces fautes d’asepsie favorisent l’apparition d’abcès souvent profond lors de l’injection intramusculaire et nécessite une incision chirurgicale.</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0"/>
              </a:spcAft>
              <a:buFont typeface="Wingdings" panose="05000000000000000000" pitchFamily="2" charset="2"/>
              <a:buChar char=""/>
              <a:tabLst>
                <a:tab pos="450215" algn="l"/>
              </a:tabLst>
            </a:pPr>
            <a:r>
              <a:rPr lang="fr-FR" sz="2800" b="1" u="sng"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Mauvaises stérilisations </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a:lnSpc>
                <a:spcPct val="125000"/>
              </a:lnSpc>
              <a:spcAft>
                <a:spcPts val="0"/>
              </a:spcAft>
            </a:pPr>
            <a:r>
              <a:rPr lang="fr-FR" sz="2800" dirty="0">
                <a:latin typeface="Arial Black" panose="020B0A04020102020204" pitchFamily="34" charset="0"/>
                <a:ea typeface="Times New Roman" panose="02020603050405020304" pitchFamily="18" charset="0"/>
                <a:cs typeface="Times New Roman" panose="02020603050405020304" pitchFamily="18" charset="0"/>
              </a:rPr>
              <a:t>Une stérilisation défectueuse peut favoriser l’apparition : </a:t>
            </a:r>
          </a:p>
          <a:p>
            <a:pPr marL="342900" lvl="0" indent="-342900" algn="just">
              <a:lnSpc>
                <a:spcPct val="125000"/>
              </a:lnSpc>
              <a:spcAft>
                <a:spcPts val="0"/>
              </a:spcAft>
              <a:buFont typeface="Arial" panose="020B0604020202020204" pitchFamily="34" charset="0"/>
              <a:buChar char="-"/>
            </a:pPr>
            <a:r>
              <a:rPr lang="fr-FR" sz="2800" dirty="0">
                <a:latin typeface="Arial Black" panose="020B0A04020102020204" pitchFamily="34" charset="0"/>
                <a:ea typeface="Times New Roman" panose="02020603050405020304" pitchFamily="18" charset="0"/>
                <a:cs typeface="Times New Roman" panose="02020603050405020304" pitchFamily="18" charset="0"/>
              </a:rPr>
              <a:t>D’abcès </a:t>
            </a:r>
          </a:p>
          <a:p>
            <a:r>
              <a:rPr lang="fr-FR" sz="2800" dirty="0">
                <a:latin typeface="Arial Black" panose="020B0A04020102020204" pitchFamily="34" charset="0"/>
                <a:ea typeface="Times New Roman" panose="02020603050405020304" pitchFamily="18" charset="0"/>
              </a:rPr>
              <a:t>D’hépatite virale</a:t>
            </a:r>
            <a:r>
              <a:rPr lang="fr-FR" dirty="0">
                <a:latin typeface="Times New Roman" panose="02020603050405020304" pitchFamily="18" charset="0"/>
                <a:ea typeface="Times New Roman" panose="02020603050405020304" pitchFamily="18" charset="0"/>
              </a:rPr>
              <a:t> </a:t>
            </a:r>
            <a:endParaRPr lang="fr-FR" dirty="0"/>
          </a:p>
        </p:txBody>
      </p:sp>
    </p:spTree>
    <p:extLst>
      <p:ext uri="{BB962C8B-B14F-4D97-AF65-F5344CB8AC3E}">
        <p14:creationId xmlns:p14="http://schemas.microsoft.com/office/powerpoint/2010/main" val="126498541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89" y="432026"/>
            <a:ext cx="11964473" cy="5093702"/>
          </a:xfrm>
          <a:prstGeom prst="rect">
            <a:avLst/>
          </a:prstGeom>
        </p:spPr>
        <p:txBody>
          <a:bodyPr wrap="square">
            <a:spAutoFit/>
          </a:bodyPr>
          <a:lstStyle/>
          <a:p>
            <a:pPr marL="342900" lvl="0" indent="-342900">
              <a:lnSpc>
                <a:spcPct val="125000"/>
              </a:lnSpc>
              <a:spcAft>
                <a:spcPts val="0"/>
              </a:spcAft>
              <a:buFont typeface="Wingdings" panose="05000000000000000000" pitchFamily="2" charset="2"/>
              <a:buChar char=""/>
              <a:tabLst>
                <a:tab pos="540385" algn="l"/>
              </a:tabLst>
            </a:pPr>
            <a:r>
              <a:rPr lang="fr-FR" sz="2000" b="1" u="sng"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Incidents et accidents liés au médicament lui-même</a:t>
            </a:r>
            <a:r>
              <a:rPr lang="fr-FR" sz="2000" b="1"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457200" algn="just">
              <a:lnSpc>
                <a:spcPct val="125000"/>
              </a:lnSpc>
              <a:spcAft>
                <a:spcPts val="0"/>
              </a:spcAft>
            </a:pPr>
            <a:r>
              <a:rPr lang="fr-FR" sz="2000" b="1"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La mauvaise résorption du produit</a:t>
            </a:r>
            <a:r>
              <a:rPr lang="fr-FR" sz="2000" b="1" dirty="0">
                <a:latin typeface="Arial Black" panose="020B0A04020102020204" pitchFamily="34" charset="0"/>
                <a:ea typeface="Times New Roman" panose="02020603050405020304" pitchFamily="18" charset="0"/>
                <a:cs typeface="Times New Roman" panose="02020603050405020304" pitchFamily="18" charset="0"/>
              </a:rPr>
              <a:t> </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000" dirty="0">
                <a:latin typeface="Arial Black" panose="020B0A04020102020204" pitchFamily="34" charset="0"/>
                <a:ea typeface="Times New Roman" panose="02020603050405020304" pitchFamily="18" charset="0"/>
                <a:cs typeface="Times New Roman" panose="02020603050405020304" pitchFamily="18" charset="0"/>
              </a:rPr>
              <a:t>Les substances huileuses se résorbent difficilement. Il peut se produire une collection. Pour prévenir cet accident il faut varier les points d’injection.</a:t>
            </a:r>
          </a:p>
          <a:p>
            <a:pPr marL="457200" algn="just">
              <a:lnSpc>
                <a:spcPct val="125000"/>
              </a:lnSpc>
              <a:spcAft>
                <a:spcPts val="0"/>
              </a:spcAft>
            </a:pPr>
            <a:r>
              <a:rPr lang="fr-FR" sz="2000" b="1"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Les réactions allergiques </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réactions locales (urticaire, œdème) </a:t>
            </a:r>
          </a:p>
          <a:p>
            <a:pPr marL="342900" lvl="0" indent="-342900" algn="just">
              <a:lnSpc>
                <a:spcPct val="125000"/>
              </a:lnSpc>
              <a:spcAft>
                <a:spcPts val="120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réactions générales (choc anaphylactique) </a:t>
            </a:r>
            <a:r>
              <a:rPr lang="fr-FR" sz="2000" b="1"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 </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457200" algn="just">
              <a:lnSpc>
                <a:spcPct val="125000"/>
              </a:lnSpc>
              <a:spcAft>
                <a:spcPts val="0"/>
              </a:spcAft>
            </a:pPr>
            <a:r>
              <a:rPr lang="fr-FR" sz="2000" b="1"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la prévention du choc anaphylactique</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000" dirty="0">
                <a:latin typeface="Arial Black" panose="020B0A04020102020204" pitchFamily="34" charset="0"/>
                <a:ea typeface="Times New Roman" panose="02020603050405020304" pitchFamily="18" charset="0"/>
                <a:cs typeface="Times New Roman" panose="02020603050405020304" pitchFamily="18" charset="0"/>
              </a:rPr>
              <a:t>La prévention du choc anaphylactique est possible en refusant toute injection à un malade déjà sensibilisé au produit de par l’interrogatoire et il faut rechercher des signes d’intolérance : </a:t>
            </a:r>
          </a:p>
          <a:p>
            <a:r>
              <a:rPr lang="fr-FR" sz="2000" dirty="0">
                <a:latin typeface="Arial Black" panose="020B0A04020102020204" pitchFamily="34" charset="0"/>
                <a:ea typeface="Times New Roman" panose="02020603050405020304" pitchFamily="18" charset="0"/>
              </a:rPr>
              <a:t>Prurit, urticaire œdème au point de piqûre au cours d’un traitement précédent, malaise général, céphalée</a:t>
            </a:r>
            <a:endParaRPr lang="fr-FR" sz="2000" dirty="0">
              <a:latin typeface="Arial Black" panose="020B0A04020102020204" pitchFamily="34" charset="0"/>
            </a:endParaRPr>
          </a:p>
        </p:txBody>
      </p:sp>
    </p:spTree>
    <p:extLst>
      <p:ext uri="{BB962C8B-B14F-4D97-AF65-F5344CB8AC3E}">
        <p14:creationId xmlns:p14="http://schemas.microsoft.com/office/powerpoint/2010/main" val="412024059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546" y="180304"/>
            <a:ext cx="11848564" cy="6247864"/>
          </a:xfrm>
          <a:prstGeom prst="rect">
            <a:avLst/>
          </a:prstGeom>
        </p:spPr>
        <p:txBody>
          <a:bodyPr wrap="square">
            <a:spAutoFit/>
          </a:bodyPr>
          <a:lstStyle/>
          <a:p>
            <a:pPr marL="457200" algn="just">
              <a:lnSpc>
                <a:spcPct val="125000"/>
              </a:lnSpc>
              <a:spcAft>
                <a:spcPts val="0"/>
              </a:spcAft>
            </a:pPr>
            <a:r>
              <a:rPr lang="fr-FR" sz="2000" b="1"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Le traitement du choc anaphylactique </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000" dirty="0">
                <a:latin typeface="Arial Black" panose="020B0A04020102020204" pitchFamily="34" charset="0"/>
                <a:ea typeface="Times New Roman" panose="02020603050405020304" pitchFamily="18" charset="0"/>
                <a:cs typeface="Times New Roman" panose="02020603050405020304" pitchFamily="18" charset="0"/>
              </a:rPr>
              <a:t>Il doit être immédiat : </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injection IV d’hydrocortisone ou de </a:t>
            </a:r>
            <a:r>
              <a:rPr lang="fr-FR" sz="2000" dirty="0" err="1">
                <a:latin typeface="Arial Black" panose="020B0A04020102020204" pitchFamily="34" charset="0"/>
                <a:ea typeface="Times New Roman" panose="02020603050405020304" pitchFamily="18" charset="0"/>
                <a:cs typeface="Times New Roman" panose="02020603050405020304" pitchFamily="18" charset="0"/>
              </a:rPr>
              <a:t>soludécadron</a:t>
            </a:r>
            <a:r>
              <a:rPr lang="fr-FR" sz="2000" baseline="30000" dirty="0">
                <a:latin typeface="Arial Black" panose="020B0A04020102020204" pitchFamily="34" charset="0"/>
                <a:ea typeface="Times New Roman" panose="02020603050405020304" pitchFamily="18" charset="0"/>
                <a:cs typeface="Times New Roman" panose="02020603050405020304" pitchFamily="18" charset="0"/>
              </a:rPr>
              <a:t>®</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une réanimation doit être entreprise aussi tôt suivant l’état du malade : respiration artificielle, massage cardiaque externe, oxygénation</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lvl="0">
              <a:lnSpc>
                <a:spcPct val="125000"/>
              </a:lnSpc>
              <a:spcAft>
                <a:spcPts val="0"/>
              </a:spcAft>
              <a:tabLst>
                <a:tab pos="488950" algn="l"/>
                <a:tab pos="628650" algn="l"/>
              </a:tabLst>
            </a:pPr>
            <a:r>
              <a:rPr lang="fr-FR" sz="2000" b="1" u="sng"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LA CCC</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000" dirty="0">
                <a:latin typeface="Arial Black" panose="020B0A04020102020204" pitchFamily="34" charset="0"/>
                <a:ea typeface="Times New Roman" panose="02020603050405020304" pitchFamily="18" charset="0"/>
                <a:cs typeface="Times New Roman" panose="02020603050405020304" pitchFamily="18" charset="0"/>
              </a:rPr>
              <a:t>La communication pour le changement de comportement consiste à donner des conseils en rapport avec le soin au client :</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L’hygiène corporelle (se laver après une injection)</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Éviter l’automédication</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Consulter toujours le personnel médical en cas d’anomalie</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Éviter de fréquenter les infirmeries de quartier</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Déconseiller au malade de masser le site d’injection avec de l’eau chaude</a:t>
            </a:r>
          </a:p>
          <a:p>
            <a:pPr marL="342900" lvl="0" indent="-342900" algn="just">
              <a:lnSpc>
                <a:spcPct val="125000"/>
              </a:lnSpc>
              <a:spcAft>
                <a:spcPts val="0"/>
              </a:spcAft>
              <a:buFont typeface="Arial" panose="020B0604020202020204" pitchFamily="34" charset="0"/>
              <a:buChar char="-"/>
            </a:pPr>
            <a:r>
              <a:rPr lang="fr-FR" sz="2000" dirty="0">
                <a:latin typeface="Arial Black" panose="020B0A04020102020204" pitchFamily="34" charset="0"/>
                <a:ea typeface="Times New Roman" panose="02020603050405020304" pitchFamily="18" charset="0"/>
                <a:cs typeface="Times New Roman" panose="02020603050405020304" pitchFamily="18" charset="0"/>
              </a:rPr>
              <a:t>Déconseiller le massage du site avec des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chaussures</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000" b="1" u="sng"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NB</a:t>
            </a:r>
            <a:r>
              <a:rPr lang="fr-FR" sz="20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 Les injections ne doivent se faire que par nécessité, il faut toujours privilégier la voie orale si possible</a:t>
            </a:r>
            <a:endParaRPr lang="fr-FR" sz="20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102532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1" y="121833"/>
            <a:ext cx="11277600" cy="856961"/>
          </a:xfrm>
        </p:spPr>
        <p:txBody>
          <a:bodyPr>
            <a:normAutofit/>
          </a:bodyPr>
          <a:lstStyle/>
          <a:p>
            <a:r>
              <a:rPr lang="fr-FR" sz="2200" dirty="0">
                <a:solidFill>
                  <a:srgbClr val="FF0000"/>
                </a:solidFill>
              </a:rPr>
              <a:t>SÉCURITÉ DES INJECTIONS ET </a:t>
            </a:r>
            <a:r>
              <a:rPr lang="fr-FR" sz="2200" dirty="0" smtClean="0">
                <a:solidFill>
                  <a:srgbClr val="FF0000"/>
                </a:solidFill>
              </a:rPr>
              <a:t>IMPACT </a:t>
            </a:r>
            <a:r>
              <a:rPr lang="fr-FR" sz="2200" dirty="0">
                <a:solidFill>
                  <a:srgbClr val="FF0000"/>
                </a:solidFill>
              </a:rPr>
              <a:t>DES INJECTIONS A RISQUE</a:t>
            </a:r>
            <a:r>
              <a:rPr lang="fr-FR" dirty="0"/>
              <a:t/>
            </a:r>
            <a:br>
              <a:rPr lang="fr-FR" dirty="0"/>
            </a:br>
            <a:endParaRPr lang="fr-FR" dirty="0"/>
          </a:p>
        </p:txBody>
      </p:sp>
      <p:sp>
        <p:nvSpPr>
          <p:cNvPr id="3" name="Espace réservé du contenu 2"/>
          <p:cNvSpPr>
            <a:spLocks noGrp="1"/>
          </p:cNvSpPr>
          <p:nvPr>
            <p:ph idx="1"/>
          </p:nvPr>
        </p:nvSpPr>
        <p:spPr>
          <a:xfrm>
            <a:off x="0" y="978794"/>
            <a:ext cx="11938715" cy="5190186"/>
          </a:xfrm>
        </p:spPr>
        <p:txBody>
          <a:bodyPr>
            <a:normAutofit fontScale="47500" lnSpcReduction="20000"/>
          </a:bodyPr>
          <a:lstStyle/>
          <a:p>
            <a:pPr marL="0" lvl="0" indent="0">
              <a:buNone/>
            </a:pPr>
            <a:r>
              <a:rPr lang="fr-FR" sz="4600" b="1" u="sng" dirty="0" smtClean="0">
                <a:solidFill>
                  <a:srgbClr val="FF0000"/>
                </a:solidFill>
                <a:latin typeface="Arial Black" panose="020B0A04020102020204" pitchFamily="34" charset="0"/>
              </a:rPr>
              <a:t>I- DÉFINITION </a:t>
            </a:r>
            <a:r>
              <a:rPr lang="fr-FR" sz="4600" b="1" u="sng" dirty="0">
                <a:solidFill>
                  <a:srgbClr val="FF0000"/>
                </a:solidFill>
                <a:latin typeface="Arial Black" panose="020B0A04020102020204" pitchFamily="34" charset="0"/>
              </a:rPr>
              <a:t>DE LA NOTION DE SÉCURITÉ DES INJECTIONS</a:t>
            </a:r>
            <a:endParaRPr lang="fr-FR" sz="4600" dirty="0">
              <a:solidFill>
                <a:srgbClr val="FF0000"/>
              </a:solidFill>
              <a:latin typeface="Arial Black" panose="020B0A04020102020204" pitchFamily="34" charset="0"/>
            </a:endParaRPr>
          </a:p>
          <a:p>
            <a:pPr lvl="0">
              <a:buFont typeface="Wingdings" panose="05000000000000000000" pitchFamily="2" charset="2"/>
              <a:buChar char="v"/>
            </a:pPr>
            <a:r>
              <a:rPr lang="fr-FR" sz="4600" u="sng" dirty="0">
                <a:solidFill>
                  <a:schemeClr val="accent5"/>
                </a:solidFill>
                <a:latin typeface="Arial Black" panose="020B0A04020102020204" pitchFamily="34" charset="0"/>
              </a:rPr>
              <a:t>SECURITE DES INJECTIONS</a:t>
            </a:r>
            <a:endParaRPr lang="fr-FR" sz="4600" dirty="0">
              <a:solidFill>
                <a:schemeClr val="accent5"/>
              </a:solidFill>
              <a:latin typeface="Arial Black" panose="020B0A04020102020204" pitchFamily="34" charset="0"/>
            </a:endParaRPr>
          </a:p>
          <a:p>
            <a:pPr marL="0" indent="0">
              <a:buNone/>
            </a:pPr>
            <a:r>
              <a:rPr lang="fr-FR" sz="4600" dirty="0">
                <a:latin typeface="Arial Black" panose="020B0A04020102020204" pitchFamily="34" charset="0"/>
              </a:rPr>
              <a:t>C'est l'ensemble des dispositions et des pratiques qui concourent à faire des injections nécessaires, sans danger, avec du matériel stérile détruit par la suite selon les normes de sécurité.</a:t>
            </a:r>
          </a:p>
          <a:p>
            <a:pPr lvl="0">
              <a:buFont typeface="Wingdings" panose="05000000000000000000" pitchFamily="2" charset="2"/>
              <a:buChar char="v"/>
            </a:pPr>
            <a:r>
              <a:rPr lang="fr-FR" sz="4600" u="sng" dirty="0">
                <a:solidFill>
                  <a:schemeClr val="accent6"/>
                </a:solidFill>
                <a:latin typeface="Arial Black" panose="020B0A04020102020204" pitchFamily="34" charset="0"/>
              </a:rPr>
              <a:t>GESTION DES DECHETS MEDICAUX</a:t>
            </a:r>
            <a:endParaRPr lang="fr-FR" sz="4600" dirty="0">
              <a:solidFill>
                <a:schemeClr val="accent6"/>
              </a:solidFill>
              <a:latin typeface="Arial Black" panose="020B0A04020102020204" pitchFamily="34" charset="0"/>
            </a:endParaRPr>
          </a:p>
          <a:p>
            <a:pPr marL="0" indent="0">
              <a:buNone/>
            </a:pPr>
            <a:r>
              <a:rPr lang="fr-FR" sz="4600" dirty="0">
                <a:latin typeface="Arial Black" panose="020B0A04020102020204" pitchFamily="34" charset="0"/>
              </a:rPr>
              <a:t>C'est un processus visant à garantir l'hygiène des établissements sanitaires, la sécurité de l'agent de santé, du client, de la communauté et de </a:t>
            </a:r>
            <a:r>
              <a:rPr lang="fr-FR" sz="4600" dirty="0" smtClean="0">
                <a:latin typeface="Arial Black" panose="020B0A04020102020204" pitchFamily="34" charset="0"/>
              </a:rPr>
              <a:t>l'environnement.</a:t>
            </a:r>
          </a:p>
          <a:p>
            <a:pPr marL="0" indent="0">
              <a:buNone/>
            </a:pPr>
            <a:r>
              <a:rPr lang="fr-FR" sz="4600" dirty="0" smtClean="0">
                <a:latin typeface="Arial Black" panose="020B0A04020102020204" pitchFamily="34" charset="0"/>
              </a:rPr>
              <a:t>Ce </a:t>
            </a:r>
            <a:r>
              <a:rPr lang="fr-FR" sz="4600" dirty="0">
                <a:latin typeface="Arial Black" panose="020B0A04020102020204" pitchFamily="34" charset="0"/>
              </a:rPr>
              <a:t>processus inclut :</a:t>
            </a:r>
          </a:p>
          <a:p>
            <a:pPr lvl="0"/>
            <a:r>
              <a:rPr lang="fr-FR" sz="4600" dirty="0">
                <a:latin typeface="Arial Black" panose="020B0A04020102020204" pitchFamily="34" charset="0"/>
              </a:rPr>
              <a:t>le tri des déchets</a:t>
            </a:r>
          </a:p>
          <a:p>
            <a:pPr lvl="0"/>
            <a:r>
              <a:rPr lang="fr-FR" sz="4600" dirty="0">
                <a:latin typeface="Arial Black" panose="020B0A04020102020204" pitchFamily="34" charset="0"/>
              </a:rPr>
              <a:t>la collecte des déchets aux points de stockage</a:t>
            </a:r>
          </a:p>
          <a:p>
            <a:pPr lvl="0"/>
            <a:r>
              <a:rPr lang="fr-FR" sz="4600" dirty="0">
                <a:latin typeface="Arial Black" panose="020B0A04020102020204" pitchFamily="34" charset="0"/>
              </a:rPr>
              <a:t>Le stockage des déchets</a:t>
            </a:r>
          </a:p>
          <a:p>
            <a:pPr lvl="0"/>
            <a:r>
              <a:rPr lang="fr-FR" sz="4600" dirty="0">
                <a:latin typeface="Arial Black" panose="020B0A04020102020204" pitchFamily="34" charset="0"/>
              </a:rPr>
              <a:t>Le transport des déchets</a:t>
            </a:r>
          </a:p>
          <a:p>
            <a:pPr lvl="0"/>
            <a:r>
              <a:rPr lang="fr-FR" sz="4600" dirty="0">
                <a:latin typeface="Arial Black" panose="020B0A04020102020204" pitchFamily="34" charset="0"/>
              </a:rPr>
              <a:t>La destruction des déchets</a:t>
            </a:r>
          </a:p>
          <a:p>
            <a:pPr marL="0" indent="0">
              <a:buNone/>
            </a:pPr>
            <a:endParaRPr lang="fr-FR" dirty="0"/>
          </a:p>
        </p:txBody>
      </p:sp>
    </p:spTree>
    <p:extLst>
      <p:ext uri="{BB962C8B-B14F-4D97-AF65-F5344CB8AC3E}">
        <p14:creationId xmlns:p14="http://schemas.microsoft.com/office/powerpoint/2010/main" val="97293557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153" y="803442"/>
            <a:ext cx="12101848" cy="3539430"/>
          </a:xfrm>
          <a:prstGeom prst="rect">
            <a:avLst/>
          </a:prstGeom>
        </p:spPr>
        <p:txBody>
          <a:bodyPr wrap="square">
            <a:spAutoFit/>
          </a:bodyPr>
          <a:lstStyle/>
          <a:p>
            <a:pPr lvl="0">
              <a:lnSpc>
                <a:spcPct val="125000"/>
              </a:lnSpc>
              <a:spcAft>
                <a:spcPts val="0"/>
              </a:spcAft>
              <a:tabLst>
                <a:tab pos="224155" algn="l"/>
                <a:tab pos="1127760" algn="l"/>
              </a:tabLst>
            </a:pPr>
            <a:r>
              <a:rPr lang="fr-FR" sz="2800" b="1" u="sng" spc="-20" dirty="0" smtClean="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C- RISQUE </a:t>
            </a:r>
            <a:r>
              <a:rPr lang="fr-FR" sz="2800" b="1" u="sng" spc="-2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INFECTIEUX</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0"/>
              </a:spcAft>
            </a:pP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C'est la possibilité de contamination des suites de l'utilisation du matériel </a:t>
            </a:r>
            <a:r>
              <a:rPr lang="fr-FR" sz="28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d'injection souillé.</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lvl="0">
              <a:lnSpc>
                <a:spcPct val="125000"/>
              </a:lnSpc>
              <a:spcAft>
                <a:spcPts val="0"/>
              </a:spcAft>
              <a:tabLst>
                <a:tab pos="224155" algn="l"/>
                <a:tab pos="1127760" algn="l"/>
              </a:tabLst>
            </a:pPr>
            <a:r>
              <a:rPr lang="fr-FR" sz="2800" b="1" u="sng" spc="-20" dirty="0" smtClean="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D- CONTROLE </a:t>
            </a:r>
            <a:r>
              <a:rPr lang="fr-FR" sz="2800" b="1" u="sng" spc="-2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ET PREVENTION DE L'INFECTION</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r>
              <a:rPr lang="fr-FR" sz="2800" dirty="0">
                <a:solidFill>
                  <a:srgbClr val="000000"/>
                </a:solidFill>
                <a:latin typeface="Arial Black" panose="020B0A04020102020204" pitchFamily="34" charset="0"/>
                <a:ea typeface="Times New Roman" panose="02020603050405020304" pitchFamily="18" charset="0"/>
              </a:rPr>
              <a:t>C'est la maîtrise de tous les facteurs pouvant entraîner une infection tant au niveau des personnels soignants et des clients que de la communauté et </a:t>
            </a:r>
            <a:r>
              <a:rPr lang="fr-FR" sz="2800" spc="20" dirty="0">
                <a:solidFill>
                  <a:srgbClr val="000000"/>
                </a:solidFill>
                <a:latin typeface="Arial Black" panose="020B0A04020102020204" pitchFamily="34" charset="0"/>
                <a:ea typeface="Times New Roman" panose="02020603050405020304" pitchFamily="18" charset="0"/>
              </a:rPr>
              <a:t>l'environnement</a:t>
            </a:r>
            <a:endParaRPr lang="fr-FR" sz="2800" dirty="0">
              <a:latin typeface="Arial Black" panose="020B0A04020102020204" pitchFamily="34" charset="0"/>
            </a:endParaRPr>
          </a:p>
        </p:txBody>
      </p:sp>
    </p:spTree>
    <p:extLst>
      <p:ext uri="{BB962C8B-B14F-4D97-AF65-F5344CB8AC3E}">
        <p14:creationId xmlns:p14="http://schemas.microsoft.com/office/powerpoint/2010/main" val="150482616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668" y="0"/>
            <a:ext cx="12050332" cy="6270947"/>
          </a:xfrm>
          <a:prstGeom prst="rect">
            <a:avLst/>
          </a:prstGeom>
        </p:spPr>
        <p:txBody>
          <a:bodyPr wrap="square">
            <a:spAutoFit/>
          </a:bodyPr>
          <a:lstStyle/>
          <a:p>
            <a:pPr lvl="0">
              <a:lnSpc>
                <a:spcPct val="125000"/>
              </a:lnSpc>
              <a:spcAft>
                <a:spcPts val="600"/>
              </a:spcAft>
              <a:tabLst>
                <a:tab pos="233045" algn="l"/>
                <a:tab pos="488950" algn="l"/>
              </a:tabLst>
            </a:pPr>
            <a:r>
              <a:rPr lang="fr-FR" sz="2400" b="1" u="sng" spc="-60" dirty="0" smtClean="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            II- PRINCIPES </a:t>
            </a:r>
            <a:r>
              <a:rPr lang="fr-FR" sz="2400" b="1" u="sng" spc="-6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DE </a:t>
            </a:r>
            <a:r>
              <a:rPr lang="fr-FR" sz="2400" b="1" u="sng" spc="-60" dirty="0" smtClean="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BASE </a:t>
            </a:r>
            <a:r>
              <a:rPr lang="fr-FR" sz="2400" b="1" u="sng" spc="-6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(1/3)</a:t>
            </a:r>
            <a:endParaRPr lang="fr-FR" sz="24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marR="347345" lvl="0" indent="-342900">
              <a:lnSpc>
                <a:spcPct val="125000"/>
              </a:lnSpc>
              <a:spcAft>
                <a:spcPts val="300"/>
              </a:spcAft>
              <a:buFont typeface="Arial" panose="020B0604020202020204" pitchFamily="34" charset="0"/>
              <a:buChar char="-"/>
            </a:pPr>
            <a:r>
              <a:rPr lang="fr-FR" sz="2400" spc="-2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Utiliser un système seringue-aiguille autobloquant stérile pour</a:t>
            </a:r>
            <a:br>
              <a:rPr lang="fr-FR" sz="2400" spc="-2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400" spc="-2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chaque injection.</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pPr>
            <a:r>
              <a:rPr lang="fr-FR" sz="2400" spc="-2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Utiliser une seringue et une aiguille jetables pour reconstituer chaque</a:t>
            </a:r>
            <a:br>
              <a:rPr lang="fr-FR" sz="2400" spc="-2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400" spc="-2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produit injectable.</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pPr>
            <a:r>
              <a:rPr lang="fr-FR" sz="2400" spc="-3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Eviter de contaminer le matériel d'injection.</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pPr>
            <a:r>
              <a:rPr lang="fr-FR" sz="24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Préparer chaque injection dans un lieu propre, prévu à cet effet et où il y</a:t>
            </a:r>
            <a:br>
              <a:rPr lang="fr-FR" sz="24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4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 peu de risques de contamination par du sang ou des liquides</a:t>
            </a:r>
            <a:br>
              <a:rPr lang="fr-FR" sz="24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4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organiques</a:t>
            </a:r>
            <a:r>
              <a:rPr lang="fr-FR" sz="24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pPr>
            <a:r>
              <a:rPr lang="fr-FR" sz="24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Percer toujours le septum des flacons multi dose avec une aiguille</a:t>
            </a:r>
            <a:br>
              <a:rPr lang="fr-FR" sz="24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400" spc="-2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stérile.</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r>
              <a:rPr lang="fr-FR" sz="2400" spc="-45" dirty="0">
                <a:solidFill>
                  <a:srgbClr val="000000"/>
                </a:solidFill>
                <a:latin typeface="Arial Black" panose="020B0A04020102020204" pitchFamily="34" charset="0"/>
                <a:ea typeface="Times New Roman" panose="02020603050405020304" pitchFamily="18" charset="0"/>
              </a:rPr>
              <a:t>Ne pas laisser d'aiguille plantée dans le bouchon</a:t>
            </a:r>
            <a:endParaRPr lang="fr-FR" sz="2400" dirty="0">
              <a:latin typeface="Arial Black" panose="020B0A04020102020204" pitchFamily="34" charset="0"/>
            </a:endParaRPr>
          </a:p>
        </p:txBody>
      </p:sp>
    </p:spTree>
    <p:extLst>
      <p:ext uri="{BB962C8B-B14F-4D97-AF65-F5344CB8AC3E}">
        <p14:creationId xmlns:p14="http://schemas.microsoft.com/office/powerpoint/2010/main" val="173994300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183" y="0"/>
            <a:ext cx="11887200" cy="5363007"/>
          </a:xfrm>
          <a:prstGeom prst="rect">
            <a:avLst/>
          </a:prstGeom>
        </p:spPr>
        <p:txBody>
          <a:bodyPr wrap="square">
            <a:spAutoFit/>
          </a:bodyPr>
          <a:lstStyle/>
          <a:p>
            <a:pPr marL="342900" indent="-342900">
              <a:lnSpc>
                <a:spcPct val="125000"/>
              </a:lnSpc>
              <a:spcAft>
                <a:spcPts val="300"/>
              </a:spcAft>
              <a:buFont typeface="Arial" panose="020B0604020202020204" pitchFamily="34" charset="0"/>
              <a:buChar char="-"/>
            </a:pPr>
            <a:r>
              <a:rPr lang="fr-FR" sz="2200" spc="-15"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   </a:t>
            </a:r>
            <a:r>
              <a:rPr lang="fr-FR" sz="1400" b="1" u="sng" spc="-6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II- PRINCIPES DE BASE </a:t>
            </a:r>
            <a:r>
              <a:rPr lang="fr-FR" sz="2000" b="1" u="sng" spc="-6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(2/3)</a:t>
            </a:r>
            <a:endParaRPr lang="fr-FR" sz="2200" spc="-15"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pPr>
            <a:r>
              <a:rPr lang="fr-FR" sz="2200" spc="-15"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Se </a:t>
            </a:r>
            <a:r>
              <a:rPr lang="fr-FR" sz="2200" spc="-1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protéger les doigts avec un petit tampon de gaze pour casser les</a:t>
            </a:r>
            <a:br>
              <a:rPr lang="fr-FR" sz="2200" spc="-1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200" spc="-4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ampoules.</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pPr>
            <a:r>
              <a:rPr lang="fr-FR" sz="22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Jeter toute aiguille qui a été en contact avec une surface non stérile </a:t>
            </a:r>
            <a:br>
              <a:rPr lang="fr-FR" sz="22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200" spc="-3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(mains, surfaces environnantes).</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tabLst>
                <a:tab pos="187325" algn="l"/>
              </a:tabLst>
            </a:pPr>
            <a:r>
              <a:rPr lang="fr-FR" sz="22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Anticiper et prendre des précautions pour éviter un mouvement</a:t>
            </a:r>
            <a:br>
              <a:rPr lang="fr-FR" sz="22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200" spc="-3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brusque du patient pendant et après l'injection.</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pPr>
            <a:r>
              <a:rPr lang="fr-FR" sz="2200" spc="-4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Pour éviter de se piquer, ne pas </a:t>
            </a:r>
            <a:r>
              <a:rPr lang="fr-FR" sz="2200" spc="-40" dirty="0" err="1">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recapuchonner</a:t>
            </a:r>
            <a:r>
              <a:rPr lang="fr-FR" sz="2200" spc="-4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 les aiguilles usagées et</a:t>
            </a:r>
            <a:br>
              <a:rPr lang="fr-FR" sz="2200" spc="-4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200" spc="-4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les déposer directement dans un réceptacle de sécurité.</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600"/>
              </a:spcAft>
              <a:buFont typeface="Arial" panose="020B0604020202020204" pitchFamily="34" charset="0"/>
              <a:buChar char="-"/>
            </a:pPr>
            <a:r>
              <a:rPr lang="fr-FR" sz="22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Jeter les seringues et aiguilles usagées dans un réceptacle de sécurité</a:t>
            </a:r>
            <a:br>
              <a:rPr lang="fr-FR" sz="22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200" spc="-1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au point d'utilisation et le fermer hermétiquement quand il est plein (ne</a:t>
            </a:r>
            <a:br>
              <a:rPr lang="fr-FR" sz="2200" spc="-1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200" spc="-4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pas transvaser le contenu ni trop remplir le réceptacle).</a:t>
            </a:r>
            <a:endParaRPr lang="fr-FR" sz="22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281780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304" y="174305"/>
            <a:ext cx="12011696" cy="6093976"/>
          </a:xfrm>
          <a:prstGeom prst="rect">
            <a:avLst/>
          </a:prstGeom>
        </p:spPr>
        <p:txBody>
          <a:bodyPr wrap="square">
            <a:spAutoFit/>
          </a:bodyPr>
          <a:lstStyle/>
          <a:p>
            <a:pPr marL="342900" indent="-342900">
              <a:lnSpc>
                <a:spcPct val="125000"/>
              </a:lnSpc>
              <a:spcAft>
                <a:spcPts val="600"/>
              </a:spcAft>
              <a:buFont typeface="Arial" panose="020B0604020202020204" pitchFamily="34" charset="0"/>
              <a:buChar char="-"/>
            </a:pPr>
            <a:r>
              <a:rPr lang="fr-FR" sz="2400" spc="-30"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    </a:t>
            </a:r>
            <a:r>
              <a:rPr lang="fr-FR" sz="1400" b="1" u="sng" spc="-6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II- PRINCIPES DE BASE </a:t>
            </a:r>
            <a:r>
              <a:rPr lang="fr-FR" sz="2400" b="1" u="sng" spc="-6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(3/3)</a:t>
            </a:r>
            <a:endParaRPr lang="fr-FR" sz="2400" spc="-30"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600"/>
              </a:spcAft>
              <a:buFont typeface="Arial" panose="020B0604020202020204" pitchFamily="34" charset="0"/>
              <a:buChar char="-"/>
            </a:pPr>
            <a:r>
              <a:rPr lang="fr-FR" sz="2400" spc="-30"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Transporter </a:t>
            </a:r>
            <a:r>
              <a:rPr lang="fr-FR" sz="24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les réceptacles de sécurité fermés dans un lieu sûr. Ne pas les ouvrir, les vider ou les réutiliser.</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600"/>
              </a:spcAft>
              <a:buFont typeface="Arial" panose="020B0604020202020204" pitchFamily="34" charset="0"/>
              <a:buChar char="-"/>
            </a:pPr>
            <a:r>
              <a:rPr lang="fr-FR" sz="2400" spc="3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Éliminer les déchets des injections selon un procédé efficace et </a:t>
            </a:r>
            <a:r>
              <a:rPr lang="fr-FR" sz="2400" spc="-2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respectueux de l'environnement.</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600"/>
              </a:spcAft>
              <a:buFont typeface="Arial" panose="020B0604020202020204" pitchFamily="34" charset="0"/>
              <a:buChar char="-"/>
            </a:pPr>
            <a:r>
              <a:rPr lang="fr-FR" sz="24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Éviter les accidents dont pourrait être victime le personnel chargé</a:t>
            </a:r>
            <a:br>
              <a:rPr lang="fr-FR" sz="24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4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d'éliminer les déchets.</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600"/>
              </a:spcAft>
              <a:buFont typeface="Arial" panose="020B0604020202020204" pitchFamily="34" charset="0"/>
              <a:buChar char="-"/>
            </a:pPr>
            <a:r>
              <a:rPr lang="fr-FR" sz="24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Ne pas mettre de flacons vides dans les réceptacles de sécurité car </a:t>
            </a:r>
            <a:r>
              <a:rPr lang="fr-FR" sz="2400" spc="-30"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ils risqueraient </a:t>
            </a:r>
            <a:r>
              <a:rPr lang="fr-FR" sz="24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d'exploser en brûlant.</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600"/>
              </a:spcAft>
              <a:buFont typeface="Arial" panose="020B0604020202020204" pitchFamily="34" charset="0"/>
              <a:buChar char="-"/>
            </a:pPr>
            <a:r>
              <a:rPr lang="fr-FR" sz="2400" spc="-1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Ne mettre que du matériel d'injection usagé dans les réceptacles de</a:t>
            </a:r>
            <a:br>
              <a:rPr lang="fr-FR" sz="2400" spc="-1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br>
            <a:r>
              <a:rPr lang="fr-FR" sz="2400" spc="-3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sécurité.</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0"/>
              </a:spcAft>
              <a:buFont typeface="Arial" panose="020B0604020202020204" pitchFamily="34" charset="0"/>
              <a:buChar char="-"/>
            </a:pPr>
            <a:r>
              <a:rPr lang="fr-FR" sz="2400" spc="-5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Ne pas y mettre de flacons vides, de coton, de compresses, etc</a:t>
            </a:r>
            <a:r>
              <a:rPr lang="fr-FR" spc="-5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sz="1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416966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006" y="389085"/>
            <a:ext cx="11204619" cy="2380139"/>
          </a:xfrm>
          <a:prstGeom prst="rect">
            <a:avLst/>
          </a:prstGeom>
        </p:spPr>
        <p:txBody>
          <a:bodyPr wrap="square">
            <a:spAutoFit/>
          </a:bodyPr>
          <a:lstStyle/>
          <a:p>
            <a:pPr lvl="0">
              <a:lnSpc>
                <a:spcPct val="125000"/>
              </a:lnSpc>
              <a:spcAft>
                <a:spcPts val="200"/>
              </a:spcAft>
              <a:tabLst>
                <a:tab pos="233045" algn="l"/>
                <a:tab pos="488950" algn="l"/>
              </a:tabLst>
            </a:pPr>
            <a:r>
              <a:rPr lang="fr-FR" sz="2800" b="1" u="sng" spc="-6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PRATIQUES À RISQUE D'UNE INJECTION</a:t>
            </a:r>
            <a:endParaRPr lang="fr-FR" sz="28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r>
              <a:rPr lang="fr-FR" sz="2800" spc="-5" dirty="0">
                <a:solidFill>
                  <a:srgbClr val="000000"/>
                </a:solidFill>
                <a:latin typeface="Arial Black" panose="020B0A04020102020204" pitchFamily="34" charset="0"/>
                <a:ea typeface="Times New Roman" panose="02020603050405020304" pitchFamily="18" charset="0"/>
              </a:rPr>
              <a:t>Les pratiques à risque sont liées au non respect des conditions de sécurité des </a:t>
            </a:r>
            <a:r>
              <a:rPr lang="fr-FR" sz="2800" spc="-10" dirty="0">
                <a:solidFill>
                  <a:srgbClr val="000000"/>
                </a:solidFill>
                <a:latin typeface="Arial Black" panose="020B0A04020102020204" pitchFamily="34" charset="0"/>
                <a:ea typeface="Times New Roman" panose="02020603050405020304" pitchFamily="18" charset="0"/>
              </a:rPr>
              <a:t>injections selon le type de population, les pratiques des injections, représentent </a:t>
            </a:r>
            <a:r>
              <a:rPr lang="fr-FR" sz="2800" spc="-5" dirty="0">
                <a:solidFill>
                  <a:srgbClr val="000000"/>
                </a:solidFill>
                <a:latin typeface="Arial Black" panose="020B0A04020102020204" pitchFamily="34" charset="0"/>
                <a:ea typeface="Times New Roman" panose="02020603050405020304" pitchFamily="18" charset="0"/>
              </a:rPr>
              <a:t>des risques potentiels que le praticien se doit d'éviter</a:t>
            </a:r>
            <a:endParaRPr lang="fr-FR" sz="2800" dirty="0">
              <a:latin typeface="Arial Black" panose="020B0A04020102020204" pitchFamily="34" charset="0"/>
            </a:endParaRPr>
          </a:p>
        </p:txBody>
      </p:sp>
    </p:spTree>
    <p:extLst>
      <p:ext uri="{BB962C8B-B14F-4D97-AF65-F5344CB8AC3E}">
        <p14:creationId xmlns:p14="http://schemas.microsoft.com/office/powerpoint/2010/main" val="23835888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789" y="0"/>
            <a:ext cx="12063211" cy="5055230"/>
          </a:xfrm>
          <a:prstGeom prst="rect">
            <a:avLst/>
          </a:prstGeom>
        </p:spPr>
        <p:txBody>
          <a:bodyPr wrap="square">
            <a:spAutoFit/>
          </a:bodyPr>
          <a:lstStyle/>
          <a:p>
            <a:pPr marL="742950" lvl="1" indent="-285750">
              <a:lnSpc>
                <a:spcPct val="125000"/>
              </a:lnSpc>
              <a:spcAft>
                <a:spcPts val="0"/>
              </a:spcAft>
              <a:buFont typeface="Arial" panose="020B0604020202020204" pitchFamily="34" charset="0"/>
              <a:buChar char=""/>
              <a:tabLst>
                <a:tab pos="228600" algn="l"/>
                <a:tab pos="1257300" algn="l"/>
              </a:tabLst>
            </a:pPr>
            <a:r>
              <a:rPr lang="fr-FR" sz="2400" b="1" u="sng" spc="-35"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Pratiques à risque pour les personnes qui reçoivent les </a:t>
            </a:r>
            <a:r>
              <a:rPr lang="fr-FR" sz="2400" b="1" u="sng" spc="-4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injections</a:t>
            </a:r>
            <a:r>
              <a:rPr lang="fr-FR" sz="2400" b="1" spc="-4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Réutiliser une seringue ou une aiguille</a:t>
            </a:r>
            <a:r>
              <a:rPr lang="fr-FR" sz="2800" spc="-5"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8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Changer l'aiguille, mais réutiliser la seringue.</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8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Faire une injection lorsqu'il y a des alternatives plus sûres.</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800"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Tenter </a:t>
            </a:r>
            <a:r>
              <a:rPr lang="fr-FR" sz="28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de stériliser et de réutiliser une seringue jetable.</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8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Faire bouillir le matériel d'injection dans un récipient ouvert.</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tabLst>
                <a:tab pos="180340" algn="l"/>
              </a:tabLst>
            </a:pPr>
            <a:r>
              <a:rPr lang="fr-FR" sz="2800" spc="2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Utiliser uniquement des désinfectants sur les seringues et les </a:t>
            </a:r>
            <a:r>
              <a:rPr lang="fr-FR" sz="2800" spc="25"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aiguilles </a:t>
            </a:r>
            <a:r>
              <a:rPr lang="fr-FR" sz="2800" spc="-5"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pour </a:t>
            </a: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les préparer à la réutilisation.</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970978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0455" y="0"/>
            <a:ext cx="10985679" cy="4593565"/>
          </a:xfrm>
          <a:prstGeom prst="rect">
            <a:avLst/>
          </a:prstGeom>
        </p:spPr>
        <p:txBody>
          <a:bodyPr wrap="square">
            <a:spAutoFit/>
          </a:bodyPr>
          <a:lstStyle/>
          <a:p>
            <a:pPr marL="342900" lvl="0" indent="-342900" algn="just">
              <a:lnSpc>
                <a:spcPct val="125000"/>
              </a:lnSpc>
              <a:spcAft>
                <a:spcPts val="300"/>
              </a:spcAft>
              <a:buFont typeface="Arial" panose="020B0604020202020204" pitchFamily="34" charset="0"/>
              <a:buChar char="-"/>
              <a:tabLst>
                <a:tab pos="180340" algn="l"/>
              </a:tabLst>
            </a:pPr>
            <a:r>
              <a:rPr lang="fr-FR" sz="2000" spc="1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Charger les seringues avec des doses multiples et faire des injections à </a:t>
            </a:r>
            <a:r>
              <a:rPr lang="fr-FR" sz="20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plusieurs personnes.</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0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Appuyer sur le point de saignement avec du matériel usagé ou le doigt.</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300"/>
              </a:spcAft>
              <a:buFont typeface="Arial" panose="020B0604020202020204" pitchFamily="34" charset="0"/>
              <a:buChar char="-"/>
              <a:tabLst>
                <a:tab pos="180340" algn="l"/>
                <a:tab pos="4983480" algn="l"/>
              </a:tabLst>
            </a:pPr>
            <a:r>
              <a:rPr lang="fr-FR" sz="2000" spc="5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Laisser une aiguille plantée dans le flacon pour prélever, les doses </a:t>
            </a:r>
            <a:r>
              <a:rPr lang="fr-FR" sz="2000" spc="-1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supplémentaires.</a:t>
            </a:r>
            <a:r>
              <a:rPr lang="fr-FR" sz="20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	</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0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Toucher l'aiguille avant </a:t>
            </a:r>
            <a:r>
              <a:rPr lang="fr-FR" sz="2000"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l'utilisation.</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0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Stériliser et réutiliser une seringue jetable.</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0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Désinfecter les seringues et les aiguilles pour les préparer à la réutilisation</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180340" algn="l"/>
              </a:tabLst>
            </a:pPr>
            <a:r>
              <a:rPr lang="fr-FR" sz="20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Disposer plusieurs seringues chargées de différents clients dans un </a:t>
            </a:r>
            <a:r>
              <a:rPr lang="fr-FR" sz="2000" spc="-1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même plateau.</a:t>
            </a:r>
            <a:endParaRPr lang="fr-FR" sz="20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600"/>
              </a:spcAft>
              <a:buFont typeface="Arial" panose="020B0604020202020204" pitchFamily="34" charset="0"/>
              <a:buChar char="-"/>
              <a:tabLst>
                <a:tab pos="180340" algn="l"/>
              </a:tabLst>
            </a:pPr>
            <a:r>
              <a:rPr lang="fr-FR" sz="20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Utiliser un autre </a:t>
            </a:r>
            <a:r>
              <a:rPr lang="fr-FR" sz="2000" spc="-5"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désinfectant : le parfum, le ‘ koutoutou’</a:t>
            </a:r>
            <a:endParaRPr lang="fr-FR" sz="20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68716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9093" y="0"/>
            <a:ext cx="11758411" cy="5324535"/>
          </a:xfrm>
          <a:prstGeom prst="rect">
            <a:avLst/>
          </a:prstGeom>
        </p:spPr>
        <p:txBody>
          <a:bodyPr wrap="square">
            <a:spAutoFit/>
          </a:bodyPr>
          <a:lstStyle/>
          <a:p>
            <a:pPr marL="742950" lvl="1" indent="-285750">
              <a:lnSpc>
                <a:spcPct val="125000"/>
              </a:lnSpc>
              <a:spcAft>
                <a:spcPts val="600"/>
              </a:spcAft>
              <a:buFont typeface="Arial" panose="020B0604020202020204" pitchFamily="34" charset="0"/>
              <a:buChar char=""/>
              <a:tabLst>
                <a:tab pos="228600" algn="l"/>
                <a:tab pos="1257300" algn="l"/>
              </a:tabLst>
            </a:pPr>
            <a:r>
              <a:rPr lang="fr-FR" sz="2800" b="1" u="sng" spc="-35"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Pratiques à risque pour les agents de santé</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600"/>
              </a:spcAft>
              <a:buFont typeface="Arial" panose="020B0604020202020204" pitchFamily="34" charset="0"/>
              <a:buChar char="-"/>
              <a:tabLst>
                <a:tab pos="224155" algn="l"/>
              </a:tabLst>
            </a:pPr>
            <a:r>
              <a:rPr lang="fr-FR" sz="2800" spc="-5" dirty="0" err="1">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Recapuchonner</a:t>
            </a: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 les aiguilles</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600"/>
              </a:spcAft>
              <a:buFont typeface="Arial" panose="020B0604020202020204" pitchFamily="34" charset="0"/>
              <a:buChar char="-"/>
              <a:tabLst>
                <a:tab pos="224155" algn="l"/>
              </a:tabLst>
            </a:pP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Détacher l'aiguille de la seringue avec la main</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600"/>
              </a:spcAft>
              <a:buFont typeface="Arial" panose="020B0604020202020204" pitchFamily="34" charset="0"/>
              <a:buChar char="-"/>
              <a:tabLst>
                <a:tab pos="224155" algn="l"/>
              </a:tabLst>
            </a:pP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Placer les aiguilles sur une surface et les transporter sur une certaine distance avant de les jeter</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600"/>
              </a:spcAft>
              <a:buFont typeface="Arial" panose="020B0604020202020204" pitchFamily="34" charset="0"/>
              <a:buChar char="-"/>
              <a:tabLst>
                <a:tab pos="224155" algn="l"/>
              </a:tabLst>
            </a:pPr>
            <a:r>
              <a:rPr lang="fr-FR" sz="28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Aiguiser les aiguilles émoussées ou bloquées pour les réutiliser</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300"/>
              </a:spcAft>
              <a:buFont typeface="Arial" panose="020B0604020202020204" pitchFamily="34" charset="0"/>
              <a:buChar char="-"/>
              <a:tabLst>
                <a:tab pos="224155" algn="l"/>
              </a:tabLst>
            </a:pPr>
            <a:r>
              <a:rPr lang="fr-FR" sz="2800" spc="1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Plonger la main dans une grande quantité de seringues ou d'aiguilles (pour </a:t>
            </a: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nettoyer ou trier les déchets)</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770054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6975" y="334851"/>
            <a:ext cx="11307649" cy="3477875"/>
          </a:xfrm>
          <a:prstGeom prst="rect">
            <a:avLst/>
          </a:prstGeom>
        </p:spPr>
        <p:txBody>
          <a:bodyPr wrap="square">
            <a:spAutoFit/>
          </a:bodyPr>
          <a:lstStyle/>
          <a:p>
            <a:pPr marL="742950" lvl="1" indent="-285750">
              <a:lnSpc>
                <a:spcPct val="125000"/>
              </a:lnSpc>
              <a:spcAft>
                <a:spcPts val="0"/>
              </a:spcAft>
              <a:buFont typeface="Arial" panose="020B0604020202020204" pitchFamily="34" charset="0"/>
              <a:buChar char=""/>
              <a:tabLst>
                <a:tab pos="228600" algn="l"/>
                <a:tab pos="1257300" algn="l"/>
              </a:tabLst>
            </a:pPr>
            <a:r>
              <a:rPr lang="fr-FR" sz="2800" b="1" u="sng" spc="-35"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Pratiques à risque pour la communauté</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600"/>
              </a:spcAft>
              <a:buFont typeface="Arial" panose="020B0604020202020204" pitchFamily="34" charset="0"/>
              <a:buChar char="-"/>
              <a:tabLst>
                <a:tab pos="224155" algn="l"/>
              </a:tabLst>
            </a:pPr>
            <a:r>
              <a:rPr lang="fr-FR" sz="28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Laisser les seringues usagées dans des endroits où les enfants peuvent avoir </a:t>
            </a:r>
            <a:r>
              <a:rPr lang="fr-FR" sz="2800" spc="-2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accès.</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600"/>
              </a:spcAft>
              <a:buFont typeface="Arial" panose="020B0604020202020204" pitchFamily="34" charset="0"/>
              <a:buChar char="-"/>
            </a:pPr>
            <a:r>
              <a:rPr lang="fr-FR" sz="2800" spc="-1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Donner ou vendre des seringues déjà utilisées.</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600"/>
              </a:spcAft>
              <a:buFont typeface="Arial" panose="020B0604020202020204" pitchFamily="34" charset="0"/>
              <a:buChar char="-"/>
              <a:tabLst>
                <a:tab pos="224155" algn="l"/>
              </a:tabLst>
            </a:pPr>
            <a:r>
              <a:rPr lang="fr-FR" sz="28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Laisser les seringues usagées dans des endroits accessibles au public.</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066133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8941" y="0"/>
            <a:ext cx="11973059" cy="6381234"/>
          </a:xfrm>
          <a:prstGeom prst="rect">
            <a:avLst/>
          </a:prstGeom>
        </p:spPr>
        <p:txBody>
          <a:bodyPr wrap="square">
            <a:spAutoFit/>
          </a:bodyPr>
          <a:lstStyle/>
          <a:p>
            <a:pPr marL="342900" lvl="0" indent="-342900">
              <a:lnSpc>
                <a:spcPct val="125000"/>
              </a:lnSpc>
              <a:spcAft>
                <a:spcPts val="200"/>
              </a:spcAft>
              <a:buFont typeface="+mj-lt"/>
              <a:buAutoNum type="romanUcPeriod"/>
              <a:tabLst>
                <a:tab pos="233045" algn="l"/>
                <a:tab pos="488950" algn="l"/>
              </a:tabLst>
            </a:pPr>
            <a:r>
              <a:rPr lang="fr-FR" sz="2200" b="1" u="sng" spc="-6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OBSTACLE A UNE INJECTION SÉCURISÉE</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742950" lvl="1" indent="-285750">
              <a:lnSpc>
                <a:spcPct val="125000"/>
              </a:lnSpc>
              <a:spcAft>
                <a:spcPts val="0"/>
              </a:spcAft>
              <a:buFont typeface="Arial" panose="020B0604020202020204" pitchFamily="34" charset="0"/>
              <a:buChar char=""/>
              <a:tabLst>
                <a:tab pos="228600" algn="l"/>
                <a:tab pos="393065" algn="l"/>
              </a:tabLst>
            </a:pPr>
            <a:r>
              <a:rPr lang="fr-FR" sz="2200" b="1" u="sng" spc="2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Obstacles liés aux prestataires de soins</a:t>
            </a:r>
            <a:r>
              <a:rPr lang="fr-FR" sz="2200" spc="2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502920" algn="l"/>
              </a:tabLst>
            </a:pPr>
            <a:r>
              <a:rPr lang="fr-FR" sz="22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Méconnaissance : manque d'information et de formation des agents.</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502920" algn="l"/>
              </a:tabLst>
            </a:pPr>
            <a:r>
              <a:rPr lang="fr-FR" sz="22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Incompétence : absence d’habiliter pour réaliser une injection sécurisée.</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502920" algn="l"/>
              </a:tabLst>
            </a:pPr>
            <a:r>
              <a:rPr lang="fr-FR" sz="2200" spc="1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Imprudence : non respect des consignes pour une injection sécurisée été </a:t>
            </a:r>
            <a:r>
              <a:rPr lang="fr-FR" sz="22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la négligence de </a:t>
            </a:r>
            <a:r>
              <a:rPr lang="fr-FR" sz="2200" spc="5" dirty="0" smtClean="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l'agent</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502920" algn="l"/>
              </a:tabLst>
            </a:pPr>
            <a:r>
              <a:rPr lang="fr-FR" sz="22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Inconscience de l'agent.</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742950" lvl="1" indent="-285750">
              <a:lnSpc>
                <a:spcPct val="125000"/>
              </a:lnSpc>
              <a:spcAft>
                <a:spcPts val="0"/>
              </a:spcAft>
              <a:buFont typeface="Arial" panose="020B0604020202020204" pitchFamily="34" charset="0"/>
              <a:buChar char=""/>
              <a:tabLst>
                <a:tab pos="228600" algn="l"/>
                <a:tab pos="393065" algn="l"/>
              </a:tabLst>
            </a:pPr>
            <a:r>
              <a:rPr lang="fr-FR" sz="2200" b="1" u="sng" spc="2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Obstacles liés aux matériels</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502920" algn="l"/>
              </a:tabLst>
            </a:pPr>
            <a:r>
              <a:rPr lang="fr-FR" sz="22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Matériel périmé.</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marR="328930" lvl="0" indent="-342900" algn="just">
              <a:lnSpc>
                <a:spcPct val="125000"/>
              </a:lnSpc>
              <a:spcAft>
                <a:spcPts val="0"/>
              </a:spcAft>
              <a:buFont typeface="Arial" panose="020B0604020202020204" pitchFamily="34" charset="0"/>
              <a:buChar char="*"/>
              <a:tabLst>
                <a:tab pos="502920" algn="l"/>
              </a:tabLst>
            </a:pPr>
            <a:r>
              <a:rPr lang="fr-FR" sz="22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Matériel défectueux : aiguilles usées qu'on aiguise dans le but de les réutiliser.</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marR="328930" lvl="0" indent="-342900" algn="just">
              <a:lnSpc>
                <a:spcPct val="125000"/>
              </a:lnSpc>
              <a:spcAft>
                <a:spcPts val="0"/>
              </a:spcAft>
              <a:buFont typeface="Arial" panose="020B0604020202020204" pitchFamily="34" charset="0"/>
              <a:buChar char="*"/>
              <a:tabLst>
                <a:tab pos="502920" algn="l"/>
              </a:tabLst>
            </a:pPr>
            <a:r>
              <a:rPr lang="fr-FR" sz="2200" spc="-1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Matériel insuffisant : indisponibilité de seringues autobloquantes qui </a:t>
            </a:r>
            <a:r>
              <a:rPr lang="fr-FR" sz="220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entraîne la réutilisation des seringues usées.</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502920" algn="l"/>
              </a:tabLst>
            </a:pPr>
            <a:r>
              <a:rPr lang="fr-FR" sz="2200" spc="1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Seringue à utilisation multiple.</a:t>
            </a:r>
            <a:endParaRPr lang="fr-FR" sz="2200" dirty="0">
              <a:latin typeface="Arial Black" panose="020B0A04020102020204" pitchFamily="34" charset="0"/>
              <a:ea typeface="Times New Roman" panose="02020603050405020304" pitchFamily="18" charset="0"/>
              <a:cs typeface="Times New Roman" panose="02020603050405020304" pitchFamily="18" charset="0"/>
            </a:endParaRPr>
          </a:p>
          <a:p>
            <a:r>
              <a:rPr lang="fr-FR" sz="2200" spc="5" dirty="0">
                <a:solidFill>
                  <a:srgbClr val="000000"/>
                </a:solidFill>
                <a:latin typeface="Arial Black" panose="020B0A04020102020204" pitchFamily="34" charset="0"/>
                <a:ea typeface="Times New Roman" panose="02020603050405020304" pitchFamily="18" charset="0"/>
              </a:rPr>
              <a:t>Matériel inadapté ; seringue à utilisation complexe</a:t>
            </a:r>
            <a:endParaRPr lang="fr-FR" sz="2200" dirty="0">
              <a:latin typeface="Arial Black" panose="020B0A04020102020204" pitchFamily="34" charset="0"/>
            </a:endParaRPr>
          </a:p>
        </p:txBody>
      </p:sp>
    </p:spTree>
    <p:extLst>
      <p:ext uri="{BB962C8B-B14F-4D97-AF65-F5344CB8AC3E}">
        <p14:creationId xmlns:p14="http://schemas.microsoft.com/office/powerpoint/2010/main" val="385948440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4851" y="665671"/>
            <a:ext cx="11681138" cy="4965462"/>
          </a:xfrm>
          <a:prstGeom prst="rect">
            <a:avLst/>
          </a:prstGeom>
        </p:spPr>
        <p:txBody>
          <a:bodyPr wrap="square">
            <a:spAutoFit/>
          </a:bodyPr>
          <a:lstStyle/>
          <a:p>
            <a:pPr lvl="0">
              <a:lnSpc>
                <a:spcPct val="125000"/>
              </a:lnSpc>
              <a:spcAft>
                <a:spcPts val="200"/>
              </a:spcAft>
              <a:tabLst>
                <a:tab pos="233045" algn="l"/>
                <a:tab pos="488950" algn="l"/>
              </a:tabLst>
            </a:pPr>
            <a:r>
              <a:rPr lang="fr-FR" sz="2800" b="1" u="sng" spc="-60" dirty="0">
                <a:solidFill>
                  <a:srgbClr val="00B0F0"/>
                </a:solidFill>
                <a:latin typeface="Arial Black" panose="020B0A04020102020204" pitchFamily="34" charset="0"/>
                <a:ea typeface="Times New Roman" panose="02020603050405020304" pitchFamily="18" charset="0"/>
                <a:cs typeface="Times New Roman" panose="02020603050405020304" pitchFamily="18" charset="0"/>
              </a:rPr>
              <a:t>CONSÉQUENCES DES INJECTIONS A RISQUE</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45720" indent="-45720">
              <a:lnSpc>
                <a:spcPct val="125000"/>
              </a:lnSpc>
              <a:spcAft>
                <a:spcPts val="0"/>
              </a:spcAft>
            </a:pPr>
            <a:r>
              <a:rPr lang="fr-FR" sz="2800" spc="1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Toute injection dangereuse cause des infections, des lésions et des problèmes </a:t>
            </a: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liés à la substance administrée.</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45720">
              <a:lnSpc>
                <a:spcPct val="125000"/>
              </a:lnSpc>
              <a:spcAft>
                <a:spcPts val="0"/>
              </a:spcAft>
            </a:pP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Les infections les plus graves et les plus courantes, transmises par les injections </a:t>
            </a:r>
            <a:r>
              <a:rPr lang="fr-FR" sz="2800" spc="-1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à risque sont :</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450215" algn="l"/>
                <a:tab pos="1677670" algn="l"/>
              </a:tabLst>
            </a:pPr>
            <a:r>
              <a:rPr lang="fr-FR" sz="2800" spc="-20"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l'hépatite B, </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450215" algn="l"/>
              </a:tabLst>
            </a:pP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l'hépatite C</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450215" algn="l"/>
              </a:tabLst>
            </a:pPr>
            <a:r>
              <a:rPr lang="fr-FR" sz="2800" spc="2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le VIH/SIDA</a:t>
            </a:r>
            <a:endParaRPr lang="fr-FR" sz="2800" dirty="0">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25000"/>
              </a:lnSpc>
              <a:spcAft>
                <a:spcPts val="0"/>
              </a:spcAft>
              <a:buFont typeface="Arial" panose="020B0604020202020204" pitchFamily="34" charset="0"/>
              <a:buChar char="-"/>
              <a:tabLst>
                <a:tab pos="450215" algn="l"/>
              </a:tabLst>
            </a:pPr>
            <a:r>
              <a:rPr lang="fr-FR" sz="2800" spc="-5" dirty="0">
                <a:solidFill>
                  <a:srgbClr val="000000"/>
                </a:solidFill>
                <a:latin typeface="Arial Black" panose="020B0A04020102020204" pitchFamily="34" charset="0"/>
                <a:ea typeface="Times New Roman" panose="02020603050405020304" pitchFamily="18" charset="0"/>
                <a:cs typeface="Times New Roman" panose="02020603050405020304" pitchFamily="18" charset="0"/>
              </a:rPr>
              <a:t>le virus d'Ebola.</a:t>
            </a:r>
            <a:endParaRPr lang="fr-FR" sz="2800" dirty="0">
              <a:effectLst/>
              <a:latin typeface="Arial Black" panose="020B0A04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724611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6975" y="191093"/>
            <a:ext cx="11333408" cy="5996513"/>
          </a:xfrm>
          <a:prstGeom prst="rect">
            <a:avLst/>
          </a:prstGeom>
        </p:spPr>
        <p:txBody>
          <a:bodyPr wrap="square">
            <a:spAutoFit/>
          </a:bodyPr>
          <a:lstStyle/>
          <a:p>
            <a:pPr>
              <a:spcAft>
                <a:spcPts val="1000"/>
              </a:spcAft>
            </a:pPr>
            <a:r>
              <a:rPr lang="fr-CI" sz="24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 / Incidents et accidents induits par le prélèvement sanguin </a:t>
            </a:r>
            <a:endParaRPr lang="fr-FR" sz="24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a:spcAft>
                <a:spcPts val="1000"/>
              </a:spcAft>
            </a:pPr>
            <a:r>
              <a:rPr lang="fr-CI" sz="24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Incidents</a:t>
            </a:r>
            <a:r>
              <a:rPr lang="fr-CI" sz="24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 </a:t>
            </a:r>
            <a:endParaRPr lang="fr-FR" sz="24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spcAft>
                <a:spcPts val="800"/>
              </a:spcAft>
              <a:buFont typeface="Wingdings" panose="05000000000000000000" pitchFamily="2" charset="2"/>
              <a:buChar char=""/>
            </a:pPr>
            <a:r>
              <a:rPr lang="fr-CI" sz="2400" b="1" dirty="0">
                <a:latin typeface="Arial Black" panose="020B0A04020102020204" pitchFamily="34" charset="0"/>
                <a:ea typeface="Calibri" panose="020F0502020204030204" pitchFamily="34" charset="0"/>
                <a:cs typeface="Times New Roman" panose="02020603050405020304" pitchFamily="18" charset="0"/>
              </a:rPr>
              <a:t>Hématomes</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fr-CI" sz="2400" dirty="0">
                <a:latin typeface="Arial Black" panose="020B0A04020102020204" pitchFamily="34" charset="0"/>
                <a:ea typeface="Calibri" panose="020F0502020204030204" pitchFamily="34" charset="0"/>
                <a:cs typeface="Times New Roman" panose="02020603050405020304" pitchFamily="18" charset="0"/>
              </a:rPr>
              <a:t>Causes : garrot trop serré, veines invisibles, ponctions répétées etc.</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fr-CI" sz="2400" dirty="0">
                <a:latin typeface="Arial Black" panose="020B0A04020102020204" pitchFamily="34" charset="0"/>
                <a:ea typeface="Calibri" panose="020F0502020204030204" pitchFamily="34" charset="0"/>
                <a:cs typeface="Times New Roman" panose="02020603050405020304" pitchFamily="18" charset="0"/>
              </a:rPr>
              <a:t>CAT : pansement alcoolisé compressif</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spcAft>
                <a:spcPts val="800"/>
              </a:spcAft>
              <a:buFont typeface="Wingdings" panose="05000000000000000000" pitchFamily="2" charset="2"/>
              <a:buChar char=""/>
            </a:pPr>
            <a:r>
              <a:rPr lang="fr-CI" sz="2400" b="1" dirty="0">
                <a:latin typeface="Arial Black" panose="020B0A04020102020204" pitchFamily="34" charset="0"/>
                <a:ea typeface="Calibri" panose="020F0502020204030204" pitchFamily="34" charset="0"/>
                <a:cs typeface="Times New Roman" panose="02020603050405020304" pitchFamily="18" charset="0"/>
              </a:rPr>
              <a:t>Malaise vagal</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fr-CI" sz="2400" dirty="0">
                <a:latin typeface="Arial Black" panose="020B0A04020102020204" pitchFamily="34" charset="0"/>
                <a:ea typeface="Calibri" panose="020F0502020204030204" pitchFamily="34" charset="0"/>
                <a:cs typeface="Times New Roman" panose="02020603050405020304" pitchFamily="18" charset="0"/>
              </a:rPr>
              <a:t>Causes : angoisse, jeun, etc.</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fr-CI" sz="2400" dirty="0">
                <a:latin typeface="Arial Black" panose="020B0A04020102020204" pitchFamily="34" charset="0"/>
                <a:ea typeface="Calibri" panose="020F0502020204030204" pitchFamily="34" charset="0"/>
                <a:cs typeface="Times New Roman" panose="02020603050405020304" pitchFamily="18" charset="0"/>
              </a:rPr>
              <a:t>CAT : garder le calme et retirer l’aiguille, comprimer le point de ponction avec un tampon pst compressif, suite voir CAT </a:t>
            </a:r>
            <a:r>
              <a:rPr lang="fr-CI" sz="2400" dirty="0" smtClean="0">
                <a:latin typeface="Arial Black" panose="020B0A04020102020204" pitchFamily="34" charset="0"/>
                <a:ea typeface="Calibri" panose="020F0502020204030204" pitchFamily="34" charset="0"/>
                <a:cs typeface="Times New Roman" panose="02020603050405020304" pitchFamily="18" charset="0"/>
              </a:rPr>
              <a:t>syncope</a:t>
            </a:r>
            <a:endParaRPr lang="fr-FR" sz="2400" dirty="0">
              <a:latin typeface="Arial Black" panose="020B0A04020102020204" pitchFamily="34" charset="0"/>
              <a:ea typeface="Times New Roman" panose="02020603050405020304" pitchFamily="18" charset="0"/>
              <a:cs typeface="Times New Roman" panose="02020603050405020304" pitchFamily="18" charset="0"/>
            </a:endParaRPr>
          </a:p>
          <a:p>
            <a:pPr>
              <a:spcAft>
                <a:spcPts val="1000"/>
              </a:spcAft>
            </a:pPr>
            <a:r>
              <a:rPr lang="fr-CI" sz="24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Accidents</a:t>
            </a:r>
            <a:endParaRPr lang="fr-FR" sz="2400"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spcAft>
                <a:spcPts val="800"/>
              </a:spcAft>
              <a:buFont typeface="Wingdings" panose="05000000000000000000" pitchFamily="2" charset="2"/>
              <a:buChar char=""/>
            </a:pPr>
            <a:r>
              <a:rPr lang="fr-CI" sz="2400" dirty="0">
                <a:latin typeface="Arial Black" panose="020B0A04020102020204" pitchFamily="34" charset="0"/>
                <a:ea typeface="Calibri" panose="020F0502020204030204" pitchFamily="34" charset="0"/>
                <a:cs typeface="Times New Roman" panose="02020603050405020304" pitchFamily="18" charset="0"/>
              </a:rPr>
              <a:t>Piqure d’un nerf</a:t>
            </a:r>
            <a:endParaRPr lang="fr-FR" sz="24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fr-CI" sz="2400" dirty="0">
                <a:latin typeface="Arial Black" panose="020B0A04020102020204" pitchFamily="34" charset="0"/>
                <a:ea typeface="Calibri" panose="020F0502020204030204" pitchFamily="34" charset="0"/>
                <a:cs typeface="Times New Roman" panose="02020603050405020304" pitchFamily="18" charset="0"/>
              </a:rPr>
              <a:t>CAT : </a:t>
            </a:r>
            <a:endParaRPr lang="fr-FR" sz="24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9343055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0B3D4B-8844-4059-88EA-9EDB1973EE30}"/>
              </a:ext>
            </a:extLst>
          </p:cNvPr>
          <p:cNvSpPr>
            <a:spLocks noGrp="1"/>
          </p:cNvSpPr>
          <p:nvPr>
            <p:ph type="title"/>
          </p:nvPr>
        </p:nvSpPr>
        <p:spPr/>
        <p:txBody>
          <a:bodyPr>
            <a:normAutofit fontScale="90000"/>
          </a:bodyPr>
          <a:lstStyle/>
          <a:p>
            <a:pPr algn="ctr"/>
            <a:r>
              <a:rPr lang="fr-FR" sz="4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LE THERMOMETRE MEDICAL</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B201AEB5-9441-4781-8EB5-FA7C568B7E1E}"/>
              </a:ext>
            </a:extLst>
          </p:cNvPr>
          <p:cNvSpPr>
            <a:spLocks noGrp="1"/>
          </p:cNvSpPr>
          <p:nvPr>
            <p:ph idx="1"/>
          </p:nvPr>
        </p:nvSpPr>
        <p:spPr>
          <a:xfrm>
            <a:off x="-1" y="2133600"/>
            <a:ext cx="12080383" cy="3777622"/>
          </a:xfrm>
        </p:spPr>
        <p:txBody>
          <a:bodyPr>
            <a:normAutofit/>
          </a:bodyPr>
          <a:lstStyle/>
          <a:p>
            <a:pPr marL="342900" lvl="0" indent="-342900" algn="just">
              <a:lnSpc>
                <a:spcPct val="125000"/>
              </a:lnSpc>
              <a:spcAft>
                <a:spcPts val="1000"/>
              </a:spcAft>
              <a:buFont typeface="+mj-lt"/>
              <a:buAutoNum type="romanUcPeriod"/>
              <a:tabLst>
                <a:tab pos="342900" algn="l"/>
              </a:tabLst>
            </a:pPr>
            <a:r>
              <a:rPr lang="fr-FR" sz="32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DEFINITION</a:t>
            </a:r>
            <a:r>
              <a:rPr lang="fr-FR" sz="1800" b="1" u="sng"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10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Le thermomètre médical est un appareil qui sert à mesurer et à afficher la valeur de la température du corps humain</a:t>
            </a:r>
            <a:endParaRPr lang="fr-FR" dirty="0">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10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L’unité de mesure de la température est le degré Celsius</a:t>
            </a:r>
            <a:r>
              <a:rPr lang="fr-FR"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3894991717"/>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2885" y="115910"/>
            <a:ext cx="11329115" cy="5955476"/>
          </a:xfrm>
          <a:prstGeom prst="rect">
            <a:avLst/>
          </a:prstGeom>
        </p:spPr>
        <p:txBody>
          <a:bodyPr wrap="square">
            <a:spAutoFit/>
          </a:bodyPr>
          <a:lstStyle/>
          <a:p>
            <a:pPr lvl="0" algn="just">
              <a:lnSpc>
                <a:spcPct val="125000"/>
              </a:lnSpc>
              <a:spcAft>
                <a:spcPts val="1000"/>
              </a:spcAft>
              <a:tabLst>
                <a:tab pos="342900" algn="l"/>
              </a:tabLst>
            </a:pPr>
            <a:r>
              <a:rPr lang="fr-FR" sz="2000"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II.LES DIFFERENTS MODELES DE THERMOMETRE</a:t>
            </a:r>
            <a:endParaRPr lang="fr-FR" sz="2000" dirty="0">
              <a:solidFill>
                <a:srgbClr val="FF0000"/>
              </a:solidFill>
              <a:latin typeface="Arial Black" panose="020B0A04020102020204" pitchFamily="34" charset="0"/>
              <a:ea typeface="Times New Roman" panose="02020603050405020304" pitchFamily="18" charset="0"/>
              <a:cs typeface="Arial" panose="020B0604020202020204" pitchFamily="34" charset="0"/>
            </a:endParaRPr>
          </a:p>
          <a:p>
            <a:pPr algn="just">
              <a:spcAft>
                <a:spcPts val="1000"/>
              </a:spcAft>
            </a:pPr>
            <a:r>
              <a:rPr lang="fr-FR" sz="2000" dirty="0">
                <a:latin typeface="Arial Black" panose="020B0A04020102020204" pitchFamily="34" charset="0"/>
                <a:ea typeface="Times New Roman" panose="02020603050405020304" pitchFamily="18" charset="0"/>
                <a:cs typeface="Times New Roman" panose="02020603050405020304" pitchFamily="18" charset="0"/>
              </a:rPr>
              <a:t>Il y a plusieurs types de thermomètre qui sont :</a:t>
            </a:r>
          </a:p>
          <a:p>
            <a:pPr marL="285750" indent="-285750" algn="just">
              <a:spcAft>
                <a:spcPts val="1000"/>
              </a:spcAft>
              <a:buFont typeface="Wingdings" panose="05000000000000000000" pitchFamily="2" charset="2"/>
              <a:buChar char="q"/>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au gallium ou au </a:t>
            </a:r>
            <a:r>
              <a:rPr lang="fr-FR" sz="2000" dirty="0" err="1" smtClean="0">
                <a:latin typeface="Arial Black" panose="020B0A04020102020204" pitchFamily="34" charset="0"/>
                <a:ea typeface="Times New Roman" panose="02020603050405020304" pitchFamily="18" charset="0"/>
                <a:cs typeface="Times New Roman" panose="02020603050405020304" pitchFamily="18" charset="0"/>
              </a:rPr>
              <a:t>galinstan</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médical)</a:t>
            </a:r>
          </a:p>
          <a:p>
            <a:pPr marL="285750" indent="-285750" algn="just">
              <a:spcAft>
                <a:spcPts val="1000"/>
              </a:spcAft>
              <a:buFont typeface="Wingdings" panose="05000000000000000000" pitchFamily="2" charset="2"/>
              <a:buChar char="q"/>
            </a:pP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le </a:t>
            </a:r>
            <a:r>
              <a:rPr lang="fr-FR" sz="2800" dirty="0">
                <a:latin typeface="Arial Black" panose="020B0A04020102020204" pitchFamily="34" charset="0"/>
                <a:ea typeface="Times New Roman" panose="02020603050405020304" pitchFamily="18" charset="0"/>
                <a:cs typeface="Times New Roman" panose="02020603050405020304" pitchFamily="18" charset="0"/>
              </a:rPr>
              <a:t>thermomètre à mercure (</a:t>
            </a:r>
            <a:r>
              <a:rPr lang="fr-FR" sz="2800"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proscrit</a:t>
            </a:r>
            <a:r>
              <a:rPr lang="fr-FR" sz="2800" dirty="0" smtClean="0">
                <a:latin typeface="Arial Black" panose="020B0A04020102020204" pitchFamily="34" charset="0"/>
                <a:ea typeface="Times New Roman" panose="02020603050405020304" pitchFamily="18" charset="0"/>
                <a:cs typeface="Times New Roman" panose="02020603050405020304" pitchFamily="18" charset="0"/>
              </a:rPr>
              <a:t>)</a:t>
            </a:r>
          </a:p>
          <a:p>
            <a:pPr marL="285750" indent="-285750" algn="just">
              <a:spcAft>
                <a:spcPts val="1000"/>
              </a:spcAft>
              <a:buFont typeface="Wingdings" panose="05000000000000000000" pitchFamily="2" charset="2"/>
              <a:buChar char="q"/>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à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carbone</a:t>
            </a:r>
          </a:p>
          <a:p>
            <a:pPr marL="285750" indent="-285750" algn="just">
              <a:spcAft>
                <a:spcPts val="1000"/>
              </a:spcAft>
              <a:buFont typeface="Wingdings" panose="05000000000000000000" pitchFamily="2" charset="2"/>
              <a:buChar char="q"/>
            </a:pPr>
            <a:r>
              <a:rPr lang="fr-FR" sz="2800" dirty="0" smtClean="0">
                <a:solidFill>
                  <a:schemeClr val="accent1"/>
                </a:solidFill>
                <a:latin typeface="Arial Black" panose="020B0A04020102020204" pitchFamily="34" charset="0"/>
                <a:ea typeface="Times New Roman" panose="02020603050405020304" pitchFamily="18" charset="0"/>
                <a:cs typeface="Times New Roman" panose="02020603050405020304" pitchFamily="18" charset="0"/>
              </a:rPr>
              <a:t>le </a:t>
            </a:r>
            <a:r>
              <a:rPr lang="fr-FR" sz="2800" dirty="0">
                <a:solidFill>
                  <a:schemeClr val="accent1"/>
                </a:solidFill>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800" dirty="0" smtClean="0">
                <a:solidFill>
                  <a:schemeClr val="accent1"/>
                </a:solidFill>
                <a:latin typeface="Arial Black" panose="020B0A04020102020204" pitchFamily="34" charset="0"/>
                <a:ea typeface="Times New Roman" panose="02020603050405020304" pitchFamily="18" charset="0"/>
                <a:cs typeface="Times New Roman" panose="02020603050405020304" pitchFamily="18" charset="0"/>
              </a:rPr>
              <a:t>électronique: </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frontal</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à infra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rouge</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auriculaire</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buccal</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a:t>
            </a: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sucette</a:t>
            </a:r>
          </a:p>
          <a:p>
            <a:pPr algn="just">
              <a:spcAft>
                <a:spcPts val="1000"/>
              </a:spcAft>
            </a:pPr>
            <a:r>
              <a:rPr lang="fr-FR" sz="2000" dirty="0" smtClean="0">
                <a:latin typeface="Arial Black" panose="020B0A04020102020204" pitchFamily="34" charset="0"/>
                <a:ea typeface="Times New Roman" panose="02020603050405020304" pitchFamily="18" charset="0"/>
                <a:cs typeface="Times New Roman" panose="02020603050405020304" pitchFamily="18" charset="0"/>
              </a:rPr>
              <a:t>                           - le </a:t>
            </a:r>
            <a:r>
              <a:rPr lang="fr-FR" sz="2000" dirty="0">
                <a:latin typeface="Arial Black" panose="020B0A04020102020204" pitchFamily="34" charset="0"/>
                <a:ea typeface="Times New Roman" panose="02020603050405020304" pitchFamily="18" charset="0"/>
                <a:cs typeface="Times New Roman" panose="02020603050405020304" pitchFamily="18" charset="0"/>
              </a:rPr>
              <a:t>thermomètre digital.</a:t>
            </a:r>
          </a:p>
          <a:p>
            <a:r>
              <a:rPr lang="fr-FR" sz="2000" dirty="0">
                <a:latin typeface="Arial Black" panose="020B0A04020102020204" pitchFamily="34" charset="0"/>
                <a:ea typeface="Times New Roman" panose="02020603050405020304" pitchFamily="18" charset="0"/>
              </a:rPr>
              <a:t>Cependant nous allons décrire ceux qui sont utilisés dans nos services</a:t>
            </a:r>
            <a:endParaRPr lang="fr-FR" sz="2000" dirty="0">
              <a:latin typeface="Arial Black" panose="020B0A04020102020204" pitchFamily="34" charset="0"/>
            </a:endParaRPr>
          </a:p>
        </p:txBody>
      </p:sp>
    </p:spTree>
    <p:extLst>
      <p:ext uri="{BB962C8B-B14F-4D97-AF65-F5344CB8AC3E}">
        <p14:creationId xmlns:p14="http://schemas.microsoft.com/office/powerpoint/2010/main" val="2704777014"/>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F8E110-CA08-49EA-8ADB-0203A852C0A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0B57FE1B-A19E-4602-A708-AC597363706A}"/>
              </a:ext>
            </a:extLst>
          </p:cNvPr>
          <p:cNvSpPr>
            <a:spLocks noGrp="1"/>
          </p:cNvSpPr>
          <p:nvPr>
            <p:ph idx="1"/>
          </p:nvPr>
        </p:nvSpPr>
        <p:spPr>
          <a:xfrm>
            <a:off x="0" y="2133600"/>
            <a:ext cx="12192000" cy="4100290"/>
          </a:xfrm>
        </p:spPr>
        <p:txBody>
          <a:bodyPr>
            <a:normAutofit lnSpcReduction="10000"/>
          </a:bodyPr>
          <a:lstStyle/>
          <a:p>
            <a:pPr marL="457200" lvl="1" indent="0" algn="just">
              <a:lnSpc>
                <a:spcPct val="125000"/>
              </a:lnSpc>
              <a:spcAft>
                <a:spcPts val="1000"/>
              </a:spcAft>
              <a:buNone/>
              <a:tabLst>
                <a:tab pos="457200" algn="l"/>
              </a:tabLst>
            </a:pPr>
            <a:r>
              <a:rPr lang="fr-FR" sz="3200" b="1" dirty="0">
                <a:effectLst/>
                <a:latin typeface="Arial Black" panose="020B0A04020102020204" pitchFamily="34" charset="0"/>
                <a:ea typeface="Times New Roman" panose="02020603050405020304" pitchFamily="18" charset="0"/>
                <a:cs typeface="Arial" panose="020B0604020202020204" pitchFamily="34" charset="0"/>
              </a:rPr>
              <a:t>2-1 Le thermomètre médical </a:t>
            </a:r>
          </a:p>
          <a:p>
            <a:pPr marL="0" indent="0" algn="just">
              <a:lnSpc>
                <a:spcPct val="125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C’est le thermomètre au gallium qui est communément appelé le thermomètre médical. Il se compose d’un tube de verre fermé, fixé à une réglette graduée allant de 35°C à 42°C et d’une extrémité renflée (cuvette) contenant du mercure. A l’intérieur se trouve un tube très fin dans lequel le mercure remonte quant il est chauffé</a:t>
            </a:r>
          </a:p>
          <a:p>
            <a:pPr marL="0" indent="0">
              <a:buNone/>
            </a:pPr>
            <a:endParaRPr lang="fr-FR" dirty="0"/>
          </a:p>
        </p:txBody>
      </p:sp>
    </p:spTree>
    <p:extLst>
      <p:ext uri="{BB962C8B-B14F-4D97-AF65-F5344CB8AC3E}">
        <p14:creationId xmlns:p14="http://schemas.microsoft.com/office/powerpoint/2010/main" val="1250805010"/>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631065" y="180304"/>
            <a:ext cx="4584879" cy="6027313"/>
          </a:xfrm>
          <a:prstGeom prst="rect">
            <a:avLst/>
          </a:prstGeom>
        </p:spPr>
      </p:pic>
      <p:pic>
        <p:nvPicPr>
          <p:cNvPr id="3" name="Image 2"/>
          <p:cNvPicPr>
            <a:picLocks noChangeAspect="1"/>
          </p:cNvPicPr>
          <p:nvPr/>
        </p:nvPicPr>
        <p:blipFill>
          <a:blip r:embed="rId3"/>
          <a:stretch>
            <a:fillRect/>
          </a:stretch>
        </p:blipFill>
        <p:spPr>
          <a:xfrm>
            <a:off x="5803743" y="309093"/>
            <a:ext cx="5594060" cy="5898524"/>
          </a:xfrm>
          <a:prstGeom prst="rect">
            <a:avLst/>
          </a:prstGeom>
        </p:spPr>
      </p:pic>
    </p:spTree>
    <p:extLst>
      <p:ext uri="{BB962C8B-B14F-4D97-AF65-F5344CB8AC3E}">
        <p14:creationId xmlns:p14="http://schemas.microsoft.com/office/powerpoint/2010/main" val="4112575289"/>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5EC9D0-28A8-496C-8BB3-246BA9C0DB0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58F3E1E-84D3-4A55-AFF9-4B6A0DC170B2}"/>
              </a:ext>
            </a:extLst>
          </p:cNvPr>
          <p:cNvSpPr>
            <a:spLocks noGrp="1"/>
          </p:cNvSpPr>
          <p:nvPr>
            <p:ph idx="1"/>
          </p:nvPr>
        </p:nvSpPr>
        <p:spPr>
          <a:xfrm>
            <a:off x="0" y="2133600"/>
            <a:ext cx="12003110" cy="4100290"/>
          </a:xfrm>
        </p:spPr>
        <p:txBody>
          <a:bodyPr>
            <a:normAutofit/>
          </a:bodyPr>
          <a:lstStyle/>
          <a:p>
            <a:pPr marL="457200" lvl="1" indent="0" algn="just">
              <a:lnSpc>
                <a:spcPct val="125000"/>
              </a:lnSpc>
              <a:spcAft>
                <a:spcPts val="1000"/>
              </a:spcAft>
              <a:buNone/>
              <a:tabLst>
                <a:tab pos="457200" algn="l"/>
              </a:tabLst>
            </a:pPr>
            <a:r>
              <a:rPr lang="fr-FR" sz="2800" b="1" dirty="0">
                <a:effectLst/>
                <a:latin typeface="Arial Black" panose="020B0A04020102020204" pitchFamily="34" charset="0"/>
                <a:ea typeface="Times New Roman" panose="02020603050405020304" pitchFamily="18" charset="0"/>
                <a:cs typeface="Arial" panose="020B0604020202020204" pitchFamily="34" charset="0"/>
              </a:rPr>
              <a:t>2-2 Le thermomètre électronique</a:t>
            </a:r>
            <a:endParaRPr lang="fr-FR" sz="28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r>
              <a:rPr lang="fr-FR" dirty="0">
                <a:effectLst/>
                <a:latin typeface="Arial Black" panose="020B0A04020102020204" pitchFamily="34" charset="0"/>
                <a:ea typeface="Times New Roman" panose="02020603050405020304" pitchFamily="18" charset="0"/>
                <a:cs typeface="Arial" panose="020B0604020202020204" pitchFamily="34" charset="0"/>
              </a:rPr>
              <a:t>C’est un appareil qui fonctionne selon un système électrique et comporte sur une de ses faces un tableau d’affichage </a:t>
            </a:r>
            <a:r>
              <a:rPr lang="fr-FR" dirty="0" smtClean="0">
                <a:effectLst/>
                <a:latin typeface="Arial Black" panose="020B0A04020102020204" pitchFamily="34" charset="0"/>
                <a:ea typeface="Times New Roman" panose="02020603050405020304" pitchFamily="18" charset="0"/>
                <a:cs typeface="Arial" panose="020B0604020202020204" pitchFamily="34" charset="0"/>
              </a:rPr>
              <a:t>automatique, la </a:t>
            </a:r>
            <a:r>
              <a:rPr lang="fr-FR" dirty="0">
                <a:effectLst/>
                <a:latin typeface="Arial Black" panose="020B0A04020102020204" pitchFamily="34" charset="0"/>
                <a:ea typeface="Times New Roman" panose="02020603050405020304" pitchFamily="18" charset="0"/>
                <a:cs typeface="Arial" panose="020B0604020202020204" pitchFamily="34" charset="0"/>
              </a:rPr>
              <a:t>valeur de la température. </a:t>
            </a:r>
            <a:endParaRPr lang="fr-FR" dirty="0" smtClean="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r>
              <a:rPr lang="fr-FR" dirty="0" smtClean="0">
                <a:effectLst/>
                <a:latin typeface="Arial Black" panose="020B0A04020102020204" pitchFamily="34" charset="0"/>
                <a:ea typeface="Times New Roman" panose="02020603050405020304" pitchFamily="18" charset="0"/>
                <a:cs typeface="Arial" panose="020B0604020202020204" pitchFamily="34" charset="0"/>
              </a:rPr>
              <a:t>Un </a:t>
            </a:r>
            <a:r>
              <a:rPr lang="fr-FR" dirty="0">
                <a:effectLst/>
                <a:latin typeface="Arial Black" panose="020B0A04020102020204" pitchFamily="34" charset="0"/>
                <a:ea typeface="Times New Roman" panose="02020603050405020304" pitchFamily="18" charset="0"/>
                <a:cs typeface="Arial" panose="020B0604020202020204" pitchFamily="34" charset="0"/>
              </a:rPr>
              <a:t>signal sonore </a:t>
            </a:r>
            <a:r>
              <a:rPr lang="fr-FR" dirty="0" smtClean="0">
                <a:effectLst/>
                <a:latin typeface="Arial Black" panose="020B0A04020102020204" pitchFamily="34" charset="0"/>
                <a:ea typeface="Times New Roman" panose="02020603050405020304" pitchFamily="18" charset="0"/>
                <a:cs typeface="Arial" panose="020B0604020202020204" pitchFamily="34" charset="0"/>
              </a:rPr>
              <a:t>annonce </a:t>
            </a:r>
            <a:r>
              <a:rPr lang="fr-FR" dirty="0">
                <a:effectLst/>
                <a:latin typeface="Arial Black" panose="020B0A04020102020204" pitchFamily="34" charset="0"/>
                <a:ea typeface="Times New Roman" panose="02020603050405020304" pitchFamily="18" charset="0"/>
                <a:cs typeface="Arial" panose="020B0604020202020204" pitchFamily="34" charset="0"/>
              </a:rPr>
              <a:t>l’affichage de la température</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4273675401"/>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90152" y="128788"/>
            <a:ext cx="4608960" cy="5898524"/>
          </a:xfrm>
          <a:prstGeom prst="rect">
            <a:avLst/>
          </a:prstGeom>
        </p:spPr>
      </p:pic>
      <p:pic>
        <p:nvPicPr>
          <p:cNvPr id="3" name="Image 2"/>
          <p:cNvPicPr>
            <a:picLocks noChangeAspect="1"/>
          </p:cNvPicPr>
          <p:nvPr/>
        </p:nvPicPr>
        <p:blipFill>
          <a:blip r:embed="rId3"/>
          <a:stretch>
            <a:fillRect/>
          </a:stretch>
        </p:blipFill>
        <p:spPr>
          <a:xfrm>
            <a:off x="5215945" y="128788"/>
            <a:ext cx="6800044" cy="6001557"/>
          </a:xfrm>
          <a:prstGeom prst="rect">
            <a:avLst/>
          </a:prstGeom>
        </p:spPr>
      </p:pic>
    </p:spTree>
    <p:extLst>
      <p:ext uri="{BB962C8B-B14F-4D97-AF65-F5344CB8AC3E}">
        <p14:creationId xmlns:p14="http://schemas.microsoft.com/office/powerpoint/2010/main" val="2524569419"/>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5725C0-EBB5-44D0-B4B4-F9EB1B0EAA8A}"/>
              </a:ext>
            </a:extLst>
          </p:cNvPr>
          <p:cNvSpPr>
            <a:spLocks noGrp="1"/>
          </p:cNvSpPr>
          <p:nvPr>
            <p:ph type="title"/>
          </p:nvPr>
        </p:nvSpPr>
        <p:spPr>
          <a:xfrm>
            <a:off x="2592925" y="0"/>
            <a:ext cx="8911687" cy="450761"/>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52877EB5-FB95-444E-A728-3780FFCCF450}"/>
              </a:ext>
            </a:extLst>
          </p:cNvPr>
          <p:cNvSpPr>
            <a:spLocks noGrp="1"/>
          </p:cNvSpPr>
          <p:nvPr>
            <p:ph idx="1"/>
          </p:nvPr>
        </p:nvSpPr>
        <p:spPr>
          <a:xfrm>
            <a:off x="0" y="1280890"/>
            <a:ext cx="11504612" cy="3777622"/>
          </a:xfrm>
        </p:spPr>
        <p:txBody>
          <a:bodyPr>
            <a:normAutofit fontScale="92500" lnSpcReduction="20000"/>
          </a:bodyPr>
          <a:lstStyle/>
          <a:p>
            <a:pPr marL="0" lvl="0" indent="0" algn="just">
              <a:lnSpc>
                <a:spcPct val="125000"/>
              </a:lnSpc>
              <a:spcAft>
                <a:spcPts val="1000"/>
              </a:spcAft>
              <a:buNone/>
              <a:tabLst>
                <a:tab pos="342900" algn="l"/>
              </a:tabLst>
            </a:pPr>
            <a:r>
              <a:rPr lang="fr-FR" sz="39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III LES VARIATIONS DE LA TEMPERATURE</a:t>
            </a:r>
            <a:endParaRPr lang="fr-FR" sz="39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r>
              <a:rPr lang="fr-FR" sz="3000" dirty="0">
                <a:effectLst/>
                <a:latin typeface="Arial Black" panose="020B0A04020102020204" pitchFamily="34" charset="0"/>
                <a:ea typeface="Times New Roman" panose="02020603050405020304" pitchFamily="18" charset="0"/>
              </a:rPr>
              <a:t>L’équilibre entre la production et la perte de température par l’organisme s’appelle </a:t>
            </a:r>
            <a:r>
              <a:rPr lang="fr-FR" sz="3000" dirty="0">
                <a:solidFill>
                  <a:srgbClr val="FF0000"/>
                </a:solidFill>
                <a:effectLst/>
                <a:latin typeface="Arial Black" panose="020B0A04020102020204" pitchFamily="34" charset="0"/>
                <a:ea typeface="Times New Roman" panose="02020603050405020304" pitchFamily="18" charset="0"/>
              </a:rPr>
              <a:t>la </a:t>
            </a:r>
            <a:r>
              <a:rPr lang="fr-FR" sz="3000" dirty="0" smtClean="0">
                <a:solidFill>
                  <a:srgbClr val="FF0000"/>
                </a:solidFill>
                <a:effectLst/>
                <a:latin typeface="Arial Black" panose="020B0A04020102020204" pitchFamily="34" charset="0"/>
                <a:ea typeface="Times New Roman" panose="02020603050405020304" pitchFamily="18" charset="0"/>
              </a:rPr>
              <a:t>thermorégulation</a:t>
            </a:r>
            <a:r>
              <a:rPr lang="fr-FR" sz="3000" dirty="0" smtClean="0">
                <a:effectLst/>
                <a:latin typeface="Arial Black" panose="020B0A04020102020204" pitchFamily="34" charset="0"/>
                <a:ea typeface="Times New Roman" panose="02020603050405020304" pitchFamily="18" charset="0"/>
              </a:rPr>
              <a:t>   </a:t>
            </a:r>
          </a:p>
          <a:p>
            <a:pPr marL="0" indent="0">
              <a:buNone/>
            </a:pPr>
            <a:r>
              <a:rPr lang="fr-FR" sz="3000" dirty="0" smtClean="0">
                <a:effectLst/>
                <a:latin typeface="Arial Black" panose="020B0A04020102020204" pitchFamily="34" charset="0"/>
                <a:ea typeface="Times New Roman" panose="02020603050405020304" pitchFamily="18" charset="0"/>
              </a:rPr>
              <a:t>Elle </a:t>
            </a:r>
            <a:r>
              <a:rPr lang="fr-FR" sz="3000" dirty="0">
                <a:effectLst/>
                <a:latin typeface="Arial Black" panose="020B0A04020102020204" pitchFamily="34" charset="0"/>
                <a:ea typeface="Times New Roman" panose="02020603050405020304" pitchFamily="18" charset="0"/>
              </a:rPr>
              <a:t>se fait naturellement mais il peut arriver que des éléments perturbent cet équilibre provoquant ainsi une production excessive de chaleur par l’organisme ou un refroidissement de celui-ci. </a:t>
            </a:r>
            <a:endParaRPr lang="fr-FR" sz="3000" dirty="0" smtClean="0">
              <a:effectLst/>
              <a:latin typeface="Arial Black" panose="020B0A04020102020204" pitchFamily="34" charset="0"/>
              <a:ea typeface="Times New Roman" panose="02020603050405020304" pitchFamily="18" charset="0"/>
            </a:endParaRPr>
          </a:p>
          <a:p>
            <a:pPr marL="0" indent="0">
              <a:buNone/>
            </a:pPr>
            <a:r>
              <a:rPr lang="fr-FR" sz="3000" dirty="0" smtClean="0">
                <a:effectLst/>
                <a:latin typeface="Arial Black" panose="020B0A04020102020204" pitchFamily="34" charset="0"/>
                <a:ea typeface="Times New Roman" panose="02020603050405020304" pitchFamily="18" charset="0"/>
              </a:rPr>
              <a:t>Cette </a:t>
            </a:r>
            <a:r>
              <a:rPr lang="fr-FR" sz="3000" dirty="0">
                <a:effectLst/>
                <a:latin typeface="Arial Black" panose="020B0A04020102020204" pitchFamily="34" charset="0"/>
                <a:ea typeface="Times New Roman" panose="02020603050405020304" pitchFamily="18" charset="0"/>
              </a:rPr>
              <a:t>variation de température peut être physiologique ou pathologique</a:t>
            </a:r>
            <a:endParaRPr lang="fr-FR" sz="3000" dirty="0">
              <a:latin typeface="Arial Black" panose="020B0A04020102020204" pitchFamily="34" charset="0"/>
            </a:endParaRPr>
          </a:p>
        </p:txBody>
      </p:sp>
    </p:spTree>
    <p:extLst>
      <p:ext uri="{BB962C8B-B14F-4D97-AF65-F5344CB8AC3E}">
        <p14:creationId xmlns:p14="http://schemas.microsoft.com/office/powerpoint/2010/main" val="3325831196"/>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4E58B4-6110-4F2C-AAF1-840F7C045AD9}"/>
              </a:ext>
            </a:extLst>
          </p:cNvPr>
          <p:cNvSpPr>
            <a:spLocks noGrp="1"/>
          </p:cNvSpPr>
          <p:nvPr>
            <p:ph type="title"/>
          </p:nvPr>
        </p:nvSpPr>
        <p:spPr>
          <a:xfrm>
            <a:off x="2567167" y="0"/>
            <a:ext cx="8911687" cy="579549"/>
          </a:xfrm>
        </p:spPr>
        <p:txBody>
          <a:bodyPr/>
          <a:lstStyle/>
          <a:p>
            <a:endParaRPr lang="fr-FR" dirty="0"/>
          </a:p>
        </p:txBody>
      </p:sp>
      <p:sp>
        <p:nvSpPr>
          <p:cNvPr id="3" name="Espace réservé du contenu 2">
            <a:extLst>
              <a:ext uri="{FF2B5EF4-FFF2-40B4-BE49-F238E27FC236}">
                <a16:creationId xmlns:a16="http://schemas.microsoft.com/office/drawing/2014/main" id="{F7C1244A-919C-4905-BAAF-FD27EEE37CE3}"/>
              </a:ext>
            </a:extLst>
          </p:cNvPr>
          <p:cNvSpPr>
            <a:spLocks noGrp="1"/>
          </p:cNvSpPr>
          <p:nvPr>
            <p:ph idx="1"/>
          </p:nvPr>
        </p:nvSpPr>
        <p:spPr>
          <a:xfrm>
            <a:off x="0" y="579549"/>
            <a:ext cx="12093262" cy="5705341"/>
          </a:xfrm>
        </p:spPr>
        <p:txBody>
          <a:bodyPr>
            <a:normAutofit fontScale="25000" lnSpcReduction="20000"/>
          </a:bodyPr>
          <a:lstStyle/>
          <a:p>
            <a:pPr marL="457200" lvl="1" indent="0">
              <a:lnSpc>
                <a:spcPct val="120000"/>
              </a:lnSpc>
              <a:spcAft>
                <a:spcPts val="1000"/>
              </a:spcAft>
              <a:buNone/>
              <a:tabLst>
                <a:tab pos="457200" algn="l"/>
              </a:tabLst>
            </a:pPr>
            <a:r>
              <a:rPr lang="fr-FR" sz="11200" b="1" dirty="0" smtClean="0">
                <a:effectLst/>
                <a:latin typeface="Arial Black" panose="020B0A04020102020204" pitchFamily="34" charset="0"/>
                <a:ea typeface="Times New Roman" panose="02020603050405020304" pitchFamily="18" charset="0"/>
                <a:cs typeface="Arial" panose="020B0604020202020204" pitchFamily="34" charset="0"/>
              </a:rPr>
              <a:t>      </a:t>
            </a:r>
            <a:r>
              <a:rPr lang="fr-FR" sz="112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3-1 </a:t>
            </a:r>
            <a:r>
              <a:rPr lang="fr-FR" sz="11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Les variations physiologiques</a:t>
            </a:r>
          </a:p>
          <a:p>
            <a:pPr marL="457200" lvl="1" indent="0">
              <a:lnSpc>
                <a:spcPct val="120000"/>
              </a:lnSpc>
              <a:spcAft>
                <a:spcPts val="1000"/>
              </a:spcAft>
              <a:buNone/>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Elles dépendent de nombreux facteurs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climat</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l’heure (4h-8h T° basse, 16h - 18h T° élevée)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digestion (repas abondant T° élevée, diète T° basse)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travail physique et intellectuel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les émotions, le repos</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0000"/>
              </a:lnSpc>
              <a:spcAft>
                <a:spcPts val="1000"/>
              </a:spcAft>
              <a:buFont typeface="Arial" panose="020B0604020202020204" pitchFamily="34" charset="0"/>
              <a:buChar char="-"/>
              <a:tabLst>
                <a:tab pos="457200" algn="l"/>
              </a:tabLst>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l’âge (nouveau né température irrégulière, vieillard température en dessous de la normale)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Arial" panose="020B0604020202020204" pitchFamily="34" charset="0"/>
              <a:buChar char="-"/>
              <a:tabLst>
                <a:tab pos="457200" algn="l"/>
              </a:tabLst>
            </a:pPr>
            <a:r>
              <a:rPr lang="fr-FR" sz="8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sz="8000" dirty="0">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2746257179"/>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3883B8-9FEB-4BEA-9B76-88DF58438899}"/>
              </a:ext>
            </a:extLst>
          </p:cNvPr>
          <p:cNvSpPr>
            <a:spLocks noGrp="1"/>
          </p:cNvSpPr>
          <p:nvPr>
            <p:ph type="title"/>
          </p:nvPr>
        </p:nvSpPr>
        <p:spPr>
          <a:xfrm>
            <a:off x="1571223" y="31682"/>
            <a:ext cx="9984905" cy="1280890"/>
          </a:xfrm>
        </p:spPr>
        <p:txBody>
          <a:bodyPr/>
          <a:lstStyle/>
          <a:p>
            <a:endParaRPr lang="fr-FR"/>
          </a:p>
        </p:txBody>
      </p:sp>
      <p:sp>
        <p:nvSpPr>
          <p:cNvPr id="3" name="Espace réservé du contenu 2">
            <a:extLst>
              <a:ext uri="{FF2B5EF4-FFF2-40B4-BE49-F238E27FC236}">
                <a16:creationId xmlns:a16="http://schemas.microsoft.com/office/drawing/2014/main" id="{7B490A9E-3206-470B-B453-FD6AB1222FA3}"/>
              </a:ext>
            </a:extLst>
          </p:cNvPr>
          <p:cNvSpPr>
            <a:spLocks noGrp="1"/>
          </p:cNvSpPr>
          <p:nvPr>
            <p:ph idx="1"/>
          </p:nvPr>
        </p:nvSpPr>
        <p:spPr>
          <a:xfrm>
            <a:off x="-1" y="1489656"/>
            <a:ext cx="12101847" cy="4100290"/>
          </a:xfrm>
        </p:spPr>
        <p:txBody>
          <a:bodyPr>
            <a:noAutofit/>
          </a:bodyPr>
          <a:lstStyle/>
          <a:p>
            <a:pPr marL="457200" lvl="1" indent="0" algn="just">
              <a:lnSpc>
                <a:spcPct val="100000"/>
              </a:lnSpc>
              <a:spcAft>
                <a:spcPts val="1000"/>
              </a:spcAft>
              <a:buNone/>
              <a:tabLst>
                <a:tab pos="457200" algn="l"/>
              </a:tabLst>
            </a:pPr>
            <a:r>
              <a:rPr lang="fr-FR" sz="2800" b="1" dirty="0">
                <a:effectLst/>
                <a:latin typeface="Arial Black" panose="020B0A04020102020204" pitchFamily="34" charset="0"/>
                <a:ea typeface="Times New Roman" panose="02020603050405020304" pitchFamily="18" charset="0"/>
                <a:cs typeface="Arial" panose="020B0604020202020204" pitchFamily="34" charset="0"/>
              </a:rPr>
              <a:t>3-2 Les variations pathologiques</a:t>
            </a:r>
            <a:endParaRPr lang="fr-FR" sz="28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00000"/>
              </a:lnSpc>
              <a:spcAft>
                <a:spcPts val="1000"/>
              </a:spcAft>
              <a:buNone/>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Elles sont de deux natures :</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00000"/>
              </a:lnSpc>
              <a:spcAft>
                <a:spcPts val="1000"/>
              </a:spcAft>
              <a:buFont typeface="Verdana" panose="020B0604030504040204" pitchFamily="34"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l’hyperthermie ou l’</a:t>
            </a:r>
            <a:r>
              <a:rPr lang="fr-FR" dirty="0" err="1">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hyperpyrexie</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a:t>
            </a:r>
            <a:r>
              <a:rPr lang="fr-FR" dirty="0">
                <a:solidFill>
                  <a:srgbClr val="000000"/>
                </a:solidFill>
                <a:latin typeface="Arial Black" panose="020B0A04020102020204" pitchFamily="34" charset="0"/>
                <a:ea typeface="Times New Roman" panose="02020603050405020304" pitchFamily="18" charset="0"/>
                <a:cs typeface="Arial" panose="020B0604020202020204" pitchFamily="34" charset="0"/>
              </a:rPr>
              <a:t>=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élévation de la température au dessus de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37,5°C.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le cas dans le paludisme ; </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lnSpc>
                <a:spcPct val="100000"/>
              </a:lnSpc>
              <a:buNone/>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l’hypothermie ou l’</a:t>
            </a:r>
            <a:r>
              <a:rPr lang="fr-FR" dirty="0" err="1">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hypopyrexie</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 baisse de la température en dessous de 36°C. C’est le cas dans le choléra</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3328924419"/>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E10914-A139-45C3-A220-74C7BDD27B57}"/>
              </a:ext>
            </a:extLst>
          </p:cNvPr>
          <p:cNvSpPr>
            <a:spLocks noGrp="1"/>
          </p:cNvSpPr>
          <p:nvPr>
            <p:ph type="title"/>
          </p:nvPr>
        </p:nvSpPr>
        <p:spPr>
          <a:xfrm>
            <a:off x="1013138" y="0"/>
            <a:ext cx="11178862" cy="1175429"/>
          </a:xfrm>
        </p:spPr>
        <p:txBody>
          <a:bodyPr/>
          <a:lstStyle/>
          <a:p>
            <a:r>
              <a:rPr lang="fr-FR" sz="2400" b="1" dirty="0">
                <a:solidFill>
                  <a:srgbClr val="FF0000"/>
                </a:solidFill>
                <a:ea typeface="Times New Roman" panose="02020603050405020304" pitchFamily="18" charset="0"/>
                <a:cs typeface="Arial" panose="020B0604020202020204" pitchFamily="34" charset="0"/>
              </a:rPr>
              <a:t>IV </a:t>
            </a:r>
            <a:r>
              <a:rPr lang="fr-FR" sz="2400" b="1" dirty="0">
                <a:solidFill>
                  <a:srgbClr val="FF0000"/>
                </a:solidFill>
                <a:effectLst/>
                <a:ea typeface="Times New Roman" panose="02020603050405020304" pitchFamily="18" charset="0"/>
                <a:cs typeface="Arial" panose="020B0604020202020204" pitchFamily="34" charset="0"/>
              </a:rPr>
              <a:t>LES DIFFERENTS SITES DE PRISE DE LA TEMPERATURE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3A545C58-AFE4-4CE4-91E1-962E063E590F}"/>
              </a:ext>
            </a:extLst>
          </p:cNvPr>
          <p:cNvSpPr>
            <a:spLocks noGrp="1"/>
          </p:cNvSpPr>
          <p:nvPr>
            <p:ph idx="1"/>
          </p:nvPr>
        </p:nvSpPr>
        <p:spPr>
          <a:xfrm>
            <a:off x="90152" y="1326525"/>
            <a:ext cx="12003110" cy="4907366"/>
          </a:xfrm>
        </p:spPr>
        <p:txBody>
          <a:bodyPr>
            <a:normAutofit fontScale="47500" lnSpcReduction="20000"/>
          </a:bodyPr>
          <a:lstStyle/>
          <a:p>
            <a:pPr marL="0" indent="0" algn="just">
              <a:lnSpc>
                <a:spcPct val="125000"/>
              </a:lnSpc>
              <a:spcAft>
                <a:spcPts val="1000"/>
              </a:spcAft>
              <a:buNone/>
            </a:pPr>
            <a:r>
              <a:rPr lang="fr-FR" sz="8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fr-FR" sz="8000" dirty="0">
                <a:effectLst/>
                <a:latin typeface="Arial Black" panose="020B0A04020102020204" pitchFamily="34" charset="0"/>
                <a:ea typeface="Times New Roman" panose="02020603050405020304" pitchFamily="18" charset="0"/>
                <a:cs typeface="Arial" panose="020B0604020202020204" pitchFamily="34" charset="0"/>
              </a:rPr>
              <a:t>Dans les cavités </a:t>
            </a:r>
            <a:r>
              <a:rPr lang="fr-FR" sz="8000" dirty="0" smtClean="0">
                <a:effectLst/>
                <a:latin typeface="Arial Black" panose="020B0A04020102020204" pitchFamily="34" charset="0"/>
                <a:ea typeface="Times New Roman" panose="02020603050405020304" pitchFamily="18" charset="0"/>
                <a:cs typeface="Arial" panose="020B0604020202020204" pitchFamily="34" charset="0"/>
              </a:rPr>
              <a:t>naturelles:</a:t>
            </a:r>
            <a:endParaRPr lang="fr-FR" sz="80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Verdana" panose="020B0604030504040204" pitchFamily="34" charset="0"/>
              <a:buChar char="-"/>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rectum</a:t>
            </a:r>
            <a:endParaRPr lang="fr-FR" sz="6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Verdana" panose="020B0604030504040204" pitchFamily="34" charset="0"/>
              <a:buChar char="-"/>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vagin</a:t>
            </a:r>
            <a:endParaRPr lang="fr-FR" sz="6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Verdana" panose="020B0604030504040204" pitchFamily="34" charset="0"/>
              <a:buChar char="-"/>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bouche</a:t>
            </a:r>
            <a:endParaRPr lang="fr-FR" sz="6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Verdana" panose="020B0604030504040204" pitchFamily="34" charset="0"/>
              <a:buChar char="-"/>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l’oreille</a:t>
            </a:r>
            <a:endParaRPr lang="fr-FR" sz="62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0000"/>
              </a:lnSpc>
              <a:spcAft>
                <a:spcPts val="1000"/>
              </a:spcAft>
              <a:buNone/>
            </a:pPr>
            <a:r>
              <a:rPr lang="fr-FR" sz="6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ainsi obtenue est dite température des cavités naturelles</a:t>
            </a:r>
            <a:r>
              <a:rPr lang="fr-FR" sz="6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sz="6200" dirty="0">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2737211862"/>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1D8436-7432-4698-9381-E15AB3BF56A7}"/>
              </a:ext>
            </a:extLst>
          </p:cNvPr>
          <p:cNvSpPr>
            <a:spLocks noGrp="1"/>
          </p:cNvSpPr>
          <p:nvPr>
            <p:ph type="title"/>
          </p:nvPr>
        </p:nvSpPr>
        <p:spPr>
          <a:xfrm>
            <a:off x="1429556" y="70318"/>
            <a:ext cx="10100814" cy="264533"/>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76E3421F-6BF1-4D2B-B78E-735D2DA772E9}"/>
              </a:ext>
            </a:extLst>
          </p:cNvPr>
          <p:cNvSpPr>
            <a:spLocks noGrp="1"/>
          </p:cNvSpPr>
          <p:nvPr>
            <p:ph idx="1"/>
          </p:nvPr>
        </p:nvSpPr>
        <p:spPr>
          <a:xfrm>
            <a:off x="180305" y="515155"/>
            <a:ext cx="12011695" cy="5808372"/>
          </a:xfrm>
        </p:spPr>
        <p:txBody>
          <a:bodyPr>
            <a:normAutofit fontScale="25000" lnSpcReduction="20000"/>
          </a:bodyPr>
          <a:lstStyle/>
          <a:p>
            <a:pPr lvl="0" algn="just">
              <a:lnSpc>
                <a:spcPct val="120000"/>
              </a:lnSpc>
              <a:spcAft>
                <a:spcPts val="1000"/>
              </a:spcAft>
              <a:buFont typeface="Wingdings" panose="05000000000000000000" pitchFamily="2" charset="2"/>
              <a:buChar char="v"/>
            </a:pPr>
            <a:r>
              <a:rPr lang="fr-FR" sz="112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En </a:t>
            </a:r>
            <a:r>
              <a:rPr lang="fr-FR" sz="11200" b="1"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surface du corps:</a:t>
            </a:r>
          </a:p>
          <a:p>
            <a:pPr marL="342900" lvl="0" indent="-342900" algn="just">
              <a:lnSpc>
                <a:spcPct val="120000"/>
              </a:lnSpc>
              <a:spcAft>
                <a:spcPts val="1000"/>
              </a:spcAft>
              <a:buFont typeface="Verdana" panose="020B0604030504040204" pitchFamily="34"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front</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creux axillaire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région sous mammaire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région inguinale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pli du coude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creux du genou</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0000"/>
              </a:lnSpc>
              <a:spcAft>
                <a:spcPts val="1000"/>
              </a:spcAft>
              <a:buNone/>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ainsi obtenue est dite température des surfaces cutanées</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endParaRPr lang="fr-FR" dirty="0"/>
          </a:p>
        </p:txBody>
      </p:sp>
    </p:spTree>
    <p:extLst>
      <p:ext uri="{BB962C8B-B14F-4D97-AF65-F5344CB8AC3E}">
        <p14:creationId xmlns:p14="http://schemas.microsoft.com/office/powerpoint/2010/main" val="3140886480"/>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007568-572E-4688-B7DC-C8A1A01A1E8A}"/>
              </a:ext>
            </a:extLst>
          </p:cNvPr>
          <p:cNvSpPr>
            <a:spLocks noGrp="1"/>
          </p:cNvSpPr>
          <p:nvPr>
            <p:ph type="title"/>
          </p:nvPr>
        </p:nvSpPr>
        <p:spPr>
          <a:xfrm>
            <a:off x="1429555" y="96076"/>
            <a:ext cx="9984905" cy="882718"/>
          </a:xfrm>
        </p:spPr>
        <p:txBody>
          <a:bodyPr>
            <a:normAutofit fontScale="90000"/>
          </a:bodyPr>
          <a:lstStyle/>
          <a:p>
            <a:r>
              <a:rPr lang="fr-FR" sz="3100" b="1" dirty="0">
                <a:solidFill>
                  <a:srgbClr val="FF0000"/>
                </a:solidFill>
                <a:effectLst/>
                <a:ea typeface="Times New Roman" panose="02020603050405020304" pitchFamily="18" charset="0"/>
                <a:cs typeface="Times New Roman" panose="02020603050405020304" pitchFamily="18" charset="0"/>
              </a:rPr>
              <a:t>V- LES TECHNIQUES DE PRISE DE TEMPERATURE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BE413C5A-E6E8-4918-8A7B-5ABE586FDDAF}"/>
              </a:ext>
            </a:extLst>
          </p:cNvPr>
          <p:cNvSpPr>
            <a:spLocks noGrp="1"/>
          </p:cNvSpPr>
          <p:nvPr>
            <p:ph idx="1"/>
          </p:nvPr>
        </p:nvSpPr>
        <p:spPr>
          <a:xfrm>
            <a:off x="0" y="792657"/>
            <a:ext cx="12192000" cy="5569505"/>
          </a:xfrm>
        </p:spPr>
        <p:txBody>
          <a:bodyPr>
            <a:normAutofit fontScale="25000" lnSpcReduction="20000"/>
          </a:bodyPr>
          <a:lstStyle/>
          <a:p>
            <a:pPr marL="457200" lvl="1" indent="0" algn="just">
              <a:lnSpc>
                <a:spcPct val="125000"/>
              </a:lnSpc>
              <a:spcAft>
                <a:spcPts val="1000"/>
              </a:spcAft>
              <a:buNone/>
              <a:tabLst>
                <a:tab pos="457200" algn="l"/>
              </a:tabLst>
            </a:pPr>
            <a:r>
              <a:rPr lang="fr-FR" sz="128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5-1 </a:t>
            </a:r>
            <a:r>
              <a:rPr lang="fr-FR" sz="12800" b="1"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a:t>
            </a:r>
            <a:r>
              <a:rPr lang="fr-FR" sz="128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axillaire </a:t>
            </a:r>
            <a:r>
              <a:rPr lang="fr-FR" sz="128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(1/2)</a:t>
            </a:r>
            <a:endParaRPr lang="fr-FR" sz="128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lvl="0" indent="0" algn="just">
              <a:lnSpc>
                <a:spcPct val="120000"/>
              </a:lnSpc>
              <a:spcAft>
                <a:spcPts val="1000"/>
              </a:spcAft>
              <a:buNone/>
            </a:pP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Si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un thermomètre  médical  à mercure, faire descendre le mercure dans la cuvette en le secouant ; </a:t>
            </a:r>
            <a:endPar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0" lvl="0" indent="0" algn="just">
              <a:lnSpc>
                <a:spcPct val="120000"/>
              </a:lnSpc>
              <a:spcAft>
                <a:spcPts val="1000"/>
              </a:spcAft>
              <a:buNone/>
            </a:pP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Si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un thermomètre </a:t>
            </a: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électronique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a:t>
            </a: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mettre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à </a:t>
            </a: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zéro</a:t>
            </a:r>
            <a:endParaRPr lang="fr-FR" sz="104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0400" dirty="0">
                <a:solidFill>
                  <a:srgbClr val="000000"/>
                </a:solidFill>
                <a:latin typeface="Arial Black" panose="020B0A04020102020204" pitchFamily="34" charset="0"/>
                <a:ea typeface="Times New Roman" panose="02020603050405020304" pitchFamily="18" charset="0"/>
                <a:cs typeface="Arial" panose="020B0604020202020204" pitchFamily="34" charset="0"/>
              </a:rPr>
              <a:t>t</a:t>
            </a:r>
            <a:r>
              <a:rPr lang="fr-FR" sz="104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amponner </a:t>
            </a: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l’aisselle avec du coton ou une compresse pour enlever la sueur,</a:t>
            </a:r>
            <a:endParaRPr lang="fr-FR" sz="104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installer le malade (coucher sur le dos ou sur le côté), </a:t>
            </a:r>
            <a:endParaRPr lang="fr-FR" sz="104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04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placer la cuvette du thermomètre au creux de l’aisselle et serrer le bras sur le thermomètre contre le thorax</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endParaRPr lang="fr-FR" dirty="0"/>
          </a:p>
        </p:txBody>
      </p:sp>
    </p:spTree>
    <p:extLst>
      <p:ext uri="{BB962C8B-B14F-4D97-AF65-F5344CB8AC3E}">
        <p14:creationId xmlns:p14="http://schemas.microsoft.com/office/powerpoint/2010/main" val="3309649307"/>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B2473-C518-4882-AE09-D3C2F89FC642}"/>
              </a:ext>
            </a:extLst>
          </p:cNvPr>
          <p:cNvSpPr>
            <a:spLocks noGrp="1"/>
          </p:cNvSpPr>
          <p:nvPr>
            <p:ph type="title"/>
          </p:nvPr>
        </p:nvSpPr>
        <p:spPr>
          <a:xfrm>
            <a:off x="2592925" y="31682"/>
            <a:ext cx="8911687" cy="354684"/>
          </a:xfrm>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EFFB5F6F-99D1-4FA8-AC70-6EC4FA6BEC7F}"/>
              </a:ext>
            </a:extLst>
          </p:cNvPr>
          <p:cNvSpPr>
            <a:spLocks noGrp="1"/>
          </p:cNvSpPr>
          <p:nvPr>
            <p:ph idx="1"/>
          </p:nvPr>
        </p:nvSpPr>
        <p:spPr>
          <a:xfrm>
            <a:off x="-1" y="1222420"/>
            <a:ext cx="11990231" cy="4328890"/>
          </a:xfrm>
        </p:spPr>
        <p:txBody>
          <a:bodyPr>
            <a:normAutofit fontScale="25000" lnSpcReduction="20000"/>
          </a:bodyPr>
          <a:lstStyle/>
          <a:p>
            <a:pPr marL="342900" indent="-342900" algn="just">
              <a:lnSpc>
                <a:spcPct val="120000"/>
              </a:lnSpc>
              <a:spcAft>
                <a:spcPts val="1000"/>
              </a:spcAft>
              <a:buFont typeface="Stencil" panose="040409050D0802020404" pitchFamily="82" charset="0"/>
              <a:buChar char="-"/>
            </a:pPr>
            <a:r>
              <a:rPr lang="fr-FR" sz="11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(2/2</a:t>
            </a:r>
            <a:r>
              <a:rPr lang="fr-FR" sz="11200"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endParaRPr lang="fr-FR" sz="11200" dirty="0">
              <a:solidFill>
                <a:srgbClr val="FF0000"/>
              </a:solidFill>
              <a:latin typeface="Arial Black" panose="020B0A04020102020204" pitchFamily="34" charset="0"/>
              <a:ea typeface="Times New Roman" panose="02020603050405020304" pitchFamily="18" charset="0"/>
              <a:cs typeface="Arial" panose="020B0604020202020204" pitchFamily="34" charset="0"/>
            </a:endParaRPr>
          </a:p>
          <a:p>
            <a:pPr marL="0" lvl="0" indent="0" algn="just">
              <a:lnSpc>
                <a:spcPct val="120000"/>
              </a:lnSpc>
              <a:spcAft>
                <a:spcPts val="1000"/>
              </a:spcAft>
              <a:buNone/>
            </a:pPr>
            <a:r>
              <a:rPr lang="fr-FR" sz="11200" dirty="0" smtClean="0">
                <a:solidFill>
                  <a:srgbClr val="000000"/>
                </a:solidFill>
                <a:latin typeface="Arial Black" panose="020B0A04020102020204" pitchFamily="34" charset="0"/>
                <a:ea typeface="Times New Roman" panose="02020603050405020304" pitchFamily="18" charset="0"/>
                <a:cs typeface="Arial" panose="020B0604020202020204" pitchFamily="34" charset="0"/>
              </a:rPr>
              <a:t>-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retirer </a:t>
            </a: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thermomètre au bout de 5 à 10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minutes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lire la température en inclinant de profil le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thermomètre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Ajouter 5/10</a:t>
            </a:r>
            <a:r>
              <a:rPr lang="fr-FR" sz="11200" baseline="30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ème</a:t>
            </a: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de degré pour obtenir la température des cavités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naturelles</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noter avec </a:t>
            </a:r>
            <a:r>
              <a:rPr lang="fr-FR" sz="112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un stylo bleu </a:t>
            </a: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sur la feuille de température ou la feuille de </a:t>
            </a:r>
            <a:r>
              <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surveillance</a:t>
            </a:r>
            <a:endParaRPr lang="fr-FR" sz="11200" dirty="0">
              <a:effectLst/>
              <a:latin typeface="Arial Black" panose="020B0A04020102020204" pitchFamily="34"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866939010"/>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685CCA-1F29-4EB9-9719-95028E87A9B7}"/>
              </a:ext>
            </a:extLst>
          </p:cNvPr>
          <p:cNvSpPr>
            <a:spLocks noGrp="1"/>
          </p:cNvSpPr>
          <p:nvPr>
            <p:ph type="title"/>
          </p:nvPr>
        </p:nvSpPr>
        <p:spPr>
          <a:xfrm>
            <a:off x="1519707" y="44561"/>
            <a:ext cx="9984905" cy="1280890"/>
          </a:xfrm>
        </p:spPr>
        <p:txBody>
          <a:bodyPr/>
          <a:lstStyle/>
          <a:p>
            <a:endParaRPr lang="fr-FR"/>
          </a:p>
        </p:txBody>
      </p:sp>
      <p:sp>
        <p:nvSpPr>
          <p:cNvPr id="3" name="Espace réservé du contenu 2">
            <a:extLst>
              <a:ext uri="{FF2B5EF4-FFF2-40B4-BE49-F238E27FC236}">
                <a16:creationId xmlns:a16="http://schemas.microsoft.com/office/drawing/2014/main" id="{07D0E0CD-1739-44DE-ADBF-AFBB53E966E6}"/>
              </a:ext>
            </a:extLst>
          </p:cNvPr>
          <p:cNvSpPr>
            <a:spLocks noGrp="1"/>
          </p:cNvSpPr>
          <p:nvPr>
            <p:ph idx="1"/>
          </p:nvPr>
        </p:nvSpPr>
        <p:spPr>
          <a:xfrm>
            <a:off x="231820" y="1325451"/>
            <a:ext cx="11272792" cy="3777622"/>
          </a:xfrm>
        </p:spPr>
        <p:txBody>
          <a:bodyPr>
            <a:normAutofit/>
          </a:bodyPr>
          <a:lstStyle/>
          <a:p>
            <a:pPr marL="0" indent="0">
              <a:buNone/>
            </a:pPr>
            <a:r>
              <a:rPr lang="fr-FR"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Contre-indications</a:t>
            </a:r>
            <a:r>
              <a:rPr lang="fr-FR" b="1" dirty="0">
                <a:solidFill>
                  <a:srgbClr val="000000"/>
                </a:solidFill>
                <a:effectLst/>
                <a:latin typeface="Arial Black" panose="020B0A04020102020204" pitchFamily="34" charset="0"/>
                <a:ea typeface="Times New Roman" panose="02020603050405020304" pitchFamily="18" charset="0"/>
              </a:rPr>
              <a:t> </a:t>
            </a:r>
            <a:r>
              <a:rPr lang="fr-FR" dirty="0">
                <a:solidFill>
                  <a:srgbClr val="000000"/>
                </a:solidFill>
                <a:effectLst/>
                <a:latin typeface="Arial Black" panose="020B0A04020102020204" pitchFamily="34" charset="0"/>
                <a:ea typeface="Times New Roman" panose="02020603050405020304" pitchFamily="18" charset="0"/>
              </a:rPr>
              <a:t>:</a:t>
            </a:r>
          </a:p>
          <a:p>
            <a:pPr>
              <a:buFont typeface="Wingdings" panose="05000000000000000000" pitchFamily="2" charset="2"/>
              <a:buChar char="ü"/>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personnes maigres </a:t>
            </a:r>
          </a:p>
          <a:p>
            <a:pPr>
              <a:buFont typeface="Wingdings" panose="05000000000000000000" pitchFamily="2" charset="2"/>
              <a:buChar char="ü"/>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nouveau-nés</a:t>
            </a:r>
          </a:p>
          <a:p>
            <a:pPr>
              <a:buFont typeface="Wingdings" panose="05000000000000000000" pitchFamily="2" charset="2"/>
              <a:buChar char="ü"/>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enfants</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2494120700"/>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9B9BF8-7AD7-4641-95FB-1A799011D829}"/>
              </a:ext>
            </a:extLst>
          </p:cNvPr>
          <p:cNvSpPr>
            <a:spLocks noGrp="1"/>
          </p:cNvSpPr>
          <p:nvPr>
            <p:ph type="title"/>
          </p:nvPr>
        </p:nvSpPr>
        <p:spPr>
          <a:xfrm>
            <a:off x="1390919" y="70318"/>
            <a:ext cx="10113694" cy="612262"/>
          </a:xfrm>
        </p:spPr>
        <p:txBody>
          <a:bodyPr/>
          <a:lstStyle/>
          <a:p>
            <a:endParaRPr lang="fr-FR" dirty="0"/>
          </a:p>
        </p:txBody>
      </p:sp>
      <p:sp>
        <p:nvSpPr>
          <p:cNvPr id="3" name="Espace réservé du contenu 2">
            <a:extLst>
              <a:ext uri="{FF2B5EF4-FFF2-40B4-BE49-F238E27FC236}">
                <a16:creationId xmlns:a16="http://schemas.microsoft.com/office/drawing/2014/main" id="{EF4A32AA-AC92-472F-AE38-64DA815B3B1A}"/>
              </a:ext>
            </a:extLst>
          </p:cNvPr>
          <p:cNvSpPr>
            <a:spLocks noGrp="1"/>
          </p:cNvSpPr>
          <p:nvPr>
            <p:ph idx="1"/>
          </p:nvPr>
        </p:nvSpPr>
        <p:spPr>
          <a:xfrm>
            <a:off x="0" y="682580"/>
            <a:ext cx="12192000" cy="5293218"/>
          </a:xfrm>
        </p:spPr>
        <p:txBody>
          <a:bodyPr>
            <a:noAutofit/>
          </a:bodyPr>
          <a:lstStyle/>
          <a:p>
            <a:pPr marL="457200" lvl="1" indent="0" algn="just">
              <a:lnSpc>
                <a:spcPct val="125000"/>
              </a:lnSpc>
              <a:spcAft>
                <a:spcPts val="1000"/>
              </a:spcAft>
              <a:buNone/>
              <a:tabLst>
                <a:tab pos="457200" algn="l"/>
              </a:tabLst>
            </a:pPr>
            <a:r>
              <a:rPr lang="fr-FR" sz="28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5- </a:t>
            </a:r>
            <a:r>
              <a:rPr lang="fr-FR" sz="2800" b="1"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2 La température </a:t>
            </a:r>
            <a:r>
              <a:rPr lang="fr-FR" sz="2800" b="1"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rectale </a:t>
            </a:r>
            <a:r>
              <a:rPr lang="fr-FR" sz="3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r>
              <a:rPr lang="fr-FR" sz="3200"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1/2</a:t>
            </a:r>
            <a:r>
              <a:rPr lang="fr-FR" sz="3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endParaRPr lang="fr-FR" sz="2800" b="1"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dirty="0" smtClean="0">
                <a:solidFill>
                  <a:srgbClr val="000000"/>
                </a:solidFill>
                <a:latin typeface="Arial Black" panose="020B0A04020102020204" pitchFamily="34" charset="0"/>
                <a:ea typeface="Times New Roman" panose="02020603050405020304" pitchFamily="18" charset="0"/>
                <a:cs typeface="Arial" panose="020B0604020202020204" pitchFamily="34" charset="0"/>
              </a:rPr>
              <a:t>S’</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assurer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qu’il n’a pas envie d’aller à la selle en ce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moment</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installer le malade sur le côté, la cuisse supérieure légèrement repliée sur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l’abdomen</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lvl="0" indent="0" algn="just">
              <a:lnSpc>
                <a:spcPct val="115000"/>
              </a:lnSpc>
              <a:spcAft>
                <a:spcPts val="1000"/>
              </a:spcAft>
              <a:buNone/>
            </a:pP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Si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le thermomètre médical faire descendre le mercure dans la cuvette en le secouant, si c’est un thermomètre électronique le mettre à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zéro</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lubrifier légèrement le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thermomètre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651828255"/>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F7E319-6014-4A67-89CF-29DCC4EF6C3B}"/>
              </a:ext>
            </a:extLst>
          </p:cNvPr>
          <p:cNvSpPr>
            <a:spLocks noGrp="1"/>
          </p:cNvSpPr>
          <p:nvPr>
            <p:ph type="title"/>
          </p:nvPr>
        </p:nvSpPr>
        <p:spPr>
          <a:xfrm>
            <a:off x="2605803" y="0"/>
            <a:ext cx="8911687" cy="592428"/>
          </a:xfrm>
        </p:spPr>
        <p:txBody>
          <a:bodyPr/>
          <a:lstStyle/>
          <a:p>
            <a:endParaRPr lang="fr-FR"/>
          </a:p>
        </p:txBody>
      </p:sp>
      <p:sp>
        <p:nvSpPr>
          <p:cNvPr id="3" name="Espace réservé du contenu 2">
            <a:extLst>
              <a:ext uri="{FF2B5EF4-FFF2-40B4-BE49-F238E27FC236}">
                <a16:creationId xmlns:a16="http://schemas.microsoft.com/office/drawing/2014/main" id="{FFBA7F3E-A8EF-4D9C-9530-901013115465}"/>
              </a:ext>
            </a:extLst>
          </p:cNvPr>
          <p:cNvSpPr>
            <a:spLocks noGrp="1"/>
          </p:cNvSpPr>
          <p:nvPr>
            <p:ph idx="1"/>
          </p:nvPr>
        </p:nvSpPr>
        <p:spPr>
          <a:xfrm>
            <a:off x="0" y="721217"/>
            <a:ext cx="12041746" cy="5215943"/>
          </a:xfrm>
        </p:spPr>
        <p:txBody>
          <a:bodyPr>
            <a:normAutofit fontScale="25000" lnSpcReduction="20000"/>
          </a:bodyPr>
          <a:lstStyle/>
          <a:p>
            <a:pPr marL="342900" indent="-342900" algn="just">
              <a:lnSpc>
                <a:spcPct val="115000"/>
              </a:lnSpc>
              <a:spcAft>
                <a:spcPts val="1000"/>
              </a:spcAft>
              <a:buFont typeface="Stencil" panose="040409050D0802020404" pitchFamily="82" charset="0"/>
              <a:buChar char="-"/>
            </a:pPr>
            <a:r>
              <a:rPr lang="fr-FR" sz="11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(2/2)</a:t>
            </a:r>
            <a:endParaRPr lang="fr-FR" sz="112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introduire </a:t>
            </a: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thermomètre dans l’anus et le pousser doucement dans le rectum </a:t>
            </a:r>
            <a:r>
              <a:rPr lang="fr-FR" sz="96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jusqu’à 4 cm </a:t>
            </a: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environ ; </a:t>
            </a:r>
            <a:endParaRPr lang="fr-FR" sz="96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si </a:t>
            </a: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malade sait le placer laisser le faire sous votre surveillance,</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laisser le thermomètre en place pendant 3 minutes,</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essuyer le tube de verre s’il est salle avec du coton imbibé d’eau savonneuse ou un antiseptique (dakin),</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lire la température en inclinant de profil le thermomètre,</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noter avec </a:t>
            </a:r>
            <a:r>
              <a:rPr lang="fr-FR" sz="96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un stylo bleu </a:t>
            </a: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sur la feuille de température ou la feuille de surveillance</a:t>
            </a:r>
            <a:endParaRPr lang="fr-FR" sz="9600" dirty="0">
              <a:latin typeface="Arial Black" panose="020B0A0402010202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3019759603"/>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C8086B-4371-4322-AD0B-FED0F24B3F87}"/>
              </a:ext>
            </a:extLst>
          </p:cNvPr>
          <p:cNvSpPr>
            <a:spLocks noGrp="1"/>
          </p:cNvSpPr>
          <p:nvPr>
            <p:ph type="title"/>
          </p:nvPr>
        </p:nvSpPr>
        <p:spPr>
          <a:xfrm>
            <a:off x="824248" y="18803"/>
            <a:ext cx="10693243" cy="638020"/>
          </a:xfrm>
        </p:spPr>
        <p:txBody>
          <a:bodyPr/>
          <a:lstStyle/>
          <a:p>
            <a:endParaRPr lang="fr-FR"/>
          </a:p>
        </p:txBody>
      </p:sp>
      <p:sp>
        <p:nvSpPr>
          <p:cNvPr id="3" name="Espace réservé du contenu 2">
            <a:extLst>
              <a:ext uri="{FF2B5EF4-FFF2-40B4-BE49-F238E27FC236}">
                <a16:creationId xmlns:a16="http://schemas.microsoft.com/office/drawing/2014/main" id="{900AE4D0-3767-4325-9311-0413FCBCA196}"/>
              </a:ext>
            </a:extLst>
          </p:cNvPr>
          <p:cNvSpPr>
            <a:spLocks noGrp="1"/>
          </p:cNvSpPr>
          <p:nvPr>
            <p:ph idx="1"/>
          </p:nvPr>
        </p:nvSpPr>
        <p:spPr>
          <a:xfrm>
            <a:off x="0" y="1270716"/>
            <a:ext cx="12192000" cy="4100290"/>
          </a:xfrm>
        </p:spPr>
        <p:txBody>
          <a:bodyPr>
            <a:normAutofit/>
          </a:bodyPr>
          <a:lstStyle/>
          <a:p>
            <a:pPr marL="0" indent="0" algn="just">
              <a:lnSpc>
                <a:spcPct val="125000"/>
              </a:lnSpc>
              <a:spcAft>
                <a:spcPts val="1000"/>
              </a:spcAft>
              <a:buNone/>
            </a:pP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Contre-indications </a:t>
            </a:r>
          </a:p>
          <a:p>
            <a:pPr marL="342900" lvl="0" indent="-342900" algn="just">
              <a:lnSpc>
                <a:spcPct val="12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Abcès de la région anale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Infection intestinale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Etranglement hémorroïdaire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Intervention sur le rectum</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262699274"/>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B38AB9-84EC-45AA-BE4C-7BC977965B7D}"/>
              </a:ext>
            </a:extLst>
          </p:cNvPr>
          <p:cNvSpPr>
            <a:spLocks noGrp="1"/>
          </p:cNvSpPr>
          <p:nvPr>
            <p:ph type="title"/>
          </p:nvPr>
        </p:nvSpPr>
        <p:spPr>
          <a:xfrm>
            <a:off x="1416677" y="0"/>
            <a:ext cx="10062178" cy="734096"/>
          </a:xfrm>
        </p:spPr>
        <p:txBody>
          <a:bodyPr>
            <a:normAutofit fontScale="90000"/>
          </a:bodyPr>
          <a:lstStyle/>
          <a:p>
            <a:r>
              <a:rPr lang="fr-FR" sz="3100" b="1" dirty="0">
                <a:solidFill>
                  <a:srgbClr val="000000"/>
                </a:solidFill>
                <a:effectLst/>
                <a:ea typeface="Times New Roman" panose="02020603050405020304" pitchFamily="18" charset="0"/>
                <a:cs typeface="Arial" panose="020B0604020202020204" pitchFamily="34" charset="0"/>
              </a:rPr>
              <a:t>La température buccale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744EA926-3336-4045-9B11-7ABD411869A5}"/>
              </a:ext>
            </a:extLst>
          </p:cNvPr>
          <p:cNvSpPr>
            <a:spLocks noGrp="1"/>
          </p:cNvSpPr>
          <p:nvPr>
            <p:ph idx="1"/>
          </p:nvPr>
        </p:nvSpPr>
        <p:spPr>
          <a:xfrm>
            <a:off x="120770" y="1165659"/>
            <a:ext cx="12071230" cy="4836411"/>
          </a:xfrm>
        </p:spPr>
        <p:txBody>
          <a:bodyPr>
            <a:noAutofit/>
          </a:bodyPr>
          <a:lstStyle/>
          <a:p>
            <a:pPr marL="800100" lvl="1" indent="-342900" algn="just">
              <a:lnSpc>
                <a:spcPct val="125000"/>
              </a:lnSpc>
              <a:spcAft>
                <a:spcPts val="1000"/>
              </a:spcAft>
              <a:buFont typeface="Wingdings" panose="05000000000000000000" pitchFamily="2" charset="2"/>
              <a:buChar char="v"/>
              <a:tabLst>
                <a:tab pos="457200" algn="l"/>
              </a:tabLs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Thermomètre </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sucette </a:t>
            </a:r>
            <a:r>
              <a:rPr lang="fr-FR" sz="3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r>
              <a:rPr lang="fr-FR" sz="3200" b="1" dirty="0">
                <a:solidFill>
                  <a:srgbClr val="FF0000"/>
                </a:solidFill>
                <a:latin typeface="Arial Black" panose="020B0A04020102020204" pitchFamily="34" charset="0"/>
                <a:ea typeface="Times New Roman" panose="02020603050405020304" pitchFamily="18" charset="0"/>
                <a:cs typeface="Arial" panose="020B0604020202020204" pitchFamily="34" charset="0"/>
              </a:rPr>
              <a:t>1/2</a:t>
            </a:r>
            <a:r>
              <a:rPr lang="fr-FR" sz="32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228606" indent="0" algn="just">
              <a:lnSpc>
                <a:spcPct val="120000"/>
              </a:lnSpc>
              <a:spcAft>
                <a:spcPts val="1000"/>
              </a:spcAft>
              <a:buNone/>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Surtout avec le thermomètre électronique à cause des accidents qui peuvent survenir avec le mercure. </a:t>
            </a:r>
            <a:endPar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228606" indent="0" algn="just">
              <a:lnSpc>
                <a:spcPct val="120000"/>
              </a:lnSpc>
              <a:spcAft>
                <a:spcPts val="1000"/>
              </a:spcAft>
              <a:buNone/>
            </a:pP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Il </a:t>
            </a: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ne doit pas se prendre immédiatement après le repas ou après la prise d’une boisson chaude ou froide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malade peut rester assis ou couché </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mettre le thermomètre à zéro</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757109886"/>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8691B7-3044-4100-A145-F62135543C31}"/>
              </a:ext>
            </a:extLst>
          </p:cNvPr>
          <p:cNvSpPr>
            <a:spLocks noGrp="1"/>
          </p:cNvSpPr>
          <p:nvPr>
            <p:ph type="title"/>
          </p:nvPr>
        </p:nvSpPr>
        <p:spPr>
          <a:xfrm>
            <a:off x="1390918" y="0"/>
            <a:ext cx="10113694" cy="522110"/>
          </a:xfrm>
        </p:spPr>
        <p:txBody>
          <a:bodyPr/>
          <a:lstStyle/>
          <a:p>
            <a:endParaRPr lang="fr-FR" dirty="0"/>
          </a:p>
        </p:txBody>
      </p:sp>
      <p:sp>
        <p:nvSpPr>
          <p:cNvPr id="3" name="Espace réservé du contenu 2">
            <a:extLst>
              <a:ext uri="{FF2B5EF4-FFF2-40B4-BE49-F238E27FC236}">
                <a16:creationId xmlns:a16="http://schemas.microsoft.com/office/drawing/2014/main" id="{FE091EC1-FE03-4D76-AC4E-EE4BAF06834E}"/>
              </a:ext>
            </a:extLst>
          </p:cNvPr>
          <p:cNvSpPr>
            <a:spLocks noGrp="1"/>
          </p:cNvSpPr>
          <p:nvPr>
            <p:ph idx="1"/>
          </p:nvPr>
        </p:nvSpPr>
        <p:spPr>
          <a:xfrm>
            <a:off x="128789" y="1193442"/>
            <a:ext cx="11951593" cy="5207357"/>
          </a:xfrm>
        </p:spPr>
        <p:txBody>
          <a:bodyPr>
            <a:normAutofit fontScale="47500" lnSpcReduction="20000"/>
          </a:bodyPr>
          <a:lstStyle/>
          <a:p>
            <a:pPr marL="457200" lvl="1" indent="0" algn="just">
              <a:lnSpc>
                <a:spcPct val="125000"/>
              </a:lnSpc>
              <a:spcAft>
                <a:spcPts val="1000"/>
              </a:spcAft>
              <a:buNone/>
              <a:tabLst>
                <a:tab pos="457200" algn="l"/>
              </a:tabLst>
            </a:pPr>
            <a:r>
              <a:rPr lang="fr-FR" sz="5800" b="1" dirty="0" smtClean="0">
                <a:solidFill>
                  <a:srgbClr val="FF0000"/>
                </a:solidFill>
                <a:latin typeface="Arial Black" panose="020B0A04020102020204" pitchFamily="34" charset="0"/>
                <a:ea typeface="Times New Roman" panose="02020603050405020304" pitchFamily="18" charset="0"/>
                <a:cs typeface="Arial" panose="020B0604020202020204" pitchFamily="34" charset="0"/>
              </a:rPr>
              <a:t>(2/2)</a:t>
            </a:r>
            <a:endParaRPr lang="fr-FR" sz="40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59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placer </a:t>
            </a: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l’extrémité du thermomètre sous la langue</a:t>
            </a:r>
            <a:endParaRPr lang="fr-FR" sz="59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malade doit s’abstenir de parler</a:t>
            </a:r>
            <a:endParaRPr lang="fr-FR" sz="59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laisser le thermomètre en place pendant 3 minutes</a:t>
            </a:r>
            <a:endParaRPr lang="fr-FR" sz="59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0000"/>
              </a:lnSpc>
              <a:spcAft>
                <a:spcPts val="1000"/>
              </a:spcAft>
              <a:buFont typeface="Stencil" panose="040409050D0802020404" pitchFamily="82" charset="0"/>
              <a:buChar char="-"/>
            </a:pP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retirer dès le signal sonore</a:t>
            </a:r>
            <a:endParaRPr lang="fr-FR" sz="5900" dirty="0">
              <a:effectLst/>
              <a:latin typeface="Arial Black" panose="020B0A04020102020204" pitchFamily="34" charset="0"/>
              <a:ea typeface="Times New Roman" panose="02020603050405020304" pitchFamily="18" charset="0"/>
              <a:cs typeface="Arial" panose="020B0604020202020204" pitchFamily="34" charset="0"/>
            </a:endParaRPr>
          </a:p>
          <a:p>
            <a:pPr>
              <a:lnSpc>
                <a:spcPct val="120000"/>
              </a:lnSpc>
            </a:pP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lire la température affichée et la notée avec un </a:t>
            </a:r>
            <a:r>
              <a:rPr lang="fr-FR" sz="5900"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stylo bleu </a:t>
            </a:r>
            <a:r>
              <a:rPr lang="fr-FR" sz="59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sur la feuille de température ou la feuille de surveillance</a:t>
            </a:r>
            <a:endParaRPr lang="fr-FR" sz="5900" dirty="0">
              <a:latin typeface="Arial Black" panose="020B0A0402010202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1369738116"/>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ECAB14-8C56-47BF-8807-F586056268AF}"/>
              </a:ext>
            </a:extLst>
          </p:cNvPr>
          <p:cNvSpPr>
            <a:spLocks noGrp="1"/>
          </p:cNvSpPr>
          <p:nvPr>
            <p:ph type="title"/>
          </p:nvPr>
        </p:nvSpPr>
        <p:spPr>
          <a:xfrm>
            <a:off x="2592925" y="342756"/>
            <a:ext cx="8911687" cy="407521"/>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55EA5CE1-027A-4420-9E3A-AA2D7201798B}"/>
              </a:ext>
            </a:extLst>
          </p:cNvPr>
          <p:cNvSpPr>
            <a:spLocks noGrp="1"/>
          </p:cNvSpPr>
          <p:nvPr>
            <p:ph idx="1"/>
          </p:nvPr>
        </p:nvSpPr>
        <p:spPr>
          <a:xfrm>
            <a:off x="0" y="931984"/>
            <a:ext cx="12025223" cy="5164016"/>
          </a:xfrm>
        </p:spPr>
        <p:txBody>
          <a:bodyPr>
            <a:normAutofit fontScale="25000" lnSpcReduction="20000"/>
          </a:bodyPr>
          <a:lstStyle/>
          <a:p>
            <a:pPr marL="0" indent="0" algn="just">
              <a:lnSpc>
                <a:spcPct val="125000"/>
              </a:lnSpc>
              <a:spcAft>
                <a:spcPts val="1000"/>
              </a:spcAft>
              <a:buNone/>
            </a:pPr>
            <a:r>
              <a:rPr lang="fr-FR" sz="11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Contre indications</a:t>
            </a:r>
            <a:r>
              <a:rPr lang="fr-FR" sz="11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 :</a:t>
            </a:r>
          </a:p>
          <a:p>
            <a:pPr marL="342900" lvl="0" indent="-342900" algn="just">
              <a:lnSpc>
                <a:spcPct val="12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Malade délirant</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Stencil" panose="040409050D0802020404" pitchFamily="82" charset="0"/>
              <a:buChar char="-"/>
            </a:pPr>
            <a:r>
              <a:rPr lang="fr-FR" sz="96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Enfant malade atteint de rhinite</a:t>
            </a:r>
            <a:endParaRPr lang="fr-FR" sz="96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11200" b="1" u="sng"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NB :</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noter avec un </a:t>
            </a:r>
            <a:r>
              <a:rPr lang="fr-FR" sz="11200" b="1"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stylo bleu </a:t>
            </a:r>
            <a:r>
              <a:rPr lang="fr-FR" sz="11200" b="1"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a:t>
            </a: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 sur la feuille de température ou la feuille de surveillance,</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Stencil" panose="040409050D0802020404" pitchFamily="82" charset="0"/>
              <a:buChar char="-"/>
            </a:pPr>
            <a:r>
              <a:rPr lang="fr-FR" sz="112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nettoyer méticuleusement le thermomètre avec du coton et de l’eau savonneuse ou un antiseptique le sécher et le ranger</a:t>
            </a:r>
            <a:endParaRPr lang="fr-FR" sz="11200" dirty="0">
              <a:effectLst/>
              <a:latin typeface="Arial Black" panose="020B0A04020102020204" pitchFamily="34" charset="0"/>
              <a:ea typeface="Times New Roman" panose="02020603050405020304" pitchFamily="18" charset="0"/>
              <a:cs typeface="Arial" panose="020B0604020202020204" pitchFamily="34" charset="0"/>
            </a:endParaRPr>
          </a:p>
          <a:p>
            <a:endParaRPr lang="fr-FR" dirty="0"/>
          </a:p>
        </p:txBody>
      </p:sp>
    </p:spTree>
    <p:extLst>
      <p:ext uri="{BB962C8B-B14F-4D97-AF65-F5344CB8AC3E}">
        <p14:creationId xmlns:p14="http://schemas.microsoft.com/office/powerpoint/2010/main" val="1671305253"/>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61506F-D8CB-4953-88A8-10B637E3390E}"/>
              </a:ext>
            </a:extLst>
          </p:cNvPr>
          <p:cNvSpPr>
            <a:spLocks noGrp="1"/>
          </p:cNvSpPr>
          <p:nvPr>
            <p:ph type="title"/>
          </p:nvPr>
        </p:nvSpPr>
        <p:spPr>
          <a:xfrm>
            <a:off x="1699846" y="96571"/>
            <a:ext cx="9769597" cy="677152"/>
          </a:xfrm>
        </p:spPr>
        <p:txBody>
          <a:bodyPr/>
          <a:lstStyle/>
          <a:p>
            <a:endParaRPr lang="fr-FR"/>
          </a:p>
        </p:txBody>
      </p:sp>
      <p:sp>
        <p:nvSpPr>
          <p:cNvPr id="3" name="Espace réservé du contenu 2">
            <a:extLst>
              <a:ext uri="{FF2B5EF4-FFF2-40B4-BE49-F238E27FC236}">
                <a16:creationId xmlns:a16="http://schemas.microsoft.com/office/drawing/2014/main" id="{B5140A14-E27C-4E1A-8C85-6B88402A5C9D}"/>
              </a:ext>
            </a:extLst>
          </p:cNvPr>
          <p:cNvSpPr>
            <a:spLocks noGrp="1"/>
          </p:cNvSpPr>
          <p:nvPr>
            <p:ph idx="1"/>
          </p:nvPr>
        </p:nvSpPr>
        <p:spPr>
          <a:xfrm>
            <a:off x="0" y="1307124"/>
            <a:ext cx="12192000" cy="4133490"/>
          </a:xfrm>
        </p:spPr>
        <p:txBody>
          <a:bodyPr>
            <a:normAutofit lnSpcReduction="10000"/>
          </a:bodyPr>
          <a:lstStyle/>
          <a:p>
            <a:pPr algn="just">
              <a:lnSpc>
                <a:spcPct val="11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Le thermomètre médical doit être individuel pour éviter les contaminations.</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1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Privilégier toujours la voie rectale s’il n’y a pas de contre indications à cette voie.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1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Faire toujours la communication pour le changement de comportement (C.C.C.) et le remercier avant de prendre congé de lui</a:t>
            </a:r>
            <a:r>
              <a:rPr lang="fr-FR"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295778882"/>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634F42-95DC-43F3-977D-3B94F2816CE3}"/>
              </a:ext>
            </a:extLst>
          </p:cNvPr>
          <p:cNvSpPr>
            <a:spLocks noGrp="1"/>
          </p:cNvSpPr>
          <p:nvPr>
            <p:ph type="title"/>
          </p:nvPr>
        </p:nvSpPr>
        <p:spPr>
          <a:xfrm>
            <a:off x="1617786" y="37956"/>
            <a:ext cx="9883114" cy="372352"/>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C1EEE908-A335-4392-B5B4-39877BD78A96}"/>
              </a:ext>
            </a:extLst>
          </p:cNvPr>
          <p:cNvSpPr>
            <a:spLocks noGrp="1"/>
          </p:cNvSpPr>
          <p:nvPr>
            <p:ph idx="1"/>
          </p:nvPr>
        </p:nvSpPr>
        <p:spPr>
          <a:xfrm>
            <a:off x="90073" y="1383323"/>
            <a:ext cx="11972973" cy="3777622"/>
          </a:xfrm>
        </p:spPr>
        <p:txBody>
          <a:bodyPr>
            <a:normAutofit lnSpcReduction="10000"/>
          </a:bodyPr>
          <a:lstStyle/>
          <a:p>
            <a:pPr>
              <a:buFont typeface="Wingdings" panose="05000000000000000000" pitchFamily="2" charset="2"/>
              <a:buChar char="v"/>
            </a:pP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CONCLUSION</a:t>
            </a:r>
            <a:endParaRPr lang="fr-FR" sz="3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15000"/>
              </a:lnSpc>
              <a:spcAft>
                <a:spcPts val="1000"/>
              </a:spcAft>
              <a:buNone/>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est un élément déterminant du diagnostic donc sa prise doit faire l’objet d’une attention particulière. C’est pourquoi, il est important de savoir utiliser le thermomètre et de connaître les différentes techniques de prise de la température</a:t>
            </a:r>
            <a:r>
              <a:rPr lang="fr-FR"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fr-FR" dirty="0">
              <a:effectLst/>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15000"/>
              </a:lnSpc>
              <a:spcAft>
                <a:spcPts val="1000"/>
              </a:spcAft>
              <a:buNone/>
            </a:pPr>
            <a:r>
              <a:rPr lang="fr-FR"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5681665"/>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C9404E-248C-4625-A2C7-E04755DC2E68}"/>
              </a:ext>
            </a:extLst>
          </p:cNvPr>
          <p:cNvSpPr>
            <a:spLocks noGrp="1"/>
          </p:cNvSpPr>
          <p:nvPr>
            <p:ph type="title"/>
          </p:nvPr>
        </p:nvSpPr>
        <p:spPr>
          <a:xfrm>
            <a:off x="2487418" y="0"/>
            <a:ext cx="8911687" cy="1280890"/>
          </a:xfrm>
        </p:spPr>
        <p:txBody>
          <a:bodyPr/>
          <a:lstStyle/>
          <a:p>
            <a:pPr algn="ctr"/>
            <a:r>
              <a:rPr lang="fr-FR" sz="4400" dirty="0">
                <a:solidFill>
                  <a:srgbClr val="FF0000"/>
                </a:solidFill>
                <a:effectLst/>
                <a:ea typeface="Times New Roman" panose="02020603050405020304" pitchFamily="18" charset="0"/>
                <a:cs typeface="Arial" panose="020B0604020202020204" pitchFamily="34" charset="0"/>
              </a:rPr>
              <a:t>LA TEMPERATURE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5D47B7C0-448B-4CCB-BAA4-7491470017EA}"/>
              </a:ext>
            </a:extLst>
          </p:cNvPr>
          <p:cNvSpPr>
            <a:spLocks noGrp="1"/>
          </p:cNvSpPr>
          <p:nvPr>
            <p:ph idx="1"/>
          </p:nvPr>
        </p:nvSpPr>
        <p:spPr>
          <a:xfrm>
            <a:off x="0" y="964367"/>
            <a:ext cx="12109938" cy="4511107"/>
          </a:xfrm>
        </p:spPr>
        <p:txBody>
          <a:bodyPr>
            <a:normAutofit fontScale="92500" lnSpcReduction="20000"/>
          </a:bodyPr>
          <a:lstStyle/>
          <a:p>
            <a:pPr marL="0" indent="0">
              <a:lnSpc>
                <a:spcPct val="125000"/>
              </a:lnSpc>
              <a:spcAft>
                <a:spcPts val="1000"/>
              </a:spcAft>
              <a:buNone/>
            </a:pPr>
            <a:r>
              <a:rPr lang="fr-FR" sz="3200" b="1" dirty="0" smtClean="0">
                <a:effectLst/>
                <a:latin typeface="Arial Black" panose="020B0A04020102020204" pitchFamily="34" charset="0"/>
                <a:ea typeface="Times New Roman" panose="02020603050405020304" pitchFamily="18" charset="0"/>
                <a:cs typeface="Times New Roman" panose="02020603050405020304" pitchFamily="18" charset="0"/>
              </a:rPr>
              <a:t>            INTRODUCTION</a:t>
            </a:r>
            <a:endParaRPr lang="fr-FR" sz="3200" dirty="0">
              <a:effectLst/>
              <a:latin typeface="Arial Black" panose="020B0A04020102020204" pitchFamily="34" charset="0"/>
              <a:ea typeface="Times New Roman" panose="02020603050405020304" pitchFamily="18" charset="0"/>
              <a:cs typeface="Times New Roman" panose="02020603050405020304" pitchFamily="18" charset="0"/>
            </a:endParaRPr>
          </a:p>
          <a:p>
            <a:pPr marL="0" indent="0" algn="just">
              <a:lnSpc>
                <a:spcPct val="125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La température est une grandeur physique qui mesure le degré de chaleur d'un corps ou d'un milieu</a:t>
            </a:r>
            <a:endParaRPr lang="fr-FR" dirty="0">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25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Lorsque deux corps sont placés dans une enceinte adiabatique, le corps le plus chaud cède de la chaleur au corps le plus froid, jusqu'à ce que les deux corps aient la même température (équilibre thermique)</a:t>
            </a:r>
          </a:p>
          <a:p>
            <a:pPr marL="0" indent="0" algn="just">
              <a:lnSpc>
                <a:spcPct val="125000"/>
              </a:lnSpc>
              <a:spcAft>
                <a:spcPts val="1000"/>
              </a:spcAft>
              <a:buNone/>
            </a:pPr>
            <a:r>
              <a:rPr lang="fr-FR" dirty="0">
                <a:effectLst/>
                <a:latin typeface="Arial Black" panose="020B0A04020102020204" pitchFamily="34" charset="0"/>
                <a:ea typeface="Times New Roman" panose="02020603050405020304" pitchFamily="18" charset="0"/>
                <a:cs typeface="Arial" panose="020B0604020202020204" pitchFamily="34" charset="0"/>
              </a:rPr>
              <a:t>La température se mesure à l’aide d’un thermomètre</a:t>
            </a:r>
          </a:p>
          <a:p>
            <a:pPr marL="0" indent="0" algn="just">
              <a:lnSpc>
                <a:spcPct val="125000"/>
              </a:lnSpc>
              <a:spcAft>
                <a:spcPts val="1000"/>
              </a:spcAft>
              <a:buNone/>
            </a:pPr>
            <a:endParaRPr lang="fr-FR" dirty="0"/>
          </a:p>
        </p:txBody>
      </p:sp>
    </p:spTree>
    <p:extLst>
      <p:ext uri="{BB962C8B-B14F-4D97-AF65-F5344CB8AC3E}">
        <p14:creationId xmlns:p14="http://schemas.microsoft.com/office/powerpoint/2010/main" val="30748848"/>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794715" y="231820"/>
            <a:ext cx="5859888" cy="5988675"/>
          </a:xfrm>
          <a:prstGeom prst="rect">
            <a:avLst/>
          </a:prstGeom>
        </p:spPr>
      </p:pic>
    </p:spTree>
    <p:extLst>
      <p:ext uri="{BB962C8B-B14F-4D97-AF65-F5344CB8AC3E}">
        <p14:creationId xmlns:p14="http://schemas.microsoft.com/office/powerpoint/2010/main" val="1813632996"/>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0EADFF-F0C3-43BF-A153-F355AB18019C}"/>
              </a:ext>
            </a:extLst>
          </p:cNvPr>
          <p:cNvSpPr>
            <a:spLocks noGrp="1"/>
          </p:cNvSpPr>
          <p:nvPr>
            <p:ph type="title"/>
          </p:nvPr>
        </p:nvSpPr>
        <p:spPr>
          <a:xfrm>
            <a:off x="2510863" y="26233"/>
            <a:ext cx="8911687" cy="677152"/>
          </a:xfrm>
        </p:spPr>
        <p:txBody>
          <a:bodyPr/>
          <a:lstStyle/>
          <a:p>
            <a:endParaRPr lang="fr-FR"/>
          </a:p>
        </p:txBody>
      </p:sp>
      <p:sp>
        <p:nvSpPr>
          <p:cNvPr id="3" name="Espace réservé du contenu 2">
            <a:extLst>
              <a:ext uri="{FF2B5EF4-FFF2-40B4-BE49-F238E27FC236}">
                <a16:creationId xmlns:a16="http://schemas.microsoft.com/office/drawing/2014/main" id="{7B2F1587-7623-47A6-A0EE-9AFEB9E818EE}"/>
              </a:ext>
            </a:extLst>
          </p:cNvPr>
          <p:cNvSpPr>
            <a:spLocks noGrp="1"/>
          </p:cNvSpPr>
          <p:nvPr>
            <p:ph idx="1"/>
          </p:nvPr>
        </p:nvSpPr>
        <p:spPr>
          <a:xfrm>
            <a:off x="0" y="1283677"/>
            <a:ext cx="12192000" cy="4824046"/>
          </a:xfrm>
        </p:spPr>
        <p:txBody>
          <a:bodyPr>
            <a:normAutofit fontScale="25000" lnSpcReduction="20000"/>
          </a:bodyPr>
          <a:lstStyle/>
          <a:p>
            <a:pPr marL="342900" lvl="0" indent="-342900" algn="just">
              <a:lnSpc>
                <a:spcPct val="125000"/>
              </a:lnSpc>
              <a:spcAft>
                <a:spcPts val="1000"/>
              </a:spcAft>
              <a:buFont typeface="+mj-lt"/>
              <a:buAutoNum type="romanUcPeriod"/>
              <a:tabLst>
                <a:tab pos="558800" algn="l"/>
              </a:tabLst>
            </a:pPr>
            <a:r>
              <a:rPr lang="fr-FR" sz="80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DEFINITION</a:t>
            </a:r>
            <a:r>
              <a:rPr lang="fr-FR" sz="8000" b="1" u="sng"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 </a:t>
            </a:r>
            <a:endParaRPr lang="fr-FR" sz="80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p>
            <a:pPr marL="0" indent="0" algn="just">
              <a:lnSpc>
                <a:spcPct val="125000"/>
              </a:lnSpc>
              <a:spcAft>
                <a:spcPts val="1000"/>
              </a:spcAft>
              <a:buNone/>
            </a:pPr>
            <a:r>
              <a:rPr lang="fr-FR" sz="8000" dirty="0">
                <a:effectLst/>
                <a:latin typeface="Arial Black" panose="020B0A04020102020204" pitchFamily="34" charset="0"/>
                <a:ea typeface="Times New Roman" panose="02020603050405020304" pitchFamily="18" charset="0"/>
                <a:cs typeface="Arial" panose="020B0604020202020204" pitchFamily="34" charset="0"/>
              </a:rPr>
              <a:t>La température du corps humain est le degré de chaleur stocké par l’organisme </a:t>
            </a:r>
          </a:p>
          <a:p>
            <a:pPr marL="0" indent="0" algn="just">
              <a:lnSpc>
                <a:spcPct val="125000"/>
              </a:lnSpc>
              <a:spcAft>
                <a:spcPts val="1000"/>
              </a:spcAft>
              <a:buNone/>
            </a:pPr>
            <a:r>
              <a:rPr lang="fr-FR" sz="8000" dirty="0">
                <a:effectLst/>
                <a:latin typeface="Arial Black" panose="020B0A04020102020204" pitchFamily="34" charset="0"/>
                <a:ea typeface="Times New Roman" panose="02020603050405020304" pitchFamily="18" charset="0"/>
                <a:cs typeface="Arial" panose="020B0604020202020204" pitchFamily="34" charset="0"/>
              </a:rPr>
              <a:t>Elle est soit :</a:t>
            </a:r>
          </a:p>
          <a:p>
            <a:pPr marL="342900" lvl="0" indent="-342900" algn="just">
              <a:lnSpc>
                <a:spcPct val="125000"/>
              </a:lnSpc>
              <a:spcAft>
                <a:spcPts val="1000"/>
              </a:spcAft>
              <a:buFont typeface="Times New Roman" panose="02020603050405020304" pitchFamily="18" charset="0"/>
              <a:buChar char="-"/>
              <a:tabLst>
                <a:tab pos="457200" algn="l"/>
              </a:tabLst>
            </a:pPr>
            <a:r>
              <a:rPr lang="fr-FR" sz="8000" b="1" dirty="0">
                <a:effectLst/>
                <a:latin typeface="Arial Black" panose="020B0A04020102020204" pitchFamily="34" charset="0"/>
                <a:ea typeface="Times New Roman" panose="02020603050405020304" pitchFamily="18" charset="0"/>
                <a:cs typeface="Arial" panose="020B0604020202020204" pitchFamily="34" charset="0"/>
              </a:rPr>
              <a:t>physiologique </a:t>
            </a:r>
            <a:r>
              <a:rPr lang="fr-FR" sz="8000" dirty="0">
                <a:effectLst/>
                <a:latin typeface="Arial Black" panose="020B0A04020102020204" pitchFamily="34" charset="0"/>
                <a:ea typeface="Times New Roman" panose="02020603050405020304" pitchFamily="18" charset="0"/>
                <a:cs typeface="Arial" panose="020B0604020202020204" pitchFamily="34" charset="0"/>
              </a:rPr>
              <a:t>: normale</a:t>
            </a:r>
          </a:p>
          <a:p>
            <a:pPr marL="342900" lvl="0" indent="-342900" algn="just">
              <a:lnSpc>
                <a:spcPct val="125000"/>
              </a:lnSpc>
              <a:spcAft>
                <a:spcPts val="1000"/>
              </a:spcAft>
              <a:buFont typeface="Times New Roman" panose="02020603050405020304" pitchFamily="18" charset="0"/>
              <a:buChar char="-"/>
              <a:tabLst>
                <a:tab pos="457200" algn="l"/>
              </a:tabLst>
            </a:pPr>
            <a:r>
              <a:rPr lang="fr-FR" sz="8000" b="1" dirty="0">
                <a:effectLst/>
                <a:latin typeface="Arial Black" panose="020B0A04020102020204" pitchFamily="34" charset="0"/>
                <a:ea typeface="Times New Roman" panose="02020603050405020304" pitchFamily="18" charset="0"/>
                <a:cs typeface="Arial" panose="020B0604020202020204" pitchFamily="34" charset="0"/>
              </a:rPr>
              <a:t>pathologique</a:t>
            </a:r>
            <a:r>
              <a:rPr lang="fr-FR" sz="8000" dirty="0">
                <a:effectLst/>
                <a:latin typeface="Arial Black" panose="020B0A04020102020204" pitchFamily="34" charset="0"/>
                <a:ea typeface="Times New Roman" panose="02020603050405020304" pitchFamily="18" charset="0"/>
                <a:cs typeface="Arial" panose="020B0604020202020204" pitchFamily="34" charset="0"/>
              </a:rPr>
              <a:t> : due à la maladie</a:t>
            </a:r>
          </a:p>
          <a:p>
            <a:pPr marL="0" indent="0" algn="just">
              <a:lnSpc>
                <a:spcPct val="125000"/>
              </a:lnSpc>
              <a:spcAft>
                <a:spcPts val="1000"/>
              </a:spcAft>
              <a:buNone/>
            </a:pPr>
            <a:r>
              <a:rPr lang="fr-FR" sz="8000" dirty="0">
                <a:effectLst/>
                <a:latin typeface="Arial Black" panose="020B0A04020102020204" pitchFamily="34" charset="0"/>
                <a:ea typeface="Times New Roman" panose="02020603050405020304" pitchFamily="18" charset="0"/>
                <a:cs typeface="Arial" panose="020B0604020202020204" pitchFamily="34" charset="0"/>
              </a:rPr>
              <a:t>La température se mesure à l’aide d’un thermomètre médical et s’exprime en degré Celsius (°c)</a:t>
            </a:r>
          </a:p>
          <a:p>
            <a:pPr marL="0" indent="0" algn="just">
              <a:lnSpc>
                <a:spcPct val="125000"/>
              </a:lnSpc>
              <a:spcAft>
                <a:spcPts val="1000"/>
              </a:spcAft>
              <a:buNone/>
            </a:pPr>
            <a:r>
              <a:rPr lang="fr-FR" sz="8000" dirty="0">
                <a:effectLst/>
                <a:latin typeface="Arial Black" panose="020B0A04020102020204" pitchFamily="34" charset="0"/>
                <a:ea typeface="Times New Roman" panose="02020603050405020304" pitchFamily="18" charset="0"/>
                <a:cs typeface="Arial" panose="020B0604020202020204" pitchFamily="34" charset="0"/>
              </a:rPr>
              <a:t>La température normale au repos se situe entre 36,5°C et 37 °C le matin et entre 37°C et 37°5 le soir</a:t>
            </a:r>
          </a:p>
          <a:p>
            <a:pPr marL="0" indent="0">
              <a:buNone/>
            </a:pPr>
            <a:endParaRPr lang="fr-FR" dirty="0"/>
          </a:p>
        </p:txBody>
      </p:sp>
    </p:spTree>
    <p:extLst>
      <p:ext uri="{BB962C8B-B14F-4D97-AF65-F5344CB8AC3E}">
        <p14:creationId xmlns:p14="http://schemas.microsoft.com/office/powerpoint/2010/main" val="3317721301"/>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C43791-A5FA-429D-ABC1-7801DE4A65C7}"/>
              </a:ext>
            </a:extLst>
          </p:cNvPr>
          <p:cNvSpPr>
            <a:spLocks noGrp="1"/>
          </p:cNvSpPr>
          <p:nvPr>
            <p:ph type="title"/>
          </p:nvPr>
        </p:nvSpPr>
        <p:spPr>
          <a:xfrm>
            <a:off x="1711569" y="0"/>
            <a:ext cx="9793043" cy="1172308"/>
          </a:xfrm>
        </p:spPr>
        <p:txBody>
          <a:bodyPr>
            <a:normAutofit/>
          </a:bodyPr>
          <a:lstStyle/>
          <a:p>
            <a:r>
              <a:rPr lang="fr-FR" sz="3200" b="1" dirty="0">
                <a:solidFill>
                  <a:srgbClr val="FF0000"/>
                </a:solidFill>
                <a:effectLst/>
                <a:ea typeface="Times New Roman" panose="02020603050405020304" pitchFamily="18" charset="0"/>
                <a:cs typeface="Arial" panose="020B0604020202020204" pitchFamily="34" charset="0"/>
              </a:rPr>
              <a:t>II) LES VARIATIONS DE LA TEMPERATURE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8B7750D3-0D11-4D08-ACAD-5F253F16B34E}"/>
              </a:ext>
            </a:extLst>
          </p:cNvPr>
          <p:cNvSpPr>
            <a:spLocks noGrp="1"/>
          </p:cNvSpPr>
          <p:nvPr>
            <p:ph idx="1"/>
          </p:nvPr>
        </p:nvSpPr>
        <p:spPr>
          <a:xfrm>
            <a:off x="0" y="1312985"/>
            <a:ext cx="11305320" cy="3777622"/>
          </a:xfrm>
        </p:spPr>
        <p:txBody>
          <a:bodyPr/>
          <a:lstStyle/>
          <a:p>
            <a:pPr marL="457189" lvl="1" indent="0" algn="just">
              <a:lnSpc>
                <a:spcPct val="100000"/>
              </a:lnSpc>
              <a:spcAft>
                <a:spcPts val="1000"/>
              </a:spcAft>
              <a:buNone/>
            </a:pPr>
            <a:r>
              <a:rPr lang="fr-FR" sz="2800" dirty="0">
                <a:effectLst/>
                <a:latin typeface="Arial Black" panose="020B0A04020102020204" pitchFamily="34" charset="0"/>
                <a:ea typeface="Times New Roman" panose="02020603050405020304" pitchFamily="18" charset="0"/>
                <a:cs typeface="Arial" panose="020B0604020202020204" pitchFamily="34" charset="0"/>
              </a:rPr>
              <a:t>Elles sont de deux ordres :</a:t>
            </a:r>
          </a:p>
          <a:p>
            <a:pPr marL="800089" lvl="1" indent="-342900" algn="just">
              <a:lnSpc>
                <a:spcPct val="100000"/>
              </a:lnSpc>
              <a:spcAft>
                <a:spcPts val="1000"/>
              </a:spcAft>
              <a:buFont typeface="Times New Roman" panose="02020603050405020304" pitchFamily="18" charset="0"/>
              <a:buChar char="-"/>
              <a:tabLst>
                <a:tab pos="457200" algn="l"/>
              </a:tabLst>
            </a:pPr>
            <a:r>
              <a:rPr lang="fr-FR" sz="2800" dirty="0">
                <a:effectLst/>
                <a:latin typeface="Arial Black" panose="020B0A04020102020204" pitchFamily="34" charset="0"/>
                <a:ea typeface="Times New Roman" panose="02020603050405020304" pitchFamily="18" charset="0"/>
                <a:cs typeface="Arial" panose="020B0604020202020204" pitchFamily="34" charset="0"/>
              </a:rPr>
              <a:t>physiologiques</a:t>
            </a:r>
          </a:p>
          <a:p>
            <a:pPr marL="800089" lvl="1" indent="-342900" algn="just">
              <a:lnSpc>
                <a:spcPct val="100000"/>
              </a:lnSpc>
              <a:spcAft>
                <a:spcPts val="1000"/>
              </a:spcAft>
              <a:buFont typeface="Times New Roman" panose="02020603050405020304" pitchFamily="18" charset="0"/>
              <a:buChar char="-"/>
              <a:tabLst>
                <a:tab pos="457200" algn="l"/>
              </a:tabLst>
            </a:pPr>
            <a:r>
              <a:rPr lang="fr-FR" sz="2800" dirty="0">
                <a:effectLst/>
                <a:latin typeface="Arial Black" panose="020B0A04020102020204" pitchFamily="34" charset="0"/>
                <a:ea typeface="Times New Roman" panose="02020603050405020304" pitchFamily="18" charset="0"/>
                <a:cs typeface="Arial" panose="020B0604020202020204" pitchFamily="34" charset="0"/>
              </a:rPr>
              <a:t>pathologiques</a:t>
            </a:r>
          </a:p>
          <a:p>
            <a:pPr marL="0" indent="0">
              <a:buNone/>
            </a:pPr>
            <a:endParaRPr lang="fr-FR" dirty="0"/>
          </a:p>
        </p:txBody>
      </p:sp>
    </p:spTree>
    <p:extLst>
      <p:ext uri="{BB962C8B-B14F-4D97-AF65-F5344CB8AC3E}">
        <p14:creationId xmlns:p14="http://schemas.microsoft.com/office/powerpoint/2010/main" val="3546979936"/>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9ECC00-6D20-41D5-BC96-85C552672B1F}"/>
              </a:ext>
            </a:extLst>
          </p:cNvPr>
          <p:cNvSpPr>
            <a:spLocks noGrp="1"/>
          </p:cNvSpPr>
          <p:nvPr>
            <p:ph type="title"/>
          </p:nvPr>
        </p:nvSpPr>
        <p:spPr>
          <a:xfrm>
            <a:off x="1641231" y="96572"/>
            <a:ext cx="9828212" cy="688874"/>
          </a:xfrm>
        </p:spPr>
        <p:txBody>
          <a:bodyPr/>
          <a:lstStyle/>
          <a:p>
            <a:endParaRPr lang="fr-FR" dirty="0"/>
          </a:p>
        </p:txBody>
      </p:sp>
      <p:sp>
        <p:nvSpPr>
          <p:cNvPr id="3" name="Espace réservé du contenu 2">
            <a:extLst>
              <a:ext uri="{FF2B5EF4-FFF2-40B4-BE49-F238E27FC236}">
                <a16:creationId xmlns:a16="http://schemas.microsoft.com/office/drawing/2014/main" id="{6B02D809-0B6C-49EF-87B8-89D9E3D50035}"/>
              </a:ext>
            </a:extLst>
          </p:cNvPr>
          <p:cNvSpPr>
            <a:spLocks noGrp="1"/>
          </p:cNvSpPr>
          <p:nvPr>
            <p:ph idx="1"/>
          </p:nvPr>
        </p:nvSpPr>
        <p:spPr>
          <a:xfrm>
            <a:off x="0" y="978876"/>
            <a:ext cx="12085983" cy="5222631"/>
          </a:xfrm>
        </p:spPr>
        <p:txBody>
          <a:bodyPr>
            <a:noAutofit/>
          </a:bodyPr>
          <a:lstStyle/>
          <a:p>
            <a:pPr marL="1600200" lvl="3" indent="-228600" algn="just">
              <a:lnSpc>
                <a:spcPct val="100000"/>
              </a:lnSpc>
              <a:spcAft>
                <a:spcPts val="1000"/>
              </a:spcAft>
              <a:buFont typeface="+mj-lt"/>
              <a:buAutoNum type="arabicPeriod"/>
            </a:pPr>
            <a:r>
              <a:rPr lang="fr-FR" sz="2800" b="1" dirty="0">
                <a:effectLst/>
                <a:latin typeface="Arial Black" panose="020B0A04020102020204" pitchFamily="34" charset="0"/>
                <a:ea typeface="Times New Roman" panose="02020603050405020304" pitchFamily="18" charset="0"/>
                <a:cs typeface="Arial" panose="020B0604020202020204" pitchFamily="34" charset="0"/>
              </a:rPr>
              <a:t>Les variations physiologiques</a:t>
            </a:r>
            <a:endParaRPr lang="fr-FR" sz="28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lgn="just">
              <a:lnSpc>
                <a:spcPct val="100000"/>
              </a:lnSpc>
              <a:spcAft>
                <a:spcPts val="1000"/>
              </a:spcAft>
              <a:buNone/>
            </a:pPr>
            <a:r>
              <a:rPr lang="fr-FR" sz="2400" dirty="0">
                <a:effectLst/>
                <a:latin typeface="Arial Black" panose="020B0A04020102020204" pitchFamily="34" charset="0"/>
                <a:ea typeface="Times New Roman" panose="02020603050405020304" pitchFamily="18" charset="0"/>
                <a:cs typeface="Arial" panose="020B0604020202020204" pitchFamily="34" charset="0"/>
              </a:rPr>
              <a:t>Les variations physiologiques de la température sont dues à plusieurs facteurs :</a:t>
            </a:r>
          </a:p>
          <a:p>
            <a:pPr marL="342900" lvl="0" indent="-342900" algn="just">
              <a:lnSpc>
                <a:spcPct val="100000"/>
              </a:lnSpc>
              <a:spcAft>
                <a:spcPts val="1000"/>
              </a:spcAft>
              <a:buFont typeface="Times New Roman" panose="02020603050405020304" pitchFamily="18" charset="0"/>
              <a:buChar char="-"/>
              <a:tabLst>
                <a:tab pos="457200" algn="l"/>
              </a:tabLst>
            </a:pPr>
            <a:r>
              <a:rPr lang="fr-FR" sz="2400" b="1"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l’activité physique</a:t>
            </a:r>
            <a:r>
              <a:rPr lang="fr-FR" sz="2400" dirty="0">
                <a:effectLst/>
                <a:latin typeface="Arial Black" panose="020B0A04020102020204" pitchFamily="34" charset="0"/>
                <a:ea typeface="Times New Roman" panose="02020603050405020304" pitchFamily="18" charset="0"/>
                <a:cs typeface="Arial" panose="020B0604020202020204" pitchFamily="34" charset="0"/>
              </a:rPr>
              <a:t> : travail physique (effort musculaire), travail intellectuel,</a:t>
            </a:r>
          </a:p>
          <a:p>
            <a:pPr marL="342900" lvl="0" indent="-342900" algn="just">
              <a:lnSpc>
                <a:spcPct val="100000"/>
              </a:lnSpc>
              <a:spcAft>
                <a:spcPts val="1000"/>
              </a:spcAft>
              <a:buFont typeface="Times New Roman" panose="02020603050405020304" pitchFamily="18" charset="0"/>
              <a:buChar char="-"/>
              <a:tabLst>
                <a:tab pos="457200" algn="l"/>
              </a:tabLst>
            </a:pPr>
            <a:r>
              <a:rPr lang="fr-FR" sz="2400" b="1"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l’âge</a:t>
            </a:r>
            <a:r>
              <a:rPr lang="fr-FR" sz="2400" dirty="0">
                <a:effectLst/>
                <a:latin typeface="Arial Black" panose="020B0A04020102020204" pitchFamily="34" charset="0"/>
                <a:ea typeface="Times New Roman" panose="02020603050405020304" pitchFamily="18" charset="0"/>
                <a:cs typeface="Arial" panose="020B0604020202020204" pitchFamily="34" charset="0"/>
              </a:rPr>
              <a:t> (chez les enfants et prématurés on observe de grands écarts de température).</a:t>
            </a:r>
          </a:p>
          <a:p>
            <a:pPr marL="342900" lvl="0" indent="-342900" algn="just">
              <a:lnSpc>
                <a:spcPct val="100000"/>
              </a:lnSpc>
              <a:spcAft>
                <a:spcPts val="1000"/>
              </a:spcAft>
              <a:buFont typeface="Times New Roman" panose="02020603050405020304" pitchFamily="18" charset="0"/>
              <a:buChar char="-"/>
              <a:tabLst>
                <a:tab pos="457200" algn="l"/>
              </a:tabLst>
            </a:pPr>
            <a:r>
              <a:rPr lang="fr-FR" sz="2400" b="1"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le sexe</a:t>
            </a:r>
            <a:r>
              <a:rPr lang="fr-FR" sz="2400" dirty="0">
                <a:effectLst/>
                <a:latin typeface="Arial Black" panose="020B0A04020102020204" pitchFamily="34" charset="0"/>
                <a:ea typeface="Times New Roman" panose="02020603050405020304" pitchFamily="18" charset="0"/>
                <a:cs typeface="Arial" panose="020B0604020202020204" pitchFamily="34" charset="0"/>
              </a:rPr>
              <a:t> : la température augmente de 2 à 3 degrés lors de chaque cycle menstruel pendant la période d’ovulation.</a:t>
            </a:r>
          </a:p>
          <a:p>
            <a:pPr marL="0" indent="0">
              <a:lnSpc>
                <a:spcPct val="100000"/>
              </a:lnSpc>
              <a:buNone/>
            </a:pPr>
            <a:r>
              <a:rPr lang="fr-FR" sz="2400" dirty="0">
                <a:effectLst/>
                <a:latin typeface="Arial Black" panose="020B0A04020102020204" pitchFamily="34" charset="0"/>
                <a:ea typeface="Times New Roman" panose="02020603050405020304" pitchFamily="18" charset="0"/>
                <a:cs typeface="Arial" panose="020B0604020202020204" pitchFamily="34" charset="0"/>
              </a:rPr>
              <a:t>- </a:t>
            </a:r>
            <a:r>
              <a:rPr lang="fr-FR" sz="2400" b="1" dirty="0">
                <a:solidFill>
                  <a:schemeClr val="accent1"/>
                </a:solidFill>
                <a:effectLst/>
                <a:latin typeface="Arial Black" panose="020B0A04020102020204" pitchFamily="34" charset="0"/>
                <a:ea typeface="Times New Roman" panose="02020603050405020304" pitchFamily="18" charset="0"/>
                <a:cs typeface="Arial" panose="020B0604020202020204" pitchFamily="34" charset="0"/>
              </a:rPr>
              <a:t>la digestion</a:t>
            </a:r>
            <a:endParaRPr lang="fr-FR" sz="2400" b="1" dirty="0">
              <a:solidFill>
                <a:schemeClr val="accent1"/>
              </a:solidFill>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3630034027"/>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57F6AB-36D4-40BB-807D-D52C4022D66E}"/>
              </a:ext>
            </a:extLst>
          </p:cNvPr>
          <p:cNvSpPr>
            <a:spLocks noGrp="1"/>
          </p:cNvSpPr>
          <p:nvPr>
            <p:ph type="title"/>
          </p:nvPr>
        </p:nvSpPr>
        <p:spPr>
          <a:xfrm>
            <a:off x="2589212" y="0"/>
            <a:ext cx="8911687" cy="996462"/>
          </a:xfrm>
        </p:spPr>
        <p:txBody>
          <a:bodyPr/>
          <a:lstStyle/>
          <a:p>
            <a:endParaRPr lang="fr-FR"/>
          </a:p>
        </p:txBody>
      </p:sp>
      <p:sp>
        <p:nvSpPr>
          <p:cNvPr id="3" name="Espace réservé du contenu 2">
            <a:extLst>
              <a:ext uri="{FF2B5EF4-FFF2-40B4-BE49-F238E27FC236}">
                <a16:creationId xmlns:a16="http://schemas.microsoft.com/office/drawing/2014/main" id="{072673B6-B2CF-47A5-ACA6-65A28063D1F2}"/>
              </a:ext>
            </a:extLst>
          </p:cNvPr>
          <p:cNvSpPr>
            <a:spLocks noGrp="1"/>
          </p:cNvSpPr>
          <p:nvPr>
            <p:ph idx="1"/>
          </p:nvPr>
        </p:nvSpPr>
        <p:spPr>
          <a:xfrm>
            <a:off x="0" y="1277815"/>
            <a:ext cx="12051323" cy="3777622"/>
          </a:xfrm>
        </p:spPr>
        <p:txBody>
          <a:bodyPr/>
          <a:lstStyle/>
          <a:p>
            <a:pPr marL="1600200" lvl="3" indent="-228600" algn="just">
              <a:lnSpc>
                <a:spcPct val="125000"/>
              </a:lnSpc>
              <a:spcAft>
                <a:spcPts val="1000"/>
              </a:spcAft>
              <a:buFont typeface="+mj-lt"/>
              <a:buAutoNum type="arabicPeriod"/>
            </a:pPr>
            <a:r>
              <a:rPr lang="fr-FR" sz="3200" b="1" dirty="0">
                <a:effectLst/>
                <a:latin typeface="Arial Black" panose="020B0A04020102020204" pitchFamily="34" charset="0"/>
                <a:ea typeface="Times New Roman" panose="02020603050405020304" pitchFamily="18" charset="0"/>
                <a:cs typeface="Arial" panose="020B0604020202020204" pitchFamily="34" charset="0"/>
              </a:rPr>
              <a:t>Les variations pathologiques</a:t>
            </a:r>
            <a:endParaRPr lang="fr-FR" sz="3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Times New Roman" panose="02020603050405020304" pitchFamily="18" charset="0"/>
              <a:buChar char="-"/>
              <a:tabLst>
                <a:tab pos="457200" algn="l"/>
              </a:tabLst>
            </a:pPr>
            <a:r>
              <a:rPr lang="fr-FR"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L’hyperthermie : </a:t>
            </a:r>
            <a:r>
              <a:rPr lang="fr-FR" dirty="0">
                <a:effectLst/>
                <a:latin typeface="Arial Black" panose="020B0A04020102020204" pitchFamily="34" charset="0"/>
                <a:ea typeface="Times New Roman" panose="02020603050405020304" pitchFamily="18" charset="0"/>
                <a:cs typeface="Arial" panose="020B0604020202020204" pitchFamily="34" charset="0"/>
              </a:rPr>
              <a:t>C’est l’élévation de la température du corps au-dessus de 37,5°c</a:t>
            </a:r>
          </a:p>
          <a:p>
            <a:pPr marL="342900" lvl="0" indent="-342900" algn="just">
              <a:lnSpc>
                <a:spcPct val="125000"/>
              </a:lnSpc>
              <a:spcAft>
                <a:spcPts val="1000"/>
              </a:spcAft>
              <a:buFont typeface="Times New Roman" panose="02020603050405020304" pitchFamily="18" charset="0"/>
              <a:buChar char="-"/>
              <a:tabLst>
                <a:tab pos="457200" algn="l"/>
              </a:tabLst>
            </a:pPr>
            <a:r>
              <a:rPr lang="fr-FR"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L’Hypothermie : </a:t>
            </a:r>
            <a:r>
              <a:rPr lang="fr-FR" dirty="0">
                <a:effectLst/>
                <a:latin typeface="Arial Black" panose="020B0A04020102020204" pitchFamily="34" charset="0"/>
                <a:ea typeface="Times New Roman" panose="02020603050405020304" pitchFamily="18" charset="0"/>
                <a:cs typeface="Arial" panose="020B0604020202020204" pitchFamily="34" charset="0"/>
              </a:rPr>
              <a:t>baisse de la température du corps au dessous de 36,5°c</a:t>
            </a:r>
            <a:r>
              <a:rPr lang="fr-FR" dirty="0">
                <a:effectLst/>
                <a:latin typeface="Arial" panose="020B0604020202020204" pitchFamily="34" charset="0"/>
                <a:ea typeface="Times New Roman" panose="02020603050405020304" pitchFamily="18" charset="0"/>
                <a:cs typeface="Arial" panose="020B0604020202020204" pitchFamily="34" charset="0"/>
              </a:rPr>
              <a:t>.</a:t>
            </a:r>
          </a:p>
          <a:p>
            <a:pPr marL="0" indent="0">
              <a:buNone/>
            </a:pPr>
            <a:endParaRPr lang="fr-FR" dirty="0"/>
          </a:p>
        </p:txBody>
      </p:sp>
    </p:spTree>
    <p:extLst>
      <p:ext uri="{BB962C8B-B14F-4D97-AF65-F5344CB8AC3E}">
        <p14:creationId xmlns:p14="http://schemas.microsoft.com/office/powerpoint/2010/main" val="989708989"/>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A432C3-7217-42D2-8A8D-8F96E5934BF5}"/>
              </a:ext>
            </a:extLst>
          </p:cNvPr>
          <p:cNvSpPr>
            <a:spLocks noGrp="1"/>
          </p:cNvSpPr>
          <p:nvPr>
            <p:ph type="title"/>
          </p:nvPr>
        </p:nvSpPr>
        <p:spPr>
          <a:xfrm>
            <a:off x="1711569" y="105508"/>
            <a:ext cx="9793043" cy="1019907"/>
          </a:xfrm>
        </p:spPr>
        <p:txBody>
          <a:bodyPr>
            <a:normAutofit fontScale="90000"/>
          </a:bodyPr>
          <a:lstStyle/>
          <a:p>
            <a:pPr marL="1600200" lvl="3" indent="-228600">
              <a:lnSpc>
                <a:spcPct val="125000"/>
              </a:lnSpc>
              <a:spcAft>
                <a:spcPts val="1000"/>
              </a:spcAft>
            </a:pPr>
            <a:r>
              <a:rPr lang="fr-FR" sz="4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III) </a:t>
            </a:r>
            <a:r>
              <a:rPr lang="fr-FR" sz="4400" b="1" dirty="0" smtClean="0">
                <a:solidFill>
                  <a:srgbClr val="FF0000"/>
                </a:solidFill>
                <a:effectLst/>
                <a:latin typeface="Arial" panose="020B0604020202020204" pitchFamily="34" charset="0"/>
                <a:ea typeface="Times New Roman" panose="02020603050405020304" pitchFamily="18" charset="0"/>
                <a:cs typeface="Arial" panose="020B0604020202020204" pitchFamily="34" charset="0"/>
              </a:rPr>
              <a:t>RÔLE </a:t>
            </a:r>
            <a:r>
              <a:rPr lang="fr-FR" sz="4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 </a:t>
            </a:r>
            <a:r>
              <a:rPr lang="fr-FR" sz="4400" b="1" dirty="0" smtClean="0">
                <a:solidFill>
                  <a:srgbClr val="FF0000"/>
                </a:solidFill>
                <a:effectLst/>
                <a:latin typeface="Arial" panose="020B0604020202020204" pitchFamily="34" charset="0"/>
                <a:ea typeface="Times New Roman" panose="02020603050405020304" pitchFamily="18" charset="0"/>
                <a:cs typeface="Arial" panose="020B0604020202020204" pitchFamily="34" charset="0"/>
              </a:rPr>
              <a:t>L’AGENT DE SANTE </a:t>
            </a:r>
            <a:r>
              <a:rPr lang="fr-FR" sz="11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1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9B607684-8294-442B-B783-C6639008D7F4}"/>
              </a:ext>
            </a:extLst>
          </p:cNvPr>
          <p:cNvSpPr>
            <a:spLocks noGrp="1"/>
          </p:cNvSpPr>
          <p:nvPr>
            <p:ph idx="1"/>
          </p:nvPr>
        </p:nvSpPr>
        <p:spPr>
          <a:xfrm>
            <a:off x="0" y="1207476"/>
            <a:ext cx="12072730" cy="4970585"/>
          </a:xfrm>
        </p:spPr>
        <p:txBody>
          <a:bodyPr>
            <a:normAutofit lnSpcReduction="10000"/>
          </a:bodyPr>
          <a:lstStyle/>
          <a:p>
            <a:pPr marL="1600200" lvl="3" indent="-228600" algn="just">
              <a:lnSpc>
                <a:spcPct val="125000"/>
              </a:lnSpc>
              <a:spcAft>
                <a:spcPts val="1000"/>
              </a:spcAft>
              <a:buFont typeface="+mj-lt"/>
              <a:buAutoNum type="arabicPeriod"/>
            </a:pPr>
            <a:r>
              <a:rPr lang="fr-FR" sz="3000" b="1"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Hyperthermie</a:t>
            </a:r>
            <a:endParaRPr lang="fr-FR" sz="3000"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smtClean="0">
                <a:effectLst/>
                <a:latin typeface="Arial Black" panose="020B0A04020102020204" pitchFamily="34" charset="0"/>
                <a:ea typeface="Times New Roman" panose="02020603050405020304" pitchFamily="18" charset="0"/>
                <a:cs typeface="Arial" panose="020B0604020202020204" pitchFamily="34" charset="0"/>
              </a:rPr>
              <a:t>Prendre la température et la noter </a:t>
            </a: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smtClean="0">
                <a:effectLst/>
                <a:latin typeface="Arial Black" panose="020B0A04020102020204" pitchFamily="34" charset="0"/>
                <a:ea typeface="Times New Roman" panose="02020603050405020304" pitchFamily="18" charset="0"/>
                <a:cs typeface="Arial" panose="020B0604020202020204" pitchFamily="34" charset="0"/>
              </a:rPr>
              <a:t>Déshabiller </a:t>
            </a:r>
            <a:r>
              <a:rPr lang="fr-FR" sz="3000" dirty="0">
                <a:effectLst/>
                <a:latin typeface="Arial Black" panose="020B0A04020102020204" pitchFamily="34" charset="0"/>
                <a:ea typeface="Times New Roman" panose="02020603050405020304" pitchFamily="18" charset="0"/>
                <a:cs typeface="Arial" panose="020B0604020202020204" pitchFamily="34" charset="0"/>
              </a:rPr>
              <a:t>le malade</a:t>
            </a: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a:effectLst/>
                <a:latin typeface="Arial Black" panose="020B0A04020102020204" pitchFamily="34" charset="0"/>
                <a:ea typeface="Times New Roman" panose="02020603050405020304" pitchFamily="18" charset="0"/>
                <a:cs typeface="Arial" panose="020B0604020202020204" pitchFamily="34" charset="0"/>
              </a:rPr>
              <a:t>Faire un enveloppement humide</a:t>
            </a: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a:effectLst/>
                <a:latin typeface="Arial Black" panose="020B0A04020102020204" pitchFamily="34" charset="0"/>
                <a:ea typeface="Times New Roman" panose="02020603050405020304" pitchFamily="18" charset="0"/>
                <a:cs typeface="Arial" panose="020B0604020202020204" pitchFamily="34" charset="0"/>
              </a:rPr>
              <a:t>Lui donner à boire fréquemment</a:t>
            </a:r>
          </a:p>
          <a:p>
            <a:pPr marL="342900" lvl="0" indent="-342900" algn="just">
              <a:lnSpc>
                <a:spcPct val="110000"/>
              </a:lnSpc>
              <a:spcAft>
                <a:spcPts val="1000"/>
              </a:spcAft>
              <a:buFont typeface="Times New Roman" panose="02020603050405020304" pitchFamily="18" charset="0"/>
              <a:buChar char="-"/>
              <a:tabLst>
                <a:tab pos="457200" algn="l"/>
              </a:tabLst>
            </a:pPr>
            <a:r>
              <a:rPr lang="fr-FR" sz="3000" dirty="0">
                <a:effectLst/>
                <a:latin typeface="Arial Black" panose="020B0A04020102020204" pitchFamily="34" charset="0"/>
                <a:ea typeface="Times New Roman" panose="02020603050405020304" pitchFamily="18" charset="0"/>
                <a:cs typeface="Arial" panose="020B0604020202020204" pitchFamily="34" charset="0"/>
              </a:rPr>
              <a:t>Faire un bain avec de l’eau de réseau (ou à – 2°C de la température mesurée)</a:t>
            </a:r>
          </a:p>
          <a:p>
            <a:pPr marL="0" indent="0">
              <a:buNone/>
            </a:pPr>
            <a:endParaRPr lang="fr-FR" dirty="0"/>
          </a:p>
        </p:txBody>
      </p:sp>
    </p:spTree>
    <p:extLst>
      <p:ext uri="{BB962C8B-B14F-4D97-AF65-F5344CB8AC3E}">
        <p14:creationId xmlns:p14="http://schemas.microsoft.com/office/powerpoint/2010/main" val="3982378992"/>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DF3B54-7E4C-4FF6-92A1-51EBDB0458CB}"/>
              </a:ext>
            </a:extLst>
          </p:cNvPr>
          <p:cNvSpPr>
            <a:spLocks noGrp="1"/>
          </p:cNvSpPr>
          <p:nvPr>
            <p:ph type="title"/>
          </p:nvPr>
        </p:nvSpPr>
        <p:spPr>
          <a:xfrm>
            <a:off x="2581202" y="-93785"/>
            <a:ext cx="8911687" cy="738554"/>
          </a:xfrm>
        </p:spPr>
        <p:txBody>
          <a:bodyPr/>
          <a:lstStyle/>
          <a:p>
            <a:endParaRPr lang="fr-FR"/>
          </a:p>
        </p:txBody>
      </p:sp>
      <p:sp>
        <p:nvSpPr>
          <p:cNvPr id="3" name="Espace réservé du contenu 2">
            <a:extLst>
              <a:ext uri="{FF2B5EF4-FFF2-40B4-BE49-F238E27FC236}">
                <a16:creationId xmlns:a16="http://schemas.microsoft.com/office/drawing/2014/main" id="{60643AA0-DFA4-49AB-8F71-5E0952AA3473}"/>
              </a:ext>
            </a:extLst>
          </p:cNvPr>
          <p:cNvSpPr>
            <a:spLocks noGrp="1"/>
          </p:cNvSpPr>
          <p:nvPr>
            <p:ph idx="1"/>
          </p:nvPr>
        </p:nvSpPr>
        <p:spPr>
          <a:xfrm>
            <a:off x="0" y="1271954"/>
            <a:ext cx="12192000" cy="4328890"/>
          </a:xfrm>
        </p:spPr>
        <p:txBody>
          <a:bodyPr/>
          <a:lstStyle/>
          <a:p>
            <a:pPr marL="1371600" lvl="3" indent="0" algn="just">
              <a:lnSpc>
                <a:spcPct val="125000"/>
              </a:lnSpc>
              <a:spcAft>
                <a:spcPts val="1000"/>
              </a:spcAft>
              <a:buNone/>
            </a:pPr>
            <a:r>
              <a:rPr lang="fr-FR" sz="3200"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2- Hypothermie</a:t>
            </a:r>
            <a:endParaRPr lang="fr-FR" sz="32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Times New Roman" panose="02020603050405020304" pitchFamily="18" charset="0"/>
              <a:buChar char="-"/>
              <a:tabLst>
                <a:tab pos="4572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Prendre régulièrement la température et noter</a:t>
            </a:r>
          </a:p>
          <a:p>
            <a:pPr marL="342900" lvl="0" indent="-342900" algn="just">
              <a:lnSpc>
                <a:spcPct val="125000"/>
              </a:lnSpc>
              <a:spcAft>
                <a:spcPts val="1000"/>
              </a:spcAft>
              <a:buFont typeface="Times New Roman" panose="02020603050405020304" pitchFamily="18" charset="0"/>
              <a:buChar char="-"/>
              <a:tabLst>
                <a:tab pos="4572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Habiller chaudement le client et le couvrir</a:t>
            </a:r>
          </a:p>
          <a:p>
            <a:pPr marL="342900" lvl="0" indent="-342900" algn="just">
              <a:lnSpc>
                <a:spcPct val="125000"/>
              </a:lnSpc>
              <a:spcAft>
                <a:spcPts val="1000"/>
              </a:spcAft>
              <a:buFont typeface="Times New Roman" panose="02020603050405020304" pitchFamily="18" charset="0"/>
              <a:buChar char="-"/>
              <a:tabLst>
                <a:tab pos="4572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Mettre une bouillotte auprès du client</a:t>
            </a:r>
          </a:p>
          <a:p>
            <a:pPr marL="0" indent="0">
              <a:buNone/>
            </a:pPr>
            <a:endParaRPr lang="fr-FR" dirty="0"/>
          </a:p>
        </p:txBody>
      </p:sp>
    </p:spTree>
    <p:extLst>
      <p:ext uri="{BB962C8B-B14F-4D97-AF65-F5344CB8AC3E}">
        <p14:creationId xmlns:p14="http://schemas.microsoft.com/office/powerpoint/2010/main" val="4198322481"/>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A4571E-12C7-4916-BD1F-39F607E74632}"/>
              </a:ext>
            </a:extLst>
          </p:cNvPr>
          <p:cNvSpPr>
            <a:spLocks noGrp="1"/>
          </p:cNvSpPr>
          <p:nvPr>
            <p:ph type="title"/>
          </p:nvPr>
        </p:nvSpPr>
        <p:spPr>
          <a:xfrm>
            <a:off x="1582615" y="120018"/>
            <a:ext cx="10609385" cy="946782"/>
          </a:xfrm>
        </p:spPr>
        <p:txBody>
          <a:bodyPr>
            <a:normAutofit fontScale="90000"/>
          </a:bodyPr>
          <a:lstStyle/>
          <a:p>
            <a:r>
              <a:rPr lang="fr-FR" sz="40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LES METHODES DE CORRECTION THERMIQUE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5123B51B-1283-464B-8A6F-46F1C40B9575}"/>
              </a:ext>
            </a:extLst>
          </p:cNvPr>
          <p:cNvSpPr>
            <a:spLocks noGrp="1"/>
          </p:cNvSpPr>
          <p:nvPr>
            <p:ph idx="1"/>
          </p:nvPr>
        </p:nvSpPr>
        <p:spPr>
          <a:xfrm>
            <a:off x="0" y="1289539"/>
            <a:ext cx="12192000" cy="4900246"/>
          </a:xfrm>
        </p:spPr>
        <p:txBody>
          <a:bodyPr>
            <a:normAutofit fontScale="92500" lnSpcReduction="20000"/>
          </a:bodyPr>
          <a:lstStyle/>
          <a:p>
            <a:pPr marL="0" indent="0">
              <a:lnSpc>
                <a:spcPct val="125000"/>
              </a:lnSpc>
              <a:spcAft>
                <a:spcPts val="1000"/>
              </a:spcAft>
              <a:buNone/>
            </a:pPr>
            <a:r>
              <a:rPr lang="fr-FR" sz="3000" b="1" dirty="0" smtClean="0">
                <a:effectLst/>
                <a:latin typeface="Arial Black" panose="020B0A04020102020204" pitchFamily="34" charset="0"/>
                <a:ea typeface="Times New Roman" panose="02020603050405020304" pitchFamily="18" charset="0"/>
                <a:cs typeface="Arial" panose="020B0604020202020204" pitchFamily="34" charset="0"/>
              </a:rPr>
              <a:t>       INTRODUCTION</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00000"/>
              </a:lnSpc>
              <a:spcAft>
                <a:spcPts val="1000"/>
              </a:spcAft>
            </a:pPr>
            <a:r>
              <a:rPr lang="fr-FR" sz="3000" dirty="0">
                <a:effectLst/>
                <a:latin typeface="Arial Black" panose="020B0A04020102020204" pitchFamily="34" charset="0"/>
                <a:ea typeface="Times New Roman" panose="02020603050405020304" pitchFamily="18" charset="0"/>
                <a:cs typeface="Arial" panose="020B0604020202020204" pitchFamily="34" charset="0"/>
              </a:rPr>
              <a:t>Elles visent à corriger les hypo et hyperthermies afin d’en limiter les complications.</a:t>
            </a:r>
          </a:p>
          <a:p>
            <a:pPr algn="just">
              <a:lnSpc>
                <a:spcPct val="100000"/>
              </a:lnSpc>
              <a:spcAft>
                <a:spcPts val="1000"/>
              </a:spcAft>
            </a:pPr>
            <a:r>
              <a:rPr lang="fr-FR" sz="3000" dirty="0">
                <a:effectLst/>
                <a:latin typeface="Arial Black" panose="020B0A04020102020204" pitchFamily="34" charset="0"/>
                <a:ea typeface="Times New Roman" panose="02020603050405020304" pitchFamily="18" charset="0"/>
                <a:cs typeface="Arial" panose="020B0604020202020204" pitchFamily="34" charset="0"/>
              </a:rPr>
              <a:t>Les soins de correction des hypothermies visent à réchauffer progressivement et en toute sécurité la personne soignée.</a:t>
            </a:r>
          </a:p>
          <a:p>
            <a:pPr algn="just">
              <a:lnSpc>
                <a:spcPct val="100000"/>
              </a:lnSpc>
              <a:spcAft>
                <a:spcPts val="1000"/>
              </a:spcAft>
            </a:pPr>
            <a:r>
              <a:rPr lang="fr-FR" sz="3000" dirty="0">
                <a:effectLst/>
                <a:latin typeface="Arial Black" panose="020B0A04020102020204" pitchFamily="34" charset="0"/>
                <a:ea typeface="Times New Roman" panose="02020603050405020304" pitchFamily="18" charset="0"/>
                <a:cs typeface="Arial" panose="020B0604020202020204" pitchFamily="34" charset="0"/>
              </a:rPr>
              <a:t>Les soins de correction de l’hyperthermie visent à refroidir la personne progressivement en toute sécurité.</a:t>
            </a:r>
          </a:p>
          <a:p>
            <a:pPr marL="0" indent="0" algn="just">
              <a:lnSpc>
                <a:spcPct val="100000"/>
              </a:lnSpc>
              <a:spcAft>
                <a:spcPts val="1000"/>
              </a:spcAft>
              <a:buNone/>
            </a:pPr>
            <a:r>
              <a:rPr lang="fr-FR" sz="3000" dirty="0">
                <a:effectLst/>
                <a:latin typeface="Arial Black" panose="020B0A04020102020204" pitchFamily="34" charset="0"/>
                <a:ea typeface="Times New Roman" panose="02020603050405020304" pitchFamily="18" charset="0"/>
                <a:cs typeface="Arial" panose="020B0604020202020204" pitchFamily="34" charset="0"/>
              </a:rPr>
              <a:t>Dans ce cours nous ne parlerons que de la bouillotte qui sera utilisée pour réchauffer et de la vessie de glace pour refroidir</a:t>
            </a:r>
          </a:p>
          <a:p>
            <a:pPr marL="0" indent="0">
              <a:buNone/>
            </a:pPr>
            <a:endParaRPr lang="fr-FR" dirty="0"/>
          </a:p>
        </p:txBody>
      </p:sp>
    </p:spTree>
    <p:extLst>
      <p:ext uri="{BB962C8B-B14F-4D97-AF65-F5344CB8AC3E}">
        <p14:creationId xmlns:p14="http://schemas.microsoft.com/office/powerpoint/2010/main" val="2598800380"/>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C61152-8BA2-4D15-93E0-2B3D4831D9B4}"/>
              </a:ext>
            </a:extLst>
          </p:cNvPr>
          <p:cNvSpPr>
            <a:spLocks noGrp="1"/>
          </p:cNvSpPr>
          <p:nvPr>
            <p:ph type="title"/>
          </p:nvPr>
        </p:nvSpPr>
        <p:spPr>
          <a:xfrm>
            <a:off x="2592925" y="84849"/>
            <a:ext cx="8911687" cy="1280890"/>
          </a:xfrm>
        </p:spPr>
        <p:txBody>
          <a:bodyPr/>
          <a:lstStyle/>
          <a:p>
            <a:r>
              <a:rPr lang="fr-FR" sz="3200" b="1" dirty="0">
                <a:solidFill>
                  <a:srgbClr val="FF0000"/>
                </a:solidFill>
                <a:effectLst/>
                <a:ea typeface="Times New Roman" panose="02020603050405020304" pitchFamily="18" charset="0"/>
                <a:cs typeface="Arial" panose="020B0604020202020204" pitchFamily="34" charset="0"/>
              </a:rPr>
              <a:t>A)LA BOUILLOTE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3E3DE4F5-16F7-4A81-9A78-B01EFA10CFA9}"/>
              </a:ext>
            </a:extLst>
          </p:cNvPr>
          <p:cNvSpPr>
            <a:spLocks noGrp="1"/>
          </p:cNvSpPr>
          <p:nvPr>
            <p:ph idx="1"/>
          </p:nvPr>
        </p:nvSpPr>
        <p:spPr>
          <a:xfrm>
            <a:off x="119270" y="1762539"/>
            <a:ext cx="11385342" cy="4148683"/>
          </a:xfrm>
        </p:spPr>
        <p:txBody>
          <a:bodyPr>
            <a:normAutofit fontScale="92500"/>
          </a:bodyPr>
          <a:lstStyle/>
          <a:p>
            <a:pPr marL="342900" lvl="0" indent="-342900">
              <a:lnSpc>
                <a:spcPct val="125000"/>
              </a:lnSpc>
              <a:spcAft>
                <a:spcPts val="1000"/>
              </a:spcAft>
              <a:buFont typeface="+mj-lt"/>
              <a:buAutoNum type="romanUcPeriod"/>
              <a:tabLst>
                <a:tab pos="558800" algn="l"/>
              </a:tabLst>
            </a:pPr>
            <a:r>
              <a:rPr lang="fr-FR" sz="3200" dirty="0">
                <a:effectLst>
                  <a:outerShdw blurRad="38100" dist="38100" dir="2700000" algn="tl">
                    <a:srgbClr val="000000">
                      <a:alpha val="43137"/>
                    </a:srgbClr>
                  </a:outerShdw>
                </a:effectLst>
                <a:latin typeface="Arial Black" panose="020B0A04020102020204" pitchFamily="34" charset="0"/>
                <a:ea typeface="Times New Roman" panose="02020603050405020304" pitchFamily="18" charset="0"/>
                <a:cs typeface="Arial" panose="020B0604020202020204" pitchFamily="34" charset="0"/>
              </a:rPr>
              <a:t>DEFINITION </a:t>
            </a:r>
          </a:p>
          <a:p>
            <a:pPr algn="just">
              <a:lnSpc>
                <a:spcPct val="125000"/>
              </a:lnSpc>
              <a:spcAft>
                <a:spcPts val="1000"/>
              </a:spcAft>
            </a:pPr>
            <a:r>
              <a:rPr lang="fr-FR" dirty="0">
                <a:effectLst/>
                <a:latin typeface="Arial Black" panose="020B0A04020102020204" pitchFamily="34" charset="0"/>
                <a:ea typeface="Times New Roman" panose="02020603050405020304" pitchFamily="18" charset="0"/>
                <a:cs typeface="Arial" panose="020B0604020202020204" pitchFamily="34" charset="0"/>
              </a:rPr>
              <a:t>Une bouillotte est un </a:t>
            </a:r>
            <a:r>
              <a:rPr lang="fr-FR" u="sng" dirty="0">
                <a:solidFill>
                  <a:srgbClr val="0000FF"/>
                </a:solidFill>
                <a:effectLst/>
                <a:latin typeface="Arial Black" panose="020B0A04020102020204" pitchFamily="34" charset="0"/>
                <a:ea typeface="Times New Roman" panose="02020603050405020304" pitchFamily="18" charset="0"/>
                <a:cs typeface="Arial" panose="020B0604020202020204" pitchFamily="34" charset="0"/>
                <a:hlinkClick r:id="rId2" tooltip="Récipient"/>
              </a:rPr>
              <a:t>récipient</a:t>
            </a:r>
            <a:r>
              <a:rPr lang="fr-FR" dirty="0">
                <a:effectLst/>
                <a:latin typeface="Arial Black" panose="020B0A04020102020204" pitchFamily="34" charset="0"/>
                <a:ea typeface="Times New Roman" panose="02020603050405020304" pitchFamily="18" charset="0"/>
                <a:cs typeface="Arial" panose="020B0604020202020204" pitchFamily="34" charset="0"/>
              </a:rPr>
              <a:t> étanche servant à contenir de l'</a:t>
            </a:r>
            <a:r>
              <a:rPr lang="fr-FR" u="sng" dirty="0">
                <a:solidFill>
                  <a:srgbClr val="0000FF"/>
                </a:solidFill>
                <a:effectLst/>
                <a:latin typeface="Arial Black" panose="020B0A04020102020204" pitchFamily="34" charset="0"/>
                <a:ea typeface="Times New Roman" panose="02020603050405020304" pitchFamily="18" charset="0"/>
                <a:cs typeface="Arial" panose="020B0604020202020204" pitchFamily="34" charset="0"/>
                <a:hlinkClick r:id="rId3" tooltip="Eau"/>
              </a:rPr>
              <a:t>eau</a:t>
            </a:r>
            <a:r>
              <a:rPr lang="fr-FR" dirty="0">
                <a:effectLst/>
                <a:latin typeface="Arial Black" panose="020B0A04020102020204" pitchFamily="34" charset="0"/>
                <a:ea typeface="Times New Roman" panose="02020603050405020304" pitchFamily="18" charset="0"/>
                <a:cs typeface="Arial" panose="020B0604020202020204" pitchFamily="34" charset="0"/>
              </a:rPr>
              <a:t> chaude, généralement utilisé pour tenir une personne au chaud, notamment lorsque celle-ci est dans son </a:t>
            </a:r>
            <a:r>
              <a:rPr lang="fr-FR" u="sng" dirty="0">
                <a:solidFill>
                  <a:srgbClr val="0000FF"/>
                </a:solidFill>
                <a:effectLst/>
                <a:latin typeface="Arial Black" panose="020B0A04020102020204" pitchFamily="34" charset="0"/>
                <a:ea typeface="Times New Roman" panose="02020603050405020304" pitchFamily="18" charset="0"/>
                <a:cs typeface="Arial" panose="020B0604020202020204" pitchFamily="34" charset="0"/>
                <a:hlinkClick r:id="rId4" tooltip="Lit (mobilier)"/>
              </a:rPr>
              <a:t>lit</a:t>
            </a:r>
            <a:r>
              <a:rPr lang="fr-FR" dirty="0">
                <a:effectLst/>
                <a:latin typeface="Arial Black" panose="020B0A04020102020204" pitchFamily="34" charset="0"/>
                <a:ea typeface="Times New Roman" panose="02020603050405020304" pitchFamily="18" charset="0"/>
                <a:cs typeface="Arial" panose="020B0604020202020204" pitchFamily="34" charset="0"/>
              </a:rPr>
              <a:t> ou malade. Elle peut être utilisée simplement pour réchauffer le lit avant de se coucher.  Les bouillottes sont généralement faites en </a:t>
            </a:r>
            <a:r>
              <a:rPr lang="fr-FR" u="sng" dirty="0">
                <a:solidFill>
                  <a:srgbClr val="0000FF"/>
                </a:solidFill>
                <a:effectLst/>
                <a:latin typeface="Arial Black" panose="020B0A04020102020204" pitchFamily="34" charset="0"/>
                <a:ea typeface="Times New Roman" panose="02020603050405020304" pitchFamily="18" charset="0"/>
                <a:cs typeface="Arial" panose="020B0604020202020204" pitchFamily="34" charset="0"/>
                <a:hlinkClick r:id="rId5" tooltip="Caoutchouc (matériau)"/>
              </a:rPr>
              <a:t>caoutchouc</a:t>
            </a:r>
            <a:r>
              <a:rPr lang="fr-FR" dirty="0">
                <a:effectLst/>
                <a:latin typeface="Arial Black" panose="020B0A04020102020204" pitchFamily="34" charset="0"/>
                <a:ea typeface="Times New Roman" panose="02020603050405020304" pitchFamily="18" charset="0"/>
                <a:cs typeface="Arial" panose="020B0604020202020204" pitchFamily="34" charset="0"/>
              </a:rPr>
              <a:t> </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4282118563"/>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15171" y="0"/>
            <a:ext cx="5641685" cy="5988676"/>
          </a:xfrm>
          <a:prstGeom prst="rect">
            <a:avLst/>
          </a:prstGeom>
        </p:spPr>
      </p:pic>
      <p:pic>
        <p:nvPicPr>
          <p:cNvPr id="3" name="Image 2"/>
          <p:cNvPicPr>
            <a:picLocks noChangeAspect="1"/>
          </p:cNvPicPr>
          <p:nvPr/>
        </p:nvPicPr>
        <p:blipFill>
          <a:blip r:embed="rId3"/>
          <a:stretch>
            <a:fillRect/>
          </a:stretch>
        </p:blipFill>
        <p:spPr>
          <a:xfrm>
            <a:off x="6259132" y="115910"/>
            <a:ext cx="5055427" cy="5872766"/>
          </a:xfrm>
          <a:prstGeom prst="rect">
            <a:avLst/>
          </a:prstGeom>
        </p:spPr>
      </p:pic>
    </p:spTree>
    <p:extLst>
      <p:ext uri="{BB962C8B-B14F-4D97-AF65-F5344CB8AC3E}">
        <p14:creationId xmlns:p14="http://schemas.microsoft.com/office/powerpoint/2010/main" val="176016873"/>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88EEAC-1D99-4BD1-ACFF-7B2006D83F28}"/>
              </a:ext>
            </a:extLst>
          </p:cNvPr>
          <p:cNvSpPr>
            <a:spLocks noGrp="1"/>
          </p:cNvSpPr>
          <p:nvPr>
            <p:ph type="title"/>
          </p:nvPr>
        </p:nvSpPr>
        <p:spPr>
          <a:xfrm>
            <a:off x="2399742" y="0"/>
            <a:ext cx="8911687" cy="431958"/>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D640A9D8-5E7E-49FC-A56F-6B82DF4DC6C3}"/>
              </a:ext>
            </a:extLst>
          </p:cNvPr>
          <p:cNvSpPr>
            <a:spLocks noGrp="1"/>
          </p:cNvSpPr>
          <p:nvPr>
            <p:ph idx="1"/>
          </p:nvPr>
        </p:nvSpPr>
        <p:spPr>
          <a:xfrm>
            <a:off x="231820" y="810295"/>
            <a:ext cx="11960180" cy="5371564"/>
          </a:xfrm>
        </p:spPr>
        <p:txBody>
          <a:bodyPr>
            <a:normAutofit fontScale="92500" lnSpcReduction="10000"/>
          </a:bodyPr>
          <a:lstStyle/>
          <a:p>
            <a:pPr marL="0" indent="0" algn="just">
              <a:lnSpc>
                <a:spcPct val="125000"/>
              </a:lnSpc>
              <a:spcAft>
                <a:spcPts val="1000"/>
              </a:spcAft>
              <a:buNone/>
            </a:pP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1000"/>
              </a:spcAft>
              <a:buFont typeface="+mj-lt"/>
              <a:buAutoNum type="romanUcPeriod"/>
              <a:tabLst>
                <a:tab pos="558800" algn="l"/>
              </a:tabLst>
            </a:pPr>
            <a:r>
              <a:rPr lang="fr-FR" b="1" dirty="0">
                <a:effectLst/>
                <a:latin typeface="Arial Black" panose="020B0A04020102020204" pitchFamily="34" charset="0"/>
                <a:ea typeface="Times New Roman" panose="02020603050405020304" pitchFamily="18" charset="0"/>
                <a:cs typeface="Arial" panose="020B0604020202020204" pitchFamily="34" charset="0"/>
              </a:rPr>
              <a:t>TECHNIQUE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Remplir à moitié la bouillotte avec de l’eau à 80°c chez l’adulte.</a:t>
            </a: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Chasser l’air avant de fermer en appuyant sur la poche.</a:t>
            </a: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Fermer et vérifier l’étanchéité.</a:t>
            </a: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Envelopper la bouillotte d’un morceau de tissu.</a:t>
            </a:r>
          </a:p>
          <a:p>
            <a:pPr algn="just">
              <a:lnSpc>
                <a:spcPct val="125000"/>
              </a:lnSpc>
            </a:pPr>
            <a:r>
              <a:rPr lang="fr-FR" dirty="0">
                <a:effectLst/>
                <a:latin typeface="Arial Black" panose="020B0A04020102020204" pitchFamily="34" charset="0"/>
                <a:ea typeface="Times New Roman" panose="02020603050405020304" pitchFamily="18" charset="0"/>
                <a:cs typeface="Arial" panose="020B0604020202020204" pitchFamily="34" charset="0"/>
              </a:rPr>
              <a:t>Disposer la bouillotte soit à dix centimètres des pieds de la personne soit sur une partie précise du corps de la personne.</a:t>
            </a:r>
          </a:p>
          <a:p>
            <a:r>
              <a:rPr lang="fr-FR" dirty="0">
                <a:effectLst/>
                <a:latin typeface="Arial Black" panose="020B0A04020102020204" pitchFamily="34" charset="0"/>
                <a:ea typeface="Times New Roman" panose="02020603050405020304" pitchFamily="18" charset="0"/>
                <a:cs typeface="Arial" panose="020B0604020202020204" pitchFamily="34" charset="0"/>
              </a:rPr>
              <a:t>Après usage égoutter la bouillotte, la laisser sécher et désinfecter si nécessaire</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1406739447"/>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EA95D6-4896-4753-B463-C280A3E0A363}"/>
              </a:ext>
            </a:extLst>
          </p:cNvPr>
          <p:cNvSpPr>
            <a:spLocks noGrp="1"/>
          </p:cNvSpPr>
          <p:nvPr>
            <p:ph type="title"/>
          </p:nvPr>
        </p:nvSpPr>
        <p:spPr>
          <a:xfrm>
            <a:off x="2589212" y="0"/>
            <a:ext cx="8911687" cy="1280890"/>
          </a:xfrm>
        </p:spPr>
        <p:txBody>
          <a:bodyPr/>
          <a:lstStyle/>
          <a:p>
            <a:endParaRPr lang="fr-FR" dirty="0"/>
          </a:p>
        </p:txBody>
      </p:sp>
      <p:sp>
        <p:nvSpPr>
          <p:cNvPr id="3" name="Espace réservé du contenu 2">
            <a:extLst>
              <a:ext uri="{FF2B5EF4-FFF2-40B4-BE49-F238E27FC236}">
                <a16:creationId xmlns:a16="http://schemas.microsoft.com/office/drawing/2014/main" id="{990FFAD3-12A9-4973-85B6-6E8D0AD33FAB}"/>
              </a:ext>
            </a:extLst>
          </p:cNvPr>
          <p:cNvSpPr>
            <a:spLocks noGrp="1"/>
          </p:cNvSpPr>
          <p:nvPr>
            <p:ph idx="1"/>
          </p:nvPr>
        </p:nvSpPr>
        <p:spPr>
          <a:xfrm>
            <a:off x="569843" y="1280890"/>
            <a:ext cx="10762490" cy="3777622"/>
          </a:xfrm>
        </p:spPr>
        <p:txBody>
          <a:bodyPr/>
          <a:lstStyle/>
          <a:p>
            <a:pPr marL="0" lvl="0" indent="0">
              <a:lnSpc>
                <a:spcPct val="125000"/>
              </a:lnSpc>
              <a:spcAft>
                <a:spcPts val="1000"/>
              </a:spcAft>
              <a:buNone/>
              <a:tabLst>
                <a:tab pos="558800" algn="l"/>
              </a:tabLst>
            </a:pPr>
            <a:r>
              <a:rPr lang="fr-FR" sz="3200" b="1" dirty="0" smtClean="0">
                <a:effectLst/>
                <a:latin typeface="Arial Black" panose="020B0A04020102020204" pitchFamily="34" charset="0"/>
                <a:ea typeface="Times New Roman" panose="02020603050405020304" pitchFamily="18" charset="0"/>
                <a:cs typeface="Arial" panose="020B0604020202020204" pitchFamily="34" charset="0"/>
              </a:rPr>
              <a:t>II- ELEMENTS </a:t>
            </a:r>
            <a:r>
              <a:rPr lang="fr-FR" sz="3200" b="1" dirty="0">
                <a:effectLst/>
                <a:latin typeface="Arial Black" panose="020B0A04020102020204" pitchFamily="34" charset="0"/>
                <a:ea typeface="Times New Roman" panose="02020603050405020304" pitchFamily="18" charset="0"/>
                <a:cs typeface="Arial" panose="020B0604020202020204" pitchFamily="34" charset="0"/>
              </a:rPr>
              <a:t>DE SURVEILLANCE                                                                                           </a:t>
            </a:r>
            <a:endParaRPr lang="fr-FR" sz="32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5000"/>
              </a:lnSpc>
              <a:spcAft>
                <a:spcPts val="1000"/>
              </a:spcAft>
              <a:buFont typeface="Times New Roman" panose="02020603050405020304" pitchFamily="18" charset="0"/>
              <a:buChar char="-"/>
              <a:tabLst>
                <a:tab pos="457200" algn="l"/>
                <a:tab pos="5588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La </a:t>
            </a:r>
            <a:r>
              <a:rPr lang="fr-FR" dirty="0" smtClean="0">
                <a:effectLst/>
                <a:latin typeface="Arial Black" panose="020B0A04020102020204" pitchFamily="34" charset="0"/>
                <a:ea typeface="Times New Roman" panose="02020603050405020304" pitchFamily="18" charset="0"/>
                <a:cs typeface="Arial" panose="020B0604020202020204" pitchFamily="34" charset="0"/>
              </a:rPr>
              <a:t>peau du malade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nSpc>
                <a:spcPct val="125000"/>
              </a:lnSpc>
              <a:spcAft>
                <a:spcPts val="1000"/>
              </a:spcAft>
              <a:buFont typeface="Times New Roman" panose="02020603050405020304" pitchFamily="18" charset="0"/>
              <a:buChar char="-"/>
              <a:tabLst>
                <a:tab pos="457200" algn="l"/>
                <a:tab pos="558800" algn="l"/>
              </a:tabLst>
            </a:pPr>
            <a:r>
              <a:rPr lang="fr-FR" dirty="0">
                <a:effectLst/>
                <a:latin typeface="Arial Black" panose="020B0A04020102020204" pitchFamily="34" charset="0"/>
                <a:ea typeface="Times New Roman" panose="02020603050405020304" pitchFamily="18" charset="0"/>
                <a:cs typeface="Arial" panose="020B0604020202020204" pitchFamily="34" charset="0"/>
              </a:rPr>
              <a:t>La température </a:t>
            </a:r>
            <a:r>
              <a:rPr lang="fr-FR" dirty="0" smtClean="0">
                <a:effectLst/>
                <a:latin typeface="Arial Black" panose="020B0A04020102020204" pitchFamily="34" charset="0"/>
                <a:ea typeface="Times New Roman" panose="02020603050405020304" pitchFamily="18" charset="0"/>
                <a:cs typeface="Arial" panose="020B0604020202020204" pitchFamily="34" charset="0"/>
              </a:rPr>
              <a:t>du malade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r>
              <a:rPr lang="fr-FR" sz="1800" dirty="0">
                <a:effectLst/>
                <a:latin typeface="Times New Roman" panose="02020603050405020304" pitchFamily="18" charset="0"/>
                <a:ea typeface="Times New Roman" panose="02020603050405020304" pitchFamily="18" charset="0"/>
              </a:rPr>
              <a:t> </a:t>
            </a:r>
          </a:p>
          <a:p>
            <a:pPr marL="0" indent="0">
              <a:buNone/>
            </a:pPr>
            <a:endParaRPr lang="fr-FR" dirty="0"/>
          </a:p>
        </p:txBody>
      </p:sp>
    </p:spTree>
    <p:extLst>
      <p:ext uri="{BB962C8B-B14F-4D97-AF65-F5344CB8AC3E}">
        <p14:creationId xmlns:p14="http://schemas.microsoft.com/office/powerpoint/2010/main" val="4068679378"/>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5DE6CF-CCBE-4263-B507-65386D95BB6C}"/>
              </a:ext>
            </a:extLst>
          </p:cNvPr>
          <p:cNvSpPr>
            <a:spLocks noGrp="1"/>
          </p:cNvSpPr>
          <p:nvPr>
            <p:ph type="title"/>
          </p:nvPr>
        </p:nvSpPr>
        <p:spPr/>
        <p:txBody>
          <a:bodyPr>
            <a:normAutofit fontScale="90000"/>
          </a:bodyPr>
          <a:lstStyle/>
          <a:p>
            <a:r>
              <a:rPr lang="fr-FR" sz="4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B- VESSIE DE GLACE</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0A66058F-62C7-4CB5-B64F-1033E2217FFB}"/>
              </a:ext>
            </a:extLst>
          </p:cNvPr>
          <p:cNvSpPr>
            <a:spLocks noGrp="1"/>
          </p:cNvSpPr>
          <p:nvPr>
            <p:ph idx="1"/>
          </p:nvPr>
        </p:nvSpPr>
        <p:spPr>
          <a:xfrm>
            <a:off x="240406" y="1264555"/>
            <a:ext cx="11801340" cy="3777622"/>
          </a:xfrm>
        </p:spPr>
        <p:txBody>
          <a:bodyPr>
            <a:normAutofit/>
          </a:bodyPr>
          <a:lstStyle/>
          <a:p>
            <a:pPr marL="0" indent="0" algn="just">
              <a:lnSpc>
                <a:spcPct val="125000"/>
              </a:lnSpc>
              <a:spcAft>
                <a:spcPts val="1000"/>
              </a:spcAft>
              <a:buNone/>
            </a:pPr>
            <a:r>
              <a:rPr lang="fr-FR" b="1" dirty="0">
                <a:effectLst/>
                <a:latin typeface="Arial Black" panose="020B0A04020102020204" pitchFamily="34" charset="0"/>
                <a:ea typeface="Times New Roman" panose="02020603050405020304" pitchFamily="18" charset="0"/>
                <a:cs typeface="Arial" panose="020B0604020202020204" pitchFamily="34" charset="0"/>
              </a:rPr>
              <a:t>INTRODUCTION</a:t>
            </a:r>
            <a:r>
              <a:rPr lang="fr-FR" b="1" u="sng" dirty="0">
                <a:effectLst/>
                <a:latin typeface="Arial Black" panose="020B0A04020102020204" pitchFamily="34" charset="0"/>
                <a:ea typeface="Times New Roman" panose="02020603050405020304" pitchFamily="18" charset="0"/>
                <a:cs typeface="Times New Roman" panose="02020603050405020304" pitchFamily="18" charset="0"/>
              </a:rPr>
              <a:t> </a:t>
            </a:r>
            <a:endParaRPr lang="fr-FR"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C'est une poche en caoutchouc, où l'on introduit des glaçons</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thérapie par le froid consiste à appliquer le froid pour soulager un </a:t>
            </a:r>
            <a:r>
              <a:rPr lang="fr-FR" dirty="0" smtClean="0">
                <a:solidFill>
                  <a:srgbClr val="000000"/>
                </a:solidFill>
                <a:latin typeface="Arial Black" panose="020B0A04020102020204" pitchFamily="34" charset="0"/>
                <a:ea typeface="Times New Roman" panose="02020603050405020304" pitchFamily="18" charset="0"/>
                <a:cs typeface="Arial" panose="020B0604020202020204" pitchFamily="34" charset="0"/>
              </a:rPr>
              <a:t>pat</a:t>
            </a:r>
            <a:r>
              <a:rPr lang="fr-FR"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ient</a:t>
            </a:r>
            <a:endParaRPr lang="fr-FR"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3194700753"/>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17586" y="244699"/>
            <a:ext cx="4428656" cy="5937160"/>
          </a:xfrm>
          <a:prstGeom prst="rect">
            <a:avLst/>
          </a:prstGeom>
        </p:spPr>
      </p:pic>
      <p:pic>
        <p:nvPicPr>
          <p:cNvPr id="3" name="Image 2"/>
          <p:cNvPicPr>
            <a:picLocks noChangeAspect="1"/>
          </p:cNvPicPr>
          <p:nvPr/>
        </p:nvPicPr>
        <p:blipFill>
          <a:blip r:embed="rId3"/>
          <a:stretch>
            <a:fillRect/>
          </a:stretch>
        </p:blipFill>
        <p:spPr>
          <a:xfrm>
            <a:off x="5537915" y="244699"/>
            <a:ext cx="6538175" cy="5937160"/>
          </a:xfrm>
          <a:prstGeom prst="rect">
            <a:avLst/>
          </a:prstGeom>
        </p:spPr>
      </p:pic>
    </p:spTree>
    <p:extLst>
      <p:ext uri="{BB962C8B-B14F-4D97-AF65-F5344CB8AC3E}">
        <p14:creationId xmlns:p14="http://schemas.microsoft.com/office/powerpoint/2010/main" val="3246668763"/>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516358-B24C-47E1-82AF-E6182886F352}"/>
              </a:ext>
            </a:extLst>
          </p:cNvPr>
          <p:cNvSpPr>
            <a:spLocks noGrp="1"/>
          </p:cNvSpPr>
          <p:nvPr>
            <p:ph type="title"/>
          </p:nvPr>
        </p:nvSpPr>
        <p:spPr>
          <a:xfrm>
            <a:off x="2580046" y="70832"/>
            <a:ext cx="8911687" cy="1280890"/>
          </a:xfrm>
        </p:spPr>
        <p:txBody>
          <a:bodyPr/>
          <a:lstStyle/>
          <a:p>
            <a:r>
              <a:rPr lang="fr-FR" sz="3200" b="1" dirty="0">
                <a:solidFill>
                  <a:srgbClr val="FF0000"/>
                </a:solidFill>
                <a:effectLst/>
                <a:ea typeface="Times New Roman" panose="02020603050405020304" pitchFamily="18" charset="0"/>
                <a:cs typeface="Arial" panose="020B0604020202020204" pitchFamily="34" charset="0"/>
              </a:rPr>
              <a:t>I- </a:t>
            </a:r>
            <a:r>
              <a:rPr lang="fr-FR" sz="3200" b="1" dirty="0" smtClean="0">
                <a:solidFill>
                  <a:srgbClr val="FF0000"/>
                </a:solidFill>
                <a:effectLst/>
                <a:ea typeface="Times New Roman" panose="02020603050405020304" pitchFamily="18" charset="0"/>
                <a:cs typeface="Arial" panose="020B0604020202020204" pitchFamily="34" charset="0"/>
              </a:rPr>
              <a:t>INDICATIONS </a:t>
            </a:r>
            <a:r>
              <a:rPr lang="fr-FR" sz="1800" dirty="0">
                <a:effectLst/>
                <a:latin typeface="Calibri" panose="020F0502020204030204" pitchFamily="34" charset="0"/>
                <a:ea typeface="Times New Roman" panose="02020603050405020304" pitchFamily="18" charset="0"/>
                <a:cs typeface="Times New Roman" panose="02020603050405020304" pitchFamily="18" charset="0"/>
              </a:rPr>
              <a:t/>
            </a:r>
            <a:br>
              <a:rPr lang="fr-F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AB7FC342-5C03-4038-9BB1-95ECEC93406F}"/>
              </a:ext>
            </a:extLst>
          </p:cNvPr>
          <p:cNvSpPr>
            <a:spLocks noGrp="1"/>
          </p:cNvSpPr>
          <p:nvPr>
            <p:ph idx="1"/>
          </p:nvPr>
        </p:nvSpPr>
        <p:spPr>
          <a:xfrm>
            <a:off x="0" y="1351722"/>
            <a:ext cx="12059478" cy="4882168"/>
          </a:xfrm>
        </p:spPr>
        <p:txBody>
          <a:bodyPr>
            <a:normAutofit fontScale="25000" lnSpcReduction="20000"/>
          </a:bodyPr>
          <a:lstStyle/>
          <a:p>
            <a:pPr marL="342900" lvl="0" indent="-342900" algn="just">
              <a:lnSpc>
                <a:spcPct val="120000"/>
              </a:lnSpc>
              <a:spcAft>
                <a:spcPts val="1000"/>
              </a:spcAft>
              <a:buFont typeface="Times New Roman" panose="02020603050405020304" pitchFamily="18" charset="0"/>
              <a:buChar char="-"/>
              <a:tabLst>
                <a:tab pos="457200" algn="l"/>
              </a:tabLst>
            </a:pPr>
            <a:r>
              <a:rPr lang="fr-FR" sz="11200" b="1" u="sng"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Médicales </a:t>
            </a:r>
            <a:r>
              <a:rPr lang="fr-FR" sz="11200" b="1" u="sng"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  </a:t>
            </a:r>
            <a:r>
              <a:rPr lang="fr-FR" sz="11200" b="1"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(1/2)                                   </a:t>
            </a:r>
            <a:endParaRPr lang="fr-FR" sz="11200" dirty="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Hémorragies</a:t>
            </a:r>
            <a:endParaRPr lang="fr-FR" sz="112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Méningites</a:t>
            </a: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Soulager </a:t>
            </a:r>
            <a:r>
              <a:rPr lang="fr-FR" sz="112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une </a:t>
            </a: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douleur</a:t>
            </a:r>
            <a:endParaRPr lang="fr-FR" sz="112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Diminuer </a:t>
            </a:r>
            <a:r>
              <a:rPr lang="fr-FR" sz="112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une </a:t>
            </a: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enflure</a:t>
            </a:r>
            <a:endParaRPr lang="fr-FR" sz="11200" dirty="0">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buFont typeface="Wingdings" panose="05000000000000000000" pitchFamily="2" charset="2"/>
              <a:buChar char="Ø"/>
            </a:pPr>
            <a:r>
              <a:rPr lang="fr-FR" sz="11200" dirty="0" smtClean="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Fièvre </a:t>
            </a:r>
            <a:endParaRPr lang="fr-FR" sz="11200" dirty="0">
              <a:effectLst/>
              <a:latin typeface="Arial Black" panose="020B0A04020102020204" pitchFamily="34" charset="0"/>
              <a:ea typeface="Times New Roman" panose="02020603050405020304" pitchFamily="18" charset="0"/>
              <a:cs typeface="Times New Roman" panose="02020603050405020304" pitchFamily="18" charset="0"/>
            </a:endParaRPr>
          </a:p>
          <a:p>
            <a:pPr marL="0" indent="0" algn="just">
              <a:lnSpc>
                <a:spcPct val="120000"/>
              </a:lnSpc>
              <a:spcAft>
                <a:spcPts val="1000"/>
              </a:spcAft>
              <a:buNone/>
            </a:pPr>
            <a:endParaRPr lang="fr-FR" sz="8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25000"/>
              </a:lnSpc>
              <a:spcAft>
                <a:spcPts val="1000"/>
              </a:spcAft>
            </a:pPr>
            <a:r>
              <a:rPr lang="fr-FR"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2400474400"/>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E2B7FE-4584-4455-B2B1-B9EEEBAEB014}"/>
              </a:ext>
            </a:extLst>
          </p:cNvPr>
          <p:cNvSpPr>
            <a:spLocks noGrp="1"/>
          </p:cNvSpPr>
          <p:nvPr>
            <p:ph type="title"/>
          </p:nvPr>
        </p:nvSpPr>
        <p:spPr>
          <a:xfrm>
            <a:off x="2631561" y="0"/>
            <a:ext cx="8911687" cy="1280890"/>
          </a:xfrm>
        </p:spPr>
        <p:txBody>
          <a:bodyPr/>
          <a:lstStyle/>
          <a:p>
            <a:endParaRPr lang="fr-FR" dirty="0"/>
          </a:p>
        </p:txBody>
      </p:sp>
      <p:sp>
        <p:nvSpPr>
          <p:cNvPr id="3" name="Espace réservé du contenu 2">
            <a:extLst>
              <a:ext uri="{FF2B5EF4-FFF2-40B4-BE49-F238E27FC236}">
                <a16:creationId xmlns:a16="http://schemas.microsoft.com/office/drawing/2014/main" id="{371DDCD1-61D9-4159-A432-73BD527E56C6}"/>
              </a:ext>
            </a:extLst>
          </p:cNvPr>
          <p:cNvSpPr>
            <a:spLocks noGrp="1"/>
          </p:cNvSpPr>
          <p:nvPr>
            <p:ph idx="1"/>
          </p:nvPr>
        </p:nvSpPr>
        <p:spPr>
          <a:xfrm>
            <a:off x="-90152" y="1280890"/>
            <a:ext cx="12059478" cy="4328890"/>
          </a:xfrm>
        </p:spPr>
        <p:txBody>
          <a:bodyPr>
            <a:normAutofit fontScale="92500" lnSpcReduction="10000"/>
          </a:bodyPr>
          <a:lstStyle/>
          <a:p>
            <a:pPr marL="342900" lvl="0" indent="-342900" algn="just">
              <a:lnSpc>
                <a:spcPct val="120000"/>
              </a:lnSpc>
              <a:spcAft>
                <a:spcPts val="1000"/>
              </a:spcAft>
              <a:buFont typeface="Times New Roman" panose="02020603050405020304" pitchFamily="18" charset="0"/>
              <a:buChar char="-"/>
              <a:tabLst>
                <a:tab pos="457200" algn="l"/>
              </a:tabLst>
            </a:pPr>
            <a:r>
              <a:rPr lang="fr-FR" sz="3000" b="1" u="sng"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Chirurgicales</a:t>
            </a:r>
            <a:r>
              <a:rPr lang="fr-FR" sz="30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a:t>
            </a:r>
            <a:r>
              <a:rPr lang="fr-FR" sz="30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(2/2</a:t>
            </a:r>
            <a:r>
              <a:rPr lang="fr-FR" sz="30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 </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Limiter un épanchement de sang dans les tissus</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Appendicites</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Salpingites aiguës</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Fracture du crâne</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0000"/>
              </a:lnSpc>
              <a:spcAft>
                <a:spcPts val="1000"/>
              </a:spcAft>
            </a:pPr>
            <a:r>
              <a:rPr lang="fr-FR" sz="3000" dirty="0">
                <a:solidFill>
                  <a:srgbClr val="000000"/>
                </a:solidFill>
                <a:effectLst/>
                <a:latin typeface="Arial Black" panose="020B0A04020102020204" pitchFamily="34" charset="0"/>
                <a:ea typeface="Times New Roman" panose="02020603050405020304" pitchFamily="18" charset="0"/>
                <a:cs typeface="Times New Roman" panose="02020603050405020304" pitchFamily="18" charset="0"/>
              </a:rPr>
              <a:t>Péritonite</a:t>
            </a:r>
            <a:endParaRPr lang="fr-FR" sz="3000" dirty="0">
              <a:effectLst/>
              <a:latin typeface="Arial Black" panose="020B0A04020102020204" pitchFamily="34"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692067254"/>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D9E1F0-9CD3-4840-8D0E-3CC8CEB48BE1}"/>
              </a:ext>
            </a:extLst>
          </p:cNvPr>
          <p:cNvSpPr>
            <a:spLocks noGrp="1"/>
          </p:cNvSpPr>
          <p:nvPr>
            <p:ph type="title"/>
          </p:nvPr>
        </p:nvSpPr>
        <p:spPr>
          <a:xfrm>
            <a:off x="2589212" y="0"/>
            <a:ext cx="8911687" cy="1280890"/>
          </a:xfrm>
        </p:spPr>
        <p:txBody>
          <a:bodyPr/>
          <a:lstStyle/>
          <a:p>
            <a:endParaRPr lang="fr-FR" dirty="0"/>
          </a:p>
        </p:txBody>
      </p:sp>
      <p:sp>
        <p:nvSpPr>
          <p:cNvPr id="3" name="Espace réservé du contenu 2">
            <a:extLst>
              <a:ext uri="{FF2B5EF4-FFF2-40B4-BE49-F238E27FC236}">
                <a16:creationId xmlns:a16="http://schemas.microsoft.com/office/drawing/2014/main" id="{717DCC70-3C9B-4149-A23E-E5A9E35AFCF1}"/>
              </a:ext>
            </a:extLst>
          </p:cNvPr>
          <p:cNvSpPr>
            <a:spLocks noGrp="1"/>
          </p:cNvSpPr>
          <p:nvPr>
            <p:ph idx="1"/>
          </p:nvPr>
        </p:nvSpPr>
        <p:spPr>
          <a:xfrm>
            <a:off x="193741" y="1280890"/>
            <a:ext cx="11732095" cy="4507425"/>
          </a:xfrm>
        </p:spPr>
        <p:txBody>
          <a:bodyPr>
            <a:normAutofit lnSpcReduction="10000"/>
          </a:bodyPr>
          <a:lstStyle/>
          <a:p>
            <a:pPr marL="0" lvl="0" indent="0" algn="just">
              <a:lnSpc>
                <a:spcPct val="125000"/>
              </a:lnSpc>
              <a:spcAft>
                <a:spcPts val="1000"/>
              </a:spcAft>
              <a:buNone/>
            </a:pPr>
            <a:r>
              <a:rPr lang="fr-FR" sz="3000"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II- MATERIEL</a:t>
            </a:r>
            <a:endParaRPr lang="fr-FR" sz="30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Calibri" panose="020F0502020204030204" pitchFamily="34" charset="0"/>
              <a:buChar char="-"/>
            </a:pPr>
            <a:r>
              <a:rPr lang="fr-FR" sz="3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Vessie de glace</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Calibri" panose="020F0502020204030204" pitchFamily="34" charset="0"/>
              <a:buChar char="-"/>
            </a:pPr>
            <a:r>
              <a:rPr lang="fr-FR" sz="3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Glaçon ou glace pilée</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15000"/>
              </a:lnSpc>
              <a:spcAft>
                <a:spcPts val="1000"/>
              </a:spcAft>
              <a:buFont typeface="Calibri" panose="020F0502020204030204" pitchFamily="34" charset="0"/>
              <a:buChar char="-"/>
            </a:pPr>
            <a:r>
              <a:rPr lang="fr-FR" sz="3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Talc</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marL="342900" lvl="0" indent="-342900" algn="just">
              <a:lnSpc>
                <a:spcPct val="125000"/>
              </a:lnSpc>
              <a:spcAft>
                <a:spcPts val="1000"/>
              </a:spcAft>
              <a:buFont typeface="Calibri" panose="020F0502020204030204" pitchFamily="34" charset="0"/>
              <a:buChar char="-"/>
            </a:pPr>
            <a:r>
              <a:rPr lang="fr-FR" sz="30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Alaise ou linge de dimension adaptée à la région à traiter ou une serviette</a:t>
            </a:r>
            <a:endParaRPr lang="fr-FR" sz="30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481605022"/>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182006-71F1-4F0F-A6C9-CBDCF7B33B89}"/>
              </a:ext>
            </a:extLst>
          </p:cNvPr>
          <p:cNvSpPr>
            <a:spLocks noGrp="1"/>
          </p:cNvSpPr>
          <p:nvPr>
            <p:ph type="title"/>
          </p:nvPr>
        </p:nvSpPr>
        <p:spPr>
          <a:xfrm>
            <a:off x="2670198" y="0"/>
            <a:ext cx="8911687" cy="618186"/>
          </a:xfrm>
        </p:spPr>
        <p:txBody>
          <a:bodyPr/>
          <a:lstStyle/>
          <a:p>
            <a:endParaRPr lang="fr-FR" dirty="0"/>
          </a:p>
        </p:txBody>
      </p:sp>
      <p:sp>
        <p:nvSpPr>
          <p:cNvPr id="3" name="Espace réservé du contenu 2">
            <a:extLst>
              <a:ext uri="{FF2B5EF4-FFF2-40B4-BE49-F238E27FC236}">
                <a16:creationId xmlns:a16="http://schemas.microsoft.com/office/drawing/2014/main" id="{E59735A0-829F-4C59-A383-73069CE2C010}"/>
              </a:ext>
            </a:extLst>
          </p:cNvPr>
          <p:cNvSpPr>
            <a:spLocks noGrp="1"/>
          </p:cNvSpPr>
          <p:nvPr>
            <p:ph idx="1"/>
          </p:nvPr>
        </p:nvSpPr>
        <p:spPr>
          <a:xfrm>
            <a:off x="115910" y="1120462"/>
            <a:ext cx="11983325" cy="5241701"/>
          </a:xfrm>
        </p:spPr>
        <p:txBody>
          <a:bodyPr>
            <a:normAutofit fontScale="25000" lnSpcReduction="20000"/>
          </a:bodyPr>
          <a:lstStyle/>
          <a:p>
            <a:pPr marL="228606" indent="0" algn="just">
              <a:lnSpc>
                <a:spcPct val="125000"/>
              </a:lnSpc>
              <a:spcAft>
                <a:spcPts val="1000"/>
              </a:spcAft>
              <a:buNone/>
            </a:pPr>
            <a:r>
              <a:rPr lang="fr-FR" sz="9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III-</a:t>
            </a:r>
            <a:r>
              <a:rPr lang="fr-FR" sz="9800" b="1"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rPr>
              <a:t>TECHNIQUE</a:t>
            </a:r>
            <a:endParaRPr lang="fr-FR" sz="9800" dirty="0" smtClean="0">
              <a:solidFill>
                <a:srgbClr val="FF0000"/>
              </a:solidFill>
              <a:effectLst/>
              <a:latin typeface="Arial Black" panose="020B0A04020102020204" pitchFamily="34" charset="0"/>
              <a:ea typeface="Times New Roman" panose="02020603050405020304" pitchFamily="18" charset="0"/>
              <a:cs typeface="Times New Roman" panose="02020603050405020304" pitchFamily="18" charset="0"/>
            </a:endParaRPr>
          </a:p>
          <a:p>
            <a:pPr algn="just">
              <a:lnSpc>
                <a:spcPct val="125000"/>
              </a:lnSpc>
              <a:spcAft>
                <a:spcPts val="1000"/>
              </a:spcAft>
            </a:pPr>
            <a:r>
              <a:rPr lang="fr-FR" sz="98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Remplir la poche ou la vessie aux 2/3 avec des glaçons ou de la glace pilée</a:t>
            </a:r>
            <a:endParaRPr lang="fr-FR" sz="9800" dirty="0" smtClean="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9800" dirty="0" smtClean="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Entourer </a:t>
            </a:r>
            <a:r>
              <a:rPr lang="fr-FR" sz="98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poche avec un linge</a:t>
            </a:r>
            <a:endParaRPr lang="fr-FR" sz="98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98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Talquer la surface cutanée à traiter et y placer la poche</a:t>
            </a:r>
            <a:endParaRPr lang="fr-FR" sz="98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9800"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Maintenir la poche en place avec une bande souple et élastique renouveler aussi souvent que nécessaire selon la prescription médicale</a:t>
            </a:r>
            <a:endParaRPr lang="fr-FR" sz="9800"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sz="9800" u="sng"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N.B</a:t>
            </a:r>
            <a:r>
              <a:rPr lang="fr-FR" sz="9800"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 : ne jamais appliquer la vessie de glace au niveau du cœur</a:t>
            </a:r>
            <a:endParaRPr lang="fr-FR" sz="9800"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40277791"/>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5AEEAC-CA20-459C-9410-64BCB1BE7D35}"/>
              </a:ext>
            </a:extLst>
          </p:cNvPr>
          <p:cNvSpPr>
            <a:spLocks noGrp="1"/>
          </p:cNvSpPr>
          <p:nvPr>
            <p:ph type="title"/>
          </p:nvPr>
        </p:nvSpPr>
        <p:spPr>
          <a:xfrm>
            <a:off x="1648496" y="0"/>
            <a:ext cx="9753085" cy="824248"/>
          </a:xfrm>
        </p:spPr>
        <p:txBody>
          <a:bodyPr/>
          <a:lstStyle/>
          <a:p>
            <a:endParaRPr lang="fr-FR" dirty="0"/>
          </a:p>
        </p:txBody>
      </p:sp>
      <p:sp>
        <p:nvSpPr>
          <p:cNvPr id="3" name="Espace réservé du contenu 2">
            <a:extLst>
              <a:ext uri="{FF2B5EF4-FFF2-40B4-BE49-F238E27FC236}">
                <a16:creationId xmlns:a16="http://schemas.microsoft.com/office/drawing/2014/main" id="{BD9CCB53-6CA8-41B2-A6F7-0322DAE33A69}"/>
              </a:ext>
            </a:extLst>
          </p:cNvPr>
          <p:cNvSpPr>
            <a:spLocks noGrp="1"/>
          </p:cNvSpPr>
          <p:nvPr>
            <p:ph idx="1"/>
          </p:nvPr>
        </p:nvSpPr>
        <p:spPr>
          <a:xfrm>
            <a:off x="167426" y="1270715"/>
            <a:ext cx="11401581" cy="3777622"/>
          </a:xfrm>
        </p:spPr>
        <p:txBody>
          <a:bodyPr/>
          <a:lstStyle/>
          <a:p>
            <a:pPr marL="0" lvl="0" indent="0" algn="just">
              <a:lnSpc>
                <a:spcPct val="125000"/>
              </a:lnSpc>
              <a:spcAft>
                <a:spcPts val="1000"/>
              </a:spcAft>
              <a:buNone/>
            </a:pPr>
            <a:r>
              <a:rPr lang="fr-FR" b="1" dirty="0" smtClean="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IV- </a:t>
            </a:r>
            <a:r>
              <a:rPr lang="fr-FR" b="1"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rPr>
              <a:t>ELEMENTS DE SURVEILLANCE</a:t>
            </a:r>
            <a:endParaRPr lang="fr-FR" dirty="0">
              <a:solidFill>
                <a:srgbClr val="FF0000"/>
              </a:solidFill>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La température du malade</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algn="just">
              <a:lnSpc>
                <a:spcPct val="125000"/>
              </a:lnSpc>
              <a:spcAft>
                <a:spcPts val="1000"/>
              </a:spcAft>
            </a:pPr>
            <a:r>
              <a:rPr lang="fr-FR" dirty="0">
                <a:solidFill>
                  <a:srgbClr val="000000"/>
                </a:solidFill>
                <a:effectLst/>
                <a:latin typeface="Arial Black" panose="020B0A04020102020204" pitchFamily="34" charset="0"/>
                <a:ea typeface="Times New Roman" panose="02020603050405020304" pitchFamily="18" charset="0"/>
                <a:cs typeface="Arial" panose="020B0604020202020204" pitchFamily="34" charset="0"/>
              </a:rPr>
              <a:t>Recherche d’une diminution, d’une absence ou d’une augmentation de la douleur</a:t>
            </a:r>
            <a:endParaRPr lang="fr-FR" dirty="0">
              <a:effectLst/>
              <a:latin typeface="Arial Black" panose="020B0A04020102020204" pitchFamily="34" charset="0"/>
              <a:ea typeface="Times New Roman" panose="02020603050405020304" pitchFamily="18"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918131803"/>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545" y="2644170"/>
            <a:ext cx="11877963" cy="830997"/>
          </a:xfrm>
          <a:prstGeom prst="rect">
            <a:avLst/>
          </a:prstGeom>
        </p:spPr>
        <p:txBody>
          <a:bodyPr wrap="square">
            <a:spAutoFit/>
          </a:bodyPr>
          <a:lstStyle/>
          <a:p>
            <a:r>
              <a:rPr lang="fr-FR" sz="4800" b="1" dirty="0">
                <a:solidFill>
                  <a:srgbClr val="FF0000"/>
                </a:solidFill>
                <a:latin typeface="Arial Black" panose="020B0A04020102020204"/>
                <a:ea typeface="+mj-ea"/>
                <a:cs typeface="Arial" panose="020B0604020202020204" pitchFamily="34" charset="0"/>
              </a:rPr>
              <a:t>LA FEUILLE DE TEMPERATURE</a:t>
            </a:r>
            <a:endParaRPr lang="fr-FR" dirty="0"/>
          </a:p>
        </p:txBody>
      </p:sp>
    </p:spTree>
    <p:extLst>
      <p:ext uri="{BB962C8B-B14F-4D97-AF65-F5344CB8AC3E}">
        <p14:creationId xmlns:p14="http://schemas.microsoft.com/office/powerpoint/2010/main" val="440558085"/>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90846" y="127177"/>
            <a:ext cx="10317480" cy="815927"/>
          </a:xfrm>
        </p:spPr>
        <p:txBody>
          <a:bodyPr>
            <a:normAutofit/>
          </a:bodyPr>
          <a:lstStyle/>
          <a:p>
            <a:pPr algn="ctr"/>
            <a:r>
              <a:rPr lang="fr-CI" sz="4800" dirty="0" smtClean="0">
                <a:solidFill>
                  <a:srgbClr val="FF0000"/>
                </a:solidFill>
              </a:rPr>
              <a:t>DEFINITION </a:t>
            </a:r>
            <a:endParaRPr lang="en-US" sz="4800" dirty="0">
              <a:solidFill>
                <a:srgbClr val="FF0000"/>
              </a:solidFill>
            </a:endParaRPr>
          </a:p>
        </p:txBody>
      </p:sp>
      <p:sp>
        <p:nvSpPr>
          <p:cNvPr id="3" name="Espace réservé du contenu 2"/>
          <p:cNvSpPr>
            <a:spLocks noGrp="1"/>
          </p:cNvSpPr>
          <p:nvPr>
            <p:ph idx="1"/>
          </p:nvPr>
        </p:nvSpPr>
        <p:spPr>
          <a:xfrm>
            <a:off x="83126" y="943104"/>
            <a:ext cx="11767129" cy="5309914"/>
          </a:xfrm>
        </p:spPr>
        <p:txBody>
          <a:bodyPr>
            <a:normAutofit/>
          </a:bodyPr>
          <a:lstStyle/>
          <a:p>
            <a:pPr>
              <a:buFont typeface="Wingdings" panose="05000000000000000000" pitchFamily="2" charset="2"/>
              <a:buChar char="q"/>
            </a:pPr>
            <a:r>
              <a:rPr lang="fr-FR" sz="4000" dirty="0">
                <a:latin typeface="Arial Black" panose="020B0A04020102020204" pitchFamily="34" charset="0"/>
              </a:rPr>
              <a:t>La feuille de température est une feuille spéciale ou document que l’on trouve au pied du lit du </a:t>
            </a:r>
            <a:r>
              <a:rPr lang="fr-FR" sz="4000" dirty="0" smtClean="0">
                <a:latin typeface="Arial Black" panose="020B0A04020102020204" pitchFamily="34" charset="0"/>
              </a:rPr>
              <a:t>malade ou dans le dossier du malade </a:t>
            </a:r>
            <a:r>
              <a:rPr lang="fr-FR" sz="4000" dirty="0">
                <a:latin typeface="Arial Black" panose="020B0A04020102020204" pitchFamily="34" charset="0"/>
              </a:rPr>
              <a:t>comportant un ensemble de renseignements ou d’informations relatifs au malade, au médecin traitant et à la structure d’accueil</a:t>
            </a:r>
            <a:r>
              <a:rPr lang="fr-FR" sz="4000" dirty="0" smtClean="0">
                <a:latin typeface="Arial Black" panose="020B0A04020102020204" pitchFamily="34" charset="0"/>
              </a:rPr>
              <a:t>.</a:t>
            </a:r>
            <a:endParaRPr lang="en-US" sz="4000" dirty="0">
              <a:latin typeface="Arial Black" panose="020B0A04020102020204" pitchFamily="34" charset="0"/>
            </a:endParaRPr>
          </a:p>
        </p:txBody>
      </p:sp>
    </p:spTree>
    <p:extLst>
      <p:ext uri="{BB962C8B-B14F-4D97-AF65-F5344CB8AC3E}">
        <p14:creationId xmlns:p14="http://schemas.microsoft.com/office/powerpoint/2010/main" val="152372853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836" y="1443841"/>
            <a:ext cx="11924146" cy="1920526"/>
          </a:xfrm>
          <a:prstGeom prst="rect">
            <a:avLst/>
          </a:prstGeom>
        </p:spPr>
        <p:txBody>
          <a:bodyPr wrap="square">
            <a:spAutoFit/>
          </a:bodyPr>
          <a:lstStyle/>
          <a:p>
            <a:pPr marL="228594" lvl="0" indent="-228594" defTabSz="914377">
              <a:lnSpc>
                <a:spcPct val="90000"/>
              </a:lnSpc>
              <a:spcBef>
                <a:spcPts val="1000"/>
              </a:spcBef>
              <a:buFont typeface="Wingdings" panose="05000000000000000000" pitchFamily="2" charset="2"/>
              <a:buChar char="Ø"/>
            </a:pPr>
            <a:r>
              <a:rPr lang="fr-FR" sz="4400" dirty="0">
                <a:solidFill>
                  <a:prstClr val="black"/>
                </a:solidFill>
                <a:latin typeface="Arial Black" panose="020B0A04020102020204" pitchFamily="34" charset="0"/>
              </a:rPr>
              <a:t>La feuille de température permet de suivre régulièrement et facilement l’évolution et l’état du </a:t>
            </a:r>
            <a:r>
              <a:rPr lang="fr-FR" sz="4400" dirty="0" smtClean="0">
                <a:solidFill>
                  <a:prstClr val="black"/>
                </a:solidFill>
                <a:latin typeface="Arial Black" panose="020B0A04020102020204" pitchFamily="34" charset="0"/>
              </a:rPr>
              <a:t>malade</a:t>
            </a:r>
            <a:endParaRPr lang="en-US" sz="4400" dirty="0">
              <a:solidFill>
                <a:prstClr val="black"/>
              </a:solidFill>
              <a:latin typeface="Arial Black" panose="020B0A04020102020204" pitchFamily="34" charset="0"/>
            </a:endParaRPr>
          </a:p>
        </p:txBody>
      </p:sp>
    </p:spTree>
    <p:extLst>
      <p:ext uri="{BB962C8B-B14F-4D97-AF65-F5344CB8AC3E}">
        <p14:creationId xmlns:p14="http://schemas.microsoft.com/office/powerpoint/2010/main" val="3625735805"/>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83491" y="90231"/>
            <a:ext cx="11628581" cy="815927"/>
          </a:xfrm>
        </p:spPr>
        <p:txBody>
          <a:bodyPr>
            <a:normAutofit fontScale="90000"/>
          </a:bodyPr>
          <a:lstStyle/>
          <a:p>
            <a:pPr lvl="0"/>
            <a:r>
              <a:rPr lang="fr-FR" sz="3100" b="1" dirty="0">
                <a:solidFill>
                  <a:srgbClr val="FF0000"/>
                </a:solidFill>
              </a:rPr>
              <a:t>DESCRIPTION DE LA FEUILLE DE </a:t>
            </a:r>
            <a:r>
              <a:rPr lang="fr-FR" sz="3100" b="1" dirty="0" smtClean="0">
                <a:solidFill>
                  <a:srgbClr val="FF0000"/>
                </a:solidFill>
              </a:rPr>
              <a:t>TEMPERATURE</a:t>
            </a:r>
            <a:r>
              <a:rPr lang="fr-FR" sz="3100" b="1" dirty="0">
                <a:solidFill>
                  <a:schemeClr val="accent6"/>
                </a:solidFill>
              </a:rPr>
              <a:t> </a:t>
            </a:r>
            <a:r>
              <a:rPr lang="fr-FR" sz="3200" b="1" dirty="0">
                <a:solidFill>
                  <a:schemeClr val="accent6"/>
                </a:solidFill>
              </a:rPr>
              <a:t>(1/2)</a:t>
            </a:r>
            <a:r>
              <a:rPr lang="en-US" dirty="0"/>
              <a:t/>
            </a:r>
            <a:br>
              <a:rPr lang="en-US" dirty="0"/>
            </a:br>
            <a:endParaRPr lang="en-US" dirty="0"/>
          </a:p>
        </p:txBody>
      </p:sp>
      <p:sp>
        <p:nvSpPr>
          <p:cNvPr id="3" name="Espace réservé du contenu 2"/>
          <p:cNvSpPr>
            <a:spLocks noGrp="1"/>
          </p:cNvSpPr>
          <p:nvPr>
            <p:ph idx="1"/>
          </p:nvPr>
        </p:nvSpPr>
        <p:spPr>
          <a:xfrm>
            <a:off x="0" y="1040533"/>
            <a:ext cx="12192000" cy="5194011"/>
          </a:xfrm>
        </p:spPr>
        <p:txBody>
          <a:bodyPr>
            <a:normAutofit fontScale="92500"/>
          </a:bodyPr>
          <a:lstStyle/>
          <a:p>
            <a:pPr marL="0" indent="0">
              <a:buNone/>
            </a:pPr>
            <a:r>
              <a:rPr lang="fr-FR" sz="4000" dirty="0">
                <a:latin typeface="Arial Black" panose="020B0A04020102020204" pitchFamily="34" charset="0"/>
              </a:rPr>
              <a:t>La feuille de température est une feuille de dimension variable selon le service.</a:t>
            </a:r>
            <a:endParaRPr lang="en-US" sz="4000" dirty="0">
              <a:latin typeface="Arial Black" panose="020B0A04020102020204" pitchFamily="34" charset="0"/>
            </a:endParaRPr>
          </a:p>
          <a:p>
            <a:pPr marL="0" indent="0">
              <a:buNone/>
            </a:pPr>
            <a:r>
              <a:rPr lang="fr-FR" sz="4000" dirty="0">
                <a:latin typeface="Arial Black" panose="020B0A04020102020204" pitchFamily="34" charset="0"/>
              </a:rPr>
              <a:t>Elle comprend :</a:t>
            </a:r>
            <a:endParaRPr lang="en-US" sz="4000" dirty="0">
              <a:latin typeface="Arial Black" panose="020B0A04020102020204" pitchFamily="34" charset="0"/>
            </a:endParaRPr>
          </a:p>
          <a:p>
            <a:pPr lvl="0"/>
            <a:r>
              <a:rPr lang="fr-FR" sz="4000" dirty="0">
                <a:latin typeface="Arial Black" panose="020B0A04020102020204" pitchFamily="34" charset="0"/>
              </a:rPr>
              <a:t>une partie non quadrillée ou entête qui renseigne sur le type de structure et le service d’accueil du malade</a:t>
            </a:r>
            <a:endParaRPr lang="en-US" sz="4000" dirty="0">
              <a:latin typeface="Arial Black" panose="020B0A04020102020204" pitchFamily="34" charset="0"/>
            </a:endParaRPr>
          </a:p>
          <a:p>
            <a:pPr lvl="0"/>
            <a:r>
              <a:rPr lang="fr-FR" sz="4000" dirty="0">
                <a:latin typeface="Arial Black" panose="020B0A04020102020204" pitchFamily="34" charset="0"/>
              </a:rPr>
              <a:t> une partie quadrillée avec 4 sous-parties :</a:t>
            </a:r>
            <a:endParaRPr lang="en-US" sz="4000" dirty="0">
              <a:latin typeface="Arial Black" panose="020B0A04020102020204" pitchFamily="34" charset="0"/>
            </a:endParaRPr>
          </a:p>
          <a:p>
            <a:pPr lvl="0">
              <a:buFont typeface="Wingdings" panose="05000000000000000000" pitchFamily="2" charset="2"/>
              <a:buChar char="Ø"/>
            </a:pPr>
            <a:r>
              <a:rPr lang="fr-FR" sz="4000" dirty="0">
                <a:solidFill>
                  <a:srgbClr val="C00000"/>
                </a:solidFill>
                <a:latin typeface="Arial Black" panose="020B0A04020102020204" pitchFamily="34" charset="0"/>
              </a:rPr>
              <a:t>l</a:t>
            </a:r>
            <a:r>
              <a:rPr lang="fr-FR" sz="4000" dirty="0" smtClean="0">
                <a:solidFill>
                  <a:srgbClr val="C00000"/>
                </a:solidFill>
                <a:latin typeface="Arial Black" panose="020B0A04020102020204" pitchFamily="34" charset="0"/>
              </a:rPr>
              <a:t>a </a:t>
            </a:r>
            <a:r>
              <a:rPr lang="fr-FR" sz="4000" dirty="0">
                <a:solidFill>
                  <a:srgbClr val="C00000"/>
                </a:solidFill>
                <a:latin typeface="Arial Black" panose="020B0A04020102020204" pitchFamily="34" charset="0"/>
              </a:rPr>
              <a:t>première </a:t>
            </a:r>
            <a:r>
              <a:rPr lang="fr-FR" sz="4000" dirty="0">
                <a:latin typeface="Arial Black" panose="020B0A04020102020204" pitchFamily="34" charset="0"/>
              </a:rPr>
              <a:t>est relative aux renseignements généraux du malade et au médecin traitant</a:t>
            </a:r>
            <a:endParaRPr lang="en-US" sz="4000" dirty="0">
              <a:latin typeface="Arial Black" panose="020B0A04020102020204" pitchFamily="34" charset="0"/>
            </a:endParaRPr>
          </a:p>
          <a:p>
            <a:endParaRPr lang="en-US" dirty="0"/>
          </a:p>
        </p:txBody>
      </p:sp>
    </p:spTree>
    <p:extLst>
      <p:ext uri="{BB962C8B-B14F-4D97-AF65-F5344CB8AC3E}">
        <p14:creationId xmlns:p14="http://schemas.microsoft.com/office/powerpoint/2010/main" val="135369413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37260" y="127176"/>
            <a:ext cx="10317480" cy="815927"/>
          </a:xfrm>
        </p:spPr>
        <p:txBody>
          <a:bodyPr>
            <a:normAutofit fontScale="90000"/>
          </a:bodyPr>
          <a:lstStyle/>
          <a:p>
            <a:pPr lvl="0"/>
            <a:r>
              <a:rPr lang="fr-FR" sz="2900" b="1" dirty="0">
                <a:solidFill>
                  <a:srgbClr val="FF0000"/>
                </a:solidFill>
              </a:rPr>
              <a:t>DESCRIPTION DE LA FEUILLE DE </a:t>
            </a:r>
            <a:r>
              <a:rPr lang="fr-FR" sz="2900" b="1" dirty="0" smtClean="0">
                <a:solidFill>
                  <a:srgbClr val="FF0000"/>
                </a:solidFill>
              </a:rPr>
              <a:t>TEMPERATURE </a:t>
            </a:r>
            <a:r>
              <a:rPr lang="fr-FR" sz="4000" b="1" dirty="0" smtClean="0">
                <a:solidFill>
                  <a:schemeClr val="accent6"/>
                </a:solidFill>
              </a:rPr>
              <a:t>(2/2)</a:t>
            </a:r>
            <a:r>
              <a:rPr lang="en-US" dirty="0"/>
              <a:t/>
            </a:r>
            <a:br>
              <a:rPr lang="en-US" dirty="0"/>
            </a:br>
            <a:endParaRPr lang="en-US" dirty="0"/>
          </a:p>
        </p:txBody>
      </p:sp>
      <p:sp>
        <p:nvSpPr>
          <p:cNvPr id="3" name="Espace réservé du contenu 2"/>
          <p:cNvSpPr>
            <a:spLocks noGrp="1"/>
          </p:cNvSpPr>
          <p:nvPr>
            <p:ph idx="1"/>
          </p:nvPr>
        </p:nvSpPr>
        <p:spPr>
          <a:xfrm>
            <a:off x="175491" y="943102"/>
            <a:ext cx="11942618" cy="5152897"/>
          </a:xfrm>
        </p:spPr>
        <p:txBody>
          <a:bodyPr>
            <a:normAutofit fontScale="70000" lnSpcReduction="20000"/>
          </a:bodyPr>
          <a:lstStyle/>
          <a:p>
            <a:pPr lvl="0">
              <a:buFont typeface="Wingdings" panose="05000000000000000000" pitchFamily="2" charset="2"/>
              <a:buChar char="Ø"/>
            </a:pPr>
            <a:r>
              <a:rPr lang="fr-FR" sz="4100" b="1" dirty="0">
                <a:solidFill>
                  <a:srgbClr val="92D050"/>
                </a:solidFill>
                <a:latin typeface="Arial Black" panose="020B0A04020102020204" pitchFamily="34" charset="0"/>
              </a:rPr>
              <a:t>La deuxième </a:t>
            </a:r>
            <a:r>
              <a:rPr lang="fr-FR" sz="4100" dirty="0">
                <a:latin typeface="Arial Black" panose="020B0A04020102020204" pitchFamily="34" charset="0"/>
              </a:rPr>
              <a:t>est réservée aux </a:t>
            </a:r>
            <a:r>
              <a:rPr lang="fr-FR" sz="4100" dirty="0">
                <a:solidFill>
                  <a:srgbClr val="92D050"/>
                </a:solidFill>
                <a:latin typeface="Arial Black" panose="020B0A04020102020204" pitchFamily="34" charset="0"/>
              </a:rPr>
              <a:t>traitements et aux dates</a:t>
            </a:r>
            <a:endParaRPr lang="en-US" sz="4100" dirty="0">
              <a:solidFill>
                <a:srgbClr val="92D050"/>
              </a:solidFill>
              <a:latin typeface="Arial Black" panose="020B0A04020102020204" pitchFamily="34" charset="0"/>
            </a:endParaRPr>
          </a:p>
          <a:p>
            <a:pPr lvl="0">
              <a:buFont typeface="Wingdings" panose="05000000000000000000" pitchFamily="2" charset="2"/>
              <a:buChar char="Ø"/>
            </a:pPr>
            <a:r>
              <a:rPr lang="fr-FR" sz="4100" b="1" dirty="0">
                <a:solidFill>
                  <a:schemeClr val="accent5"/>
                </a:solidFill>
                <a:latin typeface="Arial Black" panose="020B0A04020102020204" pitchFamily="34" charset="0"/>
              </a:rPr>
              <a:t>La troisième </a:t>
            </a:r>
            <a:r>
              <a:rPr lang="fr-FR" sz="4100" dirty="0">
                <a:latin typeface="Arial Black" panose="020B0A04020102020204" pitchFamily="34" charset="0"/>
              </a:rPr>
              <a:t>est destinée au </a:t>
            </a:r>
            <a:r>
              <a:rPr lang="fr-FR" sz="4100" dirty="0">
                <a:solidFill>
                  <a:schemeClr val="accent1"/>
                </a:solidFill>
                <a:latin typeface="Arial Black" panose="020B0A04020102020204" pitchFamily="34" charset="0"/>
              </a:rPr>
              <a:t>bilan et aux différentes constantes</a:t>
            </a:r>
            <a:endParaRPr lang="en-US" sz="4100" dirty="0">
              <a:solidFill>
                <a:schemeClr val="accent1"/>
              </a:solidFill>
              <a:latin typeface="Arial Black" panose="020B0A04020102020204" pitchFamily="34" charset="0"/>
            </a:endParaRPr>
          </a:p>
          <a:p>
            <a:pPr lvl="0">
              <a:buFont typeface="Wingdings" panose="05000000000000000000" pitchFamily="2" charset="2"/>
              <a:buChar char="Ø"/>
            </a:pPr>
            <a:r>
              <a:rPr lang="fr-FR" sz="4100" b="1" dirty="0">
                <a:solidFill>
                  <a:schemeClr val="accent2"/>
                </a:solidFill>
                <a:latin typeface="Arial Black" panose="020B0A04020102020204" pitchFamily="34" charset="0"/>
              </a:rPr>
              <a:t>La quatrième </a:t>
            </a:r>
            <a:r>
              <a:rPr lang="fr-FR" sz="4100" dirty="0">
                <a:latin typeface="Arial Black" panose="020B0A04020102020204" pitchFamily="34" charset="0"/>
              </a:rPr>
              <a:t>est consacrée à la </a:t>
            </a:r>
            <a:r>
              <a:rPr lang="fr-FR" sz="4100" dirty="0">
                <a:solidFill>
                  <a:schemeClr val="accent2"/>
                </a:solidFill>
                <a:latin typeface="Arial Black" panose="020B0A04020102020204" pitchFamily="34" charset="0"/>
              </a:rPr>
              <a:t>surveillance de certains paramètres.</a:t>
            </a:r>
            <a:endParaRPr lang="en-US" sz="4100" dirty="0">
              <a:solidFill>
                <a:schemeClr val="accent2"/>
              </a:solidFill>
              <a:latin typeface="Arial Black" panose="020B0A04020102020204" pitchFamily="34" charset="0"/>
            </a:endParaRPr>
          </a:p>
          <a:p>
            <a:pPr marL="0" indent="0">
              <a:buNone/>
            </a:pPr>
            <a:r>
              <a:rPr lang="fr-FR" sz="4100" dirty="0">
                <a:latin typeface="Arial Black" panose="020B0A04020102020204" pitchFamily="34" charset="0"/>
              </a:rPr>
              <a:t>Ces paramètres varient en fonction du service et de la pathologie.</a:t>
            </a:r>
            <a:endParaRPr lang="en-US" sz="4100" dirty="0">
              <a:latin typeface="Arial Black" panose="020B0A04020102020204" pitchFamily="34" charset="0"/>
            </a:endParaRPr>
          </a:p>
          <a:p>
            <a:pPr marL="0" indent="0">
              <a:buNone/>
            </a:pPr>
            <a:r>
              <a:rPr lang="fr-FR" sz="4100" b="1" dirty="0" smtClean="0">
                <a:solidFill>
                  <a:schemeClr val="accent6"/>
                </a:solidFill>
                <a:latin typeface="Arial Black" panose="020B0A04020102020204" pitchFamily="34" charset="0"/>
              </a:rPr>
              <a:t>Exemples</a:t>
            </a:r>
            <a:r>
              <a:rPr lang="fr-FR" sz="4100" b="1" dirty="0">
                <a:solidFill>
                  <a:schemeClr val="accent6"/>
                </a:solidFill>
                <a:latin typeface="Arial Black" panose="020B0A04020102020204" pitchFamily="34" charset="0"/>
              </a:rPr>
              <a:t> </a:t>
            </a:r>
            <a:r>
              <a:rPr lang="fr-FR" sz="4100" b="1" dirty="0" smtClean="0">
                <a:solidFill>
                  <a:schemeClr val="accent6"/>
                </a:solidFill>
                <a:latin typeface="Arial Black" panose="020B0A04020102020204" pitchFamily="34" charset="0"/>
              </a:rPr>
              <a:t>:</a:t>
            </a:r>
          </a:p>
          <a:p>
            <a:r>
              <a:rPr lang="fr-FR" sz="4100" b="1" dirty="0" smtClean="0">
                <a:solidFill>
                  <a:schemeClr val="accent6"/>
                </a:solidFill>
                <a:latin typeface="Arial Black" panose="020B0A04020102020204" pitchFamily="34" charset="0"/>
              </a:rPr>
              <a:t> </a:t>
            </a:r>
            <a:r>
              <a:rPr lang="fr-FR" sz="4100" dirty="0">
                <a:latin typeface="Arial Black" panose="020B0A04020102020204" pitchFamily="34" charset="0"/>
              </a:rPr>
              <a:t>le poids est un élément capital et indispensable chez le malade cardiaque et l’enfant en </a:t>
            </a:r>
            <a:r>
              <a:rPr lang="fr-FR" sz="4100" dirty="0" smtClean="0">
                <a:latin typeface="Arial Black" panose="020B0A04020102020204" pitchFamily="34" charset="0"/>
              </a:rPr>
              <a:t>pédiatrie</a:t>
            </a:r>
            <a:endParaRPr lang="en-US" sz="4100" dirty="0">
              <a:latin typeface="Arial Black" panose="020B0A04020102020204" pitchFamily="34" charset="0"/>
            </a:endParaRPr>
          </a:p>
          <a:p>
            <a:r>
              <a:rPr lang="en-US" sz="4100" dirty="0">
                <a:latin typeface="Arial Black" panose="020B0A04020102020204" pitchFamily="34" charset="0"/>
              </a:rPr>
              <a:t>l</a:t>
            </a:r>
            <a:r>
              <a:rPr lang="fr-FR" sz="4100" dirty="0" smtClean="0">
                <a:latin typeface="Arial Black" panose="020B0A04020102020204" pitchFamily="34" charset="0"/>
              </a:rPr>
              <a:t>a </a:t>
            </a:r>
            <a:r>
              <a:rPr lang="fr-FR" sz="4100" dirty="0">
                <a:latin typeface="Arial Black" panose="020B0A04020102020204" pitchFamily="34" charset="0"/>
              </a:rPr>
              <a:t>surveillance des selles chez le malade cholérique.</a:t>
            </a:r>
            <a:endParaRPr lang="en-US" sz="4100" dirty="0">
              <a:latin typeface="Arial Black" panose="020B0A04020102020204" pitchFamily="34" charset="0"/>
            </a:endParaRPr>
          </a:p>
          <a:p>
            <a:r>
              <a:rPr lang="fr-FR" sz="4100" dirty="0" smtClean="0">
                <a:latin typeface="Arial Black" panose="020B0A04020102020204" pitchFamily="34" charset="0"/>
              </a:rPr>
              <a:t>l</a:t>
            </a:r>
            <a:r>
              <a:rPr lang="fr-FR" sz="4100" dirty="0">
                <a:latin typeface="Arial Black" panose="020B0A04020102020204" pitchFamily="34" charset="0"/>
              </a:rPr>
              <a:t>a</a:t>
            </a:r>
            <a:r>
              <a:rPr lang="fr-FR" sz="4100" dirty="0" smtClean="0">
                <a:latin typeface="Arial Black" panose="020B0A04020102020204" pitchFamily="34" charset="0"/>
              </a:rPr>
              <a:t> surveillance des </a:t>
            </a:r>
            <a:r>
              <a:rPr lang="fr-FR" sz="4100" dirty="0">
                <a:latin typeface="Arial Black" panose="020B0A04020102020204" pitchFamily="34" charset="0"/>
              </a:rPr>
              <a:t>urines chez le malade diabétique.</a:t>
            </a:r>
            <a:endParaRPr lang="en-US" sz="4100" dirty="0">
              <a:latin typeface="Arial Black" panose="020B0A04020102020204" pitchFamily="34" charset="0"/>
            </a:endParaRPr>
          </a:p>
          <a:p>
            <a:endParaRPr lang="en-US" dirty="0"/>
          </a:p>
        </p:txBody>
      </p:sp>
    </p:spTree>
    <p:extLst>
      <p:ext uri="{BB962C8B-B14F-4D97-AF65-F5344CB8AC3E}">
        <p14:creationId xmlns:p14="http://schemas.microsoft.com/office/powerpoint/2010/main" val="172914966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57101" y="136413"/>
            <a:ext cx="10317480" cy="815927"/>
          </a:xfrm>
        </p:spPr>
        <p:txBody>
          <a:bodyPr/>
          <a:lstStyle/>
          <a:p>
            <a:r>
              <a:rPr lang="fr-FR" b="1" dirty="0">
                <a:solidFill>
                  <a:srgbClr val="FF0000"/>
                </a:solidFill>
              </a:rPr>
              <a:t>ETUDE DETAILLEE DES DIFFERENTS TRAITS</a:t>
            </a:r>
            <a:endParaRPr lang="en-US" dirty="0">
              <a:solidFill>
                <a:srgbClr val="FF0000"/>
              </a:solidFill>
            </a:endParaRPr>
          </a:p>
        </p:txBody>
      </p:sp>
      <p:sp>
        <p:nvSpPr>
          <p:cNvPr id="3" name="Espace réservé du contenu 2"/>
          <p:cNvSpPr>
            <a:spLocks noGrp="1"/>
          </p:cNvSpPr>
          <p:nvPr>
            <p:ph idx="1"/>
          </p:nvPr>
        </p:nvSpPr>
        <p:spPr>
          <a:xfrm>
            <a:off x="0" y="952339"/>
            <a:ext cx="12099636" cy="5208315"/>
          </a:xfrm>
        </p:spPr>
        <p:txBody>
          <a:bodyPr>
            <a:normAutofit fontScale="77500" lnSpcReduction="20000"/>
          </a:bodyPr>
          <a:lstStyle/>
          <a:p>
            <a:pPr marL="0" indent="0">
              <a:buNone/>
            </a:pPr>
            <a:r>
              <a:rPr lang="fr-FR" sz="3800" dirty="0">
                <a:latin typeface="Arial Black" panose="020B0A04020102020204" pitchFamily="34" charset="0"/>
              </a:rPr>
              <a:t>La feuille de température comprend deux types de </a:t>
            </a:r>
            <a:r>
              <a:rPr lang="fr-FR" sz="3800" dirty="0" smtClean="0">
                <a:latin typeface="Arial Black" panose="020B0A04020102020204" pitchFamily="34" charset="0"/>
              </a:rPr>
              <a:t>traits</a:t>
            </a:r>
            <a:endParaRPr lang="en-US" sz="3800" dirty="0">
              <a:latin typeface="Arial Black" panose="020B0A04020102020204" pitchFamily="34" charset="0"/>
            </a:endParaRPr>
          </a:p>
          <a:p>
            <a:pPr lvl="0">
              <a:buFont typeface="Wingdings" panose="05000000000000000000" pitchFamily="2" charset="2"/>
              <a:buChar char="q"/>
            </a:pPr>
            <a:r>
              <a:rPr lang="fr-FR" sz="3800" dirty="0">
                <a:latin typeface="Arial Black" panose="020B0A04020102020204" pitchFamily="34" charset="0"/>
              </a:rPr>
              <a:t>les traits verticaux</a:t>
            </a:r>
            <a:endParaRPr lang="en-US" sz="3800" dirty="0">
              <a:latin typeface="Arial Black" panose="020B0A04020102020204" pitchFamily="34" charset="0"/>
            </a:endParaRPr>
          </a:p>
          <a:p>
            <a:pPr>
              <a:buFont typeface="Wingdings" panose="05000000000000000000" pitchFamily="2" charset="2"/>
              <a:buChar char="Ø"/>
            </a:pPr>
            <a:r>
              <a:rPr lang="fr-FR" sz="3800" dirty="0">
                <a:latin typeface="Arial Black" panose="020B0A04020102020204" pitchFamily="34" charset="0"/>
              </a:rPr>
              <a:t>Les traits verticaux gras divisent les différentes colonnes journalières.</a:t>
            </a:r>
            <a:endParaRPr lang="en-US" sz="3800" dirty="0">
              <a:latin typeface="Arial Black" panose="020B0A04020102020204" pitchFamily="34" charset="0"/>
            </a:endParaRPr>
          </a:p>
          <a:p>
            <a:pPr>
              <a:buFont typeface="Wingdings" panose="05000000000000000000" pitchFamily="2" charset="2"/>
              <a:buChar char="Ø"/>
            </a:pPr>
            <a:r>
              <a:rPr lang="fr-FR" sz="3800" dirty="0">
                <a:latin typeface="Arial Black" panose="020B0A04020102020204" pitchFamily="34" charset="0"/>
              </a:rPr>
              <a:t>Les traits verticaux fins divisent chaque colonne journalière en deux parties égales représentées par les lettres M (matin) et S (soir).</a:t>
            </a:r>
            <a:endParaRPr lang="en-US" sz="3800" dirty="0">
              <a:latin typeface="Arial Black" panose="020B0A04020102020204" pitchFamily="34" charset="0"/>
            </a:endParaRPr>
          </a:p>
          <a:p>
            <a:pPr lvl="0">
              <a:buFont typeface="Wingdings" panose="05000000000000000000" pitchFamily="2" charset="2"/>
              <a:buChar char="q"/>
            </a:pPr>
            <a:r>
              <a:rPr lang="fr-FR" sz="3800" dirty="0">
                <a:latin typeface="Arial Black" panose="020B0A04020102020204" pitchFamily="34" charset="0"/>
              </a:rPr>
              <a:t>Traits horizontaux</a:t>
            </a:r>
            <a:endParaRPr lang="en-US" sz="3800" dirty="0">
              <a:latin typeface="Arial Black" panose="020B0A04020102020204" pitchFamily="34" charset="0"/>
            </a:endParaRPr>
          </a:p>
          <a:p>
            <a:pPr>
              <a:buFont typeface="Wingdings" panose="05000000000000000000" pitchFamily="2" charset="2"/>
              <a:buChar char="Ø"/>
            </a:pPr>
            <a:r>
              <a:rPr lang="fr-FR" sz="3800" dirty="0">
                <a:latin typeface="Arial Black" panose="020B0A04020102020204" pitchFamily="34" charset="0"/>
              </a:rPr>
              <a:t>Des traits horizontaux gras qui servent de point de repère pour chaque constante et délimitent les intervalles entre différentes variations des constantes.</a:t>
            </a:r>
            <a:endParaRPr lang="en-US" sz="3800" dirty="0">
              <a:latin typeface="Arial Black" panose="020B0A04020102020204" pitchFamily="34" charset="0"/>
            </a:endParaRPr>
          </a:p>
          <a:p>
            <a:r>
              <a:rPr lang="fr-FR" sz="3800" dirty="0">
                <a:latin typeface="Arial Black" panose="020B0A04020102020204" pitchFamily="34" charset="0"/>
              </a:rPr>
              <a:t>Exemple : 37°c</a:t>
            </a:r>
            <a:endParaRPr lang="en-US" sz="3800" dirty="0">
              <a:latin typeface="Arial Black" panose="020B0A04020102020204" pitchFamily="34" charset="0"/>
            </a:endParaRPr>
          </a:p>
          <a:p>
            <a:endParaRPr lang="en-US" dirty="0"/>
          </a:p>
        </p:txBody>
      </p:sp>
    </p:spTree>
    <p:extLst>
      <p:ext uri="{BB962C8B-B14F-4D97-AF65-F5344CB8AC3E}">
        <p14:creationId xmlns:p14="http://schemas.microsoft.com/office/powerpoint/2010/main" val="4259253926"/>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29392" y="80995"/>
            <a:ext cx="10317480" cy="815927"/>
          </a:xfrm>
        </p:spPr>
        <p:txBody>
          <a:bodyPr/>
          <a:lstStyle/>
          <a:p>
            <a:r>
              <a:rPr lang="fr-FR" b="1" dirty="0">
                <a:solidFill>
                  <a:srgbClr val="FF0000"/>
                </a:solidFill>
              </a:rPr>
              <a:t>ETUDE DETAILLEE DES DIFFERENTS TRAITS</a:t>
            </a:r>
            <a:endParaRPr lang="en-US" dirty="0">
              <a:solidFill>
                <a:srgbClr val="FF0000"/>
              </a:solidFill>
            </a:endParaRPr>
          </a:p>
        </p:txBody>
      </p:sp>
      <p:sp>
        <p:nvSpPr>
          <p:cNvPr id="3" name="Espace réservé du contenu 2"/>
          <p:cNvSpPr>
            <a:spLocks noGrp="1"/>
          </p:cNvSpPr>
          <p:nvPr>
            <p:ph idx="1"/>
          </p:nvPr>
        </p:nvSpPr>
        <p:spPr>
          <a:xfrm>
            <a:off x="0" y="1040534"/>
            <a:ext cx="12192000" cy="4409712"/>
          </a:xfrm>
        </p:spPr>
        <p:txBody>
          <a:bodyPr>
            <a:normAutofit fontScale="92500" lnSpcReduction="10000"/>
          </a:bodyPr>
          <a:lstStyle/>
          <a:p>
            <a:pPr marL="0" indent="0">
              <a:buNone/>
            </a:pPr>
            <a:r>
              <a:rPr lang="fr-FR" sz="3500" dirty="0">
                <a:latin typeface="Arial Black" panose="020B0A04020102020204" pitchFamily="34" charset="0"/>
              </a:rPr>
              <a:t>Des traits horizontaux fins qui divisent les intervalles compris entre deux traits horizontaux gras en cinq petites rangées de différentes </a:t>
            </a:r>
            <a:r>
              <a:rPr lang="fr-FR" sz="3500" dirty="0" smtClean="0">
                <a:latin typeface="Arial Black" panose="020B0A04020102020204" pitchFamily="34" charset="0"/>
              </a:rPr>
              <a:t>valeurs Ainsi on note:</a:t>
            </a:r>
          </a:p>
          <a:p>
            <a:pPr>
              <a:buFont typeface="Wingdings" panose="05000000000000000000" pitchFamily="2" charset="2"/>
              <a:buChar char="Ø"/>
            </a:pPr>
            <a:r>
              <a:rPr lang="fr-FR" sz="3500" dirty="0">
                <a:latin typeface="Arial Black" panose="020B0A04020102020204" pitchFamily="34" charset="0"/>
              </a:rPr>
              <a:t>l</a:t>
            </a:r>
            <a:r>
              <a:rPr lang="fr-FR" sz="3500" dirty="0" smtClean="0">
                <a:latin typeface="Arial Black" panose="020B0A04020102020204" pitchFamily="34" charset="0"/>
              </a:rPr>
              <a:t>a </a:t>
            </a:r>
            <a:r>
              <a:rPr lang="fr-FR" sz="3500" dirty="0">
                <a:latin typeface="Arial Black" panose="020B0A04020102020204" pitchFamily="34" charset="0"/>
              </a:rPr>
              <a:t>respiration : la valeur est de 1 mouvement respiratoire à 1 mouvement </a:t>
            </a:r>
            <a:r>
              <a:rPr lang="fr-FR" sz="3500" dirty="0" smtClean="0">
                <a:latin typeface="Arial Black" panose="020B0A04020102020204" pitchFamily="34" charset="0"/>
              </a:rPr>
              <a:t>respiratoire</a:t>
            </a:r>
          </a:p>
          <a:p>
            <a:pPr>
              <a:buFont typeface="Wingdings" panose="05000000000000000000" pitchFamily="2" charset="2"/>
              <a:buChar char="Ø"/>
            </a:pPr>
            <a:r>
              <a:rPr lang="fr-FR" sz="3500" dirty="0" smtClean="0">
                <a:latin typeface="Arial Black" panose="020B0A04020102020204" pitchFamily="34" charset="0"/>
              </a:rPr>
              <a:t>la tension artérielle: la valeur est de 1 à 1 mm Hg</a:t>
            </a:r>
          </a:p>
          <a:p>
            <a:pPr>
              <a:buFont typeface="Wingdings" panose="05000000000000000000" pitchFamily="2" charset="2"/>
              <a:buChar char="Ø"/>
            </a:pPr>
            <a:r>
              <a:rPr lang="fr-FR" sz="3500" dirty="0">
                <a:latin typeface="Arial Black" panose="020B0A04020102020204" pitchFamily="34" charset="0"/>
              </a:rPr>
              <a:t>l</a:t>
            </a:r>
            <a:r>
              <a:rPr lang="fr-FR" sz="3500" dirty="0" smtClean="0">
                <a:latin typeface="Arial Black" panose="020B0A04020102020204" pitchFamily="34" charset="0"/>
              </a:rPr>
              <a:t>a </a:t>
            </a:r>
            <a:r>
              <a:rPr lang="fr-FR" sz="3500" dirty="0">
                <a:latin typeface="Arial Black" panose="020B0A04020102020204" pitchFamily="34" charset="0"/>
              </a:rPr>
              <a:t>température est de 2 à 2/10 de </a:t>
            </a:r>
            <a:r>
              <a:rPr lang="fr-FR" sz="3500" dirty="0" smtClean="0">
                <a:latin typeface="Arial Black" panose="020B0A04020102020204" pitchFamily="34" charset="0"/>
              </a:rPr>
              <a:t>degré</a:t>
            </a:r>
          </a:p>
          <a:p>
            <a:pPr>
              <a:buFont typeface="Wingdings" panose="05000000000000000000" pitchFamily="2" charset="2"/>
              <a:buChar char="Ø"/>
            </a:pPr>
            <a:r>
              <a:rPr lang="fr-FR" sz="3500" dirty="0" smtClean="0">
                <a:latin typeface="Arial Black" panose="020B0A04020102020204" pitchFamily="34" charset="0"/>
              </a:rPr>
              <a:t>le </a:t>
            </a:r>
            <a:r>
              <a:rPr lang="fr-FR" sz="3500" dirty="0">
                <a:latin typeface="Arial Black" panose="020B0A04020102020204" pitchFamily="34" charset="0"/>
              </a:rPr>
              <a:t>pouls est 3 à 3 </a:t>
            </a:r>
            <a:r>
              <a:rPr lang="fr-FR" sz="3500" dirty="0" smtClean="0">
                <a:latin typeface="Arial Black" panose="020B0A04020102020204" pitchFamily="34" charset="0"/>
              </a:rPr>
              <a:t>pulsations</a:t>
            </a:r>
            <a:endParaRPr lang="en-US" sz="3500" dirty="0">
              <a:latin typeface="Arial Black" panose="020B0A04020102020204" pitchFamily="34" charset="0"/>
            </a:endParaRPr>
          </a:p>
          <a:p>
            <a:pPr>
              <a:buFont typeface="Wingdings" panose="05000000000000000000" pitchFamily="2" charset="2"/>
              <a:buChar char="Ø"/>
            </a:pPr>
            <a:r>
              <a:rPr lang="en-US" sz="3500" dirty="0">
                <a:latin typeface="Arial Black" panose="020B0A04020102020204" pitchFamily="34" charset="0"/>
              </a:rPr>
              <a:t>l</a:t>
            </a:r>
            <a:r>
              <a:rPr lang="fr-FR" sz="3500" dirty="0" smtClean="0">
                <a:latin typeface="Arial Black" panose="020B0A04020102020204" pitchFamily="34" charset="0"/>
              </a:rPr>
              <a:t>a </a:t>
            </a:r>
            <a:r>
              <a:rPr lang="fr-FR" sz="3500" dirty="0">
                <a:latin typeface="Arial Black" panose="020B0A04020102020204" pitchFamily="34" charset="0"/>
              </a:rPr>
              <a:t>diurèse est de 100 à 100 ml</a:t>
            </a:r>
            <a:endParaRPr lang="fr-FR" sz="3500" dirty="0" smtClean="0">
              <a:latin typeface="Arial Black" panose="020B0A04020102020204" pitchFamily="34" charset="0"/>
            </a:endParaRPr>
          </a:p>
          <a:p>
            <a:endParaRPr lang="en-US" dirty="0"/>
          </a:p>
        </p:txBody>
      </p:sp>
    </p:spTree>
    <p:extLst>
      <p:ext uri="{BB962C8B-B14F-4D97-AF65-F5344CB8AC3E}">
        <p14:creationId xmlns:p14="http://schemas.microsoft.com/office/powerpoint/2010/main" val="302271283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90231"/>
            <a:ext cx="10317480" cy="815927"/>
          </a:xfrm>
        </p:spPr>
        <p:txBody>
          <a:bodyPr>
            <a:normAutofit fontScale="90000"/>
          </a:bodyPr>
          <a:lstStyle/>
          <a:p>
            <a:r>
              <a:rPr lang="fr-FR" b="1" dirty="0">
                <a:solidFill>
                  <a:srgbClr val="FF0000"/>
                </a:solidFill>
              </a:rPr>
              <a:t>CARACTERISTIQUES DES DIFFERENTES COURBES</a:t>
            </a:r>
            <a:endParaRPr lang="en-US" dirty="0">
              <a:solidFill>
                <a:srgbClr val="FF0000"/>
              </a:solidFill>
            </a:endParaRPr>
          </a:p>
        </p:txBody>
      </p:sp>
      <p:sp>
        <p:nvSpPr>
          <p:cNvPr id="3" name="Espace réservé du contenu 2"/>
          <p:cNvSpPr>
            <a:spLocks noGrp="1"/>
          </p:cNvSpPr>
          <p:nvPr>
            <p:ph idx="1"/>
          </p:nvPr>
        </p:nvSpPr>
        <p:spPr>
          <a:xfrm>
            <a:off x="157018" y="906157"/>
            <a:ext cx="11831782" cy="5319152"/>
          </a:xfrm>
        </p:spPr>
        <p:txBody>
          <a:bodyPr>
            <a:normAutofit fontScale="92500"/>
          </a:bodyPr>
          <a:lstStyle/>
          <a:p>
            <a:pPr marL="0" indent="0">
              <a:buNone/>
            </a:pPr>
            <a:r>
              <a:rPr lang="fr-FR" sz="3200" dirty="0">
                <a:latin typeface="Arial Black" panose="020B0A04020102020204" pitchFamily="34" charset="0"/>
              </a:rPr>
              <a:t>Les courbes sont tracées avec les différentes couleurs pour éviter de les confondre.</a:t>
            </a:r>
            <a:endParaRPr lang="en-US" sz="3200" dirty="0">
              <a:latin typeface="Arial Black" panose="020B0A04020102020204" pitchFamily="34" charset="0"/>
            </a:endParaRPr>
          </a:p>
          <a:p>
            <a:pPr marL="0" indent="0">
              <a:buNone/>
            </a:pPr>
            <a:r>
              <a:rPr lang="fr-FR" sz="3200" dirty="0">
                <a:latin typeface="Arial Black" panose="020B0A04020102020204" pitchFamily="34" charset="0"/>
              </a:rPr>
              <a:t>Par convention nous avons :</a:t>
            </a:r>
            <a:endParaRPr lang="en-US" sz="3200" dirty="0">
              <a:latin typeface="Arial Black" panose="020B0A04020102020204" pitchFamily="34" charset="0"/>
            </a:endParaRPr>
          </a:p>
          <a:p>
            <a:pPr marL="0" indent="0">
              <a:buNone/>
            </a:pPr>
            <a:r>
              <a:rPr lang="fr-FR" sz="3200" b="1" dirty="0" smtClean="0">
                <a:latin typeface="Arial Black" panose="020B0A04020102020204" pitchFamily="34" charset="0"/>
              </a:rPr>
              <a:t>Constante</a:t>
            </a:r>
            <a:r>
              <a:rPr lang="fr-FR" sz="3200" dirty="0" smtClean="0">
                <a:latin typeface="Arial Black" panose="020B0A04020102020204" pitchFamily="34" charset="0"/>
              </a:rPr>
              <a:t>                   </a:t>
            </a:r>
            <a:r>
              <a:rPr lang="fr-FR" sz="3200" b="1" dirty="0">
                <a:latin typeface="Arial Black" panose="020B0A04020102020204" pitchFamily="34" charset="0"/>
              </a:rPr>
              <a:t>C</a:t>
            </a:r>
            <a:r>
              <a:rPr lang="fr-FR" sz="3200" b="1" dirty="0" smtClean="0">
                <a:latin typeface="Arial Black" panose="020B0A04020102020204" pitchFamily="34" charset="0"/>
              </a:rPr>
              <a:t>ouleur                 F</a:t>
            </a:r>
            <a:r>
              <a:rPr lang="fr-FR" b="1" dirty="0" smtClean="0">
                <a:latin typeface="Arial Black" panose="020B0A04020102020204" pitchFamily="34" charset="0"/>
              </a:rPr>
              <a:t>IGURE</a:t>
            </a:r>
            <a:endParaRPr lang="en-US" dirty="0">
              <a:latin typeface="Arial Black" panose="020B0A04020102020204" pitchFamily="34" charset="0"/>
            </a:endParaRPr>
          </a:p>
          <a:p>
            <a:pPr>
              <a:buFont typeface="Wingdings" panose="05000000000000000000" pitchFamily="2" charset="2"/>
              <a:buChar char="q"/>
            </a:pPr>
            <a:r>
              <a:rPr lang="fr-FR" sz="3200" dirty="0">
                <a:solidFill>
                  <a:schemeClr val="accent5"/>
                </a:solidFill>
                <a:latin typeface="Arial Black" panose="020B0A04020102020204" pitchFamily="34" charset="0"/>
              </a:rPr>
              <a:t>Température</a:t>
            </a:r>
            <a:r>
              <a:rPr lang="fr-FR" sz="3200" dirty="0">
                <a:latin typeface="Arial Black" panose="020B0A04020102020204" pitchFamily="34" charset="0"/>
              </a:rPr>
              <a:t>              </a:t>
            </a:r>
            <a:r>
              <a:rPr lang="fr-FR" sz="3200" dirty="0" smtClean="0">
                <a:latin typeface="Arial Black" panose="020B0A04020102020204" pitchFamily="34" charset="0"/>
              </a:rPr>
              <a:t> </a:t>
            </a:r>
            <a:r>
              <a:rPr lang="fr-FR" sz="3200" dirty="0" smtClean="0">
                <a:solidFill>
                  <a:schemeClr val="accent5"/>
                </a:solidFill>
                <a:latin typeface="Arial Black" panose="020B0A04020102020204" pitchFamily="34" charset="0"/>
              </a:rPr>
              <a:t>Bleu                  Courbe</a:t>
            </a:r>
            <a:endParaRPr lang="en-US" sz="3200" dirty="0">
              <a:solidFill>
                <a:schemeClr val="accent5"/>
              </a:solidFill>
              <a:latin typeface="Arial Black" panose="020B0A04020102020204" pitchFamily="34" charset="0"/>
            </a:endParaRPr>
          </a:p>
          <a:p>
            <a:pPr>
              <a:buFont typeface="Wingdings" panose="05000000000000000000" pitchFamily="2" charset="2"/>
              <a:buChar char="q"/>
            </a:pPr>
            <a:r>
              <a:rPr lang="fr-FR" sz="3200" dirty="0">
                <a:solidFill>
                  <a:srgbClr val="FF0000"/>
                </a:solidFill>
                <a:latin typeface="Arial Black" panose="020B0A04020102020204" pitchFamily="34" charset="0"/>
              </a:rPr>
              <a:t>Tension </a:t>
            </a:r>
            <a:r>
              <a:rPr lang="fr-FR" sz="3200" dirty="0" smtClean="0">
                <a:solidFill>
                  <a:srgbClr val="FF0000"/>
                </a:solidFill>
                <a:latin typeface="Arial Black" panose="020B0A04020102020204" pitchFamily="34" charset="0"/>
              </a:rPr>
              <a:t>artérielle         Rouge        </a:t>
            </a:r>
            <a:r>
              <a:rPr lang="fr-FR" sz="3000" dirty="0" smtClean="0">
                <a:solidFill>
                  <a:srgbClr val="FF0000"/>
                </a:solidFill>
                <a:latin typeface="Arial Black" panose="020B0A04020102020204" pitchFamily="34" charset="0"/>
              </a:rPr>
              <a:t>Histogramme</a:t>
            </a:r>
            <a:r>
              <a:rPr lang="fr-FR" sz="2200" dirty="0" smtClean="0">
                <a:solidFill>
                  <a:srgbClr val="FF0000"/>
                </a:solidFill>
                <a:latin typeface="Arial Black" panose="020B0A04020102020204" pitchFamily="34" charset="0"/>
              </a:rPr>
              <a:t> hachuré</a:t>
            </a:r>
            <a:endParaRPr lang="en-US" sz="2200" dirty="0" smtClean="0">
              <a:solidFill>
                <a:srgbClr val="FF0000"/>
              </a:solidFill>
              <a:latin typeface="Arial Black" panose="020B0A04020102020204" pitchFamily="34" charset="0"/>
            </a:endParaRPr>
          </a:p>
          <a:p>
            <a:pPr>
              <a:buFont typeface="Wingdings" panose="05000000000000000000" pitchFamily="2" charset="2"/>
              <a:buChar char="q"/>
            </a:pPr>
            <a:r>
              <a:rPr lang="fr-FR" sz="3200" dirty="0" smtClean="0">
                <a:solidFill>
                  <a:srgbClr val="FF0000"/>
                </a:solidFill>
                <a:latin typeface="Arial Black" panose="020B0A04020102020204" pitchFamily="34" charset="0"/>
              </a:rPr>
              <a:t>Pouls                       Rouge                Courbe</a:t>
            </a:r>
            <a:endParaRPr lang="en-US" sz="3200" dirty="0" smtClean="0">
              <a:solidFill>
                <a:srgbClr val="FF0000"/>
              </a:solidFill>
              <a:latin typeface="Arial Black" panose="020B0A04020102020204" pitchFamily="34" charset="0"/>
            </a:endParaRPr>
          </a:p>
          <a:p>
            <a:pPr>
              <a:buFont typeface="Wingdings" panose="05000000000000000000" pitchFamily="2" charset="2"/>
              <a:buChar char="q"/>
            </a:pPr>
            <a:r>
              <a:rPr lang="fr-FR" sz="3200" dirty="0" smtClean="0">
                <a:solidFill>
                  <a:schemeClr val="accent4"/>
                </a:solidFill>
                <a:latin typeface="Arial Black" panose="020B0A04020102020204" pitchFamily="34" charset="0"/>
              </a:rPr>
              <a:t>Urine                Jaune                    Histogramme plein</a:t>
            </a:r>
          </a:p>
          <a:p>
            <a:pPr>
              <a:buFont typeface="Wingdings" panose="05000000000000000000" pitchFamily="2" charset="2"/>
              <a:buChar char="q"/>
            </a:pPr>
            <a:r>
              <a:rPr lang="fr-FR" sz="3200" dirty="0" smtClean="0">
                <a:solidFill>
                  <a:schemeClr val="accent6"/>
                </a:solidFill>
                <a:latin typeface="Arial Black" panose="020B0A04020102020204" pitchFamily="34" charset="0"/>
              </a:rPr>
              <a:t> Respiration               V</a:t>
            </a:r>
            <a:r>
              <a:rPr lang="fr-FR" sz="3200" dirty="0" smtClean="0">
                <a:solidFill>
                  <a:srgbClr val="92D050"/>
                </a:solidFill>
                <a:latin typeface="Arial Black" panose="020B0A04020102020204" pitchFamily="34" charset="0"/>
              </a:rPr>
              <a:t>ert               Escaliers</a:t>
            </a:r>
          </a:p>
          <a:p>
            <a:pPr>
              <a:buFont typeface="Wingdings" panose="05000000000000000000" pitchFamily="2" charset="2"/>
              <a:buChar char="q"/>
            </a:pPr>
            <a:r>
              <a:rPr lang="fr-CI" sz="3200" b="1" dirty="0"/>
              <a:t>La valeur </a:t>
            </a:r>
            <a:r>
              <a:rPr lang="fr-CI" sz="3200" b="1" dirty="0" smtClean="0"/>
              <a:t>normale de l’urine </a:t>
            </a:r>
            <a:r>
              <a:rPr lang="fr-CI" sz="3200" b="1" dirty="0"/>
              <a:t>varie entre 1,2 à 1,5 litre </a:t>
            </a:r>
            <a:r>
              <a:rPr lang="fr-CI" sz="3200" b="1" dirty="0" smtClean="0"/>
              <a:t>par jour</a:t>
            </a:r>
            <a:endParaRPr lang="fr-CI" sz="3200" b="1" dirty="0"/>
          </a:p>
          <a:p>
            <a:pPr>
              <a:buFont typeface="Wingdings" panose="05000000000000000000" pitchFamily="2" charset="2"/>
              <a:buChar char="q"/>
            </a:pPr>
            <a:endParaRPr lang="fr-FR" sz="3200" dirty="0" smtClean="0">
              <a:solidFill>
                <a:srgbClr val="92D050"/>
              </a:solidFill>
              <a:latin typeface="Arial Black" panose="020B0A04020102020204" pitchFamily="34" charset="0"/>
            </a:endParaRPr>
          </a:p>
          <a:p>
            <a:pPr>
              <a:buFont typeface="Wingdings" panose="05000000000000000000" pitchFamily="2" charset="2"/>
              <a:buChar char="q"/>
            </a:pPr>
            <a:endParaRPr lang="en-US" sz="3200" dirty="0">
              <a:solidFill>
                <a:srgbClr val="92D050"/>
              </a:solidFill>
              <a:latin typeface="Arial Black" panose="020B0A04020102020204" pitchFamily="34" charset="0"/>
            </a:endParaRPr>
          </a:p>
          <a:p>
            <a:endParaRPr lang="en-US" dirty="0"/>
          </a:p>
        </p:txBody>
      </p:sp>
      <p:sp>
        <p:nvSpPr>
          <p:cNvPr id="4" name="Flèche droite 3"/>
          <p:cNvSpPr/>
          <p:nvPr/>
        </p:nvSpPr>
        <p:spPr>
          <a:xfrm>
            <a:off x="3493972" y="3065494"/>
            <a:ext cx="1475713" cy="1684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lèche droite 4"/>
          <p:cNvSpPr/>
          <p:nvPr/>
        </p:nvSpPr>
        <p:spPr>
          <a:xfrm>
            <a:off x="6185026" y="3117355"/>
            <a:ext cx="2059807" cy="1684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lèche droite 5"/>
          <p:cNvSpPr/>
          <p:nvPr/>
        </p:nvSpPr>
        <p:spPr>
          <a:xfrm>
            <a:off x="4347331" y="3639947"/>
            <a:ext cx="1079634" cy="18891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droite 6"/>
          <p:cNvSpPr/>
          <p:nvPr/>
        </p:nvSpPr>
        <p:spPr>
          <a:xfrm>
            <a:off x="6820228" y="3631073"/>
            <a:ext cx="802428" cy="18891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droite 7"/>
          <p:cNvSpPr/>
          <p:nvPr/>
        </p:nvSpPr>
        <p:spPr>
          <a:xfrm>
            <a:off x="1842297" y="4138960"/>
            <a:ext cx="2736622" cy="20622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droite 8"/>
          <p:cNvSpPr/>
          <p:nvPr/>
        </p:nvSpPr>
        <p:spPr>
          <a:xfrm>
            <a:off x="1767956" y="4581625"/>
            <a:ext cx="1937770" cy="383752"/>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droite 9"/>
          <p:cNvSpPr/>
          <p:nvPr/>
        </p:nvSpPr>
        <p:spPr>
          <a:xfrm>
            <a:off x="6072910" y="5138520"/>
            <a:ext cx="1694678" cy="337275"/>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droite 10"/>
          <p:cNvSpPr/>
          <p:nvPr/>
        </p:nvSpPr>
        <p:spPr>
          <a:xfrm>
            <a:off x="3247806" y="5147230"/>
            <a:ext cx="1639342" cy="293428"/>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droite 11"/>
          <p:cNvSpPr/>
          <p:nvPr/>
        </p:nvSpPr>
        <p:spPr>
          <a:xfrm>
            <a:off x="5996940" y="4167116"/>
            <a:ext cx="2009997" cy="20622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droite 12"/>
          <p:cNvSpPr/>
          <p:nvPr/>
        </p:nvSpPr>
        <p:spPr>
          <a:xfrm>
            <a:off x="5137102" y="4581625"/>
            <a:ext cx="2245476" cy="3486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68885134"/>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310" y="843017"/>
            <a:ext cx="11988799" cy="2308324"/>
          </a:xfrm>
          <a:prstGeom prst="rect">
            <a:avLst/>
          </a:prstGeom>
        </p:spPr>
        <p:txBody>
          <a:bodyPr wrap="square">
            <a:spAutoFit/>
          </a:bodyPr>
          <a:lstStyle/>
          <a:p>
            <a:r>
              <a:rPr lang="fr-FR" sz="3600" dirty="0">
                <a:solidFill>
                  <a:srgbClr val="FF0000"/>
                </a:solidFill>
                <a:latin typeface="Arial Black" panose="020B0A04020102020204" pitchFamily="34" charset="0"/>
              </a:rPr>
              <a:t>La date d’une intervention chirurgicale </a:t>
            </a:r>
            <a:r>
              <a:rPr lang="fr-FR" sz="3600" dirty="0">
                <a:latin typeface="Arial Black" panose="020B0A04020102020204" pitchFamily="34" charset="0"/>
              </a:rPr>
              <a:t>est indiquée par une </a:t>
            </a:r>
            <a:r>
              <a:rPr lang="fr-FR" sz="3600" dirty="0">
                <a:solidFill>
                  <a:srgbClr val="FF0000"/>
                </a:solidFill>
                <a:latin typeface="Arial Black" panose="020B0A04020102020204" pitchFamily="34" charset="0"/>
              </a:rPr>
              <a:t>flèche en </a:t>
            </a:r>
            <a:r>
              <a:rPr lang="fr-FR" sz="3600" dirty="0" smtClean="0">
                <a:solidFill>
                  <a:srgbClr val="FF0000"/>
                </a:solidFill>
                <a:latin typeface="Arial Black" panose="020B0A04020102020204" pitchFamily="34" charset="0"/>
              </a:rPr>
              <a:t>rouge</a:t>
            </a:r>
            <a:endParaRPr lang="en-US" sz="3600" dirty="0">
              <a:solidFill>
                <a:srgbClr val="FF0000"/>
              </a:solidFill>
              <a:latin typeface="Arial Black" panose="020B0A04020102020204" pitchFamily="34" charset="0"/>
            </a:endParaRPr>
          </a:p>
          <a:p>
            <a:r>
              <a:rPr lang="fr-FR" sz="3600" dirty="0">
                <a:latin typeface="Arial Black" panose="020B0A04020102020204" pitchFamily="34" charset="0"/>
              </a:rPr>
              <a:t>On indiquera également par une flèche l’ablation de drain et de fils</a:t>
            </a:r>
            <a:r>
              <a:rPr lang="fr-FR" dirty="0"/>
              <a:t>.</a:t>
            </a:r>
            <a:endParaRPr lang="en-US" dirty="0"/>
          </a:p>
        </p:txBody>
      </p:sp>
    </p:spTree>
    <p:extLst>
      <p:ext uri="{BB962C8B-B14F-4D97-AF65-F5344CB8AC3E}">
        <p14:creationId xmlns:p14="http://schemas.microsoft.com/office/powerpoint/2010/main" val="13094314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0909" y="122948"/>
            <a:ext cx="11961091" cy="5632311"/>
          </a:xfrm>
          <a:prstGeom prst="rect">
            <a:avLst/>
          </a:prstGeom>
        </p:spPr>
        <p:txBody>
          <a:bodyPr wrap="square">
            <a:spAutoFit/>
          </a:bodyPr>
          <a:lstStyle/>
          <a:p>
            <a:r>
              <a:rPr lang="fr-FR" sz="3000" dirty="0">
                <a:latin typeface="Arial Black" panose="020B0A04020102020204" pitchFamily="34" charset="0"/>
              </a:rPr>
              <a:t>Les différentes sortes de courbes de température</a:t>
            </a:r>
            <a:endParaRPr lang="en-US" sz="3000" dirty="0">
              <a:latin typeface="Arial Black" panose="020B0A04020102020204" pitchFamily="34" charset="0"/>
            </a:endParaRPr>
          </a:p>
          <a:p>
            <a:pPr marL="457200" lvl="0" indent="-457200">
              <a:buFont typeface="Wingdings" panose="05000000000000000000" pitchFamily="2" charset="2"/>
              <a:buChar char="q"/>
            </a:pPr>
            <a:r>
              <a:rPr lang="fr-FR" sz="3000" dirty="0">
                <a:latin typeface="Arial Black" panose="020B0A04020102020204" pitchFamily="34" charset="0"/>
              </a:rPr>
              <a:t>Courbes en plateau </a:t>
            </a:r>
            <a:endParaRPr lang="en-US" sz="3000" dirty="0">
              <a:latin typeface="Arial Black" panose="020B0A04020102020204" pitchFamily="34" charset="0"/>
            </a:endParaRPr>
          </a:p>
          <a:p>
            <a:pPr marL="457200" indent="-457200">
              <a:buFont typeface="Wingdings" panose="05000000000000000000" pitchFamily="2" charset="2"/>
              <a:buChar char="Ø"/>
            </a:pPr>
            <a:r>
              <a:rPr lang="fr-FR" sz="3000" dirty="0">
                <a:latin typeface="Arial Black" panose="020B0A04020102020204" pitchFamily="34" charset="0"/>
              </a:rPr>
              <a:t>Caractérisée par une hyperthermie régulière se maintenant sur plusieurs jours.</a:t>
            </a:r>
            <a:endParaRPr lang="en-US" sz="3000" dirty="0">
              <a:latin typeface="Arial Black" panose="020B0A04020102020204" pitchFamily="34" charset="0"/>
            </a:endParaRPr>
          </a:p>
          <a:p>
            <a:pPr marL="514350" lvl="0" indent="-514350">
              <a:buFont typeface="Wingdings" panose="05000000000000000000" pitchFamily="2" charset="2"/>
              <a:buChar char="q"/>
            </a:pPr>
            <a:r>
              <a:rPr lang="fr-FR" sz="3000" dirty="0">
                <a:latin typeface="Arial Black" panose="020B0A04020102020204" pitchFamily="34" charset="0"/>
              </a:rPr>
              <a:t>Fièvre rémittente</a:t>
            </a:r>
            <a:endParaRPr lang="en-US" sz="3000" dirty="0">
              <a:latin typeface="Arial Black" panose="020B0A04020102020204" pitchFamily="34" charset="0"/>
            </a:endParaRPr>
          </a:p>
          <a:p>
            <a:pPr marL="457200" indent="-457200">
              <a:buFont typeface="Wingdings" panose="05000000000000000000" pitchFamily="2" charset="2"/>
              <a:buChar char="Ø"/>
            </a:pPr>
            <a:r>
              <a:rPr lang="fr-FR" sz="3000" dirty="0">
                <a:latin typeface="Arial Black" panose="020B0A04020102020204" pitchFamily="34" charset="0"/>
              </a:rPr>
              <a:t>Elle est constituée d’accès fébriles rapprochés avec température n’arrivant pas à atteindre la normale</a:t>
            </a:r>
            <a:endParaRPr lang="en-US" sz="3000" dirty="0">
              <a:latin typeface="Arial Black" panose="020B0A04020102020204" pitchFamily="34" charset="0"/>
            </a:endParaRPr>
          </a:p>
          <a:p>
            <a:pPr marL="457200" lvl="0" indent="-457200">
              <a:buFont typeface="Wingdings" panose="05000000000000000000" pitchFamily="2" charset="2"/>
              <a:buChar char="q"/>
            </a:pPr>
            <a:r>
              <a:rPr lang="fr-FR" sz="3000" dirty="0">
                <a:latin typeface="Arial Black" panose="020B0A04020102020204" pitchFamily="34" charset="0"/>
              </a:rPr>
              <a:t>Fièvre intermittente</a:t>
            </a:r>
            <a:endParaRPr lang="en-US" sz="3000" dirty="0">
              <a:latin typeface="Arial Black" panose="020B0A04020102020204" pitchFamily="34" charset="0"/>
            </a:endParaRPr>
          </a:p>
          <a:p>
            <a:pPr marL="457200" indent="-457200">
              <a:buFont typeface="Wingdings" panose="05000000000000000000" pitchFamily="2" charset="2"/>
              <a:buChar char="Ø"/>
            </a:pPr>
            <a:r>
              <a:rPr lang="fr-FR" sz="3000" dirty="0">
                <a:latin typeface="Arial Black" panose="020B0A04020102020204" pitchFamily="34" charset="0"/>
              </a:rPr>
              <a:t>Succession régulière d’accès fébrile : tous les trois jours (fièvre tierce) ou tous les quatre jours (fièvre quarte) mais entre lesquels la température redescend le soir à la normale.</a:t>
            </a:r>
            <a:endParaRPr lang="en-US" sz="3000" dirty="0">
              <a:latin typeface="Arial Black" panose="020B0A04020102020204" pitchFamily="34" charset="0"/>
            </a:endParaRPr>
          </a:p>
        </p:txBody>
      </p:sp>
    </p:spTree>
    <p:extLst>
      <p:ext uri="{BB962C8B-B14F-4D97-AF65-F5344CB8AC3E}">
        <p14:creationId xmlns:p14="http://schemas.microsoft.com/office/powerpoint/2010/main" val="3907466777"/>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25758"/>
            <a:ext cx="12192000" cy="6716332"/>
          </a:xfrm>
          <a:prstGeom prst="rect">
            <a:avLst/>
          </a:prstGeom>
        </p:spPr>
      </p:pic>
    </p:spTree>
    <p:extLst>
      <p:ext uri="{BB962C8B-B14F-4D97-AF65-F5344CB8AC3E}">
        <p14:creationId xmlns:p14="http://schemas.microsoft.com/office/powerpoint/2010/main" val="1002833551"/>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0623914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90152"/>
            <a:ext cx="12054625" cy="6767848"/>
          </a:xfrm>
          <a:prstGeom prst="rect">
            <a:avLst/>
          </a:prstGeom>
        </p:spPr>
      </p:pic>
    </p:spTree>
    <p:extLst>
      <p:ext uri="{BB962C8B-B14F-4D97-AF65-F5344CB8AC3E}">
        <p14:creationId xmlns:p14="http://schemas.microsoft.com/office/powerpoint/2010/main" val="2466866528"/>
      </p:ext>
    </p:extLst>
  </p:cSld>
  <p:clrMapOvr>
    <a:masterClrMapping/>
  </p:clrMapOvr>
</p:sld>
</file>

<file path=ppt/theme/theme1.xml><?xml version="1.0" encoding="utf-8"?>
<a:theme xmlns:a="http://schemas.openxmlformats.org/drawingml/2006/main" name="Thème Office">
  <a:themeElements>
    <a:clrScheme name="INFAS">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2252</TotalTime>
  <Words>9961</Words>
  <Application>Microsoft Office PowerPoint</Application>
  <PresentationFormat>Grand écran</PresentationFormat>
  <Paragraphs>1576</Paragraphs>
  <Slides>261</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261</vt:i4>
      </vt:variant>
    </vt:vector>
  </HeadingPairs>
  <TitlesOfParts>
    <vt:vector size="270" baseType="lpstr">
      <vt:lpstr>Arial</vt:lpstr>
      <vt:lpstr>Arial Black</vt:lpstr>
      <vt:lpstr>Calibri</vt:lpstr>
      <vt:lpstr>Stencil</vt:lpstr>
      <vt:lpstr>Symbol</vt:lpstr>
      <vt:lpstr>Times New Roman</vt:lpstr>
      <vt:lpstr>Verdana</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L’ACCUEIL  DU MALADE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VISITES AUX MALADES </vt:lpstr>
      <vt:lpstr>Présentation PowerPoint</vt:lpstr>
      <vt:lpstr>Présentation PowerPoint</vt:lpstr>
      <vt:lpstr>Présentation PowerPoint</vt:lpstr>
      <vt:lpstr>Présentation PowerPoint</vt:lpstr>
      <vt:lpstr>CHAMBRE DU MALADE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REPOS DU  MALADE </vt:lpstr>
      <vt:lpstr>Présentation PowerPoint</vt:lpstr>
      <vt:lpstr>Présentation PowerPoint</vt:lpstr>
      <vt:lpstr>Présentation PowerPoint</vt:lpstr>
      <vt:lpstr>Présentation PowerPoint</vt:lpstr>
      <vt:lpstr>REFECTION DU LIT DU MALADE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THERMOMETRE MEDICAL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IV LES DIFFERENTS SITES DE PRISE DE LA TEMPERATURE </vt:lpstr>
      <vt:lpstr>Présentation PowerPoint</vt:lpstr>
      <vt:lpstr>V- LES TECHNIQUES DE PRISE DE TEMPERATURE </vt:lpstr>
      <vt:lpstr>Présentation PowerPoint</vt:lpstr>
      <vt:lpstr>Présentation PowerPoint</vt:lpstr>
      <vt:lpstr>Présentation PowerPoint</vt:lpstr>
      <vt:lpstr>Présentation PowerPoint</vt:lpstr>
      <vt:lpstr>Présentation PowerPoint</vt:lpstr>
      <vt:lpstr>La température buccale </vt:lpstr>
      <vt:lpstr>Présentation PowerPoint</vt:lpstr>
      <vt:lpstr>Présentation PowerPoint</vt:lpstr>
      <vt:lpstr>Présentation PowerPoint</vt:lpstr>
      <vt:lpstr>Présentation PowerPoint</vt:lpstr>
      <vt:lpstr>LA TEMPERATURE </vt:lpstr>
      <vt:lpstr>Présentation PowerPoint</vt:lpstr>
      <vt:lpstr>Présentation PowerPoint</vt:lpstr>
      <vt:lpstr>Présentation PowerPoint</vt:lpstr>
      <vt:lpstr>III) RÔLE DE L’AGENT DE SANTE  </vt:lpstr>
      <vt:lpstr>Présentation PowerPoint</vt:lpstr>
      <vt:lpstr>LES METHODES DE CORRECTION THERMIQUE </vt:lpstr>
      <vt:lpstr>A)LA BOUILLOTE </vt:lpstr>
      <vt:lpstr>Présentation PowerPoint</vt:lpstr>
      <vt:lpstr>Présentation PowerPoint</vt:lpstr>
      <vt:lpstr>Présentation PowerPoint</vt:lpstr>
      <vt:lpstr>B- VESSIE DE GLACE </vt:lpstr>
      <vt:lpstr>Présentation PowerPoint</vt:lpstr>
      <vt:lpstr>I- INDICATIONS  </vt:lpstr>
      <vt:lpstr>Présentation PowerPoint</vt:lpstr>
      <vt:lpstr>Présentation PowerPoint</vt:lpstr>
      <vt:lpstr>Présentation PowerPoint</vt:lpstr>
      <vt:lpstr>Présentation PowerPoint</vt:lpstr>
      <vt:lpstr>LE POULS </vt:lpstr>
      <vt:lpstr>Présentation PowerPoint</vt:lpstr>
      <vt:lpstr>Présentation PowerPoint</vt:lpstr>
      <vt:lpstr>Présentation PowerPoint</vt:lpstr>
      <vt:lpstr>Présentation PowerPoint</vt:lpstr>
      <vt:lpstr>Présentation PowerPoint</vt:lpstr>
      <vt:lpstr>Les sites de prise du pouls</vt:lpstr>
      <vt:lpstr>Présentation PowerPoint</vt:lpstr>
      <vt:lpstr>Présentation PowerPoint</vt:lpstr>
      <vt:lpstr>Présentation PowerPoint</vt:lpstr>
      <vt:lpstr>Présentation PowerPoint</vt:lpstr>
      <vt:lpstr>Présentation PowerPoint</vt:lpstr>
      <vt:lpstr>Présentation PowerPoint</vt:lpstr>
      <vt:lpstr>LA TENSION ARTERIELLE </vt:lpstr>
      <vt:lpstr>Présentation PowerPoint</vt:lpstr>
      <vt:lpst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V- VARIATIONS </vt:lpstr>
      <vt:lpstr>Présentation PowerPoint</vt:lpstr>
      <vt:lpstr>LA MESURE DE LA FREQUENCE RESPIRATOIRE </vt:lpstr>
      <vt:lpstr>Présentation PowerPoint</vt:lpstr>
      <vt:lpstr>Présentation PowerPoint</vt:lpstr>
      <vt:lpstr>Présentation PowerPoint</vt:lpstr>
      <vt:lpstr> </vt:lpstr>
      <vt:lpstr>6. Les variations de la respiration</vt:lpstr>
      <vt:lpstr>Présentation PowerPoint</vt:lpstr>
      <vt:lpstr>Présentation PowerPoint</vt:lpstr>
      <vt:lpstr>C - TRAITEMENT PARENTERAL </vt:lpstr>
      <vt:lpstr>Présentation PowerPoint</vt:lpstr>
      <vt:lpstr>INJECTION INTRADERMIQUE </vt:lpstr>
      <vt:lpstr>Présentation PowerPoint</vt:lpstr>
      <vt:lpstr>Présentation PowerPoint</vt:lpstr>
      <vt:lpstr>INJECTION SOUS CUTANEE (S/C)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INJECTION INTRA MUSCULAIRE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INJECTION INTRA VEINEUSE DIRECTE (IVD)</vt:lpstr>
      <vt:lpstr>Présentation PowerPoint</vt:lpstr>
      <vt:lpstr>Présentation PowerPoint</vt:lpstr>
      <vt:lpstr>Présentation PowerPoint</vt:lpstr>
      <vt:lpstr>Présentation PowerPoint</vt:lpstr>
      <vt:lpstr>Présentation PowerPoint</vt:lpstr>
      <vt:lpstr>Présentation PowerPoint</vt:lpstr>
      <vt:lpstr>Les sites d’injection intraveineuse du membre supérieur (F 1) </vt:lpstr>
      <vt:lpstr>Présentation PowerPoint</vt:lpstr>
      <vt:lpstr>Présentation PowerPoint</vt:lpstr>
      <vt:lpstr>PRELEVEMENT DE SANG PAR PONCTION VEINEUSE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PERFUSION INTRAVEINEUSE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INJECTION LENTE PAR DISPOSITIF INTRAVEINEUX</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SÉCURITÉ DES INJECTIONS ET IMPACT DES INJECTIONS A RISQUE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THERMOMETRE MEDICAL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IV LES DIFFERENTS SITES DE PRISE DE LA TEMPERATURE </vt:lpstr>
      <vt:lpstr>Présentation PowerPoint</vt:lpstr>
      <vt:lpstr>V- LES TECHNIQUES DE PRISE DE TEMPERATURE </vt:lpstr>
      <vt:lpstr>Présentation PowerPoint</vt:lpstr>
      <vt:lpstr>Présentation PowerPoint</vt:lpstr>
      <vt:lpstr>Présentation PowerPoint</vt:lpstr>
      <vt:lpstr>Présentation PowerPoint</vt:lpstr>
      <vt:lpstr>Présentation PowerPoint</vt:lpstr>
      <vt:lpstr>La température buccale </vt:lpstr>
      <vt:lpstr>Présentation PowerPoint</vt:lpstr>
      <vt:lpstr>Présentation PowerPoint</vt:lpstr>
      <vt:lpstr>Présentation PowerPoint</vt:lpstr>
      <vt:lpstr>Présentation PowerPoint</vt:lpstr>
      <vt:lpstr>LA TEMPERATURE </vt:lpstr>
      <vt:lpstr>Présentation PowerPoint</vt:lpstr>
      <vt:lpstr>Présentation PowerPoint</vt:lpstr>
      <vt:lpstr>II) LES VARIATIONS DE LA TEMPERATURE </vt:lpstr>
      <vt:lpstr>Présentation PowerPoint</vt:lpstr>
      <vt:lpstr>Présentation PowerPoint</vt:lpstr>
      <vt:lpstr>III) RÔLE DE L’AGENT DE SANTE  </vt:lpstr>
      <vt:lpstr>Présentation PowerPoint</vt:lpstr>
      <vt:lpstr>LES METHODES DE CORRECTION THERMIQUE </vt:lpstr>
      <vt:lpstr>A)LA BOUILLOTE </vt:lpstr>
      <vt:lpstr>Présentation PowerPoint</vt:lpstr>
      <vt:lpstr>Présentation PowerPoint</vt:lpstr>
      <vt:lpstr>Présentation PowerPoint</vt:lpstr>
      <vt:lpstr>B- VESSIE DE GLACE </vt:lpstr>
      <vt:lpstr>Présentation PowerPoint</vt:lpstr>
      <vt:lpstr>I- INDICATIONS  </vt:lpstr>
      <vt:lpstr>Présentation PowerPoint</vt:lpstr>
      <vt:lpstr>Présentation PowerPoint</vt:lpstr>
      <vt:lpstr>Présentation PowerPoint</vt:lpstr>
      <vt:lpstr>Présentation PowerPoint</vt:lpstr>
      <vt:lpstr>Présentation PowerPoint</vt:lpstr>
      <vt:lpstr>DEFINITION </vt:lpstr>
      <vt:lpstr>Présentation PowerPoint</vt:lpstr>
      <vt:lpstr>DESCRIPTION DE LA FEUILLE DE TEMPERATURE (1/2) </vt:lpstr>
      <vt:lpstr>DESCRIPTION DE LA FEUILLE DE TEMPERATURE (2/2) </vt:lpstr>
      <vt:lpstr>ETUDE DETAILLEE DES DIFFERENTS TRAITS</vt:lpstr>
      <vt:lpstr>ETUDE DETAILLEE DES DIFFERENTS TRAITS</vt:lpstr>
      <vt:lpstr>CARACTERISTIQUES DES DIFFERENTES COURBES</vt:lpstr>
      <vt:lpstr>Présentation PowerPoint</vt:lpstr>
      <vt:lpstr>Présentation PowerPoint</vt:lpstr>
      <vt:lpstr>Présentation PowerPoint</vt:lpstr>
      <vt:lpstr>Présentation PowerPoint</vt:lpstr>
      <vt:lpstr>Présentation PowerPoint</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Maher Fattouh</dc:creator>
  <cp:lastModifiedBy>HP</cp:lastModifiedBy>
  <cp:revision>103</cp:revision>
  <dcterms:created xsi:type="dcterms:W3CDTF">2018-07-17T00:49:38Z</dcterms:created>
  <dcterms:modified xsi:type="dcterms:W3CDTF">2023-11-25T17:41:30Z</dcterms:modified>
</cp:coreProperties>
</file>